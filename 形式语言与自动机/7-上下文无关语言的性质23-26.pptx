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sldIdLst>
    <p:sldId id="323" r:id="rId4"/>
    <p:sldId id="257" r:id="rId5"/>
    <p:sldId id="322" r:id="rId6"/>
    <p:sldId id="324" r:id="rId7"/>
    <p:sldId id="258" r:id="rId9"/>
    <p:sldId id="292" r:id="rId10"/>
    <p:sldId id="290" r:id="rId11"/>
    <p:sldId id="293" r:id="rId12"/>
    <p:sldId id="364" r:id="rId13"/>
    <p:sldId id="327" r:id="rId14"/>
    <p:sldId id="260" r:id="rId15"/>
    <p:sldId id="365" r:id="rId16"/>
    <p:sldId id="328" r:id="rId17"/>
    <p:sldId id="263" r:id="rId18"/>
    <p:sldId id="325" r:id="rId19"/>
    <p:sldId id="269" r:id="rId20"/>
    <p:sldId id="264" r:id="rId21"/>
    <p:sldId id="268" r:id="rId22"/>
    <p:sldId id="265" r:id="rId23"/>
    <p:sldId id="266" r:id="rId24"/>
    <p:sldId id="329" r:id="rId25"/>
    <p:sldId id="326" r:id="rId26"/>
    <p:sldId id="331" r:id="rId27"/>
    <p:sldId id="330" r:id="rId28"/>
    <p:sldId id="267" r:id="rId29"/>
    <p:sldId id="270" r:id="rId30"/>
    <p:sldId id="271" r:id="rId31"/>
    <p:sldId id="294" r:id="rId32"/>
    <p:sldId id="272" r:id="rId33"/>
    <p:sldId id="273" r:id="rId34"/>
    <p:sldId id="274" r:id="rId35"/>
    <p:sldId id="299" r:id="rId36"/>
    <p:sldId id="300" r:id="rId37"/>
    <p:sldId id="276" r:id="rId38"/>
    <p:sldId id="297" r:id="rId39"/>
    <p:sldId id="298" r:id="rId40"/>
    <p:sldId id="279" r:id="rId41"/>
    <p:sldId id="281" r:id="rId42"/>
    <p:sldId id="280" r:id="rId43"/>
    <p:sldId id="284" r:id="rId44"/>
    <p:sldId id="285" r:id="rId45"/>
    <p:sldId id="288" r:id="rId46"/>
    <p:sldId id="289" r:id="rId47"/>
  </p:sldIdLst>
  <p:sldSz cx="9144000" cy="6858000" type="screen4x3"/>
  <p:notesSz cx="6858000" cy="9144000"/>
  <p:custDataLst>
    <p:tags r:id="rId5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eng Yifeng" initials="Z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46" autoAdjust="0"/>
    <p:restoredTop sz="80969" autoAdjust="0"/>
  </p:normalViewPr>
  <p:slideViewPr>
    <p:cSldViewPr snapToGrid="0">
      <p:cViewPr varScale="1">
        <p:scale>
          <a:sx n="85" d="100"/>
          <a:sy n="85" d="100"/>
        </p:scale>
        <p:origin x="1476" y="-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gs" Target="tags/tag56.xml"/><Relationship Id="rId51" Type="http://schemas.openxmlformats.org/officeDocument/2006/relationships/commentAuthors" Target="commentAuthors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C3DEA-197C-4542-87C0-981212C4EFB2}" type="datetimeFigureOut">
              <a:rPr lang="en-AU" smtClean="0"/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</a:t>
            </a:r>
            <a:r>
              <a:rPr lang="zh-CN" altLang="en-US" dirty="0"/>
              <a:t>可以分为三段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中间的一段的长度小于等于</a:t>
            </a:r>
            <a:r>
              <a:rPr lang="en-AU" altLang="zh-CN" dirty="0"/>
              <a:t>N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最后的条件是，中间的串不论循环几次，所得的串仍属于该正则语言。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正则语言</a:t>
            </a:r>
            <a:r>
              <a:rPr lang="en-US" altLang="zh-CN" dirty="0"/>
              <a:t>L</a:t>
            </a:r>
            <a:r>
              <a:rPr lang="zh-CN" altLang="en-US" dirty="0"/>
              <a:t>一旦确定，正整数</a:t>
            </a:r>
            <a:r>
              <a:rPr lang="en-US" altLang="zh-CN" dirty="0"/>
              <a:t>N</a:t>
            </a:r>
            <a:r>
              <a:rPr lang="zh-CN" altLang="en-US" dirty="0"/>
              <a:t>就确定。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被重复的这个，一定是个非空的串。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泵引理是必要条件。即只要一个语言是正则的，那么它一定符合泵引理。它的逆否命题也成立，就是如果一个语言不满足泵引理，那么一定不是正则语言。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和正则语言类似，如果</a:t>
            </a:r>
            <a:r>
              <a:rPr lang="en-US" altLang="zh-CN" dirty="0"/>
              <a:t>L</a:t>
            </a:r>
            <a:r>
              <a:rPr lang="zh-CN" altLang="en-US" dirty="0"/>
              <a:t>是</a:t>
            </a:r>
            <a:r>
              <a:rPr lang="en-AU" altLang="zh-CN" dirty="0"/>
              <a:t>CFL</a:t>
            </a:r>
            <a:r>
              <a:rPr lang="zh-CN" altLang="en-US" dirty="0"/>
              <a:t>，只有</a:t>
            </a:r>
            <a:r>
              <a:rPr lang="en-AU" altLang="zh-CN" dirty="0"/>
              <a:t>z</a:t>
            </a:r>
            <a:r>
              <a:rPr lang="zh-CN" altLang="en-US" dirty="0"/>
              <a:t>的长度大于等于</a:t>
            </a:r>
            <a:r>
              <a:rPr lang="en-US" altLang="zh-CN" dirty="0"/>
              <a:t>N</a:t>
            </a:r>
            <a:r>
              <a:rPr lang="zh-CN" altLang="en-US" dirty="0"/>
              <a:t>，</a:t>
            </a:r>
            <a:endParaRPr lang="en-AU" altLang="zh-CN" dirty="0"/>
          </a:p>
          <a:p>
            <a:endParaRPr lang="en-AU" dirty="0"/>
          </a:p>
          <a:p>
            <a:r>
              <a:rPr lang="en-AU" dirty="0" err="1"/>
              <a:t>vx</a:t>
            </a:r>
            <a:r>
              <a:rPr lang="zh-CN" altLang="en-US" dirty="0"/>
              <a:t>（第二部分和第四部分连接在一起）不为空</a:t>
            </a:r>
            <a:r>
              <a:rPr lang="en-AU" altLang="zh-CN" dirty="0"/>
              <a:t>,</a:t>
            </a:r>
            <a:r>
              <a:rPr lang="zh-CN" altLang="en-US" dirty="0"/>
              <a:t>这部分是泵引理中用来产生新串的部分，不可能同时为空。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|</a:t>
            </a:r>
            <a:r>
              <a:rPr lang="en-AU" dirty="0" err="1"/>
              <a:t>vwx</a:t>
            </a:r>
            <a:r>
              <a:rPr lang="en-AU" dirty="0"/>
              <a:t>|</a:t>
            </a:r>
            <a:r>
              <a:rPr lang="zh-CN" altLang="en-US" dirty="0"/>
              <a:t>用来被泵的这部分，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第三个条件，泵引理产生新的串的部分。也就是用</a:t>
            </a:r>
            <a:r>
              <a:rPr lang="en-AU" altLang="zh-CN" dirty="0"/>
              <a:t>v</a:t>
            </a:r>
            <a:r>
              <a:rPr lang="zh-CN" altLang="en-US" dirty="0"/>
              <a:t>和</a:t>
            </a:r>
            <a:r>
              <a:rPr lang="en-AU" altLang="zh-CN" dirty="0"/>
              <a:t>x</a:t>
            </a:r>
            <a:r>
              <a:rPr lang="zh-CN" altLang="en-US" dirty="0"/>
              <a:t>同时去泵，产生的新串，仍然在该语言中。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同样的，上下文无关语言的泵引理也只是必要条件，可以用来证明某些语言不是上下文无关的。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乔姆斯基范式（</a:t>
                </a:r>
                <a:r>
                  <a:rPr lang="en-US" altLang="zh-CN" dirty="0"/>
                  <a:t>CNF</a:t>
                </a:r>
                <a:r>
                  <a:rPr lang="zh-CN" altLang="en-US" dirty="0"/>
                  <a:t>）定理：每个不带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都可以由这样的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CFG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定义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中每个产生式的形式都为</a:t>
                </a:r>
                <a:endParaRPr lang="en-AU" altLang="zh-CN" dirty="0"/>
              </a:p>
              <a:p>
                <a:pPr marL="0" indent="0" algn="ctr">
                  <a:buNone/>
                </a:pP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altLang="zh-CN" dirty="0"/>
                  <a:t>或</a:t>
                </a:r>
                <a14:m>
                  <m:oMath xmlns:m="http://schemas.openxmlformats.org/officeDocument/2006/math"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AU" altLang="zh-CN" dirty="0"/>
              </a:p>
              <a:p>
                <a:r>
                  <a:rPr lang="zh-CN" altLang="en-US" dirty="0"/>
                  <a:t>这里的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AU" altLang="zh-CN" dirty="0"/>
                  <a:t>,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/>
                  <a:t>是变元</a:t>
                </a:r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是终结符。</a:t>
                </a:r>
                <a:br>
                  <a:rPr lang="en-US" altLang="zh-CN" dirty="0"/>
                </a:br>
                <a:br>
                  <a:rPr lang="en-US" altLang="zh-CN" dirty="0"/>
                </a:br>
                <a:r>
                  <a:rPr lang="zh-CN" altLang="en-US" dirty="0"/>
                  <a:t>格雷巴赫范式（</a:t>
                </a:r>
                <a:r>
                  <a:rPr lang="en-US" altLang="zh-CN" dirty="0"/>
                  <a:t>GNF</a:t>
                </a:r>
                <a:r>
                  <a:rPr lang="zh-CN" altLang="en-US" dirty="0"/>
                  <a:t>）定理：每个不带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都可以由这样的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定义</a:t>
                </a:r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中每个产生式的形式都为</a:t>
                </a:r>
                <a:endParaRPr lang="zh-CN" alt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是变元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是终结符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是零或多个变元的串。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zh-CN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那么对任意</a:t>
                </a:r>
                <a14:m>
                  <m:oMath xmlns:m="http://schemas.openxmlformats.org/officeDocument/2006/math">
                    <m:r>
                      <a:rPr lang="en-AU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AU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AU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zh-CN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AU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groupChr>
                      <m:groupChrPr>
                        <m:chr m:val="⇒"/>
                        <m:vertJc m:val="bot"/>
                        <m:ctrlPr>
                          <a:rPr lang="en-AU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AU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e>
                    </m:groupChr>
                    <m:sSup>
                      <m:sSupPr>
                        <m:ctrlPr>
                          <a:rPr lang="en-AU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AU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r>
                      <a:rPr lang="en-AU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𝑤</m:t>
                    </m:r>
                    <m:sSup>
                      <m:sSupPr>
                        <m:ctrlPr>
                          <a:rPr lang="en-AU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AU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AU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en-AU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zh-CN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这里是通过不断的应用</a:t>
                </a:r>
                <a14:m>
                  <m:oMath xmlns:m="http://schemas.openxmlformats.org/officeDocument/2006/math">
                    <m:r>
                      <a:rPr lang="en-AU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groupChr>
                      <m:groupChrPr>
                        <m:chr m:val="⇒"/>
                        <m:vertJc m:val="bot"/>
                        <m:ctrlPr>
                          <a:rPr lang="en-AU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AU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e>
                    </m:groupChr>
                    <m:r>
                      <a:rPr lang="en-AU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𝑣𝐴𝑥</m:t>
                    </m:r>
                  </m:oMath>
                </a14:m>
                <a:r>
                  <a:rPr lang="zh-CN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得到。</a:t>
                </a:r>
                <a:endParaRPr lang="en-AU" altLang="zh-CN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AU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800" dirty="0"/>
                  <a:t>不妨设整棵树的产物为</a:t>
                </a:r>
                <a14:m>
                  <m:oMath xmlns:m="http://schemas.openxmlformats.org/officeDocument/2006/math">
                    <m:r>
                      <a:rPr lang="en-AU" altLang="zh-CN" sz="1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1800" b="0" i="1" smtClean="0">
                        <a:latin typeface="Cambria Math" panose="02040503050406030204" pitchFamily="18" charset="0"/>
                      </a:rPr>
                      <m:t>𝑢𝑣𝑤𝑥𝑦</m:t>
                    </m:r>
                  </m:oMath>
                </a14:m>
                <a:r>
                  <a:rPr lang="zh-CN" altLang="en-US" sz="1800" dirty="0"/>
                  <a:t>，即</a:t>
                </a:r>
                <a:r>
                  <a:rPr lang="en-AU" altLang="zh-CN" sz="1800" dirty="0"/>
                  <a:t>T1</a:t>
                </a:r>
                <a:r>
                  <a:rPr lang="zh-CN" altLang="en-US" sz="1800" dirty="0"/>
                  <a:t>产物的前面部分是</a:t>
                </a:r>
                <a:r>
                  <a:rPr lang="en-AU" altLang="zh-CN" sz="1800" dirty="0"/>
                  <a:t>u</a:t>
                </a:r>
                <a:r>
                  <a:rPr lang="zh-CN" altLang="en-US" sz="1800" dirty="0"/>
                  <a:t>，后面部分是</a:t>
                </a:r>
                <a:r>
                  <a:rPr lang="en-AU" altLang="zh-CN" sz="1800" dirty="0"/>
                  <a:t>y</a:t>
                </a:r>
                <a:r>
                  <a:rPr lang="zh-CN" altLang="en-US" sz="1800" dirty="0"/>
                  <a:t>。那么我们有</a:t>
                </a:r>
                <a:endParaRPr lang="en-AU" altLang="zh-CN" sz="1800" dirty="0"/>
              </a:p>
              <a:p>
                <a:pPr marL="0" marR="0" lvl="0" indent="0" algn="l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defRPr/>
                </a:pPr>
                <a:endParaRPr lang="en-AU" altLang="zh-CN" sz="1800" dirty="0"/>
              </a:p>
              <a:p>
                <a:pPr marL="0" marR="0" lvl="0" indent="0" algn="l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defRPr/>
                </a:pPr>
                <a:r>
                  <a:rPr lang="en-AU" altLang="zh-CN" sz="1800" dirty="0"/>
                  <a:t>,</a:t>
                </a:r>
                <a:r>
                  <a:rPr lang="zh-CN" altLang="en-US" sz="1800" dirty="0"/>
                  <a:t>则</a:t>
                </a:r>
                <a14:m>
                  <m:oMath xmlns:m="http://schemas.openxmlformats.org/officeDocument/2006/math">
                    <m:r>
                      <a:rPr lang="en-AU" altLang="zh-CN" sz="18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groupChr>
                      <m:groupChrPr>
                        <m:chr m:val="⇒"/>
                        <m:vertJc m:val="bot"/>
                        <m:ctrlPr>
                          <a:rPr lang="en-AU" altLang="zh-CN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AU" altLang="zh-CN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AU" altLang="zh-CN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𝑢𝐴𝑦</m:t>
                    </m:r>
                    <m:groupChr>
                      <m:groupChrPr>
                        <m:chr m:val="⇒"/>
                        <m:vertJc m:val="bot"/>
                        <m:ctrlPr>
                          <a:rPr lang="en-AU" altLang="zh-CN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AU" altLang="zh-CN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AU" altLang="zh-CN" sz="1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AU" altLang="zh-CN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altLang="zh-CN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AU" altLang="zh-CN" sz="1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AU" altLang="zh-CN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altLang="zh-CN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AU" altLang="zh-CN" sz="1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。（这是因为整棵树的产物为</a:t>
                </a:r>
                <a:r>
                  <a:rPr lang="en-AU" altLang="zh-CN" sz="1800" dirty="0">
                    <a:solidFill>
                      <a:schemeClr val="tx1"/>
                    </a:solidFill>
                  </a:rPr>
                  <a:t>z=</a:t>
                </a:r>
                <a:r>
                  <a:rPr lang="en-AU" altLang="zh-CN" sz="1800" dirty="0" err="1">
                    <a:solidFill>
                      <a:schemeClr val="tx1"/>
                    </a:solidFill>
                  </a:rPr>
                  <a:t>uvwxy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，而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可以派生出</a:t>
                </a:r>
                <a:r>
                  <a:rPr lang="en-AU" altLang="zh-CN" sz="1800" dirty="0" err="1">
                    <a:solidFill>
                      <a:schemeClr val="tx1"/>
                    </a:solidFill>
                  </a:rPr>
                  <a:t>vwx</a:t>
                </a:r>
                <a:r>
                  <a:rPr lang="en-AU" altLang="zh-CN" sz="1800" dirty="0">
                    <a:solidFill>
                      <a:schemeClr val="tx1"/>
                    </a:solidFill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故有此派生）</a:t>
                </a:r>
                <a:endParaRPr lang="en-AU" altLang="zh-CN" sz="1800" dirty="0">
                  <a:solidFill>
                    <a:schemeClr val="tx1"/>
                  </a:solidFill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defRPr/>
                </a:pPr>
                <a:endParaRPr lang="en-AU" altLang="zh-CN" sz="1800" dirty="0">
                  <a:solidFill>
                    <a:schemeClr val="tx1"/>
                  </a:solidFill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为什么由下往上考虑内节点，因为这样才能对子树</a:t>
                </a:r>
                <a:r>
                  <a:rPr lang="en-AU" altLang="zh-CN" sz="1800" dirty="0">
                    <a:solidFill>
                      <a:schemeClr val="tx1"/>
                    </a:solidFill>
                  </a:rPr>
                  <a:t>T1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的长度进行限制。</a:t>
                </a:r>
                <a:endParaRPr lang="en-AU" altLang="zh-CN" sz="1800" dirty="0"/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AU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AU" dirty="0"/>
              </a:p>
              <a:p>
                <a:r>
                  <a:rPr lang="en-AU" dirty="0"/>
                  <a:t>T1</a:t>
                </a:r>
                <a:endParaRPr lang="en-AU" dirty="0"/>
              </a:p>
            </p:txBody>
          </p:sp>
        </mc:Choice>
        <mc:Fallback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 b="-50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只包含</a:t>
                </a:r>
                <a:r>
                  <a:rPr lang="en-AU" altLang="zh-CN" dirty="0"/>
                  <a:t>0,1,</a:t>
                </a:r>
                <a:r>
                  <a:rPr lang="zh-CN" altLang="en-US" dirty="0"/>
                  <a:t>或</a:t>
                </a:r>
                <a:r>
                  <a:rPr lang="en-AU" altLang="zh-CN" dirty="0"/>
                  <a:t>2</a:t>
                </a:r>
                <a:r>
                  <a:rPr lang="zh-CN" altLang="en-US" dirty="0"/>
                  <a:t>，那么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𝑢𝑤𝑦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; (</a:t>
                </a:r>
                <a:r>
                  <a:rPr lang="en-AU" altLang="zh-CN" dirty="0" err="1"/>
                  <a:t>uwy</a:t>
                </a:r>
                <a:r>
                  <a:rPr lang="zh-CN" altLang="en-US" dirty="0"/>
                  <a:t>即删掉部分</a:t>
                </a:r>
                <a:r>
                  <a:rPr lang="en-AU" altLang="zh-CN" dirty="0"/>
                  <a:t>0</a:t>
                </a:r>
                <a:r>
                  <a:rPr lang="zh-CN" altLang="en-US" dirty="0"/>
                  <a:t>，或部分</a:t>
                </a:r>
                <a:r>
                  <a:rPr lang="en-AU" altLang="zh-CN" dirty="0"/>
                  <a:t>1</a:t>
                </a:r>
                <a:r>
                  <a:rPr lang="zh-CN" altLang="en-US" dirty="0"/>
                  <a:t>，或部分</a:t>
                </a:r>
                <a:r>
                  <a:rPr lang="en-AU" altLang="zh-CN" dirty="0"/>
                  <a:t>2</a:t>
                </a:r>
                <a:r>
                  <a:rPr lang="zh-CN" altLang="en-US" dirty="0"/>
                  <a:t>，那么都不会在语言中</a:t>
                </a:r>
                <a:r>
                  <a:rPr lang="en-AU" altLang="zh-CN" dirty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代换本来是定义在字符上，我们扩展定义到字符串上，也就是通过递归的定义。</a:t>
            </a:r>
            <a:endParaRPr lang="en-AU" altLang="zh-CN" dirty="0"/>
          </a:p>
          <a:p>
            <a:endParaRPr lang="en-AU" dirty="0"/>
          </a:p>
          <a:p>
            <a:r>
              <a:rPr lang="en-AU" dirty="0"/>
              <a:t>S</a:t>
            </a:r>
            <a:r>
              <a:rPr lang="zh-CN" altLang="en-US" dirty="0"/>
              <a:t>作用到一个字符串上得到的语言，也就是把</a:t>
            </a:r>
            <a:r>
              <a:rPr lang="en-US" altLang="zh-CN" dirty="0"/>
              <a:t>s</a:t>
            </a:r>
            <a:r>
              <a:rPr lang="zh-CN" altLang="en-US" dirty="0"/>
              <a:t>作用于每一个字符得到的语言连接起来。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再扩展</a:t>
            </a:r>
            <a:r>
              <a:rPr lang="en-AU" altLang="zh-CN" dirty="0"/>
              <a:t>s</a:t>
            </a:r>
            <a:r>
              <a:rPr lang="zh-CN" altLang="en-US" dirty="0"/>
              <a:t>到语言，也就是</a:t>
            </a:r>
            <a:r>
              <a:rPr lang="en-US" altLang="zh-CN" dirty="0"/>
              <a:t>s</a:t>
            </a:r>
            <a:r>
              <a:rPr lang="zh-CN" altLang="en-US" dirty="0"/>
              <a:t>应用于</a:t>
            </a:r>
            <a:r>
              <a:rPr lang="en-US" altLang="zh-CN" dirty="0"/>
              <a:t>L</a:t>
            </a:r>
            <a:r>
              <a:rPr lang="zh-CN" altLang="en-US" dirty="0"/>
              <a:t>中每一个符号串得到的语言的并集。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S(L)</a:t>
                </a:r>
                <a:r>
                  <a:rPr lang="zh-CN" altLang="en-US" dirty="0"/>
                  <a:t>的开始变元，使用文法</a:t>
                </a:r>
                <a:r>
                  <a:rPr lang="en-AU" altLang="zh-CN" dirty="0"/>
                  <a:t>G</a:t>
                </a:r>
                <a:r>
                  <a:rPr lang="zh-CN" altLang="en-US" dirty="0"/>
                  <a:t>的开始变元。那么它的构造方法为</a:t>
                </a:r>
                <a:endParaRPr lang="en-AU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b="0" i="0" dirty="0">
                  <a:latin typeface="+mn-lt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∪(</m:t>
                      </m:r>
                      <m:nary>
                        <m:naryPr>
                          <m:chr m:val="⋃"/>
                          <m:limLoc m:val="subSup"/>
                          <m:sup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每个</a:t>
                </a:r>
                <a:r>
                  <a:rPr lang="en-AU" altLang="zh-CN" dirty="0" err="1"/>
                  <a:t>V_a</a:t>
                </a:r>
                <a:r>
                  <a:rPr lang="zh-CN" altLang="en-US" dirty="0"/>
                  <a:t>就是</a:t>
                </a:r>
                <a:r>
                  <a:rPr lang="en-US" altLang="zh-CN" dirty="0"/>
                  <a:t>s(a)</a:t>
                </a:r>
                <a:r>
                  <a:rPr lang="zh-CN" altLang="en-US" dirty="0"/>
                  <a:t>文法中的变元，就是求它们的并集。</a:t>
                </a:r>
                <a:endParaRPr lang="en-AU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每个</a:t>
                </a:r>
                <a:r>
                  <a:rPr lang="en-US" altLang="zh-CN" dirty="0"/>
                  <a:t>T</a:t>
                </a:r>
                <a:r>
                  <a:rPr lang="en-AU" altLang="zh-CN" dirty="0"/>
                  <a:t>_a</a:t>
                </a:r>
                <a:r>
                  <a:rPr lang="zh-CN" altLang="en-US" dirty="0"/>
                  <a:t>就是</a:t>
                </a:r>
                <a:r>
                  <a:rPr lang="en-US" altLang="zh-CN" dirty="0"/>
                  <a:t>s(a)</a:t>
                </a:r>
                <a:r>
                  <a:rPr lang="zh-CN" altLang="en-US" dirty="0"/>
                  <a:t>文法中的变元</a:t>
                </a:r>
                <a:endParaRPr lang="en-AU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所以</a:t>
                </a:r>
                <a:r>
                  <a:rPr lang="en-AU" altLang="zh-CN" dirty="0"/>
                  <a:t>V’</a:t>
                </a:r>
                <a:r>
                  <a:rPr lang="zh-CN" altLang="en-US" dirty="0"/>
                  <a:t>就是</a:t>
                </a:r>
                <a:r>
                  <a:rPr lang="en-US" altLang="zh-CN" dirty="0"/>
                  <a:t>V</a:t>
                </a:r>
                <a:r>
                  <a:rPr lang="zh-CN" altLang="en-US" dirty="0"/>
                  <a:t>并上每个</a:t>
                </a:r>
                <a:r>
                  <a:rPr lang="en-AU" altLang="zh-CN" dirty="0"/>
                  <a:t>s(a)</a:t>
                </a:r>
                <a:r>
                  <a:rPr lang="zh-CN" altLang="en-US" dirty="0"/>
                  <a:t>文法中的所有变元， </a:t>
                </a:r>
                <a:r>
                  <a:rPr lang="en-US" altLang="zh-CN" dirty="0"/>
                  <a:t>T</a:t>
                </a:r>
                <a:r>
                  <a:rPr lang="zh-CN" altLang="en-US" dirty="0"/>
                  <a:t>‘也类似。</a:t>
                </a:r>
                <a:endParaRPr lang="en-AU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/>
                  <a:t>我们要证明语言</a:t>
                </a:r>
                <a:r>
                  <a:rPr lang="en-US" altLang="zh-CN" sz="1600" dirty="0"/>
                  <a:t>L</a:t>
                </a:r>
                <a:r>
                  <a:rPr lang="zh-CN" altLang="en-US" sz="1600" dirty="0"/>
                  <a:t>在代换下得到的语言</a:t>
                </a:r>
                <a:r>
                  <a:rPr lang="en-AU" altLang="zh-CN" sz="1600" dirty="0"/>
                  <a:t>s(L)</a:t>
                </a:r>
                <a:r>
                  <a:rPr lang="zh-CN" altLang="en-US" sz="1600" dirty="0"/>
                  <a:t>与我们构造的文法所定义的语言是相等的。对于任意一个在代换的作用下得到语言中的一个串</a:t>
                </a:r>
                <a:r>
                  <a:rPr lang="en-AU" altLang="zh-CN" sz="1600" dirty="0"/>
                  <a:t>w</a:t>
                </a:r>
                <a:r>
                  <a:rPr lang="zh-CN" altLang="en-US" sz="1600" dirty="0"/>
                  <a:t>。显然，它是</a:t>
                </a:r>
                <a:r>
                  <a:rPr lang="en-US" altLang="zh-CN" sz="1600" dirty="0"/>
                  <a:t>L</a:t>
                </a:r>
                <a:r>
                  <a:rPr lang="zh-CN" altLang="en-US" sz="1600" dirty="0"/>
                  <a:t>中的某一个串在</a:t>
                </a:r>
                <a:r>
                  <a:rPr lang="en-AU" altLang="zh-CN" sz="1600" dirty="0"/>
                  <a:t>s</a:t>
                </a:r>
                <a:r>
                  <a:rPr lang="zh-CN" altLang="en-US" sz="1600" dirty="0"/>
                  <a:t>的作用下得到的语言中来的。</a:t>
                </a:r>
                <a:endParaRPr lang="en-AU" altLang="zh-CN" sz="1600" dirty="0"/>
              </a:p>
              <a:p>
                <a:endParaRPr lang="en-AU" altLang="zh-CN" sz="1600" dirty="0"/>
              </a:p>
              <a:p>
                <a:r>
                  <a:rPr lang="zh-CN" altLang="en-US" sz="1600" dirty="0"/>
                  <a:t>因为</a:t>
                </a:r>
                <a:r>
                  <a:rPr lang="en-AU" altLang="zh-CN" sz="1600" dirty="0"/>
                  <a:t>s(L)</a:t>
                </a:r>
                <a:r>
                  <a:rPr lang="zh-CN" altLang="en-US" sz="1600" dirty="0"/>
                  <a:t>的</a:t>
                </a:r>
                <a:r>
                  <a:rPr lang="en-US" altLang="zh-CN" sz="1600" dirty="0"/>
                  <a:t>L</a:t>
                </a:r>
                <a:r>
                  <a:rPr lang="zh-CN" altLang="en-US" sz="1600" dirty="0"/>
                  <a:t>中每一个符号串在</a:t>
                </a:r>
                <a:r>
                  <a:rPr lang="en-AU" altLang="zh-CN" sz="1600" dirty="0"/>
                  <a:t>s</a:t>
                </a:r>
                <a:r>
                  <a:rPr lang="zh-CN" altLang="en-US" sz="1600" dirty="0"/>
                  <a:t>作用下得到的语言的并集，因此</a:t>
                </a:r>
                <a:r>
                  <a:rPr lang="en-AU" altLang="zh-CN" sz="1600" dirty="0"/>
                  <a:t>w</a:t>
                </a:r>
                <a:r>
                  <a:rPr lang="zh-CN" altLang="en-US" sz="1600" dirty="0"/>
                  <a:t>属于其中的某一个语言，也就是</a:t>
                </a:r>
                <a:r>
                  <a:rPr lang="en-US" altLang="zh-CN" sz="1600" dirty="0"/>
                  <a:t>w</a:t>
                </a:r>
                <a:r>
                  <a:rPr lang="zh-CN" altLang="en-US" sz="1600" dirty="0"/>
                  <a:t>是</a:t>
                </a:r>
                <a:r>
                  <a:rPr lang="en-US" altLang="zh-CN" sz="1600" dirty="0"/>
                  <a:t>L</a:t>
                </a:r>
                <a:r>
                  <a:rPr lang="zh-CN" altLang="en-US" sz="1600" dirty="0"/>
                  <a:t>中的某一个串在</a:t>
                </a:r>
                <a:r>
                  <a:rPr lang="en-AU" altLang="zh-CN" sz="1600" dirty="0"/>
                  <a:t>s</a:t>
                </a:r>
                <a:r>
                  <a:rPr lang="zh-CN" altLang="en-US" sz="1600" dirty="0"/>
                  <a:t>的作用下得到的语言中来的。</a:t>
                </a:r>
                <a:endParaRPr lang="en-AU" altLang="zh-CN" sz="1600" dirty="0"/>
              </a:p>
              <a:p>
                <a:endParaRPr lang="en-AU" altLang="zh-CN" sz="16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36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sz="3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sz="3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36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sz="3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) · · · 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36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sz="3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600" dirty="0"/>
                  <a:t>。</a:t>
                </a:r>
                <a:r>
                  <a:rPr lang="en-US" altLang="zh-CN" sz="3600" dirty="0"/>
                  <a:t>(</a:t>
                </a:r>
                <a:r>
                  <a:rPr lang="zh-CN" altLang="en-US" sz="3600" dirty="0"/>
                  <a:t>而</a:t>
                </a:r>
                <a:r>
                  <a:rPr lang="en-US" altLang="zh-CN" sz="3600" dirty="0"/>
                  <a:t>s(x)</a:t>
                </a:r>
                <a:r>
                  <a:rPr lang="zh-CN" altLang="en-US" sz="3600" dirty="0"/>
                  <a:t>是对</a:t>
                </a:r>
                <a:r>
                  <a:rPr lang="en-US" altLang="zh-CN" sz="3600" dirty="0"/>
                  <a:t>x</a:t>
                </a:r>
                <a:r>
                  <a:rPr lang="zh-CN" altLang="en-US" sz="3600" dirty="0"/>
                  <a:t>的每一个符号应用代换</a:t>
                </a:r>
                <a:r>
                  <a:rPr lang="en-AU" altLang="zh-CN" sz="3600" dirty="0"/>
                  <a:t>s</a:t>
                </a:r>
                <a:r>
                  <a:rPr lang="zh-CN" altLang="en-US" sz="3600" dirty="0"/>
                  <a:t>得到的语言的连接</a:t>
                </a:r>
                <a:r>
                  <a:rPr lang="en-US" altLang="zh-CN" sz="3600" dirty="0"/>
                  <a:t>)</a:t>
                </a:r>
                <a:endParaRPr lang="en-AU" altLang="zh-CN" sz="3600" dirty="0"/>
              </a:p>
              <a:p>
                <a:endParaRPr lang="en-AU" altLang="zh-CN" sz="1600" dirty="0"/>
              </a:p>
              <a:p>
                <a:endParaRPr lang="en-AU" sz="1600" dirty="0"/>
              </a:p>
              <a:p>
                <a:r>
                  <a:rPr lang="zh-CN" altLang="en-US" sz="1600" dirty="0"/>
                  <a:t>那么</a:t>
                </a:r>
                <a:r>
                  <a:rPr lang="en-AU" altLang="zh-CN" sz="1600" dirty="0"/>
                  <a:t>w</a:t>
                </a:r>
                <a:r>
                  <a:rPr lang="zh-CN" altLang="en-US" sz="1600" dirty="0"/>
                  <a:t>可以分为</a:t>
                </a:r>
                <a:r>
                  <a:rPr lang="en-AU" altLang="zh-CN" sz="1600" dirty="0"/>
                  <a:t>n</a:t>
                </a:r>
                <a:r>
                  <a:rPr lang="zh-CN" altLang="en-US" sz="1600" dirty="0"/>
                  <a:t>段，</a:t>
                </a:r>
                <a:endParaRPr lang="en-AU" altLang="zh-CN" sz="1600" dirty="0"/>
              </a:p>
              <a:p>
                <a:endParaRPr lang="en-AU" sz="1600" dirty="0"/>
              </a:p>
              <a:p>
                <a:endParaRPr lang="en-AU" sz="1600" dirty="0"/>
              </a:p>
              <a:p>
                <a:r>
                  <a:rPr lang="zh-CN" altLang="en-US" sz="1600" dirty="0"/>
                  <a:t>我们所构造的文法，在</a:t>
                </a:r>
                <a:r>
                  <a:rPr lang="en-AU" altLang="zh-CN" sz="1600" dirty="0"/>
                  <a:t>G’</a:t>
                </a:r>
                <a:r>
                  <a:rPr lang="zh-CN" altLang="en-US" sz="1600" dirty="0"/>
                  <a:t>中，会将</a:t>
                </a:r>
                <a:r>
                  <a:rPr lang="en-US" altLang="zh-CN" sz="1600" dirty="0"/>
                  <a:t>G</a:t>
                </a:r>
                <a:r>
                  <a:rPr lang="zh-CN" altLang="en-US" sz="1600" dirty="0"/>
                  <a:t>中的</a:t>
                </a:r>
                <a:r>
                  <a:rPr lang="zh-CN" altLang="en-US" sz="3600" dirty="0"/>
                  <a:t>产生式</a:t>
                </a:r>
                <a14:m>
                  <m:oMath xmlns:m="http://schemas.openxmlformats.org/officeDocument/2006/math">
                    <m:r>
                      <a:rPr lang="en-AU" altLang="zh-CN" sz="3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3600" dirty="0"/>
                  <a:t>中的每个终结符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600" dirty="0"/>
                  <a:t>均替换为文法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36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AU" altLang="zh-CN" sz="36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3600" dirty="0"/>
                  <a:t>的开始符号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36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360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1600" dirty="0"/>
                  <a:t>。因此在文法</a:t>
                </a:r>
                <a:r>
                  <a:rPr lang="en-AU" altLang="zh-CN" sz="1600" dirty="0"/>
                  <a:t>G’</a:t>
                </a:r>
                <a:r>
                  <a:rPr lang="zh-CN" altLang="en-US" sz="1600" dirty="0"/>
                  <a:t>中，我们有</a:t>
                </a:r>
                <a:r>
                  <a:rPr lang="en-AU" altLang="zh-CN" sz="1600" dirty="0"/>
                  <a:t>S</a:t>
                </a:r>
                <a:r>
                  <a:rPr lang="zh-CN" altLang="en-US" sz="1600" dirty="0"/>
                  <a:t>可以派生出</a:t>
                </a:r>
                <a:r>
                  <a:rPr lang="en-AU" altLang="zh-CN" sz="1600" dirty="0"/>
                  <a:t>S</a:t>
                </a:r>
                <a:r>
                  <a:rPr lang="en-US" altLang="zh-CN" sz="1600" dirty="0"/>
                  <a:t>a1,Sa2,…., San, </a:t>
                </a:r>
                <a:r>
                  <a:rPr lang="zh-CN" altLang="en-US" sz="1600" dirty="0"/>
                  <a:t>也就是</a:t>
                </a:r>
                <a:r>
                  <a:rPr lang="en-AU" altLang="zh-CN" sz="1600" dirty="0"/>
                  <a:t>S</a:t>
                </a:r>
                <a:r>
                  <a:rPr lang="zh-CN" altLang="en-US" sz="1600" dirty="0"/>
                  <a:t>可以派生出</a:t>
                </a:r>
                <a:r>
                  <a:rPr lang="en-AU" altLang="zh-CN" sz="1600" dirty="0"/>
                  <a:t>w</a:t>
                </a:r>
                <a:r>
                  <a:rPr lang="zh-CN" altLang="en-US" sz="1600" dirty="0"/>
                  <a:t>。因此</a:t>
                </a:r>
                <a:r>
                  <a:rPr lang="en-AU" altLang="zh-CN" sz="1600" dirty="0"/>
                  <a:t>s(L)</a:t>
                </a:r>
                <a:r>
                  <a:rPr lang="zh-CN" altLang="en-US" sz="1600" dirty="0"/>
                  <a:t>是</a:t>
                </a:r>
                <a:r>
                  <a:rPr lang="en-AU" altLang="zh-CN" sz="1600" dirty="0"/>
                  <a:t>L(G’)</a:t>
                </a:r>
                <a:r>
                  <a:rPr lang="zh-CN" altLang="en-US" sz="1600" dirty="0"/>
                  <a:t>的子集。</a:t>
                </a:r>
                <a:endParaRPr lang="en-AU" sz="1600" dirty="0"/>
              </a:p>
            </p:txBody>
          </p:sp>
        </mc:Choice>
        <mc:Fallback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 b="-116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如果一个字符串能够被我们所构造的文法所定义，因为我们都构造的文法的每一个终结符，都是由某个</a:t>
                </a:r>
                <a:r>
                  <a:rPr lang="en-AU" altLang="zh-CN" dirty="0"/>
                  <a:t>Sa</a:t>
                </a:r>
                <a:r>
                  <a:rPr lang="zh-CN" altLang="en-US" dirty="0"/>
                  <a:t>派生出来。所以如果一个串属于文法所定义的语言的话，那么它一定在文法的开始符号，可以派生出来一个全是</a:t>
                </a:r>
                <a:r>
                  <a:rPr lang="en-AU" altLang="zh-CN" dirty="0"/>
                  <a:t>Sa</a:t>
                </a:r>
                <a:r>
                  <a:rPr lang="zh-CN" altLang="en-US" dirty="0"/>
                  <a:t>的一个句型，这样的一个句型最终能够派生出</a:t>
                </a:r>
                <a:r>
                  <a:rPr lang="en-AU" altLang="zh-CN" dirty="0"/>
                  <a:t>w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endParaRPr lang="en-AU" dirty="0"/>
              </a:p>
              <a:p>
                <a:endParaRPr lang="en-AU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/>
                  <a:t>中的每个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中是终结符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所以有在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中，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可以派生出</a:t>
                </a:r>
                <a:r>
                  <a:rPr lang="en-AU" altLang="zh-CN" dirty="0"/>
                  <a:t>a_1, ..</a:t>
                </a:r>
                <a:r>
                  <a:rPr lang="en-AU" altLang="zh-CN" dirty="0" err="1"/>
                  <a:t>a_n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如果</a:t>
                </a:r>
                <a:r>
                  <a:rPr lang="en-AU" altLang="zh-CN" dirty="0"/>
                  <a:t>a1a2…an=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的话，那么显然它是在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中。</a:t>
                </a:r>
                <a:endParaRPr lang="en-AU" altLang="zh-CN" dirty="0"/>
              </a:p>
              <a:p>
                <a:endParaRPr lang="en-AU" dirty="0"/>
              </a:p>
              <a:p>
                <a:r>
                  <a:rPr lang="zh-CN" altLang="en-US" dirty="0"/>
                  <a:t>因为互为子集，所以相等。</a:t>
                </a:r>
                <a:endParaRPr lang="en-AU" altLang="zh-CN" dirty="0"/>
              </a:p>
              <a:p>
                <a:endParaRPr lang="en-AU" dirty="0"/>
              </a:p>
              <a:p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l-G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l-G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groupChr>
                      <m:groupChrPr>
                        <m:chr m:val="⇒"/>
                        <m:pos m:val="top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groupCh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· · ·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，所以每个</a:t>
                </a:r>
                <a:r>
                  <a:rPr lang="en-AU" altLang="zh-CN" dirty="0"/>
                  <a:t>Sai</a:t>
                </a:r>
                <a:r>
                  <a:rPr lang="zh-CN" altLang="en-US" dirty="0"/>
                  <a:t>一定派生出</a:t>
                </a:r>
                <a:r>
                  <a:rPr lang="en-AU" altLang="zh-CN" dirty="0"/>
                  <a:t>w</a:t>
                </a:r>
                <a:r>
                  <a:rPr lang="zh-CN" altLang="en-US" dirty="0"/>
                  <a:t>中的某一部分，我们不妨设</a:t>
                </a:r>
                <a:r>
                  <a:rPr lang="en-AU" altLang="zh-CN" dirty="0"/>
                  <a:t>Sai</a:t>
                </a:r>
                <a:r>
                  <a:rPr lang="zh-CN" altLang="en-US" dirty="0"/>
                  <a:t>派生出</a:t>
                </a:r>
                <a:r>
                  <a:rPr lang="en-AU" altLang="zh-CN" dirty="0" err="1"/>
                  <a:t>wi</a:t>
                </a:r>
                <a:endParaRPr lang="en-AU" altLang="zh-CN" dirty="0"/>
              </a:p>
              <a:p>
                <a:endParaRPr lang="en-AU" dirty="0"/>
              </a:p>
              <a:p>
                <a:r>
                  <a:rPr lang="zh-CN" altLang="en-US" dirty="0"/>
                  <a:t>注意</a:t>
                </a:r>
                <a:r>
                  <a:rPr lang="en-AU" altLang="zh-CN" dirty="0"/>
                  <a:t>x</a:t>
                </a:r>
                <a:r>
                  <a:rPr lang="zh-CN" altLang="en-US" dirty="0"/>
                  <a:t>属于</a:t>
                </a:r>
                <a:r>
                  <a:rPr lang="en-AU" altLang="zh-CN" dirty="0"/>
                  <a:t>L, </a:t>
                </a:r>
                <a:r>
                  <a:rPr lang="en-US" altLang="zh-CN" dirty="0"/>
                  <a:t>s(L)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中每个符号串应用代换得到的语言的并集。</a:t>
                </a:r>
                <a:endParaRPr lang="en-AU" altLang="zh-CN" dirty="0"/>
              </a:p>
              <a:p>
                <a:endParaRPr lang="en-AU" dirty="0"/>
              </a:p>
              <a:p>
                <a:r>
                  <a:rPr lang="zh-CN" altLang="en-US" dirty="0"/>
                  <a:t>因为</a:t>
                </a:r>
                <a:r>
                  <a:rPr lang="en-AU" altLang="zh-CN" dirty="0"/>
                  <a:t>s(x)</a:t>
                </a:r>
                <a:r>
                  <a:rPr lang="zh-CN" altLang="en-US" dirty="0"/>
                  <a:t>包含于</a:t>
                </a:r>
                <a:r>
                  <a:rPr lang="en-AU" altLang="zh-CN" dirty="0"/>
                  <a:t>s(L)</a:t>
                </a:r>
                <a:r>
                  <a:rPr lang="zh-CN" altLang="en-US" dirty="0"/>
                  <a:t>，因此</a:t>
                </a:r>
                <a:r>
                  <a:rPr lang="en-AU" altLang="zh-CN" dirty="0"/>
                  <a:t>w</a:t>
                </a:r>
                <a:r>
                  <a:rPr lang="zh-CN" altLang="en-US" dirty="0"/>
                  <a:t>属于</a:t>
                </a:r>
                <a:r>
                  <a:rPr lang="en-AU" altLang="zh-CN" dirty="0"/>
                  <a:t>s(L)</a:t>
                </a:r>
                <a:r>
                  <a:rPr lang="zh-CN" altLang="en-US" dirty="0"/>
                  <a:t>。</a:t>
                </a:r>
                <a:endParaRPr lang="en-AU" dirty="0"/>
              </a:p>
            </p:txBody>
          </p:sp>
        </mc:Choice>
        <mc:Fallback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首先，我们设计</a:t>
            </a:r>
            <a:r>
              <a:rPr lang="en-US" altLang="zh-CN" dirty="0"/>
              <a:t>L</a:t>
            </a:r>
            <a:r>
              <a:rPr lang="zh-CN" altLang="en-US" dirty="0"/>
              <a:t>的文法，然后设计</a:t>
            </a:r>
            <a:r>
              <a:rPr lang="en-AU" altLang="zh-CN" dirty="0"/>
              <a:t>La</a:t>
            </a:r>
            <a:r>
              <a:rPr lang="zh-CN" altLang="en-US" dirty="0"/>
              <a:t>和</a:t>
            </a:r>
            <a:r>
              <a:rPr lang="en-AU" altLang="zh-CN" dirty="0"/>
              <a:t>Lb</a:t>
            </a:r>
            <a:r>
              <a:rPr lang="zh-CN" altLang="en-US" dirty="0"/>
              <a:t>的文法，利用前面的构造合在一起。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对于</a:t>
            </a:r>
            <a:r>
              <a:rPr lang="en-US" altLang="zh-CN" dirty="0"/>
              <a:t>L</a:t>
            </a:r>
            <a:r>
              <a:rPr lang="zh-CN" altLang="en-US" dirty="0"/>
              <a:t>的文法，可以设计为：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对于</a:t>
            </a:r>
            <a:r>
              <a:rPr lang="en-US" altLang="zh-CN" dirty="0"/>
              <a:t>La</a:t>
            </a:r>
            <a:r>
              <a:rPr lang="zh-CN" altLang="en-US" dirty="0"/>
              <a:t>的文法，可以设计为</a:t>
            </a:r>
            <a:r>
              <a:rPr lang="en-AU" altLang="zh-CN" dirty="0"/>
              <a:t>: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三个的不对（强制要求匹配不能完全交差，如</a:t>
            </a:r>
            <a:r>
              <a:rPr lang="en-US" altLang="zh-CN" sz="12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aabbcc</a:t>
            </a:r>
            <a:r>
              <a:rPr lang="zh-CN" altLang="en-US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{</a:t>
            </a:r>
            <a:r>
              <a:rPr lang="en-US" altLang="zh-CN" sz="12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abc</a:t>
            </a:r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acb</a:t>
            </a:r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bac</a:t>
            </a:r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bca</a:t>
            </a:r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cab</a:t>
            </a:r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cba</a:t>
            </a:r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}{</a:t>
            </a:r>
            <a:r>
              <a:rPr lang="en-US" altLang="zh-CN" sz="12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aSbScS</a:t>
            </a:r>
            <a:r>
              <a:rPr lang="en-US" altLang="zh-CN" sz="12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aScSbS</a:t>
            </a:r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bSaScS</a:t>
            </a:r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bScSaS</a:t>
            </a:r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cSaSbS</a:t>
            </a:r>
            <a:r>
              <a:rPr lang="en-US" altLang="zh-CN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12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cSbSaS</a:t>
            </a:r>
            <a:r>
              <a:rPr lang="en-US" altLang="zh-CN" sz="120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}??</a:t>
            </a:r>
            <a:endParaRPr lang="en-AU" altLang="zh-CN" sz="120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首先，我们设计</a:t>
            </a:r>
            <a:r>
              <a:rPr lang="en-US" altLang="zh-CN" dirty="0"/>
              <a:t>L</a:t>
            </a:r>
            <a:r>
              <a:rPr lang="zh-CN" altLang="en-US" dirty="0"/>
              <a:t>的文法，然后设计</a:t>
            </a:r>
            <a:r>
              <a:rPr lang="en-AU" altLang="zh-CN" dirty="0"/>
              <a:t>La</a:t>
            </a:r>
            <a:r>
              <a:rPr lang="zh-CN" altLang="en-US" dirty="0"/>
              <a:t>和</a:t>
            </a:r>
            <a:r>
              <a:rPr lang="en-AU" altLang="zh-CN" dirty="0"/>
              <a:t>Lb</a:t>
            </a:r>
            <a:r>
              <a:rPr lang="zh-CN" altLang="en-US" dirty="0"/>
              <a:t>的文法，利用前面的构造合在一起。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对于</a:t>
            </a:r>
            <a:r>
              <a:rPr lang="en-US" altLang="zh-CN" dirty="0"/>
              <a:t>L</a:t>
            </a:r>
            <a:r>
              <a:rPr lang="zh-CN" altLang="en-US" dirty="0"/>
              <a:t>的文法，可以设计为：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对于</a:t>
            </a:r>
            <a:r>
              <a:rPr lang="en-US" altLang="zh-CN" dirty="0"/>
              <a:t>La</a:t>
            </a:r>
            <a:r>
              <a:rPr lang="zh-CN" altLang="en-US" dirty="0"/>
              <a:t>的文法，可以设计为</a:t>
            </a:r>
            <a:r>
              <a:rPr lang="en-AU" altLang="zh-CN" dirty="0"/>
              <a:t>: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这个定理的证明使用到了前面的代换运算。因为上下文无关语言在代换运算下封闭，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我们可以直接去用代换运算构造出来上下文无关语言在并</a:t>
            </a:r>
            <a:r>
              <a:rPr lang="en-US" altLang="zh-CN" dirty="0"/>
              <a:t>, </a:t>
            </a:r>
            <a:r>
              <a:rPr lang="zh-CN" altLang="en-US" dirty="0"/>
              <a:t>连接</a:t>
            </a:r>
            <a:r>
              <a:rPr lang="en-US" altLang="zh-CN" dirty="0"/>
              <a:t>, </a:t>
            </a:r>
            <a:r>
              <a:rPr lang="zh-CN" altLang="en-US" dirty="0"/>
              <a:t>闭包</a:t>
            </a:r>
            <a:r>
              <a:rPr lang="en-US" altLang="zh-CN" dirty="0"/>
              <a:t>, </a:t>
            </a:r>
            <a:r>
              <a:rPr lang="zh-CN" altLang="en-US" dirty="0"/>
              <a:t>正闭包</a:t>
            </a:r>
            <a:r>
              <a:rPr lang="en-US" altLang="zh-CN" dirty="0"/>
              <a:t>, </a:t>
            </a:r>
            <a:r>
              <a:rPr lang="zh-CN" altLang="en-US" dirty="0"/>
              <a:t>同态下的封闭性。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那么我们来看下这个定理的证明。设一个字母表</a:t>
            </a:r>
            <a:r>
              <a:rPr lang="en-AU" altLang="zh-CN" dirty="0"/>
              <a:t>sigma</a:t>
            </a:r>
            <a:r>
              <a:rPr lang="zh-CN" altLang="en-US" dirty="0"/>
              <a:t>，它包含</a:t>
            </a:r>
            <a:r>
              <a:rPr lang="en-AU" altLang="zh-CN" dirty="0"/>
              <a:t>1</a:t>
            </a:r>
            <a:r>
              <a:rPr lang="zh-CN" altLang="en-US" dirty="0"/>
              <a:t>，</a:t>
            </a:r>
            <a:r>
              <a:rPr lang="en-AU" altLang="zh-CN" dirty="0"/>
              <a:t>2</a:t>
            </a:r>
            <a:r>
              <a:rPr lang="zh-CN" altLang="en-US" dirty="0"/>
              <a:t>，而</a:t>
            </a:r>
            <a:r>
              <a:rPr lang="en-AU" altLang="zh-CN" dirty="0"/>
              <a:t>L1, L2</a:t>
            </a:r>
            <a:r>
              <a:rPr lang="zh-CN" altLang="en-US" dirty="0"/>
              <a:t>是任意的</a:t>
            </a:r>
            <a:r>
              <a:rPr lang="en-AU" altLang="zh-CN" dirty="0"/>
              <a:t>CFL</a:t>
            </a:r>
            <a:r>
              <a:rPr lang="zh-CN" altLang="en-US" dirty="0"/>
              <a:t>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altLang="zh-CN" dirty="0"/>
                  <a:t>Sigma</a:t>
                </a:r>
                <a:r>
                  <a:rPr lang="zh-CN" altLang="en-US" dirty="0"/>
                  <a:t>上的每一个字符在同态的作用下是一个字符串。那么我们可以将代换定义为这个字符串所构成的语言。</a:t>
                </a:r>
                <a:endParaRPr lang="en-AU" altLang="zh-CN" dirty="0"/>
              </a:p>
              <a:p>
                <a:endParaRPr lang="en-AU" altLang="zh-CN" dirty="0"/>
              </a:p>
              <a:p>
                <a:endParaRPr lang="en-AU" altLang="zh-CN" dirty="0"/>
              </a:p>
              <a:p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AU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d>
                          <m:dPr>
                            <m:begChr m:val="{"/>
                            <m:endChr m:val="}"/>
                            <m:ctrlPr>
                              <a:rPr lang="en-AU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1200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  <m:d>
                              <m:dPr>
                                <m:ctrlPr>
                                  <a:rPr lang="en-AU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altLang="zh-CN" sz="1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</m:d>
                        <m: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hr m:val="⋃"/>
                        <m:supHide m:val="on"/>
                        <m:ctrlPr>
                          <a:rPr lang="en-AU" altLang="zh-CN" sz="1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AU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AU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AU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r>
                          <a:rPr lang="en-AU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′(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)=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dirty="0"/>
                  <a:t>，在这一步的构造中，利用了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 = {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)}, </m:t>
                    </m:r>
                  </m:oMath>
                </a14:m>
                <a:endParaRPr lang="en-AU" altLang="zh-CN" dirty="0"/>
              </a:p>
              <a:p>
                <a:endParaRPr lang="en-AU" altLang="zh-CN" dirty="0"/>
              </a:p>
              <a:p>
                <a:r>
                  <a:rPr lang="zh-CN" altLang="en-US" dirty="0"/>
                  <a:t>同态是将一个字符映射为一个字符串。</a:t>
                </a:r>
                <a:endParaRPr lang="en-AU" altLang="zh-CN" dirty="0"/>
              </a:p>
              <a:p>
                <a:endParaRPr lang="en-AU" dirty="0"/>
              </a:p>
              <a:p>
                <a:r>
                  <a:rPr lang="zh-CN" altLang="en-US" dirty="0"/>
                  <a:t>那么</a:t>
                </a:r>
                <a:r>
                  <a:rPr lang="en-AU" altLang="zh-CN" dirty="0"/>
                  <a:t>h(L)</a:t>
                </a:r>
                <a:r>
                  <a:rPr lang="zh-CN" altLang="en-US" dirty="0"/>
                  <a:t>就可以转化为</a:t>
                </a:r>
                <a:r>
                  <a:rPr lang="en-AU" altLang="zh-CN" dirty="0"/>
                  <a:t>s’(L)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zh-CN" altLang="en-US" dirty="0"/>
                  <a:t>因为</a:t>
                </a:r>
                <a:r>
                  <a:rPr lang="en-AU" altLang="zh-CN" dirty="0"/>
                  <a:t>s’(L)</a:t>
                </a:r>
                <a:r>
                  <a:rPr lang="zh-CN" altLang="en-US" dirty="0"/>
                  <a:t>是上下文无关的，所以</a:t>
                </a:r>
                <a:r>
                  <a:rPr lang="en-AU" altLang="zh-CN" dirty="0"/>
                  <a:t>h(L)</a:t>
                </a:r>
                <a:r>
                  <a:rPr lang="zh-CN" altLang="en-US" dirty="0"/>
                  <a:t>也是上下文无关的。</a:t>
                </a:r>
                <a:endParaRPr lang="en-AU" dirty="0"/>
              </a:p>
            </p:txBody>
          </p:sp>
        </mc:Choice>
        <mc:Fallback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只要把</a:t>
            </a:r>
            <a:r>
              <a:rPr lang="en-US" altLang="zh-CN" dirty="0"/>
              <a:t>L</a:t>
            </a:r>
            <a:r>
              <a:rPr lang="zh-CN" altLang="en-US" dirty="0"/>
              <a:t>的文法中每一条产生式的右部进行反转即可。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2000" dirty="0"/>
              <a:t>h^(-1) (L)</a:t>
            </a:r>
            <a:r>
              <a:rPr lang="zh-CN" altLang="en-US" sz="2000" dirty="0"/>
              <a:t>读作</a:t>
            </a:r>
            <a:r>
              <a:rPr lang="en-US" altLang="zh-CN" sz="2000" dirty="0"/>
              <a:t>h</a:t>
            </a:r>
            <a:r>
              <a:rPr lang="zh-CN" altLang="en-US" sz="2000" dirty="0"/>
              <a:t>逆</a:t>
            </a:r>
            <a:r>
              <a:rPr lang="en-US" altLang="zh-CN" sz="2000" dirty="0"/>
              <a:t>L</a:t>
            </a:r>
            <a:r>
              <a:rPr lang="zh-CN" altLang="en-US" sz="2000" dirty="0"/>
              <a:t>。我们通过构造识别</a:t>
            </a:r>
            <a:r>
              <a:rPr lang="en-AU" sz="2000" dirty="0"/>
              <a:t>h^(-1) </a:t>
            </a:r>
            <a:r>
              <a:rPr lang="zh-CN" altLang="en-US" sz="2000" dirty="0"/>
              <a:t>的下推自动机来证明这个定理。</a:t>
            </a:r>
            <a:endParaRPr lang="en-AU" altLang="zh-CN" sz="2000" dirty="0"/>
          </a:p>
          <a:p>
            <a:endParaRPr lang="en-AU" altLang="zh-CN" sz="2000" dirty="0"/>
          </a:p>
          <a:p>
            <a:r>
              <a:rPr lang="zh-CN" altLang="en-US" sz="2000" dirty="0"/>
              <a:t>我们设一个以终态方式识别的</a:t>
            </a:r>
            <a:r>
              <a:rPr lang="en-AU" altLang="zh-CN" sz="2000" dirty="0"/>
              <a:t>PDA P</a:t>
            </a:r>
            <a:endParaRPr lang="en-AU" altLang="zh-CN" sz="2000" dirty="0"/>
          </a:p>
          <a:p>
            <a:endParaRPr lang="en-AU" altLang="zh-CN" sz="2000" dirty="0"/>
          </a:p>
          <a:p>
            <a:endParaRPr lang="en-AU" altLang="zh-CN" sz="2000" dirty="0"/>
          </a:p>
          <a:p>
            <a:r>
              <a:rPr lang="zh-CN" altLang="en-US" sz="2000" dirty="0"/>
              <a:t>对于每个输入符号</a:t>
            </a:r>
            <a:r>
              <a:rPr lang="en-US" altLang="zh-CN" sz="2000" dirty="0"/>
              <a:t>a</a:t>
            </a:r>
            <a:r>
              <a:rPr lang="zh-CN" altLang="en-US" sz="2000" dirty="0"/>
              <a:t>，先通过同态函数变为符号串</a:t>
            </a:r>
            <a:r>
              <a:rPr lang="en-AU" altLang="zh-CN" sz="2000" dirty="0"/>
              <a:t>h(a)</a:t>
            </a:r>
            <a:r>
              <a:rPr lang="zh-CN" altLang="en-US" sz="2000" dirty="0"/>
              <a:t>，存在一个</a:t>
            </a:r>
            <a:r>
              <a:rPr lang="en-AU" altLang="zh-CN" sz="2000" dirty="0"/>
              <a:t>buffer</a:t>
            </a:r>
            <a:r>
              <a:rPr lang="zh-CN" altLang="en-US" sz="2000" dirty="0"/>
              <a:t>中（这个</a:t>
            </a:r>
            <a:r>
              <a:rPr lang="en-AU" altLang="zh-CN" sz="2000" dirty="0"/>
              <a:t>buffer</a:t>
            </a:r>
            <a:r>
              <a:rPr lang="zh-CN" altLang="en-US" sz="2000" dirty="0"/>
              <a:t>是</a:t>
            </a:r>
            <a:r>
              <a:rPr lang="en-US" altLang="zh-CN" sz="2000" dirty="0"/>
              <a:t>P’</a:t>
            </a:r>
            <a:r>
              <a:rPr lang="zh-CN" altLang="en-US" sz="2000" dirty="0"/>
              <a:t>的输入带），</a:t>
            </a:r>
            <a:r>
              <a:rPr lang="en-AU" altLang="zh-CN" sz="2000" dirty="0"/>
              <a:t>buffer</a:t>
            </a:r>
            <a:r>
              <a:rPr lang="zh-CN" altLang="en-US" sz="2000" dirty="0"/>
              <a:t>中的符号串成为</a:t>
            </a:r>
            <a:r>
              <a:rPr lang="en-US" altLang="zh-CN" sz="2000" dirty="0"/>
              <a:t>PDA</a:t>
            </a:r>
            <a:r>
              <a:rPr lang="zh-CN" altLang="en-US" sz="2000" dirty="0"/>
              <a:t>的输入串。然后</a:t>
            </a:r>
            <a:r>
              <a:rPr lang="en-AU" altLang="zh-CN" sz="2000" dirty="0"/>
              <a:t>P’</a:t>
            </a:r>
            <a:r>
              <a:rPr lang="zh-CN" altLang="en-US" sz="2000" dirty="0"/>
              <a:t>去扫描这个</a:t>
            </a:r>
            <a:r>
              <a:rPr lang="en-AU" altLang="zh-CN" sz="2000" dirty="0"/>
              <a:t>h(a), </a:t>
            </a:r>
            <a:r>
              <a:rPr lang="zh-CN" altLang="en-US" sz="2000" dirty="0"/>
              <a:t>进行状态转移。</a:t>
            </a:r>
            <a:endParaRPr lang="en-AU" altLang="zh-CN" sz="2000" dirty="0"/>
          </a:p>
          <a:p>
            <a:endParaRPr lang="en-AU" altLang="zh-CN" sz="2000" dirty="0"/>
          </a:p>
          <a:p>
            <a:r>
              <a:rPr lang="zh-CN" altLang="en-US" sz="2000" dirty="0"/>
              <a:t>当扫描完输入带上的符号串</a:t>
            </a:r>
            <a:r>
              <a:rPr lang="en-AU" altLang="zh-CN" sz="2000" dirty="0"/>
              <a:t>w</a:t>
            </a:r>
            <a:r>
              <a:rPr lang="zh-CN" altLang="en-US" sz="2000" dirty="0"/>
              <a:t>的时候，</a:t>
            </a:r>
            <a:r>
              <a:rPr lang="en-AU" altLang="zh-CN" sz="2000" dirty="0"/>
              <a:t>P’</a:t>
            </a:r>
            <a:r>
              <a:rPr lang="zh-CN" altLang="en-US" sz="2000" dirty="0"/>
              <a:t>所扫描的刚好就是</a:t>
            </a:r>
            <a:r>
              <a:rPr lang="en-AU" altLang="zh-CN" sz="2000" dirty="0"/>
              <a:t>h(w)</a:t>
            </a:r>
            <a:r>
              <a:rPr lang="zh-CN" altLang="en-US" sz="2000" dirty="0"/>
              <a:t>，如果</a:t>
            </a:r>
            <a:r>
              <a:rPr lang="en-AU" altLang="zh-CN" sz="2000" dirty="0"/>
              <a:t>h(w)</a:t>
            </a:r>
            <a:r>
              <a:rPr lang="zh-CN" altLang="en-US" sz="2000" dirty="0"/>
              <a:t>被接受的话</a:t>
            </a:r>
            <a:r>
              <a:rPr lang="en-AU" altLang="zh-CN" sz="2000" dirty="0"/>
              <a:t>,w</a:t>
            </a:r>
            <a:r>
              <a:rPr lang="zh-CN" altLang="en-US" sz="2000" dirty="0"/>
              <a:t>也就被接受。我们通过这样的方式去构造识别</a:t>
            </a:r>
            <a:r>
              <a:rPr lang="en-AU" altLang="zh-CN" sz="2000" dirty="0"/>
              <a:t>L</a:t>
            </a:r>
            <a:r>
              <a:rPr lang="zh-CN" altLang="en-US" sz="2000" dirty="0"/>
              <a:t>的</a:t>
            </a:r>
            <a:r>
              <a:rPr lang="en-US" altLang="zh-CN" sz="2000" dirty="0"/>
              <a:t>H</a:t>
            </a:r>
            <a:r>
              <a:rPr lang="zh-CN" altLang="en-US" sz="2000" dirty="0"/>
              <a:t>逆的语言。</a:t>
            </a:r>
            <a:endParaRPr lang="en-AU" altLang="zh-CN" sz="2000" dirty="0"/>
          </a:p>
          <a:p>
            <a:endParaRPr lang="en-AU" altLang="zh-CN" sz="2000" dirty="0"/>
          </a:p>
          <a:p>
            <a:endParaRPr lang="en-AU" altLang="zh-CN" sz="2000" dirty="0"/>
          </a:p>
          <a:p>
            <a:r>
              <a:rPr lang="zh-CN" altLang="en-US" sz="2000" dirty="0"/>
              <a:t>这里值得注意的是，</a:t>
            </a:r>
            <a:r>
              <a:rPr lang="en-AU" altLang="zh-CN" sz="2000" dirty="0"/>
              <a:t>P’</a:t>
            </a:r>
            <a:r>
              <a:rPr lang="zh-CN" altLang="en-US" sz="2000" dirty="0"/>
              <a:t>的有穷控制器不能存储任意的信息，只能存储有限个。那么把缓冲作为输入带，会不会导致</a:t>
            </a:r>
            <a:r>
              <a:rPr lang="en-AU" altLang="zh-CN" sz="2000" dirty="0"/>
              <a:t>P’</a:t>
            </a:r>
            <a:r>
              <a:rPr lang="zh-CN" altLang="en-US" sz="2000" dirty="0"/>
              <a:t>需要存储任意多的信息？我们说不会。我们每次读入一个字符</a:t>
            </a:r>
            <a:r>
              <a:rPr lang="en-US" altLang="zh-CN" sz="2000" dirty="0"/>
              <a:t>a</a:t>
            </a:r>
            <a:r>
              <a:rPr lang="zh-CN" altLang="en-US" sz="2000" dirty="0"/>
              <a:t>的时候，我们装载的仅仅是这个</a:t>
            </a:r>
            <a:r>
              <a:rPr lang="en-AU" altLang="zh-CN" sz="2000" dirty="0"/>
              <a:t>h(a)</a:t>
            </a:r>
            <a:r>
              <a:rPr lang="zh-CN" altLang="en-US" sz="2000" dirty="0"/>
              <a:t>的符号串。而</a:t>
            </a:r>
            <a:r>
              <a:rPr lang="en-AU" altLang="zh-CN" sz="2000" dirty="0"/>
              <a:t>sigma</a:t>
            </a:r>
            <a:r>
              <a:rPr lang="zh-CN" altLang="en-US" sz="2000" dirty="0"/>
              <a:t>上的字符是有限个，而对每个字符在</a:t>
            </a:r>
            <a:r>
              <a:rPr lang="en-AU" altLang="zh-CN" sz="2000" dirty="0"/>
              <a:t>h</a:t>
            </a:r>
            <a:r>
              <a:rPr lang="zh-CN" altLang="en-US" sz="2000" dirty="0"/>
              <a:t>的作用下得到的</a:t>
            </a:r>
            <a:r>
              <a:rPr lang="en-AU" altLang="zh-CN" sz="2000" dirty="0"/>
              <a:t>h(a)</a:t>
            </a:r>
            <a:r>
              <a:rPr lang="zh-CN" altLang="en-US" sz="2000" dirty="0"/>
              <a:t>也是有限长的。我们装载</a:t>
            </a:r>
            <a:r>
              <a:rPr lang="en-AU" altLang="zh-CN" sz="2000" dirty="0"/>
              <a:t>h(a)</a:t>
            </a:r>
            <a:r>
              <a:rPr lang="zh-CN" altLang="en-US" sz="2000" dirty="0"/>
              <a:t>的时候，从左到右装载。装载完</a:t>
            </a:r>
            <a:r>
              <a:rPr lang="en-AU" altLang="zh-CN" sz="2000" dirty="0"/>
              <a:t>h(a)</a:t>
            </a:r>
            <a:r>
              <a:rPr lang="zh-CN" altLang="en-US" sz="2000" dirty="0"/>
              <a:t>的时候，重新回到第一个单元格，装载下一个字符的</a:t>
            </a:r>
            <a:r>
              <a:rPr lang="en-US" altLang="zh-CN" sz="2000" dirty="0"/>
              <a:t>h</a:t>
            </a:r>
            <a:r>
              <a:rPr lang="zh-CN" altLang="en-US" sz="2000" dirty="0"/>
              <a:t>函数的输出。因此，只要</a:t>
            </a:r>
            <a:r>
              <a:rPr lang="en-AU" altLang="zh-CN" sz="2000" dirty="0"/>
              <a:t>buffer</a:t>
            </a:r>
            <a:r>
              <a:rPr lang="zh-CN" altLang="en-US" sz="2000" dirty="0"/>
              <a:t>足够大，能装载最长的</a:t>
            </a:r>
            <a:r>
              <a:rPr lang="en-AU" altLang="zh-CN" sz="2000" dirty="0"/>
              <a:t>h(a)</a:t>
            </a:r>
            <a:r>
              <a:rPr lang="zh-CN" altLang="en-US" sz="2000" dirty="0"/>
              <a:t>即可。</a:t>
            </a:r>
            <a:endParaRPr lang="en-AU" altLang="zh-CN" sz="2000" dirty="0"/>
          </a:p>
          <a:p>
            <a:endParaRPr lang="en-AU" altLang="zh-CN" sz="2000" dirty="0"/>
          </a:p>
          <a:p>
            <a:endParaRPr lang="en-AU" altLang="zh-CN" sz="2000" dirty="0"/>
          </a:p>
          <a:p>
            <a:endParaRPr lang="en-AU" altLang="zh-CN" sz="2000" dirty="0"/>
          </a:p>
          <a:p>
            <a:r>
              <a:rPr lang="en-AU" altLang="zh-CN" sz="2000" dirty="0"/>
              <a:t>P’</a:t>
            </a:r>
            <a:r>
              <a:rPr lang="zh-CN" altLang="en-US" sz="2000" dirty="0"/>
              <a:t>的每个状态由两部分组成，一个是正常的状态，一个是缓冲区的符号串。</a:t>
            </a:r>
            <a:endParaRPr lang="en-AU" altLang="zh-C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000" dirty="0"/>
                  <a:t>那么构造方法是这样的。</a:t>
                </a:r>
                <a:endParaRPr lang="en-AU" altLang="zh-CN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CN" sz="2000" dirty="0"/>
                  <a:t>: </a:t>
                </a:r>
                <a:r>
                  <a:rPr lang="zh-CN" altLang="en-US" sz="2000" dirty="0"/>
                  <a:t>状态</a:t>
                </a:r>
                <a14:m>
                  <m:oMath xmlns:m="http://schemas.openxmlformats.org/officeDocument/2006/math">
                    <m:r>
                      <a:rPr lang="en-AU" altLang="zh-CN" sz="20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altLang="zh-CN" sz="20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altLang="zh-CN" sz="20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000" dirty="0"/>
                  <a:t>中的</a:t>
                </a:r>
                <a14:m>
                  <m:oMath xmlns:m="http://schemas.openxmlformats.org/officeDocument/2006/math">
                    <m:r>
                      <a:rPr lang="en-AU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000" dirty="0"/>
                  <a:t>为缓冲中还未被消耗的串，即某个</a:t>
                </a:r>
                <a14:m>
                  <m:oMath xmlns:m="http://schemas.openxmlformats.org/officeDocument/2006/math">
                    <m:r>
                      <a:rPr lang="en-AU" altLang="zh-CN" sz="2000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/>
                  <a:t>的后缀。</a:t>
                </a:r>
                <a:endParaRPr lang="en-AU" altLang="zh-CN" sz="2000" dirty="0"/>
              </a:p>
              <a:p>
                <a:endParaRPr lang="en-AU" sz="2000" dirty="0"/>
              </a:p>
              <a:p>
                <a:r>
                  <a:rPr lang="zh-CN" altLang="en-US" sz="2000" dirty="0"/>
                  <a:t>其实后缀这个说法是针对后续的每一步而言的，在一开始的时候，其实就是</a:t>
                </a:r>
                <a:r>
                  <a:rPr lang="en-AU" altLang="zh-CN" sz="2000" dirty="0"/>
                  <a:t>buffer</a:t>
                </a:r>
                <a:r>
                  <a:rPr lang="zh-CN" altLang="en-US" sz="2000" dirty="0"/>
                  <a:t>里面的符号串。</a:t>
                </a:r>
                <a:endParaRPr lang="en-AU" sz="2000" dirty="0"/>
              </a:p>
              <a:p>
                <a:endParaRPr lang="en-AU" altLang="zh-CN" sz="2000" dirty="0"/>
              </a:p>
              <a:p>
                <a:r>
                  <a:rPr lang="zh-CN" altLang="en-US" sz="2000" dirty="0"/>
                  <a:t>首先设识别</a:t>
                </a:r>
                <a:r>
                  <a:rPr lang="en-AU" altLang="zh-CN" sz="2000" dirty="0"/>
                  <a:t>L</a:t>
                </a:r>
                <a:r>
                  <a:rPr lang="zh-CN" altLang="en-US" sz="2000" dirty="0"/>
                  <a:t>的</a:t>
                </a:r>
                <a:r>
                  <a:rPr lang="en-US" altLang="zh-CN" sz="2000" dirty="0"/>
                  <a:t>PDA</a:t>
                </a:r>
                <a:r>
                  <a:rPr lang="zh-CN" altLang="en-US" sz="2000" dirty="0"/>
                  <a:t>是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en-AU" altLang="zh-CN" sz="2000" dirty="0"/>
                  <a:t>P</a:t>
                </a:r>
                <a:r>
                  <a:rPr lang="zh-CN" altLang="en-US" sz="2000" dirty="0"/>
                  <a:t>‘的状态由两部分组成，除了含</a:t>
                </a:r>
                <a:r>
                  <a:rPr lang="en-AU" altLang="zh-CN" sz="2000" dirty="0"/>
                  <a:t>P</a:t>
                </a:r>
                <a:r>
                  <a:rPr lang="zh-CN" altLang="en-US" sz="2000" dirty="0"/>
                  <a:t>的状态，还要使用到</a:t>
                </a:r>
                <a:r>
                  <a:rPr lang="en-US" altLang="zh-CN" sz="2000" dirty="0"/>
                  <a:t>P</a:t>
                </a:r>
                <a:r>
                  <a:rPr lang="zh-CN" altLang="en-US" sz="2000" dirty="0"/>
                  <a:t>的输入的一个缓冲。我们使用一个二元组定义状态。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en-AU" altLang="zh-CN" sz="2000" dirty="0"/>
                  <a:t>Start state: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3"/>
                  </a:rPr>
                  <a:t>the start state of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11"/>
                  </a:rPr>
                  <a:t>P’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19"/>
                  </a:rPr>
                  <a:t>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3"/>
                  </a:rPr>
                  <a:t>is (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11"/>
                  </a:rPr>
                  <a:t>q0,epsilon),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3"/>
                  </a:rPr>
                  <a:t> i.e.,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11"/>
                  </a:rPr>
                  <a:t>P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19"/>
                  </a:rPr>
                  <a:t>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3"/>
                  </a:rPr>
                  <a:t>starts in the start state of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11"/>
                  </a:rPr>
                  <a:t>P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3"/>
                  </a:rPr>
                  <a:t>with an empty buffer.</a:t>
                </a:r>
                <a:br>
                  <a:rPr lang="en-AU" sz="3200" dirty="0"/>
                </a:br>
                <a:endParaRPr lang="en-AU" altLang="zh-CN" sz="2000" dirty="0"/>
              </a:p>
              <a:p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zh-CN" altLang="en-US" sz="2000" dirty="0"/>
                  <a:t>其中开始状态，就是</a:t>
                </a:r>
                <a:r>
                  <a:rPr lang="en-US" altLang="zh-CN" sz="2000" dirty="0"/>
                  <a:t>P</a:t>
                </a:r>
                <a:r>
                  <a:rPr lang="zh-CN" altLang="en-US" sz="2000" dirty="0"/>
                  <a:t>的</a:t>
                </a:r>
                <a:r>
                  <a:rPr lang="en-US" altLang="zh-CN" sz="2000" dirty="0"/>
                  <a:t>q0</a:t>
                </a:r>
                <a:r>
                  <a:rPr lang="zh-CN" altLang="en-US" sz="2000" dirty="0"/>
                  <a:t>和空串这样的一个缓冲。</a:t>
                </a:r>
                <a:endParaRPr lang="en-AU" altLang="zh-CN" sz="2000" dirty="0"/>
              </a:p>
              <a:p>
                <a:r>
                  <a:rPr lang="zh-CN" altLang="en-US" sz="2000" dirty="0"/>
                  <a:t>而接受状态，就是所有</a:t>
                </a:r>
                <a:r>
                  <a:rPr lang="en-US" altLang="zh-CN" sz="2000" dirty="0"/>
                  <a:t>P</a:t>
                </a:r>
                <a:r>
                  <a:rPr lang="zh-CN" altLang="en-US" sz="2000" dirty="0"/>
                  <a:t>的接受状态</a:t>
                </a:r>
                <a:r>
                  <a:rPr lang="en-AU" altLang="zh-CN" sz="2000" dirty="0"/>
                  <a:t>F</a:t>
                </a:r>
                <a:r>
                  <a:rPr lang="zh-CN" altLang="en-US" sz="2000" dirty="0"/>
                  <a:t>，但是呢，已经读完缓冲的二元组。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zh-CN" altLang="en-US" sz="2000" dirty="0"/>
                  <a:t>那么栈呢，和</a:t>
                </a:r>
                <a:r>
                  <a:rPr lang="en-AU" altLang="zh-CN" sz="2000" dirty="0"/>
                  <a:t>P</a:t>
                </a:r>
                <a:r>
                  <a:rPr lang="zh-CN" altLang="en-US" sz="2000" dirty="0"/>
                  <a:t>是一样的，使用同一个栈，动作也和</a:t>
                </a:r>
                <a:r>
                  <a:rPr lang="en-US" altLang="zh-CN" sz="2000" dirty="0"/>
                  <a:t>P</a:t>
                </a:r>
                <a:r>
                  <a:rPr lang="zh-CN" altLang="en-US" sz="2000" dirty="0"/>
                  <a:t>一样。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en-AU" altLang="zh-CN" sz="2000" dirty="0"/>
                  <a:t>P’</a:t>
                </a:r>
                <a:r>
                  <a:rPr lang="zh-CN" altLang="en-US" sz="2000" dirty="0"/>
                  <a:t>模拟</a:t>
                </a:r>
                <a:r>
                  <a:rPr lang="en-US" altLang="zh-CN" sz="2000" dirty="0"/>
                  <a:t>P</a:t>
                </a:r>
                <a:r>
                  <a:rPr lang="zh-CN" altLang="en-US" sz="2000" dirty="0"/>
                  <a:t>的动作。</a:t>
                </a:r>
                <a:r>
                  <a:rPr lang="en-AU" altLang="zh-CN" sz="2000" dirty="0"/>
                  <a:t>Delta’</a:t>
                </a:r>
                <a:r>
                  <a:rPr lang="zh-CN" altLang="en-US" sz="2000" dirty="0"/>
                  <a:t>去模拟</a:t>
                </a:r>
                <a:r>
                  <a:rPr lang="en-AU" altLang="zh-CN" sz="2000" dirty="0"/>
                  <a:t>delta</a:t>
                </a:r>
                <a:r>
                  <a:rPr lang="zh-CN" altLang="en-US" sz="2000" dirty="0"/>
                  <a:t>的动作。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zh-CN" altLang="en-US" sz="2000" dirty="0"/>
                  <a:t>那么我们来看下</a:t>
                </a:r>
                <a:r>
                  <a:rPr lang="en-AU" altLang="zh-CN" sz="2000" dirty="0"/>
                  <a:t>Q’</a:t>
                </a:r>
                <a:r>
                  <a:rPr lang="zh-CN" altLang="en-US" sz="2000" dirty="0"/>
                  <a:t>和</a:t>
                </a:r>
                <a:r>
                  <a:rPr lang="en-AU" altLang="zh-CN" sz="2000" dirty="0"/>
                  <a:t>delta’</a:t>
                </a:r>
                <a:r>
                  <a:rPr lang="zh-CN" altLang="en-US" sz="2000" dirty="0"/>
                  <a:t>的构造。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AU" altLang="zh-CN" sz="20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AU" sz="2000" i="1" dirty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  <m: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sz="2000" dirty="0"/>
                  <a:t>读入一个字符</a:t>
                </a:r>
                <a:r>
                  <a:rPr lang="en-AU" altLang="zh-CN" sz="2000" dirty="0"/>
                  <a:t>a,</a:t>
                </a:r>
                <a:r>
                  <a:rPr lang="zh-CN" altLang="en-US" sz="2000" dirty="0"/>
                  <a:t>就是把</a:t>
                </a:r>
                <a:r>
                  <a:rPr lang="en-AU" altLang="zh-CN" sz="2000" dirty="0"/>
                  <a:t>h(a)</a:t>
                </a:r>
                <a:r>
                  <a:rPr lang="zh-CN" altLang="en-US" sz="2000" dirty="0"/>
                  <a:t>装载到缓冲里面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AU" sz="2000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zh-CN" altLang="en-US" sz="2000" dirty="0"/>
                  <a:t>。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zh-CN" altLang="en-US" sz="2000" dirty="0"/>
                  <a:t>然后剩余的就模拟</a:t>
                </a:r>
                <a:r>
                  <a:rPr lang="en-US" altLang="zh-CN" sz="2000" dirty="0"/>
                  <a:t>P</a:t>
                </a:r>
                <a:r>
                  <a:rPr lang="zh-CN" altLang="en-US" sz="2000" dirty="0"/>
                  <a:t>的动作就可以了。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en-AU" altLang="zh-CN" sz="2000" dirty="0"/>
                  <a:t>X</a:t>
                </a:r>
                <a:r>
                  <a:rPr lang="zh-CN" altLang="en-US" sz="2000" dirty="0"/>
                  <a:t>是栈符号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endParaRPr lang="en-AU" altLang="zh-CN" sz="2000" dirty="0"/>
              </a:p>
            </p:txBody>
          </p:sp>
        </mc:Choice>
        <mc:Fallback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 r="-1065" b="-24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P’</a:t>
                </a:r>
                <a:r>
                  <a:rPr lang="zh-CN" altLang="en-US" dirty="0"/>
                  <a:t>的内部是模拟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的动作的，即将</a:t>
                </a:r>
                <a:r>
                  <a:rPr lang="en-US" altLang="zh-CN" dirty="0"/>
                  <a:t>Buffer</a:t>
                </a:r>
                <a:r>
                  <a:rPr lang="zh-CN" altLang="en-US" dirty="0"/>
                  <a:t>里的符号串输入到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的状态转移函数中。</a:t>
                </a:r>
                <a:endParaRPr lang="en-AU" altLang="zh-CN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zh-CN" altLang="en-US" dirty="0"/>
                  <a:t>如果在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中，有</a:t>
                </a:r>
                <a14:m>
                  <m:oMath xmlns:m="http://schemas.openxmlformats.org/officeDocument/2006/math"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12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1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12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1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12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1200" i="1" dirty="0" smtClean="0">
                        <a:latin typeface="Cambria Math" panose="02040503050406030204" pitchFamily="18" charset="0"/>
                      </a:rPr>
                      <m:t>) = {(</m:t>
                    </m:r>
                    <m:sSub>
                      <m:sSubPr>
                        <m:ctrlPr>
                          <a:rPr lang="en-AU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12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AU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AU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), (</m:t>
                    </m:r>
                    <m:sSub>
                      <m:sSubPr>
                        <m:ctrlPr>
                          <a:rPr lang="en-AU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sz="12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AU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AU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), · · · , (</m:t>
                    </m:r>
                    <m:sSub>
                      <m:sSubPr>
                        <m:ctrlPr>
                          <a:rPr lang="en-AU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sz="1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AU" sz="12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AU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AU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AU" sz="1200" i="1" dirty="0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AU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就是消耗一个在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P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的字母表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delta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中的字符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时，跳转到状态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p1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AU" altLang="zh-CN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AU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那么相应的，在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P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‘中，</a:t>
                </a:r>
                <a:r>
                  <a: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对应于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buffer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上的一个字符，假设这个时候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buffer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上的符号串的后缀为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x,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因此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buffer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上的符号串为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bx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AU" altLang="zh-CN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AU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这个时候，有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P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中的状态转移函数，我们就有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AU" altLang="zh-CN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altLang="zh-CN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12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AU" altLang="zh-CN" sz="12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1200" b="0" i="1" dirty="0" smtClean="0">
                                <a:latin typeface="Cambria Math" panose="02040503050406030204" pitchFamily="18" charset="0"/>
                              </a:rPr>
                              <m:t>𝑏𝑥</m:t>
                            </m:r>
                            <m:r>
                              <a:rPr lang="en-AU" altLang="zh-CN" sz="120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AU" altLang="zh-CN" sz="1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AU" sz="1200" b="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AU" altLang="zh-CN" sz="1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12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AU" altLang="zh-CN" sz="1200" b="0" i="1" dirty="0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AU" altLang="zh-CN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altLang="zh-CN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1200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AU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AU" sz="12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sz="12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altLang="zh-CN" sz="120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AU" sz="12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AU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1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AU" sz="1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AU" altLang="zh-CN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AU" altLang="zh-CN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altLang="zh-CN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1200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AU" sz="12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AU" sz="12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sz="12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altLang="zh-CN" sz="120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AU" sz="12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AU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1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AU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AU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d>
                      <m:dPr>
                        <m:ctrlPr>
                          <a:rPr lang="en-AU" altLang="zh-CN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altLang="zh-CN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1200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AU" sz="1200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AU" sz="12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sz="12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altLang="zh-CN" sz="120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AU" sz="12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AU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1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AU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AU" altLang="zh-CN" sz="12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AU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buffer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上为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bx, 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状态为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q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，然后由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P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中的状态转移函数，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能被消耗掉，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buffer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上剩下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x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。注意到这里的输入符号（最源头）是空串，即不消耗输入符号，其实也是说，首先读入一个字符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，然后映射到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buffer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上，然后就利用这上面的这些动作进行转移。等到</a:t>
                </a:r>
                <a:r>
                  <a:rPr lang="en-AU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buffer</a:t>
                </a: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空了之后，才从最源头输入利用前面的第一条状态转移函数读入下一个符号。</a:t>
                </a:r>
                <a:endParaRPr lang="en-AU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L1</a:t>
            </a:r>
            <a:r>
              <a:rPr lang="zh-CN" altLang="en-US" dirty="0"/>
              <a:t>交</a:t>
            </a:r>
            <a:r>
              <a:rPr lang="en-US" altLang="zh-CN" dirty="0"/>
              <a:t>L2</a:t>
            </a:r>
            <a:r>
              <a:rPr lang="zh-CN" altLang="en-US" dirty="0"/>
              <a:t>得到的语言为</a:t>
            </a:r>
            <a:r>
              <a:rPr lang="en-AU" altLang="zh-CN" dirty="0"/>
              <a:t>0n1n2n,</a:t>
            </a:r>
            <a:r>
              <a:rPr lang="zh-CN" altLang="en-US" dirty="0"/>
              <a:t>显然不是上下文无关的，我们前面已经用泵引理证明过。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相当于并行的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P’</a:t>
                </a:r>
                <a:r>
                  <a:rPr lang="zh-CN" altLang="en-US" dirty="0"/>
                  <a:t>的状态集由</a:t>
                </a:r>
                <a:r>
                  <a:rPr lang="en-AU" altLang="zh-CN" dirty="0"/>
                  <a:t>Q1</a:t>
                </a:r>
                <a:r>
                  <a:rPr lang="zh-CN" altLang="en-US" dirty="0"/>
                  <a:t>和</a:t>
                </a:r>
                <a:r>
                  <a:rPr lang="en-AU" altLang="zh-CN" dirty="0"/>
                  <a:t>Q2</a:t>
                </a:r>
                <a:r>
                  <a:rPr lang="zh-CN" altLang="en-US" dirty="0"/>
                  <a:t>的笛卡尔积组成，即每一个状态由</a:t>
                </a:r>
                <a:r>
                  <a:rPr lang="en-AU" altLang="zh-CN" dirty="0"/>
                  <a:t>Q1</a:t>
                </a:r>
                <a:r>
                  <a:rPr lang="zh-CN" altLang="en-US" dirty="0"/>
                  <a:t>中的一个状态和</a:t>
                </a:r>
                <a:r>
                  <a:rPr lang="en-US" altLang="zh-CN" dirty="0"/>
                  <a:t>Q2</a:t>
                </a:r>
                <a:r>
                  <a:rPr lang="zh-CN" altLang="en-US" dirty="0"/>
                  <a:t>中的状态组合而成。</a:t>
                </a:r>
                <a:endParaRPr lang="en-AU" altLang="zh-CN" dirty="0"/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AU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AU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AU" altLang="zh-CN" sz="1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sz="1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AU" altLang="zh-CN" sz="1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altLang="zh-CN" sz="1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AU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zh-CN" altLang="en-US" sz="1200" dirty="0"/>
                  <a:t>若</a:t>
                </a:r>
                <a14:m>
                  <m:oMath xmlns:m="http://schemas.openxmlformats.org/officeDocument/2006/math">
                    <m:r>
                      <a:rPr lang="en-AU" altLang="zh-CN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altLang="zh-CN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CN" altLang="en-AU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这个时候只有</a:t>
                </a:r>
                <a:r>
                  <a:rPr lang="en-US" altLang="zh-CN" dirty="0"/>
                  <a:t>PDA</a:t>
                </a:r>
                <a:r>
                  <a:rPr lang="zh-CN" altLang="en-US" dirty="0"/>
                  <a:t>有动作，</a:t>
                </a:r>
                <a:r>
                  <a:rPr lang="en-AU" altLang="zh-CN" dirty="0"/>
                  <a:t>DFA</a:t>
                </a:r>
                <a:r>
                  <a:rPr lang="zh-CN" altLang="en-US" dirty="0"/>
                  <a:t>不改变状态，因此对应于</a:t>
                </a:r>
                <a:r>
                  <a:rPr lang="en-US" altLang="zh-CN" dirty="0"/>
                  <a:t>DFA</a:t>
                </a:r>
                <a:r>
                  <a:rPr lang="zh-CN" altLang="en-US" dirty="0"/>
                  <a:t>的状态仍为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，而另一个状态则是</a:t>
                </a:r>
                <a:r>
                  <a:rPr lang="en-AU" altLang="zh-CN" dirty="0"/>
                  <a:t>PDA</a:t>
                </a:r>
                <a:r>
                  <a:rPr lang="zh-CN" altLang="en-US" dirty="0"/>
                  <a:t>转移后的状态</a:t>
                </a:r>
                <a:r>
                  <a:rPr lang="en-AU" altLang="zh-CN" dirty="0"/>
                  <a:t>s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endParaRPr lang="en-AU" dirty="0"/>
              </a:p>
              <a:p>
                <a:r>
                  <a:rPr lang="zh-CN" altLang="en-US" dirty="0"/>
                  <a:t>若</a:t>
                </a:r>
                <a:r>
                  <a:rPr lang="en-AU" altLang="zh-CN" dirty="0"/>
                  <a:t>a</a:t>
                </a:r>
                <a:r>
                  <a:rPr lang="zh-CN" altLang="en-US" dirty="0"/>
                  <a:t>非空，则</a:t>
                </a:r>
                <a:endParaRPr lang="en-AU" dirty="0"/>
              </a:p>
            </p:txBody>
          </p:sp>
        </mc:Choice>
        <mc:Fallback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i="1" dirty="0">
                    <a:latin typeface="Cambria Math" panose="02040503050406030204" pitchFamily="18" charset="0"/>
                  </a:rPr>
                  <a:t>利用上下文无关语言的封闭性，我们可以利用它来证明某些语言不是上下文无关的。</a:t>
                </a:r>
                <a:endParaRPr lang="en-AU" altLang="zh-CN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altLang="zh-CN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altLang="zh-CN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i="1" dirty="0">
                    <a:latin typeface="Cambria Math" panose="02040503050406030204" pitchFamily="18" charset="0"/>
                  </a:rPr>
                  <a:t>比如，大家看下面这个例子</a:t>
                </a:r>
                <a:endParaRPr lang="en-AU" altLang="zh-CN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altLang="zh-CN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altLang="zh-CN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显然是正则语言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因为我们可以写出它的正则表达式。</a:t>
                </a:r>
                <a:endParaRPr lang="en-AU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对于空性，只需判断文法的开始符号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是否为非产生的。因为如果开始符号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无法产生终结符的话，那么显然是空的。</a:t>
                </a:r>
                <a:endParaRPr lang="en-AU" dirty="0"/>
              </a:p>
            </p:txBody>
          </p:sp>
        </mc:Choice>
        <mc:Fallback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和</a:t>
            </a:r>
            <a:r>
              <a:rPr lang="en-AU" altLang="zh-CN" dirty="0"/>
              <a:t>CFL</a:t>
            </a:r>
            <a:r>
              <a:rPr lang="zh-CN" altLang="en-US" dirty="0"/>
              <a:t>相关的很多问题，往往都是不可判定的。比如判断，等等问题。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altLang="zh-CN" dirty="0"/>
              <a:t>alpha</a:t>
            </a:r>
            <a:r>
              <a:rPr lang="zh-CN" altLang="en-US" dirty="0"/>
              <a:t>由终结符和变元组成。</a:t>
            </a:r>
            <a:r>
              <a:rPr lang="el-GR" dirty="0"/>
              <a:t>α </a:t>
            </a:r>
            <a:r>
              <a:rPr lang="zh-CN" altLang="en-US" dirty="0"/>
              <a:t>中至少要有一个变元</a:t>
            </a:r>
            <a:endParaRPr lang="en-AU" altLang="zh-CN" dirty="0"/>
          </a:p>
          <a:p>
            <a:r>
              <a:rPr lang="zh-CN" altLang="en-US" dirty="0"/>
              <a:t>如果符合上面的要求，</a:t>
            </a:r>
            <a:r>
              <a:rPr lang="en-US" altLang="zh-CN" dirty="0"/>
              <a:t>G</a:t>
            </a:r>
            <a:r>
              <a:rPr lang="zh-CN" altLang="en-US" dirty="0"/>
              <a:t>称为</a:t>
            </a:r>
            <a:r>
              <a:rPr lang="en-AU" altLang="zh-CN" dirty="0"/>
              <a:t>0</a:t>
            </a:r>
            <a:r>
              <a:rPr lang="zh-CN" altLang="en-US" dirty="0"/>
              <a:t>型文法或短语结构文法，识别这样文法的语言的装置是图灵机。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而如果在这样的基础上，增加一条限制，要求</a:t>
            </a:r>
            <a:r>
              <a:rPr lang="en-AU" altLang="zh-CN" dirty="0"/>
              <a:t>beta</a:t>
            </a:r>
            <a:r>
              <a:rPr lang="zh-CN" altLang="en-US" dirty="0"/>
              <a:t>的长度大于</a:t>
            </a:r>
            <a:r>
              <a:rPr lang="en-AU" altLang="zh-CN" dirty="0" err="1"/>
              <a:t>alph</a:t>
            </a:r>
            <a:r>
              <a:rPr lang="en-US" altLang="zh-CN" dirty="0"/>
              <a:t>a</a:t>
            </a:r>
            <a:r>
              <a:rPr lang="zh-CN" altLang="en-US" dirty="0"/>
              <a:t>长度，我们称为上下文有关文法，能识别这样文法的语言的自动机成为线性界限自动机</a:t>
            </a:r>
            <a:r>
              <a:rPr lang="en-AU" altLang="zh-CN" dirty="0"/>
              <a:t>(LBA)</a:t>
            </a:r>
            <a:r>
              <a:rPr lang="zh-CN" altLang="en-US" dirty="0"/>
              <a:t>。这个我们在课程中并没有介绍过，有兴趣的同学可以去进一步了解。</a:t>
            </a:r>
            <a:endParaRPr lang="en-AU" altLang="zh-CN" dirty="0"/>
          </a:p>
          <a:p>
            <a:endParaRPr lang="en-AU" dirty="0"/>
          </a:p>
          <a:p>
            <a:r>
              <a:rPr lang="en-AU" dirty="0"/>
              <a:t>2</a:t>
            </a:r>
            <a:r>
              <a:rPr lang="zh-CN" altLang="en-US" dirty="0"/>
              <a:t>到</a:t>
            </a:r>
            <a:r>
              <a:rPr lang="en-AU" altLang="zh-CN" dirty="0"/>
              <a:t>3</a:t>
            </a:r>
            <a:r>
              <a:rPr lang="zh-CN" altLang="en-US" dirty="0"/>
              <a:t>型文法都是各自在</a:t>
            </a:r>
            <a:r>
              <a:rPr lang="en-AU" altLang="zh-CN" dirty="0"/>
              <a:t>0</a:t>
            </a:r>
            <a:r>
              <a:rPr lang="zh-CN" altLang="en-US" dirty="0"/>
              <a:t>型文法上增加一个限制条件得到的。</a:t>
            </a:r>
            <a:endParaRPr lang="en-AU" altLang="zh-CN" dirty="0"/>
          </a:p>
          <a:p>
            <a:endParaRPr lang="en-AU" dirty="0"/>
          </a:p>
          <a:p>
            <a:r>
              <a:rPr lang="en-AU" dirty="0"/>
              <a:t>(4)</a:t>
            </a:r>
            <a:r>
              <a:rPr lang="zh-CN" altLang="en-US" dirty="0"/>
              <a:t>正则文法，也就是正则语言。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那么到目前，和上下文无关文法，上下文无关语言有关的内容就结束了，在后续课程中我们会给出图灵机和图灵机所定义的语言的描述。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AF06-D15C-44CE-AFF9-B535D7A7E491}" type="datetime1">
              <a:rPr lang="en-AU" smtClean="0"/>
            </a:fld>
            <a:endParaRPr lang="en-AU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92696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auto"/>
            <a:endParaRPr lang="zh-CN" altLang="en-US" strike="noStrike" noProof="1"/>
          </a:p>
        </p:txBody>
      </p:sp>
      <p:sp>
        <p:nvSpPr>
          <p:cNvPr id="8" name="平行四边形 49"/>
          <p:cNvSpPr/>
          <p:nvPr/>
        </p:nvSpPr>
        <p:spPr>
          <a:xfrm>
            <a:off x="-30162" y="-14287"/>
            <a:ext cx="2536825" cy="706438"/>
          </a:xfrm>
          <a:custGeom>
            <a:avLst/>
            <a:gdLst>
              <a:gd name="connsiteX0" fmla="*/ 0 w 1547664"/>
              <a:gd name="connsiteY0" fmla="*/ 692696 h 692696"/>
              <a:gd name="connsiteX1" fmla="*/ 173174 w 1547664"/>
              <a:gd name="connsiteY1" fmla="*/ 0 h 692696"/>
              <a:gd name="connsiteX2" fmla="*/ 1547664 w 1547664"/>
              <a:gd name="connsiteY2" fmla="*/ 0 h 692696"/>
              <a:gd name="connsiteX3" fmla="*/ 1374490 w 1547664"/>
              <a:gd name="connsiteY3" fmla="*/ 692696 h 692696"/>
              <a:gd name="connsiteX4" fmla="*/ 0 w 1547664"/>
              <a:gd name="connsiteY4" fmla="*/ 692696 h 692696"/>
              <a:gd name="connsiteX0-1" fmla="*/ 61228 w 1608892"/>
              <a:gd name="connsiteY0-2" fmla="*/ 722676 h 722676"/>
              <a:gd name="connsiteX1-3" fmla="*/ 234402 w 1608892"/>
              <a:gd name="connsiteY1-4" fmla="*/ 29980 h 722676"/>
              <a:gd name="connsiteX2-5" fmla="*/ 1267 w 1608892"/>
              <a:gd name="connsiteY2-6" fmla="*/ 0 h 722676"/>
              <a:gd name="connsiteX3-7" fmla="*/ 1608892 w 1608892"/>
              <a:gd name="connsiteY3-8" fmla="*/ 29980 h 722676"/>
              <a:gd name="connsiteX4-9" fmla="*/ 1435718 w 1608892"/>
              <a:gd name="connsiteY4-10" fmla="*/ 722676 h 722676"/>
              <a:gd name="connsiteX5" fmla="*/ 61228 w 1608892"/>
              <a:gd name="connsiteY5" fmla="*/ 722676 h 722676"/>
              <a:gd name="connsiteX0-11" fmla="*/ 63273 w 1610937"/>
              <a:gd name="connsiteY0-12" fmla="*/ 722676 h 722676"/>
              <a:gd name="connsiteX1-13" fmla="*/ 56565 w 1610937"/>
              <a:gd name="connsiteY1-14" fmla="*/ 44970 h 722676"/>
              <a:gd name="connsiteX2-15" fmla="*/ 3312 w 1610937"/>
              <a:gd name="connsiteY2-16" fmla="*/ 0 h 722676"/>
              <a:gd name="connsiteX3-17" fmla="*/ 1610937 w 1610937"/>
              <a:gd name="connsiteY3-18" fmla="*/ 29980 h 722676"/>
              <a:gd name="connsiteX4-19" fmla="*/ 1437763 w 1610937"/>
              <a:gd name="connsiteY4-20" fmla="*/ 722676 h 722676"/>
              <a:gd name="connsiteX5-21" fmla="*/ 63273 w 1610937"/>
              <a:gd name="connsiteY5-22" fmla="*/ 722676 h 722676"/>
              <a:gd name="connsiteX0-23" fmla="*/ 63273 w 2075632"/>
              <a:gd name="connsiteY0-24" fmla="*/ 722676 h 722676"/>
              <a:gd name="connsiteX1-25" fmla="*/ 56565 w 2075632"/>
              <a:gd name="connsiteY1-26" fmla="*/ 44970 h 722676"/>
              <a:gd name="connsiteX2-27" fmla="*/ 3312 w 2075632"/>
              <a:gd name="connsiteY2-28" fmla="*/ 0 h 722676"/>
              <a:gd name="connsiteX3-29" fmla="*/ 2075632 w 2075632"/>
              <a:gd name="connsiteY3-30" fmla="*/ 29980 h 722676"/>
              <a:gd name="connsiteX4-31" fmla="*/ 1437763 w 2075632"/>
              <a:gd name="connsiteY4-32" fmla="*/ 722676 h 722676"/>
              <a:gd name="connsiteX5-33" fmla="*/ 63273 w 2075632"/>
              <a:gd name="connsiteY5-34" fmla="*/ 722676 h 722676"/>
              <a:gd name="connsiteX0-35" fmla="*/ 6708 w 2019067"/>
              <a:gd name="connsiteY0-36" fmla="*/ 771160 h 771160"/>
              <a:gd name="connsiteX1-37" fmla="*/ 0 w 2019067"/>
              <a:gd name="connsiteY1-38" fmla="*/ 93454 h 771160"/>
              <a:gd name="connsiteX2-39" fmla="*/ 2019067 w 2019067"/>
              <a:gd name="connsiteY2-40" fmla="*/ 78464 h 771160"/>
              <a:gd name="connsiteX3-41" fmla="*/ 1381198 w 2019067"/>
              <a:gd name="connsiteY3-42" fmla="*/ 771160 h 771160"/>
              <a:gd name="connsiteX4-43" fmla="*/ 6708 w 2019067"/>
              <a:gd name="connsiteY4-44" fmla="*/ 771160 h 771160"/>
              <a:gd name="connsiteX0-45" fmla="*/ 6708 w 2019067"/>
              <a:gd name="connsiteY0-46" fmla="*/ 740785 h 740785"/>
              <a:gd name="connsiteX1-47" fmla="*/ 0 w 2019067"/>
              <a:gd name="connsiteY1-48" fmla="*/ 63079 h 740785"/>
              <a:gd name="connsiteX2-49" fmla="*/ 2019067 w 2019067"/>
              <a:gd name="connsiteY2-50" fmla="*/ 48089 h 740785"/>
              <a:gd name="connsiteX3-51" fmla="*/ 1381198 w 2019067"/>
              <a:gd name="connsiteY3-52" fmla="*/ 740785 h 740785"/>
              <a:gd name="connsiteX4-53" fmla="*/ 6708 w 2019067"/>
              <a:gd name="connsiteY4-54" fmla="*/ 740785 h 740785"/>
              <a:gd name="connsiteX0-55" fmla="*/ 6708 w 2019067"/>
              <a:gd name="connsiteY0-56" fmla="*/ 692696 h 692696"/>
              <a:gd name="connsiteX1-57" fmla="*/ 0 w 2019067"/>
              <a:gd name="connsiteY1-58" fmla="*/ 14990 h 692696"/>
              <a:gd name="connsiteX2-59" fmla="*/ 2019067 w 2019067"/>
              <a:gd name="connsiteY2-60" fmla="*/ 0 h 692696"/>
              <a:gd name="connsiteX3-61" fmla="*/ 1381198 w 2019067"/>
              <a:gd name="connsiteY3-62" fmla="*/ 692696 h 692696"/>
              <a:gd name="connsiteX4-63" fmla="*/ 6708 w 2019067"/>
              <a:gd name="connsiteY4-64" fmla="*/ 692696 h 692696"/>
              <a:gd name="connsiteX0-65" fmla="*/ 21698 w 2034057"/>
              <a:gd name="connsiteY0-66" fmla="*/ 707686 h 707686"/>
              <a:gd name="connsiteX1-67" fmla="*/ 0 w 2034057"/>
              <a:gd name="connsiteY1-68" fmla="*/ 0 h 707686"/>
              <a:gd name="connsiteX2-69" fmla="*/ 2034057 w 2034057"/>
              <a:gd name="connsiteY2-70" fmla="*/ 14990 h 707686"/>
              <a:gd name="connsiteX3-71" fmla="*/ 1396188 w 2034057"/>
              <a:gd name="connsiteY3-72" fmla="*/ 707686 h 707686"/>
              <a:gd name="connsiteX4-73" fmla="*/ 21698 w 2034057"/>
              <a:gd name="connsiteY4-74" fmla="*/ 707686 h 707686"/>
              <a:gd name="connsiteX0-75" fmla="*/ 0 w 2042339"/>
              <a:gd name="connsiteY0-76" fmla="*/ 707686 h 707686"/>
              <a:gd name="connsiteX1-77" fmla="*/ 8282 w 2042339"/>
              <a:gd name="connsiteY1-78" fmla="*/ 0 h 707686"/>
              <a:gd name="connsiteX2-79" fmla="*/ 2042339 w 2042339"/>
              <a:gd name="connsiteY2-80" fmla="*/ 14990 h 707686"/>
              <a:gd name="connsiteX3-81" fmla="*/ 1404470 w 2042339"/>
              <a:gd name="connsiteY3-82" fmla="*/ 707686 h 707686"/>
              <a:gd name="connsiteX4-83" fmla="*/ 0 w 2042339"/>
              <a:gd name="connsiteY4-84" fmla="*/ 707686 h 707686"/>
              <a:gd name="connsiteX0-85" fmla="*/ 0 w 2042339"/>
              <a:gd name="connsiteY0-86" fmla="*/ 707686 h 707686"/>
              <a:gd name="connsiteX1-87" fmla="*/ 8282 w 2042339"/>
              <a:gd name="connsiteY1-88" fmla="*/ 0 h 707686"/>
              <a:gd name="connsiteX2-89" fmla="*/ 2042339 w 2042339"/>
              <a:gd name="connsiteY2-90" fmla="*/ 14990 h 707686"/>
              <a:gd name="connsiteX3-91" fmla="*/ 1659303 w 2042339"/>
              <a:gd name="connsiteY3-92" fmla="*/ 707686 h 707686"/>
              <a:gd name="connsiteX4-93" fmla="*/ 0 w 2042339"/>
              <a:gd name="connsiteY4-94" fmla="*/ 707686 h 707686"/>
              <a:gd name="connsiteX0-95" fmla="*/ 0 w 2297172"/>
              <a:gd name="connsiteY0-96" fmla="*/ 707686 h 707686"/>
              <a:gd name="connsiteX1-97" fmla="*/ 8282 w 2297172"/>
              <a:gd name="connsiteY1-98" fmla="*/ 0 h 707686"/>
              <a:gd name="connsiteX2-99" fmla="*/ 2297172 w 2297172"/>
              <a:gd name="connsiteY2-100" fmla="*/ 0 h 707686"/>
              <a:gd name="connsiteX3-101" fmla="*/ 1659303 w 2297172"/>
              <a:gd name="connsiteY3-102" fmla="*/ 707686 h 707686"/>
              <a:gd name="connsiteX4-103" fmla="*/ 0 w 2297172"/>
              <a:gd name="connsiteY4-104" fmla="*/ 707686 h 707686"/>
              <a:gd name="connsiteX0-105" fmla="*/ 0 w 2537015"/>
              <a:gd name="connsiteY0-106" fmla="*/ 707686 h 707686"/>
              <a:gd name="connsiteX1-107" fmla="*/ 8282 w 2537015"/>
              <a:gd name="connsiteY1-108" fmla="*/ 0 h 707686"/>
              <a:gd name="connsiteX2-109" fmla="*/ 2537015 w 2537015"/>
              <a:gd name="connsiteY2-110" fmla="*/ 0 h 707686"/>
              <a:gd name="connsiteX3-111" fmla="*/ 1659303 w 2537015"/>
              <a:gd name="connsiteY3-112" fmla="*/ 707686 h 707686"/>
              <a:gd name="connsiteX4-113" fmla="*/ 0 w 2537015"/>
              <a:gd name="connsiteY4-114" fmla="*/ 707686 h 707686"/>
              <a:gd name="connsiteX0-115" fmla="*/ 0 w 2537015"/>
              <a:gd name="connsiteY0-116" fmla="*/ 707686 h 707686"/>
              <a:gd name="connsiteX1-117" fmla="*/ 8282 w 2537015"/>
              <a:gd name="connsiteY1-118" fmla="*/ 0 h 707686"/>
              <a:gd name="connsiteX2-119" fmla="*/ 2537015 w 2537015"/>
              <a:gd name="connsiteY2-120" fmla="*/ 0 h 707686"/>
              <a:gd name="connsiteX3-121" fmla="*/ 1869165 w 2537015"/>
              <a:gd name="connsiteY3-122" fmla="*/ 707686 h 707686"/>
              <a:gd name="connsiteX4-123" fmla="*/ 0 w 2537015"/>
              <a:gd name="connsiteY4-124" fmla="*/ 707686 h 7076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537015" h="707686">
                <a:moveTo>
                  <a:pt x="0" y="707686"/>
                </a:moveTo>
                <a:cubicBezTo>
                  <a:pt x="2761" y="471791"/>
                  <a:pt x="5521" y="235895"/>
                  <a:pt x="8282" y="0"/>
                </a:cubicBezTo>
                <a:lnTo>
                  <a:pt x="2537015" y="0"/>
                </a:lnTo>
                <a:lnTo>
                  <a:pt x="1869165" y="707686"/>
                </a:lnTo>
                <a:lnTo>
                  <a:pt x="0" y="707686"/>
                </a:lnTo>
                <a:close/>
              </a:path>
            </a:pathLst>
          </a:cu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/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8229600" cy="393065"/>
          </a:xfrm>
        </p:spPr>
        <p:txBody>
          <a:bodyPr/>
          <a:lstStyle>
            <a:lvl1pPr algn="r"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fld id="{EE97ABBC-CB91-4AB7-BC4F-CDF5D93DCE92}" type="datetime1">
              <a:rPr lang="en-AU" smtClean="0"/>
            </a:fld>
            <a:endParaRPr lang="en-AU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35BA6-A5FF-4E65-AE0C-1E50375BDD5F}" type="datetime1">
              <a:rPr lang="en-AU" smtClean="0"/>
            </a:fld>
            <a:endParaRPr lang="en-AU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73E6-6A1F-436B-8144-FF3C9086A383}" type="datetime1">
              <a:rPr lang="en-AU" smtClean="0"/>
            </a:fld>
            <a:endParaRPr lang="en-AU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6D12A-ADDB-44AF-8AC5-359048C64A2A}" type="datetime1">
              <a:rPr lang="en-AU" smtClean="0"/>
            </a:fld>
            <a:endParaRPr lang="en-AU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92696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auto"/>
            <a:endParaRPr lang="zh-CN" altLang="en-US" strike="noStrike" noProof="1"/>
          </a:p>
        </p:txBody>
      </p:sp>
      <p:sp>
        <p:nvSpPr>
          <p:cNvPr id="6" name="平行四边形 49"/>
          <p:cNvSpPr/>
          <p:nvPr/>
        </p:nvSpPr>
        <p:spPr>
          <a:xfrm>
            <a:off x="-30162" y="-14287"/>
            <a:ext cx="2536825" cy="706438"/>
          </a:xfrm>
          <a:custGeom>
            <a:avLst/>
            <a:gdLst>
              <a:gd name="connsiteX0" fmla="*/ 0 w 1547664"/>
              <a:gd name="connsiteY0" fmla="*/ 692696 h 692696"/>
              <a:gd name="connsiteX1" fmla="*/ 173174 w 1547664"/>
              <a:gd name="connsiteY1" fmla="*/ 0 h 692696"/>
              <a:gd name="connsiteX2" fmla="*/ 1547664 w 1547664"/>
              <a:gd name="connsiteY2" fmla="*/ 0 h 692696"/>
              <a:gd name="connsiteX3" fmla="*/ 1374490 w 1547664"/>
              <a:gd name="connsiteY3" fmla="*/ 692696 h 692696"/>
              <a:gd name="connsiteX4" fmla="*/ 0 w 1547664"/>
              <a:gd name="connsiteY4" fmla="*/ 692696 h 692696"/>
              <a:gd name="connsiteX0-1" fmla="*/ 61228 w 1608892"/>
              <a:gd name="connsiteY0-2" fmla="*/ 722676 h 722676"/>
              <a:gd name="connsiteX1-3" fmla="*/ 234402 w 1608892"/>
              <a:gd name="connsiteY1-4" fmla="*/ 29980 h 722676"/>
              <a:gd name="connsiteX2-5" fmla="*/ 1267 w 1608892"/>
              <a:gd name="connsiteY2-6" fmla="*/ 0 h 722676"/>
              <a:gd name="connsiteX3-7" fmla="*/ 1608892 w 1608892"/>
              <a:gd name="connsiteY3-8" fmla="*/ 29980 h 722676"/>
              <a:gd name="connsiteX4-9" fmla="*/ 1435718 w 1608892"/>
              <a:gd name="connsiteY4-10" fmla="*/ 722676 h 722676"/>
              <a:gd name="connsiteX5" fmla="*/ 61228 w 1608892"/>
              <a:gd name="connsiteY5" fmla="*/ 722676 h 722676"/>
              <a:gd name="connsiteX0-11" fmla="*/ 63273 w 1610937"/>
              <a:gd name="connsiteY0-12" fmla="*/ 722676 h 722676"/>
              <a:gd name="connsiteX1-13" fmla="*/ 56565 w 1610937"/>
              <a:gd name="connsiteY1-14" fmla="*/ 44970 h 722676"/>
              <a:gd name="connsiteX2-15" fmla="*/ 3312 w 1610937"/>
              <a:gd name="connsiteY2-16" fmla="*/ 0 h 722676"/>
              <a:gd name="connsiteX3-17" fmla="*/ 1610937 w 1610937"/>
              <a:gd name="connsiteY3-18" fmla="*/ 29980 h 722676"/>
              <a:gd name="connsiteX4-19" fmla="*/ 1437763 w 1610937"/>
              <a:gd name="connsiteY4-20" fmla="*/ 722676 h 722676"/>
              <a:gd name="connsiteX5-21" fmla="*/ 63273 w 1610937"/>
              <a:gd name="connsiteY5-22" fmla="*/ 722676 h 722676"/>
              <a:gd name="connsiteX0-23" fmla="*/ 63273 w 2075632"/>
              <a:gd name="connsiteY0-24" fmla="*/ 722676 h 722676"/>
              <a:gd name="connsiteX1-25" fmla="*/ 56565 w 2075632"/>
              <a:gd name="connsiteY1-26" fmla="*/ 44970 h 722676"/>
              <a:gd name="connsiteX2-27" fmla="*/ 3312 w 2075632"/>
              <a:gd name="connsiteY2-28" fmla="*/ 0 h 722676"/>
              <a:gd name="connsiteX3-29" fmla="*/ 2075632 w 2075632"/>
              <a:gd name="connsiteY3-30" fmla="*/ 29980 h 722676"/>
              <a:gd name="connsiteX4-31" fmla="*/ 1437763 w 2075632"/>
              <a:gd name="connsiteY4-32" fmla="*/ 722676 h 722676"/>
              <a:gd name="connsiteX5-33" fmla="*/ 63273 w 2075632"/>
              <a:gd name="connsiteY5-34" fmla="*/ 722676 h 722676"/>
              <a:gd name="connsiteX0-35" fmla="*/ 6708 w 2019067"/>
              <a:gd name="connsiteY0-36" fmla="*/ 771160 h 771160"/>
              <a:gd name="connsiteX1-37" fmla="*/ 0 w 2019067"/>
              <a:gd name="connsiteY1-38" fmla="*/ 93454 h 771160"/>
              <a:gd name="connsiteX2-39" fmla="*/ 2019067 w 2019067"/>
              <a:gd name="connsiteY2-40" fmla="*/ 78464 h 771160"/>
              <a:gd name="connsiteX3-41" fmla="*/ 1381198 w 2019067"/>
              <a:gd name="connsiteY3-42" fmla="*/ 771160 h 771160"/>
              <a:gd name="connsiteX4-43" fmla="*/ 6708 w 2019067"/>
              <a:gd name="connsiteY4-44" fmla="*/ 771160 h 771160"/>
              <a:gd name="connsiteX0-45" fmla="*/ 6708 w 2019067"/>
              <a:gd name="connsiteY0-46" fmla="*/ 740785 h 740785"/>
              <a:gd name="connsiteX1-47" fmla="*/ 0 w 2019067"/>
              <a:gd name="connsiteY1-48" fmla="*/ 63079 h 740785"/>
              <a:gd name="connsiteX2-49" fmla="*/ 2019067 w 2019067"/>
              <a:gd name="connsiteY2-50" fmla="*/ 48089 h 740785"/>
              <a:gd name="connsiteX3-51" fmla="*/ 1381198 w 2019067"/>
              <a:gd name="connsiteY3-52" fmla="*/ 740785 h 740785"/>
              <a:gd name="connsiteX4-53" fmla="*/ 6708 w 2019067"/>
              <a:gd name="connsiteY4-54" fmla="*/ 740785 h 740785"/>
              <a:gd name="connsiteX0-55" fmla="*/ 6708 w 2019067"/>
              <a:gd name="connsiteY0-56" fmla="*/ 692696 h 692696"/>
              <a:gd name="connsiteX1-57" fmla="*/ 0 w 2019067"/>
              <a:gd name="connsiteY1-58" fmla="*/ 14990 h 692696"/>
              <a:gd name="connsiteX2-59" fmla="*/ 2019067 w 2019067"/>
              <a:gd name="connsiteY2-60" fmla="*/ 0 h 692696"/>
              <a:gd name="connsiteX3-61" fmla="*/ 1381198 w 2019067"/>
              <a:gd name="connsiteY3-62" fmla="*/ 692696 h 692696"/>
              <a:gd name="connsiteX4-63" fmla="*/ 6708 w 2019067"/>
              <a:gd name="connsiteY4-64" fmla="*/ 692696 h 692696"/>
              <a:gd name="connsiteX0-65" fmla="*/ 21698 w 2034057"/>
              <a:gd name="connsiteY0-66" fmla="*/ 707686 h 707686"/>
              <a:gd name="connsiteX1-67" fmla="*/ 0 w 2034057"/>
              <a:gd name="connsiteY1-68" fmla="*/ 0 h 707686"/>
              <a:gd name="connsiteX2-69" fmla="*/ 2034057 w 2034057"/>
              <a:gd name="connsiteY2-70" fmla="*/ 14990 h 707686"/>
              <a:gd name="connsiteX3-71" fmla="*/ 1396188 w 2034057"/>
              <a:gd name="connsiteY3-72" fmla="*/ 707686 h 707686"/>
              <a:gd name="connsiteX4-73" fmla="*/ 21698 w 2034057"/>
              <a:gd name="connsiteY4-74" fmla="*/ 707686 h 707686"/>
              <a:gd name="connsiteX0-75" fmla="*/ 0 w 2042339"/>
              <a:gd name="connsiteY0-76" fmla="*/ 707686 h 707686"/>
              <a:gd name="connsiteX1-77" fmla="*/ 8282 w 2042339"/>
              <a:gd name="connsiteY1-78" fmla="*/ 0 h 707686"/>
              <a:gd name="connsiteX2-79" fmla="*/ 2042339 w 2042339"/>
              <a:gd name="connsiteY2-80" fmla="*/ 14990 h 707686"/>
              <a:gd name="connsiteX3-81" fmla="*/ 1404470 w 2042339"/>
              <a:gd name="connsiteY3-82" fmla="*/ 707686 h 707686"/>
              <a:gd name="connsiteX4-83" fmla="*/ 0 w 2042339"/>
              <a:gd name="connsiteY4-84" fmla="*/ 707686 h 707686"/>
              <a:gd name="connsiteX0-85" fmla="*/ 0 w 2042339"/>
              <a:gd name="connsiteY0-86" fmla="*/ 707686 h 707686"/>
              <a:gd name="connsiteX1-87" fmla="*/ 8282 w 2042339"/>
              <a:gd name="connsiteY1-88" fmla="*/ 0 h 707686"/>
              <a:gd name="connsiteX2-89" fmla="*/ 2042339 w 2042339"/>
              <a:gd name="connsiteY2-90" fmla="*/ 14990 h 707686"/>
              <a:gd name="connsiteX3-91" fmla="*/ 1659303 w 2042339"/>
              <a:gd name="connsiteY3-92" fmla="*/ 707686 h 707686"/>
              <a:gd name="connsiteX4-93" fmla="*/ 0 w 2042339"/>
              <a:gd name="connsiteY4-94" fmla="*/ 707686 h 707686"/>
              <a:gd name="connsiteX0-95" fmla="*/ 0 w 2297172"/>
              <a:gd name="connsiteY0-96" fmla="*/ 707686 h 707686"/>
              <a:gd name="connsiteX1-97" fmla="*/ 8282 w 2297172"/>
              <a:gd name="connsiteY1-98" fmla="*/ 0 h 707686"/>
              <a:gd name="connsiteX2-99" fmla="*/ 2297172 w 2297172"/>
              <a:gd name="connsiteY2-100" fmla="*/ 0 h 707686"/>
              <a:gd name="connsiteX3-101" fmla="*/ 1659303 w 2297172"/>
              <a:gd name="connsiteY3-102" fmla="*/ 707686 h 707686"/>
              <a:gd name="connsiteX4-103" fmla="*/ 0 w 2297172"/>
              <a:gd name="connsiteY4-104" fmla="*/ 707686 h 707686"/>
              <a:gd name="connsiteX0-105" fmla="*/ 0 w 2537015"/>
              <a:gd name="connsiteY0-106" fmla="*/ 707686 h 707686"/>
              <a:gd name="connsiteX1-107" fmla="*/ 8282 w 2537015"/>
              <a:gd name="connsiteY1-108" fmla="*/ 0 h 707686"/>
              <a:gd name="connsiteX2-109" fmla="*/ 2537015 w 2537015"/>
              <a:gd name="connsiteY2-110" fmla="*/ 0 h 707686"/>
              <a:gd name="connsiteX3-111" fmla="*/ 1659303 w 2537015"/>
              <a:gd name="connsiteY3-112" fmla="*/ 707686 h 707686"/>
              <a:gd name="connsiteX4-113" fmla="*/ 0 w 2537015"/>
              <a:gd name="connsiteY4-114" fmla="*/ 707686 h 707686"/>
              <a:gd name="connsiteX0-115" fmla="*/ 0 w 2537015"/>
              <a:gd name="connsiteY0-116" fmla="*/ 707686 h 707686"/>
              <a:gd name="connsiteX1-117" fmla="*/ 8282 w 2537015"/>
              <a:gd name="connsiteY1-118" fmla="*/ 0 h 707686"/>
              <a:gd name="connsiteX2-119" fmla="*/ 2537015 w 2537015"/>
              <a:gd name="connsiteY2-120" fmla="*/ 0 h 707686"/>
              <a:gd name="connsiteX3-121" fmla="*/ 1869165 w 2537015"/>
              <a:gd name="connsiteY3-122" fmla="*/ 707686 h 707686"/>
              <a:gd name="connsiteX4-123" fmla="*/ 0 w 2537015"/>
              <a:gd name="connsiteY4-124" fmla="*/ 707686 h 7076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537015" h="707686">
                <a:moveTo>
                  <a:pt x="0" y="707686"/>
                </a:moveTo>
                <a:cubicBezTo>
                  <a:pt x="2761" y="471791"/>
                  <a:pt x="5521" y="235895"/>
                  <a:pt x="8282" y="0"/>
                </a:cubicBezTo>
                <a:lnTo>
                  <a:pt x="2537015" y="0"/>
                </a:lnTo>
                <a:lnTo>
                  <a:pt x="1869165" y="707686"/>
                </a:lnTo>
                <a:lnTo>
                  <a:pt x="0" y="707686"/>
                </a:lnTo>
                <a:close/>
              </a:path>
            </a:pathLst>
          </a:cu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89040" y="0"/>
            <a:ext cx="5554960" cy="692696"/>
          </a:xfrm>
        </p:spPr>
        <p:txBody>
          <a:bodyPr>
            <a:noAutofit/>
          </a:bodyPr>
          <a:lstStyle>
            <a:lvl1pPr algn="r"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fld id="{FF58F817-8D47-42DC-82E6-EB0318065E82}" type="datetime1">
              <a:rPr lang="en-AU" smtClean="0"/>
            </a:fld>
            <a:endParaRPr lang="en-AU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fld id="{B2EB3307-46BC-4AF0-ADCD-404101DA4E80}" type="datetime1">
              <a:rPr lang="en-AU" smtClean="0"/>
            </a:fld>
            <a:endParaRPr lang="en-AU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B3FB5-824B-41CC-AA79-434048191D89}" type="datetime1">
              <a:rPr lang="en-AU" smtClean="0"/>
            </a:fld>
            <a:endParaRPr lang="en-AU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2684C-D6AE-4A0B-8975-33836B18EDD0}" type="datetime1">
              <a:rPr lang="en-AU" smtClean="0"/>
            </a:fld>
            <a:endParaRPr lang="en-AU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13374-06A7-4F9E-92B1-10D8A7479A01}" type="datetime1">
              <a:rPr lang="en-AU" smtClean="0"/>
            </a:fld>
            <a:endParaRPr lang="en-AU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80633-F82C-45F8-9561-D151F4CE1AED}" type="datetime1">
              <a:rPr lang="en-AU" smtClean="0"/>
            </a:fld>
            <a:endParaRPr lang="en-AU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92696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>
              <a:solidFill>
                <a:prstClr val="white"/>
              </a:solidFill>
            </a:endParaRPr>
          </a:p>
        </p:txBody>
      </p:sp>
      <p:sp>
        <p:nvSpPr>
          <p:cNvPr id="8" name="平行四边形 49"/>
          <p:cNvSpPr/>
          <p:nvPr/>
        </p:nvSpPr>
        <p:spPr>
          <a:xfrm>
            <a:off x="-30162" y="-14287"/>
            <a:ext cx="2536825" cy="706438"/>
          </a:xfrm>
          <a:custGeom>
            <a:avLst/>
            <a:gdLst>
              <a:gd name="connsiteX0" fmla="*/ 0 w 1547664"/>
              <a:gd name="connsiteY0" fmla="*/ 692696 h 692696"/>
              <a:gd name="connsiteX1" fmla="*/ 173174 w 1547664"/>
              <a:gd name="connsiteY1" fmla="*/ 0 h 692696"/>
              <a:gd name="connsiteX2" fmla="*/ 1547664 w 1547664"/>
              <a:gd name="connsiteY2" fmla="*/ 0 h 692696"/>
              <a:gd name="connsiteX3" fmla="*/ 1374490 w 1547664"/>
              <a:gd name="connsiteY3" fmla="*/ 692696 h 692696"/>
              <a:gd name="connsiteX4" fmla="*/ 0 w 1547664"/>
              <a:gd name="connsiteY4" fmla="*/ 692696 h 692696"/>
              <a:gd name="connsiteX0-1" fmla="*/ 61228 w 1608892"/>
              <a:gd name="connsiteY0-2" fmla="*/ 722676 h 722676"/>
              <a:gd name="connsiteX1-3" fmla="*/ 234402 w 1608892"/>
              <a:gd name="connsiteY1-4" fmla="*/ 29980 h 722676"/>
              <a:gd name="connsiteX2-5" fmla="*/ 1267 w 1608892"/>
              <a:gd name="connsiteY2-6" fmla="*/ 0 h 722676"/>
              <a:gd name="connsiteX3-7" fmla="*/ 1608892 w 1608892"/>
              <a:gd name="connsiteY3-8" fmla="*/ 29980 h 722676"/>
              <a:gd name="connsiteX4-9" fmla="*/ 1435718 w 1608892"/>
              <a:gd name="connsiteY4-10" fmla="*/ 722676 h 722676"/>
              <a:gd name="connsiteX5" fmla="*/ 61228 w 1608892"/>
              <a:gd name="connsiteY5" fmla="*/ 722676 h 722676"/>
              <a:gd name="connsiteX0-11" fmla="*/ 63273 w 1610937"/>
              <a:gd name="connsiteY0-12" fmla="*/ 722676 h 722676"/>
              <a:gd name="connsiteX1-13" fmla="*/ 56565 w 1610937"/>
              <a:gd name="connsiteY1-14" fmla="*/ 44970 h 722676"/>
              <a:gd name="connsiteX2-15" fmla="*/ 3312 w 1610937"/>
              <a:gd name="connsiteY2-16" fmla="*/ 0 h 722676"/>
              <a:gd name="connsiteX3-17" fmla="*/ 1610937 w 1610937"/>
              <a:gd name="connsiteY3-18" fmla="*/ 29980 h 722676"/>
              <a:gd name="connsiteX4-19" fmla="*/ 1437763 w 1610937"/>
              <a:gd name="connsiteY4-20" fmla="*/ 722676 h 722676"/>
              <a:gd name="connsiteX5-21" fmla="*/ 63273 w 1610937"/>
              <a:gd name="connsiteY5-22" fmla="*/ 722676 h 722676"/>
              <a:gd name="connsiteX0-23" fmla="*/ 63273 w 2075632"/>
              <a:gd name="connsiteY0-24" fmla="*/ 722676 h 722676"/>
              <a:gd name="connsiteX1-25" fmla="*/ 56565 w 2075632"/>
              <a:gd name="connsiteY1-26" fmla="*/ 44970 h 722676"/>
              <a:gd name="connsiteX2-27" fmla="*/ 3312 w 2075632"/>
              <a:gd name="connsiteY2-28" fmla="*/ 0 h 722676"/>
              <a:gd name="connsiteX3-29" fmla="*/ 2075632 w 2075632"/>
              <a:gd name="connsiteY3-30" fmla="*/ 29980 h 722676"/>
              <a:gd name="connsiteX4-31" fmla="*/ 1437763 w 2075632"/>
              <a:gd name="connsiteY4-32" fmla="*/ 722676 h 722676"/>
              <a:gd name="connsiteX5-33" fmla="*/ 63273 w 2075632"/>
              <a:gd name="connsiteY5-34" fmla="*/ 722676 h 722676"/>
              <a:gd name="connsiteX0-35" fmla="*/ 6708 w 2019067"/>
              <a:gd name="connsiteY0-36" fmla="*/ 771160 h 771160"/>
              <a:gd name="connsiteX1-37" fmla="*/ 0 w 2019067"/>
              <a:gd name="connsiteY1-38" fmla="*/ 93454 h 771160"/>
              <a:gd name="connsiteX2-39" fmla="*/ 2019067 w 2019067"/>
              <a:gd name="connsiteY2-40" fmla="*/ 78464 h 771160"/>
              <a:gd name="connsiteX3-41" fmla="*/ 1381198 w 2019067"/>
              <a:gd name="connsiteY3-42" fmla="*/ 771160 h 771160"/>
              <a:gd name="connsiteX4-43" fmla="*/ 6708 w 2019067"/>
              <a:gd name="connsiteY4-44" fmla="*/ 771160 h 771160"/>
              <a:gd name="connsiteX0-45" fmla="*/ 6708 w 2019067"/>
              <a:gd name="connsiteY0-46" fmla="*/ 740785 h 740785"/>
              <a:gd name="connsiteX1-47" fmla="*/ 0 w 2019067"/>
              <a:gd name="connsiteY1-48" fmla="*/ 63079 h 740785"/>
              <a:gd name="connsiteX2-49" fmla="*/ 2019067 w 2019067"/>
              <a:gd name="connsiteY2-50" fmla="*/ 48089 h 740785"/>
              <a:gd name="connsiteX3-51" fmla="*/ 1381198 w 2019067"/>
              <a:gd name="connsiteY3-52" fmla="*/ 740785 h 740785"/>
              <a:gd name="connsiteX4-53" fmla="*/ 6708 w 2019067"/>
              <a:gd name="connsiteY4-54" fmla="*/ 740785 h 740785"/>
              <a:gd name="connsiteX0-55" fmla="*/ 6708 w 2019067"/>
              <a:gd name="connsiteY0-56" fmla="*/ 692696 h 692696"/>
              <a:gd name="connsiteX1-57" fmla="*/ 0 w 2019067"/>
              <a:gd name="connsiteY1-58" fmla="*/ 14990 h 692696"/>
              <a:gd name="connsiteX2-59" fmla="*/ 2019067 w 2019067"/>
              <a:gd name="connsiteY2-60" fmla="*/ 0 h 692696"/>
              <a:gd name="connsiteX3-61" fmla="*/ 1381198 w 2019067"/>
              <a:gd name="connsiteY3-62" fmla="*/ 692696 h 692696"/>
              <a:gd name="connsiteX4-63" fmla="*/ 6708 w 2019067"/>
              <a:gd name="connsiteY4-64" fmla="*/ 692696 h 692696"/>
              <a:gd name="connsiteX0-65" fmla="*/ 21698 w 2034057"/>
              <a:gd name="connsiteY0-66" fmla="*/ 707686 h 707686"/>
              <a:gd name="connsiteX1-67" fmla="*/ 0 w 2034057"/>
              <a:gd name="connsiteY1-68" fmla="*/ 0 h 707686"/>
              <a:gd name="connsiteX2-69" fmla="*/ 2034057 w 2034057"/>
              <a:gd name="connsiteY2-70" fmla="*/ 14990 h 707686"/>
              <a:gd name="connsiteX3-71" fmla="*/ 1396188 w 2034057"/>
              <a:gd name="connsiteY3-72" fmla="*/ 707686 h 707686"/>
              <a:gd name="connsiteX4-73" fmla="*/ 21698 w 2034057"/>
              <a:gd name="connsiteY4-74" fmla="*/ 707686 h 707686"/>
              <a:gd name="connsiteX0-75" fmla="*/ 0 w 2042339"/>
              <a:gd name="connsiteY0-76" fmla="*/ 707686 h 707686"/>
              <a:gd name="connsiteX1-77" fmla="*/ 8282 w 2042339"/>
              <a:gd name="connsiteY1-78" fmla="*/ 0 h 707686"/>
              <a:gd name="connsiteX2-79" fmla="*/ 2042339 w 2042339"/>
              <a:gd name="connsiteY2-80" fmla="*/ 14990 h 707686"/>
              <a:gd name="connsiteX3-81" fmla="*/ 1404470 w 2042339"/>
              <a:gd name="connsiteY3-82" fmla="*/ 707686 h 707686"/>
              <a:gd name="connsiteX4-83" fmla="*/ 0 w 2042339"/>
              <a:gd name="connsiteY4-84" fmla="*/ 707686 h 707686"/>
              <a:gd name="connsiteX0-85" fmla="*/ 0 w 2042339"/>
              <a:gd name="connsiteY0-86" fmla="*/ 707686 h 707686"/>
              <a:gd name="connsiteX1-87" fmla="*/ 8282 w 2042339"/>
              <a:gd name="connsiteY1-88" fmla="*/ 0 h 707686"/>
              <a:gd name="connsiteX2-89" fmla="*/ 2042339 w 2042339"/>
              <a:gd name="connsiteY2-90" fmla="*/ 14990 h 707686"/>
              <a:gd name="connsiteX3-91" fmla="*/ 1659303 w 2042339"/>
              <a:gd name="connsiteY3-92" fmla="*/ 707686 h 707686"/>
              <a:gd name="connsiteX4-93" fmla="*/ 0 w 2042339"/>
              <a:gd name="connsiteY4-94" fmla="*/ 707686 h 707686"/>
              <a:gd name="connsiteX0-95" fmla="*/ 0 w 2297172"/>
              <a:gd name="connsiteY0-96" fmla="*/ 707686 h 707686"/>
              <a:gd name="connsiteX1-97" fmla="*/ 8282 w 2297172"/>
              <a:gd name="connsiteY1-98" fmla="*/ 0 h 707686"/>
              <a:gd name="connsiteX2-99" fmla="*/ 2297172 w 2297172"/>
              <a:gd name="connsiteY2-100" fmla="*/ 0 h 707686"/>
              <a:gd name="connsiteX3-101" fmla="*/ 1659303 w 2297172"/>
              <a:gd name="connsiteY3-102" fmla="*/ 707686 h 707686"/>
              <a:gd name="connsiteX4-103" fmla="*/ 0 w 2297172"/>
              <a:gd name="connsiteY4-104" fmla="*/ 707686 h 707686"/>
              <a:gd name="connsiteX0-105" fmla="*/ 0 w 2537015"/>
              <a:gd name="connsiteY0-106" fmla="*/ 707686 h 707686"/>
              <a:gd name="connsiteX1-107" fmla="*/ 8282 w 2537015"/>
              <a:gd name="connsiteY1-108" fmla="*/ 0 h 707686"/>
              <a:gd name="connsiteX2-109" fmla="*/ 2537015 w 2537015"/>
              <a:gd name="connsiteY2-110" fmla="*/ 0 h 707686"/>
              <a:gd name="connsiteX3-111" fmla="*/ 1659303 w 2537015"/>
              <a:gd name="connsiteY3-112" fmla="*/ 707686 h 707686"/>
              <a:gd name="connsiteX4-113" fmla="*/ 0 w 2537015"/>
              <a:gd name="connsiteY4-114" fmla="*/ 707686 h 707686"/>
              <a:gd name="connsiteX0-115" fmla="*/ 0 w 2537015"/>
              <a:gd name="connsiteY0-116" fmla="*/ 707686 h 707686"/>
              <a:gd name="connsiteX1-117" fmla="*/ 8282 w 2537015"/>
              <a:gd name="connsiteY1-118" fmla="*/ 0 h 707686"/>
              <a:gd name="connsiteX2-119" fmla="*/ 2537015 w 2537015"/>
              <a:gd name="connsiteY2-120" fmla="*/ 0 h 707686"/>
              <a:gd name="connsiteX3-121" fmla="*/ 1869165 w 2537015"/>
              <a:gd name="connsiteY3-122" fmla="*/ 707686 h 707686"/>
              <a:gd name="connsiteX4-123" fmla="*/ 0 w 2537015"/>
              <a:gd name="connsiteY4-124" fmla="*/ 707686 h 7076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537015" h="707686">
                <a:moveTo>
                  <a:pt x="0" y="707686"/>
                </a:moveTo>
                <a:cubicBezTo>
                  <a:pt x="2761" y="471791"/>
                  <a:pt x="5521" y="235895"/>
                  <a:pt x="8282" y="0"/>
                </a:cubicBezTo>
                <a:lnTo>
                  <a:pt x="2537015" y="0"/>
                </a:lnTo>
                <a:lnTo>
                  <a:pt x="1869165" y="707686"/>
                </a:lnTo>
                <a:lnTo>
                  <a:pt x="0" y="707686"/>
                </a:lnTo>
                <a:close/>
              </a:path>
            </a:pathLst>
          </a:cu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>
              <a:solidFill>
                <a:prstClr val="white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E03C2985-DA0A-423A-A02E-2E38F06C445F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92696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>
              <a:solidFill>
                <a:prstClr val="white"/>
              </a:solidFill>
            </a:endParaRPr>
          </a:p>
        </p:txBody>
      </p:sp>
      <p:sp>
        <p:nvSpPr>
          <p:cNvPr id="6" name="平行四边形 49"/>
          <p:cNvSpPr/>
          <p:nvPr/>
        </p:nvSpPr>
        <p:spPr>
          <a:xfrm>
            <a:off x="-30162" y="-14287"/>
            <a:ext cx="2536825" cy="706438"/>
          </a:xfrm>
          <a:custGeom>
            <a:avLst/>
            <a:gdLst>
              <a:gd name="connsiteX0" fmla="*/ 0 w 1547664"/>
              <a:gd name="connsiteY0" fmla="*/ 692696 h 692696"/>
              <a:gd name="connsiteX1" fmla="*/ 173174 w 1547664"/>
              <a:gd name="connsiteY1" fmla="*/ 0 h 692696"/>
              <a:gd name="connsiteX2" fmla="*/ 1547664 w 1547664"/>
              <a:gd name="connsiteY2" fmla="*/ 0 h 692696"/>
              <a:gd name="connsiteX3" fmla="*/ 1374490 w 1547664"/>
              <a:gd name="connsiteY3" fmla="*/ 692696 h 692696"/>
              <a:gd name="connsiteX4" fmla="*/ 0 w 1547664"/>
              <a:gd name="connsiteY4" fmla="*/ 692696 h 692696"/>
              <a:gd name="connsiteX0-1" fmla="*/ 61228 w 1608892"/>
              <a:gd name="connsiteY0-2" fmla="*/ 722676 h 722676"/>
              <a:gd name="connsiteX1-3" fmla="*/ 234402 w 1608892"/>
              <a:gd name="connsiteY1-4" fmla="*/ 29980 h 722676"/>
              <a:gd name="connsiteX2-5" fmla="*/ 1267 w 1608892"/>
              <a:gd name="connsiteY2-6" fmla="*/ 0 h 722676"/>
              <a:gd name="connsiteX3-7" fmla="*/ 1608892 w 1608892"/>
              <a:gd name="connsiteY3-8" fmla="*/ 29980 h 722676"/>
              <a:gd name="connsiteX4-9" fmla="*/ 1435718 w 1608892"/>
              <a:gd name="connsiteY4-10" fmla="*/ 722676 h 722676"/>
              <a:gd name="connsiteX5" fmla="*/ 61228 w 1608892"/>
              <a:gd name="connsiteY5" fmla="*/ 722676 h 722676"/>
              <a:gd name="connsiteX0-11" fmla="*/ 63273 w 1610937"/>
              <a:gd name="connsiteY0-12" fmla="*/ 722676 h 722676"/>
              <a:gd name="connsiteX1-13" fmla="*/ 56565 w 1610937"/>
              <a:gd name="connsiteY1-14" fmla="*/ 44970 h 722676"/>
              <a:gd name="connsiteX2-15" fmla="*/ 3312 w 1610937"/>
              <a:gd name="connsiteY2-16" fmla="*/ 0 h 722676"/>
              <a:gd name="connsiteX3-17" fmla="*/ 1610937 w 1610937"/>
              <a:gd name="connsiteY3-18" fmla="*/ 29980 h 722676"/>
              <a:gd name="connsiteX4-19" fmla="*/ 1437763 w 1610937"/>
              <a:gd name="connsiteY4-20" fmla="*/ 722676 h 722676"/>
              <a:gd name="connsiteX5-21" fmla="*/ 63273 w 1610937"/>
              <a:gd name="connsiteY5-22" fmla="*/ 722676 h 722676"/>
              <a:gd name="connsiteX0-23" fmla="*/ 63273 w 2075632"/>
              <a:gd name="connsiteY0-24" fmla="*/ 722676 h 722676"/>
              <a:gd name="connsiteX1-25" fmla="*/ 56565 w 2075632"/>
              <a:gd name="connsiteY1-26" fmla="*/ 44970 h 722676"/>
              <a:gd name="connsiteX2-27" fmla="*/ 3312 w 2075632"/>
              <a:gd name="connsiteY2-28" fmla="*/ 0 h 722676"/>
              <a:gd name="connsiteX3-29" fmla="*/ 2075632 w 2075632"/>
              <a:gd name="connsiteY3-30" fmla="*/ 29980 h 722676"/>
              <a:gd name="connsiteX4-31" fmla="*/ 1437763 w 2075632"/>
              <a:gd name="connsiteY4-32" fmla="*/ 722676 h 722676"/>
              <a:gd name="connsiteX5-33" fmla="*/ 63273 w 2075632"/>
              <a:gd name="connsiteY5-34" fmla="*/ 722676 h 722676"/>
              <a:gd name="connsiteX0-35" fmla="*/ 6708 w 2019067"/>
              <a:gd name="connsiteY0-36" fmla="*/ 771160 h 771160"/>
              <a:gd name="connsiteX1-37" fmla="*/ 0 w 2019067"/>
              <a:gd name="connsiteY1-38" fmla="*/ 93454 h 771160"/>
              <a:gd name="connsiteX2-39" fmla="*/ 2019067 w 2019067"/>
              <a:gd name="connsiteY2-40" fmla="*/ 78464 h 771160"/>
              <a:gd name="connsiteX3-41" fmla="*/ 1381198 w 2019067"/>
              <a:gd name="connsiteY3-42" fmla="*/ 771160 h 771160"/>
              <a:gd name="connsiteX4-43" fmla="*/ 6708 w 2019067"/>
              <a:gd name="connsiteY4-44" fmla="*/ 771160 h 771160"/>
              <a:gd name="connsiteX0-45" fmla="*/ 6708 w 2019067"/>
              <a:gd name="connsiteY0-46" fmla="*/ 740785 h 740785"/>
              <a:gd name="connsiteX1-47" fmla="*/ 0 w 2019067"/>
              <a:gd name="connsiteY1-48" fmla="*/ 63079 h 740785"/>
              <a:gd name="connsiteX2-49" fmla="*/ 2019067 w 2019067"/>
              <a:gd name="connsiteY2-50" fmla="*/ 48089 h 740785"/>
              <a:gd name="connsiteX3-51" fmla="*/ 1381198 w 2019067"/>
              <a:gd name="connsiteY3-52" fmla="*/ 740785 h 740785"/>
              <a:gd name="connsiteX4-53" fmla="*/ 6708 w 2019067"/>
              <a:gd name="connsiteY4-54" fmla="*/ 740785 h 740785"/>
              <a:gd name="connsiteX0-55" fmla="*/ 6708 w 2019067"/>
              <a:gd name="connsiteY0-56" fmla="*/ 692696 h 692696"/>
              <a:gd name="connsiteX1-57" fmla="*/ 0 w 2019067"/>
              <a:gd name="connsiteY1-58" fmla="*/ 14990 h 692696"/>
              <a:gd name="connsiteX2-59" fmla="*/ 2019067 w 2019067"/>
              <a:gd name="connsiteY2-60" fmla="*/ 0 h 692696"/>
              <a:gd name="connsiteX3-61" fmla="*/ 1381198 w 2019067"/>
              <a:gd name="connsiteY3-62" fmla="*/ 692696 h 692696"/>
              <a:gd name="connsiteX4-63" fmla="*/ 6708 w 2019067"/>
              <a:gd name="connsiteY4-64" fmla="*/ 692696 h 692696"/>
              <a:gd name="connsiteX0-65" fmla="*/ 21698 w 2034057"/>
              <a:gd name="connsiteY0-66" fmla="*/ 707686 h 707686"/>
              <a:gd name="connsiteX1-67" fmla="*/ 0 w 2034057"/>
              <a:gd name="connsiteY1-68" fmla="*/ 0 h 707686"/>
              <a:gd name="connsiteX2-69" fmla="*/ 2034057 w 2034057"/>
              <a:gd name="connsiteY2-70" fmla="*/ 14990 h 707686"/>
              <a:gd name="connsiteX3-71" fmla="*/ 1396188 w 2034057"/>
              <a:gd name="connsiteY3-72" fmla="*/ 707686 h 707686"/>
              <a:gd name="connsiteX4-73" fmla="*/ 21698 w 2034057"/>
              <a:gd name="connsiteY4-74" fmla="*/ 707686 h 707686"/>
              <a:gd name="connsiteX0-75" fmla="*/ 0 w 2042339"/>
              <a:gd name="connsiteY0-76" fmla="*/ 707686 h 707686"/>
              <a:gd name="connsiteX1-77" fmla="*/ 8282 w 2042339"/>
              <a:gd name="connsiteY1-78" fmla="*/ 0 h 707686"/>
              <a:gd name="connsiteX2-79" fmla="*/ 2042339 w 2042339"/>
              <a:gd name="connsiteY2-80" fmla="*/ 14990 h 707686"/>
              <a:gd name="connsiteX3-81" fmla="*/ 1404470 w 2042339"/>
              <a:gd name="connsiteY3-82" fmla="*/ 707686 h 707686"/>
              <a:gd name="connsiteX4-83" fmla="*/ 0 w 2042339"/>
              <a:gd name="connsiteY4-84" fmla="*/ 707686 h 707686"/>
              <a:gd name="connsiteX0-85" fmla="*/ 0 w 2042339"/>
              <a:gd name="connsiteY0-86" fmla="*/ 707686 h 707686"/>
              <a:gd name="connsiteX1-87" fmla="*/ 8282 w 2042339"/>
              <a:gd name="connsiteY1-88" fmla="*/ 0 h 707686"/>
              <a:gd name="connsiteX2-89" fmla="*/ 2042339 w 2042339"/>
              <a:gd name="connsiteY2-90" fmla="*/ 14990 h 707686"/>
              <a:gd name="connsiteX3-91" fmla="*/ 1659303 w 2042339"/>
              <a:gd name="connsiteY3-92" fmla="*/ 707686 h 707686"/>
              <a:gd name="connsiteX4-93" fmla="*/ 0 w 2042339"/>
              <a:gd name="connsiteY4-94" fmla="*/ 707686 h 707686"/>
              <a:gd name="connsiteX0-95" fmla="*/ 0 w 2297172"/>
              <a:gd name="connsiteY0-96" fmla="*/ 707686 h 707686"/>
              <a:gd name="connsiteX1-97" fmla="*/ 8282 w 2297172"/>
              <a:gd name="connsiteY1-98" fmla="*/ 0 h 707686"/>
              <a:gd name="connsiteX2-99" fmla="*/ 2297172 w 2297172"/>
              <a:gd name="connsiteY2-100" fmla="*/ 0 h 707686"/>
              <a:gd name="connsiteX3-101" fmla="*/ 1659303 w 2297172"/>
              <a:gd name="connsiteY3-102" fmla="*/ 707686 h 707686"/>
              <a:gd name="connsiteX4-103" fmla="*/ 0 w 2297172"/>
              <a:gd name="connsiteY4-104" fmla="*/ 707686 h 707686"/>
              <a:gd name="connsiteX0-105" fmla="*/ 0 w 2537015"/>
              <a:gd name="connsiteY0-106" fmla="*/ 707686 h 707686"/>
              <a:gd name="connsiteX1-107" fmla="*/ 8282 w 2537015"/>
              <a:gd name="connsiteY1-108" fmla="*/ 0 h 707686"/>
              <a:gd name="connsiteX2-109" fmla="*/ 2537015 w 2537015"/>
              <a:gd name="connsiteY2-110" fmla="*/ 0 h 707686"/>
              <a:gd name="connsiteX3-111" fmla="*/ 1659303 w 2537015"/>
              <a:gd name="connsiteY3-112" fmla="*/ 707686 h 707686"/>
              <a:gd name="connsiteX4-113" fmla="*/ 0 w 2537015"/>
              <a:gd name="connsiteY4-114" fmla="*/ 707686 h 707686"/>
              <a:gd name="connsiteX0-115" fmla="*/ 0 w 2537015"/>
              <a:gd name="connsiteY0-116" fmla="*/ 707686 h 707686"/>
              <a:gd name="connsiteX1-117" fmla="*/ 8282 w 2537015"/>
              <a:gd name="connsiteY1-118" fmla="*/ 0 h 707686"/>
              <a:gd name="connsiteX2-119" fmla="*/ 2537015 w 2537015"/>
              <a:gd name="connsiteY2-120" fmla="*/ 0 h 707686"/>
              <a:gd name="connsiteX3-121" fmla="*/ 1869165 w 2537015"/>
              <a:gd name="connsiteY3-122" fmla="*/ 707686 h 707686"/>
              <a:gd name="connsiteX4-123" fmla="*/ 0 w 2537015"/>
              <a:gd name="connsiteY4-124" fmla="*/ 707686 h 7076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537015" h="707686">
                <a:moveTo>
                  <a:pt x="0" y="707686"/>
                </a:moveTo>
                <a:cubicBezTo>
                  <a:pt x="2761" y="471791"/>
                  <a:pt x="5521" y="235895"/>
                  <a:pt x="8282" y="0"/>
                </a:cubicBezTo>
                <a:lnTo>
                  <a:pt x="2537015" y="0"/>
                </a:lnTo>
                <a:lnTo>
                  <a:pt x="1869165" y="707686"/>
                </a:lnTo>
                <a:lnTo>
                  <a:pt x="0" y="707686"/>
                </a:lnTo>
                <a:close/>
              </a:path>
            </a:pathLst>
          </a:cu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89040" y="0"/>
            <a:ext cx="5554960" cy="692696"/>
          </a:xfrm>
        </p:spPr>
        <p:txBody>
          <a:bodyPr>
            <a:noAutofit/>
          </a:bodyPr>
          <a:lstStyle>
            <a:lvl1pPr algn="r"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702554A5-A581-4AB9-AEA0-FA3C5F0DF619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9891A0AF-8D07-42A7-B1EB-C2BD93C0D5E5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E1B8E-D3EF-4A64-A14B-C8223E125E11}" type="datetime1">
              <a:rPr lang="en-AU" smtClean="0"/>
            </a:fld>
            <a:endParaRPr lang="en-AU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9.png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image" Target="../media/image9.png"/><Relationship Id="rId2" Type="http://schemas.openxmlformats.org/officeDocument/2006/relationships/tags" Target="../tags/tag10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22.xml"/><Relationship Id="rId15" Type="http://schemas.openxmlformats.org/officeDocument/2006/relationships/image" Target="../media/image10.png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image" Target="../media/image13.png"/><Relationship Id="rId2" Type="http://schemas.openxmlformats.org/officeDocument/2006/relationships/tags" Target="../tags/tag24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image" Target="../media/image13.png"/><Relationship Id="rId2" Type="http://schemas.openxmlformats.org/officeDocument/2006/relationships/tags" Target="../tags/tag3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44.xml"/><Relationship Id="rId15" Type="http://schemas.openxmlformats.org/officeDocument/2006/relationships/image" Target="../media/image10.png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image" Target="../media/image27.png"/><Relationship Id="rId2" Type="http://schemas.openxmlformats.org/officeDocument/2006/relationships/tags" Target="../tags/tag46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55.xml"/><Relationship Id="rId12" Type="http://schemas.openxmlformats.org/officeDocument/2006/relationships/image" Target="../media/image10.png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981200"/>
            <a:ext cx="7772400" cy="1470025"/>
          </a:xfrm>
          <a:ln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lvl="0">
              <a:defRPr/>
            </a:pPr>
            <a:r>
              <a:rPr lang="zh-CN" altLang="en-US" b="1" dirty="0">
                <a:solidFill>
                  <a:srgbClr val="2C2C2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上下文无关文法</a:t>
            </a: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2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200" dirty="0">
                <a:solidFill>
                  <a:srgbClr val="FFFFFF"/>
                </a:solidFill>
              </a:rPr>
            </a:fld>
            <a:endParaRPr lang="en-US" altLang="zh-CN" sz="1200" dirty="0">
              <a:solidFill>
                <a:srgbClr val="FFFFFF"/>
              </a:solidFill>
            </a:endParaRPr>
          </a:p>
        </p:txBody>
      </p:sp>
      <p:grpSp>
        <p:nvGrpSpPr>
          <p:cNvPr id="5126" name="组合 9"/>
          <p:cNvGrpSpPr/>
          <p:nvPr/>
        </p:nvGrpSpPr>
        <p:grpSpPr>
          <a:xfrm>
            <a:off x="0" y="5030788"/>
            <a:ext cx="8699500" cy="1117600"/>
            <a:chOff x="0" y="5030681"/>
            <a:chExt cx="8700121" cy="1116947"/>
          </a:xfrm>
        </p:grpSpPr>
        <p:sp>
          <p:nvSpPr>
            <p:cNvPr id="11" name="矩形 10"/>
            <p:cNvSpPr/>
            <p:nvPr/>
          </p:nvSpPr>
          <p:spPr>
            <a:xfrm>
              <a:off x="0" y="5030681"/>
              <a:ext cx="8700121" cy="1116947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99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 rot="10800000">
              <a:off x="149602" y="5139274"/>
              <a:ext cx="3166930" cy="810003"/>
              <a:chOff x="2077999" y="5178439"/>
              <a:chExt cx="2948941" cy="683692"/>
            </a:xfrm>
            <a:solidFill>
              <a:schemeClr val="bg1"/>
            </a:solidFill>
          </p:grpSpPr>
          <p:sp>
            <p:nvSpPr>
              <p:cNvPr id="14" name="矩形 13"/>
              <p:cNvSpPr/>
              <p:nvPr/>
            </p:nvSpPr>
            <p:spPr>
              <a:xfrm>
                <a:off x="4662430" y="5178441"/>
                <a:ext cx="364510" cy="683690"/>
              </a:xfrm>
              <a:prstGeom prst="rect">
                <a:avLst/>
              </a:prstGeom>
              <a:solidFill>
                <a:srgbClr val="78AF2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矩形 25"/>
              <p:cNvSpPr/>
              <p:nvPr/>
            </p:nvSpPr>
            <p:spPr>
              <a:xfrm>
                <a:off x="2077999" y="5178439"/>
                <a:ext cx="2520000" cy="683178"/>
              </a:xfrm>
              <a:custGeom>
                <a:avLst/>
                <a:gdLst/>
                <a:ahLst/>
                <a:cxnLst/>
                <a:rect l="l" t="t" r="r" b="b"/>
                <a:pathLst>
                  <a:path w="3995780" h="1199745">
                    <a:moveTo>
                      <a:pt x="3696727" y="760691"/>
                    </a:moveTo>
                    <a:lnTo>
                      <a:pt x="1033246" y="760691"/>
                    </a:lnTo>
                    <a:lnTo>
                      <a:pt x="1029703" y="940654"/>
                    </a:lnTo>
                    <a:lnTo>
                      <a:pt x="3696727" y="940654"/>
                    </a:lnTo>
                    <a:close/>
                    <a:moveTo>
                      <a:pt x="3700429" y="298400"/>
                    </a:moveTo>
                    <a:lnTo>
                      <a:pt x="1042348" y="298400"/>
                    </a:lnTo>
                    <a:lnTo>
                      <a:pt x="1038805" y="478363"/>
                    </a:lnTo>
                    <a:lnTo>
                      <a:pt x="3700429" y="478363"/>
                    </a:lnTo>
                    <a:close/>
                    <a:moveTo>
                      <a:pt x="3995780" y="2065"/>
                    </a:moveTo>
                    <a:lnTo>
                      <a:pt x="3995780" y="1198688"/>
                    </a:lnTo>
                    <a:lnTo>
                      <a:pt x="1024623" y="1198688"/>
                    </a:lnTo>
                    <a:lnTo>
                      <a:pt x="1024602" y="1199745"/>
                    </a:lnTo>
                    <a:lnTo>
                      <a:pt x="1022842" y="1198688"/>
                    </a:lnTo>
                    <a:lnTo>
                      <a:pt x="1014564" y="1198688"/>
                    </a:lnTo>
                    <a:lnTo>
                      <a:pt x="1014564" y="1193714"/>
                    </a:lnTo>
                    <a:lnTo>
                      <a:pt x="0" y="584102"/>
                    </a:lnTo>
                    <a:lnTo>
                      <a:pt x="1014564" y="18756"/>
                    </a:lnTo>
                    <a:lnTo>
                      <a:pt x="1014564" y="2065"/>
                    </a:lnTo>
                    <a:lnTo>
                      <a:pt x="1044517" y="2065"/>
                    </a:lnTo>
                    <a:lnTo>
                      <a:pt x="1048224" y="0"/>
                    </a:lnTo>
                    <a:lnTo>
                      <a:pt x="1048183" y="2065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3276600" y="3644900"/>
            <a:ext cx="2540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计算机科学与技术学院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哈尔滨工业大学（深圳）</a:t>
            </a:r>
            <a:endParaRPr lang="zh-CN" altLang="en-US"/>
          </a:p>
        </p:txBody>
      </p:sp>
      <p:sp>
        <p:nvSpPr>
          <p:cNvPr id="16" name="圆角矩形 7"/>
          <p:cNvSpPr/>
          <p:nvPr/>
        </p:nvSpPr>
        <p:spPr>
          <a:xfrm>
            <a:off x="835024" y="539092"/>
            <a:ext cx="7473952" cy="1158875"/>
          </a:xfrm>
          <a:prstGeom prst="roundRect">
            <a:avLst>
              <a:gd name="adj" fmla="val 9948"/>
            </a:avLst>
          </a:prstGeom>
          <a:noFill/>
          <a:ln w="25400">
            <a:solidFill>
              <a:srgbClr val="F6941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3200" b="1" dirty="0" err="1">
                <a:solidFill>
                  <a:srgbClr val="F6941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形式语言与自动机</a:t>
            </a:r>
            <a:endParaRPr lang="en-US" altLang="zh-CN" sz="3200" b="1" dirty="0">
              <a:solidFill>
                <a:srgbClr val="F69418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3200" b="1" dirty="0">
                <a:solidFill>
                  <a:srgbClr val="F6941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Formal Languages and Automata Theory</a:t>
            </a:r>
            <a:endParaRPr lang="en-US" altLang="zh-CN" sz="3200" b="1" dirty="0">
              <a:solidFill>
                <a:srgbClr val="F69418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11"/>
          <p:cNvSpPr txBox="1"/>
          <p:nvPr/>
        </p:nvSpPr>
        <p:spPr>
          <a:xfrm>
            <a:off x="6646863" y="5345291"/>
            <a:ext cx="20399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0" lang="zh-CN" altLang="en-US" sz="2400" b="1" kern="1200" cap="none" spc="60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汤步洲</a:t>
            </a:r>
            <a:r>
              <a:rPr kumimoji="0" lang="en-US" altLang="zh-CN" sz="2400" b="1" kern="1200" cap="none" spc="60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en-US" sz="2400" b="1" kern="1200" cap="none" spc="600" normalizeH="0" baseline="0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上下文无关语言的泵引理及应用</a:t>
            </a:r>
            <a:endParaRPr lang="en-AU" altLang="zh-CN" dirty="0"/>
          </a:p>
          <a:p>
            <a:r>
              <a:rPr lang="zh-CN" altLang="en-US" dirty="0"/>
              <a:t>上下文无关语言的封闭性</a:t>
            </a:r>
            <a:endParaRPr lang="en-AU" altLang="zh-CN" dirty="0"/>
          </a:p>
          <a:p>
            <a:r>
              <a:rPr lang="zh-CN" altLang="en-US" dirty="0"/>
              <a:t>上下文无关语言的判定性质</a:t>
            </a:r>
            <a:endParaRPr lang="en-AU" altLang="zh-CN" dirty="0"/>
          </a:p>
          <a:p>
            <a:r>
              <a:rPr lang="zh-CN" altLang="en-US" dirty="0"/>
              <a:t>乔姆斯基文法体系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上下文无关语言的泵引理及应用</a:t>
            </a:r>
            <a:endParaRPr lang="en-AU" altLang="zh-CN" dirty="0"/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上下文无关语言的封闭性</a:t>
            </a:r>
            <a:endParaRPr lang="en-AU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上下文无关语言的判定性质</a:t>
            </a:r>
            <a:endParaRPr lang="en-AU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乔姆斯基文法体系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正则语言的泵引理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87926"/>
                <a:ext cx="8458200" cy="4525963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泵引理</a:t>
                </a:r>
                <a:r>
                  <a:rPr lang="en-AU" altLang="zh-CN" dirty="0"/>
                  <a:t>(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pumping lemma</a:t>
                </a:r>
                <a:r>
                  <a:rPr lang="en-AU" altLang="zh-CN" dirty="0"/>
                  <a:t>): </a:t>
                </a:r>
                <a:r>
                  <a:rPr lang="zh-CN" altLang="en-US" dirty="0"/>
                  <a:t>如果语言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是正则的，那么存在正整数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只要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就可以将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分为三部分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𝑥𝑦𝑧</m:t>
                    </m:r>
                  </m:oMath>
                </a14:m>
                <a:r>
                  <a:rPr lang="en-AU" altLang="zh-CN" dirty="0"/>
                  <a:t> </a:t>
                </a:r>
                <a:r>
                  <a:rPr lang="zh-CN" altLang="en-US" dirty="0"/>
                  <a:t>满足</a:t>
                </a:r>
                <a:r>
                  <a:rPr lang="en-US" altLang="zh-CN" dirty="0"/>
                  <a:t>: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zh-CN" alt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（或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AU" altLang="zh-CN" b="0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altLang="zh-CN" b="0" i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）</a:t>
                </a:r>
                <a:r>
                  <a:rPr lang="en-AU" altLang="zh-CN" dirty="0"/>
                  <a:t>;</a:t>
                </a:r>
                <a:endParaRPr lang="en-AU" altLang="zh-CN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 dirty="0"/>
                  <a:t>;</a:t>
                </a:r>
                <a:endParaRPr lang="en-US" altLang="zh-CN" dirty="0"/>
              </a:p>
              <a:p>
                <a:pPr lvl="2">
                  <a:lnSpc>
                    <a:spcPct val="120000"/>
                  </a:lnSpc>
                </a:pPr>
                <a:r>
                  <a:rPr lang="zh-CN" altLang="en-US" dirty="0"/>
                  <a:t>中间的串不论循环几次，所得的串仍属于该正则语言。</a:t>
                </a:r>
                <a:endParaRPr lang="en-AU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87926"/>
                <a:ext cx="8458200" cy="4525963"/>
              </a:xfrm>
              <a:blipFill rotWithShape="1">
                <a:blip r:embed="rId1"/>
                <a:stretch>
                  <a:fillRect t="-11" r="-108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上下文无关语言的泵引理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如果语言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:r>
                  <a:rPr lang="en-AU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那么存在正整数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只要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| ≥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就可以将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分为五部分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altLang="zh-CN" i="1" dirty="0" err="1" smtClean="0">
                        <a:latin typeface="Cambria Math" panose="02040503050406030204" pitchFamily="18" charset="0"/>
                      </a:rPr>
                      <m:t>𝑢𝑣𝑤𝑥𝑦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满足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𝑣𝑥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 &gt;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);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(3)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≥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泵引理证明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4106" y="1027963"/>
                <a:ext cx="8229600" cy="452596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:r>
                  <a:rPr lang="en-AU" altLang="zh-CN" sz="28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CFG</a:t>
                </a:r>
                <a:r>
                  <a:rPr lang="en-AU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𝐺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𝑉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𝑆</m:t>
                    </m:r>
                    <m:r>
                      <a:rPr lang="en-AU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为接受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𝐿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−{</m:t>
                    </m:r>
                    <m:r>
                      <a:rPr lang="zh-CN" altLang="en-AU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𝜀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en-AU" altLang="zh-CN" sz="28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CNF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（乔姆斯基范式）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文法。</a:t>
                </a:r>
                <a:endParaRPr lang="en-AU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首先，在文法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𝐺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的派生树中，若最长路径为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，则产物（派生出的句子）的长度最多为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AU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/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内节点为二叉树，且路径长度为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en-AU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其叶子节点最多为满二叉树时的数量，即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𝐺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中变元数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altLang="zh-CN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那么若有</a:t>
                </a:r>
                <a14:m>
                  <m:oMath xmlns:m="http://schemas.openxmlformats.org/officeDocument/2006/math"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𝑳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AU" altLang="zh-CN" sz="28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sz="2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的派生树中最长路径长度至少也是</a:t>
                </a:r>
                <a14:m>
                  <m:oMath xmlns:m="http://schemas.openxmlformats.org/officeDocument/2006/math">
                    <m:r>
                      <a:rPr lang="en-AU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这条路径上节点至少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个。</a:t>
                </a:r>
                <a:endParaRPr lang="en-AU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除了最后一个节点外，其余均为变元，即至少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个变元</a:t>
                </a:r>
                <a:endParaRPr lang="en-AU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该路径由下至上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个内节点中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至少有两个</a:t>
                </a:r>
                <a14:m>
                  <m:oMath xmlns:m="http://schemas.openxmlformats.org/officeDocument/2006/math">
                    <m:r>
                      <a:rPr lang="zh-CN" altLang="en-US" sz="2800" i="1" dirty="0" smtClean="0">
                        <a:latin typeface="Cambria Math" panose="02040503050406030204" pitchFamily="18" charset="0"/>
                      </a:rPr>
                      <m:t>节点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标记了相同的变元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AU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AU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AU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/>
                <a:endParaRPr lang="en-AU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AU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4106" y="1027963"/>
                <a:ext cx="8229600" cy="4525963"/>
              </a:xfrm>
              <a:blipFill rotWithShape="1">
                <a:blip r:embed="rId1"/>
                <a:stretch>
                  <a:fillRect l="-3" t="-236" r="-892" b="-434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泵引理证明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2305" y="918029"/>
                <a:ext cx="5624286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如果这两个节点分别是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，标记均为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/>
                  <a:t>，设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更接近树根。</a:t>
                </a:r>
                <a:endParaRPr lang="en-AU" altLang="zh-CN" sz="2400" dirty="0"/>
              </a:p>
              <a:p>
                <a:r>
                  <a:rPr lang="zh-CN" altLang="en-US" sz="2400" dirty="0"/>
                  <a:t>设以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为根的子树为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，以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为根的子树为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。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305" y="918029"/>
                <a:ext cx="5624286" cy="4525963"/>
              </a:xfrm>
              <a:blipFill rotWithShape="1">
                <a:blip r:embed="rId1"/>
                <a:stretch>
                  <a:fillRect l="-4" t="-10" r="6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612" y="1024062"/>
            <a:ext cx="3109083" cy="2538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泵引理证明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7323" y="921206"/>
                <a:ext cx="6087534" cy="582045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400" dirty="0"/>
                  <a:t>产物为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400" dirty="0"/>
                  <a:t>产物为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400" dirty="0"/>
                  <a:t>。由于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的子树，则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的产物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必包含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400" dirty="0"/>
                  <a:t>，不妨记为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𝑣𝑤𝑥</m:t>
                    </m:r>
                  </m:oMath>
                </a14:m>
                <a:r>
                  <a:rPr lang="zh-CN" altLang="en-US" sz="2400" dirty="0"/>
                  <a:t>，则有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groupChr>
                      <m:groupChrPr>
                        <m:chr m:val="⇒"/>
                        <m:vertJc m:val="bot"/>
                        <m:ctrlPr>
                          <a:rPr lang="en-AU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AU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AU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𝑣𝐴𝑥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AU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groupChr>
                      <m:groupChrPr>
                        <m:chr m:val="⇒"/>
                        <m:vertJc m:val="bot"/>
                        <m:ctrlPr>
                          <a:rPr lang="en-AU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AU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AU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r>
                  <a:rPr lang="zh-CN" altLang="en-US" sz="2400" dirty="0"/>
                  <a:t>那么对任意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AU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groupChr>
                      <m:groupChrPr>
                        <m:chr m:val="⇒"/>
                        <m:vertJc m:val="bot"/>
                        <m:ctrlPr>
                          <a:rPr lang="en-AU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AU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sSup>
                      <m:sSupPr>
                        <m:ctrlPr>
                          <a:rPr lang="en-AU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AU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AU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r>
                  <a:rPr lang="zh-CN" altLang="en-US" sz="2400" dirty="0"/>
                  <a:t>不妨设整棵树的产物为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𝑢𝑣𝑤𝑥𝑦</m:t>
                    </m:r>
                  </m:oMath>
                </a14:m>
                <a:r>
                  <a:rPr lang="en-AU" altLang="zh-CN" sz="2400" dirty="0"/>
                  <a:t>(</a:t>
                </a:r>
                <a:r>
                  <a:rPr lang="zh-CN" altLang="en-US" sz="2400" dirty="0"/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产物前面部分为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sz="2400" dirty="0"/>
                  <a:t>，后面部分为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altLang="zh-CN" sz="2400" dirty="0"/>
                  <a:t>),</a:t>
                </a:r>
                <a:r>
                  <a:rPr lang="zh-CN" altLang="en-US" sz="2400" dirty="0"/>
                  <a:t>则</a:t>
                </a:r>
                <a14:m>
                  <m:oMath xmlns:m="http://schemas.openxmlformats.org/officeDocument/2006/math">
                    <m:r>
                      <a:rPr lang="en-AU" altLang="zh-CN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groupChr>
                      <m:groupChrPr>
                        <m:chr m:val="⇒"/>
                        <m:vertJc m:val="bot"/>
                        <m:ctrlP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AU" altLang="zh-CN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𝑢𝐴𝑦</m:t>
                    </m:r>
                    <m:groupChr>
                      <m:groupChrPr>
                        <m:chr m:val="⇒"/>
                        <m:vertJc m:val="bot"/>
                        <m:ctrlP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AU" altLang="zh-CN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AU" altLang="zh-CN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AU" altLang="zh-CN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。</a:t>
                </a:r>
                <a:endParaRPr lang="en-AU" altLang="zh-CN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路径长度不超过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AU" altLang="zh-CN" sz="2400" dirty="0">
                    <a:solidFill>
                      <a:schemeClr val="tx1"/>
                    </a:solidFill>
                  </a:rPr>
                  <a:t>,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其产物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𝑣𝑤𝑥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长度不超</a:t>
                </a:r>
                <a:r>
                  <a:rPr lang="zh-CN" altLang="en-US" sz="2400" dirty="0"/>
                  <a:t>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（即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）</a:t>
                </a:r>
                <a:r>
                  <a:rPr lang="en-AU" altLang="zh-CN" sz="2400" dirty="0">
                    <a:solidFill>
                      <a:schemeClr val="tx1"/>
                    </a:solidFill>
                  </a:rPr>
                  <a:t>,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即</a:t>
                </a:r>
                <a14:m>
                  <m:oMath xmlns:m="http://schemas.openxmlformats.org/officeDocument/2006/math">
                    <m:r>
                      <a:rPr lang="en-AU" altLang="zh-CN" sz="24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𝑣𝑤𝑥</m:t>
                    </m:r>
                    <m:r>
                      <a:rPr lang="en-AU" altLang="zh-CN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。</a:t>
                </a:r>
                <a:endParaRPr lang="en-AU" altLang="zh-CN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派生出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𝑣𝑤𝑥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的第一个产生式必须是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必定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处于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的树或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的树中，并且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/>
                  <a:t>都至少产生一个终结符，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所以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AU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不可能同时为空，即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𝑣𝑥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l-GR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。</a:t>
                </a:r>
                <a:endParaRPr lang="en-AU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323" y="921206"/>
                <a:ext cx="6087534" cy="5820454"/>
              </a:xfrm>
              <a:blipFill rotWithShape="1">
                <a:blip r:embed="rId1"/>
                <a:stretch>
                  <a:fillRect l="-8" t="-8" r="4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283" y="1037546"/>
            <a:ext cx="2738394" cy="22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800" dirty="0"/>
                  <a:t>请判断 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 = {</m:t>
                    </m:r>
                    <m:sSup>
                      <m:sSupPr>
                        <m:ctrlPr>
                          <a:rPr lang="en-AU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 ≥ 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zh-CN" altLang="en-US" sz="2800" dirty="0"/>
                  <a:t>是不是上下文无关语言。如果是请给出相应的</a:t>
                </a:r>
                <a:r>
                  <a:rPr lang="en-US" altLang="zh-CN" sz="2800" dirty="0"/>
                  <a:t>PDA</a:t>
                </a:r>
                <a:r>
                  <a:rPr lang="zh-CN" altLang="en-US" sz="2800" dirty="0"/>
                  <a:t>和文法；否则，请证明。</a:t>
                </a:r>
                <a:endParaRPr lang="en-AU" altLang="zh-CN" sz="28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判断题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  <p:custDataLst>
      <p:tags r:id="rId9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800" dirty="0"/>
                  <a:t>请判断 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 = {</m:t>
                    </m:r>
                    <m:sSup>
                      <m:sSupPr>
                        <m:ctrlPr>
                          <a:rPr lang="en-AU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 ≥ 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zh-CN" altLang="en-US" sz="2800" dirty="0"/>
                  <a:t>是不是上下文无关语言。如果是请给出相应的</a:t>
                </a:r>
                <a:r>
                  <a:rPr lang="en-US" altLang="zh-CN" sz="2800" dirty="0"/>
                  <a:t>PDA</a:t>
                </a:r>
                <a:r>
                  <a:rPr lang="zh-CN" altLang="en-US" sz="2800" dirty="0"/>
                  <a:t>和文法；否则，请证明。</a:t>
                </a:r>
                <a:endParaRPr lang="en-AU" altLang="zh-CN" sz="28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是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不是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8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13971"/>
                <a:ext cx="8229600" cy="4525963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例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{</m:t>
                    </m:r>
                    <m:sSup>
                      <m:sSup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≥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不是上下文无关语言。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假设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那么存在整数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(|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| ≥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满足泵引理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从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中取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则显然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AU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≥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(3)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由泵引理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可被分为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i="1" dirty="0" err="1" smtClean="0">
                        <a:latin typeface="Cambria Math" panose="02040503050406030204" pitchFamily="18" charset="0"/>
                      </a:rPr>
                      <m:t>𝑢𝑣𝑤𝑥𝑦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且有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i="1" dirty="0" err="1" smtClean="0">
                        <a:latin typeface="Cambria Math" panose="02040503050406030204" pitchFamily="18" charset="0"/>
                      </a:rPr>
                      <m:t>𝑣𝑤𝑥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| ≤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𝑣𝑥</m:t>
                    </m:r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AU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(4)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那么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𝑣𝑤𝑥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可能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(</a:t>
                </a:r>
                <a:r>
                  <a:rPr lang="en-AU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只包含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或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或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，那么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𝑢𝑤𝑦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(ii)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只包含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或只包含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，那么也有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𝑢𝑤𝑦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(5)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与泵引理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𝑢𝑤𝑦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矛盾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假设不成立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(6)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不是上下文无关的。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13971"/>
                <a:ext cx="8229600" cy="4525963"/>
              </a:xfrm>
              <a:blipFill rotWithShape="1">
                <a:blip r:embed="rId1"/>
                <a:stretch>
                  <a:fillRect t="-4" b="-34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800" dirty="0"/>
                  <a:t>请判断 </a:t>
                </a:r>
                <a14:m>
                  <m:oMath xmlns:m="http://schemas.openxmlformats.org/officeDocument/2006/math"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|"/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𝑤𝑤</m:t>
                        </m:r>
                      </m:e>
                    </m:d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AU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r>
                          <a:rPr lang="en-AU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AU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AU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AU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zh-CN" altLang="en-US" sz="2800" dirty="0"/>
                  <a:t>是不是上下文无关语言。如果是请给出相应的</a:t>
                </a:r>
                <a:r>
                  <a:rPr lang="en-US" altLang="zh-CN" sz="2800" dirty="0"/>
                  <a:t>PDA</a:t>
                </a:r>
                <a:r>
                  <a:rPr lang="zh-CN" altLang="en-US" sz="2800" dirty="0"/>
                  <a:t>和文法；否则，请证明。</a:t>
                </a:r>
                <a:endParaRPr lang="en-AU" altLang="zh-CN" sz="28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判断题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800" dirty="0"/>
                  <a:t>请判断 </a:t>
                </a:r>
                <a14:m>
                  <m:oMath xmlns:m="http://schemas.openxmlformats.org/officeDocument/2006/math"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|"/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𝑤𝑤</m:t>
                        </m:r>
                      </m:e>
                    </m:d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AU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r>
                          <a:rPr lang="en-AU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AU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AU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AU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zh-CN" altLang="en-US" sz="2800" dirty="0"/>
                  <a:t>是不是上下文无关语言。如果是请给出相应的</a:t>
                </a:r>
                <a:r>
                  <a:rPr lang="en-US" altLang="zh-CN" sz="2800" dirty="0"/>
                  <a:t>PDA</a:t>
                </a:r>
                <a:r>
                  <a:rPr lang="zh-CN" altLang="en-US" sz="2800" dirty="0"/>
                  <a:t>和文法；否则，请证明。</a:t>
                </a:r>
                <a:endParaRPr lang="en-AU" altLang="zh-CN" sz="28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是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不是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8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证明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|"/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𝑤𝑤</m:t>
                        </m:r>
                      </m:e>
                    </m:d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zh-CN" altLang="en-US" dirty="0"/>
                  <a:t>不是上下文无关语言。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假设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，取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zh-CN" altLang="en-US" dirty="0"/>
                  <a:t>，将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分为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𝑢𝑣𝑤𝑥𝑦</m:t>
                    </m:r>
                  </m:oMath>
                </a14:m>
                <a:r>
                  <a:rPr lang="zh-CN" altLang="en-US" dirty="0"/>
                  <a:t>时，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(1)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𝑣𝑤𝑥</m:t>
                    </m:r>
                  </m:oMath>
                </a14:m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中点的任意一侧，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显然不可能属于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;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AU" altLang="zh-CN" dirty="0"/>
                  <a:t>(2)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𝑣𝑤𝑥</m:t>
                    </m:r>
                  </m:oMath>
                </a14:m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包括中点，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只能</m:t>
                    </m:r>
                  </m:oMath>
                </a14:m>
                <a:r>
                  <a:rPr lang="zh-CN" altLang="en-US" dirty="0"/>
                  <a:t>形如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也不可能属于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所以假设不成立，</a:t>
                </a:r>
                <a:r>
                  <a:rPr lang="en-AU" altLang="zh-CN" b="0" dirty="0"/>
                  <a:t>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不是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证明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|"/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𝑤𝑤</m:t>
                        </m:r>
                      </m:e>
                    </m:d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zh-CN" altLang="en-US" dirty="0"/>
                  <a:t>不是上下文无关语言。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假设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，取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zh-CN" altLang="en-US" dirty="0"/>
                  <a:t>，将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分为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𝑢𝑣𝑤𝑥𝑦</m:t>
                    </m:r>
                  </m:oMath>
                </a14:m>
                <a:r>
                  <a:rPr lang="zh-CN" altLang="en-US" dirty="0"/>
                  <a:t>时，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(1)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𝑣𝑤𝑥</m:t>
                    </m:r>
                  </m:oMath>
                </a14:m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中点的任意一侧，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显然不可能属于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;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AU" altLang="zh-CN" dirty="0"/>
                  <a:t>(2)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𝑣𝑤𝑥</m:t>
                    </m:r>
                  </m:oMath>
                </a14:m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包括中点，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只能</m:t>
                    </m:r>
                  </m:oMath>
                </a14:m>
                <a:r>
                  <a:rPr lang="zh-CN" altLang="en-US" dirty="0"/>
                  <a:t>形如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也不可能属于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所以假设不成立，</a:t>
                </a:r>
                <a:r>
                  <a:rPr lang="en-AU" altLang="zh-CN" b="0" dirty="0"/>
                  <a:t>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不是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取</a:t>
                </a:r>
                <a14:m>
                  <m:oMath xmlns:m="http://schemas.openxmlformats.org/officeDocument/2006/math">
                    <m:r>
                      <a:rPr lang="en-AU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AU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呢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？</a:t>
                </a:r>
                <a:r>
                  <a:rPr lang="zh-CN" altLang="en-US" dirty="0"/>
                  <a:t>）</a:t>
                </a:r>
                <a:endParaRPr lang="en-AU" altLang="zh-CN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上下文无关语言的泵引理</a:t>
            </a:r>
            <a:endParaRPr lang="en-AU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/>
              <a:t>上下文无关语言的封闭性</a:t>
            </a:r>
            <a:endParaRPr lang="en-AU" altLang="zh-CN" dirty="0"/>
          </a:p>
          <a:p>
            <a:pPr lvl="1"/>
            <a:r>
              <a:rPr lang="zh-CN" altLang="en-US" dirty="0"/>
              <a:t>代换的封闭性</a:t>
            </a:r>
            <a:endParaRPr lang="en-AU" altLang="zh-CN" dirty="0"/>
          </a:p>
          <a:p>
            <a:pPr lvl="1"/>
            <a:r>
              <a:rPr lang="zh-CN" altLang="en-US" dirty="0"/>
              <a:t>并</a:t>
            </a:r>
            <a:r>
              <a:rPr lang="en-AU" altLang="zh-CN" dirty="0"/>
              <a:t>/</a:t>
            </a:r>
            <a:r>
              <a:rPr lang="zh-CN" altLang="en-US" dirty="0"/>
              <a:t>连接</a:t>
            </a:r>
            <a:r>
              <a:rPr lang="en-AU" altLang="zh-CN" dirty="0"/>
              <a:t>/</a:t>
            </a:r>
            <a:r>
              <a:rPr lang="zh-CN" altLang="en-US" dirty="0"/>
              <a:t>闭包</a:t>
            </a:r>
            <a:r>
              <a:rPr lang="en-AU" altLang="zh-CN" dirty="0"/>
              <a:t>/</a:t>
            </a:r>
            <a:r>
              <a:rPr lang="zh-CN" altLang="en-US" dirty="0"/>
              <a:t>同态</a:t>
            </a:r>
            <a:r>
              <a:rPr lang="en-AU" altLang="zh-CN" dirty="0"/>
              <a:t>/</a:t>
            </a:r>
            <a:r>
              <a:rPr lang="zh-CN" altLang="en-US" dirty="0"/>
              <a:t>逆同态</a:t>
            </a:r>
            <a:r>
              <a:rPr lang="en-AU" altLang="zh-CN" dirty="0"/>
              <a:t>/</a:t>
            </a:r>
            <a:r>
              <a:rPr lang="zh-CN" altLang="en-US" dirty="0"/>
              <a:t>反转的封闭性</a:t>
            </a:r>
            <a:endParaRPr lang="en-AU" altLang="zh-CN" dirty="0"/>
          </a:p>
          <a:p>
            <a:pPr lvl="1"/>
            <a:r>
              <a:rPr lang="zh-CN" altLang="en-US" dirty="0"/>
              <a:t>交和补运算不封闭</a:t>
            </a:r>
            <a:endParaRPr lang="en-AU" altLang="zh-CN" dirty="0"/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上下文无关语言的判定性质</a:t>
            </a:r>
            <a:endParaRPr lang="en-AU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乔姆斯基文法体系</a:t>
            </a:r>
            <a:endParaRPr lang="en-AU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代换的封闭性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两个字母表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zh-CN" altLang="en-US" dirty="0"/>
                  <a:t>的函数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zh-CN" dirty="0"/>
                  <a:t>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l-GR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en-US" dirty="0"/>
                  <a:t>称为代换。</a:t>
                </a:r>
                <a:r>
                  <a:rPr lang="el-GR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中的一个字符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作用</m:t>
                    </m:r>
                  </m:oMath>
                </a14:m>
                <a:r>
                  <a:rPr lang="zh-CN" altLang="en-US" dirty="0"/>
                  <a:t>下为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zh-CN" altLang="en-US" dirty="0"/>
                  <a:t>上的一个语言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即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AU" altLang="zh-CN" dirty="0"/>
              </a:p>
              <a:p>
                <a:r>
                  <a:rPr lang="zh-CN" altLang="en-US" dirty="0"/>
                  <a:t>扩展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/>
                  <a:t>的定义到字符串，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AU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AU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  <m:t>𝑥𝑎</m:t>
                          </m:r>
                        </m:e>
                      </m:d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altLang="zh-CN" dirty="0"/>
              </a:p>
              <a:p>
                <a:r>
                  <a:rPr lang="zh-CN" altLang="en-US" dirty="0"/>
                  <a:t>再扩展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/>
                  <a:t>到语言，对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AU" altLang="zh-CN" dirty="0"/>
                  <a:t>,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AU" altLang="zh-CN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453890" y="5725160"/>
                <a:ext cx="4572000" cy="3683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 anchor="t">
                <a:spAutoFit/>
              </a:bodyPr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  <a:sym typeface="+mn-ea"/>
                  </a:rPr>
                  <a:t>两个字母表</a:t>
                </a:r>
                <a14:m>
                  <m:oMath xmlns:m="http://schemas.openxmlformats.org/officeDocument/2006/math">
                    <m:r>
                      <a:rPr lang="el-GR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𝜮</m:t>
                    </m:r>
                  </m:oMath>
                </a14:m>
                <a:br>
                  <a:rPr lang="el-GR" altLang="zh-CN" b="1" i="1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l-GR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𝜞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sym typeface="+mn-ea"/>
                  </a:rPr>
                  <a:t>的函数</a:t>
                </a:r>
                <a14:m>
                  <m:oMath xmlns:m="http://schemas.openxmlformats.org/officeDocument/2006/math">
                    <m:r>
                      <a:rPr lang="en-AU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AU" altLang="zh-CN" b="1" dirty="0">
                    <a:solidFill>
                      <a:srgbClr val="FF0000"/>
                    </a:solidFill>
                    <a:sym typeface="+mn-ea"/>
                  </a:rPr>
                  <a:t>:</a:t>
                </a:r>
                <a14:m>
                  <m:oMath xmlns:m="http://schemas.openxmlformats.org/officeDocument/2006/math">
                    <m:r>
                      <a:rPr lang="el-GR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𝜮</m:t>
                    </m:r>
                    <m:r>
                      <a:rPr lang="el-GR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l-GR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𝜞</m:t>
                        </m:r>
                      </m:e>
                      <m:sup>
                        <m:r>
                          <a:rPr lang="en-AU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sym typeface="+mn-ea"/>
                  </a:rPr>
                  <a:t>称为同态</a:t>
                </a:r>
                <a:endParaRPr lang="zh-CN" altLang="en-US" b="1" dirty="0">
                  <a:solidFill>
                    <a:srgbClr val="FF0000"/>
                  </a:solidFill>
                  <a:sym typeface="+mn-ea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890" y="5725160"/>
                <a:ext cx="4572000" cy="368300"/>
              </a:xfrm>
              <a:prstGeom prst="rect">
                <a:avLst/>
              </a:prstGeom>
              <a:blipFill rotWithShape="1">
                <a:blip r:embed="rId2"/>
                <a:stretch>
                  <a:fillRect b="-613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代换的封闭性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如果有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和代换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且每个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都是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那么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也是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证明：构造方法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的文法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每个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的文法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i="1" dirty="0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那么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的文法可以构造为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：</m:t>
                      </m:r>
                    </m:oMath>
                  </m:oMathPara>
                </a14:m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AU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∪(</m:t>
                    </m:r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nary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AU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nary>
                  </m:oMath>
                </a14:m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包括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AU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中的产生式；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的产生式，但是要替换产生式中的每个终结符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为文法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的开始符号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7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代换的封闭性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87926"/>
                <a:ext cx="82296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/>
                  <a:t>证明（充分性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AU" altLang="zh-CN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/>
                  <a:t>: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那么一定存在某个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· · ·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使</a:t>
                </a:r>
                <a:endParaRPr lang="zh-CN" alt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 · · ·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那么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可以分为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 · · · 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altLang="zh-CN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即</a:t>
                </a:r>
                <a:endParaRPr lang="en-AU" altLang="zh-CN" dirty="0"/>
              </a:p>
              <a:p>
                <a:pPr marL="0" indent="0" algn="ctr">
                  <a:buNone/>
                </a:pPr>
                <a:r>
                  <a:rPr lang="en-AU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groupChr>
                      <m:groupChrPr>
                        <m:chr m:val="⇒"/>
                        <m:pos m:val="top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AU" altLang="zh-C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groupChr>
                  </m:oMath>
                </a14:m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由于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  <m:groupChr>
                      <m:groupChrPr>
                        <m:chr m:val="⇒"/>
                        <m:pos m:val="top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groupCh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· · ·</m:t>
                    </m:r>
                  </m:oMath>
                </a14:m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，所以</a:t>
                </a:r>
                <a:r>
                  <a:rPr lang="en-AU" altLang="zh-CN" dirty="0"/>
                  <a:t> </a:t>
                </a:r>
                <a:endParaRPr lang="en-AU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  <m:groupChr>
                      <m:groupChrPr>
                        <m:chr m:val="⇒"/>
                        <m:pos m:val="top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groupCh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AU" altLang="zh-C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AU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· · ·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AU" altLang="zh-CN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</m:sSub>
                        <m:groupChr>
                          <m:groupChrPr>
                            <m:chr m:val="⇒"/>
                            <m:pos m:val="top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groupCh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· · ·</m:t>
                    </m:r>
                  </m:oMath>
                </a14:m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所以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𝐋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。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87926"/>
                <a:ext cx="8229600" cy="4525963"/>
              </a:xfrm>
              <a:blipFill rotWithShape="1">
                <a:blip r:embed="rId1"/>
                <a:stretch>
                  <a:fillRect t="-1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428490" y="2816979"/>
                <a:ext cx="349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490" y="2816979"/>
                <a:ext cx="349776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32" r="150" b="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370275" y="3498654"/>
                <a:ext cx="349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275" y="3498654"/>
                <a:ext cx="349776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66" t="-119" r="135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05594" y="4066759"/>
                <a:ext cx="349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594" y="4066759"/>
                <a:ext cx="349776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63" t="-59" r="132" b="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221852" y="4066759"/>
                <a:ext cx="349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852" y="4066759"/>
                <a:ext cx="349776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06" t="-59" r="75" b="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068092" y="3652641"/>
                <a:ext cx="2947715" cy="92333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包括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的产生式，但是要替换产生式中的每个终结符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为文法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的开始符号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AU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092" y="3652641"/>
                <a:ext cx="2947715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1" t="-13" r="3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H="1">
            <a:off x="5372768" y="3997764"/>
            <a:ext cx="695324" cy="318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代换的封闭性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7810500" cy="452596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zh-CN" altLang="en-US" dirty="0"/>
                  <a:t>证明（必要性</a:t>
                </a:r>
                <a14:m>
                  <m:oMath xmlns:m="http://schemas.openxmlformats.org/officeDocument/2006/math">
                    <m:r>
                      <a:rPr lang="en-AU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AU" altLang="zh-CN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/>
                  <a:t>:</a:t>
                </a:r>
                <a:endParaRPr lang="en-AU" altLang="zh-CN" dirty="0"/>
              </a:p>
              <a:p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/>
                  <a:t>的终结符仅能由每个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dirty="0"/>
                  <a:t>派生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因此对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′) </m:t>
                    </m:r>
                  </m:oMath>
                </a14:m>
                <a:r>
                  <a:rPr lang="zh-CN" altLang="en-US" dirty="0"/>
                  <a:t>有</a:t>
                </a:r>
                <a:endParaRPr lang="en-AU" altLang="zh-C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groupChr>
                        <m:groupChrPr>
                          <m:chr m:val="⇒"/>
                          <m:pos m:val="top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groupChr>
                      <m:r>
                        <a:rPr lang="zh-CN" altLang="en-AU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AU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AU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AU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⇒"/>
                          <m:pos m:val="top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groupChr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/>
                  <a:t>中的每个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中是终结符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所以有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groupChr>
                        <m:groupChrPr>
                          <m:chr m:val="⇒"/>
                          <m:pos m:val="top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groupChr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AU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又因为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l-G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l-G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groupChr>
                      <m:groupChrPr>
                        <m:chr m:val="⇒"/>
                        <m:pos m:val="top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groupCh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· · ·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所以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AU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groupChr>
                      <m:groupChrPr>
                        <m:chr m:val="⇒"/>
                        <m:pos m:val="top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groupCh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那么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∈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AU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) ⊆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所以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r>
                      <a:rPr lang="en-AU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′) ⊆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又由前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altLang="zh-CN" b="1" dirty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AU" altLang="zh-CN" b="1" dirty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′) = 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AU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7810500" cy="4525963"/>
              </a:xfrm>
              <a:blipFill rotWithShape="1">
                <a:blip r:embed="rId1"/>
                <a:stretch>
                  <a:fillRect t="-12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259590" y="2064281"/>
                <a:ext cx="331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590" y="2064281"/>
                <a:ext cx="331963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57" t="-144" r="114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033837" y="2064281"/>
                <a:ext cx="331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837" y="2064281"/>
                <a:ext cx="331963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33" t="-144" r="90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936715" y="3428822"/>
                <a:ext cx="331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715" y="3428822"/>
                <a:ext cx="331963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43" t="-124" r="100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222664" y="3017416"/>
                <a:ext cx="331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664" y="3017416"/>
                <a:ext cx="331963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2" t="-144" r="160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167548" y="3428323"/>
                <a:ext cx="331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548" y="3428323"/>
                <a:ext cx="331963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29" t="-161" r="86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914400" y="635000"/>
                <a:ext cx="7671435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800" dirty="0"/>
                  <a:t>例</a:t>
                </a:r>
                <a:r>
                  <a:rPr lang="en-AU" altLang="zh-CN" sz="2800" dirty="0"/>
                  <a:t>:</a:t>
                </a:r>
                <a:r>
                  <a:rPr lang="zh-CN" altLang="en-US" sz="2800" dirty="0"/>
                  <a:t>设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AU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</a:rPr>
                      <m:t>有相等个数的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AU" altLang="zh-CN" sz="2800" dirty="0"/>
                  <a:t>, </a:t>
                </a:r>
                <a:r>
                  <a:rPr lang="zh-CN" altLang="en-US" sz="2800" dirty="0"/>
                  <a:t>代换</a:t>
                </a:r>
                <a:endParaRPr lang="en-AU" altLang="zh-CN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pt-BR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= {</m:t>
                      </m:r>
                      <m:sSup>
                        <m:sSupPr>
                          <m:ctrlPr>
                            <a:rPr lang="pt-BR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altLang="zh-CN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AU" altLang="zh-CN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 ≥ </m:t>
                      </m:r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t-BR" altLang="zh-CN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altLang="zh-CN" sz="280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= {</m:t>
                      </m:r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pt-BR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pt-BR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altLang="zh-CN" sz="28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altLang="zh-CN" sz="28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pt-BR" altLang="zh-CN" sz="28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altLang="zh-CN" sz="2800" dirty="0"/>
              </a:p>
              <a:p>
                <a:pPr marL="0" indent="0">
                  <a:buNone/>
                </a:pPr>
                <a:r>
                  <a:rPr lang="zh-CN" altLang="en-US" sz="2800" dirty="0"/>
                  <a:t>求</a:t>
                </a:r>
                <a14:m>
                  <m:oMath xmlns:m="http://schemas.openxmlformats.org/officeDocument/2006/math"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的文法。</a:t>
                </a:r>
                <a:endParaRPr lang="en-AU" altLang="zh-CN" sz="28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671435" cy="21431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/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代换的封闭性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289050"/>
                <a:ext cx="8229600" cy="4525963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400" dirty="0"/>
                  <a:t>例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设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有相等个数的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AU" altLang="zh-CN" sz="2400" dirty="0"/>
                  <a:t>, </a:t>
                </a:r>
                <a:r>
                  <a:rPr lang="zh-CN" altLang="en-US" sz="2400" dirty="0"/>
                  <a:t>代换</a:t>
                </a:r>
                <a:endParaRPr lang="en-AU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 {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≥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t-B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 {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求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的文法。</a:t>
                </a:r>
                <a:endParaRPr lang="en-AU" altLang="zh-CN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289050"/>
                <a:ext cx="8229600" cy="4525963"/>
              </a:xfrm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上下文无关文法（课程回顾）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如果语言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:r>
                  <a:rPr lang="en-AU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那么存在正整数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只要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| ≥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就可以将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分为五部分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altLang="zh-CN" i="1" dirty="0" err="1" smtClean="0">
                        <a:latin typeface="Cambria Math" panose="02040503050406030204" pitchFamily="18" charset="0"/>
                      </a:rPr>
                      <m:t>𝑢𝑣𝑤𝑥𝑦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满足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𝑣𝑥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 &gt;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);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(3)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≥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代换的封闭性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0050" lvl="1" indent="0"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一个语言的每个字母映射到另一个字母表上的语言</a:t>
                </a: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205" y="2535365"/>
            <a:ext cx="2738394" cy="22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5310689" y="4770790"/>
                <a:ext cx="33294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AU" altLang="zh-CN" sz="1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𝐺</m:t>
                    </m:r>
                  </m:oMath>
                </a14:m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中变元数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AU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1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AU" altLang="zh-CN" sz="1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altLang="zh-CN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689" y="4770790"/>
                <a:ext cx="3329426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6" t="-9" r="9" b="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代换的封闭性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030998"/>
                <a:ext cx="8229600" cy="4525963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例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有相等个数的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代换</a:t>
                </a:r>
                <a:endParaRPr lang="en-AU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 {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≥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t-B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 {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求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的文法。</a:t>
                </a:r>
                <a:endParaRPr lang="en-AU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解：（设计</a:t>
                </a:r>
                <a:r>
                  <a:rPr lang="en-AU" sz="24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的文法）由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个字符组成的每个字符个数相同的字符串，可以按以下方式生成：</a:t>
                </a: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）在除空串以外的最小字符串确定的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位置插入任意长度的符合条件的子串；</a:t>
                </a: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）因为任意字符串均是以某一字符开头，在第一个位置插入字串的情况被去掉第一个位置的情况所包含，因此，可以去掉第一个位置</a:t>
                </a: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{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ab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,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:r>
                  <a:rPr lang="en-US" altLang="zh-CN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ba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}{</a:t>
                </a:r>
                <a:r>
                  <a:rPr lang="en-US" altLang="zh-CN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SaSbS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, </a:t>
                </a:r>
                <a:r>
                  <a:rPr lang="en-US" altLang="zh-CN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SbSaS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}{</a:t>
                </a:r>
                <a:r>
                  <a:rPr lang="en-US" altLang="zh-CN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aSbS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, </a:t>
                </a:r>
                <a:r>
                  <a:rPr lang="en-US" altLang="zh-CN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bSaS</a:t>
                </a:r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}</a:t>
                </a:r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030998"/>
                <a:ext cx="8229600" cy="4525963"/>
              </a:xfrm>
              <a:blipFill rotWithShape="1">
                <a:blip r:embed="rId1"/>
                <a:stretch>
                  <a:fillRect t="-9" b="-159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代换的封闭性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289050"/>
                <a:ext cx="8229600" cy="4525963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400" dirty="0"/>
                  <a:t>例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设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有相等个数的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AU" altLang="zh-CN" sz="2400" dirty="0"/>
                  <a:t>, </a:t>
                </a:r>
                <a:r>
                  <a:rPr lang="zh-CN" altLang="en-US" sz="2400" dirty="0"/>
                  <a:t>代换</a:t>
                </a:r>
                <a:endParaRPr lang="en-AU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 {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≥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t-B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 {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求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的文法。</a:t>
                </a:r>
                <a:endParaRPr lang="en-AU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解</a:t>
                </a:r>
                <a:r>
                  <a:rPr lang="en-AU" altLang="zh-CN" sz="2400" dirty="0"/>
                  <a:t>: </a:t>
                </a:r>
                <a:r>
                  <a:rPr lang="zh-CN" altLang="en-US" sz="2400" dirty="0"/>
                  <a:t>设计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的文法为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𝑎𝑆𝑏𝑆</m:t>
                    </m:r>
                    <m:d>
                      <m:dPr>
                        <m:begChr m:val="|"/>
                        <m:endChr m:val="|"/>
                        <m:ctrlPr>
                          <a:rPr lang="en-AU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𝑏𝑆𝑎𝑆</m:t>
                        </m:r>
                      </m:e>
                    </m:d>
                    <m:r>
                      <a:rPr lang="zh-CN" alt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AU" altLang="zh-CN" sz="24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2400" dirty="0"/>
                  <a:t>的文法为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AU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01</m:t>
                    </m:r>
                  </m:oMath>
                </a14:m>
                <a:endParaRPr lang="en-AU" altLang="zh-C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2400" dirty="0"/>
                  <a:t>的文法为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AU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那么，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altLang="zh-CN" sz="2400" b="0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AU" altLang="zh-CN" sz="24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的文法为</a:t>
                </a:r>
                <a:r>
                  <a:rPr lang="en-AU" altLang="zh-CN" sz="2400" dirty="0"/>
                  <a:t>: </a:t>
                </a:r>
                <a:endParaRPr lang="en-AU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|"/>
                          <m:endChr m:val="|"/>
                          <m:ctrlP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AU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AU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AU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zh-CN" altLang="en-A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AU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sz="2400" dirty="0">
                    <a:ea typeface="Cambria Math" panose="02040503050406030204" pitchFamily="18" charset="0"/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01</m:t>
                    </m:r>
                  </m:oMath>
                </a14:m>
                <a:endParaRPr lang="en-AU" sz="2400" dirty="0"/>
              </a:p>
              <a:p>
                <a:pPr marL="0" indent="0">
                  <a:buNone/>
                </a:pPr>
                <a:r>
                  <a:rPr lang="en-AU" altLang="zh-CN" sz="2400" dirty="0">
                    <a:ea typeface="Cambria Math" panose="02040503050406030204" pitchFamily="18" charset="0"/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AU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AU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289050"/>
                <a:ext cx="8229600" cy="4525963"/>
              </a:xfrm>
              <a:blipFill rotWithShape="1">
                <a:blip r:embed="rId1"/>
                <a:stretch>
                  <a:fillRect b="-305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CFL</a:t>
            </a:r>
            <a:r>
              <a:rPr lang="zh-CN" altLang="en-US" dirty="0"/>
              <a:t>对并</a:t>
            </a:r>
            <a:r>
              <a:rPr lang="en-US" altLang="zh-CN" dirty="0"/>
              <a:t>/</a:t>
            </a:r>
            <a:r>
              <a:rPr lang="zh-CN" altLang="en-US" dirty="0"/>
              <a:t>连接</a:t>
            </a:r>
            <a:r>
              <a:rPr lang="en-US" altLang="zh-CN" dirty="0"/>
              <a:t>/</a:t>
            </a:r>
            <a:r>
              <a:rPr lang="zh-CN" altLang="en-US" dirty="0"/>
              <a:t>闭包</a:t>
            </a:r>
            <a:r>
              <a:rPr lang="en-US" altLang="zh-CN" dirty="0"/>
              <a:t>/</a:t>
            </a:r>
            <a:r>
              <a:rPr lang="zh-CN" altLang="en-US" dirty="0"/>
              <a:t>同态封闭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87926"/>
                <a:ext cx="8229600" cy="4525963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上下文无关语言在并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连接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闭包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正闭包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同态下封闭。</a:t>
                </a:r>
                <a:endParaRPr lang="en-US" altLang="zh-CN" dirty="0"/>
              </a:p>
              <a:p>
                <a:r>
                  <a:rPr lang="zh-CN" altLang="en-US" dirty="0"/>
                  <a:t>证明</a:t>
                </a:r>
                <a:r>
                  <a:rPr lang="en-US" altLang="zh-CN" dirty="0"/>
                  <a:t>1:</a:t>
                </a:r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是任意</a:t>
                </a:r>
                <a:r>
                  <a:rPr lang="en-US" altLang="zh-CN" dirty="0"/>
                  <a:t>CFL</a:t>
                </a:r>
                <a:r>
                  <a:rPr lang="zh-CN" altLang="en-US" dirty="0"/>
                  <a:t>。定义代换</a:t>
                </a:r>
                <a:endParaRPr lang="zh-CN" alt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语言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AU" altLang="zh-CN" dirty="0"/>
                  <a:t>,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12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AU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dirty="0"/>
                  <a:t>显然都是</a:t>
                </a:r>
                <a:r>
                  <a:rPr lang="en-AU" altLang="zh-CN" dirty="0"/>
                  <a:t>CFL</a:t>
                </a:r>
                <a:r>
                  <a:rPr lang="zh-CN" altLang="en-US" dirty="0"/>
                  <a:t>，那么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AU" altLang="zh-CN" dirty="0"/>
                  <a:t>1</a:t>
                </a:r>
                <a:r>
                  <a:rPr lang="zh-CN" altLang="en-US" dirty="0"/>
                  <a:t>）由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({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}) =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 ∪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 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所以并运算封闭</a:t>
                </a:r>
                <a:r>
                  <a:rPr lang="en-US" altLang="zh-CN" dirty="0"/>
                  <a:t>;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AU" altLang="zh-CN" dirty="0"/>
                  <a:t>2</a:t>
                </a:r>
                <a:r>
                  <a:rPr lang="zh-CN" altLang="en-US" dirty="0"/>
                  <a:t>）由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({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}) =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 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所以连接运算封闭；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87926"/>
                <a:ext cx="8229600" cy="4525963"/>
              </a:xfrm>
              <a:blipFill rotWithShape="1">
                <a:blip r:embed="rId1"/>
                <a:stretch>
                  <a:fillRect t="-1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CFL</a:t>
            </a:r>
            <a:r>
              <a:rPr lang="zh-CN" altLang="en-US" dirty="0"/>
              <a:t>对并</a:t>
            </a:r>
            <a:r>
              <a:rPr lang="en-US" altLang="zh-CN" dirty="0"/>
              <a:t>/</a:t>
            </a:r>
            <a:r>
              <a:rPr lang="zh-CN" altLang="en-US" dirty="0"/>
              <a:t>连接</a:t>
            </a:r>
            <a:r>
              <a:rPr lang="en-US" altLang="zh-CN" dirty="0"/>
              <a:t>/</a:t>
            </a:r>
            <a:r>
              <a:rPr lang="zh-CN" altLang="en-US" dirty="0"/>
              <a:t>闭包</a:t>
            </a:r>
            <a:r>
              <a:rPr lang="en-US" altLang="zh-CN" dirty="0"/>
              <a:t>/</a:t>
            </a:r>
            <a:r>
              <a:rPr lang="zh-CN" altLang="en-US" dirty="0"/>
              <a:t>同态封闭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7050" y="1166018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en-AU" dirty="0"/>
                  <a:t>(3)</a:t>
                </a:r>
                <a:r>
                  <a:rPr lang="zh-CN" altLang="en-US" dirty="0"/>
                  <a:t> 闭包运算封闭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因为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AU" altLang="zh-CN" b="0" dirty="0"/>
                  <a:t>           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AU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({</m:t>
                    </m:r>
                    <m:r>
                      <a:rPr lang="zh-CN" altLang="en-AU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})</m:t>
                    </m:r>
                  </m:oMath>
                </a14:m>
                <a:endParaRPr lang="en-AU" altLang="zh-CN" dirty="0"/>
              </a:p>
              <a:p>
                <a:pPr marL="0" indent="0">
                  <a:buNone/>
                </a:pPr>
                <a:r>
                  <a:rPr lang="en-AU" altLang="zh-CN" dirty="0"/>
                  <a:t>                  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A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∪⋯</m:t>
                    </m:r>
                  </m:oMath>
                </a14:m>
                <a:endParaRPr lang="en-AU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b="0" dirty="0"/>
                  <a:t>                  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A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)∪⋯</m:t>
                    </m:r>
                  </m:oMath>
                </a14:m>
                <a:endParaRPr lang="en-AU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b="0" dirty="0">
                    <a:ea typeface="Cambria Math" panose="02040503050406030204" pitchFamily="18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altLang="zh-CN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A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∪⋯</m:t>
                    </m:r>
                  </m:oMath>
                </a14:m>
                <a:endParaRPr lang="en-AU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b="0" dirty="0"/>
                  <a:t>                  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AU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AU" altLang="zh-CN" dirty="0"/>
              </a:p>
              <a:p>
                <a:r>
                  <a:rPr lang="en-AU" altLang="zh-CN" dirty="0"/>
                  <a:t>(4)</a:t>
                </a:r>
                <a:r>
                  <a:rPr lang="zh-CN" altLang="en-US" dirty="0"/>
                  <a:t>正闭包运算封闭的证明类似。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7050" y="1166018"/>
                <a:ext cx="8229600" cy="4525963"/>
              </a:xfrm>
              <a:blipFill rotWithShape="1">
                <a:blip r:embed="rId1"/>
                <a:stretch>
                  <a:fillRect t="-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CFL</a:t>
            </a:r>
            <a:r>
              <a:rPr lang="zh-CN" altLang="en-US" dirty="0"/>
              <a:t>对并</a:t>
            </a:r>
            <a:r>
              <a:rPr lang="en-US" altLang="zh-CN" dirty="0"/>
              <a:t>/</a:t>
            </a:r>
            <a:r>
              <a:rPr lang="zh-CN" altLang="en-US" dirty="0"/>
              <a:t>连接</a:t>
            </a:r>
            <a:r>
              <a:rPr lang="en-US" altLang="zh-CN" dirty="0"/>
              <a:t>/</a:t>
            </a:r>
            <a:r>
              <a:rPr lang="zh-CN" altLang="en-US" dirty="0"/>
              <a:t>闭包</a:t>
            </a:r>
            <a:r>
              <a:rPr lang="en-US" altLang="zh-CN" dirty="0"/>
              <a:t>/</a:t>
            </a:r>
            <a:r>
              <a:rPr lang="zh-CN" altLang="en-US" dirty="0"/>
              <a:t>同态封闭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65150" y="1117600"/>
                <a:ext cx="8229600" cy="4525963"/>
              </a:xfrm>
            </p:spPr>
            <p:txBody>
              <a:bodyPr/>
              <a:lstStyle/>
              <a:p>
                <a:r>
                  <a:rPr lang="en-AU" altLang="zh-CN" dirty="0"/>
                  <a:t>(5)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上的同态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上的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dirty="0"/>
                  <a:t>, </a:t>
                </a:r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l-GR" altLang="zh-CN" i="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令代换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 = {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)}, </m:t>
                    </m:r>
                  </m:oMath>
                </a14:m>
                <a:r>
                  <a:rPr lang="zh-CN" altLang="en-US" dirty="0"/>
                  <a:t>则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d>
                            <m:dPr>
                              <m:ctrlPr>
                                <a:rPr lang="en-AU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AU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sz="24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d>
                                <m:dPr>
                                  <m:ctrlPr>
                                    <a:rPr lang="en-AU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altLang="zh-CN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⋃"/>
                          <m:supHide m:val="on"/>
                          <m:ctrlPr>
                            <a:rPr lang="en-AU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AU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′(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)=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′(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所以同态运算封闭。</a:t>
                </a:r>
                <a:endParaRPr lang="en-AU" altLang="zh-CN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150" y="1117600"/>
                <a:ext cx="8229600" cy="4525963"/>
              </a:xfrm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CFL</a:t>
            </a:r>
            <a:r>
              <a:rPr lang="zh-CN" altLang="en-US" dirty="0"/>
              <a:t>对并</a:t>
            </a:r>
            <a:r>
              <a:rPr lang="en-US" altLang="zh-CN" dirty="0"/>
              <a:t>/</a:t>
            </a:r>
            <a:r>
              <a:rPr lang="zh-CN" altLang="en-US" dirty="0"/>
              <a:t>连接</a:t>
            </a:r>
            <a:r>
              <a:rPr lang="en-US" altLang="zh-CN" dirty="0"/>
              <a:t>/</a:t>
            </a:r>
            <a:r>
              <a:rPr lang="zh-CN" altLang="en-US" dirty="0"/>
              <a:t>闭包</a:t>
            </a:r>
            <a:r>
              <a:rPr lang="en-US" altLang="zh-CN" dirty="0"/>
              <a:t>/</a:t>
            </a:r>
            <a:r>
              <a:rPr lang="zh-CN" altLang="en-US" dirty="0"/>
              <a:t>同态封闭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3250" y="1054100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2(</a:t>
                </a:r>
                <a:r>
                  <a:rPr lang="zh-CN" altLang="en-US" dirty="0"/>
                  <a:t>用文法证明</a:t>
                </a:r>
                <a:r>
                  <a:rPr lang="en-AU" altLang="zh-CN" dirty="0"/>
                  <a:t>):</a:t>
                </a:r>
                <a:r>
                  <a:rPr lang="zh-CN" altLang="en-US" dirty="0"/>
                  <a:t>并</a:t>
                </a:r>
                <a:r>
                  <a:rPr lang="en-AU" altLang="zh-CN" dirty="0"/>
                  <a:t>/</a:t>
                </a:r>
                <a:r>
                  <a:rPr lang="zh-CN" altLang="en-US" dirty="0"/>
                  <a:t>连接</a:t>
                </a:r>
                <a:r>
                  <a:rPr lang="en-AU" altLang="zh-CN" dirty="0"/>
                  <a:t>/</a:t>
                </a:r>
                <a:r>
                  <a:rPr lang="zh-CN" altLang="en-US" dirty="0"/>
                  <a:t>闭包的封闭性。设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的文法分别为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 (</m:t>
                      </m:r>
                      <m:sSub>
                        <m:sSub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 (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那么，分别构造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AU" dirty="0"/>
                  <a:t>(1)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⋃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的文法为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𝑢𝑛𝑖𝑜𝑛</m:t>
                          </m:r>
                        </m:sub>
                      </m:sSub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d>
                        <m:dPr>
                          <m:begChr m:val="{"/>
                          <m:endChr m:val="}"/>
                          <m:ctrlPr>
                            <a:rPr lang="en-AU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d>
                        <m:dPr>
                          <m:begChr m:val="{"/>
                          <m:endChr m:val="}"/>
                          <m:ctrlPr>
                            <a:rPr lang="en-AU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AU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AU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AU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AU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的文法为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𝑐𝑜𝑛𝑐𝑎𝑡</m:t>
                          </m:r>
                        </m:sub>
                      </m:sSub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d>
                        <m:dPr>
                          <m:begChr m:val="{"/>
                          <m:endChr m:val="}"/>
                          <m:ctrlPr>
                            <a:rPr lang="en-AU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},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/>
                  <a:t>(3)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/>
                  <a:t>的文法为</a:t>
                </a:r>
                <a:endParaRPr lang="en-AU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𝑐𝑙𝑜𝑠𝑢𝑟𝑒</m:t>
                          </m:r>
                        </m:sub>
                      </m:sSub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d>
                        <m:dPr>
                          <m:begChr m:val="{"/>
                          <m:endChr m:val="}"/>
                          <m:ctrlPr>
                            <a:rPr lang="en-AU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},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250" y="1054100"/>
                <a:ext cx="8229600" cy="4525963"/>
              </a:xfrm>
              <a:blipFill rotWithShape="1">
                <a:blip r:embed="rId1"/>
                <a:stretch>
                  <a:fillRect b="-294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CFL</a:t>
            </a:r>
            <a:r>
              <a:rPr lang="zh-CN" altLang="en-US" dirty="0"/>
              <a:t>对反转封闭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87926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dirty="0"/>
                  <a:t>, </a:t>
                </a:r>
                <a:r>
                  <a:rPr lang="zh-CN" altLang="en-US" dirty="0"/>
                  <a:t>那么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zh-CN" altLang="en-US" dirty="0"/>
                  <a:t>也是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的文法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构造文法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′ = (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, {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AU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 },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zh-CN" altLang="en-US" dirty="0"/>
                  <a:t>。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87926"/>
                <a:ext cx="8229600" cy="4525963"/>
              </a:xfrm>
              <a:blipFill rotWithShape="1">
                <a:blip r:embed="rId1"/>
                <a:stretch>
                  <a:fillRect t="-1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对逆同态封闭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76313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定理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如果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是字母表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zh-CN" altLang="en-US" sz="2400" dirty="0"/>
                  <a:t>上的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altLang="en-US" sz="2400" dirty="0"/>
                  <a:t>是字母表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/>
                  <a:t>的同态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那么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也是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 基本思路：</a:t>
                </a:r>
                <a:r>
                  <a:rPr lang="zh-CN" altLang="en-US" sz="2400" dirty="0"/>
                  <a:t>设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</a:t>
                </a:r>
                <a:r>
                  <a:rPr lang="en-AU" altLang="zh-CN" sz="2400" dirty="0"/>
                  <a:t> 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 ∆, </m:t>
                    </m:r>
                    <m:r>
                      <m:rPr>
                        <m:sty m:val="p"/>
                      </m:rPr>
                      <a:rPr lang="el-GR" altLang="zh-CN" sz="2400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sz="24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l-GR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AU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AU" altLang="zh-CN" sz="2400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)=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。构造</a:t>
                </a:r>
                <a14:m>
                  <m:oMath xmlns:m="http://schemas.openxmlformats.org/officeDocument/2006/math">
                    <m:r>
                      <a:rPr lang="en-AU" altLang="zh-CN" sz="2400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</a:t>
                </a:r>
                <a:r>
                  <a:rPr lang="zh-CN" altLang="en-US" sz="2400" dirty="0"/>
                  <a:t>。在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/>
                  <a:t>的状态中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使用缓冲</a:t>
                </a:r>
                <a:r>
                  <a:rPr lang="en-AU" altLang="zh-CN" sz="2400" dirty="0"/>
                  <a:t>(Buffer)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暂存字符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l-GR" sz="2400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sz="2400" dirty="0"/>
                  <a:t>的同态串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76313"/>
                <a:ext cx="8229600" cy="4525963"/>
              </a:xfrm>
              <a:blipFill rotWithShape="1">
                <a:blip r:embed="rId1"/>
                <a:stretch>
                  <a:fillRect t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480436" y="3289619"/>
            <a:ext cx="2877128" cy="1447800"/>
          </a:xfrm>
          <a:prstGeom prst="rect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807261" y="3452418"/>
            <a:ext cx="1219200" cy="533400"/>
          </a:xfrm>
          <a:prstGeom prst="rect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/>
              <a:t>Buffer</a:t>
            </a:r>
            <a:endParaRPr lang="en-US" alt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652588" y="4167825"/>
            <a:ext cx="1524000" cy="533400"/>
          </a:xfrm>
          <a:prstGeom prst="rect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/>
              <a:t>State of P</a:t>
            </a:r>
            <a:endParaRPr lang="en-US" alt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195224" y="5038726"/>
            <a:ext cx="457200" cy="1295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dirty="0"/>
              <a:t>栈</a:t>
            </a:r>
            <a:endParaRPr lang="en-AU" dirty="0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956004" y="3633868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输入串</a:t>
            </a:r>
            <a:endParaRPr lang="en-US" altLang="en-US" dirty="0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 flipV="1">
            <a:off x="2765049" y="3785235"/>
            <a:ext cx="877163" cy="63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Box 10"/>
              <p:cNvSpPr txBox="1">
                <a:spLocks noChangeArrowheads="1"/>
              </p:cNvSpPr>
              <p:nvPr/>
            </p:nvSpPr>
            <p:spPr bwMode="auto">
              <a:xfrm>
                <a:off x="2886562" y="3405268"/>
                <a:ext cx="371447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en-US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>
          <p:sp>
            <p:nvSpPr>
              <p:cNvPr id="12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6562" y="3405268"/>
                <a:ext cx="37144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31" t="-108" r="124" b="4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5414588" y="4764406"/>
            <a:ext cx="0" cy="2743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Box 10"/>
              <p:cNvSpPr txBox="1">
                <a:spLocks noChangeArrowheads="1"/>
              </p:cNvSpPr>
              <p:nvPr/>
            </p:nvSpPr>
            <p:spPr bwMode="auto">
              <a:xfrm>
                <a:off x="4164908" y="3366374"/>
                <a:ext cx="696024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en-US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alt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>
          <p:sp>
            <p:nvSpPr>
              <p:cNvPr id="14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4908" y="3366374"/>
                <a:ext cx="69602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83" t="-65" r="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ine 9"/>
          <p:cNvSpPr>
            <a:spLocks noChangeShapeType="1"/>
          </p:cNvSpPr>
          <p:nvPr/>
        </p:nvSpPr>
        <p:spPr bwMode="auto">
          <a:xfrm flipV="1">
            <a:off x="4164908" y="3769835"/>
            <a:ext cx="640080" cy="63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: Rounded Corners 15"/>
              <p:cNvSpPr/>
              <p:nvPr/>
            </p:nvSpPr>
            <p:spPr>
              <a:xfrm>
                <a:off x="3695654" y="3537426"/>
                <a:ext cx="419248" cy="47752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Rectangle: Rounded Corners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654" y="3537426"/>
                <a:ext cx="419248" cy="477520"/>
              </a:xfrm>
              <a:prstGeom prst="roundRect">
                <a:avLst/>
              </a:prstGeom>
              <a:blipFill rotWithShape="1">
                <a:blip r:embed="rId4"/>
                <a:stretch>
                  <a:fillRect l="-3170" t="-2759" r="-3005" b="-2560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5423824" y="4003200"/>
            <a:ext cx="0" cy="1828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对逆同态封闭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9750" y="1166018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证明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 设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</a:t>
                </a:r>
                <a:r>
                  <a:rPr lang="en-AU" altLang="zh-CN" sz="2400" dirty="0"/>
                  <a:t> 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 ∆, </m:t>
                    </m:r>
                    <m:r>
                      <m:rPr>
                        <m:sty m:val="p"/>
                      </m:rPr>
                      <a:rPr lang="el-GR" altLang="zh-CN" sz="2400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sz="24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l-GR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AU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AU" altLang="zh-CN" sz="2400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)=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构造</a:t>
                </a:r>
                <a14:m>
                  <m:oMath xmlns:m="http://schemas.openxmlformats.org/officeDocument/2006/math">
                    <m:r>
                      <a:rPr lang="en-AU" altLang="zh-CN" sz="2400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 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AU" altLang="zh-CN" sz="2400" dirty="0"/>
                  <a:t>:</a:t>
                </a:r>
                <a:endParaRPr lang="en-AU" altLang="zh-CN" sz="2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= (</m:t>
                      </m:r>
                      <m:sSup>
                        <m:sSupPr>
                          <m:ctrlP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altLang="zh-CN" sz="240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l-GR" altLang="zh-CN" sz="2400" dirty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l-GR" altLang="zh-CN" sz="2400" i="0" dirty="0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l-GR" altLang="zh-CN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40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l-GR" altLang="zh-CN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l-GR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AU" sz="2400" b="0" i="1" dirty="0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AU" altLang="zh-C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zh-CN" altLang="en-AU" sz="2400" i="1" dirty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/>
                  <a:t>(1)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/>
                  <a:t>中的状态为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，即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400" dirty="0"/>
                  <a:t>的状态和缓冲中还未被消耗的串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/>
                  <a:t>，即某个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的后缀。</a:t>
                </a:r>
                <a:endParaRPr lang="en-AU" altLang="zh-CN" sz="2400" dirty="0"/>
              </a:p>
              <a:p>
                <a:pPr marL="0" indent="0">
                  <a:buNone/>
                </a:pPr>
                <a:r>
                  <a:rPr lang="en-AU" sz="2400" dirty="0"/>
                  <a:t>(2)</a:t>
                </a:r>
                <a:r>
                  <a:rPr lang="zh-CN" altLang="en-US" sz="240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那么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/>
                  <a:t>定义如下</a:t>
                </a:r>
                <a:r>
                  <a:rPr lang="en-US" altLang="zh-CN" sz="2400" dirty="0"/>
                  <a:t>: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∀[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AU" sz="2400" i="1" dirty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l-GR" sz="2400" i="1" dirty="0" smtClean="0">
                          <a:latin typeface="Cambria Math" panose="02040503050406030204" pitchFamily="18" charset="0"/>
                        </a:rPr>
                        <m:t>] ∈ 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× {</m:t>
                      </m:r>
                      <m:r>
                        <a:rPr lang="zh-CN" altLang="en-AU" sz="2400" i="1" dirty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l-GR" sz="2400" i="1" dirty="0" smtClean="0">
                          <a:latin typeface="Cambria Math" panose="02040503050406030204" pitchFamily="18" charset="0"/>
                        </a:rPr>
                        <m:t>}, ∀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m:rPr>
                          <m:sty m:val="p"/>
                        </m:rPr>
                        <a:rPr lang="el-GR" sz="2400" i="0" dirty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sz="2400" i="1" dirty="0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m:rPr>
                          <m:sty m:val="p"/>
                        </m:rPr>
                        <a:rPr lang="el-GR" sz="2400" i="0" dirty="0" smtClean="0">
                          <a:latin typeface="Cambria Math" panose="02040503050406030204" pitchFamily="18" charset="0"/>
                        </a:rPr>
                        <m:t>Γ</m:t>
                      </m:r>
                    </m:oMath>
                  </m:oMathPara>
                </a14:m>
                <a:endParaRPr lang="en-AU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AU" sz="2400" i="1" dirty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={(</m:t>
                    </m:r>
                    <m:d>
                      <m:dPr>
                        <m:begChr m:val="["/>
                        <m:endChr m:val="]"/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  <m:d>
                          <m:dPr>
                            <m:ctrlP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AU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（把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装载到缓冲中）</a:t>
                </a:r>
                <a:endParaRPr lang="en-AU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sz="2400" dirty="0"/>
                  <a:t>然后，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/>
                  <a:t>模拟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400" dirty="0"/>
                  <a:t>处理存在缓冲区中的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。</a:t>
                </a:r>
                <a:endParaRPr lang="zh-CN" altLang="en-US" sz="2400" dirty="0"/>
              </a:p>
              <a:p>
                <a:pPr marL="0" indent="0">
                  <a:buNone/>
                </a:pP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endParaRPr lang="en-AU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750" y="1166018"/>
                <a:ext cx="8229600" cy="4525963"/>
              </a:xfrm>
              <a:blipFill rotWithShape="1">
                <a:blip r:embed="rId1"/>
                <a:stretch>
                  <a:fillRect t="-3" b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对逆同态封闭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0700" y="139065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AU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 = {(</m:t>
                    </m:r>
                    <m:sSub>
                      <m:sSub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i="1" dirty="0" smtClean="0">
                        <a:latin typeface="Cambria Math" panose="02040503050406030204" pitchFamily="18" charset="0"/>
                      </a:rPr>
                      <m:t>), · · · , (</m:t>
                    </m:r>
                    <m:sSub>
                      <m:sSub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AU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A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AU" i="1" dirty="0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AU" dirty="0"/>
                  <a:t>, </a:t>
                </a:r>
                <a:r>
                  <a:rPr lang="zh-CN" altLang="en-US" dirty="0"/>
                  <a:t>则</a:t>
                </a: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  <m:t>𝑏𝑥</m:t>
                              </m:r>
                              <m:r>
                                <a:rPr lang="en-AU" altLang="zh-CN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AU" b="0" i="1" dirty="0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AU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altLang="zh-CN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AU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AU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AU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AU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AU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altLang="zh-CN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AU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这里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∆ ∪ {</m:t>
                    </m:r>
                    <m:r>
                      <a:rPr lang="zh-CN" altLang="en-AU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en-AU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表示缓冲中的首个符号</a:t>
                </a:r>
                <a:r>
                  <a:rPr lang="en-AU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el-GR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是某个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ℎ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的后缀。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0700" y="1390650"/>
                <a:ext cx="8229600" cy="4525963"/>
              </a:xfrm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 </a:t>
            </a:r>
            <a:r>
              <a:rPr lang="zh-CN" altLang="en-US" dirty="0"/>
              <a:t>对交</a:t>
            </a:r>
            <a:r>
              <a:rPr lang="en-US" altLang="zh-CN" dirty="0"/>
              <a:t>/</a:t>
            </a:r>
            <a:r>
              <a:rPr lang="zh-CN" altLang="en-US" dirty="0"/>
              <a:t>补运算不封闭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87926"/>
                <a:ext cx="8229600" cy="452596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在交运算下不封闭</a:t>
                </a:r>
                <a:endParaRPr lang="en-AU" altLang="zh-CN" dirty="0"/>
              </a:p>
              <a:p>
                <a:r>
                  <a:rPr lang="zh-CN" altLang="en-US" dirty="0"/>
                  <a:t>例如，语言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 {</m:t>
                      </m:r>
                      <m:sSup>
                        <m:sSupPr>
                          <m:ctrlPr>
                            <a:rPr lang="pt-BR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≥ 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≥ 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} 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 {</m:t>
                      </m:r>
                      <m:sSup>
                        <m:sSupPr>
                          <m:ctrlPr>
                            <a:rPr lang="pt-BR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≥ 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≥ 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zh-CN" altLang="en-US" dirty="0"/>
                  <a:t>都是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而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= {</m:t>
                      </m:r>
                      <m:sSup>
                        <m:sSup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≥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zh-CN" altLang="en-US" dirty="0"/>
                  <a:t>不是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在补运算下不封闭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 dirty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pt-BR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AU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AU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AU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AU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pt-B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acc>
                          <m:accPr>
                            <m:chr m:val="̅"/>
                            <m:ctrlPr>
                              <a:rPr lang="en-AU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AU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AU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acc>
                  </m:oMath>
                </a14:m>
                <a:r>
                  <a:rPr lang="en-AU" dirty="0"/>
                  <a:t> </a:t>
                </a:r>
                <a:r>
                  <a:rPr lang="zh-CN" altLang="en-US" dirty="0"/>
                  <a:t>（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在并运算下封闭，交运算下不封闭）。</a:t>
                </a:r>
                <a:br>
                  <a:rPr lang="pt-BR" dirty="0"/>
                </a:b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87926"/>
                <a:ext cx="8229600" cy="4525963"/>
              </a:xfrm>
              <a:blipFill rotWithShape="1">
                <a:blip r:embed="rId1"/>
                <a:stretch>
                  <a:fillRect t="-207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和正则语言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77850" y="1035050"/>
                <a:ext cx="8229600" cy="4525963"/>
              </a:xfrm>
            </p:spPr>
            <p:txBody>
              <a:bodyPr/>
              <a:lstStyle/>
              <a:p>
                <a:r>
                  <a:rPr lang="zh-CN" altLang="en-US" sz="2400" dirty="0"/>
                  <a:t>定理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若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是</a:t>
                </a:r>
                <a:r>
                  <a:rPr lang="en-A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sz="2400" dirty="0"/>
                  <a:t>且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/>
                  <a:t>是正则语言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则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∩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/>
                  <a:t>是</a:t>
                </a:r>
                <a:r>
                  <a:rPr lang="en-A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r>
                  <a:rPr lang="zh-CN" altLang="en-US" sz="2400" dirty="0"/>
                  <a:t>设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sz="2400" dirty="0"/>
                  <a:t> 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400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且</a:t>
                </a:r>
                <a14:m>
                  <m:oMath xmlns:m="http://schemas.openxmlformats.org/officeDocument/2006/math">
                    <m:r>
                      <a:rPr lang="en-AU" altLang="zh-CN" sz="2400" b="1" i="0" dirty="0" smtClean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AU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设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</a:t>
                </a:r>
                <a:r>
                  <a:rPr lang="en-AU" altLang="zh-CN" sz="2400" dirty="0"/>
                  <a:t> </a:t>
                </a:r>
                <a14:m>
                  <m:oMath xmlns:m="http://schemas.openxmlformats.org/officeDocument/2006/math"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400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且</a:t>
                </a:r>
                <a14:m>
                  <m:oMath xmlns:m="http://schemas.openxmlformats.org/officeDocument/2006/math">
                    <m:r>
                      <a:rPr lang="en-AU" altLang="zh-CN" sz="2400" b="1" i="0" dirty="0" smtClean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AU" altLang="zh-CN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∩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/>
                  <a:t>表示同时被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400" dirty="0"/>
                  <a:t>接受的语言，即从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400" dirty="0"/>
                  <a:t>的开始状态经过字符串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400" dirty="0"/>
                  <a:t>到终止状态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altLang="zh-CN" sz="2400" dirty="0"/>
                  <a:t>,</a:t>
                </a:r>
                <a:r>
                  <a:rPr lang="zh-CN" altLang="en-US" sz="2400" dirty="0"/>
                  <a:t>且从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400" dirty="0"/>
                  <a:t>的开始状态经过字符串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400" dirty="0"/>
                  <a:t>到终止状态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7850" y="1035050"/>
                <a:ext cx="8229600" cy="4525963"/>
              </a:xfrm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141" y="3451623"/>
            <a:ext cx="4746950" cy="295352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和正则语言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187926"/>
                <a:ext cx="8229600" cy="4525963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sz="2800" dirty="0"/>
                  <a:t>设</a:t>
                </a:r>
                <a:r>
                  <a:rPr lang="en-AU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sz="2800" dirty="0"/>
                  <a:t> 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800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且</a:t>
                </a:r>
                <a14:m>
                  <m:oMath xmlns:m="http://schemas.openxmlformats.org/officeDocument/2006/math">
                    <m:r>
                      <a:rPr lang="en-AU" altLang="zh-CN" sz="2800" b="1" i="0" dirty="0" smtClean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AU" sz="2800" dirty="0"/>
              </a:p>
              <a:p>
                <a:pPr marL="0" indent="0">
                  <a:buNone/>
                </a:pPr>
                <a:r>
                  <a:rPr lang="zh-CN" altLang="en-US" sz="2800" dirty="0"/>
                  <a:t>设</a:t>
                </a:r>
                <a:r>
                  <a:rPr lang="en-AU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</a:t>
                </a:r>
                <a:r>
                  <a:rPr lang="en-AU" altLang="zh-CN" sz="2800" dirty="0"/>
                  <a:t> </a:t>
                </a:r>
                <a14:m>
                  <m:oMath xmlns:m="http://schemas.openxmlformats.org/officeDocument/2006/math"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800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且</a:t>
                </a:r>
                <a14:m>
                  <m:oMath xmlns:m="http://schemas.openxmlformats.org/officeDocument/2006/math">
                    <m:r>
                      <a:rPr lang="en-AU" altLang="zh-CN" sz="2800" b="1" i="0" dirty="0" smtClean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AU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∩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800" dirty="0"/>
                  <a:t>的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可以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构造如下：</a:t>
                </a:r>
                <a:endParaRPr lang="en-AU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800" dirty="0"/>
                  <a:t>构造</a:t>
                </a:r>
                <a:r>
                  <a:rPr lang="en-AU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,[</m:t>
                    </m:r>
                    <m:sSub>
                      <m:sSubPr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],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800" dirty="0"/>
              </a:p>
              <a:p>
                <a:pPr marL="0" indent="0">
                  <a:buNone/>
                </a:pPr>
                <a:r>
                  <a:rPr lang="zh-CN" altLang="en-US" sz="2800" dirty="0"/>
                  <a:t>其中</a:t>
                </a:r>
                <a14:m>
                  <m:oMath xmlns:m="http://schemas.openxmlformats.org/officeDocument/2006/math">
                    <m:r>
                      <a:rPr lang="zh-CN" altLang="en-AU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sz="2800" dirty="0"/>
                  <a:t>为</a:t>
                </a:r>
                <a:r>
                  <a:rPr lang="en-AU" altLang="zh-CN" sz="2800" dirty="0"/>
                  <a:t>:</a:t>
                </a:r>
                <a:endParaRPr lang="en-AU" altLang="zh-CN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CN" altLang="en-AU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{(</m:t>
                    </m:r>
                    <m:d>
                      <m:dPr>
                        <m:begChr m:val="["/>
                        <m:endChr m:val="]"/>
                        <m:ctrlPr>
                          <a:rPr lang="en-AU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AU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)|(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zh-CN" altLang="en-US" sz="2400" dirty="0"/>
                  <a:t>，若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CN" altLang="en-AU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pPr marL="0" indent="0">
                  <a:buNone/>
                </a:pPr>
                <a:endParaRPr lang="en-AU" altLang="zh-CN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CN" altLang="en-AU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AU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AU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zh-CN" alt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)∧(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)}}</m:t>
                    </m:r>
                  </m:oMath>
                </a14:m>
                <a:r>
                  <a:rPr lang="zh-CN" altLang="en-US" sz="2400" dirty="0"/>
                  <a:t>，若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zh-CN" alt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pPr marL="0" indent="0">
                  <a:buNone/>
                </a:pPr>
                <a:endParaRPr lang="en-AU" altLang="zh-CN" sz="280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187926"/>
                <a:ext cx="8229600" cy="4525963"/>
              </a:xfrm>
              <a:blipFill rotWithShape="1">
                <a:blip r:embed="rId1"/>
                <a:stretch>
                  <a:fillRect t="-11" b="-67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封闭性的应用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77850" y="1270000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证明语言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不是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AU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zh-CN" altLang="en-US" dirty="0"/>
                  <a:t>表示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中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的个数。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AU" altLang="zh-CN" dirty="0"/>
                  <a:t>(1)</a:t>
                </a:r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是正则语言</a:t>
                </a:r>
                <a:r>
                  <a:rPr lang="en-US" altLang="zh-CN" dirty="0"/>
                  <a:t>,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(2)</a:t>
                </a:r>
                <a:r>
                  <a:rPr lang="zh-CN" altLang="en-US" dirty="0"/>
                  <a:t>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∩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不是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AU" altLang="zh-CN" dirty="0"/>
                  <a:t>(3)</a:t>
                </a:r>
                <a:r>
                  <a:rPr lang="zh-CN" altLang="en-US" dirty="0"/>
                  <a:t>由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与正则语言的交还是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所以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不可能是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7850" y="1270000"/>
                <a:ext cx="8229600" cy="4525963"/>
              </a:xfrm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上下文无关语言的泵引理</a:t>
            </a:r>
            <a:endParaRPr lang="en-AU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上下文无关语言的封闭性</a:t>
            </a:r>
            <a:endParaRPr lang="en-AU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/>
              <a:t>上下文无关语言的判定性质</a:t>
            </a:r>
            <a:endParaRPr lang="en-AU" altLang="zh-CN" dirty="0"/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乔姆斯基文法体系</a:t>
            </a:r>
            <a:endParaRPr lang="en-AU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可判定的</a:t>
            </a:r>
            <a:r>
              <a:rPr lang="en-A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问题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空性</a:t>
                </a:r>
                <a:r>
                  <a:rPr lang="en-US" altLang="zh-CN" dirty="0"/>
                  <a:t>: </a:t>
                </a:r>
                <a:r>
                  <a:rPr lang="zh-CN" altLang="en-US" dirty="0"/>
                  <a:t>只需判断文法的开始符号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是否为非产生的。</a:t>
                </a:r>
                <a:endParaRPr lang="en-US" altLang="zh-CN" dirty="0"/>
              </a:p>
              <a:p>
                <a:r>
                  <a:rPr lang="zh-CN" altLang="en-US" dirty="0"/>
                  <a:t>成员性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利用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CNF</a:t>
                </a:r>
                <a:r>
                  <a:rPr lang="zh-CN" altLang="en-US" dirty="0"/>
                  <a:t>范式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有</a:t>
                </a:r>
                <a:r>
                  <a:rPr lang="en-US" altLang="zh-CN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CYK</a:t>
                </a:r>
                <a:r>
                  <a:rPr lang="zh-CN" altLang="en-US" dirty="0"/>
                  <a:t>算法检查串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是否属于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。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不可判定的</a:t>
            </a:r>
            <a:r>
              <a:rPr lang="en-AU" altLang="zh-CN" dirty="0"/>
              <a:t>CFL</a:t>
            </a:r>
            <a:r>
              <a:rPr lang="zh-CN" altLang="en-US" dirty="0"/>
              <a:t>问题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6900" y="1166018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判断 </a:t>
                </a:r>
                <a:r>
                  <a:rPr lang="en-US" altLang="zh-CN" dirty="0"/>
                  <a:t>CFG G </a:t>
                </a:r>
                <a:r>
                  <a:rPr lang="zh-CN" altLang="en-US" dirty="0"/>
                  <a:t>是否歧义的</a:t>
                </a:r>
                <a:r>
                  <a:rPr lang="en-US" altLang="zh-CN" dirty="0"/>
                  <a:t>?</a:t>
                </a:r>
                <a:endParaRPr lang="en-US" altLang="zh-CN" dirty="0"/>
              </a:p>
              <a:p>
                <a:r>
                  <a:rPr lang="zh-CN" altLang="en-US" dirty="0"/>
                  <a:t>判断 </a:t>
                </a:r>
                <a:r>
                  <a:rPr lang="en-US" altLang="zh-CN" dirty="0"/>
                  <a:t>CFL </a:t>
                </a:r>
                <a:r>
                  <a:rPr lang="zh-CN" altLang="en-US" dirty="0"/>
                  <a:t>是否固有歧义的</a:t>
                </a:r>
                <a:r>
                  <a:rPr lang="en-US" altLang="zh-CN" dirty="0"/>
                  <a:t>?</a:t>
                </a:r>
                <a:endParaRPr lang="en-US" altLang="zh-CN" dirty="0"/>
              </a:p>
              <a:p>
                <a:r>
                  <a:rPr lang="zh-CN" altLang="en-US" dirty="0"/>
                  <a:t>两个 </a:t>
                </a:r>
                <a:r>
                  <a:rPr lang="en-US" altLang="zh-CN" dirty="0"/>
                  <a:t>CFL </a:t>
                </a:r>
                <a:r>
                  <a:rPr lang="zh-CN" altLang="en-US" dirty="0"/>
                  <a:t>的交是否为空</a:t>
                </a:r>
                <a:r>
                  <a:rPr lang="en-US" altLang="zh-CN" dirty="0"/>
                  <a:t>?</a:t>
                </a:r>
                <a:endParaRPr lang="en-US" altLang="zh-CN" dirty="0"/>
              </a:p>
              <a:p>
                <a:r>
                  <a:rPr lang="zh-CN" altLang="en-US" dirty="0"/>
                  <a:t>两个 </a:t>
                </a:r>
                <a:r>
                  <a:rPr lang="en-US" altLang="zh-CN" dirty="0"/>
                  <a:t>CFL </a:t>
                </a:r>
                <a:r>
                  <a:rPr lang="zh-CN" altLang="en-US" dirty="0"/>
                  <a:t>是否相同</a:t>
                </a:r>
                <a:r>
                  <a:rPr lang="en-US" altLang="zh-CN" dirty="0"/>
                  <a:t>?</a:t>
                </a:r>
                <a:endParaRPr lang="en-US" altLang="zh-CN" dirty="0"/>
              </a:p>
              <a:p>
                <a:r>
                  <a:rPr lang="zh-CN" altLang="en-US" dirty="0"/>
                  <a:t>判断 </a:t>
                </a:r>
                <a:r>
                  <a:rPr lang="en-US" altLang="zh-CN" dirty="0"/>
                  <a:t>CFL </a:t>
                </a:r>
                <a:r>
                  <a:rPr lang="zh-CN" altLang="en-US" dirty="0"/>
                  <a:t>的补是否为空</a:t>
                </a:r>
                <a:r>
                  <a:rPr lang="en-US" altLang="zh-CN" dirty="0"/>
                  <a:t>? </a:t>
                </a:r>
                <a:r>
                  <a:rPr lang="zh-CN" altLang="en-US" dirty="0"/>
                  <a:t>（尽管有算法判断 </a:t>
                </a:r>
                <a:r>
                  <a:rPr lang="en-US" altLang="zh-CN" dirty="0"/>
                  <a:t>CFL </a:t>
                </a:r>
                <a:r>
                  <a:rPr lang="zh-CN" altLang="en-US" dirty="0"/>
                  <a:t>是否为空）</a:t>
                </a:r>
                <a:endParaRPr lang="zh-CN" altLang="en-US" dirty="0"/>
              </a:p>
              <a:p>
                <a:r>
                  <a:rPr lang="zh-CN" altLang="en-US" dirty="0"/>
                  <a:t>判断 </a:t>
                </a:r>
                <a:r>
                  <a:rPr lang="en-US" altLang="zh-CN" dirty="0"/>
                  <a:t>CFL </a:t>
                </a:r>
                <a:r>
                  <a:rPr lang="zh-CN" altLang="en-US" dirty="0"/>
                  <a:t>是否等于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?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6900" y="1166018"/>
                <a:ext cx="8229600" cy="4525963"/>
              </a:xfrm>
              <a:blipFill rotWithShape="1">
                <a:blip r:embed="rId1"/>
                <a:stretch>
                  <a:fillRect t="-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乔姆斯基文法体系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695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如果文法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zh-CN" altLang="en-US" dirty="0"/>
                  <a:t>符号串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 ∪ 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i="1" dirty="0" smtClean="0">
                        <a:latin typeface="Cambria Math" panose="02040503050406030204" pitchFamily="18" charset="0"/>
                      </a:rPr>
                      <m:t>𝑉</m:t>
                    </m:r>
                    <m:sSup>
                      <m:sSup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 ∪ 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AU" dirty="0"/>
                  <a:t>,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 ∪ 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AU" dirty="0"/>
                  <a:t>, </a:t>
                </a:r>
                <a:r>
                  <a:rPr lang="zh-CN" altLang="en-US" dirty="0"/>
                  <a:t>产生式都形如</a:t>
                </a:r>
                <a:endParaRPr lang="en-AU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AU" dirty="0"/>
                  <a:t>,</a:t>
                </a:r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即每个产生式的左部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中至少要有一个变元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那么</a:t>
                </a:r>
                <a:r>
                  <a:rPr lang="en-US" altLang="zh-CN" dirty="0"/>
                  <a:t>: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6950"/>
                <a:ext cx="8229600" cy="4525963"/>
              </a:xfrm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85800" y="3429000"/>
                <a:ext cx="8147539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(1)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型文法或短语结构文法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(2)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| ≥ |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型文法或上下文有关文法</a:t>
                </a:r>
                <a:r>
                  <a:rPr lang="en-AU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en-AU" altLang="zh-CN" sz="28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Context-Sensitive Grammar</a:t>
                </a:r>
                <a:r>
                  <a:rPr lang="en-AU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(3)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𝐺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型文法或上下文无关文法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endParaRPr 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(4)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l-GR" sz="28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sz="28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l-GR" sz="28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l-GR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都形如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𝑎𝐵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称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𝐺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</a:t>
                </a: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型文法或正则文法。</a:t>
                </a:r>
                <a:endParaRPr lang="en-AU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429000"/>
                <a:ext cx="8147539" cy="2677656"/>
              </a:xfrm>
              <a:prstGeom prst="rect">
                <a:avLst/>
              </a:prstGeom>
              <a:blipFill rotWithShape="1">
                <a:blip r:embed="rId2"/>
                <a:stretch>
                  <a:fillRect r="6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乔姆斯基文法体系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6765" y="1975814"/>
            <a:ext cx="5755585" cy="396715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3985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的泵引理及其应用：证明不是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的封闭性</a:t>
            </a:r>
            <a:endParaRPr lang="zh-CN" altLang="en-US" dirty="0"/>
          </a:p>
          <a:p>
            <a:pPr lvl="1"/>
            <a:r>
              <a:rPr lang="zh-CN" altLang="en-US" dirty="0"/>
              <a:t>封闭运算：并、乘、闭包、代换、同态映射、逆同态映射</a:t>
            </a:r>
            <a:endParaRPr lang="zh-CN" altLang="en-US" dirty="0"/>
          </a:p>
          <a:p>
            <a:pPr lvl="1"/>
            <a:r>
              <a:rPr lang="zh-CN" altLang="en-US" dirty="0"/>
              <a:t>不封闭运算：交、补</a:t>
            </a:r>
            <a:endParaRPr lang="zh-CN" altLang="en-US" dirty="0"/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的判定性质</a:t>
            </a:r>
            <a:endParaRPr lang="zh-CN" altLang="en-US" dirty="0"/>
          </a:p>
          <a:p>
            <a:pPr lvl="1"/>
            <a:r>
              <a:rPr lang="zh-CN" altLang="en-US" dirty="0"/>
              <a:t>可判定性：空性，成员性</a:t>
            </a:r>
            <a:endParaRPr lang="zh-CN" altLang="en-US" dirty="0"/>
          </a:p>
          <a:p>
            <a:pPr lvl="1"/>
            <a:r>
              <a:rPr lang="zh-CN" altLang="en-US" dirty="0"/>
              <a:t>不可判定性</a:t>
            </a:r>
            <a:endParaRPr lang="zh-CN" altLang="en-US" dirty="0"/>
          </a:p>
          <a:p>
            <a:r>
              <a:rPr lang="zh-CN" altLang="en-US" dirty="0"/>
              <a:t>乔姆斯基文法体系</a:t>
            </a:r>
            <a:endParaRPr lang="zh-CN" altLang="en-US" dirty="0"/>
          </a:p>
          <a:p>
            <a:endParaRPr lang="zh-CN" alt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TYPE" val="ProblemTypeMarker"/>
</p:tagLst>
</file>

<file path=ppt/tags/tag4.xml><?xml version="1.0" encoding="utf-8"?>
<p:tagLst xmlns:p="http://schemas.openxmlformats.org/presentationml/2006/main">
  <p:tag name="RAINPROBLEMTYPE" val="ProblemTypeMarker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" val="MultipleChoice"/>
  <p:tag name="PROBLEMSCORE" val="1.0"/>
</p:tagLst>
</file>

<file path=ppt/tags/tag9.xml><?xml version="1.0" encoding="utf-8"?>
<p:tagLst xmlns:p="http://schemas.openxmlformats.org/presentationml/2006/main">
  <p:tag name="RAINPROBLEM" val="ProblemBody"/>
</p:tagLst>
</file>

<file path=ppt/tags/tag10.xml><?xml version="1.0" encoding="utf-8"?>
<p:tagLst xmlns:p="http://schemas.openxmlformats.org/presentationml/2006/main">
  <p:tag name="RAINPROBLEM" val="ProblemBody"/>
</p:tagLst>
</file>

<file path=ppt/tags/tag11.xml><?xml version="1.0" encoding="utf-8"?>
<p:tagLst xmlns:p="http://schemas.openxmlformats.org/presentationml/2006/main">
  <p:tag name="RAINPROBLEM" val="ProblemItem"/>
</p:tagLst>
</file>

<file path=ppt/tags/tag12.xml><?xml version="1.0" encoding="utf-8"?>
<p:tagLst xmlns:p="http://schemas.openxmlformats.org/presentationml/2006/main">
  <p:tag name="RAINPROBLEM" val="ProblemItem"/>
</p:tagLst>
</file>

<file path=ppt/tags/tag1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5.xml><?xml version="1.0" encoding="utf-8"?>
<p:tagLst xmlns:p="http://schemas.openxmlformats.org/presentationml/2006/main">
  <p:tag name="RAINPROBLEM" val="ProblemSubmit"/>
  <p:tag name="RAINPROBLEMTYPE" val="MultipleChoice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TYPE" val="ProblemTypeMarker"/>
</p:tagLst>
</file>

<file path=ppt/tags/tag19.xml><?xml version="1.0" encoding="utf-8"?>
<p:tagLst xmlns:p="http://schemas.openxmlformats.org/presentationml/2006/main">
  <p:tag name="RAINPROBLEMTYPE" val="ProblemTypeMarker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" val="ProblemSetting"/>
  <p:tag name="RAINPROBLEMTYPE" val="MultipleChoice"/>
</p:tagLst>
</file>

<file path=ppt/tags/tag22.xml><?xml version="1.0" encoding="utf-8"?>
<p:tagLst xmlns:p="http://schemas.openxmlformats.org/presentationml/2006/main">
  <p:tag name="RAINPROBLEM" val="MultipleChoice"/>
  <p:tag name="PROBLEMSCORE" val="1.0"/>
</p:tagLst>
</file>

<file path=ppt/tags/tag23.xml><?xml version="1.0" encoding="utf-8"?>
<p:tagLst xmlns:p="http://schemas.openxmlformats.org/presentationml/2006/main">
  <p:tag name="RAINPROBLEM" val="ProblemBody"/>
</p:tagLst>
</file>

<file path=ppt/tags/tag24.xml><?xml version="1.0" encoding="utf-8"?>
<p:tagLst xmlns:p="http://schemas.openxmlformats.org/presentationml/2006/main">
  <p:tag name="RAINPROBLEM" val="ProblemBody"/>
</p:tagLst>
</file>

<file path=ppt/tags/tag25.xml><?xml version="1.0" encoding="utf-8"?>
<p:tagLst xmlns:p="http://schemas.openxmlformats.org/presentationml/2006/main">
  <p:tag name="RAINPROBLEMTYPE" val="ProblemTypeMarker"/>
</p:tagLst>
</file>

<file path=ppt/tags/tag26.xml><?xml version="1.0" encoding="utf-8"?>
<p:tagLst xmlns:p="http://schemas.openxmlformats.org/presentationml/2006/main">
  <p:tag name="RAINPROBLEMTYPE" val="ProblemTypeMarker"/>
</p:tagLst>
</file>

<file path=ppt/tags/tag27.xml><?xml version="1.0" encoding="utf-8"?>
<p:tagLst xmlns:p="http://schemas.openxmlformats.org/presentationml/2006/main">
  <p:tag name="RAINPROBLEMTYPE" val="ProblemTypeMarker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" val="MultipleChoice"/>
  <p:tag name="PROBLEMSCORE" val="1.0"/>
</p:tagLst>
</file>

<file path=ppt/tags/tag31.xml><?xml version="1.0" encoding="utf-8"?>
<p:tagLst xmlns:p="http://schemas.openxmlformats.org/presentationml/2006/main">
  <p:tag name="RAINPROBLEM" val="ProblemBody"/>
</p:tagLst>
</file>

<file path=ppt/tags/tag32.xml><?xml version="1.0" encoding="utf-8"?>
<p:tagLst xmlns:p="http://schemas.openxmlformats.org/presentationml/2006/main">
  <p:tag name="RAINPROBLEM" val="ProblemBody"/>
</p:tagLst>
</file>

<file path=ppt/tags/tag33.xml><?xml version="1.0" encoding="utf-8"?>
<p:tagLst xmlns:p="http://schemas.openxmlformats.org/presentationml/2006/main">
  <p:tag name="RAINPROBLEM" val="ProblemItem"/>
</p:tagLst>
</file>

<file path=ppt/tags/tag34.xml><?xml version="1.0" encoding="utf-8"?>
<p:tagLst xmlns:p="http://schemas.openxmlformats.org/presentationml/2006/main">
  <p:tag name="RAINPROBLEM" val="ProblemItem"/>
</p:tagLst>
</file>

<file path=ppt/tags/tag3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7.xml><?xml version="1.0" encoding="utf-8"?>
<p:tagLst xmlns:p="http://schemas.openxmlformats.org/presentationml/2006/main">
  <p:tag name="RAINPROBLEM" val="ProblemSubmit"/>
  <p:tag name="RAINPROBLEMTYPE" val="MultipleChoice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TYPE" val="ProblemTypeMarker"/>
</p:tagLst>
</file>

<file path=ppt/tags/tag43.xml><?xml version="1.0" encoding="utf-8"?>
<p:tagLst xmlns:p="http://schemas.openxmlformats.org/presentationml/2006/main">
  <p:tag name="RAINPROBLEM" val="ProblemSetting"/>
  <p:tag name="RAINPROBLEMTYPE" val="MultipleChoice"/>
</p:tagLst>
</file>

<file path=ppt/tags/tag44.xml><?xml version="1.0" encoding="utf-8"?>
<p:tagLst xmlns:p="http://schemas.openxmlformats.org/presentationml/2006/main">
  <p:tag name="RAINPROBLEM" val="MultipleChoice"/>
  <p:tag name="PROBLEMSCORE" val="1.0"/>
</p:tagLst>
</file>

<file path=ppt/tags/tag45.xml><?xml version="1.0" encoding="utf-8"?>
<p:tagLst xmlns:p="http://schemas.openxmlformats.org/presentationml/2006/main">
  <p:tag name="RAINPROBLEM" val="ProblemBody"/>
</p:tagLst>
</file>

<file path=ppt/tags/tag46.xml><?xml version="1.0" encoding="utf-8"?>
<p:tagLst xmlns:p="http://schemas.openxmlformats.org/presentationml/2006/main">
  <p:tag name="RAINPROBLEM" val="ProblemBody"/>
</p:tagLst>
</file>

<file path=ppt/tags/tag47.xml><?xml version="1.0" encoding="utf-8"?>
<p:tagLst xmlns:p="http://schemas.openxmlformats.org/presentationml/2006/main">
  <p:tag name="RAINPROBLEM" val="ProblemSubmit"/>
  <p:tag name="RAINPROBLEMTYPE" val="ShortAnswer"/>
</p:tagLst>
</file>

<file path=ppt/tags/tag48.xml><?xml version="1.0" encoding="utf-8"?>
<p:tagLst xmlns:p="http://schemas.openxmlformats.org/presentationml/2006/main">
  <p:tag name="PRODUCTVERSIONTIP" val="PRODUCTVERSIONTIP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TYPE" val="ProblemTypeMarker"/>
</p:tagLst>
</file>

<file path=ppt/tags/tag52.xml><?xml version="1.0" encoding="utf-8"?>
<p:tagLst xmlns:p="http://schemas.openxmlformats.org/presentationml/2006/main">
  <p:tag name="RAINPROBLEMTYPE" val="ProblemTypeMarker"/>
</p:tagLst>
</file>

<file path=ppt/tags/tag53.xml><?xml version="1.0" encoding="utf-8"?>
<p:tagLst xmlns:p="http://schemas.openxmlformats.org/presentationml/2006/main">
  <p:tag name="RAINPROBLEMTYPE" val="ProblemTypeMarker"/>
</p:tagLst>
</file>

<file path=ppt/tags/tag54.xml><?xml version="1.0" encoding="utf-8"?>
<p:tagLst xmlns:p="http://schemas.openxmlformats.org/presentationml/2006/main">
  <p:tag name="RAINPROBLEM" val="ProblemSetting"/>
  <p:tag name="RAINPROBLEMTYPE" val="ShortAnswer"/>
</p:tagLst>
</file>

<file path=ppt/tags/tag55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56.xml><?xml version="1.0" encoding="utf-8"?>
<p:tagLst xmlns:p="http://schemas.openxmlformats.org/presentationml/2006/main">
  <p:tag name="KSO_WPP_MARK_KEY" val="b207789c-532e-4d89-a2a2-cbdcce48958a"/>
  <p:tag name="COMMONDATA" val="eyJoZGlkIjoiYTc2ZGZiNzZiNDVlOGViOWVmM2JhOTY0NGJkNjUyYzg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9047</Words>
  <Application>WPS 演示</Application>
  <PresentationFormat>全屏显示(4:3)</PresentationFormat>
  <Paragraphs>556</Paragraphs>
  <Slides>43</Slides>
  <Notes>26</Notes>
  <HiddenSlides>1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60" baseType="lpstr">
      <vt:lpstr>Arial</vt:lpstr>
      <vt:lpstr>宋体</vt:lpstr>
      <vt:lpstr>Wingdings</vt:lpstr>
      <vt:lpstr>黑体</vt:lpstr>
      <vt:lpstr>楷体</vt:lpstr>
      <vt:lpstr>Times New Roman</vt:lpstr>
      <vt:lpstr>微软雅黑</vt:lpstr>
      <vt:lpstr>Cambria Math</vt:lpstr>
      <vt:lpstr>Calibri</vt:lpstr>
      <vt:lpstr>等线</vt:lpstr>
      <vt:lpstr>Arial Unicode MS</vt:lpstr>
      <vt:lpstr>T3</vt:lpstr>
      <vt:lpstr>Segoe Print</vt:lpstr>
      <vt:lpstr>T11</vt:lpstr>
      <vt:lpstr>T19</vt:lpstr>
      <vt:lpstr>Office 主题</vt:lpstr>
      <vt:lpstr>1_Office 主题</vt:lpstr>
      <vt:lpstr>上下文无关文法</vt:lpstr>
      <vt:lpstr>主要内容</vt:lpstr>
      <vt:lpstr>主要内容</vt:lpstr>
      <vt:lpstr>正则语言的泵引理</vt:lpstr>
      <vt:lpstr>上下文无关语言的泵引理</vt:lpstr>
      <vt:lpstr>泵引理证明</vt:lpstr>
      <vt:lpstr>泵引理证明</vt:lpstr>
      <vt:lpstr>泵引理证明</vt:lpstr>
      <vt:lpstr>PowerPoint 演示文稿</vt:lpstr>
      <vt:lpstr>PowerPoint 演示文稿</vt:lpstr>
      <vt:lpstr>泵引理的应用</vt:lpstr>
      <vt:lpstr>PowerPoint 演示文稿</vt:lpstr>
      <vt:lpstr>PowerPoint 演示文稿</vt:lpstr>
      <vt:lpstr>泵引理的应用</vt:lpstr>
      <vt:lpstr>泵引理的应用</vt:lpstr>
      <vt:lpstr>主要内容</vt:lpstr>
      <vt:lpstr>代换的封闭性</vt:lpstr>
      <vt:lpstr>代换的封闭性</vt:lpstr>
      <vt:lpstr>代换的封闭性</vt:lpstr>
      <vt:lpstr>代换的封闭性</vt:lpstr>
      <vt:lpstr>PowerPoint 演示文稿</vt:lpstr>
      <vt:lpstr>代换的封闭性</vt:lpstr>
      <vt:lpstr>上下文无关文法（课程回顾）</vt:lpstr>
      <vt:lpstr>代换的封闭性</vt:lpstr>
      <vt:lpstr>代换的封闭性</vt:lpstr>
      <vt:lpstr>CFL对并/连接/闭包/同态封闭</vt:lpstr>
      <vt:lpstr>CFL对并/连接/闭包/同态封闭</vt:lpstr>
      <vt:lpstr>CFL对并/连接/闭包/同态封闭</vt:lpstr>
      <vt:lpstr>CFL对并/连接/闭包/同态封闭</vt:lpstr>
      <vt:lpstr>CFL对反转封闭</vt:lpstr>
      <vt:lpstr>CFL对逆同态封闭</vt:lpstr>
      <vt:lpstr>CFL对逆同态封闭</vt:lpstr>
      <vt:lpstr>CFL对逆同态封闭</vt:lpstr>
      <vt:lpstr>CFL 对交/补运算不封闭</vt:lpstr>
      <vt:lpstr>CFL和正则语言</vt:lpstr>
      <vt:lpstr>CFL和正则语言</vt:lpstr>
      <vt:lpstr>封闭性的应用</vt:lpstr>
      <vt:lpstr>主要内容</vt:lpstr>
      <vt:lpstr>可判定的CFL问题</vt:lpstr>
      <vt:lpstr>不可判定的CFL问题</vt:lpstr>
      <vt:lpstr>乔姆斯基文法体系</vt:lpstr>
      <vt:lpstr>乔姆斯基文法体系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Yifeng</dc:creator>
  <cp:lastModifiedBy>汤步洲-哈工大（深圳）</cp:lastModifiedBy>
  <cp:revision>531</cp:revision>
  <dcterms:created xsi:type="dcterms:W3CDTF">2021-06-01T10:46:00Z</dcterms:created>
  <dcterms:modified xsi:type="dcterms:W3CDTF">2023-03-29T15:32:06Z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DDF30BBAAF6D4A05871AB28FCE3337FA</vt:lpwstr>
  </property>
  <property fmtid="{D5CDD505-2E9C-101B-9397-08002B2CF9AE}" pid="3" name="KSOProductBuildVer">
    <vt:lpwstr>2052-11.1.0.13703</vt:lpwstr>
  </property>
</Properties>
</file>