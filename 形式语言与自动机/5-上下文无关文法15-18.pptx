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7"/>
  </p:notesMasterIdLst>
  <p:sldIdLst>
    <p:sldId id="496" r:id="rId4"/>
    <p:sldId id="408" r:id="rId5"/>
    <p:sldId id="257" r:id="rId6"/>
    <p:sldId id="407" r:id="rId8"/>
    <p:sldId id="343" r:id="rId9"/>
    <p:sldId id="300" r:id="rId10"/>
    <p:sldId id="259" r:id="rId11"/>
    <p:sldId id="261" r:id="rId12"/>
    <p:sldId id="499" r:id="rId13"/>
    <p:sldId id="591" r:id="rId14"/>
    <p:sldId id="262" r:id="rId15"/>
    <p:sldId id="311" r:id="rId16"/>
    <p:sldId id="345" r:id="rId17"/>
    <p:sldId id="270" r:id="rId18"/>
    <p:sldId id="263" r:id="rId19"/>
    <p:sldId id="302" r:id="rId20"/>
    <p:sldId id="301" r:id="rId21"/>
    <p:sldId id="264" r:id="rId22"/>
    <p:sldId id="271" r:id="rId23"/>
    <p:sldId id="409" r:id="rId24"/>
    <p:sldId id="346" r:id="rId25"/>
    <p:sldId id="498" r:id="rId26"/>
    <p:sldId id="592" r:id="rId27"/>
    <p:sldId id="497" r:id="rId28"/>
    <p:sldId id="348" r:id="rId29"/>
    <p:sldId id="266" r:id="rId30"/>
    <p:sldId id="268" r:id="rId31"/>
    <p:sldId id="347" r:id="rId32"/>
    <p:sldId id="267" r:id="rId33"/>
    <p:sldId id="305" r:id="rId34"/>
    <p:sldId id="304" r:id="rId35"/>
    <p:sldId id="306" r:id="rId36"/>
    <p:sldId id="307" r:id="rId37"/>
    <p:sldId id="489" r:id="rId38"/>
    <p:sldId id="490" r:id="rId39"/>
    <p:sldId id="273" r:id="rId40"/>
    <p:sldId id="349" r:id="rId41"/>
    <p:sldId id="274" r:id="rId42"/>
    <p:sldId id="276" r:id="rId43"/>
    <p:sldId id="277" r:id="rId44"/>
    <p:sldId id="350" r:id="rId45"/>
    <p:sldId id="278" r:id="rId46"/>
    <p:sldId id="279" r:id="rId47"/>
    <p:sldId id="280" r:id="rId48"/>
    <p:sldId id="281" r:id="rId49"/>
    <p:sldId id="283" r:id="rId50"/>
    <p:sldId id="286" r:id="rId51"/>
    <p:sldId id="284" r:id="rId52"/>
    <p:sldId id="287" r:id="rId53"/>
    <p:sldId id="288" r:id="rId54"/>
    <p:sldId id="289" r:id="rId55"/>
    <p:sldId id="290" r:id="rId56"/>
    <p:sldId id="291" r:id="rId57"/>
    <p:sldId id="292" r:id="rId58"/>
    <p:sldId id="310" r:id="rId59"/>
    <p:sldId id="293" r:id="rId60"/>
    <p:sldId id="295" r:id="rId61"/>
    <p:sldId id="296" r:id="rId62"/>
    <p:sldId id="297" r:id="rId63"/>
    <p:sldId id="298" r:id="rId64"/>
    <p:sldId id="299" r:id="rId65"/>
    <p:sldId id="500" r:id="rId66"/>
    <p:sldId id="314" r:id="rId67"/>
    <p:sldId id="315" r:id="rId68"/>
    <p:sldId id="316" r:id="rId69"/>
    <p:sldId id="317" r:id="rId70"/>
    <p:sldId id="318" r:id="rId71"/>
    <p:sldId id="319" r:id="rId72"/>
    <p:sldId id="329" r:id="rId73"/>
    <p:sldId id="501" r:id="rId74"/>
    <p:sldId id="351" r:id="rId75"/>
    <p:sldId id="491" r:id="rId76"/>
    <p:sldId id="331" r:id="rId77"/>
    <p:sldId id="492" r:id="rId78"/>
    <p:sldId id="320" r:id="rId79"/>
    <p:sldId id="321" r:id="rId80"/>
    <p:sldId id="322" r:id="rId81"/>
    <p:sldId id="502" r:id="rId82"/>
    <p:sldId id="323" r:id="rId83"/>
    <p:sldId id="324" r:id="rId84"/>
    <p:sldId id="332" r:id="rId85"/>
    <p:sldId id="503" r:id="rId86"/>
    <p:sldId id="325" r:id="rId87"/>
    <p:sldId id="333" r:id="rId88"/>
    <p:sldId id="353" r:id="rId89"/>
    <p:sldId id="327" r:id="rId90"/>
    <p:sldId id="334" r:id="rId91"/>
    <p:sldId id="335" r:id="rId92"/>
    <p:sldId id="336" r:id="rId93"/>
    <p:sldId id="328" r:id="rId94"/>
    <p:sldId id="493" r:id="rId95"/>
    <p:sldId id="495" r:id="rId96"/>
    <p:sldId id="494" r:id="rId97"/>
    <p:sldId id="354" r:id="rId98"/>
    <p:sldId id="337" r:id="rId99"/>
    <p:sldId id="504" r:id="rId100"/>
    <p:sldId id="339" r:id="rId101"/>
  </p:sldIdLst>
  <p:sldSz cx="9144000" cy="6858000" type="screen4x3"/>
  <p:notesSz cx="6858000" cy="9144000"/>
  <p:custDataLst>
    <p:tags r:id="rId10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7" autoAdjust="0"/>
    <p:restoredTop sz="93826" autoAdjust="0"/>
  </p:normalViewPr>
  <p:slideViewPr>
    <p:cSldViewPr snapToGrid="0">
      <p:cViewPr varScale="1">
        <p:scale>
          <a:sx n="106" d="100"/>
          <a:sy n="106" d="100"/>
        </p:scale>
        <p:origin x="699"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notesMaster" Target="notesMasters/notesMaster1.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5" Type="http://schemas.openxmlformats.org/officeDocument/2006/relationships/tags" Target="tags/tag75.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3DEA-197C-4542-87C0-981212C4EFB2}" type="datetimeFigureOut">
              <a:rPr lang="en-AU" smtClean="0"/>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7A903-3A42-486D-A3BC-854A05CABB63}" type="slidenum">
              <a:rPr lang="en-AU" smtClean="0"/>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首先我们将介绍什么是上下文无关法，给出它的形式定义，以及一些概念。</a:t>
            </a:r>
            <a:endParaRPr lang="en-AU" altLang="zh-CN" dirty="0"/>
          </a:p>
          <a:p>
            <a:endParaRPr lang="en-AU" dirty="0"/>
          </a:p>
          <a:p>
            <a:r>
              <a:rPr lang="zh-CN" altLang="en-US" dirty="0"/>
              <a:t>比如。归约和派生，最左派生和最右派生。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首先我们将介绍什么是上下文无关法，给出它的形式定义，以及一些概念。</a:t>
            </a:r>
            <a:endParaRPr lang="en-AU" altLang="zh-CN" dirty="0"/>
          </a:p>
          <a:p>
            <a:endParaRPr lang="en-AU" dirty="0"/>
          </a:p>
          <a:p>
            <a:r>
              <a:rPr lang="zh-CN" altLang="en-US" dirty="0"/>
              <a:t>比如。归约和派生，最左派生和最右派生。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比如，我们使用</a:t>
            </a:r>
            <a:r>
              <a:rPr lang="en-US" altLang="zh-CN" dirty="0"/>
              <a:t>sentence</a:t>
            </a:r>
            <a:r>
              <a:rPr lang="zh-CN" altLang="en-US" dirty="0"/>
              <a:t>这个语法范畴，利用它的定义去替换</a:t>
            </a:r>
            <a:r>
              <a:rPr lang="en-AU" altLang="zh-CN" dirty="0"/>
              <a:t>sentence</a:t>
            </a:r>
            <a:r>
              <a:rPr lang="zh-CN" altLang="en-US" dirty="0"/>
              <a:t>。</a:t>
            </a:r>
            <a:endParaRPr lang="en-AU" altLang="zh-CN" dirty="0"/>
          </a:p>
          <a:p>
            <a:endParaRPr lang="en-AU" altLang="zh-CN" dirty="0"/>
          </a:p>
          <a:p>
            <a:r>
              <a:rPr lang="zh-CN" altLang="en-US" dirty="0"/>
              <a:t>那么就变成了，</a:t>
            </a:r>
            <a:endParaRPr lang="en-AU" altLang="zh-CN" dirty="0"/>
          </a:p>
          <a:p>
            <a:endParaRPr lang="en-AU" altLang="zh-CN" dirty="0"/>
          </a:p>
          <a:p>
            <a:endParaRPr lang="en-AU" altLang="zh-CN" dirty="0"/>
          </a:p>
          <a:p>
            <a:r>
              <a:rPr lang="zh-CN" altLang="en-US" dirty="0"/>
              <a:t>用</a:t>
            </a:r>
            <a:r>
              <a:rPr lang="en-US" altLang="zh-CN" dirty="0"/>
              <a:t>article noun</a:t>
            </a:r>
            <a:r>
              <a:rPr lang="zh-CN" altLang="en-US" dirty="0"/>
              <a:t>去代替名词短语，动词</a:t>
            </a:r>
            <a:r>
              <a:rPr lang="en-AU" altLang="zh-CN" dirty="0"/>
              <a:t>+</a:t>
            </a:r>
            <a:r>
              <a:rPr lang="zh-CN" altLang="en-US" dirty="0"/>
              <a:t>名词短语去代替动词短语。</a:t>
            </a:r>
            <a:endParaRPr lang="en-AU" altLang="zh-CN" dirty="0"/>
          </a:p>
          <a:p>
            <a:endParaRPr lang="en-AU" dirty="0"/>
          </a:p>
          <a:p>
            <a:r>
              <a:rPr lang="zh-CN" altLang="en-US" dirty="0"/>
              <a:t>一层一层代替，我们就可以得到这样的句子。</a:t>
            </a:r>
            <a:endParaRPr lang="en-AU" altLang="zh-CN" dirty="0"/>
          </a:p>
          <a:p>
            <a:endParaRPr lang="en-AU" altLang="zh-CN" dirty="0"/>
          </a:p>
          <a:p>
            <a:endParaRPr lang="en-AU" altLang="zh-CN" dirty="0"/>
          </a:p>
          <a:p>
            <a:r>
              <a:rPr lang="zh-CN" altLang="en-US" dirty="0"/>
              <a:t>最后我们用冠词，名词，动词等这些范畴的具体定义去进行替换，就得到了一个具体的句子。</a:t>
            </a:r>
            <a:endParaRPr lang="en-AU" altLang="zh-CN" dirty="0"/>
          </a:p>
          <a:p>
            <a:endParaRPr lang="en-AU" altLang="zh-CN" dirty="0"/>
          </a:p>
          <a:p>
            <a:endParaRPr lang="en-AU" dirty="0"/>
          </a:p>
          <a:p>
            <a:r>
              <a:rPr lang="zh-CN" altLang="en-US" dirty="0"/>
              <a:t>这种从</a:t>
            </a:r>
            <a:r>
              <a:rPr lang="en-AU" altLang="zh-CN" dirty="0"/>
              <a:t>sentence</a:t>
            </a:r>
            <a:r>
              <a:rPr lang="zh-CN" altLang="en-US" dirty="0"/>
              <a:t>到句子的这样的一个过程，我们使用到的工具，就是文法。</a:t>
            </a:r>
            <a:endParaRPr lang="en-AU" altLang="zh-CN" dirty="0"/>
          </a:p>
          <a:p>
            <a:endParaRPr lang="en-AU" dirty="0"/>
          </a:p>
          <a:p>
            <a:endParaRPr lang="en-AU" dirty="0"/>
          </a:p>
          <a:p>
            <a:r>
              <a:rPr lang="zh-CN" altLang="en-US" dirty="0"/>
              <a:t>由于自然语言的结构比较复杂，还涉及到语义的成分，与我们形式语言的研究没有什么关系，因此我们后续不再用自然语言作为例子。</a:t>
            </a:r>
            <a:endParaRPr lang="en-AU" altLang="zh-CN" dirty="0"/>
          </a:p>
          <a:p>
            <a:endParaRPr lang="en-AU" dirty="0"/>
          </a:p>
          <a:p>
            <a:r>
              <a:rPr lang="zh-CN" altLang="en-US" dirty="0"/>
              <a:t>而文法这样的一种工具，它所表示的语言有自身的特点。</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r>
              <a:rPr lang="zh-CN" altLang="en-US" dirty="0"/>
              <a:t>接下来我们用回文语言这种在数学上可以进行严格形式化定义的语言，来引出上下文无关文法的形式定义。</a:t>
            </a:r>
            <a:endParaRPr lang="en-AU" dirty="0"/>
          </a:p>
          <a:p>
            <a:endParaRPr lang="en-AU" dirty="0"/>
          </a:p>
          <a:p>
            <a:endParaRPr lang="en-AU" dirty="0"/>
          </a:p>
          <a:p>
            <a:r>
              <a:rPr lang="zh-CN" altLang="en-US" dirty="0"/>
              <a:t>我们可以这样来给出回文和回文语言的定义。</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我们首先来看字母表</a:t>
            </a:r>
            <a:r>
              <a:rPr lang="en-AU" altLang="zh-CN" dirty="0"/>
              <a:t>0,1</a:t>
            </a:r>
            <a:r>
              <a:rPr lang="zh-CN" altLang="en-US" dirty="0"/>
              <a:t>上的回文语言。</a:t>
            </a:r>
            <a:endParaRPr lang="en-AU" altLang="zh-CN" dirty="0"/>
          </a:p>
          <a:p>
            <a:endParaRPr lang="en-AU" altLang="zh-CN" dirty="0"/>
          </a:p>
          <a:p>
            <a:endParaRPr lang="en-AU" altLang="zh-CN" dirty="0"/>
          </a:p>
          <a:p>
            <a:r>
              <a:rPr lang="zh-CN" altLang="en-US" dirty="0"/>
              <a:t>这个语言显然不是正则的，可以通过泵引理去证明。</a:t>
            </a:r>
            <a:endParaRPr lang="en-AU" altLang="zh-CN" dirty="0"/>
          </a:p>
          <a:p>
            <a:endParaRPr lang="en-AU" dirty="0"/>
          </a:p>
          <a:p>
            <a:r>
              <a:rPr lang="zh-CN" altLang="en-US" dirty="0"/>
              <a:t>显然，有穷自动机和正则表达式都无法去表示它。那么，可以通过什么工具去表示它呢？</a:t>
            </a:r>
            <a:endParaRPr lang="en-AU" altLang="zh-CN" dirty="0"/>
          </a:p>
          <a:p>
            <a:endParaRPr lang="en-AU" dirty="0"/>
          </a:p>
          <a:p>
            <a:r>
              <a:rPr lang="zh-CN" altLang="en-US" dirty="0"/>
              <a:t>我们可以分析这个语言的结构，发现，它可以用递归的方式定义。</a:t>
            </a:r>
            <a:endParaRPr lang="en-AU" altLang="zh-CN" dirty="0"/>
          </a:p>
          <a:p>
            <a:endParaRPr lang="en-AU" dirty="0"/>
          </a:p>
          <a:p>
            <a:endParaRPr lang="en-AU" dirty="0"/>
          </a:p>
          <a:p>
            <a:r>
              <a:rPr lang="zh-CN" altLang="en-US" dirty="0"/>
              <a:t>这种递归定义刚好可以使用前面自然语言文法的定义来表示。也就是</a:t>
            </a:r>
            <a:endParaRPr lang="en-AU" dirty="0"/>
          </a:p>
          <a:p>
            <a:endParaRPr lang="en-AU" dirty="0"/>
          </a:p>
          <a:p>
            <a:r>
              <a:rPr lang="zh-CN" altLang="en-US" dirty="0"/>
              <a:t>我们可以将回文语言中的字符串</a:t>
            </a:r>
            <a:r>
              <a:rPr lang="en-AU" altLang="zh-CN" dirty="0"/>
              <a:t>w</a:t>
            </a:r>
            <a:r>
              <a:rPr lang="zh-CN" altLang="en-US" dirty="0"/>
              <a:t>用一个变元</a:t>
            </a:r>
            <a:r>
              <a:rPr lang="en-AU" altLang="zh-CN" dirty="0"/>
              <a:t>A</a:t>
            </a:r>
            <a:r>
              <a:rPr lang="zh-CN" altLang="en-US" dirty="0"/>
              <a:t>表示。那么这个</a:t>
            </a:r>
            <a:r>
              <a:rPr lang="en-US" altLang="zh-CN" dirty="0"/>
              <a:t>A</a:t>
            </a:r>
            <a:r>
              <a:rPr lang="zh-CN" altLang="en-US" dirty="0"/>
              <a:t>相当于前面的</a:t>
            </a:r>
            <a:r>
              <a:rPr lang="en-AU" altLang="zh-CN" dirty="0"/>
              <a:t>sentence</a:t>
            </a:r>
            <a:r>
              <a:rPr lang="zh-CN" altLang="en-US" dirty="0"/>
              <a:t>，它表示所有具有回文结构的字符串。</a:t>
            </a:r>
            <a:endParaRPr lang="en-AU" altLang="zh-CN" dirty="0"/>
          </a:p>
          <a:p>
            <a:endParaRPr lang="en-AU" dirty="0"/>
          </a:p>
          <a:p>
            <a:r>
              <a:rPr lang="zh-CN" altLang="en-US" dirty="0"/>
              <a:t>那么</a:t>
            </a:r>
            <a:r>
              <a:rPr lang="en-US" altLang="zh-CN" dirty="0"/>
              <a:t>A</a:t>
            </a:r>
            <a:r>
              <a:rPr lang="zh-CN" altLang="en-US" dirty="0"/>
              <a:t>可以定义为空串，</a:t>
            </a:r>
            <a:r>
              <a:rPr lang="en-AU" altLang="zh-CN" dirty="0"/>
              <a:t>0</a:t>
            </a:r>
            <a:r>
              <a:rPr lang="zh-CN" altLang="en-US" dirty="0"/>
              <a:t>或者</a:t>
            </a:r>
            <a:r>
              <a:rPr lang="en-AU" altLang="zh-CN" dirty="0"/>
              <a:t>1</a:t>
            </a:r>
            <a:endParaRPr lang="en-AU" altLang="zh-CN" dirty="0"/>
          </a:p>
          <a:p>
            <a:endParaRPr lang="en-AU" dirty="0"/>
          </a:p>
          <a:p>
            <a:r>
              <a:rPr lang="zh-CN" altLang="en-US" dirty="0"/>
              <a:t>如果</a:t>
            </a:r>
            <a:r>
              <a:rPr lang="en-US" altLang="zh-CN" dirty="0"/>
              <a:t>A</a:t>
            </a:r>
            <a:r>
              <a:rPr lang="zh-CN" altLang="en-US" dirty="0"/>
              <a:t>已经是回文了，那么， 它前面都接上一个</a:t>
            </a:r>
            <a:r>
              <a:rPr lang="en-AU" altLang="zh-CN" dirty="0"/>
              <a:t>0</a:t>
            </a:r>
            <a:r>
              <a:rPr lang="zh-CN" altLang="en-US" dirty="0"/>
              <a:t>，还是回文，我们把它定义给</a:t>
            </a:r>
            <a:r>
              <a:rPr lang="en-US" altLang="zh-CN" dirty="0"/>
              <a:t>A</a:t>
            </a:r>
            <a:r>
              <a:rPr lang="zh-CN" altLang="en-US" dirty="0"/>
              <a:t>。</a:t>
            </a:r>
            <a:endParaRPr lang="en-AU" altLang="zh-CN" dirty="0"/>
          </a:p>
          <a:p>
            <a:endParaRPr lang="en-AU" altLang="zh-CN" dirty="0"/>
          </a:p>
          <a:p>
            <a:r>
              <a:rPr lang="zh-CN" altLang="en-US" dirty="0"/>
              <a:t>那么我们用文法，可以表示嵌套定义这样的很强的表示能力。那么它刚好可以表示递归的结构。</a:t>
            </a:r>
            <a:endParaRPr lang="en-AU" altLang="zh-CN" dirty="0"/>
          </a:p>
          <a:p>
            <a:endParaRPr lang="en-AU" altLang="zh-CN" dirty="0"/>
          </a:p>
          <a:p>
            <a:endParaRPr lang="en-AU" altLang="zh-CN" dirty="0"/>
          </a:p>
          <a:p>
            <a:r>
              <a:rPr lang="zh-CN" altLang="en-US" dirty="0"/>
              <a:t>那么文法的使用类似于我们在程序语言中的赋值语句。</a:t>
            </a:r>
            <a:endParaRPr lang="en-AU" altLang="zh-CN" dirty="0"/>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我们首先来看字母表</a:t>
            </a:r>
            <a:r>
              <a:rPr lang="en-AU" altLang="zh-CN" dirty="0"/>
              <a:t>0,1</a:t>
            </a:r>
            <a:r>
              <a:rPr lang="zh-CN" altLang="en-US" dirty="0"/>
              <a:t>上的回文语言。</a:t>
            </a:r>
            <a:endParaRPr lang="en-AU" altLang="zh-CN" dirty="0"/>
          </a:p>
          <a:p>
            <a:endParaRPr lang="en-AU" altLang="zh-CN" dirty="0"/>
          </a:p>
          <a:p>
            <a:endParaRPr lang="en-AU" altLang="zh-CN" dirty="0"/>
          </a:p>
          <a:p>
            <a:r>
              <a:rPr lang="zh-CN" altLang="en-US" dirty="0"/>
              <a:t>这个语言显然不是正则的，可以通过泵引理去证明。</a:t>
            </a:r>
            <a:endParaRPr lang="en-AU" altLang="zh-CN" dirty="0"/>
          </a:p>
          <a:p>
            <a:endParaRPr lang="en-AU" dirty="0"/>
          </a:p>
          <a:p>
            <a:r>
              <a:rPr lang="zh-CN" altLang="en-US" dirty="0"/>
              <a:t>显然，有穷自动机和正则表达式都无法去表示它。那么，可以通过什么工具去表示它呢？</a:t>
            </a:r>
            <a:endParaRPr lang="en-AU" altLang="zh-CN" dirty="0"/>
          </a:p>
          <a:p>
            <a:endParaRPr lang="en-AU" dirty="0"/>
          </a:p>
          <a:p>
            <a:r>
              <a:rPr lang="zh-CN" altLang="en-US" dirty="0"/>
              <a:t>我们可以分析这个语言的结构，发现，它可以用递归的方式定义。</a:t>
            </a:r>
            <a:endParaRPr lang="en-AU" altLang="zh-CN" dirty="0"/>
          </a:p>
          <a:p>
            <a:endParaRPr lang="en-AU" dirty="0"/>
          </a:p>
          <a:p>
            <a:endParaRPr lang="en-AU" dirty="0"/>
          </a:p>
          <a:p>
            <a:r>
              <a:rPr lang="zh-CN" altLang="en-US" dirty="0"/>
              <a:t>这种递归定义刚好可以使用前面自然语言文法的定义来表示。也就是</a:t>
            </a:r>
            <a:endParaRPr lang="en-AU" dirty="0"/>
          </a:p>
          <a:p>
            <a:endParaRPr lang="en-AU" dirty="0"/>
          </a:p>
          <a:p>
            <a:r>
              <a:rPr lang="zh-CN" altLang="en-US" dirty="0"/>
              <a:t>我们可以将回文语言中的字符串</a:t>
            </a:r>
            <a:r>
              <a:rPr lang="en-AU" altLang="zh-CN" dirty="0"/>
              <a:t>w</a:t>
            </a:r>
            <a:r>
              <a:rPr lang="zh-CN" altLang="en-US" dirty="0"/>
              <a:t>用一个变元</a:t>
            </a:r>
            <a:r>
              <a:rPr lang="en-AU" altLang="zh-CN" dirty="0"/>
              <a:t>A</a:t>
            </a:r>
            <a:r>
              <a:rPr lang="zh-CN" altLang="en-US" dirty="0"/>
              <a:t>表示。那么这个</a:t>
            </a:r>
            <a:r>
              <a:rPr lang="en-US" altLang="zh-CN" dirty="0"/>
              <a:t>A</a:t>
            </a:r>
            <a:r>
              <a:rPr lang="zh-CN" altLang="en-US" dirty="0"/>
              <a:t>相当于前面的</a:t>
            </a:r>
            <a:r>
              <a:rPr lang="en-AU" altLang="zh-CN" dirty="0"/>
              <a:t>sentence</a:t>
            </a:r>
            <a:r>
              <a:rPr lang="zh-CN" altLang="en-US" dirty="0"/>
              <a:t>，它表示所有具有回文结构的字符串。</a:t>
            </a:r>
            <a:endParaRPr lang="en-AU" altLang="zh-CN" dirty="0"/>
          </a:p>
          <a:p>
            <a:endParaRPr lang="en-AU" dirty="0"/>
          </a:p>
          <a:p>
            <a:r>
              <a:rPr lang="zh-CN" altLang="en-US" dirty="0"/>
              <a:t>那么</a:t>
            </a:r>
            <a:r>
              <a:rPr lang="en-US" altLang="zh-CN" dirty="0"/>
              <a:t>A</a:t>
            </a:r>
            <a:r>
              <a:rPr lang="zh-CN" altLang="en-US" dirty="0"/>
              <a:t>可以定义为空串，</a:t>
            </a:r>
            <a:r>
              <a:rPr lang="en-AU" altLang="zh-CN" dirty="0"/>
              <a:t>0</a:t>
            </a:r>
            <a:r>
              <a:rPr lang="zh-CN" altLang="en-US" dirty="0"/>
              <a:t>或者</a:t>
            </a:r>
            <a:r>
              <a:rPr lang="en-AU" altLang="zh-CN" dirty="0"/>
              <a:t>1</a:t>
            </a:r>
            <a:endParaRPr lang="en-AU" altLang="zh-CN" dirty="0"/>
          </a:p>
          <a:p>
            <a:endParaRPr lang="en-AU" dirty="0"/>
          </a:p>
          <a:p>
            <a:r>
              <a:rPr lang="zh-CN" altLang="en-US" dirty="0"/>
              <a:t>如果</a:t>
            </a:r>
            <a:r>
              <a:rPr lang="en-US" altLang="zh-CN" dirty="0"/>
              <a:t>A</a:t>
            </a:r>
            <a:r>
              <a:rPr lang="zh-CN" altLang="en-US" dirty="0"/>
              <a:t>已经是回文了，那么， 它前面都接上一个</a:t>
            </a:r>
            <a:r>
              <a:rPr lang="en-AU" altLang="zh-CN" dirty="0"/>
              <a:t>0</a:t>
            </a:r>
            <a:r>
              <a:rPr lang="zh-CN" altLang="en-US" dirty="0"/>
              <a:t>，还是回文，我们把它定义给</a:t>
            </a:r>
            <a:r>
              <a:rPr lang="en-US" altLang="zh-CN" dirty="0"/>
              <a:t>A</a:t>
            </a:r>
            <a:r>
              <a:rPr lang="zh-CN" altLang="en-US" dirty="0"/>
              <a:t>。</a:t>
            </a:r>
            <a:endParaRPr lang="en-AU" altLang="zh-CN" dirty="0"/>
          </a:p>
          <a:p>
            <a:endParaRPr lang="en-AU" altLang="zh-CN" dirty="0"/>
          </a:p>
          <a:p>
            <a:r>
              <a:rPr lang="zh-CN" altLang="en-US" dirty="0"/>
              <a:t>那么我们用文法，可以表示嵌套定义这样的很强的表示能力。那么它刚好可以表示递归的结构。</a:t>
            </a:r>
            <a:endParaRPr lang="en-AU" altLang="zh-CN" dirty="0"/>
          </a:p>
          <a:p>
            <a:endParaRPr lang="en-AU" altLang="zh-CN" dirty="0"/>
          </a:p>
          <a:p>
            <a:endParaRPr lang="en-AU" altLang="zh-CN" dirty="0"/>
          </a:p>
          <a:p>
            <a:r>
              <a:rPr lang="zh-CN" altLang="en-US" dirty="0"/>
              <a:t>那么文法的使用类似于我们在程序语言中的赋值语句。</a:t>
            </a:r>
            <a:endParaRPr lang="en-AU" altLang="zh-CN" dirty="0"/>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这就是使用文法来可以定义表示产生我们要的具有递归结构的字符串的过程。</a:t>
            </a:r>
            <a:endParaRPr lang="en-AU" altLang="zh-CN" dirty="0"/>
          </a:p>
          <a:p>
            <a:endParaRPr lang="en-AU" dirty="0"/>
          </a:p>
          <a:p>
            <a:endParaRPr lang="en-AU" dirty="0"/>
          </a:p>
          <a:p>
            <a:r>
              <a:rPr lang="zh-CN" altLang="en-US" dirty="0"/>
              <a:t>那么，下面，我们给出上下文无关文法的形式定义。</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下面我们看下上下文无关文法的形式定义</a:t>
            </a:r>
            <a:endParaRPr lang="en-AU" altLang="zh-CN" dirty="0"/>
          </a:p>
          <a:p>
            <a:endParaRPr lang="en-AU" dirty="0"/>
          </a:p>
          <a:p>
            <a:r>
              <a:rPr lang="en-US" altLang="en-US" dirty="0"/>
              <a:t>Basic idea is to use “variables” to stand for sets of strings (i.e., languages).</a:t>
            </a:r>
            <a:endParaRPr lang="en-US" altLang="en-US" dirty="0"/>
          </a:p>
          <a:p>
            <a:endParaRPr lang="en-US" altLang="en-US" dirty="0"/>
          </a:p>
          <a:p>
            <a:r>
              <a:rPr lang="en-US" altLang="en-US" dirty="0"/>
              <a:t>These variables are defined recursively, in terms of one another.</a:t>
            </a:r>
            <a:endParaRPr lang="en-US" altLang="en-US" dirty="0"/>
          </a:p>
          <a:p>
            <a:endParaRPr lang="en-US" altLang="en-US" dirty="0"/>
          </a:p>
          <a:p>
            <a:r>
              <a:rPr lang="en-US" altLang="en-US" dirty="0"/>
              <a:t>Recursive rules (“productions”) involve only concatenation.</a:t>
            </a:r>
            <a:endParaRPr lang="en-US" altLang="en-US"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i="1" dirty="0">
                <a:solidFill>
                  <a:srgbClr val="FF0066"/>
                </a:solidFill>
              </a:rPr>
              <a:t>Terminals</a:t>
            </a:r>
            <a:r>
              <a:rPr lang="en-US" altLang="en-US" dirty="0"/>
              <a:t>  = symbols of the alphabet of the language being defined.</a:t>
            </a:r>
            <a:endParaRPr lang="en-US" altLang="en-US"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下面我们看下上下文无关文法的形式定义</a:t>
            </a:r>
            <a:endParaRPr lang="en-AU" altLang="zh-CN" dirty="0"/>
          </a:p>
          <a:p>
            <a:endParaRPr lang="en-AU" dirty="0"/>
          </a:p>
          <a:p>
            <a:r>
              <a:rPr lang="en-US" altLang="en-US" dirty="0"/>
              <a:t>Basic idea is to use “variables” to stand for sets of strings (i.e., languages).</a:t>
            </a:r>
            <a:endParaRPr lang="en-US" altLang="en-US" dirty="0"/>
          </a:p>
          <a:p>
            <a:endParaRPr lang="en-US" altLang="en-US" dirty="0"/>
          </a:p>
          <a:p>
            <a:r>
              <a:rPr lang="en-US" altLang="en-US" dirty="0"/>
              <a:t>These variables are defined recursively, in terms of one another.</a:t>
            </a:r>
            <a:endParaRPr lang="en-US" altLang="en-US" dirty="0"/>
          </a:p>
          <a:p>
            <a:endParaRPr lang="en-US" altLang="en-US" dirty="0"/>
          </a:p>
          <a:p>
            <a:r>
              <a:rPr lang="en-US" altLang="en-US" dirty="0"/>
              <a:t>Recursive rules (“productions”) involve only concatenation.</a:t>
            </a:r>
            <a:endParaRPr lang="en-US" altLang="en-US"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i="1" dirty="0">
                <a:solidFill>
                  <a:srgbClr val="FF0066"/>
                </a:solidFill>
              </a:rPr>
              <a:t>Terminals</a:t>
            </a:r>
            <a:r>
              <a:rPr lang="en-US" altLang="en-US" dirty="0"/>
              <a:t>  = symbols of the alphabet of the language being defined.</a:t>
            </a:r>
            <a:endParaRPr lang="en-US" altLang="en-US"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下面我们看下上下文无关文法的形式定义</a:t>
            </a:r>
            <a:endParaRPr lang="en-AU" altLang="zh-CN" dirty="0"/>
          </a:p>
          <a:p>
            <a:endParaRPr lang="en-AU" dirty="0"/>
          </a:p>
          <a:p>
            <a:r>
              <a:rPr lang="en-US" altLang="en-US" dirty="0"/>
              <a:t>Basic idea is to use “variables” to stand for sets of strings (i.e., languages).</a:t>
            </a:r>
            <a:endParaRPr lang="en-US" altLang="en-US" dirty="0"/>
          </a:p>
          <a:p>
            <a:endParaRPr lang="en-US" altLang="en-US" dirty="0"/>
          </a:p>
          <a:p>
            <a:r>
              <a:rPr lang="en-US" altLang="en-US" dirty="0"/>
              <a:t>These variables are defined recursively, in terms of one another.</a:t>
            </a:r>
            <a:endParaRPr lang="en-US" altLang="en-US" dirty="0"/>
          </a:p>
          <a:p>
            <a:endParaRPr lang="en-US" altLang="en-US" dirty="0"/>
          </a:p>
          <a:p>
            <a:r>
              <a:rPr lang="en-US" altLang="en-US" dirty="0"/>
              <a:t>Recursive rules (“productions”) involve only concatenation.</a:t>
            </a:r>
            <a:endParaRPr lang="en-US" altLang="en-US"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i="1" dirty="0">
                <a:solidFill>
                  <a:srgbClr val="FF0066"/>
                </a:solidFill>
              </a:rPr>
              <a:t>Terminals</a:t>
            </a:r>
            <a:r>
              <a:rPr lang="en-US" altLang="en-US" dirty="0"/>
              <a:t>  = symbols of the alphabet of the language being defined.</a:t>
            </a:r>
            <a:endParaRPr lang="en-US" altLang="en-US"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文法中最主要的就是产生式的集合。</a:t>
            </a:r>
            <a:endParaRPr lang="en-AU" altLang="zh-CN" dirty="0"/>
          </a:p>
          <a:p>
            <a:endParaRPr lang="en-AU" dirty="0"/>
          </a:p>
          <a:p>
            <a:endParaRPr lang="en-AU" dirty="0"/>
          </a:p>
          <a:p>
            <a:endParaRPr lang="en-AU" dirty="0"/>
          </a:p>
          <a:p>
            <a:r>
              <a:rPr lang="zh-CN" altLang="en-US" dirty="0"/>
              <a:t>回文语言上的文法我们可以这样来定义。</a:t>
            </a:r>
            <a:endParaRPr lang="en-AU" altLang="zh-CN" dirty="0"/>
          </a:p>
          <a:p>
            <a:endParaRPr lang="en-AU" dirty="0"/>
          </a:p>
          <a:p>
            <a:r>
              <a:rPr lang="zh-CN" altLang="en-US" dirty="0"/>
              <a:t>变元，只有一个</a:t>
            </a:r>
            <a:r>
              <a:rPr lang="en-US" altLang="zh-CN" dirty="0"/>
              <a:t>A</a:t>
            </a:r>
            <a:endParaRPr lang="en-US" altLang="zh-CN" dirty="0"/>
          </a:p>
          <a:p>
            <a:endParaRPr lang="en-US" dirty="0"/>
          </a:p>
          <a:p>
            <a:r>
              <a:rPr lang="zh-CN" altLang="en-US" dirty="0"/>
              <a:t>终结符集是</a:t>
            </a:r>
            <a:r>
              <a:rPr lang="en-AU" altLang="zh-CN" dirty="0"/>
              <a:t>0,1</a:t>
            </a:r>
            <a:r>
              <a:rPr lang="zh-CN" altLang="en-US" dirty="0"/>
              <a:t>，也就是它的字母表</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在上下文无关文法这块的学习中，对于字符的使用，我们有以下的一般约定。</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那么，我们来看一个例子。</a:t>
            </a:r>
            <a:endParaRPr lang="en-AU" altLang="zh-CN" dirty="0"/>
          </a:p>
          <a:p>
            <a:endParaRPr lang="en-AU" dirty="0"/>
          </a:p>
          <a:p>
            <a:r>
              <a:rPr lang="zh-CN" altLang="en-US" dirty="0"/>
              <a:t>我们来看看如何设计这样的算数表达式的文法。</a:t>
            </a:r>
            <a:endParaRPr lang="en-AU" altLang="zh-CN" dirty="0"/>
          </a:p>
          <a:p>
            <a:endParaRPr lang="en-AU" dirty="0"/>
          </a:p>
          <a:p>
            <a:r>
              <a:rPr lang="zh-CN" altLang="en-US" dirty="0"/>
              <a:t>由这个算术表达式的定义可以看成有两个范畴，一个是带有</a:t>
            </a:r>
            <a:r>
              <a:rPr lang="en-AU" altLang="zh-CN" dirty="0"/>
              <a:t>+</a:t>
            </a:r>
            <a:r>
              <a:rPr lang="zh-CN" altLang="en-US" dirty="0"/>
              <a:t>和</a:t>
            </a:r>
            <a:r>
              <a:rPr lang="en-AU" altLang="zh-CN" dirty="0"/>
              <a:t>*</a:t>
            </a:r>
            <a:r>
              <a:rPr lang="zh-CN" altLang="en-US" dirty="0"/>
              <a:t>的表达式本身，一个是标识符</a:t>
            </a:r>
            <a:endParaRPr lang="en-AU" altLang="zh-CN" dirty="0"/>
          </a:p>
          <a:p>
            <a:endParaRPr lang="en-AU" dirty="0"/>
          </a:p>
          <a:p>
            <a:r>
              <a:rPr lang="zh-CN" altLang="en-US" dirty="0"/>
              <a:t>我们用两个变元</a:t>
            </a:r>
            <a:r>
              <a:rPr lang="en-AU" altLang="zh-CN" dirty="0"/>
              <a:t>E</a:t>
            </a:r>
            <a:r>
              <a:rPr lang="zh-CN" altLang="en-US" dirty="0"/>
              <a:t>和</a:t>
            </a:r>
            <a:r>
              <a:rPr lang="en-AU" altLang="zh-CN" dirty="0"/>
              <a:t>I</a:t>
            </a:r>
            <a:r>
              <a:rPr lang="zh-CN" altLang="en-US" dirty="0"/>
              <a:t>来分别定义这两部分</a:t>
            </a:r>
            <a:endParaRPr lang="en-AU" altLang="zh-CN" dirty="0"/>
          </a:p>
          <a:p>
            <a:endParaRPr lang="en-AU" altLang="zh-CN" dirty="0"/>
          </a:p>
          <a:p>
            <a:r>
              <a:rPr lang="en-AU" altLang="zh-CN" dirty="0"/>
              <a:t>E</a:t>
            </a:r>
            <a:r>
              <a:rPr lang="zh-CN" altLang="en-US" dirty="0"/>
              <a:t>定义表达式本身，</a:t>
            </a:r>
            <a:r>
              <a:rPr lang="en-US" altLang="zh-CN" dirty="0"/>
              <a:t>I</a:t>
            </a:r>
            <a:r>
              <a:rPr lang="zh-CN" altLang="en-US" dirty="0"/>
              <a:t>表示标识符</a:t>
            </a:r>
            <a:endParaRPr lang="en-AU" altLang="zh-CN" dirty="0"/>
          </a:p>
          <a:p>
            <a:endParaRPr lang="en-AU" dirty="0"/>
          </a:p>
          <a:p>
            <a:r>
              <a:rPr lang="zh-CN" altLang="en-US" dirty="0"/>
              <a:t>终结集</a:t>
            </a:r>
            <a:r>
              <a:rPr lang="en-AU" altLang="zh-CN" dirty="0"/>
              <a:t>: </a:t>
            </a:r>
            <a:r>
              <a:rPr lang="zh-CN" altLang="en-US" dirty="0"/>
              <a:t>包括组成标识符的所有字符，组成运算的符号，改变运算优先级的符号</a:t>
            </a:r>
            <a:r>
              <a:rPr lang="en-AU" altLang="zh-CN" dirty="0"/>
              <a:t>()</a:t>
            </a:r>
            <a:endParaRPr lang="en-AU" altLang="zh-CN" dirty="0"/>
          </a:p>
          <a:p>
            <a:endParaRPr lang="en-AU" dirty="0"/>
          </a:p>
          <a:p>
            <a:r>
              <a:rPr lang="zh-CN" altLang="en-US" dirty="0"/>
              <a:t>产生式的集合是这些。</a:t>
            </a:r>
            <a:endParaRPr lang="en-AU" altLang="zh-CN" dirty="0"/>
          </a:p>
          <a:p>
            <a:endParaRPr lang="en-AU" dirty="0"/>
          </a:p>
          <a:p>
            <a:endParaRPr lang="en-AU" dirty="0"/>
          </a:p>
          <a:p>
            <a:r>
              <a:rPr lang="en-AU" altLang="zh-CN" dirty="0"/>
              <a:t>E</a:t>
            </a:r>
            <a:r>
              <a:rPr lang="zh-CN" altLang="en-US" dirty="0"/>
              <a:t>的产生式的</a:t>
            </a:r>
            <a:r>
              <a:rPr lang="en-AU" altLang="zh-CN" dirty="0"/>
              <a:t>2,3,4</a:t>
            </a:r>
            <a:r>
              <a:rPr lang="zh-CN" altLang="en-US" dirty="0"/>
              <a:t>条定义了各种可能的运算的组合，而第一条</a:t>
            </a:r>
            <a:r>
              <a:rPr lang="en-AU" altLang="zh-CN" dirty="0"/>
              <a:t>E</a:t>
            </a:r>
            <a:r>
              <a:rPr lang="zh-CN" altLang="en-US" dirty="0"/>
              <a:t>定义为</a:t>
            </a:r>
            <a:r>
              <a:rPr lang="en-US" altLang="zh-CN" dirty="0"/>
              <a:t>I</a:t>
            </a:r>
            <a:r>
              <a:rPr lang="zh-CN" altLang="en-US" dirty="0"/>
              <a:t>，则是可以把由</a:t>
            </a:r>
            <a:r>
              <a:rPr lang="en-US" altLang="zh-CN" dirty="0"/>
              <a:t>I</a:t>
            </a:r>
            <a:r>
              <a:rPr lang="zh-CN" altLang="en-US" dirty="0"/>
              <a:t>定义的标识符代入到由</a:t>
            </a:r>
            <a:r>
              <a:rPr lang="en-AU" altLang="zh-CN" dirty="0"/>
              <a:t>2</a:t>
            </a:r>
            <a:r>
              <a:rPr lang="zh-CN" altLang="en-US" dirty="0"/>
              <a:t>，</a:t>
            </a:r>
            <a:r>
              <a:rPr lang="en-AU" altLang="zh-CN" dirty="0"/>
              <a:t>3</a:t>
            </a:r>
            <a:r>
              <a:rPr lang="zh-CN" altLang="en-US" dirty="0"/>
              <a:t>，</a:t>
            </a:r>
            <a:r>
              <a:rPr lang="en-AU" altLang="zh-CN" dirty="0"/>
              <a:t>4</a:t>
            </a:r>
            <a:r>
              <a:rPr lang="zh-CN" altLang="en-US" dirty="0"/>
              <a:t>条定义的表达式中作为参数</a:t>
            </a:r>
            <a:endParaRPr lang="en-AU" altLang="zh-CN" dirty="0"/>
          </a:p>
          <a:p>
            <a:endParaRPr lang="en-AU" altLang="zh-CN" dirty="0"/>
          </a:p>
          <a:p>
            <a:r>
              <a:rPr lang="en-AU" altLang="zh-CN" dirty="0"/>
              <a:t>I</a:t>
            </a:r>
            <a:r>
              <a:rPr lang="zh-CN" altLang="en-US" dirty="0"/>
              <a:t>的产生式定义了所有的标识符</a:t>
            </a:r>
            <a:endParaRPr lang="en-AU" altLang="zh-CN" dirty="0"/>
          </a:p>
          <a:p>
            <a:endParaRPr lang="en-AU" dirty="0"/>
          </a:p>
          <a:p>
            <a:r>
              <a:rPr lang="zh-CN" altLang="en-US" dirty="0"/>
              <a:t>这</a:t>
            </a:r>
            <a:r>
              <a:rPr lang="en-AU" altLang="zh-CN" dirty="0"/>
              <a:t>10</a:t>
            </a:r>
            <a:r>
              <a:rPr lang="zh-CN" altLang="en-US" dirty="0"/>
              <a:t>条产生式就定义了所有的由这两种运算和标识符所构成的所有可能的算术表达式。</a:t>
            </a:r>
            <a:endParaRPr lang="en-AU" altLang="zh-CN" dirty="0"/>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那么，我们来看一个例子。</a:t>
            </a:r>
            <a:endParaRPr lang="en-AU" altLang="zh-CN" dirty="0"/>
          </a:p>
          <a:p>
            <a:endParaRPr lang="en-AU" dirty="0"/>
          </a:p>
          <a:p>
            <a:r>
              <a:rPr lang="zh-CN" altLang="en-US" dirty="0"/>
              <a:t>我们来看看如何设计这样的算数表达式的文法。</a:t>
            </a:r>
            <a:endParaRPr lang="en-AU" altLang="zh-CN" dirty="0"/>
          </a:p>
          <a:p>
            <a:endParaRPr lang="en-AU" dirty="0"/>
          </a:p>
          <a:p>
            <a:r>
              <a:rPr lang="zh-CN" altLang="en-US" dirty="0"/>
              <a:t>由这个算术表达式的定义可以看成有两个范畴，一个是带有</a:t>
            </a:r>
            <a:r>
              <a:rPr lang="en-AU" altLang="zh-CN" dirty="0"/>
              <a:t>+</a:t>
            </a:r>
            <a:r>
              <a:rPr lang="zh-CN" altLang="en-US" dirty="0"/>
              <a:t>和</a:t>
            </a:r>
            <a:r>
              <a:rPr lang="en-AU" altLang="zh-CN" dirty="0"/>
              <a:t>*</a:t>
            </a:r>
            <a:r>
              <a:rPr lang="zh-CN" altLang="en-US" dirty="0"/>
              <a:t>的表达式本身，一个是标识符</a:t>
            </a:r>
            <a:endParaRPr lang="en-AU" altLang="zh-CN" dirty="0"/>
          </a:p>
          <a:p>
            <a:endParaRPr lang="en-AU" dirty="0"/>
          </a:p>
          <a:p>
            <a:r>
              <a:rPr lang="zh-CN" altLang="en-US" dirty="0"/>
              <a:t>我们用两个变元</a:t>
            </a:r>
            <a:r>
              <a:rPr lang="en-AU" altLang="zh-CN" dirty="0"/>
              <a:t>E</a:t>
            </a:r>
            <a:r>
              <a:rPr lang="zh-CN" altLang="en-US" dirty="0"/>
              <a:t>和</a:t>
            </a:r>
            <a:r>
              <a:rPr lang="en-AU" altLang="zh-CN" dirty="0"/>
              <a:t>I</a:t>
            </a:r>
            <a:r>
              <a:rPr lang="zh-CN" altLang="en-US" dirty="0"/>
              <a:t>来分别定义这两部分</a:t>
            </a:r>
            <a:endParaRPr lang="en-AU" altLang="zh-CN" dirty="0"/>
          </a:p>
          <a:p>
            <a:endParaRPr lang="en-AU" altLang="zh-CN" dirty="0"/>
          </a:p>
          <a:p>
            <a:r>
              <a:rPr lang="en-AU" altLang="zh-CN" dirty="0"/>
              <a:t>E</a:t>
            </a:r>
            <a:r>
              <a:rPr lang="zh-CN" altLang="en-US" dirty="0"/>
              <a:t>定义表达式本身，</a:t>
            </a:r>
            <a:r>
              <a:rPr lang="en-US" altLang="zh-CN" dirty="0"/>
              <a:t>I</a:t>
            </a:r>
            <a:r>
              <a:rPr lang="zh-CN" altLang="en-US" dirty="0"/>
              <a:t>表示标识符</a:t>
            </a:r>
            <a:endParaRPr lang="en-AU" altLang="zh-CN" dirty="0"/>
          </a:p>
          <a:p>
            <a:endParaRPr lang="en-AU" dirty="0"/>
          </a:p>
          <a:p>
            <a:r>
              <a:rPr lang="zh-CN" altLang="en-US" dirty="0"/>
              <a:t>终结集</a:t>
            </a:r>
            <a:r>
              <a:rPr lang="en-AU" altLang="zh-CN" dirty="0"/>
              <a:t>: </a:t>
            </a:r>
            <a:r>
              <a:rPr lang="zh-CN" altLang="en-US" dirty="0"/>
              <a:t>包括组成标识符的所有字符，组成运算的符号，改变运算优先级的符号</a:t>
            </a:r>
            <a:r>
              <a:rPr lang="en-AU" altLang="zh-CN" dirty="0"/>
              <a:t>()</a:t>
            </a:r>
            <a:endParaRPr lang="en-AU" altLang="zh-CN" dirty="0"/>
          </a:p>
          <a:p>
            <a:endParaRPr lang="en-AU" dirty="0"/>
          </a:p>
          <a:p>
            <a:r>
              <a:rPr lang="zh-CN" altLang="en-US" dirty="0"/>
              <a:t>产生式的集合是这些。</a:t>
            </a:r>
            <a:endParaRPr lang="en-AU" altLang="zh-CN" dirty="0"/>
          </a:p>
          <a:p>
            <a:endParaRPr lang="en-AU" dirty="0"/>
          </a:p>
          <a:p>
            <a:endParaRPr lang="en-AU" dirty="0"/>
          </a:p>
          <a:p>
            <a:r>
              <a:rPr lang="en-AU" altLang="zh-CN" dirty="0"/>
              <a:t>E</a:t>
            </a:r>
            <a:r>
              <a:rPr lang="zh-CN" altLang="en-US" dirty="0"/>
              <a:t>的产生式的</a:t>
            </a:r>
            <a:r>
              <a:rPr lang="en-AU" altLang="zh-CN" dirty="0"/>
              <a:t>2,3,4</a:t>
            </a:r>
            <a:r>
              <a:rPr lang="zh-CN" altLang="en-US" dirty="0"/>
              <a:t>条定义了各种可能的运算的组合，而第一条</a:t>
            </a:r>
            <a:r>
              <a:rPr lang="en-AU" altLang="zh-CN" dirty="0"/>
              <a:t>E</a:t>
            </a:r>
            <a:r>
              <a:rPr lang="zh-CN" altLang="en-US" dirty="0"/>
              <a:t>定义为</a:t>
            </a:r>
            <a:r>
              <a:rPr lang="en-US" altLang="zh-CN" dirty="0"/>
              <a:t>I</a:t>
            </a:r>
            <a:r>
              <a:rPr lang="zh-CN" altLang="en-US" dirty="0"/>
              <a:t>，则是可以把由</a:t>
            </a:r>
            <a:r>
              <a:rPr lang="en-US" altLang="zh-CN" dirty="0"/>
              <a:t>I</a:t>
            </a:r>
            <a:r>
              <a:rPr lang="zh-CN" altLang="en-US" dirty="0"/>
              <a:t>定义的标识符代入到由</a:t>
            </a:r>
            <a:r>
              <a:rPr lang="en-AU" altLang="zh-CN" dirty="0"/>
              <a:t>2</a:t>
            </a:r>
            <a:r>
              <a:rPr lang="zh-CN" altLang="en-US" dirty="0"/>
              <a:t>，</a:t>
            </a:r>
            <a:r>
              <a:rPr lang="en-AU" altLang="zh-CN" dirty="0"/>
              <a:t>3</a:t>
            </a:r>
            <a:r>
              <a:rPr lang="zh-CN" altLang="en-US" dirty="0"/>
              <a:t>，</a:t>
            </a:r>
            <a:r>
              <a:rPr lang="en-AU" altLang="zh-CN" dirty="0"/>
              <a:t>4</a:t>
            </a:r>
            <a:r>
              <a:rPr lang="zh-CN" altLang="en-US" dirty="0"/>
              <a:t>条定义的表达式中作为参数</a:t>
            </a:r>
            <a:endParaRPr lang="en-AU" altLang="zh-CN" dirty="0"/>
          </a:p>
          <a:p>
            <a:endParaRPr lang="en-AU" altLang="zh-CN" dirty="0"/>
          </a:p>
          <a:p>
            <a:r>
              <a:rPr lang="en-AU" altLang="zh-CN" dirty="0"/>
              <a:t>I</a:t>
            </a:r>
            <a:r>
              <a:rPr lang="zh-CN" altLang="en-US" dirty="0"/>
              <a:t>的产生式定义了所有的标识符</a:t>
            </a:r>
            <a:endParaRPr lang="en-AU" altLang="zh-CN" dirty="0"/>
          </a:p>
          <a:p>
            <a:endParaRPr lang="en-AU" dirty="0"/>
          </a:p>
          <a:p>
            <a:r>
              <a:rPr lang="zh-CN" altLang="en-US" dirty="0"/>
              <a:t>这</a:t>
            </a:r>
            <a:r>
              <a:rPr lang="en-AU" altLang="zh-CN" dirty="0"/>
              <a:t>10</a:t>
            </a:r>
            <a:r>
              <a:rPr lang="zh-CN" altLang="en-US" dirty="0"/>
              <a:t>条产生式就定义了所有的由这两种运算和标识符所构成的所有可能的算术表达式。</a:t>
            </a:r>
            <a:endParaRPr lang="en-AU" altLang="zh-CN" dirty="0"/>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那么，我们来看一个例子。</a:t>
            </a:r>
            <a:endParaRPr lang="en-AU" altLang="zh-CN" dirty="0"/>
          </a:p>
          <a:p>
            <a:endParaRPr lang="en-AU" dirty="0"/>
          </a:p>
          <a:p>
            <a:r>
              <a:rPr lang="zh-CN" altLang="en-US" dirty="0"/>
              <a:t>我们来看看如何设计这样的算数表达式的文法。</a:t>
            </a:r>
            <a:endParaRPr lang="en-AU" altLang="zh-CN" dirty="0"/>
          </a:p>
          <a:p>
            <a:endParaRPr lang="en-AU" dirty="0"/>
          </a:p>
          <a:p>
            <a:r>
              <a:rPr lang="zh-CN" altLang="en-US" dirty="0"/>
              <a:t>由这个算术表达式的定义可以看成有两个范畴，一个是带有</a:t>
            </a:r>
            <a:r>
              <a:rPr lang="en-AU" altLang="zh-CN" dirty="0"/>
              <a:t>+</a:t>
            </a:r>
            <a:r>
              <a:rPr lang="zh-CN" altLang="en-US" dirty="0"/>
              <a:t>和</a:t>
            </a:r>
            <a:r>
              <a:rPr lang="en-AU" altLang="zh-CN" dirty="0"/>
              <a:t>*</a:t>
            </a:r>
            <a:r>
              <a:rPr lang="zh-CN" altLang="en-US" dirty="0"/>
              <a:t>的表达式本身，一个是标识符</a:t>
            </a:r>
            <a:endParaRPr lang="en-AU" altLang="zh-CN" dirty="0"/>
          </a:p>
          <a:p>
            <a:endParaRPr lang="en-AU" dirty="0"/>
          </a:p>
          <a:p>
            <a:r>
              <a:rPr lang="zh-CN" altLang="en-US" dirty="0"/>
              <a:t>我们用两个变元</a:t>
            </a:r>
            <a:r>
              <a:rPr lang="en-AU" altLang="zh-CN" dirty="0"/>
              <a:t>E</a:t>
            </a:r>
            <a:r>
              <a:rPr lang="zh-CN" altLang="en-US" dirty="0"/>
              <a:t>和</a:t>
            </a:r>
            <a:r>
              <a:rPr lang="en-AU" altLang="zh-CN" dirty="0"/>
              <a:t>I</a:t>
            </a:r>
            <a:r>
              <a:rPr lang="zh-CN" altLang="en-US" dirty="0"/>
              <a:t>来分别定义这两部分</a:t>
            </a:r>
            <a:endParaRPr lang="en-AU" altLang="zh-CN" dirty="0"/>
          </a:p>
          <a:p>
            <a:endParaRPr lang="en-AU" altLang="zh-CN" dirty="0"/>
          </a:p>
          <a:p>
            <a:r>
              <a:rPr lang="en-AU" altLang="zh-CN" dirty="0"/>
              <a:t>E</a:t>
            </a:r>
            <a:r>
              <a:rPr lang="zh-CN" altLang="en-US" dirty="0"/>
              <a:t>定义表达式本身，</a:t>
            </a:r>
            <a:r>
              <a:rPr lang="en-US" altLang="zh-CN" dirty="0"/>
              <a:t>I</a:t>
            </a:r>
            <a:r>
              <a:rPr lang="zh-CN" altLang="en-US" dirty="0"/>
              <a:t>表示标识符</a:t>
            </a:r>
            <a:endParaRPr lang="en-AU" altLang="zh-CN" dirty="0"/>
          </a:p>
          <a:p>
            <a:endParaRPr lang="en-AU" dirty="0"/>
          </a:p>
          <a:p>
            <a:r>
              <a:rPr lang="zh-CN" altLang="en-US" dirty="0"/>
              <a:t>终结集</a:t>
            </a:r>
            <a:r>
              <a:rPr lang="en-AU" altLang="zh-CN" dirty="0"/>
              <a:t>: </a:t>
            </a:r>
            <a:r>
              <a:rPr lang="zh-CN" altLang="en-US" dirty="0"/>
              <a:t>包括组成标识符的所有字符，组成运算的符号，改变运算优先级的符号</a:t>
            </a:r>
            <a:r>
              <a:rPr lang="en-AU" altLang="zh-CN" dirty="0"/>
              <a:t>()</a:t>
            </a:r>
            <a:endParaRPr lang="en-AU" altLang="zh-CN" dirty="0"/>
          </a:p>
          <a:p>
            <a:endParaRPr lang="en-AU" dirty="0"/>
          </a:p>
          <a:p>
            <a:r>
              <a:rPr lang="zh-CN" altLang="en-US" dirty="0"/>
              <a:t>产生式的集合是这些。</a:t>
            </a:r>
            <a:endParaRPr lang="en-AU" altLang="zh-CN" dirty="0"/>
          </a:p>
          <a:p>
            <a:endParaRPr lang="en-AU" dirty="0"/>
          </a:p>
          <a:p>
            <a:endParaRPr lang="en-AU" dirty="0"/>
          </a:p>
          <a:p>
            <a:r>
              <a:rPr lang="en-AU" altLang="zh-CN" dirty="0"/>
              <a:t>E</a:t>
            </a:r>
            <a:r>
              <a:rPr lang="zh-CN" altLang="en-US" dirty="0"/>
              <a:t>的产生式的</a:t>
            </a:r>
            <a:r>
              <a:rPr lang="en-AU" altLang="zh-CN" dirty="0"/>
              <a:t>2,3,4</a:t>
            </a:r>
            <a:r>
              <a:rPr lang="zh-CN" altLang="en-US" dirty="0"/>
              <a:t>条定义了各种可能的运算的组合，而第一条</a:t>
            </a:r>
            <a:r>
              <a:rPr lang="en-AU" altLang="zh-CN" dirty="0"/>
              <a:t>E</a:t>
            </a:r>
            <a:r>
              <a:rPr lang="zh-CN" altLang="en-US" dirty="0"/>
              <a:t>定义为</a:t>
            </a:r>
            <a:r>
              <a:rPr lang="en-US" altLang="zh-CN" dirty="0"/>
              <a:t>I</a:t>
            </a:r>
            <a:r>
              <a:rPr lang="zh-CN" altLang="en-US" dirty="0"/>
              <a:t>，则是可以把由</a:t>
            </a:r>
            <a:r>
              <a:rPr lang="en-US" altLang="zh-CN" dirty="0"/>
              <a:t>I</a:t>
            </a:r>
            <a:r>
              <a:rPr lang="zh-CN" altLang="en-US" dirty="0"/>
              <a:t>定义的标识符代入到由</a:t>
            </a:r>
            <a:r>
              <a:rPr lang="en-AU" altLang="zh-CN" dirty="0"/>
              <a:t>2</a:t>
            </a:r>
            <a:r>
              <a:rPr lang="zh-CN" altLang="en-US" dirty="0"/>
              <a:t>，</a:t>
            </a:r>
            <a:r>
              <a:rPr lang="en-AU" altLang="zh-CN" dirty="0"/>
              <a:t>3</a:t>
            </a:r>
            <a:r>
              <a:rPr lang="zh-CN" altLang="en-US" dirty="0"/>
              <a:t>，</a:t>
            </a:r>
            <a:r>
              <a:rPr lang="en-AU" altLang="zh-CN" dirty="0"/>
              <a:t>4</a:t>
            </a:r>
            <a:r>
              <a:rPr lang="zh-CN" altLang="en-US" dirty="0"/>
              <a:t>条定义的表达式中作为参数</a:t>
            </a:r>
            <a:endParaRPr lang="en-AU" altLang="zh-CN" dirty="0"/>
          </a:p>
          <a:p>
            <a:endParaRPr lang="en-AU" altLang="zh-CN" dirty="0"/>
          </a:p>
          <a:p>
            <a:r>
              <a:rPr lang="en-AU" altLang="zh-CN" dirty="0"/>
              <a:t>I</a:t>
            </a:r>
            <a:r>
              <a:rPr lang="zh-CN" altLang="en-US" dirty="0"/>
              <a:t>的产生式定义了所有的标识符</a:t>
            </a:r>
            <a:endParaRPr lang="en-AU" altLang="zh-CN" dirty="0"/>
          </a:p>
          <a:p>
            <a:endParaRPr lang="en-AU" dirty="0"/>
          </a:p>
          <a:p>
            <a:r>
              <a:rPr lang="zh-CN" altLang="en-US" dirty="0"/>
              <a:t>这</a:t>
            </a:r>
            <a:r>
              <a:rPr lang="en-AU" altLang="zh-CN" dirty="0"/>
              <a:t>10</a:t>
            </a:r>
            <a:r>
              <a:rPr lang="zh-CN" altLang="en-US" dirty="0"/>
              <a:t>条产生式就定义了所有的由这两种运算和标识符所构成的所有可能的算术表达式。</a:t>
            </a:r>
            <a:endParaRPr lang="en-AU" altLang="zh-CN" dirty="0"/>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首先我们将介绍什么是上下文无关法，给出它的形式定义，以及一些概念。</a:t>
            </a:r>
            <a:endParaRPr lang="en-AU" altLang="zh-CN" dirty="0"/>
          </a:p>
          <a:p>
            <a:endParaRPr lang="en-AU" dirty="0"/>
          </a:p>
          <a:p>
            <a:r>
              <a:rPr lang="zh-CN" altLang="en-US" dirty="0"/>
              <a:t>比如。归约和派生，最左派生和最右派生。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在上下文无关文法中，我们有两个相关的重要概念，归约和派生。</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所以，派生也就是说用一个变元的产生式去替换这个变元本身，得到新串的过程。</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可以归约到文法的开始符号</a:t>
            </a:r>
            <a:r>
              <a:rPr lang="en-AU" altLang="zh-CN" dirty="0"/>
              <a:t>E</a:t>
            </a:r>
            <a:r>
              <a:rPr lang="zh-CN" altLang="en-US" dirty="0"/>
              <a:t>，所以它是一个合法的算数表达式。可以由文法生成。</a:t>
            </a:r>
            <a:endParaRPr lang="en-AU" altLang="zh-CN" dirty="0"/>
          </a:p>
          <a:p>
            <a:endParaRPr lang="en-AU" dirty="0"/>
          </a:p>
          <a:p>
            <a:r>
              <a:rPr lang="zh-CN" altLang="en-US" dirty="0"/>
              <a:t>在形式语言中，我们用的更多的是派生。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可以归约到文法的开始符号</a:t>
            </a:r>
            <a:r>
              <a:rPr lang="en-AU" altLang="zh-CN" dirty="0"/>
              <a:t>E</a:t>
            </a:r>
            <a:r>
              <a:rPr lang="zh-CN" altLang="en-US" dirty="0"/>
              <a:t>，所以它是一个合法的算数表达式。可以由文法生成。</a:t>
            </a:r>
            <a:endParaRPr lang="en-AU" altLang="zh-CN" dirty="0"/>
          </a:p>
          <a:p>
            <a:endParaRPr lang="en-AU" dirty="0"/>
          </a:p>
          <a:p>
            <a:r>
              <a:rPr lang="zh-CN" altLang="en-US" dirty="0"/>
              <a:t>在形式语言中，我们用的更多的是派生。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可以归约到文法的开始符号</a:t>
            </a:r>
            <a:r>
              <a:rPr lang="en-AU" altLang="zh-CN" dirty="0"/>
              <a:t>E</a:t>
            </a:r>
            <a:r>
              <a:rPr lang="zh-CN" altLang="en-US" dirty="0"/>
              <a:t>，所以它是一个合法的算数表达式。可以由文法生成。</a:t>
            </a:r>
            <a:endParaRPr lang="en-AU" altLang="zh-CN" dirty="0"/>
          </a:p>
          <a:p>
            <a:endParaRPr lang="en-AU" dirty="0"/>
          </a:p>
          <a:p>
            <a:r>
              <a:rPr lang="zh-CN" altLang="en-US" dirty="0"/>
              <a:t>在形式语言中，我们用的更多的是派生。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可以归约到文法的开始符号</a:t>
            </a:r>
            <a:r>
              <a:rPr lang="en-AU" altLang="zh-CN" dirty="0"/>
              <a:t>E</a:t>
            </a:r>
            <a:r>
              <a:rPr lang="zh-CN" altLang="en-US" dirty="0"/>
              <a:t>，所以它是一个合法的算数表达式。可以由文法生成。</a:t>
            </a:r>
            <a:endParaRPr lang="en-AU" altLang="zh-CN" dirty="0"/>
          </a:p>
          <a:p>
            <a:endParaRPr lang="en-AU" dirty="0"/>
          </a:p>
          <a:p>
            <a:r>
              <a:rPr lang="zh-CN" altLang="en-US" dirty="0"/>
              <a:t>在形式语言中，我们用的更多的是派生。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可以归约到文法的开始符号</a:t>
            </a:r>
            <a:r>
              <a:rPr lang="en-AU" altLang="zh-CN" dirty="0"/>
              <a:t>E</a:t>
            </a:r>
            <a:r>
              <a:rPr lang="zh-CN" altLang="en-US" dirty="0"/>
              <a:t>，所以它是一个合法的算数表达式。可以由文法生成。</a:t>
            </a:r>
            <a:endParaRPr lang="en-AU" altLang="zh-CN" dirty="0"/>
          </a:p>
          <a:p>
            <a:endParaRPr lang="en-AU" dirty="0"/>
          </a:p>
          <a:p>
            <a:r>
              <a:rPr lang="zh-CN" altLang="en-US" dirty="0"/>
              <a:t>在形式语言中，我们用的更多的是派生。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可以归约到文法的开始符号</a:t>
            </a:r>
            <a:r>
              <a:rPr lang="en-AU" altLang="zh-CN" dirty="0"/>
              <a:t>E</a:t>
            </a:r>
            <a:r>
              <a:rPr lang="zh-CN" altLang="en-US" dirty="0"/>
              <a:t>，所以它是一个合法的算数表达式。可以由文法生成。</a:t>
            </a:r>
            <a:endParaRPr lang="en-AU" altLang="zh-CN" dirty="0"/>
          </a:p>
          <a:p>
            <a:endParaRPr lang="en-AU" dirty="0"/>
          </a:p>
          <a:p>
            <a:r>
              <a:rPr lang="zh-CN" altLang="en-US" dirty="0"/>
              <a:t>在形式语言中，我们用的更多的是派生。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可以归约到文法的开始符号</a:t>
            </a:r>
            <a:r>
              <a:rPr lang="en-AU" altLang="zh-CN" dirty="0"/>
              <a:t>E</a:t>
            </a:r>
            <a:r>
              <a:rPr lang="zh-CN" altLang="en-US" dirty="0"/>
              <a:t>，所以它是一个合法的算数表达式。可以由文法生成。</a:t>
            </a:r>
            <a:endParaRPr lang="en-AU" altLang="zh-CN" dirty="0"/>
          </a:p>
          <a:p>
            <a:endParaRPr lang="en-AU" dirty="0"/>
          </a:p>
          <a:p>
            <a:r>
              <a:rPr lang="zh-CN" altLang="en-US" dirty="0"/>
              <a:t>在形式语言中，我们用的更多的是派生。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从文化的开始符号</a:t>
            </a:r>
            <a:r>
              <a:rPr lang="en-US" altLang="zh-CN" dirty="0"/>
              <a:t>E</a:t>
            </a:r>
            <a:r>
              <a:rPr lang="zh-CN" altLang="en-US" dirty="0"/>
              <a:t>开始，</a:t>
            </a:r>
            <a:endParaRPr lang="en-AU" altLang="zh-CN" dirty="0"/>
          </a:p>
          <a:p>
            <a:endParaRPr lang="en-AU" dirty="0"/>
          </a:p>
          <a:p>
            <a:r>
              <a:rPr lang="zh-CN" altLang="en-US" dirty="0"/>
              <a:t>先利用产生式，</a:t>
            </a:r>
            <a:r>
              <a:rPr lang="en-AU" altLang="zh-CN" dirty="0"/>
              <a:t>E</a:t>
            </a:r>
            <a:r>
              <a:rPr lang="zh-CN" altLang="en-US" dirty="0"/>
              <a:t>定义为</a:t>
            </a:r>
            <a:r>
              <a:rPr lang="en-AU" altLang="zh-CN" dirty="0"/>
              <a:t>E</a:t>
            </a:r>
            <a:r>
              <a:rPr lang="zh-CN" altLang="en-US" dirty="0"/>
              <a:t>乘以</a:t>
            </a:r>
            <a:r>
              <a:rPr lang="en-AU" altLang="zh-CN" dirty="0"/>
              <a:t>E, </a:t>
            </a:r>
            <a:r>
              <a:rPr lang="zh-CN" altLang="en-US" dirty="0"/>
              <a:t>然后。。。</a:t>
            </a:r>
            <a:endParaRPr lang="en-AU" altLang="zh-CN" dirty="0"/>
          </a:p>
          <a:p>
            <a:r>
              <a:rPr lang="zh-CN" altLang="en-US" dirty="0"/>
              <a:t>最后我们就可以得到这个字符串。</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首先我们将介绍什么是上下文无关法，给出它的形式定义，以及一些概念。</a:t>
            </a:r>
            <a:endParaRPr lang="en-AU" altLang="zh-CN" dirty="0"/>
          </a:p>
          <a:p>
            <a:endParaRPr lang="en-AU" dirty="0"/>
          </a:p>
          <a:p>
            <a:r>
              <a:rPr lang="zh-CN" altLang="en-US" dirty="0"/>
              <a:t>比如。归约和派生，最左派生和最右派生。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记为</a:t>
            </a:r>
            <a:endParaRPr lang="en-AU" altLang="zh-CN" dirty="0"/>
          </a:p>
          <a:p>
            <a:endParaRPr lang="en-AU" dirty="0"/>
          </a:p>
          <a:p>
            <a:r>
              <a:rPr lang="zh-CN" altLang="en-US" dirty="0"/>
              <a:t>在派生符号的下面加上</a:t>
            </a:r>
            <a:r>
              <a:rPr lang="en-AU" altLang="zh-CN" dirty="0"/>
              <a:t>leftmost (</a:t>
            </a:r>
            <a:r>
              <a:rPr lang="en-AU" altLang="zh-CN" dirty="0" err="1"/>
              <a:t>lm</a:t>
            </a:r>
            <a:r>
              <a:rPr lang="en-AU" altLang="zh-CN" dirty="0"/>
              <a:t>)</a:t>
            </a:r>
            <a:r>
              <a:rPr lang="zh-CN" altLang="en-US" dirty="0"/>
              <a:t>的缩写，也就是</a:t>
            </a:r>
            <a:r>
              <a:rPr lang="en-AU" altLang="zh-CN" dirty="0" err="1"/>
              <a:t>lm</a:t>
            </a:r>
            <a:endParaRPr lang="en-AU" altLang="zh-CN" dirty="0"/>
          </a:p>
          <a:p>
            <a:endParaRPr lang="en-AU" dirty="0"/>
          </a:p>
          <a:p>
            <a:endParaRPr lang="en-AU" dirty="0"/>
          </a:p>
          <a:p>
            <a:endParaRPr lang="en-AU" dirty="0"/>
          </a:p>
          <a:p>
            <a:r>
              <a:rPr lang="zh-CN" altLang="en-US" dirty="0"/>
              <a:t>如果一个串可以由一个变元派生出来，那么一定存在最左和者最右派生。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最左派生。</a:t>
            </a:r>
            <a:endParaRPr lang="en-AU" altLang="zh-CN" dirty="0"/>
          </a:p>
          <a:p>
            <a:endParaRPr lang="en-AU" dirty="0"/>
          </a:p>
          <a:p>
            <a:r>
              <a:rPr lang="zh-CN" altLang="en-US" dirty="0"/>
              <a:t>首先，从开始符号</a:t>
            </a:r>
            <a:r>
              <a:rPr lang="en-AU" altLang="zh-CN" dirty="0"/>
              <a:t>E</a:t>
            </a:r>
            <a:r>
              <a:rPr lang="zh-CN" altLang="en-US" dirty="0"/>
              <a:t>开始，利用产生式</a:t>
            </a:r>
            <a:r>
              <a:rPr lang="en-AU" altLang="zh-CN" dirty="0"/>
              <a:t>(3)</a:t>
            </a:r>
            <a:r>
              <a:rPr lang="zh-CN" altLang="en-US" dirty="0"/>
              <a:t>，得到</a:t>
            </a:r>
            <a:r>
              <a:rPr lang="en-AU" altLang="zh-CN" dirty="0"/>
              <a:t>E*E</a:t>
            </a:r>
            <a:endParaRPr lang="en-AU" altLang="zh-CN" dirty="0"/>
          </a:p>
          <a:p>
            <a:endParaRPr lang="en-AU" dirty="0"/>
          </a:p>
          <a:p>
            <a:r>
              <a:rPr lang="zh-CN" altLang="en-US" dirty="0"/>
              <a:t>再利用产生式</a:t>
            </a:r>
            <a:r>
              <a:rPr lang="en-AU" altLang="zh-CN" dirty="0"/>
              <a:t>1,</a:t>
            </a:r>
            <a:r>
              <a:rPr lang="zh-CN" altLang="en-US" dirty="0"/>
              <a:t>得到替换最左的变元</a:t>
            </a:r>
            <a:r>
              <a:rPr lang="en-AU" altLang="zh-CN" dirty="0"/>
              <a:t>E, I*E</a:t>
            </a:r>
            <a:endParaRPr lang="en-AU" altLang="zh-CN" dirty="0"/>
          </a:p>
          <a:p>
            <a:endParaRPr lang="en-AU" dirty="0"/>
          </a:p>
          <a:p>
            <a:r>
              <a:rPr lang="zh-CN" altLang="en-US" dirty="0"/>
              <a:t>再利用产生式</a:t>
            </a:r>
            <a:r>
              <a:rPr lang="en-AU" altLang="zh-CN" dirty="0"/>
              <a:t>5,</a:t>
            </a:r>
            <a:r>
              <a:rPr lang="zh-CN" altLang="en-US" dirty="0"/>
              <a:t> 得到</a:t>
            </a:r>
            <a:r>
              <a:rPr lang="en-AU" altLang="zh-CN" dirty="0"/>
              <a:t>a*</a:t>
            </a:r>
            <a:r>
              <a:rPr lang="en-US" altLang="zh-CN" dirty="0"/>
              <a:t>E</a:t>
            </a:r>
            <a:endParaRPr lang="en-US" altLang="zh-CN" dirty="0"/>
          </a:p>
          <a:p>
            <a:endParaRPr lang="en-US" dirty="0"/>
          </a:p>
          <a:p>
            <a:r>
              <a:rPr lang="zh-CN" altLang="en-US" dirty="0"/>
              <a:t>这时候最左边的变元为</a:t>
            </a:r>
            <a:r>
              <a:rPr lang="en-AU" altLang="zh-CN" dirty="0"/>
              <a:t>E</a:t>
            </a:r>
            <a:endParaRPr lang="en-AU" altLang="zh-CN" dirty="0"/>
          </a:p>
          <a:p>
            <a:endParaRPr lang="en-AU" dirty="0"/>
          </a:p>
          <a:p>
            <a:r>
              <a:rPr lang="zh-CN" altLang="en-US" dirty="0"/>
              <a:t>我们利用产生式</a:t>
            </a:r>
            <a:r>
              <a:rPr lang="en-AU" altLang="zh-CN" dirty="0"/>
              <a:t>4</a:t>
            </a:r>
            <a:r>
              <a:rPr lang="zh-CN" altLang="en-US" dirty="0"/>
              <a:t>， 得到</a:t>
            </a:r>
            <a:r>
              <a:rPr lang="en-US" altLang="zh-CN" dirty="0"/>
              <a:t>a*</a:t>
            </a:r>
            <a:r>
              <a:rPr lang="zh-CN" altLang="en-US" dirty="0"/>
              <a:t>括号</a:t>
            </a:r>
            <a:r>
              <a:rPr lang="en-AU" altLang="zh-CN" dirty="0"/>
              <a:t>E</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最左派生。</a:t>
            </a:r>
            <a:endParaRPr lang="en-AU" altLang="zh-CN" dirty="0"/>
          </a:p>
          <a:p>
            <a:endParaRPr lang="en-AU" dirty="0"/>
          </a:p>
          <a:p>
            <a:r>
              <a:rPr lang="zh-CN" altLang="en-US" dirty="0"/>
              <a:t>首先，从开始符号</a:t>
            </a:r>
            <a:r>
              <a:rPr lang="en-AU" altLang="zh-CN" dirty="0"/>
              <a:t>E</a:t>
            </a:r>
            <a:r>
              <a:rPr lang="zh-CN" altLang="en-US" dirty="0"/>
              <a:t>开始，利用产生式</a:t>
            </a:r>
            <a:r>
              <a:rPr lang="en-AU" altLang="zh-CN" dirty="0"/>
              <a:t>(3)</a:t>
            </a:r>
            <a:r>
              <a:rPr lang="zh-CN" altLang="en-US" dirty="0"/>
              <a:t>，得到</a:t>
            </a:r>
            <a:r>
              <a:rPr lang="en-AU" altLang="zh-CN" dirty="0"/>
              <a:t>E*E</a:t>
            </a:r>
            <a:endParaRPr lang="en-AU" altLang="zh-CN" dirty="0"/>
          </a:p>
          <a:p>
            <a:endParaRPr lang="en-AU" dirty="0"/>
          </a:p>
          <a:p>
            <a:r>
              <a:rPr lang="zh-CN" altLang="en-US" dirty="0"/>
              <a:t>再利用产生式</a:t>
            </a:r>
            <a:r>
              <a:rPr lang="en-AU" altLang="zh-CN" dirty="0"/>
              <a:t>1,</a:t>
            </a:r>
            <a:r>
              <a:rPr lang="zh-CN" altLang="en-US" dirty="0"/>
              <a:t>得到替换最左的变元</a:t>
            </a:r>
            <a:r>
              <a:rPr lang="en-AU" altLang="zh-CN" dirty="0"/>
              <a:t>E, I*E</a:t>
            </a:r>
            <a:endParaRPr lang="en-AU" altLang="zh-CN" dirty="0"/>
          </a:p>
          <a:p>
            <a:endParaRPr lang="en-AU" dirty="0"/>
          </a:p>
          <a:p>
            <a:r>
              <a:rPr lang="zh-CN" altLang="en-US" dirty="0"/>
              <a:t>再利用产生式</a:t>
            </a:r>
            <a:r>
              <a:rPr lang="en-AU" altLang="zh-CN" dirty="0"/>
              <a:t>5,</a:t>
            </a:r>
            <a:r>
              <a:rPr lang="zh-CN" altLang="en-US" dirty="0"/>
              <a:t> 得到</a:t>
            </a:r>
            <a:r>
              <a:rPr lang="en-AU" altLang="zh-CN" dirty="0"/>
              <a:t>a*</a:t>
            </a:r>
            <a:r>
              <a:rPr lang="en-US" altLang="zh-CN" dirty="0"/>
              <a:t>E</a:t>
            </a:r>
            <a:endParaRPr lang="en-US" altLang="zh-CN" dirty="0"/>
          </a:p>
          <a:p>
            <a:endParaRPr lang="en-US" dirty="0"/>
          </a:p>
          <a:p>
            <a:r>
              <a:rPr lang="zh-CN" altLang="en-US" dirty="0"/>
              <a:t>这时候最左边的变元为</a:t>
            </a:r>
            <a:r>
              <a:rPr lang="en-AU" altLang="zh-CN" dirty="0"/>
              <a:t>E</a:t>
            </a:r>
            <a:endParaRPr lang="en-AU" altLang="zh-CN" dirty="0"/>
          </a:p>
          <a:p>
            <a:endParaRPr lang="en-AU" dirty="0"/>
          </a:p>
          <a:p>
            <a:r>
              <a:rPr lang="zh-CN" altLang="en-US" dirty="0"/>
              <a:t>我们利用产生式</a:t>
            </a:r>
            <a:r>
              <a:rPr lang="en-AU" altLang="zh-CN" dirty="0"/>
              <a:t>4</a:t>
            </a:r>
            <a:r>
              <a:rPr lang="zh-CN" altLang="en-US" dirty="0"/>
              <a:t>， 得到</a:t>
            </a:r>
            <a:r>
              <a:rPr lang="en-US" altLang="zh-CN" dirty="0"/>
              <a:t>a*</a:t>
            </a:r>
            <a:r>
              <a:rPr lang="zh-CN" altLang="en-US" dirty="0"/>
              <a:t>括号</a:t>
            </a:r>
            <a:r>
              <a:rPr lang="en-AU" altLang="zh-CN" dirty="0"/>
              <a:t>E</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首先我们将介绍什么是上下文无关法，给出它的形式定义，以及一些概念。</a:t>
            </a:r>
            <a:endParaRPr lang="en-AU" altLang="zh-CN" dirty="0"/>
          </a:p>
          <a:p>
            <a:endParaRPr lang="en-AU" dirty="0"/>
          </a:p>
          <a:p>
            <a:r>
              <a:rPr lang="zh-CN" altLang="en-US" dirty="0"/>
              <a:t>比如。归约和派生，最左派生和最右派生。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利用派生，我们就可以定义文法的语言了。</a:t>
            </a:r>
            <a:endParaRPr lang="en-AU" altLang="zh-CN" dirty="0"/>
          </a:p>
          <a:p>
            <a:endParaRPr lang="en-AU" altLang="zh-CN" dirty="0"/>
          </a:p>
          <a:p>
            <a:r>
              <a:rPr lang="zh-CN" altLang="en-US" dirty="0"/>
              <a:t>记为</a:t>
            </a:r>
            <a:r>
              <a:rPr lang="en-AU" altLang="zh-CN" dirty="0"/>
              <a:t>L(G). </a:t>
            </a:r>
            <a:endParaRPr lang="en-AU" altLang="zh-CN" dirty="0"/>
          </a:p>
          <a:p>
            <a:endParaRPr lang="en-AU" dirty="0"/>
          </a:p>
          <a:p>
            <a:r>
              <a:rPr lang="zh-CN" altLang="en-US" dirty="0"/>
              <a:t>所有这样的</a:t>
            </a:r>
            <a:r>
              <a:rPr lang="en-AU" altLang="zh-CN" dirty="0"/>
              <a:t>w, </a:t>
            </a:r>
            <a:r>
              <a:rPr lang="zh-CN" altLang="en-US" dirty="0"/>
              <a:t>就定义了这个文法的语言。</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如果两个文法表示的语言是相同的，那么这两个文法是等价的。</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如果派生的每一步都是最左派生，那么就是左句型</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如果派生的每一步都是最右派生，那么就是右句型</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我们从开始符号</a:t>
            </a:r>
            <a:r>
              <a:rPr lang="en-US" altLang="zh-CN" dirty="0"/>
              <a:t>S</a:t>
            </a:r>
            <a:r>
              <a:rPr lang="zh-CN" altLang="en-US" dirty="0"/>
              <a:t>开始，看它能派生出什么。</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首先我们将介绍什么是上下文无关法，给出它的形式定义，以及一些概念。</a:t>
            </a:r>
            <a:endParaRPr lang="en-AU" altLang="zh-CN" dirty="0"/>
          </a:p>
          <a:p>
            <a:endParaRPr lang="en-AU" dirty="0"/>
          </a:p>
          <a:p>
            <a:r>
              <a:rPr lang="zh-CN" altLang="en-US" dirty="0"/>
              <a:t>比如。归约和派生，最左派生和最右派生。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比如，前面的算数表达式文法</a:t>
            </a:r>
            <a:r>
              <a:rPr lang="en-AU" altLang="zh-CN" dirty="0"/>
              <a:t>G</a:t>
            </a:r>
            <a:r>
              <a:rPr lang="en-US" altLang="zh-CN" dirty="0"/>
              <a:t>_{exp}</a:t>
            </a:r>
            <a:r>
              <a:rPr lang="zh-CN" altLang="en-US" dirty="0"/>
              <a:t>推导算数表达式</a:t>
            </a:r>
            <a:r>
              <a:rPr lang="en-AU" altLang="zh-CN" dirty="0"/>
              <a:t>a*(</a:t>
            </a:r>
            <a:r>
              <a:rPr lang="en-AU" altLang="zh-CN" dirty="0" err="1"/>
              <a:t>a+a</a:t>
            </a:r>
            <a:r>
              <a:rPr lang="en-AU" altLang="zh-CN" dirty="0"/>
              <a:t>)</a:t>
            </a:r>
            <a:r>
              <a:rPr lang="zh-CN" altLang="en-US" dirty="0"/>
              <a:t>的过程，可以表示成这样的一个树形结构。叫做语法分析树。</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endParaRPr lang="en-AU" dirty="0"/>
          </a:p>
          <a:p>
            <a:r>
              <a:rPr lang="zh-CN" altLang="en-US" dirty="0"/>
              <a:t>如果</a:t>
            </a:r>
            <a:r>
              <a:rPr lang="en-AU" altLang="zh-CN" dirty="0"/>
              <a:t>xi</a:t>
            </a:r>
            <a:r>
              <a:rPr lang="zh-CN" altLang="en-US" dirty="0"/>
              <a:t>是空串，那么。。</a:t>
            </a:r>
            <a:endParaRPr lang="en-AU" altLang="zh-CN" dirty="0"/>
          </a:p>
          <a:p>
            <a:endParaRPr lang="en-AU" dirty="0"/>
          </a:p>
          <a:p>
            <a:r>
              <a:rPr lang="zh-CN" altLang="en-US" dirty="0"/>
              <a:t>也就是说，如果某个内节点有一个子节点为空串，那么它只有一个子节点。</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派生的第一步，显然是从</a:t>
            </a:r>
            <a:r>
              <a:rPr lang="en-US" altLang="zh-CN" dirty="0"/>
              <a:t>A</a:t>
            </a:r>
            <a:r>
              <a:rPr lang="zh-CN" altLang="en-US" dirty="0"/>
              <a:t>开始，利用某条产生式，先派生一个符号串</a:t>
            </a:r>
            <a:r>
              <a:rPr lang="en-AU" altLang="zh-CN" dirty="0"/>
              <a:t>X1…</a:t>
            </a:r>
            <a:r>
              <a:rPr lang="en-AU" altLang="zh-CN" dirty="0" err="1"/>
              <a:t>Xn</a:t>
            </a:r>
            <a:r>
              <a:rPr lang="zh-CN" altLang="en-US" dirty="0"/>
              <a:t>，再派生</a:t>
            </a:r>
            <a:r>
              <a:rPr lang="en-AU" altLang="zh-CN" dirty="0"/>
              <a:t>n</a:t>
            </a:r>
            <a:r>
              <a:rPr lang="zh-CN" altLang="en-US" dirty="0"/>
              <a:t>步，得到</a:t>
            </a:r>
            <a:r>
              <a:rPr lang="en-US" altLang="zh-CN" dirty="0"/>
              <a:t>alpha</a:t>
            </a:r>
            <a:endParaRPr lang="en-US" altLang="zh-CN" dirty="0"/>
          </a:p>
          <a:p>
            <a:endParaRPr lang="en-US" dirty="0"/>
          </a:p>
          <a:p>
            <a:r>
              <a:rPr lang="zh-CN" altLang="en-US" dirty="0"/>
              <a:t>因为每个符号</a:t>
            </a:r>
            <a:r>
              <a:rPr lang="en-AU" altLang="zh-CN" dirty="0"/>
              <a:t>X</a:t>
            </a:r>
            <a:r>
              <a:rPr lang="en-US" altLang="zh-CN" dirty="0" err="1"/>
              <a:t>i</a:t>
            </a:r>
            <a:r>
              <a:rPr lang="zh-CN" altLang="en-US" dirty="0"/>
              <a:t>都派生出来某些符号串在</a:t>
            </a:r>
            <a:r>
              <a:rPr lang="en-AU" altLang="zh-CN" dirty="0"/>
              <a:t>alpha</a:t>
            </a:r>
            <a:r>
              <a:rPr lang="zh-CN" altLang="en-US" dirty="0"/>
              <a:t>当中，所以</a:t>
            </a:r>
            <a:r>
              <a:rPr lang="en-AU" altLang="zh-CN" dirty="0"/>
              <a:t>alpha</a:t>
            </a:r>
            <a:r>
              <a:rPr lang="zh-CN" altLang="en-US" dirty="0"/>
              <a:t>可以看成是</a:t>
            </a:r>
            <a:r>
              <a:rPr lang="en-AU" altLang="zh-CN" dirty="0"/>
              <a:t>alpha1</a:t>
            </a:r>
            <a:r>
              <a:rPr lang="zh-CN" altLang="en-US" dirty="0"/>
              <a:t>到</a:t>
            </a:r>
            <a:r>
              <a:rPr lang="en-AU" altLang="zh-CN" dirty="0" err="1"/>
              <a:t>alpham</a:t>
            </a:r>
            <a:r>
              <a:rPr lang="zh-CN" altLang="en-US" dirty="0"/>
              <a:t>的连接。而每一个</a:t>
            </a:r>
            <a:r>
              <a:rPr lang="en-AU" altLang="zh-CN" dirty="0"/>
              <a:t>alpha </a:t>
            </a:r>
            <a:r>
              <a:rPr lang="en-AU" altLang="zh-CN" dirty="0" err="1"/>
              <a:t>i</a:t>
            </a:r>
            <a:r>
              <a:rPr lang="zh-CN" altLang="en-US" dirty="0"/>
              <a:t>，是由某个</a:t>
            </a:r>
            <a:r>
              <a:rPr lang="en-AU" altLang="zh-CN" dirty="0" err="1"/>
              <a:t>X_i</a:t>
            </a:r>
            <a:r>
              <a:rPr lang="zh-CN" altLang="en-US" dirty="0"/>
              <a:t>派生来的。</a:t>
            </a:r>
            <a:endParaRPr lang="en-AU" altLang="zh-CN" dirty="0"/>
          </a:p>
          <a:p>
            <a:endParaRPr lang="en-AU" dirty="0"/>
          </a:p>
          <a:p>
            <a:r>
              <a:rPr lang="zh-CN" altLang="en-US" dirty="0"/>
              <a:t>而显然</a:t>
            </a:r>
            <a:r>
              <a:rPr lang="en-AU" altLang="zh-CN" dirty="0"/>
              <a:t>X</a:t>
            </a:r>
            <a:r>
              <a:rPr lang="en-US" altLang="zh-CN" dirty="0" err="1"/>
              <a:t>i</a:t>
            </a:r>
            <a:r>
              <a:rPr lang="zh-CN" altLang="en-US" dirty="0"/>
              <a:t>派生出</a:t>
            </a:r>
            <a:r>
              <a:rPr lang="en-AU" altLang="zh-CN" dirty="0" err="1"/>
              <a:t>alpha_i</a:t>
            </a:r>
            <a:r>
              <a:rPr lang="zh-CN" altLang="en-US" dirty="0"/>
              <a:t>不超过</a:t>
            </a:r>
            <a:r>
              <a:rPr lang="en-AU" altLang="zh-CN" dirty="0"/>
              <a:t>n</a:t>
            </a:r>
            <a:r>
              <a:rPr lang="zh-CN" altLang="en-US" dirty="0"/>
              <a:t>步，</a:t>
            </a:r>
            <a:endParaRPr lang="en-AU" altLang="zh-CN" dirty="0"/>
          </a:p>
          <a:p>
            <a:endParaRPr lang="en-AU" dirty="0"/>
          </a:p>
          <a:p>
            <a:r>
              <a:rPr lang="zh-CN" altLang="en-US" dirty="0"/>
              <a:t>则根据归纳假设，存在一棵以</a:t>
            </a:r>
            <a:r>
              <a:rPr lang="en-AU" altLang="zh-CN" dirty="0"/>
              <a:t>Xi</a:t>
            </a:r>
            <a:r>
              <a:rPr lang="zh-CN" altLang="en-US" dirty="0"/>
              <a:t>为根，</a:t>
            </a:r>
            <a:r>
              <a:rPr lang="en-AU" altLang="zh-CN" dirty="0" err="1"/>
              <a:t>alphai</a:t>
            </a:r>
            <a:r>
              <a:rPr lang="zh-CN" altLang="en-US" dirty="0"/>
              <a:t>为产物的这样的一个语法分析树。</a:t>
            </a:r>
            <a:endParaRPr lang="en-AU" altLang="zh-CN" dirty="0"/>
          </a:p>
          <a:p>
            <a:endParaRPr lang="en-AU" dirty="0"/>
          </a:p>
          <a:p>
            <a:r>
              <a:rPr lang="zh-CN" altLang="en-US" dirty="0"/>
              <a:t>那么我们就可以利用这条产生式，和这些语法树，构造一个以</a:t>
            </a:r>
            <a:r>
              <a:rPr lang="en-AU" altLang="zh-CN" dirty="0"/>
              <a:t>A</a:t>
            </a:r>
            <a:r>
              <a:rPr lang="zh-CN" altLang="en-US" dirty="0"/>
              <a:t>为根，每个</a:t>
            </a:r>
            <a:r>
              <a:rPr lang="en-AU" altLang="zh-CN" dirty="0"/>
              <a:t>X</a:t>
            </a:r>
            <a:r>
              <a:rPr lang="en-US" altLang="zh-CN" dirty="0" err="1"/>
              <a:t>i</a:t>
            </a:r>
            <a:r>
              <a:rPr lang="zh-CN" altLang="en-US" dirty="0"/>
              <a:t>为子树的这样一个语法分析树。</a:t>
            </a:r>
            <a:endParaRPr lang="en-AU" altLang="zh-CN" dirty="0"/>
          </a:p>
          <a:p>
            <a:endParaRPr lang="en-AU" dirty="0"/>
          </a:p>
          <a:p>
            <a:r>
              <a:rPr lang="zh-CN" altLang="en-US" dirty="0"/>
              <a:t>所以当</a:t>
            </a:r>
            <a:r>
              <a:rPr lang="en-AU" altLang="zh-CN" dirty="0"/>
              <a:t>j=n+1</a:t>
            </a:r>
            <a:r>
              <a:rPr lang="zh-CN" altLang="en-US" dirty="0"/>
              <a:t>的时候，也是存在这样的语法分析树的。我们就证明了充分性。</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必要性； 如果存在一棵以</a:t>
            </a:r>
            <a:r>
              <a:rPr lang="en-AU" altLang="zh-CN" dirty="0"/>
              <a:t>A</a:t>
            </a:r>
            <a:r>
              <a:rPr lang="zh-CN" altLang="en-US" dirty="0"/>
              <a:t>为根，</a:t>
            </a:r>
            <a:r>
              <a:rPr lang="en-US" altLang="zh-CN" dirty="0" err="1"/>
              <a:t>alpa</a:t>
            </a:r>
            <a:r>
              <a:rPr lang="zh-CN" altLang="en-US" dirty="0"/>
              <a:t>为产物的语法分析树，那么一定在文法中</a:t>
            </a:r>
            <a:r>
              <a:rPr lang="en-US" altLang="zh-CN" dirty="0"/>
              <a:t>A</a:t>
            </a:r>
            <a:r>
              <a:rPr lang="zh-CN" altLang="en-US" dirty="0"/>
              <a:t>可以派生出</a:t>
            </a:r>
            <a:r>
              <a:rPr lang="en-AU" altLang="zh-CN" dirty="0"/>
              <a:t>alpha.</a:t>
            </a:r>
            <a:endParaRPr lang="en-AU" altLang="zh-CN" dirty="0"/>
          </a:p>
          <a:p>
            <a:endParaRPr lang="en-AU" dirty="0"/>
          </a:p>
          <a:p>
            <a:r>
              <a:rPr lang="zh-CN" altLang="en-US" dirty="0"/>
              <a:t>当</a:t>
            </a:r>
            <a:r>
              <a:rPr lang="en-US" altLang="zh-CN" dirty="0"/>
              <a:t>j=1</a:t>
            </a:r>
            <a:r>
              <a:rPr lang="zh-CN" altLang="en-US" dirty="0"/>
              <a:t>时，也就是内节点个数为</a:t>
            </a:r>
            <a:r>
              <a:rPr lang="en-AU" altLang="zh-CN" dirty="0"/>
              <a:t>1</a:t>
            </a:r>
            <a:r>
              <a:rPr lang="zh-CN" altLang="en-US" dirty="0"/>
              <a:t>，内节点只能是根节点。只有一个变元</a:t>
            </a:r>
            <a:r>
              <a:rPr lang="en-US" altLang="zh-CN" dirty="0"/>
              <a:t>A</a:t>
            </a:r>
            <a:r>
              <a:rPr lang="zh-CN" altLang="en-US" dirty="0"/>
              <a:t>，所以</a:t>
            </a:r>
            <a:r>
              <a:rPr lang="en-US" altLang="zh-CN" dirty="0"/>
              <a:t>A</a:t>
            </a:r>
            <a:r>
              <a:rPr lang="zh-CN" altLang="en-US" dirty="0"/>
              <a:t>定义为它的产物</a:t>
            </a:r>
            <a:r>
              <a:rPr lang="en-AU" altLang="zh-CN" dirty="0"/>
              <a:t>alpha</a:t>
            </a:r>
            <a:r>
              <a:rPr lang="zh-CN" altLang="en-US" dirty="0"/>
              <a:t>一定是条产生式，由这条产生式，</a:t>
            </a:r>
            <a:r>
              <a:rPr lang="en-US" altLang="zh-CN" dirty="0"/>
              <a:t>A</a:t>
            </a:r>
            <a:r>
              <a:rPr lang="zh-CN" altLang="en-US" dirty="0"/>
              <a:t>可以派生出</a:t>
            </a:r>
            <a:r>
              <a:rPr lang="en-AU" altLang="zh-CN" dirty="0"/>
              <a:t>alpha</a:t>
            </a:r>
            <a:r>
              <a:rPr lang="zh-CN" altLang="en-US" dirty="0"/>
              <a:t>。</a:t>
            </a:r>
            <a:endParaRPr lang="en-AU" altLang="zh-CN" dirty="0"/>
          </a:p>
          <a:p>
            <a:endParaRPr lang="en-AU" dirty="0"/>
          </a:p>
          <a:p>
            <a:r>
              <a:rPr lang="zh-CN" altLang="en-US" dirty="0"/>
              <a:t>不妨设每个</a:t>
            </a:r>
            <a:r>
              <a:rPr lang="en-AU" altLang="zh-CN" dirty="0"/>
              <a:t>Xi</a:t>
            </a:r>
            <a:r>
              <a:rPr lang="zh-CN" altLang="en-US" dirty="0"/>
              <a:t>的产物为</a:t>
            </a:r>
            <a:r>
              <a:rPr lang="en-AU" altLang="zh-CN" dirty="0"/>
              <a:t>alpha</a:t>
            </a:r>
            <a:r>
              <a:rPr lang="en-US" altLang="zh-CN" dirty="0" err="1"/>
              <a:t>i</a:t>
            </a:r>
            <a:r>
              <a:rPr lang="en-US" altLang="zh-CN" dirty="0"/>
              <a:t>.</a:t>
            </a:r>
            <a:endParaRPr lang="en-US" altLang="zh-CN" dirty="0"/>
          </a:p>
          <a:p>
            <a:endParaRPr lang="en-US" dirty="0"/>
          </a:p>
          <a:p>
            <a:r>
              <a:rPr lang="zh-CN" altLang="en-US" dirty="0"/>
              <a:t>每个</a:t>
            </a:r>
            <a:r>
              <a:rPr lang="en-AU" altLang="zh-CN" dirty="0" err="1"/>
              <a:t>alphai</a:t>
            </a:r>
            <a:r>
              <a:rPr lang="zh-CN" altLang="en-US" dirty="0"/>
              <a:t>是产物</a:t>
            </a:r>
            <a:r>
              <a:rPr lang="en-AU" altLang="zh-CN" dirty="0"/>
              <a:t>alp</a:t>
            </a:r>
            <a:r>
              <a:rPr lang="en-US" altLang="zh-CN" dirty="0"/>
              <a:t>ha</a:t>
            </a:r>
            <a:r>
              <a:rPr lang="zh-CN" altLang="en-US" dirty="0"/>
              <a:t>的一部分，所以</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必要性； 如果存在一棵以</a:t>
            </a:r>
            <a:r>
              <a:rPr lang="en-AU" altLang="zh-CN" dirty="0"/>
              <a:t>A</a:t>
            </a:r>
            <a:r>
              <a:rPr lang="zh-CN" altLang="en-US" dirty="0"/>
              <a:t>为根，</a:t>
            </a:r>
            <a:r>
              <a:rPr lang="en-US" altLang="zh-CN" dirty="0" err="1"/>
              <a:t>alpa</a:t>
            </a:r>
            <a:r>
              <a:rPr lang="zh-CN" altLang="en-US" dirty="0"/>
              <a:t>为产物的语法分析树，那么一定在文法中</a:t>
            </a:r>
            <a:r>
              <a:rPr lang="en-US" altLang="zh-CN" dirty="0"/>
              <a:t>A</a:t>
            </a:r>
            <a:r>
              <a:rPr lang="zh-CN" altLang="en-US" dirty="0"/>
              <a:t>可以派生出</a:t>
            </a:r>
            <a:r>
              <a:rPr lang="en-AU" altLang="zh-CN" dirty="0"/>
              <a:t>alpha.</a:t>
            </a:r>
            <a:endParaRPr lang="en-AU" altLang="zh-CN" dirty="0"/>
          </a:p>
          <a:p>
            <a:endParaRPr lang="en-AU" dirty="0"/>
          </a:p>
          <a:p>
            <a:r>
              <a:rPr lang="zh-CN" altLang="en-US" dirty="0"/>
              <a:t>当</a:t>
            </a:r>
            <a:r>
              <a:rPr lang="en-US" altLang="zh-CN" dirty="0"/>
              <a:t>j=1</a:t>
            </a:r>
            <a:r>
              <a:rPr lang="zh-CN" altLang="en-US" dirty="0"/>
              <a:t>时，也就是内节点个数为</a:t>
            </a:r>
            <a:r>
              <a:rPr lang="en-AU" altLang="zh-CN" dirty="0"/>
              <a:t>1</a:t>
            </a:r>
            <a:r>
              <a:rPr lang="zh-CN" altLang="en-US" dirty="0"/>
              <a:t>，内节点只能是根节点。只有一个变元</a:t>
            </a:r>
            <a:r>
              <a:rPr lang="en-US" altLang="zh-CN" dirty="0"/>
              <a:t>A</a:t>
            </a:r>
            <a:r>
              <a:rPr lang="zh-CN" altLang="en-US" dirty="0"/>
              <a:t>，所以</a:t>
            </a:r>
            <a:r>
              <a:rPr lang="en-US" altLang="zh-CN" dirty="0"/>
              <a:t>A</a:t>
            </a:r>
            <a:r>
              <a:rPr lang="zh-CN" altLang="en-US" dirty="0"/>
              <a:t>定义为它的产物</a:t>
            </a:r>
            <a:r>
              <a:rPr lang="en-AU" altLang="zh-CN" dirty="0"/>
              <a:t>alpha</a:t>
            </a:r>
            <a:r>
              <a:rPr lang="zh-CN" altLang="en-US" dirty="0"/>
              <a:t>一定是条产生式，由这条产生式，</a:t>
            </a:r>
            <a:r>
              <a:rPr lang="en-US" altLang="zh-CN" dirty="0"/>
              <a:t>A</a:t>
            </a:r>
            <a:r>
              <a:rPr lang="zh-CN" altLang="en-US" dirty="0"/>
              <a:t>可以派生出</a:t>
            </a:r>
            <a:r>
              <a:rPr lang="en-AU" altLang="zh-CN" dirty="0"/>
              <a:t>alpha</a:t>
            </a:r>
            <a:r>
              <a:rPr lang="zh-CN" altLang="en-US" dirty="0"/>
              <a:t>。</a:t>
            </a:r>
            <a:endParaRPr lang="en-AU" altLang="zh-CN" dirty="0"/>
          </a:p>
          <a:p>
            <a:endParaRPr lang="en-AU" dirty="0"/>
          </a:p>
          <a:p>
            <a:r>
              <a:rPr lang="zh-CN" altLang="en-US" dirty="0"/>
              <a:t>不妨设每个</a:t>
            </a:r>
            <a:r>
              <a:rPr lang="en-AU" altLang="zh-CN" dirty="0"/>
              <a:t>Xi</a:t>
            </a:r>
            <a:r>
              <a:rPr lang="zh-CN" altLang="en-US" dirty="0"/>
              <a:t>的产物为</a:t>
            </a:r>
            <a:r>
              <a:rPr lang="en-AU" altLang="zh-CN" dirty="0"/>
              <a:t>alpha</a:t>
            </a:r>
            <a:r>
              <a:rPr lang="en-US" altLang="zh-CN" dirty="0" err="1"/>
              <a:t>i</a:t>
            </a:r>
            <a:r>
              <a:rPr lang="en-US" altLang="zh-CN" dirty="0"/>
              <a:t>.</a:t>
            </a:r>
            <a:endParaRPr lang="en-US" altLang="zh-CN" dirty="0"/>
          </a:p>
          <a:p>
            <a:endParaRPr lang="en-US" dirty="0"/>
          </a:p>
          <a:p>
            <a:r>
              <a:rPr lang="zh-CN" altLang="en-US" dirty="0"/>
              <a:t>每个</a:t>
            </a:r>
            <a:r>
              <a:rPr lang="en-AU" altLang="zh-CN" dirty="0" err="1"/>
              <a:t>alphai</a:t>
            </a:r>
            <a:r>
              <a:rPr lang="zh-CN" altLang="en-US" dirty="0"/>
              <a:t>是产物</a:t>
            </a:r>
            <a:r>
              <a:rPr lang="en-AU" altLang="zh-CN" dirty="0"/>
              <a:t>alp</a:t>
            </a:r>
            <a:r>
              <a:rPr lang="en-US" altLang="zh-CN" dirty="0"/>
              <a:t>ha</a:t>
            </a:r>
            <a:r>
              <a:rPr lang="zh-CN" altLang="en-US" dirty="0"/>
              <a:t>的一部分，所以</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r>
              <a:rPr lang="zh-CN" altLang="en-US" dirty="0"/>
              <a:t>以及</a:t>
            </a:r>
            <a:endParaRPr lang="en-AU" altLang="zh-CN" dirty="0"/>
          </a:p>
          <a:p>
            <a:r>
              <a:rPr lang="en-US" altLang="zh-CN" dirty="0"/>
              <a:t>A</a:t>
            </a:r>
            <a:r>
              <a:rPr lang="zh-CN" altLang="en-US" dirty="0"/>
              <a:t>派生出</a:t>
            </a:r>
            <a:r>
              <a:rPr lang="en-AU" altLang="zh-CN" dirty="0"/>
              <a:t>w</a:t>
            </a:r>
            <a:endParaRPr lang="en-AU" altLang="zh-CN" dirty="0"/>
          </a:p>
          <a:p>
            <a:r>
              <a:rPr lang="en-AU" dirty="0"/>
              <a:t>A</a:t>
            </a:r>
            <a:r>
              <a:rPr lang="zh-CN" altLang="en-US" dirty="0"/>
              <a:t>最左派生出</a:t>
            </a:r>
            <a:r>
              <a:rPr lang="en-AU" altLang="zh-CN" dirty="0"/>
              <a:t>w</a:t>
            </a:r>
            <a:endParaRPr lang="en-AU" altLang="zh-CN" dirty="0"/>
          </a:p>
          <a:p>
            <a:r>
              <a:rPr lang="en-AU" dirty="0"/>
              <a:t>A</a:t>
            </a:r>
            <a:r>
              <a:rPr lang="zh-CN" altLang="en-US" dirty="0"/>
              <a:t>最右派生出</a:t>
            </a:r>
            <a:r>
              <a:rPr lang="en-AU" altLang="zh-CN" dirty="0"/>
              <a:t>w.</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首先我们将介绍什么是上下文无关法，给出它的形式定义，以及一些概念。</a:t>
            </a:r>
            <a:endParaRPr lang="en-AU" altLang="zh-CN" dirty="0"/>
          </a:p>
          <a:p>
            <a:endParaRPr lang="en-AU" dirty="0"/>
          </a:p>
          <a:p>
            <a:r>
              <a:rPr lang="zh-CN" altLang="en-US" dirty="0"/>
              <a:t>比如。归约和派生，最左派生和最右派生。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如果分析</a:t>
            </a:r>
            <a:r>
              <a:rPr lang="en-AU" altLang="zh-CN" dirty="0" err="1"/>
              <a:t>a+a</a:t>
            </a:r>
            <a:r>
              <a:rPr lang="en-AU" altLang="zh-CN" dirty="0"/>
              <a:t>*a</a:t>
            </a:r>
            <a:r>
              <a:rPr lang="zh-CN" altLang="en-US" dirty="0"/>
              <a:t>这样的符号串，可以有两棵语法分析树。这种情况，我们称文法是有歧义的。</a:t>
            </a:r>
            <a:endParaRPr lang="en-AU" altLang="zh-CN" dirty="0"/>
          </a:p>
          <a:p>
            <a:endParaRPr lang="en-AU" altLang="zh-CN" dirty="0"/>
          </a:p>
          <a:p>
            <a:r>
              <a:rPr lang="zh-CN" altLang="en-US" dirty="0"/>
              <a:t>如果把树形结构看作是这个算数表达式的语义的话，那么显然其中一个树所表示的运算是正确的，而另外一个是错误的。</a:t>
            </a:r>
            <a:endParaRPr lang="en-AU" altLang="zh-CN" dirty="0"/>
          </a:p>
          <a:p>
            <a:endParaRPr lang="en-AU" altLang="zh-CN" dirty="0"/>
          </a:p>
          <a:p>
            <a:r>
              <a:rPr lang="zh-CN" altLang="en-US" dirty="0"/>
              <a:t>而因为乘法是优先级高于加法，所以这样的一个算数表达式应该是先做乘法，再做加法。所以左边的这个语法树可以正确的表达。右边则是由错误的。如果我们使用这个文法去设计编译器的话，它是无法去判断究竟哪个是正确的，所以就可能会对这个算数表达式分析错。</a:t>
            </a:r>
            <a:endParaRPr lang="en-AU" altLang="zh-CN" dirty="0"/>
          </a:p>
          <a:p>
            <a:endParaRPr lang="en-AU" altLang="zh-CN" dirty="0"/>
          </a:p>
          <a:p>
            <a:r>
              <a:rPr lang="zh-CN" altLang="en-US" dirty="0"/>
              <a:t>所以文法的歧义性对于像程序设计语言的设计这样的任务是有害的。</a:t>
            </a:r>
            <a:endParaRPr lang="en-AU" altLang="zh-CN" dirty="0"/>
          </a:p>
          <a:p>
            <a:endParaRPr lang="en-AU" altLang="zh-CN" dirty="0"/>
          </a:p>
          <a:p>
            <a:r>
              <a:rPr lang="zh-CN" altLang="en-US" dirty="0"/>
              <a:t>在文法里面，派生是的符号串，并不一定是字符串。</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我们通过引入不同的变元来考虑优先级的不同，去重新设计这部分的文法。</a:t>
            </a:r>
            <a:endParaRPr lang="en-AU" altLang="zh-CN" dirty="0"/>
          </a:p>
          <a:p>
            <a:endParaRPr lang="en-AU" dirty="0"/>
          </a:p>
          <a:p>
            <a:r>
              <a:rPr lang="zh-CN" altLang="en-US" dirty="0"/>
              <a:t>那么这个时候，它在分析加法和乘法混合的时候，就不会有歧义的情况了。这样我们通过重</a:t>
            </a:r>
            <a:endParaRPr lang="en-AU" altLang="zh-CN" dirty="0"/>
          </a:p>
          <a:p>
            <a:endParaRPr lang="en-AU" altLang="zh-CN" dirty="0"/>
          </a:p>
          <a:p>
            <a:r>
              <a:rPr lang="zh-CN" altLang="en-US" dirty="0"/>
              <a:t>新设计文法，消除了歧义性。</a:t>
            </a:r>
            <a:endParaRPr lang="en-AU" altLang="zh-CN" dirty="0"/>
          </a:p>
          <a:p>
            <a:endParaRPr lang="en-AU" dirty="0"/>
          </a:p>
          <a:p>
            <a:r>
              <a:rPr lang="zh-CN" altLang="en-US" dirty="0"/>
              <a:t>新引入变量</a:t>
            </a:r>
            <a:r>
              <a:rPr lang="en-AU" altLang="zh-CN" dirty="0"/>
              <a:t>T</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3366FF"/>
                </a:solidFill>
              </a:rPr>
              <a:t>Intuitively</a:t>
            </a:r>
            <a:r>
              <a:rPr lang="en-US" altLang="en-US" dirty="0"/>
              <a:t>, at least some of the strings of the form 0</a:t>
            </a:r>
            <a:r>
              <a:rPr lang="en-US" altLang="en-US" baseline="30000" dirty="0"/>
              <a:t>n</a:t>
            </a:r>
            <a:r>
              <a:rPr lang="en-US" altLang="en-US" dirty="0"/>
              <a:t>1</a:t>
            </a:r>
            <a:r>
              <a:rPr lang="en-US" altLang="en-US" baseline="30000" dirty="0"/>
              <a:t>n</a:t>
            </a:r>
            <a:r>
              <a:rPr lang="en-US" altLang="en-US" dirty="0"/>
              <a:t>2</a:t>
            </a:r>
            <a:r>
              <a:rPr lang="en-US" altLang="en-US" baseline="30000" dirty="0"/>
              <a:t>n</a:t>
            </a:r>
            <a:r>
              <a:rPr lang="en-US" altLang="en-US" dirty="0"/>
              <a:t> must be generated by two different parse trees, one based on checking the 0’s and 1’s, the other based on checking the 1’s and 2’s.</a:t>
            </a:r>
            <a:endParaRPr lang="en-US" altLang="en-US"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3366FF"/>
                </a:solidFill>
              </a:rPr>
              <a:t>Intuitively</a:t>
            </a:r>
            <a:r>
              <a:rPr lang="en-US" altLang="en-US" dirty="0"/>
              <a:t>, at least some of the strings of the form 0</a:t>
            </a:r>
            <a:r>
              <a:rPr lang="en-US" altLang="en-US" baseline="30000" dirty="0"/>
              <a:t>n</a:t>
            </a:r>
            <a:r>
              <a:rPr lang="en-US" altLang="en-US" dirty="0"/>
              <a:t>1</a:t>
            </a:r>
            <a:r>
              <a:rPr lang="en-US" altLang="en-US" baseline="30000" dirty="0"/>
              <a:t>n</a:t>
            </a:r>
            <a:r>
              <a:rPr lang="en-US" altLang="en-US" dirty="0"/>
              <a:t>2</a:t>
            </a:r>
            <a:r>
              <a:rPr lang="en-US" altLang="en-US" baseline="30000" dirty="0"/>
              <a:t>n</a:t>
            </a:r>
            <a:r>
              <a:rPr lang="en-US" altLang="en-US" dirty="0"/>
              <a:t> must be generated by two different parse trees, one based on checking the 0’s and 1’s, the other based on checking the 1’s and 2’s.</a:t>
            </a:r>
            <a:endParaRPr lang="en-US" altLang="en-US"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首先我们将介绍什么是上下文无关法，给出它的形式定义，以及一些概念。</a:t>
            </a:r>
            <a:endParaRPr lang="en-AU" altLang="zh-CN" dirty="0"/>
          </a:p>
          <a:p>
            <a:endParaRPr lang="en-AU" dirty="0"/>
          </a:p>
          <a:p>
            <a:r>
              <a:rPr lang="zh-CN" altLang="en-US" dirty="0"/>
              <a:t>比如。归约和派生，最左派生和最右派生。</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If we eliminated unreachable symbols first, we would find everything is reachable.</a:t>
            </a:r>
            <a:endParaRPr lang="en-US" altLang="en-US"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dirty="0"/>
              <a:t>If we eliminated unreachable symbols first, we would find everything is reachable.</a:t>
            </a:r>
            <a:endParaRPr lang="en-US" altLang="en-US"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对于</a:t>
            </a:r>
            <a:r>
              <a:rPr lang="en-AU" altLang="zh-CN" dirty="0"/>
              <a:t>A-&gt;a</a:t>
            </a:r>
            <a:r>
              <a:rPr lang="zh-CN" altLang="en-US" dirty="0"/>
              <a:t>，其符合范式的要求。因此不用改它。</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fld id="{FEF7AF06-D15C-44CE-AFF9-B535D7A7E491}" type="datetime1">
              <a:rPr lang="en-AU" smtClean="0"/>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8"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9" name="直接连接符 8"/>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685800" y="152400"/>
            <a:ext cx="8229600" cy="393065"/>
          </a:xfrm>
        </p:spPr>
        <p:txBody>
          <a:bodyPr/>
          <a:lstStyle>
            <a:lvl1pPr algn="r">
              <a:defRPr sz="3600" b="1">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lvl1pPr>
              <a:defRPr sz="2800" b="1">
                <a:latin typeface="黑体" panose="02010609060101010101" pitchFamily="49" charset="-122"/>
                <a:ea typeface="黑体" panose="02010609060101010101" pitchFamily="49" charset="-122"/>
              </a:defRPr>
            </a:lvl1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EE97ABBC-CB91-4AB7-BC4F-CDF5D93DCE92}" type="datetime1">
              <a:rPr lang="en-AU" smtClean="0"/>
            </a:fld>
            <a:endParaRPr lang="en-AU"/>
          </a:p>
        </p:txBody>
      </p:sp>
      <p:sp>
        <p:nvSpPr>
          <p:cNvPr id="5" name="页脚占位符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fld>
            <a:endParaRPr lang="en-AU"/>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fld id="{3A735BA6-A5FF-4E65-AE0C-1E50375BDD5F}" type="datetime1">
              <a:rPr lang="en-AU" smtClean="0"/>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fld id="{ABB773E6-6A1F-436B-8144-FF3C9086A383}" type="datetime1">
              <a:rPr lang="en-AU" smtClean="0"/>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fld id="{4576D12A-ADDB-44AF-8AC5-359048C64A2A}" type="datetime1">
              <a:rPr lang="en-AU" smtClean="0"/>
            </a:fld>
            <a:endParaRPr lang="en-AU"/>
          </a:p>
        </p:txBody>
      </p:sp>
      <p:sp>
        <p:nvSpPr>
          <p:cNvPr id="8" name="页脚占位符 7"/>
          <p:cNvSpPr>
            <a:spLocks noGrp="1"/>
          </p:cNvSpPr>
          <p:nvPr>
            <p:ph type="ftr" sz="quarter" idx="11"/>
          </p:nvPr>
        </p:nvSpPr>
        <p:spPr/>
        <p:txBody>
          <a:bodyPr/>
          <a:lstStyle/>
          <a:p>
            <a:endParaRPr lang="en-AU"/>
          </a:p>
        </p:txBody>
      </p:sp>
      <p:sp>
        <p:nvSpPr>
          <p:cNvPr id="9" name="灯片编号占位符 8"/>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6"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8" name="直接连接符 7"/>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3589040" y="0"/>
            <a:ext cx="5554960" cy="692696"/>
          </a:xfrm>
        </p:spPr>
        <p:txBody>
          <a:bodyPr>
            <a:noAutofit/>
          </a:bodyPr>
          <a:lstStyle>
            <a:lvl1pPr algn="r">
              <a:defRPr sz="3600">
                <a:solidFill>
                  <a:schemeClr val="bg1"/>
                </a:solidFill>
                <a:effectLst>
                  <a:outerShdw blurRad="38100" dist="38100" dir="2700000" algn="tl">
                    <a:srgbClr val="000000">
                      <a:alpha val="43137"/>
                    </a:srgbClr>
                  </a:outerShdw>
                </a:effectLst>
              </a:defRPr>
            </a:lvl1p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FF58F817-8D47-42DC-82E6-EB0318065E82}" type="datetime1">
              <a:rPr lang="en-AU" smtClean="0"/>
            </a:fld>
            <a:endParaRPr lang="en-AU"/>
          </a:p>
        </p:txBody>
      </p:sp>
      <p:sp>
        <p:nvSpPr>
          <p:cNvPr id="4" name="页脚占位符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fld>
            <a:endParaRPr lang="en-AU"/>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pattFill prst="smGrid">
          <a:fgClr>
            <a:srgbClr val="F2F2F2"/>
          </a:fgClr>
          <a:bgClr>
            <a:schemeClr val="bg1"/>
          </a:bgClr>
        </a:pattFill>
        <a:effectLst/>
      </p:bgPr>
    </p:bg>
    <p:spTree>
      <p:nvGrpSpPr>
        <p:cNvPr id="1" name=""/>
        <p:cNvGrpSpPr/>
        <p:nvPr/>
      </p:nvGrpSpPr>
      <p:grpSpPr>
        <a:xfrm>
          <a:off x="0" y="0"/>
          <a:ext cx="0" cy="0"/>
          <a:chOff x="0" y="0"/>
          <a:chExt cx="0" cy="0"/>
        </a:xfrm>
      </p:grpSpPr>
      <p:cxnSp>
        <p:nvCxnSpPr>
          <p:cNvPr id="7" name="直接连接符 6"/>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B2EB3307-46BC-4AF0-ADCD-404101DA4E80}" type="datetime1">
              <a:rPr lang="en-AU" smtClean="0"/>
            </a:fld>
            <a:endParaRPr lang="en-AU"/>
          </a:p>
        </p:txBody>
      </p:sp>
      <p:sp>
        <p:nvSpPr>
          <p:cNvPr id="3" name="页脚占位符 2"/>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fld>
            <a:endParaRPr lang="en-AU"/>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fld id="{B54B3FB5-824B-41CC-AA79-434048191D89}" type="datetime1">
              <a:rPr lang="en-AU" smtClean="0"/>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fld id="{0CA2684C-D6AE-4A0B-8975-33836B18EDD0}" type="datetime1">
              <a:rPr lang="en-AU" smtClean="0"/>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fld id="{81813374-06A7-4F9E-92B1-10D8A7479A01}" type="datetime1">
              <a:rPr lang="en-AU" smtClean="0"/>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fld id="{B3180633-F82C-45F8-9561-D151F4CE1AED}" type="datetime1">
              <a:rPr lang="en-AU" smtClean="0"/>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sp>
        <p:nvSpPr>
          <p:cNvPr id="8"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cxnSp>
        <p:nvCxnSpPr>
          <p:cNvPr id="9" name="直接连接符 8"/>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lvl1pPr>
              <a:defRPr b="1">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lvl1pPr>
              <a:defRPr sz="2800" b="1">
                <a:latin typeface="黑体" panose="02010609060101010101" pitchFamily="49" charset="-122"/>
                <a:ea typeface="黑体" panose="02010609060101010101" pitchFamily="49" charset="-122"/>
              </a:defRPr>
            </a:lvl1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E03C2985-DA0A-423A-A02E-2E38F06C445F}"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8" name="页脚占位符 7"/>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9" name="灯片编号占位符 8"/>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sp>
        <p:nvSpPr>
          <p:cNvPr id="6"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cxnSp>
        <p:nvCxnSpPr>
          <p:cNvPr id="8" name="直接连接符 7"/>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3589040" y="0"/>
            <a:ext cx="5554960" cy="692696"/>
          </a:xfrm>
        </p:spPr>
        <p:txBody>
          <a:bodyPr>
            <a:noAutofit/>
          </a:bodyPr>
          <a:lstStyle>
            <a:lvl1pPr algn="r">
              <a:defRPr sz="360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702554A5-A581-4AB9-AEA0-FA3C5F0DF619}"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4" name="页脚占位符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pattFill prst="smGrid">
          <a:fgClr>
            <a:srgbClr val="F2F2F2"/>
          </a:fgClr>
          <a:bgClr>
            <a:schemeClr val="bg1"/>
          </a:bgClr>
        </a:pattFill>
        <a:effectLst/>
      </p:bgPr>
    </p:bg>
    <p:spTree>
      <p:nvGrpSpPr>
        <p:cNvPr id="1" name=""/>
        <p:cNvGrpSpPr/>
        <p:nvPr/>
      </p:nvGrpSpPr>
      <p:grpSpPr>
        <a:xfrm>
          <a:off x="0" y="0"/>
          <a:ext cx="0" cy="0"/>
          <a:chOff x="0" y="0"/>
          <a:chExt cx="0" cy="0"/>
        </a:xfrm>
      </p:grpSpPr>
      <p:cxnSp>
        <p:nvCxnSpPr>
          <p:cNvPr id="7" name="直接连接符 6"/>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9891A0AF-8D07-42A7-B1EB-C2BD93C0D5E5}"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3" name="页脚占位符 2"/>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vert="horz" lIns="91440" tIns="45720" rIns="91440" bIns="45720" anchor="ctr" anchorCtr="0"/>
          <a:lstStyle/>
          <a:p>
            <a:pPr lvl="0"/>
            <a:r>
              <a:rPr lang="zh-CN" altLang="en-US"/>
              <a:t>单击此处编辑母版标题样式</a:t>
            </a:r>
            <a:endParaRPr lang="zh-CN" altLang="en-US"/>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vert="horz" lIns="91440" tIns="45720" rIns="91440" bIns="45720" anchor="t" anchorCtr="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8E1B8E-D3EF-4A64-A14B-C8223E125E11}" type="datetime1">
              <a:rPr lang="en-AU" smtClean="0"/>
            </a:fld>
            <a:endParaRPr lang="en-AU"/>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62E1F6-9BD6-474C-A82E-E07C3DB67AAE}" type="slidenum">
              <a:rPr lang="en-AU" smtClean="0"/>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vert="horz" lIns="91440" tIns="45720" rIns="91440" bIns="45720" anchor="ctr" anchorCtr="0"/>
          <a:lstStyle/>
          <a:p>
            <a:pPr lvl="0"/>
            <a:r>
              <a:rPr lang="zh-CN" altLang="en-US" dirty="0"/>
              <a:t>单击此处编辑母版标题样式</a:t>
            </a:r>
            <a:endParaRPr lang="zh-CN" altLang="en-US" dirty="0"/>
          </a:p>
        </p:txBody>
      </p:sp>
      <p:sp>
        <p:nvSpPr>
          <p:cNvPr id="2051" name="文本占位符 2"/>
          <p:cNvSpPr>
            <a:spLocks noGrp="1"/>
          </p:cNvSpPr>
          <p:nvPr>
            <p:ph type="body"/>
          </p:nvPr>
        </p:nvSpPr>
        <p:spPr>
          <a:xfrm>
            <a:off x="457200" y="1600200"/>
            <a:ext cx="8229600" cy="4525963"/>
          </a:xfrm>
          <a:prstGeom prst="rect">
            <a:avLst/>
          </a:prstGeom>
          <a:noFill/>
          <a:ln w="9525">
            <a:noFill/>
          </a:ln>
        </p:spPr>
        <p:txBody>
          <a:bodyPr vert="horz" lIns="91440" tIns="45720" rIns="91440" bIns="45720" anchor="t" anchorCtr="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5.png"/><Relationship Id="rId2" Type="http://schemas.openxmlformats.org/officeDocument/2006/relationships/tags" Target="../tags/tag2.xml"/><Relationship Id="rId17" Type="http://schemas.openxmlformats.org/officeDocument/2006/relationships/slideLayout" Target="../slideLayouts/slideLayout7.xml"/><Relationship Id="rId16" Type="http://schemas.openxmlformats.org/officeDocument/2006/relationships/tags" Target="../tags/tag14.xml"/><Relationship Id="rId15" Type="http://schemas.openxmlformats.org/officeDocument/2006/relationships/image" Target="../media/image6.png"/><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image" Target="../media/image5.png"/><Relationship Id="rId2" Type="http://schemas.openxmlformats.org/officeDocument/2006/relationships/tags" Target="../tags/tag16.xml"/><Relationship Id="rId10" Type="http://schemas.openxmlformats.org/officeDocument/2006/relationships/slideLayout" Target="../slideLayouts/slideLayout7.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5" Type="http://schemas.openxmlformats.org/officeDocument/2006/relationships/slideLayout" Target="../slideLayouts/slideLayout7.xml"/><Relationship Id="rId14" Type="http://schemas.openxmlformats.org/officeDocument/2006/relationships/tags" Target="../tags/tag35.xml"/><Relationship Id="rId13" Type="http://schemas.openxmlformats.org/officeDocument/2006/relationships/image" Target="../media/image6.png"/><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image" Target="../media/image6.png"/><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0" Type="http://schemas.openxmlformats.org/officeDocument/2006/relationships/slideLayout" Target="../slideLayouts/slideLayout7.xml"/><Relationship Id="rId1" Type="http://schemas.openxmlformats.org/officeDocument/2006/relationships/tags" Target="../tags/tag3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image" Target="../media/image24.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9.png"/><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30.png"/><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7.png"/><Relationship Id="rId1" Type="http://schemas.openxmlformats.org/officeDocument/2006/relationships/image" Target="../media/image3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image" Target="../media/image47.png"/><Relationship Id="rId1"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image" Target="../media/image4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44.xml"/><Relationship Id="rId6"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60.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2.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70.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image" Target="../media/image79.png"/><Relationship Id="rId2" Type="http://schemas.openxmlformats.org/officeDocument/2006/relationships/tags" Target="../tags/tag45.xml"/><Relationship Id="rId13" Type="http://schemas.openxmlformats.org/officeDocument/2006/relationships/slideLayout" Target="../slideLayouts/slideLayout7.xml"/><Relationship Id="rId12" Type="http://schemas.openxmlformats.org/officeDocument/2006/relationships/tags" Target="../tags/tag53.xml"/><Relationship Id="rId11" Type="http://schemas.openxmlformats.org/officeDocument/2006/relationships/image" Target="../media/image6.png"/><Relationship Id="rId10" Type="http://schemas.openxmlformats.org/officeDocument/2006/relationships/tags" Target="../tags/tag52.xml"/><Relationship Id="rId1" Type="http://schemas.openxmlformats.org/officeDocument/2006/relationships/tags" Target="../tags/tag44.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png"/><Relationship Id="rId1" Type="http://schemas.openxmlformats.org/officeDocument/2006/relationships/image" Target="../media/image83.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3.png"/></Relationships>
</file>

<file path=ppt/slides/_rels/slide78.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image" Target="../media/image87.png"/><Relationship Id="rId2" Type="http://schemas.openxmlformats.org/officeDocument/2006/relationships/tags" Target="../tags/tag55.xml"/><Relationship Id="rId13" Type="http://schemas.openxmlformats.org/officeDocument/2006/relationships/slideLayout" Target="../slideLayouts/slideLayout7.xml"/><Relationship Id="rId12" Type="http://schemas.openxmlformats.org/officeDocument/2006/relationships/tags" Target="../tags/tag63.xml"/><Relationship Id="rId11" Type="http://schemas.openxmlformats.org/officeDocument/2006/relationships/image" Target="../media/image6.png"/><Relationship Id="rId10" Type="http://schemas.openxmlformats.org/officeDocument/2006/relationships/tags" Target="../tags/tag62.xml"/><Relationship Id="rId1" Type="http://schemas.openxmlformats.org/officeDocument/2006/relationships/tags" Target="../tags/tag54.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png"/><Relationship Id="rId1" Type="http://schemas.openxmlformats.org/officeDocument/2006/relationships/image" Target="../media/image83.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8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image" Target="../media/image91.png"/><Relationship Id="rId2" Type="http://schemas.openxmlformats.org/officeDocument/2006/relationships/tags" Target="../tags/tag65.xml"/><Relationship Id="rId13" Type="http://schemas.openxmlformats.org/officeDocument/2006/relationships/slideLayout" Target="../slideLayouts/slideLayout7.xml"/><Relationship Id="rId12" Type="http://schemas.openxmlformats.org/officeDocument/2006/relationships/tags" Target="../tags/tag73.xml"/><Relationship Id="rId11" Type="http://schemas.openxmlformats.org/officeDocument/2006/relationships/image" Target="../media/image6.png"/><Relationship Id="rId10" Type="http://schemas.openxmlformats.org/officeDocument/2006/relationships/tags" Target="../tags/tag72.xml"/><Relationship Id="rId1" Type="http://schemas.openxmlformats.org/officeDocument/2006/relationships/tags" Target="../tags/tag64.xml"/></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image" Target="../media/image92.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8.png"/><Relationship Id="rId1" Type="http://schemas.openxmlformats.org/officeDocument/2006/relationships/image" Target="../media/image97.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0.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1.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image" Target="../media/image105.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课程回顾</a:t>
            </a:r>
            <a:endParaRPr lang="en-AU" dirty="0"/>
          </a:p>
        </p:txBody>
      </p:sp>
      <p:sp>
        <p:nvSpPr>
          <p:cNvPr id="3" name="Content Placeholder 2"/>
          <p:cNvSpPr>
            <a:spLocks noGrp="1"/>
          </p:cNvSpPr>
          <p:nvPr>
            <p:ph idx="1"/>
          </p:nvPr>
        </p:nvSpPr>
        <p:spPr>
          <a:xfrm>
            <a:off x="457200" y="983095"/>
            <a:ext cx="8229600" cy="4525963"/>
          </a:xfrm>
        </p:spPr>
        <p:txBody>
          <a:bodyPr/>
          <a:lstStyle/>
          <a:p>
            <a:r>
              <a:rPr lang="zh-CN" altLang="en-US" dirty="0"/>
              <a:t>如何判断一个语言是否是正则语言？</a:t>
            </a:r>
            <a:endParaRPr lang="en-US" altLang="zh-CN" dirty="0"/>
          </a:p>
          <a:p>
            <a:pPr lvl="1"/>
            <a:r>
              <a:rPr lang="zh-CN" altLang="en-US" dirty="0"/>
              <a:t>正则语言递归定义、构造识别语言的</a:t>
            </a:r>
            <a:r>
              <a:rPr lang="en-US" altLang="zh-CN" dirty="0"/>
              <a:t>DFA</a:t>
            </a:r>
            <a:r>
              <a:rPr lang="zh-CN" altLang="en-US" dirty="0"/>
              <a:t>（是）</a:t>
            </a:r>
            <a:endParaRPr lang="en-US" altLang="zh-CN" dirty="0"/>
          </a:p>
          <a:p>
            <a:pPr lvl="1"/>
            <a:r>
              <a:rPr lang="zh-CN" altLang="en-US" dirty="0"/>
              <a:t>正则语言的泵引理（不是）</a:t>
            </a:r>
            <a:endParaRPr lang="en-AU" altLang="zh-CN" dirty="0"/>
          </a:p>
          <a:p>
            <a:r>
              <a:rPr lang="zh-CN" altLang="en-US" dirty="0"/>
              <a:t>正则语言的封闭性（可用上述问题）</a:t>
            </a:r>
            <a:endParaRPr lang="en-US" altLang="zh-CN" dirty="0"/>
          </a:p>
          <a:p>
            <a:pPr lvl="1"/>
            <a:r>
              <a:rPr lang="en-US" altLang="zh-CN" dirty="0"/>
              <a:t>+</a:t>
            </a:r>
            <a:r>
              <a:rPr lang="zh-CN" altLang="en-US" dirty="0"/>
              <a:t>、</a:t>
            </a:r>
            <a:r>
              <a:rPr lang="en-US" altLang="zh-CN" dirty="0"/>
              <a:t>.</a:t>
            </a:r>
            <a:r>
              <a:rPr lang="zh-CN" altLang="en-US" dirty="0"/>
              <a:t>、*、补、交、差集、同态</a:t>
            </a:r>
            <a:endParaRPr lang="en-AU" altLang="zh-CN" dirty="0"/>
          </a:p>
          <a:p>
            <a:r>
              <a:rPr lang="zh-CN" altLang="en-US" dirty="0"/>
              <a:t>正则语言的判定性质</a:t>
            </a:r>
            <a:endParaRPr lang="en-US" altLang="zh-CN" dirty="0"/>
          </a:p>
          <a:p>
            <a:pPr lvl="1"/>
            <a:r>
              <a:rPr lang="zh-CN" altLang="en-US" dirty="0"/>
              <a:t>非空、有穷、无穷、等价</a:t>
            </a:r>
            <a:endParaRPr lang="en-AU" altLang="zh-CN" dirty="0"/>
          </a:p>
          <a:p>
            <a:r>
              <a:rPr lang="zh-CN" altLang="en-US" dirty="0"/>
              <a:t>自动机的最小化</a:t>
            </a:r>
            <a:endParaRPr lang="en-US" altLang="zh-CN" dirty="0"/>
          </a:p>
          <a:p>
            <a:pPr lvl="1"/>
            <a:r>
              <a:rPr lang="zh-CN" altLang="en-US" dirty="0"/>
              <a:t>可区分的状态对（填表法）</a:t>
            </a:r>
            <a:endParaRPr lang="zh-CN" altLang="en-US" dirty="0"/>
          </a:p>
          <a:p>
            <a:endParaRPr lang="en-AU" dirty="0"/>
          </a:p>
        </p:txBody>
      </p:sp>
      <p:sp>
        <p:nvSpPr>
          <p:cNvPr id="4" name="Slide Number Placeholder 3"/>
          <p:cNvSpPr>
            <a:spLocks noGrp="1"/>
          </p:cNvSpPr>
          <p:nvPr>
            <p:ph type="sldNum" sz="quarter" idx="12"/>
          </p:nvPr>
        </p:nvSpPr>
        <p:spPr/>
        <p:txBody>
          <a:bodyPr/>
          <a:lstStyle/>
          <a:p>
            <a:fld id="{515302BF-F5C5-4977-B83E-E7F92D1EBB70}" type="slidenum">
              <a:rPr lang="en-AU" smtClean="0"/>
            </a:fld>
            <a:endParaRPr lang="en-AU"/>
          </a:p>
        </p:txBody>
      </p:sp>
      <mc:AlternateContent xmlns:mc="http://schemas.openxmlformats.org/markup-compatibility/2006">
        <mc:Choice xmlns:a14="http://schemas.microsoft.com/office/drawing/2010/main" Requires="a14">
          <p:sp>
            <p:nvSpPr>
              <p:cNvPr id="6" name="文本框 5"/>
              <p:cNvSpPr txBox="1"/>
              <p:nvPr/>
            </p:nvSpPr>
            <p:spPr>
              <a:xfrm>
                <a:off x="342899" y="5788214"/>
                <a:ext cx="8521264" cy="461665"/>
              </a:xfrm>
              <a:prstGeom prst="rect">
                <a:avLst/>
              </a:prstGeom>
              <a:noFill/>
            </p:spPr>
            <p:txBody>
              <a:bodyPr wrap="square">
                <a:spAutoFit/>
              </a:bodyPr>
              <a:lstStyle/>
              <a:p>
                <a14:m>
                  <m:oMath xmlns:m="http://schemas.openxmlformats.org/officeDocument/2006/math">
                    <m:sSub>
                      <m:sSubPr>
                        <m:ctrlPr>
                          <a:rPr lang="en-US" altLang="zh-CN" sz="2400" b="1" i="1" smtClean="0">
                            <a:solidFill>
                              <a:srgbClr val="FF0000"/>
                            </a:solidFill>
                            <a:latin typeface="Cambria Math" panose="02040503050406030204" pitchFamily="18" charset="0"/>
                          </a:rPr>
                        </m:ctrlPr>
                      </m:sSubPr>
                      <m:e>
                        <m:r>
                          <a:rPr lang="en-AU" altLang="zh-CN" sz="2400" b="1" i="1" smtClean="0">
                            <a:solidFill>
                              <a:srgbClr val="FF0000"/>
                            </a:solidFill>
                            <a:latin typeface="Cambria Math" panose="02040503050406030204" pitchFamily="18" charset="0"/>
                          </a:rPr>
                          <m:t>𝑳</m:t>
                        </m:r>
                      </m:e>
                      <m:sub>
                        <m:r>
                          <a:rPr lang="en-AU" altLang="zh-CN" sz="2400" b="1" i="1" smtClean="0">
                            <a:solidFill>
                              <a:srgbClr val="FF0000"/>
                            </a:solidFill>
                            <a:latin typeface="Cambria Math" panose="02040503050406030204" pitchFamily="18" charset="0"/>
                          </a:rPr>
                          <m:t>𝟎𝟏</m:t>
                        </m:r>
                      </m:sub>
                    </m:sSub>
                    <m:r>
                      <a:rPr lang="en-AU" altLang="zh-CN" sz="2400" b="1" i="1" smtClean="0">
                        <a:solidFill>
                          <a:srgbClr val="FF0000"/>
                        </a:solidFill>
                        <a:latin typeface="Cambria Math" panose="02040503050406030204" pitchFamily="18" charset="0"/>
                      </a:rPr>
                      <m:t>={</m:t>
                    </m:r>
                    <m:sSup>
                      <m:sSupPr>
                        <m:ctrlPr>
                          <a:rPr lang="en-AU" altLang="zh-CN" sz="2400" b="1" i="1" smtClean="0">
                            <a:solidFill>
                              <a:srgbClr val="FF0000"/>
                            </a:solidFill>
                            <a:latin typeface="Cambria Math" panose="02040503050406030204" pitchFamily="18" charset="0"/>
                          </a:rPr>
                        </m:ctrlPr>
                      </m:sSupPr>
                      <m:e>
                        <m:r>
                          <a:rPr lang="en-AU" altLang="zh-CN" sz="2400" b="1" i="1" smtClean="0">
                            <a:solidFill>
                              <a:srgbClr val="FF0000"/>
                            </a:solidFill>
                            <a:latin typeface="Cambria Math" panose="02040503050406030204" pitchFamily="18" charset="0"/>
                          </a:rPr>
                          <m:t>𝟎</m:t>
                        </m:r>
                      </m:e>
                      <m:sup>
                        <m:r>
                          <a:rPr lang="en-AU" altLang="zh-CN" sz="2400" b="1" i="1" smtClean="0">
                            <a:solidFill>
                              <a:srgbClr val="FF0000"/>
                            </a:solidFill>
                            <a:latin typeface="Cambria Math" panose="02040503050406030204" pitchFamily="18" charset="0"/>
                          </a:rPr>
                          <m:t>𝒏</m:t>
                        </m:r>
                      </m:sup>
                    </m:sSup>
                    <m:sSup>
                      <m:sSupPr>
                        <m:ctrlPr>
                          <a:rPr lang="en-AU" altLang="zh-CN" sz="2400" b="1" i="1" smtClean="0">
                            <a:solidFill>
                              <a:srgbClr val="FF0000"/>
                            </a:solidFill>
                            <a:latin typeface="Cambria Math" panose="02040503050406030204" pitchFamily="18" charset="0"/>
                          </a:rPr>
                        </m:ctrlPr>
                      </m:sSupPr>
                      <m:e>
                        <m:r>
                          <a:rPr lang="en-AU" altLang="zh-CN" sz="2400" b="1" i="1" smtClean="0">
                            <a:solidFill>
                              <a:srgbClr val="FF0000"/>
                            </a:solidFill>
                            <a:latin typeface="Cambria Math" panose="02040503050406030204" pitchFamily="18" charset="0"/>
                          </a:rPr>
                          <m:t>𝟏</m:t>
                        </m:r>
                      </m:e>
                      <m:sup>
                        <m:r>
                          <a:rPr lang="en-AU" altLang="zh-CN" sz="2400" b="1" i="1" smtClean="0">
                            <a:solidFill>
                              <a:srgbClr val="FF0000"/>
                            </a:solidFill>
                            <a:latin typeface="Cambria Math" panose="02040503050406030204" pitchFamily="18" charset="0"/>
                          </a:rPr>
                          <m:t>𝒏</m:t>
                        </m:r>
                      </m:sup>
                    </m:sSup>
                    <m:r>
                      <a:rPr lang="en-AU" altLang="zh-CN" sz="2400" b="1" i="1" smtClean="0">
                        <a:solidFill>
                          <a:srgbClr val="FF0000"/>
                        </a:solidFill>
                        <a:latin typeface="Cambria Math" panose="02040503050406030204" pitchFamily="18" charset="0"/>
                      </a:rPr>
                      <m:t>|</m:t>
                    </m:r>
                    <m:r>
                      <a:rPr lang="en-AU" altLang="zh-CN" sz="2400" b="1" i="1" smtClean="0">
                        <a:solidFill>
                          <a:srgbClr val="FF0000"/>
                        </a:solidFill>
                        <a:latin typeface="Cambria Math" panose="02040503050406030204" pitchFamily="18" charset="0"/>
                      </a:rPr>
                      <m:t>𝒏</m:t>
                    </m:r>
                    <m:r>
                      <a:rPr lang="en-AU" altLang="zh-CN" sz="2400" b="1" i="1" smtClean="0">
                        <a:solidFill>
                          <a:srgbClr val="FF0000"/>
                        </a:solidFill>
                        <a:latin typeface="Cambria Math" panose="02040503050406030204" pitchFamily="18" charset="0"/>
                        <a:ea typeface="Cambria Math" panose="02040503050406030204" pitchFamily="18" charset="0"/>
                      </a:rPr>
                      <m:t>≥</m:t>
                    </m:r>
                    <m:r>
                      <a:rPr lang="en-AU" altLang="zh-CN" sz="2400" b="1" i="1" smtClean="0">
                        <a:solidFill>
                          <a:srgbClr val="FF0000"/>
                        </a:solidFill>
                        <a:latin typeface="Cambria Math" panose="02040503050406030204" pitchFamily="18" charset="0"/>
                        <a:ea typeface="Cambria Math" panose="02040503050406030204" pitchFamily="18" charset="0"/>
                      </a:rPr>
                      <m:t>𝟎</m:t>
                    </m:r>
                    <m:r>
                      <a:rPr lang="en-AU" altLang="zh-CN" sz="2400" b="1" i="1" smtClean="0">
                        <a:solidFill>
                          <a:srgbClr val="FF0000"/>
                        </a:solidFill>
                        <a:latin typeface="Cambria Math" panose="02040503050406030204" pitchFamily="18" charset="0"/>
                      </a:rPr>
                      <m:t>}</m:t>
                    </m:r>
                  </m:oMath>
                </a14:m>
                <a:r>
                  <a:rPr lang="zh-CN" altLang="en-US" sz="2400" b="1" dirty="0">
                    <a:solidFill>
                      <a:srgbClr val="FF0000"/>
                    </a:solidFill>
                  </a:rPr>
                  <a:t>是非正则语言，正则表达式表示能力有限</a:t>
                </a:r>
                <a:endParaRPr lang="zh-CN" altLang="en-US" sz="2400" b="1" dirty="0">
                  <a:solidFill>
                    <a:srgbClr val="FF0000"/>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342899" y="5788214"/>
                <a:ext cx="8521264" cy="461665"/>
              </a:xfrm>
              <a:prstGeom prst="rect">
                <a:avLst/>
              </a:prstGeom>
              <a:blipFill rotWithShape="1">
                <a:blip r:embed="rId1"/>
                <a:stretch>
                  <a:fillRect l="-7" t="-41" r="2" b="4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470025"/>
          </a:xfrm>
          <a:ln>
            <a:miter lim="800000"/>
          </a:ln>
        </p:spPr>
        <p:txBody>
          <a:bodyPr vert="horz" wrap="square" lIns="91440" tIns="45720" rIns="91440" bIns="45720" numCol="1" rtlCol="0" anchor="ctr" anchorCtr="0" compatLnSpc="1">
            <a:noAutofit/>
          </a:bodyPr>
          <a:lstStyle/>
          <a:p>
            <a:pPr lvl="0">
              <a:defRPr/>
            </a:pPr>
            <a:r>
              <a:rPr lang="zh-CN" altLang="en-US" b="1" dirty="0">
                <a:solidFill>
                  <a:srgbClr val="2C2C2C"/>
                </a:solidFill>
                <a:effectLst>
                  <a:outerShdw blurRad="38100" dist="38100" dir="2700000" algn="tl">
                    <a:srgbClr val="000000">
                      <a:alpha val="43137"/>
                    </a:srgbClr>
                  </a:outerShdw>
                </a:effectLst>
              </a:rPr>
              <a:t>上下文无关文法</a:t>
            </a:r>
            <a:endParaRPr kumimoji="0" lang="en-US" altLang="zh-CN" sz="4400" b="1" i="0" u="none" strike="noStrike" kern="1200" cap="none" spc="0" normalizeH="0" baseline="0" noProof="0" dirty="0">
              <a:ln>
                <a:noFill/>
              </a:ln>
              <a:solidFill>
                <a:srgbClr val="2C2C2C"/>
              </a:solidFill>
              <a:effectLst>
                <a:outerShdw blurRad="38100" dist="38100" dir="2700000" algn="tl">
                  <a:srgbClr val="000000">
                    <a:alpha val="43137"/>
                  </a:srgbClr>
                </a:outerShdw>
              </a:effectLst>
              <a:uLnTx/>
              <a:uFillTx/>
              <a:latin typeface="+mj-lt"/>
              <a:ea typeface="+mj-ea"/>
              <a:cs typeface="+mj-cs"/>
            </a:endParaRPr>
          </a:p>
        </p:txBody>
      </p:sp>
      <p:sp>
        <p:nvSpPr>
          <p:cNvPr id="5122" name="灯片编号占位符 2"/>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200" dirty="0">
                <a:solidFill>
                  <a:srgbClr val="FFFFFF"/>
                </a:solidFill>
              </a:rPr>
            </a:fld>
            <a:endParaRPr lang="en-US" altLang="zh-CN" sz="1200" dirty="0">
              <a:solidFill>
                <a:srgbClr val="FFFFFF"/>
              </a:solidFill>
            </a:endParaRPr>
          </a:p>
        </p:txBody>
      </p:sp>
      <p:grpSp>
        <p:nvGrpSpPr>
          <p:cNvPr id="5126" name="组合 9"/>
          <p:cNvGrpSpPr/>
          <p:nvPr/>
        </p:nvGrpSpPr>
        <p:grpSpPr>
          <a:xfrm>
            <a:off x="0" y="5030788"/>
            <a:ext cx="8699500" cy="1117600"/>
            <a:chOff x="0" y="5030681"/>
            <a:chExt cx="8700121" cy="1116947"/>
          </a:xfrm>
        </p:grpSpPr>
        <p:sp>
          <p:nvSpPr>
            <p:cNvPr id="11" name="矩形 10"/>
            <p:cNvSpPr/>
            <p:nvPr/>
          </p:nvSpPr>
          <p:spPr>
            <a:xfrm>
              <a:off x="0" y="5030681"/>
              <a:ext cx="8700121" cy="1116947"/>
            </a:xfrm>
            <a:prstGeom prst="rect">
              <a:avLst/>
            </a:prstGeom>
            <a:gradFill>
              <a:gsLst>
                <a:gs pos="0">
                  <a:schemeClr val="bg1">
                    <a:lumMod val="50000"/>
                  </a:schemeClr>
                </a:gs>
                <a:gs pos="99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13" name="组合 12"/>
            <p:cNvGrpSpPr/>
            <p:nvPr/>
          </p:nvGrpSpPr>
          <p:grpSpPr>
            <a:xfrm rot="10800000">
              <a:off x="149602" y="5139274"/>
              <a:ext cx="3166930" cy="810003"/>
              <a:chOff x="2077999" y="5178439"/>
              <a:chExt cx="2948941" cy="683692"/>
            </a:xfrm>
            <a:solidFill>
              <a:schemeClr val="bg1"/>
            </a:solidFill>
          </p:grpSpPr>
          <p:sp>
            <p:nvSpPr>
              <p:cNvPr id="14" name="矩形 13"/>
              <p:cNvSpPr/>
              <p:nvPr/>
            </p:nvSpPr>
            <p:spPr>
              <a:xfrm>
                <a:off x="4662430" y="5178441"/>
                <a:ext cx="364510" cy="683690"/>
              </a:xfrm>
              <a:prstGeom prst="rect">
                <a:avLst/>
              </a:prstGeom>
              <a:solidFill>
                <a:srgbClr val="78A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25"/>
              <p:cNvSpPr/>
              <p:nvPr/>
            </p:nvSpPr>
            <p:spPr>
              <a:xfrm>
                <a:off x="2077999" y="5178439"/>
                <a:ext cx="2520000" cy="683178"/>
              </a:xfrm>
              <a:custGeom>
                <a:avLst/>
                <a:gdLst/>
                <a:ahLst/>
                <a:cxnLst/>
                <a:rect l="l" t="t" r="r" b="b"/>
                <a:pathLst>
                  <a:path w="3995780" h="1199745">
                    <a:moveTo>
                      <a:pt x="3696727" y="760691"/>
                    </a:moveTo>
                    <a:lnTo>
                      <a:pt x="1033246" y="760691"/>
                    </a:lnTo>
                    <a:lnTo>
                      <a:pt x="1029703" y="940654"/>
                    </a:lnTo>
                    <a:lnTo>
                      <a:pt x="3696727" y="940654"/>
                    </a:lnTo>
                    <a:close/>
                    <a:moveTo>
                      <a:pt x="3700429" y="298400"/>
                    </a:moveTo>
                    <a:lnTo>
                      <a:pt x="1042348" y="298400"/>
                    </a:lnTo>
                    <a:lnTo>
                      <a:pt x="1038805" y="478363"/>
                    </a:lnTo>
                    <a:lnTo>
                      <a:pt x="3700429" y="478363"/>
                    </a:lnTo>
                    <a:close/>
                    <a:moveTo>
                      <a:pt x="3995780" y="2065"/>
                    </a:moveTo>
                    <a:lnTo>
                      <a:pt x="3995780" y="1198688"/>
                    </a:lnTo>
                    <a:lnTo>
                      <a:pt x="1024623" y="1198688"/>
                    </a:lnTo>
                    <a:lnTo>
                      <a:pt x="1024602" y="1199745"/>
                    </a:lnTo>
                    <a:lnTo>
                      <a:pt x="1022842" y="1198688"/>
                    </a:lnTo>
                    <a:lnTo>
                      <a:pt x="1014564" y="1198688"/>
                    </a:lnTo>
                    <a:lnTo>
                      <a:pt x="1014564" y="1193714"/>
                    </a:lnTo>
                    <a:lnTo>
                      <a:pt x="0" y="584102"/>
                    </a:lnTo>
                    <a:lnTo>
                      <a:pt x="1014564" y="18756"/>
                    </a:lnTo>
                    <a:lnTo>
                      <a:pt x="1014564" y="2065"/>
                    </a:lnTo>
                    <a:lnTo>
                      <a:pt x="1044517" y="2065"/>
                    </a:lnTo>
                    <a:lnTo>
                      <a:pt x="1048224" y="0"/>
                    </a:lnTo>
                    <a:lnTo>
                      <a:pt x="1048183" y="2065"/>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sp>
        <p:nvSpPr>
          <p:cNvPr id="3" name="文本框 2"/>
          <p:cNvSpPr txBox="1"/>
          <p:nvPr/>
        </p:nvSpPr>
        <p:spPr>
          <a:xfrm>
            <a:off x="3276600" y="3644900"/>
            <a:ext cx="2540000" cy="645160"/>
          </a:xfrm>
          <a:prstGeom prst="rect">
            <a:avLst/>
          </a:prstGeom>
          <a:noFill/>
        </p:spPr>
        <p:txBody>
          <a:bodyPr wrap="square" rtlCol="0" anchor="t">
            <a:spAutoFit/>
          </a:bodyPr>
          <a:lstStyle/>
          <a:p>
            <a:pPr eaLnBrk="1" hangingPunct="1"/>
            <a:r>
              <a:rPr lang="zh-CN" altLang="en-US" dirty="0">
                <a:latin typeface="楷体" panose="02010609060101010101" pitchFamily="49" charset="-122"/>
                <a:ea typeface="楷体" panose="02010609060101010101" pitchFamily="49" charset="-122"/>
                <a:sym typeface="+mn-ea"/>
              </a:rPr>
              <a:t>计算机科学与技术学院</a:t>
            </a:r>
            <a:endParaRPr lang="en-US" altLang="zh-CN" dirty="0">
              <a:latin typeface="楷体" panose="02010609060101010101" pitchFamily="49" charset="-122"/>
              <a:ea typeface="楷体" panose="02010609060101010101" pitchFamily="49" charset="-122"/>
            </a:endParaRPr>
          </a:p>
          <a:p>
            <a:pPr eaLnBrk="1" hangingPunct="1"/>
            <a:r>
              <a:rPr lang="zh-CN" altLang="en-US" dirty="0">
                <a:latin typeface="楷体" panose="02010609060101010101" pitchFamily="49" charset="-122"/>
                <a:ea typeface="楷体" panose="02010609060101010101" pitchFamily="49" charset="-122"/>
                <a:sym typeface="+mn-ea"/>
              </a:rPr>
              <a:t>哈尔滨工业大学（深圳）</a:t>
            </a:r>
            <a:endParaRPr lang="zh-CN" altLang="en-US"/>
          </a:p>
        </p:txBody>
      </p:sp>
      <p:sp>
        <p:nvSpPr>
          <p:cNvPr id="16" name="圆角矩形 7"/>
          <p:cNvSpPr/>
          <p:nvPr/>
        </p:nvSpPr>
        <p:spPr>
          <a:xfrm>
            <a:off x="835024" y="539092"/>
            <a:ext cx="7473952" cy="1158875"/>
          </a:xfrm>
          <a:prstGeom prst="roundRect">
            <a:avLst>
              <a:gd name="adj" fmla="val 9948"/>
            </a:avLst>
          </a:prstGeom>
          <a:noFill/>
          <a:ln w="25400">
            <a:solidFill>
              <a:srgbClr val="F69418"/>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200" b="1" dirty="0" err="1">
                <a:solidFill>
                  <a:srgbClr val="F69418"/>
                </a:solidFill>
                <a:latin typeface="Times New Roman" panose="02020603050405020304" pitchFamily="18" charset="0"/>
                <a:ea typeface="黑体" panose="02010609060101010101" pitchFamily="49" charset="-122"/>
                <a:cs typeface="Times New Roman" panose="02020603050405020304" pitchFamily="18" charset="0"/>
              </a:rPr>
              <a:t>形式语言与自动机</a:t>
            </a:r>
            <a:endPar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rPr>
              <a:t>Formal Languages and Automata Theory</a:t>
            </a:r>
            <a:endPar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TextBox 11"/>
          <p:cNvSpPr txBox="1"/>
          <p:nvPr/>
        </p:nvSpPr>
        <p:spPr>
          <a:xfrm>
            <a:off x="6646863" y="5345291"/>
            <a:ext cx="2039937" cy="461665"/>
          </a:xfrm>
          <a:prstGeom prst="rect">
            <a:avLst/>
          </a:prstGeom>
          <a:noFill/>
        </p:spPr>
        <p:txBody>
          <a:bodyPr>
            <a:spAutoFit/>
          </a:bodyPr>
          <a:lstStyle/>
          <a:p>
            <a:pPr marR="0" algn="ctr" defTabSz="914400">
              <a:buClrTx/>
              <a:buSzTx/>
              <a:buFontTx/>
              <a:defRPr/>
            </a:pPr>
            <a:r>
              <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汤步洲</a:t>
            </a:r>
            <a:r>
              <a:rPr kumimoji="0" lang="en-US" altLang="zh-CN"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914400" y="1187926"/>
            <a:ext cx="8229600" cy="4525963"/>
          </a:xfrm>
        </p:spPr>
        <p:txBody>
          <a:bodyPr/>
          <a:lstStyle/>
          <a:p>
            <a:r>
              <a:rPr lang="zh-CN" altLang="en-US" dirty="0"/>
              <a:t>上下文无关文法</a:t>
            </a:r>
            <a:endParaRPr lang="en-AU" altLang="zh-CN" dirty="0"/>
          </a:p>
          <a:p>
            <a:pPr lvl="1"/>
            <a:r>
              <a:rPr lang="zh-CN" altLang="en-US" dirty="0"/>
              <a:t>形式定义</a:t>
            </a:r>
            <a:endParaRPr lang="en-AU" altLang="zh-CN" dirty="0"/>
          </a:p>
          <a:p>
            <a:pPr lvl="1"/>
            <a:r>
              <a:rPr lang="zh-CN" altLang="en-US" dirty="0"/>
              <a:t>归约和派生</a:t>
            </a:r>
            <a:endParaRPr lang="en-AU" altLang="zh-CN" dirty="0"/>
          </a:p>
          <a:p>
            <a:pPr lvl="1"/>
            <a:r>
              <a:rPr lang="zh-CN" altLang="en-US" dirty="0"/>
              <a:t>最左派生和最右派生</a:t>
            </a:r>
            <a:endParaRPr lang="en-AU" altLang="zh-CN" dirty="0"/>
          </a:p>
          <a:p>
            <a:pPr lvl="1"/>
            <a:r>
              <a:rPr lang="zh-CN" altLang="en-US" dirty="0"/>
              <a:t>文法的语言</a:t>
            </a:r>
            <a:endParaRPr lang="en-AU" altLang="zh-CN" dirty="0"/>
          </a:p>
          <a:p>
            <a:r>
              <a:rPr lang="zh-CN" altLang="en-US" dirty="0"/>
              <a:t>语法分析树</a:t>
            </a:r>
            <a:endParaRPr lang="en-AU" altLang="zh-CN" dirty="0"/>
          </a:p>
          <a:p>
            <a:r>
              <a:rPr lang="zh-CN" altLang="en-US" dirty="0"/>
              <a:t>文法和语言的歧义性</a:t>
            </a:r>
            <a:endParaRPr lang="en-AU" altLang="zh-CN" dirty="0"/>
          </a:p>
          <a:p>
            <a:r>
              <a:rPr lang="zh-CN" altLang="en-US" dirty="0"/>
              <a:t>文法的化简与范式</a:t>
            </a:r>
            <a:endParaRPr lang="en-AU" altLang="zh-CN"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914400" y="1187926"/>
            <a:ext cx="8229600" cy="4525963"/>
          </a:xfrm>
        </p:spPr>
        <p:txBody>
          <a:bodyPr/>
          <a:lstStyle/>
          <a:p>
            <a:r>
              <a:rPr lang="zh-CN" altLang="en-US" dirty="0"/>
              <a:t>上下文无关文法</a:t>
            </a:r>
            <a:endParaRPr lang="en-AU" altLang="zh-CN" dirty="0"/>
          </a:p>
          <a:p>
            <a:pPr lvl="1"/>
            <a:r>
              <a:rPr lang="zh-CN" altLang="en-US" dirty="0"/>
              <a:t>形式定义</a:t>
            </a:r>
            <a:endParaRPr lang="en-AU" altLang="zh-CN" dirty="0"/>
          </a:p>
          <a:p>
            <a:pPr lvl="1"/>
            <a:r>
              <a:rPr lang="zh-CN" altLang="en-US" dirty="0"/>
              <a:t>归约和派生</a:t>
            </a:r>
            <a:endParaRPr lang="en-AU" altLang="zh-CN" dirty="0"/>
          </a:p>
          <a:p>
            <a:pPr lvl="1"/>
            <a:r>
              <a:rPr lang="zh-CN" altLang="en-US" dirty="0"/>
              <a:t>最左派生和最右派生</a:t>
            </a:r>
            <a:endParaRPr lang="en-AU" altLang="zh-CN" dirty="0"/>
          </a:p>
          <a:p>
            <a:pPr lvl="1"/>
            <a:r>
              <a:rPr lang="zh-CN" altLang="en-US" dirty="0"/>
              <a:t>文法的语言</a:t>
            </a:r>
            <a:endParaRPr lang="en-AU" altLang="zh-CN" dirty="0"/>
          </a:p>
          <a:p>
            <a:r>
              <a:rPr lang="zh-CN" altLang="en-US" dirty="0">
                <a:solidFill>
                  <a:schemeClr val="bg1">
                    <a:lumMod val="75000"/>
                  </a:schemeClr>
                </a:solidFill>
              </a:rPr>
              <a:t>语法分析树</a:t>
            </a:r>
            <a:endParaRPr lang="en-AU" altLang="zh-CN" dirty="0">
              <a:solidFill>
                <a:schemeClr val="bg1">
                  <a:lumMod val="75000"/>
                </a:schemeClr>
              </a:solidFill>
            </a:endParaRPr>
          </a:p>
          <a:p>
            <a:r>
              <a:rPr lang="zh-CN" altLang="en-US" dirty="0">
                <a:solidFill>
                  <a:schemeClr val="bg1">
                    <a:lumMod val="75000"/>
                  </a:schemeClr>
                </a:solidFill>
              </a:rPr>
              <a:t>文法和语言的歧义性</a:t>
            </a:r>
            <a:endParaRPr lang="en-AU" altLang="zh-CN" dirty="0">
              <a:solidFill>
                <a:schemeClr val="bg1">
                  <a:lumMod val="75000"/>
                </a:schemeClr>
              </a:solidFill>
            </a:endParaRPr>
          </a:p>
          <a:p>
            <a:r>
              <a:rPr lang="zh-CN" altLang="en-US" dirty="0">
                <a:solidFill>
                  <a:schemeClr val="bg1">
                    <a:lumMod val="75000"/>
                  </a:schemeClr>
                </a:solidFill>
              </a:rPr>
              <a:t>文法的化简与范式</a:t>
            </a:r>
            <a:endParaRPr lang="en-AU" altLang="zh-CN" dirty="0">
              <a:solidFill>
                <a:schemeClr val="bg1">
                  <a:lumMod val="7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上下文无关文法</a:t>
            </a:r>
            <a:endParaRPr lang="en-AU" altLang="zh-CN" dirty="0"/>
          </a:p>
        </p:txBody>
      </p:sp>
      <p:sp>
        <p:nvSpPr>
          <p:cNvPr id="3" name="Content Placeholder 2"/>
          <p:cNvSpPr>
            <a:spLocks noGrp="1"/>
          </p:cNvSpPr>
          <p:nvPr>
            <p:ph idx="1"/>
          </p:nvPr>
        </p:nvSpPr>
        <p:spPr>
          <a:xfrm>
            <a:off x="457200" y="1166018"/>
            <a:ext cx="8229600" cy="4525963"/>
          </a:xfrm>
        </p:spPr>
        <p:txBody>
          <a:bodyPr>
            <a:normAutofit fontScale="92500" lnSpcReduction="10000"/>
          </a:bodyPr>
          <a:lstStyle/>
          <a:p>
            <a:r>
              <a:rPr lang="zh-CN" altLang="en-US" dirty="0"/>
              <a:t>为什么引入上下文无关文法</a:t>
            </a:r>
            <a:r>
              <a:rPr lang="en-AU" altLang="zh-CN" dirty="0">
                <a:latin typeface="Times New Roman" panose="02020603050405020304" pitchFamily="18" charset="0"/>
                <a:cs typeface="Times New Roman" panose="02020603050405020304" pitchFamily="18" charset="0"/>
              </a:rPr>
              <a:t>CFG</a:t>
            </a:r>
            <a:r>
              <a:rPr lang="en-AU" altLang="zh-CN" dirty="0"/>
              <a:t>(</a:t>
            </a:r>
            <a:r>
              <a:rPr lang="en-AU" altLang="zh-CN" dirty="0">
                <a:latin typeface="Times New Roman" panose="02020603050405020304" pitchFamily="18" charset="0"/>
                <a:cs typeface="Times New Roman" panose="02020603050405020304" pitchFamily="18" charset="0"/>
              </a:rPr>
              <a:t>context-free grammar</a:t>
            </a:r>
            <a:r>
              <a:rPr lang="en-AU" altLang="zh-CN" dirty="0"/>
              <a:t>)?</a:t>
            </a:r>
            <a:endParaRPr lang="en-US" altLang="zh-CN" dirty="0"/>
          </a:p>
          <a:p>
            <a:r>
              <a:rPr lang="zh-CN" altLang="en-US" dirty="0"/>
              <a:t>拥有足够强的表达能力，可以表示大多数程序设计语言的语法；实际上，几乎所有程序设计语言都是通过</a:t>
            </a:r>
            <a:r>
              <a:rPr lang="en-US" altLang="zh-CN" dirty="0">
                <a:latin typeface="Times New Roman" panose="02020603050405020304" pitchFamily="18" charset="0"/>
                <a:cs typeface="Times New Roman" panose="02020603050405020304" pitchFamily="18" charset="0"/>
              </a:rPr>
              <a:t>CFG</a:t>
            </a:r>
            <a:r>
              <a:rPr lang="zh-CN" altLang="en-US" dirty="0"/>
              <a:t>来定义的。</a:t>
            </a:r>
            <a:endParaRPr lang="zh-CN" altLang="en-US" dirty="0"/>
          </a:p>
          <a:p>
            <a:r>
              <a:rPr lang="zh-CN" altLang="en-US" dirty="0"/>
              <a:t>足够简单，我们可以构造有效的分析算法来检验一个给定字串是否是由某个</a:t>
            </a:r>
            <a:r>
              <a:rPr lang="en-US" altLang="zh-CN" dirty="0">
                <a:latin typeface="Times New Roman" panose="02020603050405020304" pitchFamily="18" charset="0"/>
                <a:cs typeface="Times New Roman" panose="02020603050405020304" pitchFamily="18" charset="0"/>
              </a:rPr>
              <a:t>CFG</a:t>
            </a:r>
            <a:r>
              <a:rPr lang="zh-CN" altLang="en-US" dirty="0"/>
              <a:t>产生的</a:t>
            </a:r>
            <a:r>
              <a:rPr lang="en-US" altLang="zh-CN" dirty="0"/>
              <a:t>(</a:t>
            </a:r>
            <a:r>
              <a:rPr lang="zh-CN" altLang="en-US" dirty="0"/>
              <a:t>如</a:t>
            </a:r>
            <a:r>
              <a:rPr lang="en-US" altLang="zh-CN" dirty="0">
                <a:latin typeface="Times New Roman" panose="02020603050405020304" pitchFamily="18" charset="0"/>
                <a:cs typeface="Times New Roman" panose="02020603050405020304" pitchFamily="18" charset="0"/>
              </a:rPr>
              <a:t>LR </a:t>
            </a:r>
            <a:r>
              <a:rPr lang="zh-CN" altLang="en-US" dirty="0"/>
              <a:t>分析器和</a:t>
            </a:r>
            <a:r>
              <a:rPr lang="en-US" altLang="zh-CN" dirty="0">
                <a:latin typeface="Times New Roman" panose="02020603050405020304" pitchFamily="18" charset="0"/>
                <a:cs typeface="Times New Roman" panose="02020603050405020304" pitchFamily="18" charset="0"/>
              </a:rPr>
              <a:t>LL</a:t>
            </a:r>
            <a:r>
              <a:rPr lang="zh-CN" altLang="en-US" dirty="0"/>
              <a:t>分析器</a:t>
            </a:r>
            <a:r>
              <a:rPr lang="en-US" altLang="zh-CN" dirty="0"/>
              <a:t>)</a:t>
            </a:r>
            <a:endParaRPr lang="en-US" altLang="zh-CN" dirty="0"/>
          </a:p>
          <a:p>
            <a:r>
              <a:rPr lang="zh-CN" altLang="en-US" dirty="0"/>
              <a:t>在程序设计语言的设计、编译器的实现等方面有重要应用，可应用在可扩展标记语言</a:t>
            </a:r>
            <a:r>
              <a:rPr lang="en-US" altLang="zh-CN" dirty="0"/>
              <a:t>(</a:t>
            </a:r>
            <a:r>
              <a:rPr lang="en-US" altLang="zh-CN" dirty="0">
                <a:latin typeface="Times New Roman" panose="02020603050405020304" pitchFamily="18" charset="0"/>
                <a:cs typeface="Times New Roman" panose="02020603050405020304" pitchFamily="18" charset="0"/>
              </a:rPr>
              <a:t>XML</a:t>
            </a:r>
            <a:r>
              <a:rPr lang="en-US" altLang="zh-CN" dirty="0"/>
              <a:t>)</a:t>
            </a:r>
            <a:r>
              <a:rPr lang="zh-CN" altLang="en-US" dirty="0"/>
              <a:t>的格式类型定义</a:t>
            </a:r>
            <a:r>
              <a:rPr lang="en-US" altLang="zh-CN" dirty="0"/>
              <a:t>(</a:t>
            </a:r>
            <a:r>
              <a:rPr lang="en-US" altLang="zh-CN" dirty="0">
                <a:latin typeface="Times New Roman" panose="02020603050405020304" pitchFamily="18" charset="0"/>
                <a:cs typeface="Times New Roman" panose="02020603050405020304" pitchFamily="18" charset="0"/>
              </a:rPr>
              <a:t>DTD</a:t>
            </a:r>
            <a:r>
              <a:rPr lang="en-US" altLang="zh-CN" dirty="0"/>
              <a:t>)</a:t>
            </a:r>
            <a:r>
              <a:rPr lang="zh-CN" altLang="en-US" dirty="0"/>
              <a:t>中等。</a:t>
            </a:r>
            <a:endParaRPr lang="zh-CN" altLang="en-US" dirty="0"/>
          </a:p>
          <a:p>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文法示例：自然语言的文法</a:t>
            </a:r>
            <a:endParaRPr lang="en-AU" dirty="0"/>
          </a:p>
        </p:txBody>
      </p:sp>
      <p:sp>
        <p:nvSpPr>
          <p:cNvPr id="3" name="Content Placeholder 2"/>
          <p:cNvSpPr>
            <a:spLocks noGrp="1"/>
          </p:cNvSpPr>
          <p:nvPr>
            <p:ph idx="1"/>
          </p:nvPr>
        </p:nvSpPr>
        <p:spPr>
          <a:xfrm>
            <a:off x="518432" y="1166018"/>
            <a:ext cx="8229600" cy="4525963"/>
          </a:xfrm>
        </p:spPr>
        <p:txBody>
          <a:bodyPr/>
          <a:lstStyle/>
          <a:p>
            <a:r>
              <a:rPr lang="zh-CN" altLang="en-US" dirty="0"/>
              <a:t>简化的英语语法规则</a:t>
            </a:r>
            <a:r>
              <a:rPr lang="en-AU" altLang="zh-CN" dirty="0"/>
              <a:t>:</a:t>
            </a:r>
            <a:endParaRPr lang="en-AU" dirty="0"/>
          </a:p>
        </p:txBody>
      </p:sp>
      <p:pic>
        <p:nvPicPr>
          <p:cNvPr id="4" name="Content Placeholder 4" descr="Text, letter&#10;&#10;Description automatically generated"/>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9110" y="1949781"/>
            <a:ext cx="7502979" cy="3879942"/>
          </a:xfrm>
          <a:prstGeom prst="rect">
            <a:avLst/>
          </a:prstGeom>
        </p:spPr>
      </p:pic>
      <p:sp>
        <p:nvSpPr>
          <p:cNvPr id="5" name="Slide Number Placeholder 4"/>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自然语言的文法</a:t>
            </a:r>
            <a:endParaRPr lang="en-AU" dirty="0"/>
          </a:p>
        </p:txBody>
      </p:sp>
      <p:sp>
        <p:nvSpPr>
          <p:cNvPr id="3" name="Content Placeholder 2"/>
          <p:cNvSpPr>
            <a:spLocks noGrp="1"/>
          </p:cNvSpPr>
          <p:nvPr>
            <p:ph idx="1"/>
          </p:nvPr>
        </p:nvSpPr>
        <p:spPr>
          <a:xfrm>
            <a:off x="457200" y="917294"/>
            <a:ext cx="8229600" cy="4525963"/>
          </a:xfrm>
        </p:spPr>
        <p:txBody>
          <a:bodyPr/>
          <a:lstStyle/>
          <a:p>
            <a:r>
              <a:rPr lang="zh-CN" altLang="en-US" dirty="0"/>
              <a:t>使用定义的文法规则产生句子</a:t>
            </a:r>
            <a:r>
              <a:rPr lang="en-AU" altLang="zh-CN" dirty="0"/>
              <a:t>:</a:t>
            </a:r>
            <a:endParaRPr lang="en-AU" dirty="0"/>
          </a:p>
        </p:txBody>
      </p:sp>
      <p:pic>
        <p:nvPicPr>
          <p:cNvPr id="5" name="Picture 4" descr="Text, letter&#10;&#10;Description automatically generated"/>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2026" y="1672260"/>
            <a:ext cx="7279948" cy="3979881"/>
          </a:xfrm>
          <a:prstGeom prst="rect">
            <a:avLst/>
          </a:prstGeom>
        </p:spPr>
      </p:pic>
      <p:sp>
        <p:nvSpPr>
          <p:cNvPr id="6" name="Rectangle 5"/>
          <p:cNvSpPr/>
          <p:nvPr/>
        </p:nvSpPr>
        <p:spPr>
          <a:xfrm>
            <a:off x="2464471" y="2153781"/>
            <a:ext cx="1798655" cy="482321"/>
          </a:xfrm>
          <a:prstGeom prst="rect">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7" name="Rectangle 6"/>
          <p:cNvSpPr/>
          <p:nvPr/>
        </p:nvSpPr>
        <p:spPr>
          <a:xfrm>
            <a:off x="4305441" y="2635302"/>
            <a:ext cx="2602523" cy="482321"/>
          </a:xfrm>
          <a:prstGeom prst="rect">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4" name="TextBox 3"/>
          <p:cNvSpPr txBox="1"/>
          <p:nvPr/>
        </p:nvSpPr>
        <p:spPr>
          <a:xfrm>
            <a:off x="457200" y="5924778"/>
            <a:ext cx="7879080" cy="400110"/>
          </a:xfrm>
          <a:prstGeom prst="rect">
            <a:avLst/>
          </a:prstGeom>
          <a:noFill/>
        </p:spPr>
        <p:txBody>
          <a:bodyPr wrap="none" rtlCol="0">
            <a:spAutoFit/>
          </a:bodyPr>
          <a:lstStyle/>
          <a:p>
            <a:r>
              <a:rPr lang="zh-CN" altLang="en-US" sz="2000" dirty="0">
                <a:latin typeface="楷体" panose="02010609060101010101" pitchFamily="49" charset="-122"/>
                <a:ea typeface="楷体" panose="02010609060101010101" pitchFamily="49" charset="-122"/>
              </a:rPr>
              <a:t>从</a:t>
            </a:r>
            <a:r>
              <a:rPr lang="en-AU" altLang="zh-CN" sz="2000" dirty="0">
                <a:latin typeface="Times New Roman" panose="02020603050405020304" pitchFamily="18" charset="0"/>
                <a:ea typeface="楷体" panose="02010609060101010101" pitchFamily="49" charset="-122"/>
                <a:cs typeface="Times New Roman" panose="02020603050405020304" pitchFamily="18" charset="0"/>
              </a:rPr>
              <a:t>sentence</a:t>
            </a:r>
            <a:r>
              <a:rPr lang="zh-CN" altLang="en-US" sz="2000" dirty="0">
                <a:latin typeface="楷体" panose="02010609060101010101" pitchFamily="49" charset="-122"/>
                <a:ea typeface="楷体" panose="02010609060101010101" pitchFamily="49" charset="-122"/>
              </a:rPr>
              <a:t>范畴到具体的一个句子，我们所使用的工具，就是文法。</a:t>
            </a:r>
            <a:endParaRPr lang="en-AU" sz="2000" dirty="0">
              <a:latin typeface="楷体" panose="02010609060101010101" pitchFamily="49" charset="-122"/>
              <a:ea typeface="楷体" panose="02010609060101010101" pitchFamily="49" charset="-122"/>
            </a:endParaRPr>
          </a:p>
        </p:txBody>
      </p:sp>
      <p:sp>
        <p:nvSpPr>
          <p:cNvPr id="8" name="Slide Number Placeholder 7"/>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回文与回文语言</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66018"/>
                <a:ext cx="8229600" cy="4525963"/>
              </a:xfrm>
            </p:spPr>
            <p:txBody>
              <a:bodyPr/>
              <a:lstStyle/>
              <a:p>
                <a:r>
                  <a:rPr lang="zh-CN" altLang="en-US" dirty="0"/>
                  <a:t>定义</a:t>
                </a:r>
                <a:r>
                  <a:rPr lang="en-AU" altLang="zh-CN" dirty="0"/>
                  <a:t>:</a:t>
                </a:r>
                <a:r>
                  <a:rPr lang="zh-CN" altLang="en-US" dirty="0"/>
                  <a:t>如果字符串</a:t>
                </a:r>
                <a14:m>
                  <m:oMath xmlns:m="http://schemas.openxmlformats.org/officeDocument/2006/math">
                    <m:r>
                      <a:rPr lang="en-AU" altLang="zh-CN" b="0" i="1" smtClean="0">
                        <a:latin typeface="Cambria Math" panose="02040503050406030204" pitchFamily="18" charset="0"/>
                      </a:rPr>
                      <m:t>𝑤</m:t>
                    </m:r>
                    <m:r>
                      <a:rPr lang="en-AU" altLang="zh-CN" b="0" i="1" smtClean="0">
                        <a:latin typeface="Cambria Math" panose="02040503050406030204" pitchFamily="18" charset="0"/>
                        <a:ea typeface="Cambria Math" panose="02040503050406030204" pitchFamily="18" charset="0"/>
                      </a:rPr>
                      <m:t>∈</m:t>
                    </m:r>
                    <m:sSup>
                      <m:sSupPr>
                        <m:ctrlPr>
                          <a:rPr lang="en-AU" altLang="zh-CN" b="0" i="1" smtClean="0">
                            <a:latin typeface="Cambria Math" panose="02040503050406030204" pitchFamily="18" charset="0"/>
                            <a:ea typeface="Cambria Math" panose="02040503050406030204" pitchFamily="18" charset="0"/>
                          </a:rPr>
                        </m:ctrlPr>
                      </m:sSupPr>
                      <m:e>
                        <m:r>
                          <a:rPr lang="zh-CN" altLang="en-AU" b="0" i="1" smtClean="0">
                            <a:latin typeface="Cambria Math" panose="02040503050406030204" pitchFamily="18" charset="0"/>
                            <a:ea typeface="Cambria Math" panose="02040503050406030204" pitchFamily="18" charset="0"/>
                          </a:rPr>
                          <m:t>𝛴</m:t>
                        </m:r>
                      </m:e>
                      <m:sup>
                        <m:r>
                          <a:rPr lang="en-AU" altLang="zh-CN" b="0" i="1" smtClean="0">
                            <a:latin typeface="Cambria Math" panose="02040503050406030204" pitchFamily="18" charset="0"/>
                            <a:ea typeface="Cambria Math" panose="02040503050406030204" pitchFamily="18" charset="0"/>
                          </a:rPr>
                          <m:t>∗</m:t>
                        </m:r>
                      </m:sup>
                    </m:sSup>
                  </m:oMath>
                </a14:m>
                <a:r>
                  <a:rPr lang="zh-CN" altLang="en-US" dirty="0"/>
                  <a:t>满足</a:t>
                </a:r>
                <a14:m>
                  <m:oMath xmlns:m="http://schemas.openxmlformats.org/officeDocument/2006/math">
                    <m:r>
                      <a:rPr lang="en-AU" b="0" i="1" smtClean="0">
                        <a:latin typeface="Cambria Math" panose="02040503050406030204" pitchFamily="18" charset="0"/>
                      </a:rPr>
                      <m:t>𝑤</m:t>
                    </m:r>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𝑤</m:t>
                        </m:r>
                      </m:e>
                      <m:sup>
                        <m:r>
                          <a:rPr lang="en-AU" b="0" i="1" smtClean="0">
                            <a:latin typeface="Cambria Math" panose="02040503050406030204" pitchFamily="18" charset="0"/>
                          </a:rPr>
                          <m:t>𝑅</m:t>
                        </m:r>
                      </m:sup>
                    </m:sSup>
                  </m:oMath>
                </a14:m>
                <a:r>
                  <a:rPr lang="en-AU" dirty="0"/>
                  <a:t>,</a:t>
                </a:r>
                <a:r>
                  <a:rPr lang="zh-CN" altLang="en-US" dirty="0"/>
                  <a:t>则称字符串</a:t>
                </a:r>
                <a14:m>
                  <m:oMath xmlns:m="http://schemas.openxmlformats.org/officeDocument/2006/math">
                    <m:r>
                      <a:rPr lang="en-AU" altLang="zh-CN" b="0" i="1" smtClean="0">
                        <a:latin typeface="Cambria Math" panose="02040503050406030204" pitchFamily="18" charset="0"/>
                      </a:rPr>
                      <m:t>𝑤</m:t>
                    </m:r>
                  </m:oMath>
                </a14:m>
                <a:r>
                  <a:rPr lang="zh-CN" altLang="en-US" dirty="0"/>
                  <a:t>为回文。</a:t>
                </a:r>
                <a:endParaRPr lang="en-AU" altLang="zh-CN" dirty="0"/>
              </a:p>
              <a:p>
                <a:endParaRPr lang="en-AU" dirty="0"/>
              </a:p>
              <a:p>
                <a:r>
                  <a:rPr lang="zh-CN" altLang="en-US" dirty="0"/>
                  <a:t>定义</a:t>
                </a:r>
                <a:r>
                  <a:rPr lang="en-AU" altLang="zh-CN" dirty="0"/>
                  <a:t>:</a:t>
                </a:r>
                <a:r>
                  <a:rPr lang="zh-CN" altLang="en-US" dirty="0"/>
                  <a:t>如果语言</a:t>
                </a:r>
                <a14:m>
                  <m:oMath xmlns:m="http://schemas.openxmlformats.org/officeDocument/2006/math">
                    <m:r>
                      <a:rPr lang="en-AU" altLang="zh-CN" i="1" dirty="0" smtClean="0">
                        <a:latin typeface="Cambria Math" panose="02040503050406030204" pitchFamily="18" charset="0"/>
                      </a:rPr>
                      <m:t>𝐿</m:t>
                    </m:r>
                  </m:oMath>
                </a14:m>
                <a:r>
                  <a:rPr lang="zh-CN" altLang="en-US" dirty="0"/>
                  <a:t>的字符串都是回文，则称</a:t>
                </a:r>
                <a14:m>
                  <m:oMath xmlns:m="http://schemas.openxmlformats.org/officeDocument/2006/math">
                    <m:r>
                      <a:rPr lang="en-US" altLang="zh-CN" i="1" dirty="0" smtClean="0">
                        <a:latin typeface="Cambria Math" panose="02040503050406030204" pitchFamily="18" charset="0"/>
                      </a:rPr>
                      <m:t>𝐿</m:t>
                    </m:r>
                  </m:oMath>
                </a14:m>
                <a:r>
                  <a:rPr lang="zh-CN" altLang="en-US" dirty="0"/>
                  <a:t>为回文语言。</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𝐿</m:t>
                      </m:r>
                      <m:r>
                        <a:rPr lang="en-AU" b="0" i="1" smtClean="0">
                          <a:latin typeface="Cambria Math" panose="02040503050406030204" pitchFamily="18" charset="0"/>
                        </a:rPr>
                        <m:t>=</m:t>
                      </m:r>
                      <m:d>
                        <m:dPr>
                          <m:begChr m:val="{"/>
                          <m:endChr m:val="}"/>
                          <m:ctrlPr>
                            <a:rPr lang="en-AU" b="0" i="1" smtClean="0">
                              <a:latin typeface="Cambria Math" panose="02040503050406030204" pitchFamily="18" charset="0"/>
                            </a:rPr>
                          </m:ctrlPr>
                        </m:dPr>
                        <m:e>
                          <m:r>
                            <a:rPr lang="en-AU" b="0" i="1" smtClean="0">
                              <a:latin typeface="Cambria Math" panose="02040503050406030204" pitchFamily="18" charset="0"/>
                            </a:rPr>
                            <m:t>𝑤</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𝛴</m:t>
                              </m:r>
                            </m:e>
                            <m:sup>
                              <m:r>
                                <a:rPr lang="en-AU" b="0" i="1" smtClean="0">
                                  <a:latin typeface="Cambria Math" panose="02040503050406030204" pitchFamily="18" charset="0"/>
                                  <a:ea typeface="Cambria Math" panose="02040503050406030204" pitchFamily="18" charset="0"/>
                                </a:rPr>
                                <m:t>∗</m:t>
                              </m:r>
                            </m:sup>
                          </m:sSup>
                        </m:e>
                        <m:e>
                          <m:r>
                            <a:rPr lang="en-AU" b="0" i="1" smtClean="0">
                              <a:latin typeface="Cambria Math" panose="02040503050406030204" pitchFamily="18" charset="0"/>
                              <a:ea typeface="Cambria Math" panose="02040503050406030204" pitchFamily="18" charset="0"/>
                            </a:rPr>
                            <m:t>𝑤</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𝑤</m:t>
                              </m:r>
                            </m:e>
                            <m:sup>
                              <m:r>
                                <a:rPr lang="en-AU" b="0" i="1" smtClean="0">
                                  <a:latin typeface="Cambria Math" panose="02040503050406030204" pitchFamily="18" charset="0"/>
                                  <a:ea typeface="Cambria Math" panose="02040503050406030204" pitchFamily="18" charset="0"/>
                                </a:rPr>
                                <m:t>𝑅</m:t>
                              </m:r>
                            </m:sup>
                          </m:sSup>
                        </m:e>
                      </m:d>
                    </m:oMath>
                  </m:oMathPara>
                </a14:m>
                <a:endParaRPr lang="en-AU" b="0" dirty="0"/>
              </a:p>
              <a:p>
                <a:r>
                  <a:rPr lang="zh-CN" altLang="en-US" dirty="0"/>
                  <a:t>例</a:t>
                </a:r>
                <a:r>
                  <a:rPr lang="en-US" altLang="zh-CN" dirty="0"/>
                  <a:t>:</a:t>
                </a:r>
                <a:r>
                  <a:rPr lang="el-GR" altLang="zh-CN" dirty="0"/>
                  <a:t> </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l-GR" altLang="zh-CN" i="1" dirty="0" smtClean="0">
                          <a:latin typeface="Cambria Math" panose="02040503050406030204" pitchFamily="18" charset="0"/>
                        </a:rPr>
                        <m:t>𝜀</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010</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0000</m:t>
                      </m:r>
                      <m:r>
                        <a:rPr lang="el-GR" altLang="zh-CN" i="1" dirty="0" smtClean="0">
                          <a:latin typeface="Cambria Math" panose="02040503050406030204" pitchFamily="18" charset="0"/>
                        </a:rPr>
                        <m:t>, </m:t>
                      </m:r>
                      <m:r>
                        <a:rPr lang="en-US" altLang="zh-CN" i="1" dirty="0" smtClean="0">
                          <a:latin typeface="Cambria Math" panose="02040503050406030204" pitchFamily="18" charset="0"/>
                        </a:rPr>
                        <m:t>𝑟𝑎𝑑𝑎𝑟</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𝑟𝑎𝑐𝑒𝑐𝑎𝑟</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𝑑𝑟𝑎𝑤𝑘𝑤𝑎𝑟𝑑</m:t>
                      </m:r>
                    </m:oMath>
                  </m:oMathPara>
                </a14:m>
                <a:endParaRPr lang="en-AU"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1"/>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914400" y="653016"/>
                <a:ext cx="7315200" cy="2143125"/>
              </a:xfrm>
              <a:prstGeom prst="rect">
                <a:avLst/>
              </a:prstGeom>
              <a:noFill/>
            </p:spPr>
            <p:txBody>
              <a:bodyPr vert="horz" wrap="square" rtlCol="0" anchor="ctr" anchorCtr="0">
                <a:noAutofit/>
              </a:bodyPr>
              <a:lstStyle/>
              <a:p>
                <a:r>
                  <a:rPr lang="zh-CN" altLang="en-US" sz="2800" b="1" dirty="0"/>
                  <a:t>字母表</a:t>
                </a:r>
                <a14:m>
                  <m:oMath xmlns:m="http://schemas.openxmlformats.org/officeDocument/2006/math">
                    <m:r>
                      <a:rPr lang="el-GR" altLang="zh-CN" sz="2800" b="1" i="0" dirty="0" smtClean="0">
                        <a:latin typeface="Cambria Math" panose="02040503050406030204" pitchFamily="18" charset="0"/>
                      </a:rPr>
                      <m:t>𝚺</m:t>
                    </m:r>
                    <m:r>
                      <a:rPr lang="el-GR" altLang="zh-CN" sz="2800" b="1" i="1" dirty="0" smtClean="0">
                        <a:latin typeface="Cambria Math" panose="02040503050406030204" pitchFamily="18" charset="0"/>
                      </a:rPr>
                      <m:t> = {</m:t>
                    </m:r>
                    <m:r>
                      <a:rPr lang="el-GR" altLang="zh-CN" sz="2800" b="1" i="1" dirty="0" smtClean="0">
                        <a:latin typeface="Cambria Math" panose="02040503050406030204" pitchFamily="18" charset="0"/>
                      </a:rPr>
                      <m:t>𝟎</m:t>
                    </m:r>
                    <m:r>
                      <a:rPr lang="el-GR" altLang="zh-CN" sz="2800" b="1" i="1" dirty="0" smtClean="0">
                        <a:latin typeface="Cambria Math" panose="02040503050406030204" pitchFamily="18" charset="0"/>
                      </a:rPr>
                      <m:t>, </m:t>
                    </m:r>
                    <m:r>
                      <a:rPr lang="el-GR" altLang="zh-CN" sz="2800" b="1" i="1" dirty="0" smtClean="0">
                        <a:latin typeface="Cambria Math" panose="02040503050406030204" pitchFamily="18" charset="0"/>
                      </a:rPr>
                      <m:t>𝟏</m:t>
                    </m:r>
                    <m:r>
                      <a:rPr lang="el-GR" altLang="zh-CN" sz="2800" b="1" i="1" dirty="0" smtClean="0">
                        <a:latin typeface="Cambria Math" panose="02040503050406030204" pitchFamily="18" charset="0"/>
                      </a:rPr>
                      <m:t>} </m:t>
                    </m:r>
                  </m:oMath>
                </a14:m>
                <a:r>
                  <a:rPr lang="zh-CN" altLang="en-US" sz="2800" b="1" dirty="0"/>
                  <a:t>上的回文语言</a:t>
                </a:r>
                <a:endParaRPr lang="en-AU" altLang="zh-CN" sz="2800" b="1" dirty="0"/>
              </a:p>
              <a:p>
                <a:pPr marL="0" indent="0">
                  <a:buNone/>
                </a:pPr>
                <a14:m>
                  <m:oMathPara xmlns:m="http://schemas.openxmlformats.org/officeDocument/2006/math">
                    <m:oMathParaPr>
                      <m:jc m:val="centerGroup"/>
                    </m:oMathParaPr>
                    <m:oMath xmlns:m="http://schemas.openxmlformats.org/officeDocument/2006/math">
                      <m:sSub>
                        <m:sSubPr>
                          <m:ctrlPr>
                            <a:rPr lang="en-AU" altLang="zh-CN" sz="2800" b="1" i="1" smtClean="0">
                              <a:latin typeface="Cambria Math" panose="02040503050406030204" pitchFamily="18" charset="0"/>
                            </a:rPr>
                          </m:ctrlPr>
                        </m:sSubPr>
                        <m:e>
                          <m:r>
                            <a:rPr lang="en-AU" altLang="zh-CN" sz="2800" b="1" i="1" smtClean="0">
                              <a:latin typeface="Cambria Math" panose="02040503050406030204" pitchFamily="18" charset="0"/>
                            </a:rPr>
                            <m:t>𝑳</m:t>
                          </m:r>
                        </m:e>
                        <m:sub>
                          <m:r>
                            <a:rPr lang="en-AU" altLang="zh-CN" sz="2800" b="1" i="1" smtClean="0">
                              <a:latin typeface="Cambria Math" panose="02040503050406030204" pitchFamily="18" charset="0"/>
                            </a:rPr>
                            <m:t>𝒑𝒂𝒍</m:t>
                          </m:r>
                        </m:sub>
                      </m:sSub>
                      <m:r>
                        <a:rPr lang="en-AU" altLang="zh-CN" sz="2800" b="1" i="1" smtClean="0">
                          <a:latin typeface="Cambria Math" panose="02040503050406030204" pitchFamily="18" charset="0"/>
                        </a:rPr>
                        <m:t>=</m:t>
                      </m:r>
                      <m:d>
                        <m:dPr>
                          <m:begChr m:val="{"/>
                          <m:endChr m:val="}"/>
                          <m:ctrlPr>
                            <a:rPr lang="en-AU" altLang="zh-CN" sz="2800" b="1" i="1" smtClean="0">
                              <a:latin typeface="Cambria Math" panose="02040503050406030204" pitchFamily="18" charset="0"/>
                            </a:rPr>
                          </m:ctrlPr>
                        </m:dPr>
                        <m:e>
                          <m:r>
                            <a:rPr lang="en-AU" altLang="zh-CN" sz="2800" b="1" i="1" smtClean="0">
                              <a:latin typeface="Cambria Math" panose="02040503050406030204" pitchFamily="18" charset="0"/>
                            </a:rPr>
                            <m:t>𝒘</m:t>
                          </m:r>
                          <m:r>
                            <a:rPr lang="en-AU" altLang="zh-CN" sz="2800" b="1" i="1" smtClean="0">
                              <a:latin typeface="Cambria Math" panose="02040503050406030204" pitchFamily="18" charset="0"/>
                              <a:ea typeface="Cambria Math" panose="02040503050406030204" pitchFamily="18" charset="0"/>
                            </a:rPr>
                            <m:t>∈</m:t>
                          </m:r>
                          <m:sSup>
                            <m:sSupPr>
                              <m:ctrlPr>
                                <a:rPr lang="en-AU" altLang="zh-CN" sz="2800" b="1" i="1" smtClean="0">
                                  <a:latin typeface="Cambria Math" panose="02040503050406030204" pitchFamily="18" charset="0"/>
                                  <a:ea typeface="Cambria Math" panose="02040503050406030204" pitchFamily="18" charset="0"/>
                                </a:rPr>
                              </m:ctrlPr>
                            </m:sSupPr>
                            <m:e>
                              <m:d>
                                <m:dPr>
                                  <m:begChr m:val="{"/>
                                  <m:endChr m:val="}"/>
                                  <m:ctrlPr>
                                    <a:rPr lang="en-AU" altLang="zh-CN" sz="2800" b="1" i="1" smtClean="0">
                                      <a:latin typeface="Cambria Math" panose="02040503050406030204" pitchFamily="18" charset="0"/>
                                      <a:ea typeface="Cambria Math" panose="02040503050406030204" pitchFamily="18" charset="0"/>
                                    </a:rPr>
                                  </m:ctrlPr>
                                </m:dPr>
                                <m:e>
                                  <m:r>
                                    <a:rPr lang="en-AU" altLang="zh-CN" sz="2800" b="1" i="1" smtClean="0">
                                      <a:latin typeface="Cambria Math" panose="02040503050406030204" pitchFamily="18" charset="0"/>
                                      <a:ea typeface="Cambria Math" panose="02040503050406030204" pitchFamily="18" charset="0"/>
                                    </a:rPr>
                                    <m:t>𝟎</m:t>
                                  </m:r>
                                  <m:r>
                                    <a:rPr lang="en-AU" altLang="zh-CN" sz="2800" b="1" i="1" smtClean="0">
                                      <a:latin typeface="Cambria Math" panose="02040503050406030204" pitchFamily="18" charset="0"/>
                                      <a:ea typeface="Cambria Math" panose="02040503050406030204" pitchFamily="18" charset="0"/>
                                    </a:rPr>
                                    <m:t>,</m:t>
                                  </m:r>
                                  <m:r>
                                    <a:rPr lang="en-AU" altLang="zh-CN" sz="2800" b="1" i="1" smtClean="0">
                                      <a:latin typeface="Cambria Math" panose="02040503050406030204" pitchFamily="18" charset="0"/>
                                      <a:ea typeface="Cambria Math" panose="02040503050406030204" pitchFamily="18" charset="0"/>
                                    </a:rPr>
                                    <m:t>𝟏</m:t>
                                  </m:r>
                                </m:e>
                              </m:d>
                            </m:e>
                            <m:sup>
                              <m:r>
                                <a:rPr lang="en-AU" altLang="zh-CN" sz="2800" b="1" i="1" smtClean="0">
                                  <a:latin typeface="Cambria Math" panose="02040503050406030204" pitchFamily="18" charset="0"/>
                                  <a:ea typeface="Cambria Math" panose="02040503050406030204" pitchFamily="18" charset="0"/>
                                </a:rPr>
                                <m:t>∗</m:t>
                              </m:r>
                            </m:sup>
                          </m:sSup>
                        </m:e>
                        <m:e>
                          <m:r>
                            <a:rPr lang="en-AU" altLang="zh-CN" sz="2800" b="1" i="1" smtClean="0">
                              <a:latin typeface="Cambria Math" panose="02040503050406030204" pitchFamily="18" charset="0"/>
                              <a:ea typeface="Cambria Math" panose="02040503050406030204" pitchFamily="18" charset="0"/>
                            </a:rPr>
                            <m:t>𝒘</m:t>
                          </m:r>
                          <m:r>
                            <a:rPr lang="en-AU" altLang="zh-CN" sz="2800" b="1" i="1" smtClean="0">
                              <a:latin typeface="Cambria Math" panose="02040503050406030204" pitchFamily="18" charset="0"/>
                              <a:ea typeface="Cambria Math" panose="02040503050406030204" pitchFamily="18" charset="0"/>
                            </a:rPr>
                            <m:t>=</m:t>
                          </m:r>
                          <m:sSup>
                            <m:sSupPr>
                              <m:ctrlPr>
                                <a:rPr lang="en-AU" altLang="zh-CN" sz="2800" b="1" i="1" smtClean="0">
                                  <a:latin typeface="Cambria Math" panose="02040503050406030204" pitchFamily="18" charset="0"/>
                                  <a:ea typeface="Cambria Math" panose="02040503050406030204" pitchFamily="18" charset="0"/>
                                </a:rPr>
                              </m:ctrlPr>
                            </m:sSupPr>
                            <m:e>
                              <m:r>
                                <a:rPr lang="en-AU" altLang="zh-CN" sz="2800" b="1" i="1" smtClean="0">
                                  <a:latin typeface="Cambria Math" panose="02040503050406030204" pitchFamily="18" charset="0"/>
                                  <a:ea typeface="Cambria Math" panose="02040503050406030204" pitchFamily="18" charset="0"/>
                                </a:rPr>
                                <m:t>𝒘</m:t>
                              </m:r>
                            </m:e>
                            <m:sup>
                              <m:r>
                                <a:rPr lang="en-AU" altLang="zh-CN" sz="2800" b="1" i="1" smtClean="0">
                                  <a:latin typeface="Cambria Math" panose="02040503050406030204" pitchFamily="18" charset="0"/>
                                  <a:ea typeface="Cambria Math" panose="02040503050406030204" pitchFamily="18" charset="0"/>
                                </a:rPr>
                                <m:t>𝑹</m:t>
                              </m:r>
                            </m:sup>
                          </m:sSup>
                        </m:e>
                      </m:d>
                    </m:oMath>
                  </m:oMathPara>
                </a14:m>
                <a:endParaRPr lang="en-US" altLang="zh-CN" sz="2800" b="1" dirty="0"/>
              </a:p>
              <a:p>
                <a:pPr marL="0" indent="0">
                  <a:buNone/>
                </a:pPr>
                <a:r>
                  <a:rPr lang="zh-CN" altLang="en-US" sz="2800" b="1" dirty="0"/>
                  <a:t>是否是正则语言？为什么？</a:t>
                </a:r>
                <a:endParaRPr lang="en-AU" altLang="zh-CN" sz="2800" b="1" dirty="0"/>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914400" y="653016"/>
                <a:ext cx="7315200" cy="2143125"/>
              </a:xfrm>
              <a:prstGeom prst="rect">
                <a:avLst/>
              </a:prstGeom>
              <a:blipFill rotWithShape="1">
                <a:blip r:embed="rId3"/>
                <a:stretch>
                  <a:fillRect t="-11" b="11"/>
                </a:stretch>
              </a:blipFill>
            </p:spPr>
            <p:txBody>
              <a:bodyPr/>
              <a:lstStyle/>
              <a:p>
                <a:r>
                  <a:rPr lang="zh-CN" altLang="en-US">
                    <a:noFill/>
                  </a:rPr>
                  <a:t> </a:t>
                </a:r>
              </a:p>
            </p:txBody>
          </p:sp>
        </mc:Fallback>
      </mc:AlternateContent>
      <p:sp>
        <p:nvSpPr>
          <p:cNvPr id="8" name="文本框 7"/>
          <p:cNvSpPr txBox="1"/>
          <p:nvPr>
            <p:custDataLst>
              <p:tags r:id="rId4"/>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是</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5"/>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否</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7"/>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8"/>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1" name="组合 20"/>
          <p:cNvGrpSpPr/>
          <p:nvPr>
            <p:custDataLst>
              <p:tags r:id="rId9"/>
            </p:custDataLst>
          </p:nvPr>
        </p:nvGrpSpPr>
        <p:grpSpPr>
          <a:xfrm>
            <a:off x="0" y="0"/>
            <a:ext cx="9144000" cy="635000"/>
            <a:chOff x="0" y="0"/>
            <a:chExt cx="9144000" cy="635000"/>
          </a:xfrm>
        </p:grpSpPr>
        <p:sp>
          <p:nvSpPr>
            <p:cNvPr id="17" name="TitleBackground"/>
            <p:cNvSpPr/>
            <p:nvPr>
              <p:custDataLst>
                <p:tags r:id="rId10"/>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1"/>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13"/>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4"/>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914400" y="653016"/>
                <a:ext cx="7315200" cy="2143125"/>
              </a:xfrm>
              <a:prstGeom prst="rect">
                <a:avLst/>
              </a:prstGeom>
              <a:noFill/>
            </p:spPr>
            <p:txBody>
              <a:bodyPr vert="horz" wrap="square" rtlCol="0" anchor="ctr" anchorCtr="0">
                <a:noAutofit/>
              </a:bodyPr>
              <a:lstStyle/>
              <a:p>
                <a:r>
                  <a:rPr lang="zh-CN" altLang="en-US" sz="2800" b="1" dirty="0"/>
                  <a:t>字母表</a:t>
                </a:r>
                <a14:m>
                  <m:oMath xmlns:m="http://schemas.openxmlformats.org/officeDocument/2006/math">
                    <m:r>
                      <a:rPr lang="el-GR" altLang="zh-CN" sz="2800" b="1" i="0" dirty="0" smtClean="0">
                        <a:latin typeface="Cambria Math" panose="02040503050406030204" pitchFamily="18" charset="0"/>
                      </a:rPr>
                      <m:t>𝚺</m:t>
                    </m:r>
                    <m:r>
                      <a:rPr lang="el-GR" altLang="zh-CN" sz="2800" b="1" i="1" dirty="0" smtClean="0">
                        <a:latin typeface="Cambria Math" panose="02040503050406030204" pitchFamily="18" charset="0"/>
                      </a:rPr>
                      <m:t> = {</m:t>
                    </m:r>
                    <m:r>
                      <a:rPr lang="el-GR" altLang="zh-CN" sz="2800" b="1" i="1" dirty="0" smtClean="0">
                        <a:latin typeface="Cambria Math" panose="02040503050406030204" pitchFamily="18" charset="0"/>
                      </a:rPr>
                      <m:t>𝟎</m:t>
                    </m:r>
                    <m:r>
                      <a:rPr lang="el-GR" altLang="zh-CN" sz="2800" b="1" i="1" dirty="0" smtClean="0">
                        <a:latin typeface="Cambria Math" panose="02040503050406030204" pitchFamily="18" charset="0"/>
                      </a:rPr>
                      <m:t>, </m:t>
                    </m:r>
                    <m:r>
                      <a:rPr lang="el-GR" altLang="zh-CN" sz="2800" b="1" i="1" dirty="0" smtClean="0">
                        <a:latin typeface="Cambria Math" panose="02040503050406030204" pitchFamily="18" charset="0"/>
                      </a:rPr>
                      <m:t>𝟏</m:t>
                    </m:r>
                    <m:r>
                      <a:rPr lang="el-GR" altLang="zh-CN" sz="2800" b="1" i="1" dirty="0" smtClean="0">
                        <a:latin typeface="Cambria Math" panose="02040503050406030204" pitchFamily="18" charset="0"/>
                      </a:rPr>
                      <m:t>} </m:t>
                    </m:r>
                  </m:oMath>
                </a14:m>
                <a:r>
                  <a:rPr lang="zh-CN" altLang="en-US" sz="2800" b="1" dirty="0"/>
                  <a:t>上的回文语言</a:t>
                </a:r>
                <a:endParaRPr lang="en-AU" altLang="zh-CN" sz="2800" b="1" dirty="0"/>
              </a:p>
              <a:p>
                <a:pPr marL="0" indent="0">
                  <a:buNone/>
                </a:pPr>
                <a14:m>
                  <m:oMathPara xmlns:m="http://schemas.openxmlformats.org/officeDocument/2006/math">
                    <m:oMathParaPr>
                      <m:jc m:val="centerGroup"/>
                    </m:oMathParaPr>
                    <m:oMath xmlns:m="http://schemas.openxmlformats.org/officeDocument/2006/math">
                      <m:sSub>
                        <m:sSubPr>
                          <m:ctrlPr>
                            <a:rPr lang="en-AU" altLang="zh-CN" sz="2800" b="1" i="1" smtClean="0">
                              <a:latin typeface="Cambria Math" panose="02040503050406030204" pitchFamily="18" charset="0"/>
                            </a:rPr>
                          </m:ctrlPr>
                        </m:sSubPr>
                        <m:e>
                          <m:r>
                            <a:rPr lang="en-AU" altLang="zh-CN" sz="2800" b="1" i="1" smtClean="0">
                              <a:latin typeface="Cambria Math" panose="02040503050406030204" pitchFamily="18" charset="0"/>
                            </a:rPr>
                            <m:t>𝑳</m:t>
                          </m:r>
                        </m:e>
                        <m:sub>
                          <m:r>
                            <a:rPr lang="en-AU" altLang="zh-CN" sz="2800" b="1" i="1" smtClean="0">
                              <a:latin typeface="Cambria Math" panose="02040503050406030204" pitchFamily="18" charset="0"/>
                            </a:rPr>
                            <m:t>𝒑𝒂𝒍</m:t>
                          </m:r>
                        </m:sub>
                      </m:sSub>
                      <m:r>
                        <a:rPr lang="en-AU" altLang="zh-CN" sz="2800" b="1" i="1" smtClean="0">
                          <a:latin typeface="Cambria Math" panose="02040503050406030204" pitchFamily="18" charset="0"/>
                        </a:rPr>
                        <m:t>=</m:t>
                      </m:r>
                      <m:d>
                        <m:dPr>
                          <m:begChr m:val="{"/>
                          <m:endChr m:val="}"/>
                          <m:ctrlPr>
                            <a:rPr lang="en-AU" altLang="zh-CN" sz="2800" b="1" i="1" smtClean="0">
                              <a:latin typeface="Cambria Math" panose="02040503050406030204" pitchFamily="18" charset="0"/>
                            </a:rPr>
                          </m:ctrlPr>
                        </m:dPr>
                        <m:e>
                          <m:r>
                            <a:rPr lang="en-AU" altLang="zh-CN" sz="2800" b="1" i="1" smtClean="0">
                              <a:latin typeface="Cambria Math" panose="02040503050406030204" pitchFamily="18" charset="0"/>
                            </a:rPr>
                            <m:t>𝒘</m:t>
                          </m:r>
                          <m:r>
                            <a:rPr lang="en-AU" altLang="zh-CN" sz="2800" b="1" i="1" smtClean="0">
                              <a:latin typeface="Cambria Math" panose="02040503050406030204" pitchFamily="18" charset="0"/>
                              <a:ea typeface="Cambria Math" panose="02040503050406030204" pitchFamily="18" charset="0"/>
                            </a:rPr>
                            <m:t>∈</m:t>
                          </m:r>
                          <m:sSup>
                            <m:sSupPr>
                              <m:ctrlPr>
                                <a:rPr lang="en-AU" altLang="zh-CN" sz="2800" b="1" i="1" smtClean="0">
                                  <a:latin typeface="Cambria Math" panose="02040503050406030204" pitchFamily="18" charset="0"/>
                                  <a:ea typeface="Cambria Math" panose="02040503050406030204" pitchFamily="18" charset="0"/>
                                </a:rPr>
                              </m:ctrlPr>
                            </m:sSupPr>
                            <m:e>
                              <m:d>
                                <m:dPr>
                                  <m:begChr m:val="{"/>
                                  <m:endChr m:val="}"/>
                                  <m:ctrlPr>
                                    <a:rPr lang="en-AU" altLang="zh-CN" sz="2800" b="1" i="1" smtClean="0">
                                      <a:latin typeface="Cambria Math" panose="02040503050406030204" pitchFamily="18" charset="0"/>
                                      <a:ea typeface="Cambria Math" panose="02040503050406030204" pitchFamily="18" charset="0"/>
                                    </a:rPr>
                                  </m:ctrlPr>
                                </m:dPr>
                                <m:e>
                                  <m:r>
                                    <a:rPr lang="en-AU" altLang="zh-CN" sz="2800" b="1" i="1" smtClean="0">
                                      <a:latin typeface="Cambria Math" panose="02040503050406030204" pitchFamily="18" charset="0"/>
                                      <a:ea typeface="Cambria Math" panose="02040503050406030204" pitchFamily="18" charset="0"/>
                                    </a:rPr>
                                    <m:t>𝟎</m:t>
                                  </m:r>
                                  <m:r>
                                    <a:rPr lang="en-AU" altLang="zh-CN" sz="2800" b="1" i="1" smtClean="0">
                                      <a:latin typeface="Cambria Math" panose="02040503050406030204" pitchFamily="18" charset="0"/>
                                      <a:ea typeface="Cambria Math" panose="02040503050406030204" pitchFamily="18" charset="0"/>
                                    </a:rPr>
                                    <m:t>,</m:t>
                                  </m:r>
                                  <m:r>
                                    <a:rPr lang="en-AU" altLang="zh-CN" sz="2800" b="1" i="1" smtClean="0">
                                      <a:latin typeface="Cambria Math" panose="02040503050406030204" pitchFamily="18" charset="0"/>
                                      <a:ea typeface="Cambria Math" panose="02040503050406030204" pitchFamily="18" charset="0"/>
                                    </a:rPr>
                                    <m:t>𝟏</m:t>
                                  </m:r>
                                </m:e>
                              </m:d>
                            </m:e>
                            <m:sup>
                              <m:r>
                                <a:rPr lang="en-AU" altLang="zh-CN" sz="2800" b="1" i="1" smtClean="0">
                                  <a:latin typeface="Cambria Math" panose="02040503050406030204" pitchFamily="18" charset="0"/>
                                  <a:ea typeface="Cambria Math" panose="02040503050406030204" pitchFamily="18" charset="0"/>
                                </a:rPr>
                                <m:t>∗</m:t>
                              </m:r>
                            </m:sup>
                          </m:sSup>
                        </m:e>
                        <m:e>
                          <m:r>
                            <a:rPr lang="en-AU" altLang="zh-CN" sz="2800" b="1" i="1" smtClean="0">
                              <a:latin typeface="Cambria Math" panose="02040503050406030204" pitchFamily="18" charset="0"/>
                              <a:ea typeface="Cambria Math" panose="02040503050406030204" pitchFamily="18" charset="0"/>
                            </a:rPr>
                            <m:t>𝒘</m:t>
                          </m:r>
                          <m:r>
                            <a:rPr lang="en-AU" altLang="zh-CN" sz="2800" b="1" i="1" smtClean="0">
                              <a:latin typeface="Cambria Math" panose="02040503050406030204" pitchFamily="18" charset="0"/>
                              <a:ea typeface="Cambria Math" panose="02040503050406030204" pitchFamily="18" charset="0"/>
                            </a:rPr>
                            <m:t>=</m:t>
                          </m:r>
                          <m:sSup>
                            <m:sSupPr>
                              <m:ctrlPr>
                                <a:rPr lang="en-AU" altLang="zh-CN" sz="2800" b="1" i="1" smtClean="0">
                                  <a:latin typeface="Cambria Math" panose="02040503050406030204" pitchFamily="18" charset="0"/>
                                  <a:ea typeface="Cambria Math" panose="02040503050406030204" pitchFamily="18" charset="0"/>
                                </a:rPr>
                              </m:ctrlPr>
                            </m:sSupPr>
                            <m:e>
                              <m:r>
                                <a:rPr lang="en-AU" altLang="zh-CN" sz="2800" b="1" i="1" smtClean="0">
                                  <a:latin typeface="Cambria Math" panose="02040503050406030204" pitchFamily="18" charset="0"/>
                                  <a:ea typeface="Cambria Math" panose="02040503050406030204" pitchFamily="18" charset="0"/>
                                </a:rPr>
                                <m:t>𝒘</m:t>
                              </m:r>
                            </m:e>
                            <m:sup>
                              <m:r>
                                <a:rPr lang="en-AU" altLang="zh-CN" sz="2800" b="1" i="1" smtClean="0">
                                  <a:latin typeface="Cambria Math" panose="02040503050406030204" pitchFamily="18" charset="0"/>
                                  <a:ea typeface="Cambria Math" panose="02040503050406030204" pitchFamily="18" charset="0"/>
                                </a:rPr>
                                <m:t>𝑹</m:t>
                              </m:r>
                            </m:sup>
                          </m:sSup>
                        </m:e>
                      </m:d>
                    </m:oMath>
                  </m:oMathPara>
                </a14:m>
                <a:endParaRPr lang="en-US" altLang="zh-CN" sz="2800" b="1" dirty="0"/>
              </a:p>
              <a:p>
                <a:pPr marL="0" indent="0">
                  <a:buNone/>
                </a:pPr>
                <a:r>
                  <a:rPr lang="zh-CN" altLang="en-US" sz="2800" b="1" dirty="0"/>
                  <a:t>是否是正则语言？为什么？</a:t>
                </a:r>
                <a:endParaRPr lang="en-AU" altLang="zh-CN" sz="2800" b="1" dirty="0"/>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914400" y="653016"/>
                <a:ext cx="7315200" cy="2143125"/>
              </a:xfrm>
              <a:prstGeom prst="rect">
                <a:avLst/>
              </a:prstGeom>
              <a:blipFill rotWithShape="1">
                <a:blip r:embed="rId3"/>
                <a:stretch>
                  <a:fillRect t="-11" b="11"/>
                </a:stretch>
              </a:blipFill>
            </p:spPr>
            <p:txBody>
              <a:bodyPr/>
              <a:lstStyle/>
              <a:p>
                <a:r>
                  <a:rPr lang="zh-CN" altLang="en-US">
                    <a:noFill/>
                  </a:rPr>
                  <a:t> </a:t>
                </a:r>
              </a:p>
            </p:txBody>
          </p:sp>
        </mc:Fallback>
      </mc:AlternateContent>
      <p:grpSp>
        <p:nvGrpSpPr>
          <p:cNvPr id="21" name="组合 20"/>
          <p:cNvGrpSpPr/>
          <p:nvPr>
            <p:custDataLst>
              <p:tags r:id="rId4"/>
            </p:custDataLst>
          </p:nvPr>
        </p:nvGrpSpPr>
        <p:grpSpPr>
          <a:xfrm>
            <a:off x="0" y="0"/>
            <a:ext cx="9144000" cy="635000"/>
            <a:chOff x="0" y="0"/>
            <a:chExt cx="9144000" cy="635000"/>
          </a:xfrm>
        </p:grpSpPr>
        <p:sp>
          <p:nvSpPr>
            <p:cNvPr id="17"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ustDataLst>
      <p:tags r:id="rId9"/>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sz="2600" dirty="0"/>
                  <a:t>例</a:t>
                </a:r>
                <a:r>
                  <a:rPr lang="en-AU" altLang="zh-CN" sz="2600" dirty="0"/>
                  <a:t>: </a:t>
                </a:r>
                <a:r>
                  <a:rPr lang="zh-CN" altLang="en-US" sz="2600" dirty="0"/>
                  <a:t>字母表</a:t>
                </a:r>
                <a14:m>
                  <m:oMath xmlns:m="http://schemas.openxmlformats.org/officeDocument/2006/math">
                    <m:r>
                      <m:rPr>
                        <m:sty m:val="p"/>
                      </m:rPr>
                      <a:rPr lang="el-GR" altLang="zh-CN" sz="2600" i="0" dirty="0" smtClean="0">
                        <a:latin typeface="Cambria Math" panose="02040503050406030204" pitchFamily="18" charset="0"/>
                      </a:rPr>
                      <m:t>Σ</m:t>
                    </m:r>
                    <m:r>
                      <a:rPr lang="el-GR" altLang="zh-CN" sz="2600" i="1" dirty="0" smtClean="0">
                        <a:latin typeface="Cambria Math" panose="02040503050406030204" pitchFamily="18" charset="0"/>
                      </a:rPr>
                      <m:t> = {</m:t>
                    </m:r>
                    <m:r>
                      <a:rPr lang="el-GR" altLang="zh-CN" sz="2600" i="1" dirty="0" smtClean="0">
                        <a:latin typeface="Cambria Math" panose="02040503050406030204" pitchFamily="18" charset="0"/>
                      </a:rPr>
                      <m:t>0</m:t>
                    </m:r>
                    <m:r>
                      <a:rPr lang="el-GR" altLang="zh-CN" sz="2600" i="1" dirty="0" smtClean="0">
                        <a:latin typeface="Cambria Math" panose="02040503050406030204" pitchFamily="18" charset="0"/>
                      </a:rPr>
                      <m:t>, </m:t>
                    </m:r>
                    <m:r>
                      <a:rPr lang="el-GR" altLang="zh-CN" sz="2600" i="1" dirty="0" smtClean="0">
                        <a:latin typeface="Cambria Math" panose="02040503050406030204" pitchFamily="18" charset="0"/>
                      </a:rPr>
                      <m:t>1</m:t>
                    </m:r>
                    <m:r>
                      <a:rPr lang="el-GR" altLang="zh-CN" sz="2600" i="1" dirty="0" smtClean="0">
                        <a:latin typeface="Cambria Math" panose="02040503050406030204" pitchFamily="18" charset="0"/>
                      </a:rPr>
                      <m:t>} </m:t>
                    </m:r>
                  </m:oMath>
                </a14:m>
                <a:r>
                  <a:rPr lang="zh-CN" altLang="en-US" sz="2600" dirty="0"/>
                  <a:t>上的回文语言</a:t>
                </a:r>
                <a:endParaRPr lang="en-AU" altLang="zh-CN" sz="2600" dirty="0"/>
              </a:p>
              <a:p>
                <a:pPr marL="0" indent="0">
                  <a:buNone/>
                </a:pP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𝐿</m:t>
                          </m:r>
                        </m:e>
                        <m:sub>
                          <m:r>
                            <a:rPr lang="en-AU" altLang="zh-CN" b="0" i="1" smtClean="0">
                              <a:latin typeface="Cambria Math" panose="02040503050406030204" pitchFamily="18" charset="0"/>
                            </a:rPr>
                            <m:t>𝑝𝑎𝑙</m:t>
                          </m:r>
                        </m:sub>
                      </m:sSub>
                      <m:r>
                        <a:rPr lang="en-AU" altLang="zh-CN" b="0" i="1" smtClean="0">
                          <a:latin typeface="Cambria Math" panose="02040503050406030204" pitchFamily="18" charset="0"/>
                        </a:rPr>
                        <m:t>={</m:t>
                      </m:r>
                      <m:r>
                        <a:rPr lang="en-AU" altLang="zh-CN" b="0" i="1" smtClean="0">
                          <a:latin typeface="Cambria Math" panose="02040503050406030204" pitchFamily="18" charset="0"/>
                        </a:rPr>
                        <m:t>𝑤</m:t>
                      </m:r>
                      <m:r>
                        <a:rPr lang="en-AU" altLang="zh-CN" b="0" i="1" smtClean="0">
                          <a:latin typeface="Cambria Math" panose="02040503050406030204" pitchFamily="18" charset="0"/>
                          <a:ea typeface="Cambria Math" panose="02040503050406030204" pitchFamily="18" charset="0"/>
                        </a:rPr>
                        <m:t>∈</m:t>
                      </m:r>
                      <m:sSup>
                        <m:sSupPr>
                          <m:ctrlPr>
                            <a:rPr lang="en-AU" altLang="zh-CN" b="0" i="1" smtClean="0">
                              <a:latin typeface="Cambria Math" panose="02040503050406030204" pitchFamily="18" charset="0"/>
                              <a:ea typeface="Cambria Math" panose="02040503050406030204" pitchFamily="18" charset="0"/>
                            </a:rPr>
                          </m:ctrlPr>
                        </m:sSupPr>
                        <m:e>
                          <m:d>
                            <m:dPr>
                              <m:begChr m:val="{"/>
                              <m:endChr m:val="}"/>
                              <m:ctrlPr>
                                <a:rPr lang="en-AU" altLang="zh-CN" b="0" i="1" smtClean="0">
                                  <a:latin typeface="Cambria Math" panose="02040503050406030204" pitchFamily="18" charset="0"/>
                                  <a:ea typeface="Cambria Math" panose="02040503050406030204" pitchFamily="18" charset="0"/>
                                </a:rPr>
                              </m:ctrlPr>
                            </m:dPr>
                            <m:e>
                              <m:r>
                                <a:rPr lang="en-AU" altLang="zh-CN" b="0" i="1" smtClean="0">
                                  <a:latin typeface="Cambria Math" panose="02040503050406030204" pitchFamily="18" charset="0"/>
                                  <a:ea typeface="Cambria Math" panose="02040503050406030204" pitchFamily="18" charset="0"/>
                                </a:rPr>
                                <m:t>0</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1</m:t>
                              </m:r>
                            </m:e>
                          </m:d>
                        </m:e>
                        <m:sup>
                          <m:r>
                            <a:rPr lang="en-AU" altLang="zh-CN" b="0" i="1" smtClean="0">
                              <a:latin typeface="Cambria Math" panose="02040503050406030204" pitchFamily="18" charset="0"/>
                              <a:ea typeface="Cambria Math" panose="02040503050406030204" pitchFamily="18" charset="0"/>
                            </a:rPr>
                            <m:t>∗</m:t>
                          </m:r>
                        </m:sup>
                      </m:sSup>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𝑤</m:t>
                      </m:r>
                      <m:r>
                        <a:rPr lang="en-AU" altLang="zh-CN" b="0" i="1" smtClean="0">
                          <a:latin typeface="Cambria Math" panose="02040503050406030204" pitchFamily="18" charset="0"/>
                          <a:ea typeface="Cambria Math" panose="02040503050406030204" pitchFamily="18" charset="0"/>
                        </a:rPr>
                        <m:t>=</m:t>
                      </m:r>
                      <m:sSup>
                        <m:sSupPr>
                          <m:ctrlPr>
                            <a:rPr lang="en-AU" altLang="zh-CN" b="0" i="1" smtClean="0">
                              <a:latin typeface="Cambria Math" panose="02040503050406030204" pitchFamily="18" charset="0"/>
                              <a:ea typeface="Cambria Math" panose="02040503050406030204" pitchFamily="18" charset="0"/>
                            </a:rPr>
                          </m:ctrlPr>
                        </m:sSupPr>
                        <m:e>
                          <m:r>
                            <a:rPr lang="en-AU" altLang="zh-CN" b="0" i="1" smtClean="0">
                              <a:latin typeface="Cambria Math" panose="02040503050406030204" pitchFamily="18" charset="0"/>
                              <a:ea typeface="Cambria Math" panose="02040503050406030204" pitchFamily="18" charset="0"/>
                            </a:rPr>
                            <m:t>𝑤</m:t>
                          </m:r>
                        </m:e>
                        <m:sup>
                          <m:r>
                            <a:rPr lang="en-AU" altLang="zh-CN" b="0" i="1" smtClean="0">
                              <a:latin typeface="Cambria Math" panose="02040503050406030204" pitchFamily="18" charset="0"/>
                              <a:ea typeface="Cambria Math" panose="02040503050406030204" pitchFamily="18" charset="0"/>
                            </a:rPr>
                            <m:t>𝑅</m:t>
                          </m:r>
                        </m:sup>
                      </m:sSup>
                      <m:r>
                        <a:rPr lang="en-AU" altLang="zh-CN" b="0" i="1" smtClean="0">
                          <a:latin typeface="Cambria Math" panose="02040503050406030204" pitchFamily="18" charset="0"/>
                        </a:rPr>
                        <m:t>}</m:t>
                      </m:r>
                    </m:oMath>
                  </m:oMathPara>
                </a14:m>
                <a:endParaRPr lang="en-AU" altLang="zh-CN" dirty="0"/>
              </a:p>
              <a:p>
                <a:r>
                  <a:rPr lang="zh-CN" altLang="en-US" sz="2600" dirty="0"/>
                  <a:t>很容易用泵引理证明</a:t>
                </a:r>
                <a14:m>
                  <m:oMath xmlns:m="http://schemas.openxmlformats.org/officeDocument/2006/math">
                    <m:sSub>
                      <m:sSubPr>
                        <m:ctrlPr>
                          <a:rPr lang="en-US" altLang="zh-CN" sz="2600" b="0" i="1" smtClean="0">
                            <a:latin typeface="Cambria Math" panose="02040503050406030204" pitchFamily="18" charset="0"/>
                          </a:rPr>
                        </m:ctrlPr>
                      </m:sSubPr>
                      <m:e>
                        <m:r>
                          <a:rPr lang="en-AU" altLang="zh-CN" sz="2600" b="0" i="1" smtClean="0">
                            <a:latin typeface="Cambria Math" panose="02040503050406030204" pitchFamily="18" charset="0"/>
                          </a:rPr>
                          <m:t>𝐿</m:t>
                        </m:r>
                      </m:e>
                      <m:sub>
                        <m:r>
                          <a:rPr lang="en-AU" altLang="zh-CN" sz="2600" b="0" i="1" smtClean="0">
                            <a:latin typeface="Cambria Math" panose="02040503050406030204" pitchFamily="18" charset="0"/>
                          </a:rPr>
                          <m:t>𝑝𝑎𝑙</m:t>
                        </m:r>
                      </m:sub>
                    </m:sSub>
                  </m:oMath>
                </a14:m>
                <a:r>
                  <a:rPr lang="zh-CN" altLang="en-US" sz="2600" dirty="0"/>
                  <a:t>是非正则的（</a:t>
                </a:r>
                <a:r>
                  <a:rPr lang="zh-CN" altLang="en-US" sz="2600" dirty="0">
                    <a:solidFill>
                      <a:srgbClr val="FF0000"/>
                    </a:solidFill>
                  </a:rPr>
                  <a:t>？尝试证明下，比如考虑</a:t>
                </a:r>
                <a14:m>
                  <m:oMath xmlns:m="http://schemas.openxmlformats.org/officeDocument/2006/math">
                    <m:sSup>
                      <m:sSupPr>
                        <m:ctrlPr>
                          <a:rPr lang="en-AU" altLang="zh-CN" sz="2600" i="1" smtClean="0">
                            <a:solidFill>
                              <a:srgbClr val="FF0000"/>
                            </a:solidFill>
                            <a:latin typeface="Cambria Math" panose="02040503050406030204" pitchFamily="18" charset="0"/>
                          </a:rPr>
                        </m:ctrlPr>
                      </m:sSupPr>
                      <m:e>
                        <m:r>
                          <a:rPr lang="en-AU" altLang="zh-CN" sz="2600" b="0" i="1" smtClean="0">
                            <a:solidFill>
                              <a:srgbClr val="FF0000"/>
                            </a:solidFill>
                            <a:latin typeface="Cambria Math" panose="02040503050406030204" pitchFamily="18" charset="0"/>
                          </a:rPr>
                          <m:t>𝑤</m:t>
                        </m:r>
                        <m:r>
                          <a:rPr lang="en-AU" altLang="zh-CN" sz="2600" b="0" i="1" smtClean="0">
                            <a:solidFill>
                              <a:srgbClr val="FF0000"/>
                            </a:solidFill>
                            <a:latin typeface="Cambria Math" panose="02040503050406030204" pitchFamily="18" charset="0"/>
                          </a:rPr>
                          <m:t>=</m:t>
                        </m:r>
                        <m:r>
                          <a:rPr lang="en-AU" altLang="zh-CN" sz="2600" b="0" i="1" smtClean="0">
                            <a:solidFill>
                              <a:srgbClr val="FF0000"/>
                            </a:solidFill>
                            <a:latin typeface="Cambria Math" panose="02040503050406030204" pitchFamily="18" charset="0"/>
                          </a:rPr>
                          <m:t>0</m:t>
                        </m:r>
                      </m:e>
                      <m:sup>
                        <m:r>
                          <a:rPr lang="en-AU" altLang="zh-CN" sz="2600" b="0" i="1" smtClean="0">
                            <a:solidFill>
                              <a:srgbClr val="FF0000"/>
                            </a:solidFill>
                            <a:latin typeface="Cambria Math" panose="02040503050406030204" pitchFamily="18" charset="0"/>
                          </a:rPr>
                          <m:t>𝑁</m:t>
                        </m:r>
                      </m:sup>
                    </m:sSup>
                    <m:sSup>
                      <m:sSupPr>
                        <m:ctrlPr>
                          <a:rPr lang="en-AU" altLang="zh-CN" sz="2600" i="1" smtClean="0">
                            <a:solidFill>
                              <a:srgbClr val="FF0000"/>
                            </a:solidFill>
                            <a:latin typeface="Cambria Math" panose="02040503050406030204" pitchFamily="18" charset="0"/>
                          </a:rPr>
                        </m:ctrlPr>
                      </m:sSupPr>
                      <m:e>
                        <m:r>
                          <a:rPr lang="en-AU" altLang="zh-CN" sz="2600" b="0" i="1" smtClean="0">
                            <a:solidFill>
                              <a:srgbClr val="FF0000"/>
                            </a:solidFill>
                            <a:latin typeface="Cambria Math" panose="02040503050406030204" pitchFamily="18" charset="0"/>
                          </a:rPr>
                          <m:t>1</m:t>
                        </m:r>
                      </m:e>
                      <m:sup>
                        <m:r>
                          <a:rPr lang="en-AU" altLang="zh-CN" sz="2600" b="0" i="1" smtClean="0">
                            <a:solidFill>
                              <a:srgbClr val="FF0000"/>
                            </a:solidFill>
                            <a:latin typeface="Cambria Math" panose="02040503050406030204" pitchFamily="18" charset="0"/>
                          </a:rPr>
                          <m:t>𝑁</m:t>
                        </m:r>
                      </m:sup>
                    </m:sSup>
                    <m:sSup>
                      <m:sSupPr>
                        <m:ctrlPr>
                          <a:rPr lang="en-AU" altLang="zh-CN" sz="2600" i="1">
                            <a:solidFill>
                              <a:srgbClr val="FF0000"/>
                            </a:solidFill>
                            <a:latin typeface="Cambria Math" panose="02040503050406030204" pitchFamily="18" charset="0"/>
                          </a:rPr>
                        </m:ctrlPr>
                      </m:sSupPr>
                      <m:e>
                        <m:r>
                          <a:rPr lang="en-US" altLang="zh-CN" sz="2600" b="0" i="1" smtClean="0">
                            <a:solidFill>
                              <a:srgbClr val="FF0000"/>
                            </a:solidFill>
                            <a:latin typeface="Cambria Math" panose="02040503050406030204" pitchFamily="18" charset="0"/>
                          </a:rPr>
                          <m:t>0</m:t>
                        </m:r>
                      </m:e>
                      <m:sup>
                        <m:r>
                          <a:rPr lang="en-AU" altLang="zh-CN" sz="2600" b="0" i="1">
                            <a:solidFill>
                              <a:srgbClr val="FF0000"/>
                            </a:solidFill>
                            <a:latin typeface="Cambria Math" panose="02040503050406030204" pitchFamily="18" charset="0"/>
                          </a:rPr>
                          <m:t>𝑁</m:t>
                        </m:r>
                      </m:sup>
                    </m:sSup>
                  </m:oMath>
                </a14:m>
                <a:r>
                  <a:rPr lang="zh-CN" altLang="en-US" sz="2600" dirty="0"/>
                  <a:t>）。但如何表示该语言呢</a:t>
                </a:r>
                <a:r>
                  <a:rPr lang="en-US" altLang="zh-CN" sz="2600" dirty="0"/>
                  <a:t>?</a:t>
                </a:r>
                <a:endParaRPr lang="en-US" altLang="zh-CN" sz="2600" dirty="0"/>
              </a:p>
              <a:p>
                <a:endParaRPr lang="en-AU" altLang="zh-CN" dirty="0"/>
              </a:p>
              <a:p>
                <a:endParaRPr lang="en-AU" altLang="zh-CN" dirty="0"/>
              </a:p>
              <a:p>
                <a:endParaRPr lang="en-AU" altLang="zh-CN" dirty="0"/>
              </a:p>
              <a:p>
                <a:endParaRPr lang="en-AU" altLang="zh-CN" dirty="0"/>
              </a:p>
              <a:p>
                <a:endParaRPr lang="en-AU" altLang="zh-CN" dirty="0"/>
              </a:p>
              <a:p>
                <a:endParaRPr lang="en-AU" dirty="0"/>
              </a:p>
              <a:p>
                <a:endParaRPr lang="en-AU"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r="-934" b="-29933"/>
                </a:stretch>
              </a:blipFill>
            </p:spPr>
            <p:txBody>
              <a:bodyPr/>
              <a:lstStyle/>
              <a:p>
                <a:r>
                  <a:rPr lang="zh-CN" altLang="en-US">
                    <a:noFill/>
                  </a:rPr>
                  <a:t> </a:t>
                </a:r>
              </a:p>
            </p:txBody>
          </p:sp>
        </mc:Fallback>
      </mc:AlternateContent>
      <p:sp>
        <p:nvSpPr>
          <p:cNvPr id="2" name="Title 1"/>
          <p:cNvSpPr>
            <a:spLocks noGrp="1"/>
          </p:cNvSpPr>
          <p:nvPr>
            <p:ph type="title"/>
          </p:nvPr>
        </p:nvSpPr>
        <p:spPr/>
        <p:txBody>
          <a:bodyPr/>
          <a:lstStyle/>
          <a:p>
            <a:r>
              <a:rPr lang="zh-CN" altLang="en-US" dirty="0"/>
              <a:t>回文与回文语言</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166018"/>
                <a:ext cx="8229600" cy="4525963"/>
              </a:xfrm>
            </p:spPr>
            <p:txBody>
              <a:bodyPr>
                <a:normAutofit lnSpcReduction="10000"/>
              </a:bodyPr>
              <a:lstStyle/>
              <a:p>
                <a:r>
                  <a:rPr lang="zh-CN" altLang="en-US" dirty="0"/>
                  <a:t>例</a:t>
                </a:r>
                <a:r>
                  <a:rPr lang="en-AU" altLang="zh-CN" dirty="0"/>
                  <a:t>: </a:t>
                </a:r>
                <a:r>
                  <a:rPr lang="zh-CN" altLang="en-US" dirty="0"/>
                  <a:t>字母表</a:t>
                </a:r>
                <a14:m>
                  <m:oMath xmlns:m="http://schemas.openxmlformats.org/officeDocument/2006/math">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 {</m:t>
                    </m:r>
                    <m:r>
                      <a:rPr lang="el-GR" altLang="zh-CN" i="1" dirty="0" smtClean="0">
                        <a:latin typeface="Cambria Math" panose="02040503050406030204" pitchFamily="18" charset="0"/>
                      </a:rPr>
                      <m:t>0</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1</m:t>
                    </m:r>
                    <m:r>
                      <a:rPr lang="el-GR" altLang="zh-CN" i="1" dirty="0" smtClean="0">
                        <a:latin typeface="Cambria Math" panose="02040503050406030204" pitchFamily="18" charset="0"/>
                      </a:rPr>
                      <m:t>} </m:t>
                    </m:r>
                  </m:oMath>
                </a14:m>
                <a:r>
                  <a:rPr lang="zh-CN" altLang="en-US" dirty="0"/>
                  <a:t>上的回文语言</a:t>
                </a:r>
                <a:endParaRPr lang="en-AU" altLang="zh-CN" dirty="0"/>
              </a:p>
              <a:p>
                <a:pPr marL="0" indent="0">
                  <a:buNone/>
                </a:pP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𝐿</m:t>
                          </m:r>
                        </m:e>
                        <m:sub>
                          <m:r>
                            <a:rPr lang="en-AU" altLang="zh-CN" b="0" i="1" smtClean="0">
                              <a:latin typeface="Cambria Math" panose="02040503050406030204" pitchFamily="18" charset="0"/>
                            </a:rPr>
                            <m:t>𝑝𝑎𝑙</m:t>
                          </m:r>
                        </m:sub>
                      </m:sSub>
                      <m:r>
                        <a:rPr lang="en-AU" altLang="zh-CN" b="0" i="1" smtClean="0">
                          <a:latin typeface="Cambria Math" panose="02040503050406030204" pitchFamily="18" charset="0"/>
                        </a:rPr>
                        <m:t>={</m:t>
                      </m:r>
                      <m:r>
                        <a:rPr lang="en-AU" altLang="zh-CN" b="0" i="1" smtClean="0">
                          <a:latin typeface="Cambria Math" panose="02040503050406030204" pitchFamily="18" charset="0"/>
                        </a:rPr>
                        <m:t>𝑤</m:t>
                      </m:r>
                      <m:r>
                        <a:rPr lang="en-AU" altLang="zh-CN" b="0" i="1" smtClean="0">
                          <a:latin typeface="Cambria Math" panose="02040503050406030204" pitchFamily="18" charset="0"/>
                          <a:ea typeface="Cambria Math" panose="02040503050406030204" pitchFamily="18" charset="0"/>
                        </a:rPr>
                        <m:t>∈</m:t>
                      </m:r>
                      <m:sSup>
                        <m:sSupPr>
                          <m:ctrlPr>
                            <a:rPr lang="en-AU" altLang="zh-CN" b="0" i="1" smtClean="0">
                              <a:latin typeface="Cambria Math" panose="02040503050406030204" pitchFamily="18" charset="0"/>
                              <a:ea typeface="Cambria Math" panose="02040503050406030204" pitchFamily="18" charset="0"/>
                            </a:rPr>
                          </m:ctrlPr>
                        </m:sSupPr>
                        <m:e>
                          <m:d>
                            <m:dPr>
                              <m:begChr m:val="{"/>
                              <m:endChr m:val="}"/>
                              <m:ctrlPr>
                                <a:rPr lang="en-AU" altLang="zh-CN" b="0" i="1" smtClean="0">
                                  <a:latin typeface="Cambria Math" panose="02040503050406030204" pitchFamily="18" charset="0"/>
                                  <a:ea typeface="Cambria Math" panose="02040503050406030204" pitchFamily="18" charset="0"/>
                                </a:rPr>
                              </m:ctrlPr>
                            </m:dPr>
                            <m:e>
                              <m:r>
                                <a:rPr lang="en-AU" altLang="zh-CN" b="0" i="1" smtClean="0">
                                  <a:latin typeface="Cambria Math" panose="02040503050406030204" pitchFamily="18" charset="0"/>
                                  <a:ea typeface="Cambria Math" panose="02040503050406030204" pitchFamily="18" charset="0"/>
                                </a:rPr>
                                <m:t>0</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1</m:t>
                              </m:r>
                            </m:e>
                          </m:d>
                        </m:e>
                        <m:sup>
                          <m:r>
                            <a:rPr lang="en-AU" altLang="zh-CN" b="0" i="1" smtClean="0">
                              <a:latin typeface="Cambria Math" panose="02040503050406030204" pitchFamily="18" charset="0"/>
                              <a:ea typeface="Cambria Math" panose="02040503050406030204" pitchFamily="18" charset="0"/>
                            </a:rPr>
                            <m:t>∗</m:t>
                          </m:r>
                        </m:sup>
                      </m:sSup>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𝑤</m:t>
                      </m:r>
                      <m:r>
                        <a:rPr lang="en-AU" altLang="zh-CN" b="0" i="1" smtClean="0">
                          <a:latin typeface="Cambria Math" panose="02040503050406030204" pitchFamily="18" charset="0"/>
                          <a:ea typeface="Cambria Math" panose="02040503050406030204" pitchFamily="18" charset="0"/>
                        </a:rPr>
                        <m:t>=</m:t>
                      </m:r>
                      <m:sSup>
                        <m:sSupPr>
                          <m:ctrlPr>
                            <a:rPr lang="en-AU" altLang="zh-CN" b="0" i="1" smtClean="0">
                              <a:latin typeface="Cambria Math" panose="02040503050406030204" pitchFamily="18" charset="0"/>
                              <a:ea typeface="Cambria Math" panose="02040503050406030204" pitchFamily="18" charset="0"/>
                            </a:rPr>
                          </m:ctrlPr>
                        </m:sSupPr>
                        <m:e>
                          <m:r>
                            <a:rPr lang="en-AU" altLang="zh-CN" b="0" i="1" smtClean="0">
                              <a:latin typeface="Cambria Math" panose="02040503050406030204" pitchFamily="18" charset="0"/>
                              <a:ea typeface="Cambria Math" panose="02040503050406030204" pitchFamily="18" charset="0"/>
                            </a:rPr>
                            <m:t>𝑤</m:t>
                          </m:r>
                        </m:e>
                        <m:sup>
                          <m:r>
                            <a:rPr lang="en-AU" altLang="zh-CN" b="0" i="1" smtClean="0">
                              <a:latin typeface="Cambria Math" panose="02040503050406030204" pitchFamily="18" charset="0"/>
                              <a:ea typeface="Cambria Math" panose="02040503050406030204" pitchFamily="18" charset="0"/>
                            </a:rPr>
                            <m:t>𝑅</m:t>
                          </m:r>
                        </m:sup>
                      </m:sSup>
                      <m:r>
                        <a:rPr lang="en-AU" altLang="zh-CN" b="0" i="1" smtClean="0">
                          <a:latin typeface="Cambria Math" panose="02040503050406030204" pitchFamily="18" charset="0"/>
                        </a:rPr>
                        <m:t>}</m:t>
                      </m:r>
                    </m:oMath>
                  </m:oMathPara>
                </a14:m>
                <a:endParaRPr lang="en-AU" altLang="zh-CN" dirty="0"/>
              </a:p>
              <a:p>
                <a:r>
                  <a:rPr lang="zh-CN" altLang="en-US" dirty="0"/>
                  <a:t>如何表示该语言呢</a:t>
                </a:r>
                <a:r>
                  <a:rPr lang="en-US" altLang="zh-CN" dirty="0"/>
                  <a:t>? </a:t>
                </a:r>
                <a:r>
                  <a:rPr lang="zh-CN" altLang="en-US" dirty="0"/>
                  <a:t>可使用递归的方式来定义</a:t>
                </a:r>
                <a:r>
                  <a:rPr lang="en-AU" altLang="zh-CN" dirty="0"/>
                  <a:t>:</a:t>
                </a:r>
                <a:endParaRPr lang="en-AU" altLang="zh-CN" dirty="0"/>
              </a:p>
              <a:p>
                <a:pPr lvl="1"/>
                <a:r>
                  <a:rPr lang="zh-CN" altLang="en-US" dirty="0"/>
                  <a:t>首先，</a:t>
                </a:r>
                <a14:m>
                  <m:oMath xmlns:m="http://schemas.openxmlformats.org/officeDocument/2006/math">
                    <m:r>
                      <a:rPr lang="zh-CN" altLang="en-US" i="1" smtClean="0">
                        <a:latin typeface="Cambria Math" panose="02040503050406030204" pitchFamily="18" charset="0"/>
                      </a:rPr>
                      <m:t>𝜀</m:t>
                    </m:r>
                  </m:oMath>
                </a14:m>
                <a:r>
                  <a:rPr lang="zh-CN" altLang="en-AU" dirty="0"/>
                  <a:t>、</a:t>
                </a:r>
                <a:r>
                  <a:rPr lang="en-US" altLang="zh-CN" dirty="0"/>
                  <a:t>0</a:t>
                </a:r>
                <a:r>
                  <a:rPr lang="zh-CN" altLang="en-US" dirty="0"/>
                  <a:t>和</a:t>
                </a:r>
                <a:r>
                  <a:rPr lang="en-AU" altLang="zh-CN" dirty="0"/>
                  <a:t>1</a:t>
                </a:r>
                <a:r>
                  <a:rPr lang="zh-CN" altLang="en-US" dirty="0"/>
                  <a:t>都是回文</a:t>
                </a:r>
                <a:endParaRPr lang="en-AU" altLang="zh-CN" dirty="0"/>
              </a:p>
              <a:p>
                <a:pPr lvl="1"/>
                <a:r>
                  <a:rPr lang="zh-CN" altLang="en-US" dirty="0"/>
                  <a:t>如果</a:t>
                </a:r>
                <a14:m>
                  <m:oMath xmlns:m="http://schemas.openxmlformats.org/officeDocument/2006/math">
                    <m:r>
                      <a:rPr lang="en-AU" altLang="zh-CN" b="0" i="1" smtClean="0">
                        <a:latin typeface="Cambria Math" panose="02040503050406030204" pitchFamily="18" charset="0"/>
                      </a:rPr>
                      <m:t>𝑤</m:t>
                    </m:r>
                  </m:oMath>
                </a14:m>
                <a:r>
                  <a:rPr lang="zh-CN" altLang="en-US" dirty="0"/>
                  <a:t>是回文，</a:t>
                </a:r>
                <a14:m>
                  <m:oMath xmlns:m="http://schemas.openxmlformats.org/officeDocument/2006/math">
                    <m:r>
                      <a:rPr lang="en-AU" altLang="zh-CN" b="0" i="1" smtClean="0">
                        <a:latin typeface="Cambria Math" panose="02040503050406030204" pitchFamily="18" charset="0"/>
                      </a:rPr>
                      <m:t>0</m:t>
                    </m:r>
                    <m:r>
                      <a:rPr lang="en-AU" altLang="zh-CN" b="0" i="1" smtClean="0">
                        <a:latin typeface="Cambria Math" panose="02040503050406030204" pitchFamily="18" charset="0"/>
                      </a:rPr>
                      <m:t>𝑤</m:t>
                    </m:r>
                    <m:r>
                      <a:rPr lang="en-AU" altLang="zh-CN" b="0" i="1" smtClean="0">
                        <a:latin typeface="Cambria Math" panose="02040503050406030204" pitchFamily="18" charset="0"/>
                      </a:rPr>
                      <m:t>0</m:t>
                    </m:r>
                    <m:r>
                      <a:rPr lang="zh-CN" altLang="en-US" i="1">
                        <a:latin typeface="Cambria Math" panose="02040503050406030204" pitchFamily="18" charset="0"/>
                      </a:rPr>
                      <m:t>和</m:t>
                    </m:r>
                    <m:r>
                      <a:rPr lang="en-AU" altLang="zh-CN" b="0" i="1" smtClean="0">
                        <a:latin typeface="Cambria Math" panose="02040503050406030204" pitchFamily="18" charset="0"/>
                      </a:rPr>
                      <m:t>1</m:t>
                    </m:r>
                    <m:r>
                      <a:rPr lang="en-AU" altLang="zh-CN" b="0" i="1" smtClean="0">
                        <a:latin typeface="Cambria Math" panose="02040503050406030204" pitchFamily="18" charset="0"/>
                      </a:rPr>
                      <m:t>𝑤</m:t>
                    </m:r>
                    <m:r>
                      <a:rPr lang="en-AU" altLang="zh-CN" b="0" i="1" smtClean="0">
                        <a:latin typeface="Cambria Math" panose="02040503050406030204" pitchFamily="18" charset="0"/>
                      </a:rPr>
                      <m:t>1</m:t>
                    </m:r>
                  </m:oMath>
                </a14:m>
                <a:r>
                  <a:rPr lang="zh-CN" altLang="en-US" dirty="0"/>
                  <a:t>也是回文</a:t>
                </a:r>
                <a:endParaRPr lang="en-AU" altLang="zh-CN" dirty="0"/>
              </a:p>
              <a:p>
                <a:r>
                  <a:rPr lang="zh-CN" altLang="en-US" dirty="0"/>
                  <a:t>使用嵌套定义表示这种递归结构</a:t>
                </a:r>
                <a:endParaRPr lang="en-AU" altLang="zh-CN" dirty="0"/>
              </a:p>
              <a:p>
                <a:pPr lvl="1"/>
                <a:r>
                  <a:rPr lang="zh-CN" altLang="en-US" dirty="0"/>
                  <a:t>使用变元</a:t>
                </a:r>
                <a14:m>
                  <m:oMath xmlns:m="http://schemas.openxmlformats.org/officeDocument/2006/math">
                    <m:r>
                      <a:rPr lang="en-AU" altLang="zh-CN" b="0" i="1" smtClean="0">
                        <a:latin typeface="Cambria Math" panose="02040503050406030204" pitchFamily="18" charset="0"/>
                      </a:rPr>
                      <m:t>𝐴</m:t>
                    </m:r>
                    <m:r>
                      <a:rPr lang="zh-CN" altLang="en-US" i="1">
                        <a:latin typeface="Cambria Math" panose="02040503050406030204" pitchFamily="18" charset="0"/>
                      </a:rPr>
                      <m:t>表示</m:t>
                    </m:r>
                  </m:oMath>
                </a14:m>
                <a:r>
                  <a:rPr lang="zh-CN" altLang="en-US" dirty="0"/>
                  <a:t>回文语言中的字符串</a:t>
                </a:r>
                <a:endParaRPr lang="en-AU" altLang="zh-CN" dirty="0"/>
              </a:p>
              <a:p>
                <a:pPr lvl="1"/>
                <a14:m>
                  <m:oMath xmlns:m="http://schemas.openxmlformats.org/officeDocument/2006/math">
                    <m:r>
                      <a:rPr lang="en-AU" altLang="zh-CN" b="0" i="1" smtClean="0">
                        <a:latin typeface="Cambria Math" panose="02040503050406030204" pitchFamily="18" charset="0"/>
                      </a:rPr>
                      <m:t>𝐴</m:t>
                    </m:r>
                    <m:r>
                      <a:rPr lang="en-AU" altLang="zh-CN" b="0" i="1" smtClean="0">
                        <a:latin typeface="Cambria Math" panose="02040503050406030204" pitchFamily="18" charset="0"/>
                        <a:ea typeface="Cambria Math" panose="02040503050406030204" pitchFamily="18" charset="0"/>
                      </a:rPr>
                      <m:t>→</m:t>
                    </m:r>
                    <m:r>
                      <a:rPr lang="zh-CN" altLang="en-AU" b="0" i="1" smtClean="0">
                        <a:latin typeface="Cambria Math" panose="02040503050406030204" pitchFamily="18" charset="0"/>
                        <a:ea typeface="Cambria Math" panose="02040503050406030204" pitchFamily="18" charset="0"/>
                      </a:rPr>
                      <m:t>𝜀</m:t>
                    </m:r>
                    <m:r>
                      <a:rPr lang="en-AU" altLang="zh-CN" b="0" i="1" smtClean="0">
                        <a:latin typeface="Cambria Math" panose="02040503050406030204" pitchFamily="18" charset="0"/>
                        <a:ea typeface="Cambria Math" panose="02040503050406030204" pitchFamily="18" charset="0"/>
                      </a:rPr>
                      <m:t>,</m:t>
                    </m:r>
                  </m:oMath>
                </a14:m>
                <a:r>
                  <a:rPr lang="en-AU" altLang="zh-CN" dirty="0"/>
                  <a:t> </a:t>
                </a:r>
                <a14:m>
                  <m:oMath xmlns:m="http://schemas.openxmlformats.org/officeDocument/2006/math">
                    <m:r>
                      <a:rPr lang="en-AU" altLang="zh-CN" i="1">
                        <a:latin typeface="Cambria Math" panose="02040503050406030204" pitchFamily="18" charset="0"/>
                      </a:rPr>
                      <m:t>𝐴</m:t>
                    </m:r>
                    <m:r>
                      <a:rPr lang="en-AU" altLang="zh-CN" i="1">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0</m:t>
                    </m:r>
                  </m:oMath>
                </a14:m>
                <a:r>
                  <a:rPr lang="en-AU" altLang="zh-CN" dirty="0"/>
                  <a:t>, </a:t>
                </a:r>
                <a14:m>
                  <m:oMath xmlns:m="http://schemas.openxmlformats.org/officeDocument/2006/math">
                    <m:r>
                      <a:rPr lang="en-AU" altLang="zh-CN" i="1">
                        <a:latin typeface="Cambria Math" panose="02040503050406030204" pitchFamily="18" charset="0"/>
                      </a:rPr>
                      <m:t>𝐴</m:t>
                    </m:r>
                    <m:r>
                      <a:rPr lang="en-AU" altLang="zh-CN" i="1">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1</m:t>
                    </m:r>
                  </m:oMath>
                </a14:m>
                <a:endParaRPr lang="en-AU" altLang="zh-CN" dirty="0"/>
              </a:p>
              <a:p>
                <a:pPr lvl="1"/>
                <a14:m>
                  <m:oMath xmlns:m="http://schemas.openxmlformats.org/officeDocument/2006/math">
                    <m:r>
                      <a:rPr lang="en-AU" altLang="zh-CN" b="0" i="1" smtClean="0">
                        <a:latin typeface="Cambria Math" panose="02040503050406030204" pitchFamily="18" charset="0"/>
                      </a:rPr>
                      <m:t>𝐴</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0</m:t>
                    </m:r>
                    <m:r>
                      <a:rPr lang="en-AU" altLang="zh-CN" b="0" i="1" smtClean="0">
                        <a:latin typeface="Cambria Math" panose="02040503050406030204" pitchFamily="18" charset="0"/>
                        <a:ea typeface="Cambria Math" panose="02040503050406030204" pitchFamily="18" charset="0"/>
                      </a:rPr>
                      <m:t>𝐴</m:t>
                    </m:r>
                    <m:r>
                      <a:rPr lang="en-AU" altLang="zh-CN" b="0" i="1" smtClean="0">
                        <a:latin typeface="Cambria Math" panose="02040503050406030204" pitchFamily="18" charset="0"/>
                        <a:ea typeface="Cambria Math" panose="02040503050406030204" pitchFamily="18" charset="0"/>
                      </a:rPr>
                      <m:t>0</m:t>
                    </m:r>
                  </m:oMath>
                </a14:m>
                <a:r>
                  <a:rPr lang="zh-CN" altLang="en-US" dirty="0"/>
                  <a:t>（仍为回文）</a:t>
                </a:r>
                <a14:m>
                  <m:oMath xmlns:m="http://schemas.openxmlformats.org/officeDocument/2006/math">
                    <m:r>
                      <a:rPr lang="zh-CN" altLang="en-US" i="1" dirty="0">
                        <a:latin typeface="Cambria Math" panose="02040503050406030204" pitchFamily="18" charset="0"/>
                      </a:rPr>
                      <m:t>，</m:t>
                    </m:r>
                    <m:r>
                      <a:rPr lang="en-AU" altLang="zh-CN" i="1">
                        <a:latin typeface="Cambria Math" panose="02040503050406030204" pitchFamily="18" charset="0"/>
                      </a:rPr>
                      <m:t>𝐴</m:t>
                    </m:r>
                    <m:r>
                      <a:rPr lang="en-AU" altLang="zh-CN" i="1">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1</m:t>
                    </m:r>
                    <m:r>
                      <a:rPr lang="en-AU" altLang="zh-CN" i="1">
                        <a:latin typeface="Cambria Math" panose="02040503050406030204" pitchFamily="18" charset="0"/>
                        <a:ea typeface="Cambria Math" panose="02040503050406030204" pitchFamily="18" charset="0"/>
                      </a:rPr>
                      <m:t>𝐴</m:t>
                    </m:r>
                    <m:r>
                      <a:rPr lang="en-AU" altLang="zh-CN" b="0" i="1" smtClean="0">
                        <a:latin typeface="Cambria Math" panose="02040503050406030204" pitchFamily="18" charset="0"/>
                        <a:ea typeface="Cambria Math" panose="02040503050406030204" pitchFamily="18" charset="0"/>
                      </a:rPr>
                      <m:t>1</m:t>
                    </m:r>
                  </m:oMath>
                </a14:m>
                <a:r>
                  <a:rPr lang="en-AU" altLang="zh-CN" dirty="0"/>
                  <a:t>(</a:t>
                </a:r>
                <a:r>
                  <a:rPr lang="zh-CN" altLang="en-US" dirty="0"/>
                  <a:t>仍为回文</a:t>
                </a:r>
                <a:r>
                  <a:rPr lang="en-AU" altLang="zh-CN" dirty="0"/>
                  <a:t>)</a:t>
                </a:r>
                <a:r>
                  <a:rPr lang="zh-CN" altLang="en-US" dirty="0"/>
                  <a:t>。</a:t>
                </a:r>
                <a:r>
                  <a:rPr lang="en-AU" altLang="zh-CN" dirty="0"/>
                  <a:t> </a:t>
                </a:r>
                <a:endParaRPr lang="en-AU" altLang="zh-CN" dirty="0"/>
              </a:p>
              <a:p>
                <a:endParaRPr lang="en-AU" altLang="zh-CN" dirty="0"/>
              </a:p>
              <a:p>
                <a:endParaRPr lang="en-AU" altLang="zh-CN" dirty="0"/>
              </a:p>
              <a:p>
                <a:endParaRPr lang="en-AU" altLang="zh-CN" dirty="0"/>
              </a:p>
              <a:p>
                <a:endParaRPr lang="en-AU" altLang="zh-CN" dirty="0"/>
              </a:p>
              <a:p>
                <a:endParaRPr lang="en-AU" altLang="zh-CN" dirty="0"/>
              </a:p>
              <a:p>
                <a:endParaRPr lang="en-AU" dirty="0"/>
              </a:p>
              <a:p>
                <a:endParaRPr lang="en-AU"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166018"/>
                <a:ext cx="8229600" cy="4525963"/>
              </a:xfrm>
              <a:blipFill rotWithShape="1">
                <a:blip r:embed="rId1"/>
                <a:stretch>
                  <a:fillRect t="-3" b="-74826"/>
                </a:stretch>
              </a:blipFill>
            </p:spPr>
            <p:txBody>
              <a:bodyPr/>
              <a:lstStyle/>
              <a:p>
                <a:r>
                  <a:rPr lang="zh-CN" altLang="en-US">
                    <a:noFill/>
                  </a:rPr>
                  <a:t> </a:t>
                </a:r>
              </a:p>
            </p:txBody>
          </p:sp>
        </mc:Fallback>
      </mc:AlternateContent>
      <p:sp>
        <p:nvSpPr>
          <p:cNvPr id="2" name="Title 1"/>
          <p:cNvSpPr>
            <a:spLocks noGrp="1"/>
          </p:cNvSpPr>
          <p:nvPr>
            <p:ph type="title"/>
          </p:nvPr>
        </p:nvSpPr>
        <p:spPr/>
        <p:txBody>
          <a:bodyPr/>
          <a:lstStyle/>
          <a:p>
            <a:r>
              <a:rPr lang="zh-CN" altLang="en-US" dirty="0"/>
              <a:t>回文与回文语言</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回文与回文语言</a:t>
            </a:r>
            <a:endParaRPr lang="en-AU" dirty="0"/>
          </a:p>
        </p:txBody>
      </p:sp>
      <p:sp>
        <p:nvSpPr>
          <p:cNvPr id="3" name="Content Placeholder 2"/>
          <p:cNvSpPr>
            <a:spLocks noGrp="1"/>
          </p:cNvSpPr>
          <p:nvPr>
            <p:ph idx="1"/>
          </p:nvPr>
        </p:nvSpPr>
        <p:spPr/>
        <p:txBody>
          <a:bodyPr/>
          <a:lstStyle/>
          <a:p>
            <a:r>
              <a:rPr lang="zh-CN" altLang="en-US" dirty="0"/>
              <a:t>回文语言文法</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5" name="TextBox 4"/>
              <p:cNvSpPr txBox="1"/>
              <p:nvPr/>
            </p:nvSpPr>
            <p:spPr>
              <a:xfrm>
                <a:off x="2950162" y="2498655"/>
                <a:ext cx="2110706" cy="2308324"/>
              </a:xfrm>
              <a:prstGeom prst="rect">
                <a:avLst/>
              </a:prstGeom>
              <a:noFill/>
            </p:spPr>
            <p:txBody>
              <a:bodyPr wrap="none" rtlCol="0">
                <a:spAutoFit/>
              </a:bodyPr>
              <a:lstStyle/>
              <a:p>
                <a:pPr lvl="1"/>
                <a:r>
                  <a:rPr lang="en-AU" altLang="zh-CN" sz="2400" b="0" dirty="0"/>
                  <a:t>1. </a:t>
                </a:r>
                <a14:m>
                  <m:oMath xmlns:m="http://schemas.openxmlformats.org/officeDocument/2006/math">
                    <m:r>
                      <a:rPr lang="en-AU" altLang="zh-CN" sz="2400" b="0" i="1" smtClean="0">
                        <a:latin typeface="Cambria Math" panose="02040503050406030204" pitchFamily="18" charset="0"/>
                      </a:rPr>
                      <m:t>𝐴</m:t>
                    </m:r>
                    <m:r>
                      <a:rPr lang="en-AU" altLang="zh-CN" sz="2400" b="0" i="1" smtClean="0">
                        <a:latin typeface="Cambria Math" panose="02040503050406030204" pitchFamily="18" charset="0"/>
                        <a:ea typeface="Cambria Math" panose="02040503050406030204" pitchFamily="18" charset="0"/>
                      </a:rPr>
                      <m:t>→</m:t>
                    </m:r>
                    <m:r>
                      <a:rPr lang="zh-CN" altLang="en-AU" sz="2400" b="0" i="1" smtClean="0">
                        <a:latin typeface="Cambria Math" panose="02040503050406030204" pitchFamily="18" charset="0"/>
                        <a:ea typeface="Cambria Math" panose="02040503050406030204" pitchFamily="18" charset="0"/>
                      </a:rPr>
                      <m:t>𝜀</m:t>
                    </m:r>
                  </m:oMath>
                </a14:m>
                <a:endParaRPr lang="en-AU" altLang="zh-CN" sz="2400" dirty="0"/>
              </a:p>
              <a:p>
                <a:pPr lvl="1"/>
                <a:r>
                  <a:rPr lang="en-AU" altLang="zh-CN" sz="2400" dirty="0"/>
                  <a:t>2. </a:t>
                </a:r>
                <a14:m>
                  <m:oMath xmlns:m="http://schemas.openxmlformats.org/officeDocument/2006/math">
                    <m:r>
                      <a:rPr lang="en-AU" altLang="zh-CN" sz="2400" i="1">
                        <a:latin typeface="Cambria Math" panose="02040503050406030204" pitchFamily="18" charset="0"/>
                      </a:rPr>
                      <m:t>𝐴</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oMath>
                </a14:m>
                <a:endParaRPr lang="en-AU" altLang="zh-CN" sz="2400" b="0" dirty="0">
                  <a:ea typeface="Cambria Math" panose="02040503050406030204" pitchFamily="18" charset="0"/>
                </a:endParaRPr>
              </a:p>
              <a:p>
                <a:pPr lvl="1"/>
                <a:r>
                  <a:rPr lang="en-AU" altLang="zh-CN" sz="2400" dirty="0"/>
                  <a:t>3. </a:t>
                </a:r>
                <a14:m>
                  <m:oMath xmlns:m="http://schemas.openxmlformats.org/officeDocument/2006/math">
                    <m:r>
                      <a:rPr lang="en-AU" altLang="zh-CN" sz="2400" i="1">
                        <a:latin typeface="Cambria Math" panose="02040503050406030204" pitchFamily="18" charset="0"/>
                      </a:rPr>
                      <m:t>𝐴</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m:t>
                    </m:r>
                    <m:r>
                      <a:rPr lang="en-AU" altLang="zh-CN" sz="2400" b="0" i="1" smtClean="0">
                        <a:latin typeface="Cambria Math" panose="02040503050406030204" pitchFamily="18" charset="0"/>
                        <a:ea typeface="Cambria Math" panose="02040503050406030204" pitchFamily="18" charset="0"/>
                      </a:rPr>
                      <m:t> </m:t>
                    </m:r>
                  </m:oMath>
                </a14:m>
                <a:endParaRPr lang="en-AU" altLang="zh-CN" sz="2400" b="0" i="1" dirty="0">
                  <a:latin typeface="Cambria Math" panose="02040503050406030204" pitchFamily="18" charset="0"/>
                </a:endParaRPr>
              </a:p>
              <a:p>
                <a:pPr lvl="1"/>
                <a:r>
                  <a:rPr lang="en-AU" altLang="zh-CN" sz="2400" b="0" dirty="0"/>
                  <a:t>4. </a:t>
                </a:r>
                <a14:m>
                  <m:oMath xmlns:m="http://schemas.openxmlformats.org/officeDocument/2006/math">
                    <m:r>
                      <a:rPr lang="en-AU" altLang="zh-CN" sz="2400" b="0" i="1" smtClean="0">
                        <a:latin typeface="Cambria Math" panose="02040503050406030204" pitchFamily="18" charset="0"/>
                      </a:rPr>
                      <m:t>𝐴</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r>
                      <a:rPr lang="en-AU" altLang="zh-CN" sz="2400" b="0" i="1" smtClean="0">
                        <a:latin typeface="Cambria Math" panose="02040503050406030204" pitchFamily="18" charset="0"/>
                        <a:ea typeface="Cambria Math" panose="02040503050406030204" pitchFamily="18" charset="0"/>
                      </a:rPr>
                      <m:t>𝐴</m:t>
                    </m:r>
                    <m:r>
                      <a:rPr lang="en-AU" altLang="zh-CN" sz="2400" b="0" i="1" smtClean="0">
                        <a:latin typeface="Cambria Math" panose="02040503050406030204" pitchFamily="18" charset="0"/>
                        <a:ea typeface="Cambria Math" panose="02040503050406030204" pitchFamily="18" charset="0"/>
                      </a:rPr>
                      <m:t>0</m:t>
                    </m:r>
                  </m:oMath>
                </a14:m>
                <a:endParaRPr lang="en-AU" altLang="zh-CN" sz="2400" dirty="0"/>
              </a:p>
              <a:p>
                <a:pPr lvl="1"/>
                <a:r>
                  <a:rPr lang="en-AU" altLang="zh-CN" sz="2400" dirty="0"/>
                  <a:t>5. </a:t>
                </a:r>
                <a14:m>
                  <m:oMath xmlns:m="http://schemas.openxmlformats.org/officeDocument/2006/math">
                    <m:r>
                      <a:rPr lang="en-AU" altLang="zh-CN" sz="2400" i="1">
                        <a:latin typeface="Cambria Math" panose="02040503050406030204" pitchFamily="18" charset="0"/>
                      </a:rPr>
                      <m:t>𝐴</m:t>
                    </m:r>
                    <m:r>
                      <a:rPr lang="en-AU" altLang="zh-CN"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m:t>
                    </m:r>
                    <m:r>
                      <a:rPr lang="en-AU" altLang="zh-CN" sz="2400" i="1">
                        <a:latin typeface="Cambria Math" panose="02040503050406030204" pitchFamily="18" charset="0"/>
                        <a:ea typeface="Cambria Math" panose="02040503050406030204" pitchFamily="18" charset="0"/>
                      </a:rPr>
                      <m:t>𝐴</m:t>
                    </m:r>
                    <m:r>
                      <a:rPr lang="en-AU" altLang="zh-CN" sz="2400" b="0" i="1" smtClean="0">
                        <a:latin typeface="Cambria Math" panose="02040503050406030204" pitchFamily="18" charset="0"/>
                        <a:ea typeface="Cambria Math" panose="02040503050406030204" pitchFamily="18" charset="0"/>
                      </a:rPr>
                      <m:t>1</m:t>
                    </m:r>
                  </m:oMath>
                </a14:m>
                <a:endParaRPr lang="en-AU" altLang="zh-CN" sz="2400" dirty="0"/>
              </a:p>
              <a:p>
                <a:endParaRPr lang="en-AU" sz="2400" dirty="0"/>
              </a:p>
            </p:txBody>
          </p:sp>
        </mc:Choice>
        <mc:Fallback>
          <p:sp>
            <p:nvSpPr>
              <p:cNvPr id="5" name="TextBox 4"/>
              <p:cNvSpPr txBox="1">
                <a:spLocks noRot="1" noChangeAspect="1" noMove="1" noResize="1" noEditPoints="1" noAdjustHandles="1" noChangeArrowheads="1" noChangeShapeType="1" noTextEdit="1"/>
              </p:cNvSpPr>
              <p:nvPr/>
            </p:nvSpPr>
            <p:spPr>
              <a:xfrm>
                <a:off x="2950162" y="2498655"/>
                <a:ext cx="2110706" cy="2308324"/>
              </a:xfrm>
              <a:prstGeom prst="rect">
                <a:avLst/>
              </a:prstGeom>
              <a:blipFill rotWithShape="1">
                <a:blip r:embed="rId1"/>
                <a:stretch>
                  <a:fillRect l="-28" t="-24" r="26" b="1"/>
                </a:stretch>
              </a:blipFill>
            </p:spPr>
            <p:txBody>
              <a:bodyPr/>
              <a:lstStyle/>
              <a:p>
                <a:r>
                  <a:rPr lang="zh-CN" altLang="en-US">
                    <a:noFill/>
                  </a:rPr>
                  <a:t> </a:t>
                </a:r>
              </a:p>
            </p:txBody>
          </p:sp>
        </mc:Fallback>
      </mc:AlternateContent>
      <p:cxnSp>
        <p:nvCxnSpPr>
          <p:cNvPr id="7" name="Straight Arrow Connector 6"/>
          <p:cNvCxnSpPr/>
          <p:nvPr/>
        </p:nvCxnSpPr>
        <p:spPr>
          <a:xfrm flipH="1" flipV="1">
            <a:off x="3864309" y="4360600"/>
            <a:ext cx="1552347" cy="4674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4644683" y="2717913"/>
            <a:ext cx="1190423" cy="950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706485" y="2947876"/>
            <a:ext cx="1128621" cy="1272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706485" y="3005460"/>
            <a:ext cx="1128621" cy="4476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917598" y="2705759"/>
            <a:ext cx="2203508" cy="400110"/>
          </a:xfrm>
          <a:prstGeom prst="rect">
            <a:avLst/>
          </a:prstGeom>
          <a:solidFill>
            <a:schemeClr val="accent4">
              <a:lumMod val="40000"/>
              <a:lumOff val="60000"/>
            </a:schemeClr>
          </a:solidFill>
          <a:ln>
            <a:solidFill>
              <a:schemeClr val="tx1"/>
            </a:solidFill>
          </a:ln>
        </p:spPr>
        <p:txBody>
          <a:bodyPr wrap="square" rtlCol="0">
            <a:spAutoFit/>
          </a:bodyPr>
          <a:lstStyle/>
          <a:p>
            <a:r>
              <a:rPr lang="zh-CN" altLang="en-US" sz="2000" dirty="0"/>
              <a:t>终结符</a:t>
            </a:r>
            <a:r>
              <a:rPr lang="en-AU" altLang="zh-CN" sz="2000" dirty="0"/>
              <a:t>(Terminal)</a:t>
            </a:r>
            <a:endParaRPr lang="en-AU" sz="2000" dirty="0"/>
          </a:p>
        </p:txBody>
      </p:sp>
      <p:sp>
        <p:nvSpPr>
          <p:cNvPr id="20" name="TextBox 19"/>
          <p:cNvSpPr txBox="1"/>
          <p:nvPr/>
        </p:nvSpPr>
        <p:spPr>
          <a:xfrm>
            <a:off x="5486398" y="4627998"/>
            <a:ext cx="2203508" cy="400110"/>
          </a:xfrm>
          <a:prstGeom prst="rect">
            <a:avLst/>
          </a:prstGeom>
          <a:solidFill>
            <a:schemeClr val="accent4">
              <a:lumMod val="40000"/>
              <a:lumOff val="60000"/>
            </a:schemeClr>
          </a:solidFill>
          <a:ln>
            <a:solidFill>
              <a:schemeClr val="tx1"/>
            </a:solidFill>
          </a:ln>
        </p:spPr>
        <p:txBody>
          <a:bodyPr wrap="square" rtlCol="0">
            <a:spAutoFit/>
          </a:bodyPr>
          <a:lstStyle/>
          <a:p>
            <a:r>
              <a:rPr lang="zh-CN" altLang="en-US" sz="2000" dirty="0"/>
              <a:t>变元</a:t>
            </a:r>
            <a:r>
              <a:rPr lang="en-AU" altLang="zh-CN" sz="2000" dirty="0"/>
              <a:t>(Variable)</a:t>
            </a:r>
            <a:endParaRPr lang="en-AU" sz="2000" dirty="0"/>
          </a:p>
        </p:txBody>
      </p:sp>
      <p:sp>
        <p:nvSpPr>
          <p:cNvPr id="22" name="Left Brace 21"/>
          <p:cNvSpPr/>
          <p:nvPr/>
        </p:nvSpPr>
        <p:spPr>
          <a:xfrm>
            <a:off x="2822725" y="2717913"/>
            <a:ext cx="534691" cy="154766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3" name="TextBox 22"/>
          <p:cNvSpPr txBox="1"/>
          <p:nvPr/>
        </p:nvSpPr>
        <p:spPr>
          <a:xfrm>
            <a:off x="536725" y="3253035"/>
            <a:ext cx="2203508" cy="400110"/>
          </a:xfrm>
          <a:prstGeom prst="rect">
            <a:avLst/>
          </a:prstGeom>
          <a:solidFill>
            <a:schemeClr val="accent4">
              <a:lumMod val="40000"/>
              <a:lumOff val="60000"/>
            </a:schemeClr>
          </a:solidFill>
          <a:ln>
            <a:solidFill>
              <a:schemeClr val="tx1"/>
            </a:solidFill>
          </a:ln>
        </p:spPr>
        <p:txBody>
          <a:bodyPr wrap="square" rtlCol="0">
            <a:spAutoFit/>
          </a:bodyPr>
          <a:lstStyle/>
          <a:p>
            <a:r>
              <a:rPr lang="zh-CN" altLang="en-US" sz="2000" dirty="0"/>
              <a:t>产生式</a:t>
            </a:r>
            <a:r>
              <a:rPr lang="en-AU" altLang="zh-CN" sz="2000" dirty="0"/>
              <a:t>(Production)</a:t>
            </a:r>
            <a:endParaRPr lang="en-AU"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回文与回文语言</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33125" y="1359858"/>
                <a:ext cx="8229600" cy="4525963"/>
              </a:xfrm>
            </p:spPr>
            <p:txBody>
              <a:bodyPr/>
              <a:lstStyle/>
              <a:p>
                <a:endParaRPr lang="en-AU" altLang="zh-CN" dirty="0"/>
              </a:p>
              <a:p>
                <a:endParaRPr lang="en-AU" altLang="zh-CN" dirty="0"/>
              </a:p>
              <a:p>
                <a:endParaRPr lang="en-AU" altLang="zh-CN" dirty="0"/>
              </a:p>
              <a:p>
                <a:pPr marL="0" indent="0">
                  <a:buNone/>
                </a:pPr>
                <a:endParaRPr lang="en-AU" altLang="zh-CN" dirty="0"/>
              </a:p>
              <a:p>
                <a:r>
                  <a:rPr lang="zh-CN" altLang="en-US" sz="2400" dirty="0"/>
                  <a:t>例</a:t>
                </a:r>
                <a:r>
                  <a:rPr lang="en-AU" altLang="zh-CN" sz="2400" dirty="0"/>
                  <a:t>:</a:t>
                </a:r>
                <a:r>
                  <a:rPr lang="zh-CN" altLang="en-US" sz="2400" dirty="0"/>
                  <a:t>使用文法的嵌套定义表示一个字符串</a:t>
                </a:r>
                <a:r>
                  <a:rPr lang="en-AU" altLang="zh-CN" sz="2400" dirty="0"/>
                  <a:t>0110</a:t>
                </a:r>
                <a:endParaRPr lang="en-AU" altLang="zh-CN" sz="2400" dirty="0"/>
              </a:p>
              <a:p>
                <a:pPr lvl="1"/>
                <a:r>
                  <a:rPr lang="zh-CN" altLang="en-US" sz="2000" dirty="0"/>
                  <a:t>利用</a:t>
                </a:r>
                <a14:m>
                  <m:oMath xmlns:m="http://schemas.openxmlformats.org/officeDocument/2006/math">
                    <m:r>
                      <a:rPr lang="en-AU" altLang="zh-CN" sz="2000" b="0" i="1" smtClean="0">
                        <a:latin typeface="Cambria Math" panose="02040503050406030204" pitchFamily="18" charset="0"/>
                      </a:rPr>
                      <m:t>𝐴</m:t>
                    </m:r>
                    <m:r>
                      <a:rPr lang="en-AU" altLang="zh-CN" sz="2000" b="0" i="1" smtClean="0">
                        <a:latin typeface="Cambria Math" panose="02040503050406030204" pitchFamily="18" charset="0"/>
                        <a:ea typeface="Cambria Math" panose="02040503050406030204" pitchFamily="18" charset="0"/>
                      </a:rPr>
                      <m:t>→</m:t>
                    </m:r>
                    <m:r>
                      <a:rPr lang="en-AU" altLang="zh-CN" sz="2000" b="0" i="1" smtClean="0">
                        <a:latin typeface="Cambria Math" panose="02040503050406030204" pitchFamily="18" charset="0"/>
                        <a:ea typeface="Cambria Math" panose="02040503050406030204" pitchFamily="18" charset="0"/>
                      </a:rPr>
                      <m:t>0</m:t>
                    </m:r>
                    <m:r>
                      <a:rPr lang="en-AU" altLang="zh-CN" sz="2000" b="0" i="1" smtClean="0">
                        <a:latin typeface="Cambria Math" panose="02040503050406030204" pitchFamily="18" charset="0"/>
                        <a:ea typeface="Cambria Math" panose="02040503050406030204" pitchFamily="18" charset="0"/>
                      </a:rPr>
                      <m:t>𝐴</m:t>
                    </m:r>
                    <m:r>
                      <a:rPr lang="en-AU" altLang="zh-CN" sz="2000" b="0" i="1" smtClean="0">
                        <a:latin typeface="Cambria Math" panose="02040503050406030204" pitchFamily="18" charset="0"/>
                        <a:ea typeface="Cambria Math" panose="02040503050406030204" pitchFamily="18" charset="0"/>
                      </a:rPr>
                      <m:t>0</m:t>
                    </m:r>
                  </m:oMath>
                </a14:m>
                <a:r>
                  <a:rPr lang="zh-CN" altLang="en-US" sz="2000" dirty="0"/>
                  <a:t>，那么有</a:t>
                </a:r>
                <a14:m>
                  <m:oMath xmlns:m="http://schemas.openxmlformats.org/officeDocument/2006/math">
                    <m:r>
                      <a:rPr lang="en-AU" altLang="zh-CN" sz="2000" i="1">
                        <a:latin typeface="Cambria Math" panose="02040503050406030204" pitchFamily="18" charset="0"/>
                      </a:rPr>
                      <m:t>𝐴</m:t>
                    </m:r>
                    <m:r>
                      <a:rPr lang="en-AU" altLang="zh-CN" sz="2000" i="1">
                        <a:latin typeface="Cambria Math" panose="02040503050406030204" pitchFamily="18" charset="0"/>
                      </a:rPr>
                      <m:t>=</m:t>
                    </m:r>
                    <m:r>
                      <a:rPr lang="en-AU" altLang="zh-CN" sz="2000" i="1">
                        <a:latin typeface="Cambria Math" panose="02040503050406030204" pitchFamily="18" charset="0"/>
                      </a:rPr>
                      <m:t>0</m:t>
                    </m:r>
                    <m:r>
                      <a:rPr lang="en-AU" altLang="zh-CN" sz="2000" b="0" i="1" smtClean="0">
                        <a:latin typeface="Cambria Math" panose="02040503050406030204" pitchFamily="18" charset="0"/>
                      </a:rPr>
                      <m:t>𝐴</m:t>
                    </m:r>
                    <m:r>
                      <a:rPr lang="en-AU" altLang="zh-CN" sz="2000" b="0" i="1" smtClean="0">
                        <a:latin typeface="Cambria Math" panose="02040503050406030204" pitchFamily="18" charset="0"/>
                      </a:rPr>
                      <m:t>0</m:t>
                    </m:r>
                    <m:r>
                      <a:rPr lang="en-AU" altLang="zh-CN" sz="2000" b="0" i="1" smtClean="0">
                        <a:latin typeface="Cambria Math" panose="02040503050406030204" pitchFamily="18" charset="0"/>
                      </a:rPr>
                      <m:t> </m:t>
                    </m:r>
                  </m:oMath>
                </a14:m>
                <a:endParaRPr lang="en-US" altLang="zh-CN" sz="2000" dirty="0"/>
              </a:p>
              <a:p>
                <a:pPr lvl="1"/>
                <a:r>
                  <a:rPr lang="zh-CN" altLang="en-US" sz="2000" dirty="0"/>
                  <a:t>利用</a:t>
                </a:r>
                <a14:m>
                  <m:oMath xmlns:m="http://schemas.openxmlformats.org/officeDocument/2006/math">
                    <m:r>
                      <a:rPr lang="en-AU" altLang="zh-CN" sz="2000" b="0" i="1" smtClean="0">
                        <a:latin typeface="Cambria Math" panose="02040503050406030204" pitchFamily="18" charset="0"/>
                      </a:rPr>
                      <m:t>𝐴</m:t>
                    </m:r>
                    <m:r>
                      <a:rPr lang="en-AU" altLang="zh-CN" sz="2000" b="0" i="1" smtClean="0">
                        <a:latin typeface="Cambria Math" panose="02040503050406030204" pitchFamily="18" charset="0"/>
                        <a:ea typeface="Cambria Math" panose="02040503050406030204" pitchFamily="18" charset="0"/>
                      </a:rPr>
                      <m:t>→</m:t>
                    </m:r>
                    <m:r>
                      <a:rPr lang="en-AU" altLang="zh-CN" sz="2000" b="0" i="1" smtClean="0">
                        <a:latin typeface="Cambria Math" panose="02040503050406030204" pitchFamily="18" charset="0"/>
                        <a:ea typeface="Cambria Math" panose="02040503050406030204" pitchFamily="18" charset="0"/>
                      </a:rPr>
                      <m:t>1</m:t>
                    </m:r>
                    <m:r>
                      <a:rPr lang="en-AU" altLang="zh-CN" sz="2000" b="0" i="1" smtClean="0">
                        <a:latin typeface="Cambria Math" panose="02040503050406030204" pitchFamily="18" charset="0"/>
                        <a:ea typeface="Cambria Math" panose="02040503050406030204" pitchFamily="18" charset="0"/>
                      </a:rPr>
                      <m:t>𝐴</m:t>
                    </m:r>
                    <m:r>
                      <a:rPr lang="en-AU" altLang="zh-CN" sz="2000" b="0" i="1" smtClean="0">
                        <a:latin typeface="Cambria Math" panose="02040503050406030204" pitchFamily="18" charset="0"/>
                        <a:ea typeface="Cambria Math" panose="02040503050406030204" pitchFamily="18" charset="0"/>
                      </a:rPr>
                      <m:t>1</m:t>
                    </m:r>
                  </m:oMath>
                </a14:m>
                <a:r>
                  <a:rPr lang="zh-CN" altLang="en-US" sz="2000" dirty="0"/>
                  <a:t>，那么有</a:t>
                </a:r>
                <a14:m>
                  <m:oMath xmlns:m="http://schemas.openxmlformats.org/officeDocument/2006/math">
                    <m:r>
                      <a:rPr lang="en-AU" altLang="zh-CN" sz="2000" b="0" i="1" smtClean="0">
                        <a:latin typeface="Cambria Math" panose="02040503050406030204" pitchFamily="18" charset="0"/>
                      </a:rPr>
                      <m:t>𝐴</m:t>
                    </m:r>
                    <m:r>
                      <a:rPr lang="en-AU" altLang="zh-CN" sz="2000" b="0" i="1" smtClean="0">
                        <a:latin typeface="Cambria Math" panose="02040503050406030204" pitchFamily="18" charset="0"/>
                      </a:rPr>
                      <m:t>=</m:t>
                    </m:r>
                    <m:r>
                      <a:rPr lang="en-AU" altLang="zh-CN" sz="2000" b="0" i="1" smtClean="0">
                        <a:latin typeface="Cambria Math" panose="02040503050406030204" pitchFamily="18" charset="0"/>
                      </a:rPr>
                      <m:t>01</m:t>
                    </m:r>
                    <m:r>
                      <a:rPr lang="en-AU" altLang="zh-CN" sz="2000" b="0" i="1" smtClean="0">
                        <a:latin typeface="Cambria Math" panose="02040503050406030204" pitchFamily="18" charset="0"/>
                      </a:rPr>
                      <m:t>𝐴</m:t>
                    </m:r>
                    <m:r>
                      <a:rPr lang="en-AU" altLang="zh-CN" sz="2000" b="0" i="1" smtClean="0">
                        <a:latin typeface="Cambria Math" panose="02040503050406030204" pitchFamily="18" charset="0"/>
                      </a:rPr>
                      <m:t>10</m:t>
                    </m:r>
                  </m:oMath>
                </a14:m>
                <a:endParaRPr lang="en-US" altLang="zh-CN" sz="2000" dirty="0"/>
              </a:p>
              <a:p>
                <a:pPr lvl="1"/>
                <a:r>
                  <a:rPr lang="zh-CN" altLang="en-US" sz="2000" dirty="0"/>
                  <a:t>利用</a:t>
                </a:r>
                <a14:m>
                  <m:oMath xmlns:m="http://schemas.openxmlformats.org/officeDocument/2006/math">
                    <m:r>
                      <a:rPr lang="en-AU" altLang="zh-CN" sz="2000" b="0" i="1" smtClean="0">
                        <a:latin typeface="Cambria Math" panose="02040503050406030204" pitchFamily="18" charset="0"/>
                      </a:rPr>
                      <m:t>𝐴</m:t>
                    </m:r>
                    <m:r>
                      <a:rPr lang="en-AU" altLang="zh-CN" sz="2000" b="0" i="1" smtClean="0">
                        <a:latin typeface="Cambria Math" panose="02040503050406030204" pitchFamily="18" charset="0"/>
                        <a:ea typeface="Cambria Math" panose="02040503050406030204" pitchFamily="18" charset="0"/>
                      </a:rPr>
                      <m:t>→</m:t>
                    </m:r>
                    <m:r>
                      <a:rPr lang="zh-CN" altLang="en-AU" sz="2000" b="0" i="1" smtClean="0">
                        <a:latin typeface="Cambria Math" panose="02040503050406030204" pitchFamily="18" charset="0"/>
                        <a:ea typeface="Cambria Math" panose="02040503050406030204" pitchFamily="18" charset="0"/>
                      </a:rPr>
                      <m:t>𝜀</m:t>
                    </m:r>
                  </m:oMath>
                </a14:m>
                <a:r>
                  <a:rPr lang="zh-CN" altLang="en-US" sz="2000" dirty="0"/>
                  <a:t>，那么有</a:t>
                </a:r>
                <a14:m>
                  <m:oMath xmlns:m="http://schemas.openxmlformats.org/officeDocument/2006/math">
                    <m:r>
                      <a:rPr lang="en-AU" altLang="zh-CN" sz="2000" i="1">
                        <a:latin typeface="Cambria Math" panose="02040503050406030204" pitchFamily="18" charset="0"/>
                      </a:rPr>
                      <m:t>𝐴</m:t>
                    </m:r>
                    <m:r>
                      <a:rPr lang="en-AU" altLang="zh-CN" sz="2000" i="1">
                        <a:latin typeface="Cambria Math" panose="02040503050406030204" pitchFamily="18" charset="0"/>
                      </a:rPr>
                      <m:t>=</m:t>
                    </m:r>
                    <m:r>
                      <a:rPr lang="en-AU" altLang="zh-CN" sz="2000" i="1">
                        <a:latin typeface="Cambria Math" panose="02040503050406030204" pitchFamily="18" charset="0"/>
                      </a:rPr>
                      <m:t>01</m:t>
                    </m:r>
                    <m:r>
                      <a:rPr lang="zh-CN" altLang="en-AU" sz="2000" i="1">
                        <a:latin typeface="Cambria Math" panose="02040503050406030204" pitchFamily="18" charset="0"/>
                        <a:ea typeface="Cambria Math" panose="02040503050406030204" pitchFamily="18" charset="0"/>
                      </a:rPr>
                      <m:t>𝜀</m:t>
                    </m:r>
                    <m:r>
                      <a:rPr lang="en-AU" altLang="zh-CN" sz="2000" b="0" i="1" smtClean="0">
                        <a:latin typeface="Cambria Math" panose="02040503050406030204" pitchFamily="18" charset="0"/>
                        <a:ea typeface="Cambria Math" panose="02040503050406030204" pitchFamily="18" charset="0"/>
                      </a:rPr>
                      <m:t>10</m:t>
                    </m:r>
                    <m:r>
                      <a:rPr lang="en-AU" altLang="zh-CN" sz="2000" b="0" i="1" smtClean="0">
                        <a:latin typeface="Cambria Math" panose="02040503050406030204" pitchFamily="18" charset="0"/>
                      </a:rPr>
                      <m:t>=</m:t>
                    </m:r>
                    <m:r>
                      <a:rPr lang="en-AU" altLang="zh-CN" sz="2000" b="0" i="1" smtClean="0">
                        <a:latin typeface="Cambria Math" panose="02040503050406030204" pitchFamily="18" charset="0"/>
                      </a:rPr>
                      <m:t>0110</m:t>
                    </m:r>
                  </m:oMath>
                </a14:m>
                <a:endParaRPr lang="en-US" altLang="zh-CN" sz="2000" dirty="0"/>
              </a:p>
              <a:p>
                <a:pPr lvl="1"/>
                <a:endParaRPr lang="en-US" altLang="zh-CN" dirty="0"/>
              </a:p>
              <a:p>
                <a:pPr lvl="1"/>
                <a:endParaRPr lang="en-US" altLang="zh-CN" dirty="0"/>
              </a:p>
              <a:p>
                <a:pPr marL="0" indent="0">
                  <a:buNone/>
                </a:pPr>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233125" y="1359858"/>
                <a:ext cx="8229600" cy="4525963"/>
              </a:xfrm>
              <a:blipFill rotWithShape="1">
                <a:blip r:embed="rId1"/>
                <a:stretch>
                  <a:fillRect l="-1" t="-7" r="1" b="-1222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pic>
        <p:nvPicPr>
          <p:cNvPr id="8" name="Picture 7"/>
          <p:cNvPicPr>
            <a:picLocks noChangeAspect="1"/>
          </p:cNvPicPr>
          <p:nvPr/>
        </p:nvPicPr>
        <p:blipFill>
          <a:blip r:embed="rId2"/>
          <a:stretch>
            <a:fillRect/>
          </a:stretch>
        </p:blipFill>
        <p:spPr>
          <a:xfrm>
            <a:off x="975863" y="903612"/>
            <a:ext cx="5956588" cy="2088365"/>
          </a:xfrm>
          <a:prstGeom prst="rect">
            <a:avLst/>
          </a:prstGeom>
        </p:spPr>
      </p:pic>
      <p:sp>
        <p:nvSpPr>
          <p:cNvPr id="9" name="TextBox 8"/>
          <p:cNvSpPr txBox="1"/>
          <p:nvPr/>
        </p:nvSpPr>
        <p:spPr>
          <a:xfrm>
            <a:off x="5621170" y="4194498"/>
            <a:ext cx="3011029" cy="1477328"/>
          </a:xfrm>
          <a:prstGeom prst="rect">
            <a:avLst/>
          </a:prstGeom>
          <a:solidFill>
            <a:srgbClr val="92D050"/>
          </a:solidFill>
        </p:spPr>
        <p:style>
          <a:lnRef idx="2">
            <a:schemeClr val="dk1"/>
          </a:lnRef>
          <a:fillRef idx="1">
            <a:schemeClr val="lt1"/>
          </a:fillRef>
          <a:effectRef idx="0">
            <a:schemeClr val="dk1"/>
          </a:effectRef>
          <a:fontRef idx="minor">
            <a:schemeClr val="dk1"/>
          </a:fontRef>
        </p:style>
        <p:txBody>
          <a:bodyPr wrap="square">
            <a:spAutoFit/>
          </a:bodyPr>
          <a:lstStyle/>
          <a:p>
            <a:pPr>
              <a:defRPr/>
            </a:pPr>
            <a:r>
              <a:rPr lang="zh-CN" altLang="en-US" b="1" u="sng" dirty="0">
                <a:latin typeface="楷体" panose="02010609060101010101" pitchFamily="49" charset="-122"/>
                <a:ea typeface="楷体" panose="02010609060101010101" pitchFamily="49" charset="-122"/>
              </a:rPr>
              <a:t>过程</a:t>
            </a:r>
            <a:r>
              <a:rPr lang="en-US" b="1" u="sng" dirty="0">
                <a:latin typeface="楷体" panose="02010609060101010101" pitchFamily="49" charset="-122"/>
                <a:ea typeface="楷体" panose="02010609060101010101" pitchFamily="49" charset="-122"/>
              </a:rPr>
              <a:t>:</a:t>
            </a:r>
            <a:endParaRPr lang="en-US" b="1" u="sng" dirty="0">
              <a:latin typeface="楷体" panose="02010609060101010101" pitchFamily="49" charset="-122"/>
              <a:ea typeface="楷体" panose="02010609060101010101" pitchFamily="49" charset="-122"/>
            </a:endParaRPr>
          </a:p>
          <a:p>
            <a:pPr marL="457200" indent="-457200">
              <a:buFont typeface="+mj-lt"/>
              <a:buAutoNum type="arabicPeriod"/>
              <a:defRPr/>
            </a:pPr>
            <a:r>
              <a:rPr lang="zh-CN" altLang="en-US" dirty="0">
                <a:latin typeface="楷体" panose="02010609060101010101" pitchFamily="49" charset="-122"/>
                <a:ea typeface="楷体" panose="02010609060101010101" pitchFamily="49" charset="-122"/>
              </a:rPr>
              <a:t>选取能够产生符号串的一系列产生式</a:t>
            </a:r>
            <a:endParaRPr lang="en-US" dirty="0">
              <a:latin typeface="楷体" panose="02010609060101010101" pitchFamily="49" charset="-122"/>
              <a:ea typeface="楷体" panose="02010609060101010101" pitchFamily="49" charset="-122"/>
            </a:endParaRPr>
          </a:p>
          <a:p>
            <a:pPr marL="457200" indent="-457200">
              <a:buFont typeface="+mj-lt"/>
              <a:buAutoNum type="arabicPeriod"/>
              <a:defRPr/>
            </a:pPr>
            <a:r>
              <a:rPr lang="zh-CN" altLang="en-US" dirty="0">
                <a:latin typeface="楷体" panose="02010609060101010101" pitchFamily="49" charset="-122"/>
                <a:ea typeface="楷体" panose="02010609060101010101" pitchFamily="49" charset="-122"/>
              </a:rPr>
              <a:t>在每一步，用某个产生式替换某个变元</a:t>
            </a:r>
            <a:endParaRPr 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上下文无关法的形式定义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05717"/>
                <a:ext cx="8229600" cy="4525963"/>
              </a:xfrm>
            </p:spPr>
            <p:txBody>
              <a:bodyPr>
                <a:normAutofit/>
              </a:bodyPr>
              <a:lstStyle/>
              <a:p>
                <a:r>
                  <a:rPr lang="zh-CN" altLang="en-US" dirty="0"/>
                  <a:t>定义</a:t>
                </a:r>
                <a:r>
                  <a:rPr lang="en-AU" altLang="zh-CN" dirty="0"/>
                  <a:t>:</a:t>
                </a:r>
                <a:r>
                  <a:rPr lang="zh-CN" altLang="en-US" dirty="0"/>
                  <a:t>上下文无关文法</a:t>
                </a:r>
                <a:r>
                  <a:rPr lang="en-US" altLang="zh-CN" dirty="0"/>
                  <a:t>(</a:t>
                </a:r>
                <a:r>
                  <a:rPr lang="en-AU" altLang="zh-CN" dirty="0">
                    <a:latin typeface="Times New Roman" panose="02020603050405020304" pitchFamily="18" charset="0"/>
                    <a:cs typeface="Times New Roman" panose="02020603050405020304" pitchFamily="18" charset="0"/>
                  </a:rPr>
                  <a:t>CFG, Context-Free Grammar</a:t>
                </a:r>
                <a:r>
                  <a:rPr lang="en-AU" altLang="zh-CN" dirty="0"/>
                  <a:t>, </a:t>
                </a:r>
                <a:r>
                  <a:rPr lang="zh-CN" altLang="en-US" dirty="0"/>
                  <a:t>简称文法</a:t>
                </a:r>
                <a:r>
                  <a:rPr lang="en-US"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m:t>
                    </m:r>
                  </m:oMath>
                </a14:m>
                <a:r>
                  <a:rPr lang="zh-CN" altLang="en-US" dirty="0"/>
                  <a:t>是一个四元组</a:t>
                </a:r>
                <a:endParaRPr lang="en-AU" altLang="zh-CN" dirty="0"/>
              </a:p>
              <a:p>
                <a:pPr marL="0" indent="0">
                  <a:buNone/>
                </a:pPr>
                <a:r>
                  <a:rPr lang="en-AU" altLang="zh-CN" dirty="0"/>
                  <a:t>           </a:t>
                </a:r>
                <a:r>
                  <a:rPr lang="zh-CN" altLang="en-US"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𝑉</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𝑇</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oMath>
                </a14:m>
                <a:endParaRPr lang="en-AU" dirty="0"/>
              </a:p>
              <a:p>
                <a:r>
                  <a:rPr lang="zh-CN" altLang="en-US" dirty="0"/>
                  <a:t>其中，</a:t>
                </a:r>
                <a:endParaRPr lang="en-AU" altLang="zh-CN" dirty="0"/>
              </a:p>
              <a:p>
                <a:pPr lvl="1"/>
                <a14:m>
                  <m:oMath xmlns:m="http://schemas.openxmlformats.org/officeDocument/2006/math">
                    <m:r>
                      <a:rPr lang="en-AU" i="1" dirty="0" smtClean="0">
                        <a:latin typeface="Cambria Math" panose="02040503050406030204" pitchFamily="18" charset="0"/>
                      </a:rPr>
                      <m:t>𝑉</m:t>
                    </m:r>
                  </m:oMath>
                </a14:m>
                <a:r>
                  <a:rPr lang="en-AU" dirty="0"/>
                  <a:t>:</a:t>
                </a:r>
                <a:r>
                  <a:rPr lang="zh-CN" altLang="en-US" dirty="0"/>
                  <a:t>变元的有穷集</a:t>
                </a:r>
                <a:r>
                  <a:rPr lang="en-US" altLang="zh-CN" dirty="0"/>
                  <a:t>, </a:t>
                </a:r>
                <a:r>
                  <a:rPr lang="zh-CN" altLang="en-US" dirty="0"/>
                  <a:t>变元也称为非终结符或</a:t>
                </a:r>
                <a:r>
                  <a:rPr lang="zh-CN" altLang="en-US" dirty="0">
                    <a:solidFill>
                      <a:schemeClr val="accent1"/>
                    </a:solidFill>
                  </a:rPr>
                  <a:t>语法范畴</a:t>
                </a:r>
                <a:endParaRPr lang="en-US" altLang="zh-CN" dirty="0">
                  <a:solidFill>
                    <a:schemeClr val="accent1"/>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905717"/>
                <a:ext cx="8229600" cy="4525963"/>
              </a:xfrm>
              <a:blipFill rotWithShape="1">
                <a:blip r:embed="rId1"/>
                <a:stretch>
                  <a:fillRect t="-5" b="1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上下文无关法的形式定义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894144"/>
                <a:ext cx="8229600" cy="4525963"/>
              </a:xfrm>
            </p:spPr>
            <p:txBody>
              <a:bodyPr>
                <a:normAutofit/>
              </a:bodyPr>
              <a:lstStyle/>
              <a:p>
                <a:r>
                  <a:rPr lang="zh-CN" altLang="en-US" dirty="0"/>
                  <a:t>定义</a:t>
                </a:r>
                <a:r>
                  <a:rPr lang="en-AU" altLang="zh-CN" dirty="0"/>
                  <a:t>:</a:t>
                </a:r>
                <a:r>
                  <a:rPr lang="zh-CN" altLang="en-US" dirty="0"/>
                  <a:t>上下文无关文法</a:t>
                </a:r>
                <a:r>
                  <a:rPr lang="en-US" altLang="zh-CN" dirty="0"/>
                  <a:t>(</a:t>
                </a:r>
                <a:r>
                  <a:rPr lang="en-AU" altLang="zh-CN" dirty="0">
                    <a:latin typeface="Times New Roman" panose="02020603050405020304" pitchFamily="18" charset="0"/>
                    <a:cs typeface="Times New Roman" panose="02020603050405020304" pitchFamily="18" charset="0"/>
                  </a:rPr>
                  <a:t>CFG, Context-Free Grammar</a:t>
                </a:r>
                <a:r>
                  <a:rPr lang="en-AU" altLang="zh-CN" dirty="0"/>
                  <a:t>, </a:t>
                </a:r>
                <a:r>
                  <a:rPr lang="zh-CN" altLang="en-US" dirty="0"/>
                  <a:t>简称文法</a:t>
                </a:r>
                <a:r>
                  <a:rPr lang="en-US"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m:t>
                    </m:r>
                  </m:oMath>
                </a14:m>
                <a:r>
                  <a:rPr lang="zh-CN" altLang="en-US" dirty="0"/>
                  <a:t>是一个四元组</a:t>
                </a:r>
                <a:endParaRPr lang="en-AU" altLang="zh-CN" dirty="0"/>
              </a:p>
              <a:p>
                <a:pPr marL="0" indent="0">
                  <a:buNone/>
                </a:pPr>
                <a:r>
                  <a:rPr lang="en-AU" altLang="zh-CN" dirty="0"/>
                  <a:t>           </a:t>
                </a:r>
                <a:r>
                  <a:rPr lang="zh-CN" altLang="en-US"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𝑉</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𝑇</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oMath>
                </a14:m>
                <a:endParaRPr lang="en-AU" dirty="0"/>
              </a:p>
              <a:p>
                <a:r>
                  <a:rPr lang="zh-CN" altLang="en-US" dirty="0"/>
                  <a:t>其中，</a:t>
                </a:r>
                <a:endParaRPr lang="en-AU" altLang="zh-CN" dirty="0"/>
              </a:p>
              <a:p>
                <a:pPr lvl="1"/>
                <a14:m>
                  <m:oMath xmlns:m="http://schemas.openxmlformats.org/officeDocument/2006/math">
                    <m:r>
                      <a:rPr lang="en-AU" i="1" dirty="0" smtClean="0">
                        <a:latin typeface="Cambria Math" panose="02040503050406030204" pitchFamily="18" charset="0"/>
                      </a:rPr>
                      <m:t>𝑉</m:t>
                    </m:r>
                  </m:oMath>
                </a14:m>
                <a:r>
                  <a:rPr lang="en-AU" dirty="0"/>
                  <a:t>:</a:t>
                </a:r>
                <a:r>
                  <a:rPr lang="zh-CN" altLang="en-US" dirty="0"/>
                  <a:t>变元的有穷集</a:t>
                </a:r>
                <a:r>
                  <a:rPr lang="en-US" altLang="zh-CN" dirty="0"/>
                  <a:t>, </a:t>
                </a:r>
                <a:r>
                  <a:rPr lang="zh-CN" altLang="en-US" dirty="0"/>
                  <a:t>变元也称为非终结符或</a:t>
                </a:r>
                <a:r>
                  <a:rPr lang="zh-CN" altLang="en-US" dirty="0">
                    <a:solidFill>
                      <a:schemeClr val="accent1"/>
                    </a:solidFill>
                  </a:rPr>
                  <a:t>语法范畴</a:t>
                </a:r>
                <a:endParaRPr lang="en-US" altLang="zh-CN" dirty="0">
                  <a:solidFill>
                    <a:schemeClr val="accent1"/>
                  </a:solidFill>
                </a:endParaRPr>
              </a:p>
              <a:p>
                <a:pPr lvl="1"/>
                <a14:m>
                  <m:oMath xmlns:m="http://schemas.openxmlformats.org/officeDocument/2006/math">
                    <m:r>
                      <a:rPr lang="en-US" i="1" dirty="0" smtClean="0">
                        <a:latin typeface="Cambria Math" panose="02040503050406030204" pitchFamily="18" charset="0"/>
                      </a:rPr>
                      <m:t>𝑇</m:t>
                    </m:r>
                  </m:oMath>
                </a14:m>
                <a:r>
                  <a:rPr lang="en-US" dirty="0"/>
                  <a:t>:</a:t>
                </a:r>
                <a:r>
                  <a:rPr lang="zh-CN" altLang="en-US" dirty="0"/>
                  <a:t>终结符的有穷集（即字母表），且</a:t>
                </a:r>
                <a14:m>
                  <m:oMath xmlns:m="http://schemas.openxmlformats.org/officeDocument/2006/math">
                    <m:r>
                      <a:rPr lang="en-AU" altLang="zh-CN" b="0" i="1" smtClean="0">
                        <a:latin typeface="Cambria Math" panose="02040503050406030204" pitchFamily="18" charset="0"/>
                      </a:rPr>
                      <m:t>𝑉</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𝑇</m:t>
                    </m:r>
                    <m:r>
                      <a:rPr lang="en-AU" altLang="zh-CN" b="0" i="1" smtClean="0">
                        <a:latin typeface="Cambria Math" panose="02040503050406030204" pitchFamily="18" charset="0"/>
                        <a:ea typeface="Cambria Math" panose="02040503050406030204" pitchFamily="18" charset="0"/>
                      </a:rPr>
                      <m:t>=∅</m:t>
                    </m:r>
                  </m:oMath>
                </a14:m>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894144"/>
                <a:ext cx="8229600" cy="4525963"/>
              </a:xfrm>
              <a:blipFill rotWithShape="1">
                <a:blip r:embed="rId1"/>
                <a:stretch>
                  <a:fillRect t="-1" b="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上下文无关法的形式定义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38223" y="1099856"/>
                <a:ext cx="8229600" cy="5439056"/>
              </a:xfrm>
            </p:spPr>
            <p:txBody>
              <a:bodyPr>
                <a:normAutofit fontScale="85000" lnSpcReduction="10000"/>
              </a:bodyPr>
              <a:lstStyle/>
              <a:p>
                <a:r>
                  <a:rPr lang="zh-CN" altLang="en-US" dirty="0"/>
                  <a:t>定义</a:t>
                </a:r>
                <a:r>
                  <a:rPr lang="en-AU" altLang="zh-CN" dirty="0"/>
                  <a:t>:</a:t>
                </a:r>
                <a:r>
                  <a:rPr lang="zh-CN" altLang="en-US" dirty="0"/>
                  <a:t>上下文无关文法</a:t>
                </a:r>
                <a:r>
                  <a:rPr lang="en-US" altLang="zh-CN" dirty="0"/>
                  <a:t>(</a:t>
                </a:r>
                <a:r>
                  <a:rPr lang="en-AU" altLang="zh-CN" dirty="0">
                    <a:latin typeface="Times New Roman" panose="02020603050405020304" pitchFamily="18" charset="0"/>
                    <a:cs typeface="Times New Roman" panose="02020603050405020304" pitchFamily="18" charset="0"/>
                  </a:rPr>
                  <a:t>CFG, Context-Free Grammar</a:t>
                </a:r>
                <a:r>
                  <a:rPr lang="en-AU" altLang="zh-CN" dirty="0"/>
                  <a:t>, </a:t>
                </a:r>
                <a:r>
                  <a:rPr lang="zh-CN" altLang="en-US" dirty="0"/>
                  <a:t>简称文法</a:t>
                </a:r>
                <a:r>
                  <a:rPr lang="en-US"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m:t>
                    </m:r>
                  </m:oMath>
                </a14:m>
                <a:r>
                  <a:rPr lang="zh-CN" altLang="en-US" dirty="0"/>
                  <a:t>是一个四元组</a:t>
                </a:r>
                <a:endParaRPr lang="en-AU" altLang="zh-CN" dirty="0"/>
              </a:p>
              <a:p>
                <a:pPr marL="0" indent="0">
                  <a:buNone/>
                </a:pPr>
                <a:r>
                  <a:rPr lang="en-AU" altLang="zh-CN" dirty="0"/>
                  <a:t>           </a:t>
                </a:r>
                <a:r>
                  <a:rPr lang="zh-CN" altLang="en-US"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𝑉</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𝑇</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oMath>
                </a14:m>
                <a:endParaRPr lang="en-AU" dirty="0"/>
              </a:p>
              <a:p>
                <a:r>
                  <a:rPr lang="zh-CN" altLang="en-US" dirty="0"/>
                  <a:t>其中，</a:t>
                </a:r>
                <a:endParaRPr lang="en-AU" altLang="zh-CN" dirty="0"/>
              </a:p>
              <a:p>
                <a:pPr lvl="1"/>
                <a14:m>
                  <m:oMath xmlns:m="http://schemas.openxmlformats.org/officeDocument/2006/math">
                    <m:r>
                      <a:rPr lang="en-AU" i="1" dirty="0" smtClean="0">
                        <a:latin typeface="Cambria Math" panose="02040503050406030204" pitchFamily="18" charset="0"/>
                      </a:rPr>
                      <m:t>𝑉</m:t>
                    </m:r>
                  </m:oMath>
                </a14:m>
                <a:r>
                  <a:rPr lang="en-AU" dirty="0"/>
                  <a:t>:</a:t>
                </a:r>
                <a:r>
                  <a:rPr lang="zh-CN" altLang="en-US" dirty="0"/>
                  <a:t>变元的有穷集</a:t>
                </a:r>
                <a:r>
                  <a:rPr lang="en-US" altLang="zh-CN" dirty="0"/>
                  <a:t>, </a:t>
                </a:r>
                <a:r>
                  <a:rPr lang="zh-CN" altLang="en-US" dirty="0"/>
                  <a:t>变元也称为非终结符或</a:t>
                </a:r>
                <a:r>
                  <a:rPr lang="zh-CN" altLang="en-US" dirty="0">
                    <a:solidFill>
                      <a:schemeClr val="accent1"/>
                    </a:solidFill>
                  </a:rPr>
                  <a:t>语法范畴</a:t>
                </a:r>
                <a:endParaRPr lang="en-US" altLang="zh-CN" dirty="0">
                  <a:solidFill>
                    <a:schemeClr val="accent1"/>
                  </a:solidFill>
                </a:endParaRPr>
              </a:p>
              <a:p>
                <a:pPr lvl="1"/>
                <a14:m>
                  <m:oMath xmlns:m="http://schemas.openxmlformats.org/officeDocument/2006/math">
                    <m:r>
                      <a:rPr lang="en-US" i="1" dirty="0" smtClean="0">
                        <a:latin typeface="Cambria Math" panose="02040503050406030204" pitchFamily="18" charset="0"/>
                      </a:rPr>
                      <m:t>𝑇</m:t>
                    </m:r>
                  </m:oMath>
                </a14:m>
                <a:r>
                  <a:rPr lang="en-US" dirty="0"/>
                  <a:t>:</a:t>
                </a:r>
                <a:r>
                  <a:rPr lang="zh-CN" altLang="en-US" dirty="0"/>
                  <a:t>终结符的有穷集（即字母表），且</a:t>
                </a:r>
                <a14:m>
                  <m:oMath xmlns:m="http://schemas.openxmlformats.org/officeDocument/2006/math">
                    <m:r>
                      <a:rPr lang="en-AU" altLang="zh-CN" b="0" i="1" smtClean="0">
                        <a:latin typeface="Cambria Math" panose="02040503050406030204" pitchFamily="18" charset="0"/>
                      </a:rPr>
                      <m:t>𝑉</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𝑇</m:t>
                    </m:r>
                    <m:r>
                      <a:rPr lang="en-AU" altLang="zh-CN" b="0" i="1" smtClean="0">
                        <a:latin typeface="Cambria Math" panose="02040503050406030204" pitchFamily="18" charset="0"/>
                        <a:ea typeface="Cambria Math" panose="02040503050406030204" pitchFamily="18" charset="0"/>
                      </a:rPr>
                      <m:t>=∅</m:t>
                    </m:r>
                  </m:oMath>
                </a14:m>
                <a:endParaRPr lang="en-US" altLang="zh-CN" b="0" i="1" dirty="0">
                  <a:latin typeface="Cambria Math" panose="02040503050406030204" pitchFamily="18" charset="0"/>
                  <a:ea typeface="Cambria Math" panose="02040503050406030204" pitchFamily="18" charset="0"/>
                </a:endParaRPr>
              </a:p>
              <a:p>
                <a:pPr lvl="1"/>
                <a14:m>
                  <m:oMath xmlns:m="http://schemas.openxmlformats.org/officeDocument/2006/math">
                    <m:r>
                      <a:rPr lang="en-AU" altLang="zh-CN" i="1" dirty="0" smtClean="0">
                        <a:latin typeface="Cambria Math" panose="02040503050406030204" pitchFamily="18" charset="0"/>
                      </a:rPr>
                      <m:t>𝑃</m:t>
                    </m:r>
                  </m:oMath>
                </a14:m>
                <a:r>
                  <a:rPr lang="en-AU" altLang="zh-CN" dirty="0"/>
                  <a:t>:</a:t>
                </a:r>
                <a:r>
                  <a:rPr lang="zh-CN" altLang="en-US" dirty="0"/>
                  <a:t>产生式的有穷集，每个产生式包括</a:t>
                </a:r>
                <a:r>
                  <a:rPr lang="en-AU" altLang="zh-CN" dirty="0"/>
                  <a:t>:</a:t>
                </a:r>
                <a:endParaRPr lang="en-AU" altLang="zh-CN" dirty="0"/>
              </a:p>
              <a:p>
                <a:pPr lvl="2"/>
                <a:r>
                  <a:rPr lang="zh-CN" altLang="en-US" dirty="0"/>
                  <a:t>一个变元，称为产生式的</a:t>
                </a:r>
                <a:r>
                  <a:rPr lang="zh-CN" altLang="en-US" dirty="0">
                    <a:solidFill>
                      <a:srgbClr val="FF0000"/>
                    </a:solidFill>
                  </a:rPr>
                  <a:t>头</a:t>
                </a:r>
                <a:r>
                  <a:rPr lang="en-AU" altLang="zh-CN" dirty="0"/>
                  <a:t>(head)</a:t>
                </a:r>
                <a:r>
                  <a:rPr lang="zh-CN" altLang="en-US" dirty="0"/>
                  <a:t>或</a:t>
                </a:r>
                <a:r>
                  <a:rPr lang="zh-CN" altLang="en-US" dirty="0">
                    <a:solidFill>
                      <a:srgbClr val="FF0000"/>
                    </a:solidFill>
                  </a:rPr>
                  <a:t>左部</a:t>
                </a:r>
                <a:r>
                  <a:rPr lang="zh-CN" altLang="en-US" dirty="0"/>
                  <a:t>；</a:t>
                </a:r>
                <a:endParaRPr lang="en-AU" altLang="zh-CN" dirty="0"/>
              </a:p>
              <a:p>
                <a:pPr lvl="2"/>
                <a:r>
                  <a:rPr lang="zh-CN" altLang="en-US" dirty="0"/>
                  <a:t>一个产生式符号</a:t>
                </a:r>
                <a14:m>
                  <m:oMath xmlns:m="http://schemas.openxmlformats.org/officeDocument/2006/math">
                    <m:r>
                      <a:rPr lang="zh-CN" altLang="en-US" i="1" smtClean="0">
                        <a:latin typeface="Cambria Math" panose="02040503050406030204" pitchFamily="18" charset="0"/>
                      </a:rPr>
                      <m:t>→</m:t>
                    </m:r>
                  </m:oMath>
                </a14:m>
                <a:r>
                  <a:rPr lang="zh-CN" altLang="en-US" dirty="0"/>
                  <a:t>，读作</a:t>
                </a:r>
                <a:r>
                  <a:rPr lang="zh-CN" altLang="en-US" dirty="0">
                    <a:solidFill>
                      <a:srgbClr val="FF0000"/>
                    </a:solidFill>
                  </a:rPr>
                  <a:t>定义为</a:t>
                </a:r>
                <a:r>
                  <a:rPr lang="en-AU" altLang="zh-CN" dirty="0"/>
                  <a:t>;</a:t>
                </a:r>
                <a:endParaRPr lang="en-AU" altLang="zh-CN" dirty="0"/>
              </a:p>
              <a:p>
                <a:pPr lvl="2"/>
                <a:r>
                  <a:rPr lang="zh-CN" altLang="en-US" dirty="0"/>
                  <a:t>一个</a:t>
                </a:r>
                <a14:m>
                  <m:oMath xmlns:m="http://schemas.openxmlformats.org/officeDocument/2006/math">
                    <m:sSup>
                      <m:sSupPr>
                        <m:ctrlPr>
                          <a:rPr lang="en-US" altLang="zh-CN" i="1" smtClean="0">
                            <a:latin typeface="Cambria Math" panose="02040503050406030204" pitchFamily="18" charset="0"/>
                          </a:rPr>
                        </m:ctrlPr>
                      </m:sSupPr>
                      <m:e>
                        <m:r>
                          <a:rPr lang="en-AU" altLang="zh-CN" b="0" i="1" smtClean="0">
                            <a:latin typeface="Cambria Math" panose="02040503050406030204" pitchFamily="18" charset="0"/>
                          </a:rPr>
                          <m:t>(</m:t>
                        </m:r>
                        <m:r>
                          <a:rPr lang="en-AU" altLang="zh-CN" b="0" i="1" smtClean="0">
                            <a:latin typeface="Cambria Math" panose="02040503050406030204" pitchFamily="18" charset="0"/>
                          </a:rPr>
                          <m:t>𝑉</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𝑇</m:t>
                        </m:r>
                        <m:r>
                          <a:rPr lang="en-AU" altLang="zh-CN" b="0" i="1" smtClean="0">
                            <a:latin typeface="Cambria Math" panose="02040503050406030204" pitchFamily="18" charset="0"/>
                          </a:rPr>
                          <m:t>)</m:t>
                        </m:r>
                      </m:e>
                      <m:sup>
                        <m:r>
                          <a:rPr lang="en-AU" altLang="zh-CN" b="0" i="1" smtClean="0">
                            <a:latin typeface="Cambria Math" panose="02040503050406030204" pitchFamily="18" charset="0"/>
                          </a:rPr>
                          <m:t>∗</m:t>
                        </m:r>
                      </m:sup>
                    </m:sSup>
                  </m:oMath>
                </a14:m>
                <a:r>
                  <a:rPr lang="zh-CN" altLang="en-US" dirty="0"/>
                  <a:t>中的符号串</a:t>
                </a:r>
                <a:r>
                  <a:rPr lang="en-US" altLang="zh-CN" dirty="0"/>
                  <a:t>, </a:t>
                </a:r>
                <a:r>
                  <a:rPr lang="zh-CN" altLang="en-US" dirty="0"/>
                  <a:t>称为</a:t>
                </a:r>
                <a:r>
                  <a:rPr lang="zh-CN" altLang="en-US" dirty="0">
                    <a:solidFill>
                      <a:srgbClr val="FF0000"/>
                    </a:solidFill>
                  </a:rPr>
                  <a:t>体</a:t>
                </a:r>
                <a:r>
                  <a:rPr lang="en-AU" altLang="zh-CN" dirty="0"/>
                  <a:t>(body)</a:t>
                </a:r>
                <a:r>
                  <a:rPr lang="zh-CN" altLang="en-US" dirty="0"/>
                  <a:t>或</a:t>
                </a:r>
                <a:r>
                  <a:rPr lang="zh-CN" altLang="en-US" dirty="0">
                    <a:solidFill>
                      <a:srgbClr val="FF0000"/>
                    </a:solidFill>
                  </a:rPr>
                  <a:t>右部</a:t>
                </a:r>
                <a:r>
                  <a:rPr lang="zh-CN" altLang="en-US" dirty="0"/>
                  <a:t>（由变元和终结符组成的字符串）</a:t>
                </a:r>
                <a:endParaRPr lang="en-AU" dirty="0"/>
              </a:p>
              <a:p>
                <a:pPr lvl="1"/>
                <a14:m>
                  <m:oMath xmlns:m="http://schemas.openxmlformats.org/officeDocument/2006/math">
                    <m:r>
                      <a:rPr lang="en-AU" i="1" dirty="0" smtClean="0">
                        <a:latin typeface="Cambria Math" panose="02040503050406030204" pitchFamily="18" charset="0"/>
                      </a:rPr>
                      <m:t>𝑆</m:t>
                    </m:r>
                  </m:oMath>
                </a14:m>
                <a:r>
                  <a:rPr lang="en-AU" dirty="0"/>
                  <a:t>:</a:t>
                </a:r>
                <a:r>
                  <a:rPr lang="zh-CN" altLang="en-US" dirty="0"/>
                  <a:t>初始符号</a:t>
                </a:r>
                <a14:m>
                  <m:oMath xmlns:m="http://schemas.openxmlformats.org/officeDocument/2006/math">
                    <m:r>
                      <a:rPr lang="en-AU" altLang="zh-CN" b="0" i="1" smtClean="0">
                        <a:latin typeface="Cambria Math" panose="02040503050406030204" pitchFamily="18" charset="0"/>
                      </a:rPr>
                      <m:t>𝑆</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𝑉</m:t>
                    </m:r>
                  </m:oMath>
                </a14:m>
                <a:r>
                  <a:rPr lang="zh-CN" altLang="en-US" dirty="0"/>
                  <a:t>，表示文法开始的地方</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38223" y="1099856"/>
                <a:ext cx="8229600" cy="5439056"/>
              </a:xfrm>
              <a:blipFill rotWithShape="1">
                <a:blip r:embed="rId1"/>
                <a:stretch>
                  <a:fillRect l="-5" t="-1" r="5" b="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上下文无关法的形式定义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079339"/>
                <a:ext cx="8229600" cy="4525963"/>
              </a:xfrm>
            </p:spPr>
            <p:txBody>
              <a:bodyPr>
                <a:normAutofit/>
              </a:bodyPr>
              <a:lstStyle/>
              <a:p>
                <a:r>
                  <a:rPr lang="zh-CN" altLang="en-US" dirty="0"/>
                  <a:t>产生式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r>
                      <a:rPr lang="el-GR" i="1" dirty="0" smtClean="0">
                        <a:latin typeface="Cambria Math" panose="02040503050406030204" pitchFamily="18" charset="0"/>
                      </a:rPr>
                      <m:t>𝛼</m:t>
                    </m:r>
                  </m:oMath>
                </a14:m>
                <a:r>
                  <a:rPr lang="el-GR" dirty="0"/>
                  <a:t>, </a:t>
                </a:r>
                <a:r>
                  <a:rPr lang="zh-CN" altLang="en-US" dirty="0"/>
                  <a:t>读作 </a:t>
                </a:r>
                <a14:m>
                  <m:oMath xmlns:m="http://schemas.openxmlformats.org/officeDocument/2006/math">
                    <m:r>
                      <a:rPr lang="en-AU" i="1" dirty="0" smtClean="0">
                        <a:latin typeface="Cambria Math" panose="02040503050406030204" pitchFamily="18" charset="0"/>
                      </a:rPr>
                      <m:t>𝐴</m:t>
                    </m:r>
                  </m:oMath>
                </a14:m>
                <a:r>
                  <a:rPr lang="en-AU" dirty="0"/>
                  <a:t> </a:t>
                </a:r>
                <a:r>
                  <a:rPr lang="zh-CN" altLang="en-US" dirty="0"/>
                  <a:t>定义为</a:t>
                </a:r>
                <a14:m>
                  <m:oMath xmlns:m="http://schemas.openxmlformats.org/officeDocument/2006/math">
                    <m:r>
                      <a:rPr lang="el-GR" i="1" dirty="0" smtClean="0">
                        <a:latin typeface="Cambria Math" panose="02040503050406030204" pitchFamily="18" charset="0"/>
                      </a:rPr>
                      <m:t>𝛼</m:t>
                    </m:r>
                  </m:oMath>
                </a14:m>
                <a:endParaRPr lang="en-AU" dirty="0"/>
              </a:p>
              <a:p>
                <a:r>
                  <a:rPr lang="zh-CN" altLang="en-US" dirty="0"/>
                  <a:t>如果有多个 </a:t>
                </a:r>
                <a14:m>
                  <m:oMath xmlns:m="http://schemas.openxmlformats.org/officeDocument/2006/math">
                    <m:r>
                      <a:rPr lang="en-AU" b="0" i="1" dirty="0" smtClean="0">
                        <a:latin typeface="Cambria Math" panose="02040503050406030204" pitchFamily="18" charset="0"/>
                      </a:rPr>
                      <m:t>𝐴</m:t>
                    </m:r>
                  </m:oMath>
                </a14:m>
                <a:r>
                  <a:rPr lang="en-AU" b="0" dirty="0"/>
                  <a:t> </a:t>
                </a:r>
                <a:r>
                  <a:rPr lang="zh-CN" altLang="en-US" dirty="0"/>
                  <a:t>的产生式</a:t>
                </a:r>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sSub>
                        <m:sSubPr>
                          <m:ctrlPr>
                            <a:rPr lang="en-AU" i="1" dirty="0" smtClean="0">
                              <a:latin typeface="Cambria Math" panose="02040503050406030204" pitchFamily="18" charset="0"/>
                            </a:rPr>
                          </m:ctrlPr>
                        </m:sSubPr>
                        <m:e>
                          <m:r>
                            <a:rPr lang="el-GR" i="1" dirty="0">
                              <a:latin typeface="Cambria Math" panose="02040503050406030204" pitchFamily="18" charset="0"/>
                            </a:rPr>
                            <m:t>𝛼</m:t>
                          </m:r>
                        </m:e>
                        <m:sub>
                          <m:r>
                            <a:rPr lang="en-AU" b="0" i="1" dirty="0" smtClean="0">
                              <a:latin typeface="Cambria Math" panose="02040503050406030204" pitchFamily="18" charset="0"/>
                            </a:rPr>
                            <m:t>1</m:t>
                          </m:r>
                        </m:sub>
                      </m:sSub>
                      <m:r>
                        <a:rPr lang="en-AU" b="0" i="1" dirty="0" smtClean="0">
                          <a:latin typeface="Cambria Math" panose="02040503050406030204" pitchFamily="18" charset="0"/>
                        </a:rPr>
                        <m:t>,</m:t>
                      </m:r>
                      <m:r>
                        <a:rPr lang="en-AU" i="1" dirty="0">
                          <a:latin typeface="Cambria Math" panose="02040503050406030204" pitchFamily="18" charset="0"/>
                        </a:rPr>
                        <m:t>𝐴</m:t>
                      </m:r>
                      <m:r>
                        <a:rPr lang="en-AU" i="1" dirty="0">
                          <a:latin typeface="Cambria Math" panose="02040503050406030204" pitchFamily="18" charset="0"/>
                        </a:rPr>
                        <m:t> → </m:t>
                      </m:r>
                      <m:sSub>
                        <m:sSubPr>
                          <m:ctrlPr>
                            <a:rPr lang="en-AU" i="1" dirty="0">
                              <a:latin typeface="Cambria Math" panose="02040503050406030204" pitchFamily="18" charset="0"/>
                            </a:rPr>
                          </m:ctrlPr>
                        </m:sSubPr>
                        <m:e>
                          <m:r>
                            <a:rPr lang="el-GR" i="1" dirty="0">
                              <a:latin typeface="Cambria Math" panose="02040503050406030204" pitchFamily="18" charset="0"/>
                            </a:rPr>
                            <m:t>𝛼</m:t>
                          </m:r>
                        </m:e>
                        <m:sub>
                          <m:r>
                            <a:rPr lang="en-AU" b="0" i="1" dirty="0" smtClean="0">
                              <a:latin typeface="Cambria Math" panose="02040503050406030204" pitchFamily="18" charset="0"/>
                            </a:rPr>
                            <m:t>2</m:t>
                          </m:r>
                        </m:sub>
                      </m:sSub>
                      <m:r>
                        <a:rPr lang="en-AU" b="0" i="1" dirty="0" smtClean="0">
                          <a:latin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rPr>
                        <m:t>,</m:t>
                      </m:r>
                      <m:r>
                        <a:rPr lang="en-AU" i="1" dirty="0">
                          <a:latin typeface="Cambria Math" panose="02040503050406030204" pitchFamily="18" charset="0"/>
                        </a:rPr>
                        <m:t>𝐴</m:t>
                      </m:r>
                      <m:r>
                        <a:rPr lang="en-AU" i="1" dirty="0">
                          <a:latin typeface="Cambria Math" panose="02040503050406030204" pitchFamily="18" charset="0"/>
                        </a:rPr>
                        <m:t> → </m:t>
                      </m:r>
                      <m:sSub>
                        <m:sSubPr>
                          <m:ctrlPr>
                            <a:rPr lang="en-AU" i="1" dirty="0">
                              <a:latin typeface="Cambria Math" panose="02040503050406030204" pitchFamily="18" charset="0"/>
                            </a:rPr>
                          </m:ctrlPr>
                        </m:sSubPr>
                        <m:e>
                          <m:r>
                            <a:rPr lang="el-GR" i="1" dirty="0">
                              <a:latin typeface="Cambria Math" panose="02040503050406030204" pitchFamily="18" charset="0"/>
                            </a:rPr>
                            <m:t>𝛼</m:t>
                          </m:r>
                        </m:e>
                        <m:sub>
                          <m:r>
                            <a:rPr lang="en-AU" b="0" i="1" dirty="0" smtClean="0">
                              <a:latin typeface="Cambria Math" panose="02040503050406030204" pitchFamily="18" charset="0"/>
                            </a:rPr>
                            <m:t>𝑛</m:t>
                          </m:r>
                        </m:sub>
                      </m:sSub>
                    </m:oMath>
                  </m:oMathPara>
                </a14:m>
                <a:endParaRPr lang="en-AU" altLang="zh-CN" dirty="0"/>
              </a:p>
              <a:p>
                <a:r>
                  <a:rPr lang="zh-CN" altLang="en-US" dirty="0"/>
                  <a:t>可简写为</a:t>
                </a:r>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sSub>
                        <m:sSubPr>
                          <m:ctrlPr>
                            <a:rPr lang="en-AU" i="1" dirty="0" smtClean="0">
                              <a:latin typeface="Cambria Math" panose="02040503050406030204" pitchFamily="18" charset="0"/>
                            </a:rPr>
                          </m:ctrlPr>
                        </m:sSubPr>
                        <m:e>
                          <m:r>
                            <a:rPr lang="el-GR" i="1" dirty="0">
                              <a:latin typeface="Cambria Math" panose="02040503050406030204" pitchFamily="18" charset="0"/>
                            </a:rPr>
                            <m:t>𝛼</m:t>
                          </m:r>
                        </m:e>
                        <m:sub>
                          <m:r>
                            <a:rPr lang="en-AU" b="0" i="1" dirty="0" smtClean="0">
                              <a:latin typeface="Cambria Math" panose="02040503050406030204" pitchFamily="18" charset="0"/>
                            </a:rPr>
                            <m:t>1</m:t>
                          </m:r>
                        </m:sub>
                      </m:sSub>
                      <m:d>
                        <m:dPr>
                          <m:begChr m:val="|"/>
                          <m:endChr m:val="|"/>
                          <m:ctrlPr>
                            <a:rPr lang="en-AU" b="0" i="1" dirty="0" smtClean="0">
                              <a:latin typeface="Cambria Math" panose="02040503050406030204" pitchFamily="18" charset="0"/>
                            </a:rPr>
                          </m:ctrlPr>
                        </m:dPr>
                        <m:e>
                          <m:sSub>
                            <m:sSubPr>
                              <m:ctrlPr>
                                <a:rPr lang="en-AU" i="1" dirty="0">
                                  <a:latin typeface="Cambria Math" panose="02040503050406030204" pitchFamily="18" charset="0"/>
                                </a:rPr>
                              </m:ctrlPr>
                            </m:sSubPr>
                            <m:e>
                              <m:r>
                                <a:rPr lang="el-GR" i="1" dirty="0">
                                  <a:latin typeface="Cambria Math" panose="02040503050406030204" pitchFamily="18" charset="0"/>
                                </a:rPr>
                                <m:t>𝛼</m:t>
                              </m:r>
                            </m:e>
                            <m:sub>
                              <m:r>
                                <a:rPr lang="en-AU" b="0" i="1" dirty="0" smtClean="0">
                                  <a:latin typeface="Cambria Math" panose="02040503050406030204" pitchFamily="18" charset="0"/>
                                </a:rPr>
                                <m:t>2</m:t>
                              </m:r>
                            </m:sub>
                          </m:sSub>
                        </m:e>
                      </m:d>
                      <m:r>
                        <a:rPr lang="en-AU" i="1" dirty="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rPr>
                        <m:t>|</m:t>
                      </m:r>
                      <m:sSub>
                        <m:sSubPr>
                          <m:ctrlPr>
                            <a:rPr lang="en-AU" i="1" dirty="0">
                              <a:latin typeface="Cambria Math" panose="02040503050406030204" pitchFamily="18" charset="0"/>
                            </a:rPr>
                          </m:ctrlPr>
                        </m:sSubPr>
                        <m:e>
                          <m:r>
                            <a:rPr lang="el-GR" i="1" dirty="0">
                              <a:latin typeface="Cambria Math" panose="02040503050406030204" pitchFamily="18" charset="0"/>
                            </a:rPr>
                            <m:t>𝛼</m:t>
                          </m:r>
                        </m:e>
                        <m:sub>
                          <m:r>
                            <a:rPr lang="en-AU" b="0" i="1" dirty="0" smtClean="0">
                              <a:latin typeface="Cambria Math" panose="02040503050406030204" pitchFamily="18" charset="0"/>
                            </a:rPr>
                            <m:t>𝑛</m:t>
                          </m:r>
                        </m:sub>
                      </m:sSub>
                      <m:r>
                        <a:rPr lang="en-AU" b="0" i="1" dirty="0" smtClean="0">
                          <a:latin typeface="Cambria Math" panose="02040503050406030204" pitchFamily="18" charset="0"/>
                        </a:rPr>
                        <m:t>|</m:t>
                      </m:r>
                    </m:oMath>
                  </m:oMathPara>
                </a14:m>
                <a:endParaRPr lang="en-AU" altLang="zh-CN" dirty="0"/>
              </a:p>
              <a:p>
                <a:r>
                  <a:rPr lang="zh-CN" altLang="en-US" dirty="0"/>
                  <a:t>文法中变元</a:t>
                </a:r>
                <a14:m>
                  <m:oMath xmlns:m="http://schemas.openxmlformats.org/officeDocument/2006/math">
                    <m:r>
                      <a:rPr lang="en-US" altLang="zh-CN" b="0" i="1" dirty="0" smtClean="0">
                        <a:latin typeface="Cambria Math" panose="02040503050406030204" pitchFamily="18" charset="0"/>
                      </a:rPr>
                      <m:t>𝐴</m:t>
                    </m:r>
                  </m:oMath>
                </a14:m>
                <a:r>
                  <a:rPr lang="zh-CN" altLang="en-US" dirty="0"/>
                  <a:t>的全体产生式，称为</a:t>
                </a:r>
                <a14:m>
                  <m:oMath xmlns:m="http://schemas.openxmlformats.org/officeDocument/2006/math">
                    <m:r>
                      <a:rPr lang="en-US" altLang="zh-CN" b="0" i="1" dirty="0" smtClean="0">
                        <a:latin typeface="Cambria Math" panose="02040503050406030204" pitchFamily="18" charset="0"/>
                      </a:rPr>
                      <m:t>𝐴</m:t>
                    </m:r>
                  </m:oMath>
                </a14:m>
                <a:r>
                  <a:rPr lang="zh-CN" altLang="en-US" dirty="0"/>
                  <a:t>产生式</a:t>
                </a:r>
                <a:endParaRPr lang="en-AU" altLang="zh-CN" dirty="0"/>
              </a:p>
              <a:p>
                <a:r>
                  <a:rPr lang="zh-CN" altLang="en-US" dirty="0"/>
                  <a:t>续例</a:t>
                </a:r>
                <a:r>
                  <a:rPr lang="en-AU" altLang="zh-CN" dirty="0"/>
                  <a:t>: </a:t>
                </a:r>
                <a:r>
                  <a:rPr lang="zh-CN" altLang="en-US" dirty="0"/>
                  <a:t>回文语言语法可以表示为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rPr>
                        <m:t>𝐺</m:t>
                      </m:r>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𝐴</m:t>
                          </m:r>
                        </m:e>
                      </m:d>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0</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e>
                      </m:d>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𝐴</m:t>
                          </m:r>
                          <m:r>
                            <a:rPr lang="en-AU" i="1" dirty="0">
                              <a:latin typeface="Cambria Math" panose="02040503050406030204" pitchFamily="18" charset="0"/>
                            </a:rPr>
                            <m:t>→</m:t>
                          </m:r>
                          <m:r>
                            <a:rPr lang="zh-CN" altLang="en-AU" i="1">
                              <a:latin typeface="Cambria Math" panose="02040503050406030204" pitchFamily="18" charset="0"/>
                              <a:ea typeface="Cambria Math" panose="02040503050406030204" pitchFamily="18" charset="0"/>
                            </a:rPr>
                            <m:t>𝜀</m:t>
                          </m:r>
                          <m:d>
                            <m:dPr>
                              <m:begChr m:val="|"/>
                              <m:endChr m:val="|"/>
                              <m:ctrlPr>
                                <a:rPr lang="en-AU" altLang="zh-CN" b="0" i="1" dirty="0" smtClean="0">
                                  <a:latin typeface="Cambria Math" panose="02040503050406030204" pitchFamily="18" charset="0"/>
                                </a:rPr>
                              </m:ctrlPr>
                            </m:dPr>
                            <m:e>
                              <m:r>
                                <a:rPr lang="en-AU" altLang="zh-CN" b="0" i="1" dirty="0" smtClean="0">
                                  <a:latin typeface="Cambria Math" panose="02040503050406030204" pitchFamily="18" charset="0"/>
                                </a:rPr>
                                <m:t>0</m:t>
                              </m:r>
                            </m:e>
                          </m:d>
                          <m:r>
                            <a:rPr lang="en-AU" altLang="zh-CN" b="0" i="1" dirty="0" smtClean="0">
                              <a:latin typeface="Cambria Math" panose="02040503050406030204" pitchFamily="18" charset="0"/>
                            </a:rPr>
                            <m:t>1</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0</m:t>
                          </m:r>
                          <m:r>
                            <a:rPr lang="en-AU" altLang="zh-CN" b="0" i="1" dirty="0" smtClean="0">
                              <a:latin typeface="Cambria Math" panose="02040503050406030204" pitchFamily="18" charset="0"/>
                            </a:rPr>
                            <m:t>𝐴</m:t>
                          </m:r>
                          <m:r>
                            <a:rPr lang="en-AU" altLang="zh-CN" b="0" i="1" dirty="0" smtClean="0">
                              <a:latin typeface="Cambria Math" panose="02040503050406030204" pitchFamily="18" charset="0"/>
                            </a:rPr>
                            <m:t>0</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1</m:t>
                          </m:r>
                          <m:r>
                            <a:rPr lang="en-AU" altLang="zh-CN" b="0" i="1" dirty="0" smtClean="0">
                              <a:latin typeface="Cambria Math" panose="02040503050406030204" pitchFamily="18" charset="0"/>
                            </a:rPr>
                            <m:t>𝐴</m:t>
                          </m:r>
                          <m:r>
                            <a:rPr lang="en-AU" altLang="zh-CN" b="0" i="1" dirty="0" smtClean="0">
                              <a:latin typeface="Cambria Math" panose="02040503050406030204" pitchFamily="18" charset="0"/>
                            </a:rPr>
                            <m:t>1</m:t>
                          </m:r>
                        </m:e>
                      </m:d>
                      <m:r>
                        <a:rPr lang="en-AU" altLang="zh-CN" b="0" i="1" smtClean="0">
                          <a:latin typeface="Cambria Math" panose="02040503050406030204" pitchFamily="18" charset="0"/>
                        </a:rPr>
                        <m:t>,</m:t>
                      </m:r>
                      <m:r>
                        <a:rPr lang="en-AU" altLang="zh-CN" b="0" i="1" smtClean="0">
                          <a:latin typeface="Cambria Math" panose="02040503050406030204" pitchFamily="18" charset="0"/>
                        </a:rPr>
                        <m:t>𝐴</m:t>
                      </m:r>
                      <m:r>
                        <a:rPr lang="en-AU" altLang="zh-CN" b="0" i="1" smtClean="0">
                          <a:latin typeface="Cambria Math" panose="02040503050406030204" pitchFamily="18" charset="0"/>
                        </a:rPr>
                        <m:t>)</m:t>
                      </m:r>
                    </m:oMath>
                  </m:oMathPara>
                </a14:m>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079339"/>
                <a:ext cx="8229600" cy="4525963"/>
              </a:xfrm>
              <a:blipFill rotWithShape="1">
                <a:blip r:embed="rId1"/>
                <a:stretch>
                  <a:fillRect t="-10" b="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字符使用的一般约定</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变元</a:t>
                </a:r>
                <a:r>
                  <a:rPr lang="en-AU" altLang="zh-CN" dirty="0"/>
                  <a:t>: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m:t>
                    </m:r>
                    <m:r>
                      <a:rPr lang="en-AU" i="1" dirty="0" smtClean="0">
                        <a:latin typeface="Cambria Math" panose="02040503050406030204" pitchFamily="18" charset="0"/>
                      </a:rPr>
                      <m:t>𝐵</m:t>
                    </m:r>
                    <m:r>
                      <a:rPr lang="en-AU" i="1" dirty="0" smtClean="0">
                        <a:latin typeface="Cambria Math" panose="02040503050406030204" pitchFamily="18" charset="0"/>
                      </a:rPr>
                      <m:t>, </m:t>
                    </m:r>
                    <m:r>
                      <a:rPr lang="en-AU" i="1" dirty="0" smtClean="0">
                        <a:latin typeface="Cambria Math" panose="02040503050406030204" pitchFamily="18" charset="0"/>
                      </a:rPr>
                      <m:t>𝐶</m:t>
                    </m:r>
                    <m:r>
                      <a:rPr lang="en-AU" i="1" dirty="0" smtClean="0">
                        <a:latin typeface="Cambria Math" panose="02040503050406030204" pitchFamily="18" charset="0"/>
                      </a:rPr>
                      <m:t>,… </m:t>
                    </m:r>
                  </m:oMath>
                </a14:m>
                <a:endParaRPr lang="en-AU" dirty="0"/>
              </a:p>
              <a:p>
                <a:r>
                  <a:rPr lang="zh-CN" altLang="en-US" dirty="0"/>
                  <a:t>终结符</a:t>
                </a:r>
                <a:r>
                  <a:rPr lang="en-AU" altLang="zh-CN" dirty="0"/>
                  <a:t>: </a:t>
                </a:r>
                <a14:m>
                  <m:oMath xmlns:m="http://schemas.openxmlformats.org/officeDocument/2006/math">
                    <m:r>
                      <a:rPr lang="en-AU" altLang="zh-CN" i="1" dirty="0" smtClean="0">
                        <a:latin typeface="Cambria Math" panose="02040503050406030204" pitchFamily="18" charset="0"/>
                      </a:rPr>
                      <m:t>0</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1</m:t>
                    </m:r>
                    <m:r>
                      <a:rPr lang="en-AU" altLang="zh-CN" i="1" dirty="0" smtClean="0">
                        <a:latin typeface="Cambria Math" panose="02040503050406030204" pitchFamily="18" charset="0"/>
                      </a:rPr>
                      <m:t>,</m:t>
                    </m:r>
                    <m:r>
                      <a:rPr lang="en-AU" i="1" dirty="0" smtClean="0">
                        <a:latin typeface="Cambria Math" panose="02040503050406030204" pitchFamily="18" charset="0"/>
                      </a:rPr>
                      <m:t>𝑎</m:t>
                    </m:r>
                    <m:r>
                      <a:rPr lang="en-AU" i="1" dirty="0" smtClean="0">
                        <a:latin typeface="Cambria Math" panose="02040503050406030204" pitchFamily="18" charset="0"/>
                      </a:rPr>
                      <m:t>, </m:t>
                    </m:r>
                    <m:r>
                      <a:rPr lang="en-AU" i="1" dirty="0" smtClean="0">
                        <a:latin typeface="Cambria Math" panose="02040503050406030204" pitchFamily="18" charset="0"/>
                      </a:rPr>
                      <m:t>𝑏</m:t>
                    </m:r>
                    <m:r>
                      <a:rPr lang="en-AU" i="1" dirty="0" smtClean="0">
                        <a:latin typeface="Cambria Math" panose="02040503050406030204" pitchFamily="18" charset="0"/>
                      </a:rPr>
                      <m:t>, </m:t>
                    </m:r>
                    <m:r>
                      <a:rPr lang="en-AU" i="1" dirty="0" smtClean="0">
                        <a:latin typeface="Cambria Math" panose="02040503050406030204" pitchFamily="18" charset="0"/>
                      </a:rPr>
                      <m:t>𝑐</m:t>
                    </m:r>
                    <m:r>
                      <a:rPr lang="en-AU" i="1" dirty="0" smtClean="0">
                        <a:latin typeface="Cambria Math" panose="02040503050406030204" pitchFamily="18" charset="0"/>
                      </a:rPr>
                      <m:t>,… </m:t>
                    </m:r>
                  </m:oMath>
                </a14:m>
                <a:endParaRPr lang="en-AU" dirty="0"/>
              </a:p>
              <a:p>
                <a:r>
                  <a:rPr lang="zh-CN" altLang="en-US" dirty="0"/>
                  <a:t>终结符或非终结符</a:t>
                </a:r>
                <a:r>
                  <a:rPr lang="en-AU" altLang="zh-CN" dirty="0"/>
                  <a:t>: </a:t>
                </a:r>
                <a14:m>
                  <m:oMath xmlns:m="http://schemas.openxmlformats.org/officeDocument/2006/math">
                    <m:r>
                      <a:rPr lang="en-AU" altLang="zh-CN" i="1" dirty="0" smtClean="0">
                        <a:latin typeface="Cambria Math" panose="02040503050406030204" pitchFamily="18" charset="0"/>
                      </a:rPr>
                      <m:t>…,</m:t>
                    </m:r>
                    <m:r>
                      <a:rPr lang="en-AU" i="1" dirty="0" smtClean="0">
                        <a:latin typeface="Cambria Math" panose="02040503050406030204" pitchFamily="18" charset="0"/>
                      </a:rPr>
                      <m:t>𝑋</m:t>
                    </m:r>
                    <m:r>
                      <a:rPr lang="en-AU" i="1" dirty="0" smtClean="0">
                        <a:latin typeface="Cambria Math" panose="02040503050406030204" pitchFamily="18" charset="0"/>
                      </a:rPr>
                      <m:t>, </m:t>
                    </m:r>
                    <m:r>
                      <a:rPr lang="en-AU" i="1" dirty="0" smtClean="0">
                        <a:latin typeface="Cambria Math" panose="02040503050406030204" pitchFamily="18" charset="0"/>
                      </a:rPr>
                      <m:t>𝑌</m:t>
                    </m:r>
                    <m:r>
                      <a:rPr lang="en-AU" i="1" dirty="0" smtClean="0">
                        <a:latin typeface="Cambria Math" panose="02040503050406030204" pitchFamily="18" charset="0"/>
                      </a:rPr>
                      <m:t>, </m:t>
                    </m:r>
                    <m:r>
                      <a:rPr lang="en-AU" i="1" dirty="0" smtClean="0">
                        <a:latin typeface="Cambria Math" panose="02040503050406030204" pitchFamily="18" charset="0"/>
                      </a:rPr>
                      <m:t>𝑍</m:t>
                    </m:r>
                  </m:oMath>
                </a14:m>
                <a:endParaRPr lang="en-AU" dirty="0"/>
              </a:p>
              <a:p>
                <a:r>
                  <a:rPr lang="zh-CN" altLang="en-US" dirty="0"/>
                  <a:t>终结符构成的串</a:t>
                </a:r>
                <a14:m>
                  <m:oMath xmlns:m="http://schemas.openxmlformats.org/officeDocument/2006/math">
                    <m:r>
                      <a:rPr lang="en-AU" altLang="zh-CN" i="1" dirty="0" smtClean="0">
                        <a:latin typeface="Cambria Math" panose="02040503050406030204" pitchFamily="18" charset="0"/>
                      </a:rPr>
                      <m:t>:…</m:t>
                    </m:r>
                    <m:r>
                      <a:rPr lang="en-AU" altLang="zh-CN" i="1" dirty="0">
                        <a:latin typeface="Cambria Math" panose="02040503050406030204" pitchFamily="18" charset="0"/>
                      </a:rPr>
                      <m:t>,</m:t>
                    </m:r>
                    <m:r>
                      <a:rPr lang="en-AU" i="1" dirty="0" smtClean="0">
                        <a:latin typeface="Cambria Math" panose="02040503050406030204" pitchFamily="18" charset="0"/>
                      </a:rPr>
                      <m:t>𝑤</m:t>
                    </m:r>
                    <m:r>
                      <a:rPr lang="en-AU" i="1" dirty="0" smtClean="0">
                        <a:latin typeface="Cambria Math" panose="02040503050406030204" pitchFamily="18" charset="0"/>
                      </a:rPr>
                      <m:t>, </m:t>
                    </m:r>
                    <m:r>
                      <a:rPr lang="en-AU" i="1" dirty="0" smtClean="0">
                        <a:latin typeface="Cambria Math" panose="02040503050406030204" pitchFamily="18" charset="0"/>
                      </a:rPr>
                      <m:t>𝑥</m:t>
                    </m:r>
                    <m:r>
                      <a:rPr lang="en-AU" i="1" dirty="0" smtClean="0">
                        <a:latin typeface="Cambria Math" panose="02040503050406030204" pitchFamily="18" charset="0"/>
                      </a:rPr>
                      <m:t>, </m:t>
                    </m:r>
                    <m:r>
                      <a:rPr lang="en-AU" i="1" dirty="0" smtClean="0">
                        <a:latin typeface="Cambria Math" panose="02040503050406030204" pitchFamily="18" charset="0"/>
                      </a:rPr>
                      <m:t>𝑦</m:t>
                    </m:r>
                    <m:r>
                      <a:rPr lang="en-AU" i="1" dirty="0" smtClean="0">
                        <a:latin typeface="Cambria Math" panose="02040503050406030204" pitchFamily="18" charset="0"/>
                      </a:rPr>
                      <m:t>, </m:t>
                    </m:r>
                    <m:r>
                      <a:rPr lang="en-AU" i="1" dirty="0" smtClean="0">
                        <a:latin typeface="Cambria Math" panose="02040503050406030204" pitchFamily="18" charset="0"/>
                      </a:rPr>
                      <m:t>𝑧</m:t>
                    </m:r>
                  </m:oMath>
                </a14:m>
                <a:endParaRPr lang="en-AU" dirty="0"/>
              </a:p>
              <a:p>
                <a:r>
                  <a:rPr lang="zh-CN" altLang="en-US" dirty="0"/>
                  <a:t>终结符或非终结符组成的串</a:t>
                </a:r>
                <a14:m>
                  <m:oMath xmlns:m="http://schemas.openxmlformats.org/officeDocument/2006/math">
                    <m:r>
                      <a:rPr lang="en-AU" altLang="zh-CN" i="1" dirty="0"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𝛼</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𝛾</m:t>
                    </m:r>
                    <m:r>
                      <a:rPr lang="en-AU" b="0" i="0" smtClean="0">
                        <a:latin typeface="Cambria Math" panose="02040503050406030204" pitchFamily="18" charset="0"/>
                        <a:ea typeface="Cambria Math" panose="02040503050406030204" pitchFamily="18" charset="0"/>
                      </a:rPr>
                      <m:t>,…</m:t>
                    </m:r>
                  </m:oMath>
                </a14:m>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文法示例</a:t>
            </a:r>
            <a:endParaRPr lang="en-AU" dirty="0"/>
          </a:p>
        </p:txBody>
      </p:sp>
      <p:sp>
        <p:nvSpPr>
          <p:cNvPr id="3" name="Content Placeholder 2"/>
          <p:cNvSpPr>
            <a:spLocks noGrp="1"/>
          </p:cNvSpPr>
          <p:nvPr>
            <p:ph idx="1"/>
          </p:nvPr>
        </p:nvSpPr>
        <p:spPr>
          <a:xfrm>
            <a:off x="685800" y="917294"/>
            <a:ext cx="8229600" cy="4525963"/>
          </a:xfrm>
        </p:spPr>
        <p:txBody>
          <a:bodyPr/>
          <a:lstStyle/>
          <a:p>
            <a:pPr marL="342900" lvl="1" indent="-342900">
              <a:lnSpc>
                <a:spcPct val="90000"/>
              </a:lnSpc>
              <a:buFont typeface="Arial" panose="020B0604020202020204" pitchFamily="34" charset="0"/>
              <a:buChar char="•"/>
              <a:defRPr/>
            </a:pPr>
            <a:r>
              <a:rPr lang="zh-CN" altLang="en-US" b="1" dirty="0">
                <a:latin typeface="黑体" panose="02010609060101010101" pitchFamily="49" charset="-122"/>
                <a:ea typeface="黑体" panose="02010609060101010101" pitchFamily="49" charset="-122"/>
              </a:rPr>
              <a:t>简化的四则运算表达式</a:t>
            </a:r>
            <a:endParaRPr lang="en-US" altLang="zh-CN" b="1" dirty="0">
              <a:latin typeface="黑体" panose="02010609060101010101" pitchFamily="49" charset="-122"/>
              <a:ea typeface="黑体" panose="02010609060101010101" pitchFamily="49" charset="-122"/>
            </a:endParaRPr>
          </a:p>
          <a:p>
            <a:pPr marL="457200" lvl="1" indent="0">
              <a:buNone/>
              <a:defRPr/>
            </a:pPr>
            <a:r>
              <a:rPr lang="zh-CN" altLang="en-US" b="1" dirty="0">
                <a:latin typeface="Times New Roman" panose="02020603050405020304" pitchFamily="18" charset="0"/>
                <a:cs typeface="Times New Roman" panose="02020603050405020304" pitchFamily="18" charset="0"/>
              </a:rPr>
              <a:t>用</a:t>
            </a:r>
            <a:r>
              <a:rPr lang="en-US" altLang="zh-CN" b="1" dirty="0">
                <a:latin typeface="Times New Roman" panose="02020603050405020304" pitchFamily="18" charset="0"/>
                <a:cs typeface="Times New Roman" panose="02020603050405020304" pitchFamily="18" charset="0"/>
              </a:rPr>
              <a:t>id</a:t>
            </a:r>
            <a:r>
              <a:rPr lang="zh-CN" altLang="en-US" b="1" dirty="0">
                <a:latin typeface="Times New Roman" panose="02020603050405020304" pitchFamily="18" charset="0"/>
                <a:cs typeface="Times New Roman" panose="02020603050405020304" pitchFamily="18" charset="0"/>
              </a:rPr>
              <a:t>表示数，产生具有</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和*的算数表达式的</a:t>
            </a:r>
            <a:r>
              <a:rPr lang="en-US" altLang="zh-CN" b="1" dirty="0">
                <a:latin typeface="Times New Roman" panose="02020603050405020304" pitchFamily="18" charset="0"/>
                <a:cs typeface="Times New Roman" panose="02020603050405020304" pitchFamily="18" charset="0"/>
              </a:rPr>
              <a:t>CFG</a:t>
            </a:r>
            <a:r>
              <a:rPr lang="zh-CN" altLang="en-US" b="1" dirty="0">
                <a:latin typeface="Times New Roman" panose="02020603050405020304" pitchFamily="18" charset="0"/>
                <a:cs typeface="Times New Roman" panose="02020603050405020304" pitchFamily="18" charset="0"/>
              </a:rPr>
              <a:t>产生式：</a:t>
            </a:r>
            <a:endParaRPr lang="en-US" altLang="zh-CN" b="1" dirty="0">
              <a:latin typeface="Times New Roman" panose="02020603050405020304" pitchFamily="18" charset="0"/>
              <a:cs typeface="Times New Roman" panose="02020603050405020304" pitchFamily="18" charset="0"/>
            </a:endParaRPr>
          </a:p>
          <a:p>
            <a:pPr marL="914400" lvl="2" indent="0">
              <a:buNone/>
              <a:defRPr/>
            </a:pPr>
            <a:r>
              <a:rPr lang="en-US" altLang="zh-CN" sz="2800" b="1" i="1" dirty="0">
                <a:latin typeface="Times New Roman" panose="02020603050405020304" pitchFamily="18" charset="0"/>
                <a:cs typeface="Times New Roman" panose="02020603050405020304" pitchFamily="18" charset="0"/>
              </a:rPr>
              <a:t>G</a:t>
            </a:r>
            <a:r>
              <a:rPr lang="en-US" altLang="zh-CN" sz="2800" b="1" dirty="0">
                <a:latin typeface="Times New Roman" panose="02020603050405020304" pitchFamily="18" charset="0"/>
                <a:cs typeface="Times New Roman" panose="02020603050405020304" pitchFamily="18" charset="0"/>
              </a:rPr>
              <a:t> =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{id, +, *, (, )}, </a:t>
            </a:r>
            <a:r>
              <a:rPr lang="en-US" altLang="zh-CN" sz="2800" b="1" i="1" dirty="0">
                <a:latin typeface="Times New Roman" panose="02020603050405020304" pitchFamily="18" charset="0"/>
                <a:cs typeface="Times New Roman" panose="02020603050405020304" pitchFamily="18" charset="0"/>
              </a:rPr>
              <a:t>P</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P</a:t>
            </a:r>
            <a:r>
              <a:rPr lang="zh-CN" altLang="en-US" sz="2800" b="1" dirty="0">
                <a:latin typeface="Times New Roman" panose="02020603050405020304" pitchFamily="18" charset="0"/>
                <a:cs typeface="Times New Roman" panose="02020603050405020304" pitchFamily="18" charset="0"/>
              </a:rPr>
              <a:t>如下</a:t>
            </a:r>
            <a:endParaRPr lang="zh-CN" altLang="en-US" sz="2800" b="1" dirty="0">
              <a:latin typeface="Times New Roman" panose="02020603050405020304" pitchFamily="18" charset="0"/>
              <a:cs typeface="Times New Roman" panose="02020603050405020304" pitchFamily="18" charset="0"/>
            </a:endParaRPr>
          </a:p>
          <a:p>
            <a:pPr marL="914400" lvl="2" indent="0">
              <a:buNone/>
              <a:defRPr/>
            </a:pP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E</a:t>
            </a:r>
            <a:r>
              <a:rPr lang="en-US" altLang="zh-CN"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dirty="0">
                <a:latin typeface="Times New Roman" panose="02020603050405020304" pitchFamily="18" charset="0"/>
                <a:cs typeface="Times New Roman" panose="02020603050405020304" pitchFamily="18" charset="0"/>
              </a:rPr>
              <a:t> id</a:t>
            </a:r>
            <a:endParaRPr lang="en-US" altLang="zh-CN" sz="28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917294"/>
                <a:ext cx="8229600" cy="4525963"/>
              </a:xfrm>
            </p:spPr>
            <p:txBody>
              <a:bodyPr/>
              <a:lstStyle/>
              <a:p>
                <a:r>
                  <a:rPr lang="zh-CN" altLang="en-US" dirty="0"/>
                  <a:t>简化的算数表达式</a:t>
                </a:r>
                <a:endParaRPr lang="en-US" altLang="zh-CN" dirty="0"/>
              </a:p>
              <a:p>
                <a:pPr lvl="1"/>
                <a:r>
                  <a:rPr lang="zh-CN" altLang="en-US" dirty="0"/>
                  <a:t>两个变元</a:t>
                </a:r>
                <a:r>
                  <a:rPr lang="en-AU" altLang="zh-CN" dirty="0"/>
                  <a:t>: </a:t>
                </a:r>
                <a:endParaRPr lang="en-AU" altLang="zh-CN" dirty="0"/>
              </a:p>
              <a:p>
                <a:pPr lvl="2"/>
                <a:r>
                  <a:rPr lang="zh-CN" altLang="en-US" dirty="0"/>
                  <a:t>带有“加”和“乘”</a:t>
                </a:r>
                <a14:m>
                  <m:oMath xmlns:m="http://schemas.openxmlformats.org/officeDocument/2006/math">
                    <m:r>
                      <a:rPr lang="en-US" altLang="zh-CN" i="1" dirty="0" smtClean="0">
                        <a:latin typeface="Cambria Math" panose="02040503050406030204" pitchFamily="18" charset="0"/>
                      </a:rPr>
                      <m:t>(+, ∗)</m:t>
                    </m:r>
                  </m:oMath>
                </a14:m>
                <a:r>
                  <a:rPr lang="zh-CN" altLang="en-US" dirty="0"/>
                  <a:t>的表达式本身</a:t>
                </a:r>
                <a:endParaRPr lang="en-US" altLang="zh-CN" dirty="0"/>
              </a:p>
              <a:p>
                <a:pPr lvl="2"/>
                <a:r>
                  <a:rPr lang="zh-CN" altLang="en-US" dirty="0"/>
                  <a:t>标识符</a:t>
                </a:r>
                <a:r>
                  <a:rPr lang="en-US" altLang="zh-CN" dirty="0"/>
                  <a:t>:</a:t>
                </a:r>
                <a:r>
                  <a:rPr lang="zh-CN" altLang="en-US" dirty="0"/>
                  <a:t>以 </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oMath>
                </a14:m>
                <a:r>
                  <a:rPr lang="zh-CN" altLang="en-US" dirty="0"/>
                  <a:t>开头</a:t>
                </a:r>
                <a:r>
                  <a:rPr lang="en-AU" altLang="zh-CN" dirty="0"/>
                  <a:t>,</a:t>
                </a:r>
                <a:r>
                  <a:rPr lang="zh-CN" altLang="en-US" dirty="0"/>
                  <a:t>由</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0</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 </m:t>
                    </m:r>
                  </m:oMath>
                </a14:m>
                <a:r>
                  <a:rPr lang="zh-CN" altLang="en-US" dirty="0"/>
                  <a:t>组成的字符串</a:t>
                </a:r>
                <a:endParaRPr lang="en-AU" altLang="zh-CN" dirty="0"/>
              </a:p>
              <a:p>
                <a:pPr lvl="1"/>
                <a:r>
                  <a:rPr lang="zh-CN" altLang="en-US" dirty="0"/>
                  <a:t>用文法</a:t>
                </a:r>
                <a14:m>
                  <m:oMath xmlns:m="http://schemas.openxmlformats.org/officeDocument/2006/math">
                    <m:sSub>
                      <m:sSubPr>
                        <m:ctrlPr>
                          <a:rPr lang="en-US" altLang="zh-CN" b="0"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zh-CN" altLang="en-US" dirty="0"/>
                  <a:t>表示</a:t>
                </a:r>
                <a:r>
                  <a:rPr lang="en-AU" altLang="zh-CN"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𝐺</m:t>
                        </m:r>
                      </m:e>
                      <m:sub>
                        <m:r>
                          <a:rPr lang="en-AU" altLang="zh-CN" i="1">
                            <a:latin typeface="Cambria Math" panose="02040503050406030204" pitchFamily="18" charset="0"/>
                          </a:rPr>
                          <m:t>𝑒𝑥𝑝</m:t>
                        </m:r>
                      </m:sub>
                    </m:sSub>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𝐸</m:t>
                        </m:r>
                        <m:r>
                          <a:rPr lang="en-AU" altLang="zh-CN" b="0" i="1" smtClean="0">
                            <a:latin typeface="Cambria Math" panose="02040503050406030204" pitchFamily="18" charset="0"/>
                          </a:rPr>
                          <m:t>,</m:t>
                        </m:r>
                        <m:r>
                          <a:rPr lang="en-AU" altLang="zh-CN" b="0" i="1" smtClean="0">
                            <a:latin typeface="Cambria Math" panose="02040503050406030204" pitchFamily="18" charset="0"/>
                          </a:rPr>
                          <m:t>𝐼</m:t>
                        </m:r>
                      </m:e>
                    </m:d>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𝑎</m:t>
                        </m:r>
                        <m:r>
                          <a:rPr lang="en-AU" altLang="zh-CN" b="0" i="1" smtClean="0">
                            <a:latin typeface="Cambria Math" panose="02040503050406030204" pitchFamily="18" charset="0"/>
                          </a:rPr>
                          <m:t>,</m:t>
                        </m:r>
                        <m:r>
                          <a:rPr lang="en-AU" altLang="zh-CN" b="0" i="1" smtClean="0">
                            <a:latin typeface="Cambria Math" panose="02040503050406030204" pitchFamily="18" charset="0"/>
                          </a:rPr>
                          <m:t>𝑏</m:t>
                        </m:r>
                        <m:r>
                          <a:rPr lang="en-AU" altLang="zh-CN" b="0" i="1" smtClean="0">
                            <a:latin typeface="Cambria Math" panose="02040503050406030204" pitchFamily="18" charset="0"/>
                          </a:rPr>
                          <m:t>,</m:t>
                        </m:r>
                        <m:r>
                          <a:rPr lang="en-AU" altLang="zh-CN" b="0" i="1" smtClean="0">
                            <a:latin typeface="Cambria Math" panose="02040503050406030204" pitchFamily="18" charset="0"/>
                          </a:rPr>
                          <m:t>0</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r>
                          <a:rPr lang="en-AU" altLang="zh-CN" b="0" i="1" smtClean="0">
                            <a:latin typeface="Cambria Math" panose="02040503050406030204" pitchFamily="18" charset="0"/>
                          </a:rPr>
                          <m:t>,+,∗,</m:t>
                        </m:r>
                        <m:d>
                          <m:dPr>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m:t>
                            </m:r>
                          </m:e>
                        </m:d>
                      </m:e>
                    </m:d>
                    <m:r>
                      <a:rPr lang="en-AU" altLang="zh-CN" b="0" i="1" smtClean="0">
                        <a:latin typeface="Cambria Math" panose="02040503050406030204" pitchFamily="18" charset="0"/>
                      </a:rPr>
                      <m:t>,</m:t>
                    </m:r>
                    <m:r>
                      <a:rPr lang="en-AU" altLang="zh-CN" b="0" i="1" smtClean="0">
                        <a:latin typeface="Cambria Math" panose="02040503050406030204" pitchFamily="18" charset="0"/>
                      </a:rPr>
                      <m:t>𝑃</m:t>
                    </m:r>
                    <m:r>
                      <a:rPr lang="en-AU" altLang="zh-CN" b="0" i="1" smtClean="0">
                        <a:latin typeface="Cambria Math" panose="02040503050406030204" pitchFamily="18" charset="0"/>
                      </a:rPr>
                      <m:t>,</m:t>
                    </m:r>
                    <m:r>
                      <a:rPr lang="en-AU" altLang="zh-CN" b="0" i="1" smtClean="0">
                        <a:latin typeface="Cambria Math" panose="02040503050406030204" pitchFamily="18" charset="0"/>
                      </a:rPr>
                      <m:t>𝐸</m:t>
                    </m:r>
                    <m:r>
                      <a:rPr lang="en-AU" altLang="zh-CN" b="0" i="1" smtClean="0">
                        <a:latin typeface="Cambria Math" panose="02040503050406030204" pitchFamily="18" charset="0"/>
                      </a:rPr>
                      <m:t>)</m:t>
                    </m:r>
                  </m:oMath>
                </a14:m>
                <a:r>
                  <a:rPr lang="en-AU" altLang="zh-CN" dirty="0"/>
                  <a:t>,</a:t>
                </a:r>
                <a:r>
                  <a:rPr lang="zh-CN" altLang="en-US" dirty="0"/>
                  <a:t>其中产生式集</a:t>
                </a:r>
                <a14:m>
                  <m:oMath xmlns:m="http://schemas.openxmlformats.org/officeDocument/2006/math">
                    <m:r>
                      <a:rPr lang="en-US" altLang="zh-CN" i="1" dirty="0" smtClean="0">
                        <a:latin typeface="Cambria Math" panose="02040503050406030204" pitchFamily="18" charset="0"/>
                      </a:rPr>
                      <m:t>𝑃</m:t>
                    </m:r>
                  </m:oMath>
                </a14:m>
                <a:r>
                  <a:rPr lang="zh-CN" altLang="en-US" dirty="0"/>
                  <a:t>中有</a:t>
                </a:r>
                <a:r>
                  <a:rPr lang="en-US" altLang="zh-CN" dirty="0">
                    <a:latin typeface="Times New Roman" panose="02020603050405020304" pitchFamily="18" charset="0"/>
                    <a:cs typeface="Times New Roman" panose="02020603050405020304" pitchFamily="18" charset="0"/>
                  </a:rPr>
                  <a:t>10</a:t>
                </a:r>
                <a:r>
                  <a:rPr lang="zh-CN" altLang="en-US" dirty="0"/>
                  <a:t>条产生式。 </a:t>
                </a:r>
                <a:br>
                  <a:rPr lang="zh-CN" altLang="en-US" dirty="0"/>
                </a:b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917294"/>
                <a:ext cx="8229600" cy="4525963"/>
              </a:xfrm>
              <a:blipFill rotWithShape="1">
                <a:blip r:embed="rId1"/>
                <a:stretch>
                  <a:fillRect t="-8" b="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5" name="TextBox 4"/>
              <p:cNvSpPr txBox="1"/>
              <p:nvPr/>
            </p:nvSpPr>
            <p:spPr>
              <a:xfrm>
                <a:off x="1970184" y="4029074"/>
                <a:ext cx="2410251" cy="1938992"/>
              </a:xfrm>
              <a:prstGeom prst="rect">
                <a:avLst/>
              </a:prstGeom>
              <a:noFill/>
            </p:spPr>
            <p:txBody>
              <a:bodyPr wrap="square" rtlCol="0">
                <a:spAutoFit/>
              </a:bodyPr>
              <a:lstStyle/>
              <a:p>
                <a:r>
                  <a:rPr lang="en-AU" sz="2400" b="0" dirty="0"/>
                  <a:t>1.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endParaRPr lang="en-AU" sz="2400" dirty="0"/>
              </a:p>
              <a:p>
                <a:r>
                  <a:rPr lang="en-AU" sz="2400" b="0" dirty="0"/>
                  <a:t>2.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dirty="0"/>
              </a:p>
              <a:p>
                <a:r>
                  <a:rPr lang="en-AU" sz="2400" b="0" dirty="0"/>
                  <a:t>3.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b="0" dirty="0">
                  <a:ea typeface="Cambria Math" panose="02040503050406030204" pitchFamily="18" charset="0"/>
                </a:endParaRPr>
              </a:p>
              <a:p>
                <a:r>
                  <a:rPr lang="en-AU" sz="2400" b="0" dirty="0"/>
                  <a:t>4.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oMath>
                </a14:m>
                <a:endParaRPr lang="en-AU" sz="2400" dirty="0"/>
              </a:p>
              <a:p>
                <a:endParaRPr lang="en-AU" sz="2400" dirty="0"/>
              </a:p>
            </p:txBody>
          </p:sp>
        </mc:Choice>
        <mc:Fallback>
          <p:sp>
            <p:nvSpPr>
              <p:cNvPr id="5" name="TextBox 4"/>
              <p:cNvSpPr txBox="1">
                <a:spLocks noRot="1" noChangeAspect="1" noMove="1" noResize="1" noEditPoints="1" noAdjustHandles="1" noChangeArrowheads="1" noChangeShapeType="1" noTextEdit="1"/>
              </p:cNvSpPr>
              <p:nvPr/>
            </p:nvSpPr>
            <p:spPr>
              <a:xfrm>
                <a:off x="1970184" y="4029074"/>
                <a:ext cx="2410251" cy="1938992"/>
              </a:xfrm>
              <a:prstGeom prst="rect">
                <a:avLst/>
              </a:prstGeom>
              <a:blipFill rotWithShape="1">
                <a:blip r:embed="rId2"/>
                <a:stretch>
                  <a:fillRect l="-17" t="-33" r="9"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044327" y="4029074"/>
                <a:ext cx="1804035" cy="2308324"/>
              </a:xfrm>
              <a:prstGeom prst="rect">
                <a:avLst/>
              </a:prstGeom>
              <a:noFill/>
            </p:spPr>
            <p:txBody>
              <a:bodyPr wrap="square">
                <a:spAutoFit/>
              </a:bodyPr>
              <a:lstStyle/>
              <a:p>
                <a:r>
                  <a:rPr lang="en-AU" sz="2400" b="0" dirty="0">
                    <a:ea typeface="Cambria Math" panose="02040503050406030204" pitchFamily="18" charset="0"/>
                  </a:rPr>
                  <a:t>5.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a14:m>
                <a:endParaRPr lang="en-AU" sz="2400" dirty="0"/>
              </a:p>
              <a:p>
                <a:r>
                  <a:rPr lang="en-AU" sz="2400" b="0" dirty="0">
                    <a:ea typeface="Cambria Math" panose="02040503050406030204" pitchFamily="18" charset="0"/>
                  </a:rPr>
                  <a:t>6.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a14:m>
                <a:endParaRPr lang="en-AU" sz="2400" dirty="0"/>
              </a:p>
              <a:p>
                <a:r>
                  <a:rPr lang="en-AU" sz="2400" b="0" dirty="0">
                    <a:ea typeface="Cambria Math" panose="02040503050406030204" pitchFamily="18" charset="0"/>
                  </a:rPr>
                  <a:t>7.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a14:m>
                <a:endParaRPr lang="en-AU" sz="2400" dirty="0"/>
              </a:p>
              <a:p>
                <a:r>
                  <a:rPr lang="en-AU" sz="2400" b="0" dirty="0">
                    <a:ea typeface="Cambria Math" panose="02040503050406030204" pitchFamily="18" charset="0"/>
                  </a:rPr>
                  <a:t>8.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a14:m>
                <a:endParaRPr lang="en-AU" sz="2400" dirty="0"/>
              </a:p>
              <a:p>
                <a:r>
                  <a:rPr lang="en-AU" sz="2400" b="0" dirty="0">
                    <a:ea typeface="Cambria Math" panose="02040503050406030204" pitchFamily="18" charset="0"/>
                  </a:rPr>
                  <a:t>9.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a14:m>
                <a:endParaRPr lang="en-AU" sz="2400" dirty="0"/>
              </a:p>
              <a:p>
                <a:r>
                  <a:rPr lang="en-AU" sz="2400" b="0" dirty="0">
                    <a:ea typeface="Cambria Math" panose="02040503050406030204" pitchFamily="18" charset="0"/>
                  </a:rPr>
                  <a:t>10.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5044327" y="4029074"/>
                <a:ext cx="1804035" cy="2308324"/>
              </a:xfrm>
              <a:prstGeom prst="rect">
                <a:avLst/>
              </a:prstGeom>
              <a:blipFill rotWithShape="1">
                <a:blip r:embed="rId3"/>
                <a:stretch>
                  <a:fillRect l="-29" t="-27" r="29" b="4"/>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p:sp>
        <p:nvSpPr>
          <p:cNvPr id="7" name="文本框 6"/>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pPr marL="0" lvl="1">
              <a:lnSpc>
                <a:spcPct val="90000"/>
              </a:lnSpc>
              <a:defRPr/>
            </a:pPr>
            <a:r>
              <a:rPr lang="zh-CN" altLang="en-US" sz="3200" b="1" dirty="0">
                <a:latin typeface="黑体" panose="02010609060101010101" pitchFamily="49" charset="-122"/>
                <a:ea typeface="黑体" panose="02010609060101010101" pitchFamily="49" charset="-122"/>
              </a:rPr>
              <a:t>构造非正则语言</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{0</a:t>
            </a:r>
            <a:r>
              <a:rPr lang="pt-BR" altLang="zh-CN" sz="3200" b="1" i="1" baseline="30000"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1</a:t>
            </a:r>
            <a:r>
              <a:rPr lang="pt-BR" altLang="zh-CN" sz="3200" b="1" i="1" baseline="30000" dirty="0">
                <a:latin typeface="Times New Roman" panose="02020603050405020304" pitchFamily="18" charset="0"/>
                <a:ea typeface="黑体" panose="02010609060101010101" pitchFamily="49" charset="-122"/>
                <a:cs typeface="Times New Roman" panose="02020603050405020304" pitchFamily="18" charset="0"/>
              </a:rPr>
              <a:t>m</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 | </a:t>
            </a:r>
            <a:r>
              <a:rPr lang="pt-BR" altLang="zh-CN" sz="3200" b="1" i="1"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a:rPr>
              <a:t></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sz="3200" b="1" i="1" dirty="0">
                <a:latin typeface="Times New Roman" panose="02020603050405020304" pitchFamily="18" charset="0"/>
                <a:ea typeface="黑体" panose="02010609060101010101" pitchFamily="49" charset="-122"/>
                <a:cs typeface="Times New Roman" panose="02020603050405020304" pitchFamily="18" charset="0"/>
              </a:rPr>
              <a:t>m</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dirty="0">
                <a:latin typeface="黑体" panose="02010609060101010101" pitchFamily="49" charset="-122"/>
                <a:ea typeface="黑体" panose="02010609060101010101" pitchFamily="49" charset="-122"/>
              </a:rPr>
              <a:t>的上下文无关文法：</a:t>
            </a:r>
            <a:endParaRPr lang="en-US" altLang="zh-CN"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文本框 7"/>
          <p:cNvSpPr txBox="1"/>
          <p:nvPr>
            <p:custDataLst>
              <p:tags r:id="rId2"/>
            </p:custDataLst>
          </p:nvPr>
        </p:nvSpPr>
        <p:spPr>
          <a:xfrm>
            <a:off x="1828800" y="2786063"/>
            <a:ext cx="6400800" cy="642938"/>
          </a:xfrm>
          <a:prstGeom prst="rect">
            <a:avLst/>
          </a:prstGeom>
          <a:noFill/>
        </p:spPr>
        <p:txBody>
          <a:bodyPr vert="horz" rtlCol="0" anchor="ctr" anchorCtr="0">
            <a:noAutofit/>
          </a:bodyPr>
          <a:lstStyle/>
          <a:p>
            <a:r>
              <a:rPr lang="pt-BR" altLang="zh-CN" sz="2400" b="1" i="1" dirty="0">
                <a:latin typeface="Times New Roman" panose="02020603050405020304" pitchFamily="18" charset="0"/>
                <a:cs typeface="Times New Roman" panose="02020603050405020304" pitchFamily="18" charset="0"/>
              </a:rPr>
              <a:t>S</a:t>
            </a:r>
            <a:r>
              <a:rPr lang="pt-BR" altLang="zh-CN" sz="2400" b="1" dirty="0">
                <a:latin typeface="Times New Roman" panose="02020603050405020304" pitchFamily="18" charset="0"/>
                <a:cs typeface="Times New Roman" panose="02020603050405020304" pitchFamily="18" charset="0"/>
              </a:rPr>
              <a:t> </a:t>
            </a:r>
            <a:r>
              <a:rPr lang="pt-BR" altLang="zh-CN" sz="2400" b="1" dirty="0">
                <a:latin typeface="Times New Roman" panose="02020603050405020304" pitchFamily="18" charset="0"/>
                <a:cs typeface="Times New Roman" panose="02020603050405020304" pitchFamily="18" charset="0"/>
                <a:sym typeface="Wingdings" panose="05000000000000000000" pitchFamily="2" charset="2"/>
              </a:rPr>
              <a:t></a:t>
            </a:r>
            <a:r>
              <a:rPr lang="pt-BR"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AC</a:t>
            </a:r>
            <a:r>
              <a:rPr lang="pt-BR" altLang="zh-CN" sz="2400" b="1" dirty="0">
                <a:latin typeface="Times New Roman" panose="02020603050405020304" pitchFamily="18" charset="0"/>
                <a:cs typeface="Times New Roman" panose="02020603050405020304" pitchFamily="18" charset="0"/>
              </a:rPr>
              <a:t> | </a:t>
            </a:r>
            <a:r>
              <a:rPr lang="en-US" altLang="zh-CN" sz="2400" b="1" i="1" dirty="0">
                <a:latin typeface="Times New Roman" panose="02020603050405020304" pitchFamily="18" charset="0"/>
                <a:cs typeface="Times New Roman" panose="02020603050405020304" pitchFamily="18" charset="0"/>
              </a:rPr>
              <a:t>CB</a:t>
            </a:r>
            <a:r>
              <a:rPr lang="pt-BR"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C</a:t>
            </a:r>
            <a:r>
              <a:rPr lang="pt-BR" altLang="zh-CN" sz="2400" b="1" dirty="0">
                <a:latin typeface="Times New Roman" panose="02020603050405020304" pitchFamily="18" charset="0"/>
                <a:cs typeface="Times New Roman" panose="02020603050405020304" pitchFamily="18" charset="0"/>
              </a:rPr>
              <a:t> </a:t>
            </a:r>
            <a:r>
              <a:rPr lang="pt-BR" altLang="zh-CN" sz="2400" b="1" dirty="0">
                <a:latin typeface="Times New Roman" panose="02020603050405020304" pitchFamily="18" charset="0"/>
                <a:cs typeface="Times New Roman" panose="02020603050405020304" pitchFamily="18" charset="0"/>
                <a:sym typeface="Wingdings" panose="05000000000000000000" pitchFamily="2" charset="2"/>
              </a:rPr>
              <a:t></a:t>
            </a:r>
            <a:r>
              <a:rPr lang="pt-BR" altLang="zh-CN" sz="2400" b="1" dirty="0">
                <a:latin typeface="Times New Roman" panose="02020603050405020304" pitchFamily="18" charset="0"/>
                <a:cs typeface="Times New Roman" panose="02020603050405020304" pitchFamily="18" charset="0"/>
              </a:rPr>
              <a:t> 0</a:t>
            </a:r>
            <a:r>
              <a:rPr lang="en-US" altLang="zh-CN" sz="2400" b="1" i="1"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1</a:t>
            </a:r>
            <a:r>
              <a:rPr lang="en-US" altLang="zh-CN" sz="2400" b="1" i="1" dirty="0">
                <a:latin typeface="Times New Roman" panose="02020603050405020304" pitchFamily="18" charset="0"/>
                <a:cs typeface="Times New Roman" panose="02020603050405020304" pitchFamily="18" charset="0"/>
                <a:sym typeface="Symbol" panose="05050102010706020507"/>
              </a:rPr>
              <a:t> | </a:t>
            </a:r>
            <a:endParaRPr lang="en-US" altLang="zh-CN" sz="2400" b="1" i="1" dirty="0">
              <a:latin typeface="Times New Roman" panose="02020603050405020304" pitchFamily="18" charset="0"/>
              <a:cs typeface="Times New Roman" panose="02020603050405020304" pitchFamily="18" charset="0"/>
              <a:sym typeface="Symbol" panose="05050102010706020507"/>
            </a:endParaRPr>
          </a:p>
          <a:p>
            <a:r>
              <a:rPr lang="en-US" altLang="zh-CN" sz="2400" b="1" i="1" dirty="0">
                <a:latin typeface="Times New Roman" panose="02020603050405020304" pitchFamily="18" charset="0"/>
                <a:cs typeface="Times New Roman" panose="02020603050405020304" pitchFamily="18" charset="0"/>
                <a:sym typeface="Symbol" panose="05050102010706020507"/>
              </a:rPr>
              <a:t>A</a:t>
            </a:r>
            <a:r>
              <a:rPr lang="en-US" altLang="zh-CN" sz="24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b="1" i="1" dirty="0">
                <a:latin typeface="Times New Roman" panose="02020603050405020304" pitchFamily="18" charset="0"/>
                <a:cs typeface="Times New Roman" panose="02020603050405020304" pitchFamily="18" charset="0"/>
                <a:sym typeface="Wingdings" panose="05000000000000000000" pitchFamily="2" charset="2"/>
              </a:rPr>
              <a:t>A</a:t>
            </a:r>
            <a:r>
              <a:rPr lang="en-US" altLang="zh-CN" sz="2400" b="1" dirty="0">
                <a:latin typeface="Times New Roman" panose="02020603050405020304" pitchFamily="18" charset="0"/>
                <a:cs typeface="Times New Roman" panose="02020603050405020304" pitchFamily="18" charset="0"/>
                <a:sym typeface="Wingdings" panose="05000000000000000000" pitchFamily="2" charset="2"/>
              </a:rPr>
              <a:t>0 | 0</a:t>
            </a:r>
            <a:r>
              <a:rPr lang="zh-CN" altLang="en-US" sz="24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b="1" i="1" dirty="0">
                <a:latin typeface="Times New Roman" panose="02020603050405020304" pitchFamily="18" charset="0"/>
                <a:cs typeface="Times New Roman" panose="02020603050405020304" pitchFamily="18" charset="0"/>
                <a:sym typeface="Wingdings" panose="05000000000000000000" pitchFamily="2" charset="2"/>
              </a:rPr>
              <a:t>B </a:t>
            </a:r>
            <a:r>
              <a:rPr lang="en-US" altLang="zh-CN" sz="2400" b="1" dirty="0">
                <a:latin typeface="Times New Roman" panose="02020603050405020304" pitchFamily="18" charset="0"/>
                <a:cs typeface="Times New Roman" panose="02020603050405020304" pitchFamily="18" charset="0"/>
                <a:sym typeface="Wingdings" panose="05000000000000000000" pitchFamily="2" charset="2"/>
              </a:rPr>
              <a:t> 1</a:t>
            </a:r>
            <a:r>
              <a:rPr lang="en-US" altLang="zh-CN" sz="2400" b="1" i="1" dirty="0">
                <a:latin typeface="Times New Roman" panose="02020603050405020304" pitchFamily="18" charset="0"/>
                <a:cs typeface="Times New Roman" panose="02020603050405020304" pitchFamily="18" charset="0"/>
                <a:sym typeface="Wingdings" panose="05000000000000000000" pitchFamily="2" charset="2"/>
              </a:rPr>
              <a:t>B</a:t>
            </a:r>
            <a:r>
              <a:rPr lang="en-US" altLang="zh-CN" sz="2400" b="1" dirty="0">
                <a:latin typeface="Times New Roman" panose="02020603050405020304" pitchFamily="18" charset="0"/>
                <a:cs typeface="Times New Roman" panose="02020603050405020304" pitchFamily="18" charset="0"/>
                <a:sym typeface="Wingdings" panose="05000000000000000000" pitchFamily="2" charset="2"/>
              </a:rPr>
              <a:t> | 1</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3"/>
            </p:custDataLst>
          </p:nvPr>
        </p:nvSpPr>
        <p:spPr>
          <a:xfrm>
            <a:off x="1828800" y="3643313"/>
            <a:ext cx="6400800" cy="642938"/>
          </a:xfrm>
          <a:prstGeom prst="rect">
            <a:avLst/>
          </a:prstGeom>
          <a:noFill/>
        </p:spPr>
        <p:txBody>
          <a:bodyPr vert="horz" rtlCol="0" anchor="ctr" anchorCtr="0">
            <a:noAutofit/>
          </a:bodyPr>
          <a:lstStyle/>
          <a:p>
            <a:r>
              <a:rPr lang="pt-BR" altLang="zh-CN" sz="2800" b="1" i="1" dirty="0">
                <a:latin typeface="Times New Roman" panose="02020603050405020304" pitchFamily="18" charset="0"/>
                <a:cs typeface="Times New Roman" panose="02020603050405020304" pitchFamily="18" charset="0"/>
              </a:rPr>
              <a:t>S</a:t>
            </a:r>
            <a:r>
              <a:rPr lang="pt-BR" altLang="zh-CN" sz="2800" b="1" dirty="0">
                <a:latin typeface="Times New Roman" panose="02020603050405020304" pitchFamily="18" charset="0"/>
                <a:cs typeface="Times New Roman" panose="02020603050405020304" pitchFamily="18" charset="0"/>
              </a:rPr>
              <a:t> </a:t>
            </a:r>
            <a:r>
              <a:rPr lang="pt-BR" altLang="zh-CN" sz="2800" b="1" dirty="0">
                <a:latin typeface="Times New Roman" panose="02020603050405020304" pitchFamily="18" charset="0"/>
                <a:cs typeface="Times New Roman" panose="02020603050405020304" pitchFamily="18" charset="0"/>
                <a:sym typeface="Wingdings" panose="05000000000000000000" pitchFamily="2" charset="2"/>
              </a:rPr>
              <a:t></a:t>
            </a:r>
            <a:r>
              <a:rPr lang="pt-BR" altLang="zh-CN" sz="2800" b="1" dirty="0">
                <a:latin typeface="Times New Roman" panose="02020603050405020304" pitchFamily="18" charset="0"/>
                <a:cs typeface="Times New Roman" panose="02020603050405020304" pitchFamily="18" charset="0"/>
              </a:rPr>
              <a:t> 0</a:t>
            </a:r>
            <a:r>
              <a:rPr lang="en-US" altLang="zh-CN" sz="2800" b="1" i="1" dirty="0">
                <a:latin typeface="Times New Roman" panose="02020603050405020304" pitchFamily="18" charset="0"/>
                <a:cs typeface="Times New Roman" panose="02020603050405020304" pitchFamily="18" charset="0"/>
              </a:rPr>
              <a:t>S</a:t>
            </a:r>
            <a:r>
              <a:rPr lang="en-US" altLang="zh-CN" sz="2800" b="1" dirty="0">
                <a:latin typeface="Times New Roman" panose="02020603050405020304" pitchFamily="18" charset="0"/>
                <a:cs typeface="Times New Roman" panose="02020603050405020304" pitchFamily="18" charset="0"/>
              </a:rPr>
              <a:t>1</a:t>
            </a:r>
            <a:r>
              <a:rPr lang="pt-BR" altLang="zh-CN" sz="2800" b="1" dirty="0">
                <a:latin typeface="Times New Roman" panose="02020603050405020304" pitchFamily="18" charset="0"/>
                <a:cs typeface="Times New Roman" panose="02020603050405020304" pitchFamily="18" charset="0"/>
              </a:rPr>
              <a:t> |    </a:t>
            </a:r>
            <a:r>
              <a:rPr lang="en-US" altLang="zh-CN" sz="2800" b="1" i="1" dirty="0">
                <a:latin typeface="Times New Roman" panose="02020603050405020304" pitchFamily="18" charset="0"/>
                <a:cs typeface="Times New Roman" panose="02020603050405020304" pitchFamily="18" charset="0"/>
              </a:rPr>
              <a:t>AS</a:t>
            </a:r>
            <a:r>
              <a:rPr lang="en-US" altLang="zh-CN" sz="2800" b="1" dirty="0">
                <a:latin typeface="Times New Roman" panose="02020603050405020304" pitchFamily="18" charset="0"/>
                <a:cs typeface="Times New Roman" panose="02020603050405020304" pitchFamily="18" charset="0"/>
              </a:rPr>
              <a:t> | </a:t>
            </a:r>
            <a:r>
              <a:rPr lang="en-US" altLang="zh-CN" sz="2800" b="1" i="1" dirty="0">
                <a:latin typeface="Times New Roman" panose="02020603050405020304" pitchFamily="18" charset="0"/>
                <a:cs typeface="Times New Roman" panose="02020603050405020304" pitchFamily="18" charset="0"/>
              </a:rPr>
              <a:t>SB</a:t>
            </a:r>
            <a:endParaRPr lang="en-US" altLang="zh-CN" sz="2800" b="1" i="1" dirty="0">
              <a:latin typeface="Times New Roman" panose="02020603050405020304" pitchFamily="18" charset="0"/>
              <a:cs typeface="Times New Roman" panose="02020603050405020304" pitchFamily="18" charset="0"/>
              <a:sym typeface="Symbol" panose="05050102010706020507"/>
            </a:endParaRPr>
          </a:p>
          <a:p>
            <a:r>
              <a:rPr lang="en-US" altLang="zh-CN" sz="2800" b="1" i="1" dirty="0">
                <a:latin typeface="Times New Roman" panose="02020603050405020304" pitchFamily="18" charset="0"/>
                <a:cs typeface="Times New Roman" panose="02020603050405020304" pitchFamily="18" charset="0"/>
                <a:sym typeface="Symbol" panose="05050102010706020507"/>
              </a:rPr>
              <a:t>A</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800" b="1" i="1" dirty="0">
                <a:latin typeface="Times New Roman" panose="02020603050405020304" pitchFamily="18" charset="0"/>
                <a:cs typeface="Times New Roman" panose="02020603050405020304" pitchFamily="18" charset="0"/>
                <a:sym typeface="Wingdings" panose="05000000000000000000" pitchFamily="2" charset="2"/>
              </a:rPr>
              <a:t>A</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0 | 0</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800" b="1" i="1" dirty="0">
                <a:latin typeface="Times New Roman" panose="02020603050405020304" pitchFamily="18" charset="0"/>
                <a:cs typeface="Times New Roman" panose="02020603050405020304" pitchFamily="18" charset="0"/>
                <a:sym typeface="Wingdings" panose="05000000000000000000" pitchFamily="2" charset="2"/>
              </a:rPr>
              <a:t>B </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 1</a:t>
            </a:r>
            <a:r>
              <a:rPr lang="en-US" altLang="zh-CN" sz="2800" b="1" i="1" dirty="0">
                <a:latin typeface="Times New Roman" panose="02020603050405020304" pitchFamily="18" charset="0"/>
                <a:cs typeface="Times New Roman" panose="02020603050405020304" pitchFamily="18" charset="0"/>
                <a:sym typeface="Wingdings" panose="05000000000000000000" pitchFamily="2" charset="2"/>
              </a:rPr>
              <a:t>B</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 | 1</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4"/>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5"/>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6"/>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1" name="组合 20"/>
          <p:cNvGrpSpPr/>
          <p:nvPr>
            <p:custDataLst>
              <p:tags r:id="rId7"/>
            </p:custDataLst>
          </p:nvPr>
        </p:nvGrpSpPr>
        <p:grpSpPr>
          <a:xfrm>
            <a:off x="0" y="0"/>
            <a:ext cx="9144000" cy="635000"/>
            <a:chOff x="0" y="0"/>
            <a:chExt cx="9144000" cy="635000"/>
          </a:xfrm>
        </p:grpSpPr>
        <p:sp>
          <p:nvSpPr>
            <p:cNvPr id="17" name="TitleBackground"/>
            <p:cNvSpPr/>
            <p:nvPr>
              <p:custDataLst>
                <p:tags r:id="rId8"/>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9"/>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11"/>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4"/>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p:sp>
        <p:nvSpPr>
          <p:cNvPr id="7" name="文本框 6"/>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pPr marL="0" lvl="1">
              <a:lnSpc>
                <a:spcPct val="90000"/>
              </a:lnSpc>
              <a:defRPr/>
            </a:pPr>
            <a:r>
              <a:rPr lang="zh-CN" altLang="en-US" sz="3200" b="1" dirty="0">
                <a:latin typeface="黑体" panose="02010609060101010101" pitchFamily="49" charset="-122"/>
                <a:ea typeface="黑体" panose="02010609060101010101" pitchFamily="49" charset="-122"/>
              </a:rPr>
              <a:t>构造非正则语言</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{0</a:t>
            </a:r>
            <a:r>
              <a:rPr lang="pt-BR" altLang="zh-CN" sz="3200" b="1" i="1" baseline="30000"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1</a:t>
            </a:r>
            <a:r>
              <a:rPr lang="pt-BR" altLang="zh-CN" sz="3200" b="1" i="1" baseline="30000" dirty="0">
                <a:latin typeface="Times New Roman" panose="02020603050405020304" pitchFamily="18" charset="0"/>
                <a:ea typeface="黑体" panose="02010609060101010101" pitchFamily="49" charset="-122"/>
                <a:cs typeface="Times New Roman" panose="02020603050405020304" pitchFamily="18" charset="0"/>
              </a:rPr>
              <a:t>m</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 | </a:t>
            </a:r>
            <a:r>
              <a:rPr lang="pt-BR" altLang="zh-CN" sz="3200" b="1" i="1"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a:rPr>
              <a:t></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sz="3200" b="1" i="1" dirty="0">
                <a:latin typeface="Times New Roman" panose="02020603050405020304" pitchFamily="18" charset="0"/>
                <a:ea typeface="黑体" panose="02010609060101010101" pitchFamily="49" charset="-122"/>
                <a:cs typeface="Times New Roman" panose="02020603050405020304" pitchFamily="18" charset="0"/>
              </a:rPr>
              <a:t>m</a:t>
            </a:r>
            <a:r>
              <a:rPr lang="pt-BR" altLang="zh-CN" sz="32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dirty="0">
                <a:latin typeface="黑体" panose="02010609060101010101" pitchFamily="49" charset="-122"/>
                <a:ea typeface="黑体" panose="02010609060101010101" pitchFamily="49" charset="-122"/>
              </a:rPr>
              <a:t>的上下文无关文法：</a:t>
            </a:r>
            <a:endParaRPr lang="en-US" altLang="zh-CN" sz="3200"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1" name="组合 20"/>
          <p:cNvGrpSpPr/>
          <p:nvPr>
            <p:custDataLst>
              <p:tags r:id="rId2"/>
            </p:custDataLst>
          </p:nvPr>
        </p:nvGrpSpPr>
        <p:grpSpPr>
          <a:xfrm>
            <a:off x="0" y="0"/>
            <a:ext cx="9144000" cy="635000"/>
            <a:chOff x="0" y="0"/>
            <a:chExt cx="9144000" cy="635000"/>
          </a:xfrm>
        </p:grpSpPr>
        <p:sp>
          <p:nvSpPr>
            <p:cNvPr id="17" name="TitleBackground"/>
            <p:cNvSpPr/>
            <p:nvPr>
              <p:custDataLst>
                <p:tags r:id="rId3"/>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4"/>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5"/>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ipText"/>
            <p:cNvSpPr txBox="1"/>
            <p:nvPr>
              <p:custDataLst>
                <p:tags r:id="rId6"/>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7"/>
            </p:custDataLst>
          </p:nvPr>
        </p:nvPicPr>
        <p:blipFill>
          <a:blip r:embed="rId8">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9"/>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文法示例</a:t>
            </a:r>
            <a:endParaRPr lang="en-AU" dirty="0"/>
          </a:p>
        </p:txBody>
      </p:sp>
      <p:sp>
        <p:nvSpPr>
          <p:cNvPr id="3" name="Content Placeholder 2"/>
          <p:cNvSpPr>
            <a:spLocks noGrp="1"/>
          </p:cNvSpPr>
          <p:nvPr>
            <p:ph idx="1"/>
          </p:nvPr>
        </p:nvSpPr>
        <p:spPr>
          <a:xfrm>
            <a:off x="685800" y="917294"/>
            <a:ext cx="8229600" cy="4525963"/>
          </a:xfrm>
        </p:spPr>
        <p:txBody>
          <a:bodyPr/>
          <a:lstStyle/>
          <a:p>
            <a:pPr marL="342900" lvl="1" indent="-342900">
              <a:lnSpc>
                <a:spcPct val="90000"/>
              </a:lnSpc>
              <a:buFont typeface="Arial" panose="020B0604020202020204" pitchFamily="34" charset="0"/>
              <a:buChar char="•"/>
              <a:defRPr/>
            </a:pPr>
            <a:r>
              <a:rPr lang="zh-CN" altLang="en-US" b="1" dirty="0">
                <a:latin typeface="黑体" panose="02010609060101010101" pitchFamily="49" charset="-122"/>
                <a:ea typeface="黑体" panose="02010609060101010101" pitchFamily="49" charset="-122"/>
              </a:rPr>
              <a:t>非正则语言续：</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{0</a:t>
            </a:r>
            <a:r>
              <a:rPr lang="pt-BR" altLang="zh-CN" b="1" i="1" baseline="30000"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1</a:t>
            </a:r>
            <a:r>
              <a:rPr lang="pt-BR" altLang="zh-CN" b="1" i="1" baseline="30000" dirty="0">
                <a:latin typeface="Times New Roman" panose="02020603050405020304" pitchFamily="18" charset="0"/>
                <a:ea typeface="黑体" panose="02010609060101010101" pitchFamily="49" charset="-122"/>
                <a:cs typeface="Times New Roman" panose="02020603050405020304" pitchFamily="18" charset="0"/>
              </a:rPr>
              <a:t>m</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 | </a:t>
            </a:r>
            <a:r>
              <a:rPr lang="pt-BR" altLang="zh-CN" b="1" i="1"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a:rPr>
              <a:t></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b="1" i="1" dirty="0">
                <a:latin typeface="Times New Roman" panose="02020603050405020304" pitchFamily="18" charset="0"/>
                <a:ea typeface="黑体" panose="02010609060101010101" pitchFamily="49" charset="-122"/>
                <a:cs typeface="Times New Roman" panose="02020603050405020304" pitchFamily="18" charset="0"/>
              </a:rPr>
              <a:t>m</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marL="914400" lvl="2" indent="0">
              <a:buNone/>
              <a:defRPr/>
            </a:pPr>
            <a:r>
              <a:rPr lang="pt-BR" altLang="zh-CN" sz="2800" b="1" i="1" dirty="0">
                <a:latin typeface="Times New Roman" panose="02020603050405020304" pitchFamily="18" charset="0"/>
                <a:cs typeface="Times New Roman" panose="02020603050405020304" pitchFamily="18" charset="0"/>
              </a:rPr>
              <a:t>S</a:t>
            </a:r>
            <a:r>
              <a:rPr lang="pt-BR" altLang="zh-CN" sz="2800" b="1" dirty="0">
                <a:latin typeface="Times New Roman" panose="02020603050405020304" pitchFamily="18" charset="0"/>
                <a:cs typeface="Times New Roman" panose="02020603050405020304" pitchFamily="18" charset="0"/>
              </a:rPr>
              <a:t> </a:t>
            </a:r>
            <a:r>
              <a:rPr lang="pt-BR" altLang="zh-CN" sz="2800" b="1" dirty="0">
                <a:latin typeface="Times New Roman" panose="02020603050405020304" pitchFamily="18" charset="0"/>
                <a:cs typeface="Times New Roman" panose="02020603050405020304" pitchFamily="18" charset="0"/>
                <a:sym typeface="Wingdings" panose="05000000000000000000" pitchFamily="2" charset="2"/>
              </a:rPr>
              <a:t></a:t>
            </a:r>
            <a:r>
              <a:rPr lang="pt-BR"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AC</a:t>
            </a:r>
            <a:r>
              <a:rPr lang="pt-BR" altLang="zh-CN" sz="2800" b="1" dirty="0">
                <a:latin typeface="Times New Roman" panose="02020603050405020304" pitchFamily="18" charset="0"/>
                <a:cs typeface="Times New Roman" panose="02020603050405020304" pitchFamily="18" charset="0"/>
              </a:rPr>
              <a:t> | </a:t>
            </a:r>
            <a:r>
              <a:rPr lang="en-US" altLang="zh-CN" sz="2800" b="1" i="1" dirty="0">
                <a:latin typeface="Times New Roman" panose="02020603050405020304" pitchFamily="18" charset="0"/>
                <a:cs typeface="Times New Roman" panose="02020603050405020304" pitchFamily="18" charset="0"/>
              </a:rPr>
              <a:t>CB</a:t>
            </a:r>
            <a:r>
              <a:rPr lang="pt-BR"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C</a:t>
            </a:r>
            <a:r>
              <a:rPr lang="pt-BR" altLang="zh-CN" sz="2800" b="1" dirty="0">
                <a:latin typeface="Times New Roman" panose="02020603050405020304" pitchFamily="18" charset="0"/>
                <a:cs typeface="Times New Roman" panose="02020603050405020304" pitchFamily="18" charset="0"/>
              </a:rPr>
              <a:t> </a:t>
            </a:r>
            <a:r>
              <a:rPr lang="pt-BR" altLang="zh-CN" sz="2800" b="1" dirty="0">
                <a:latin typeface="Times New Roman" panose="02020603050405020304" pitchFamily="18" charset="0"/>
                <a:cs typeface="Times New Roman" panose="02020603050405020304" pitchFamily="18" charset="0"/>
                <a:sym typeface="Wingdings" panose="05000000000000000000" pitchFamily="2" charset="2"/>
              </a:rPr>
              <a:t></a:t>
            </a:r>
            <a:r>
              <a:rPr lang="pt-BR" altLang="zh-CN" sz="2800" b="1" dirty="0">
                <a:latin typeface="Times New Roman" panose="02020603050405020304" pitchFamily="18" charset="0"/>
                <a:cs typeface="Times New Roman" panose="02020603050405020304" pitchFamily="18" charset="0"/>
              </a:rPr>
              <a:t> 0</a:t>
            </a:r>
            <a:r>
              <a:rPr lang="en-US" altLang="zh-CN" sz="2800" b="1" i="1" dirty="0">
                <a:latin typeface="Times New Roman" panose="02020603050405020304" pitchFamily="18" charset="0"/>
                <a:cs typeface="Times New Roman" panose="02020603050405020304" pitchFamily="18" charset="0"/>
              </a:rPr>
              <a:t>C</a:t>
            </a:r>
            <a:r>
              <a:rPr lang="en-US" altLang="zh-CN" sz="2800" b="1" dirty="0">
                <a:latin typeface="Times New Roman" panose="02020603050405020304" pitchFamily="18" charset="0"/>
                <a:cs typeface="Times New Roman" panose="02020603050405020304" pitchFamily="18" charset="0"/>
              </a:rPr>
              <a:t>1</a:t>
            </a:r>
            <a:r>
              <a:rPr lang="en-US" altLang="zh-CN" sz="2800" b="1" i="1" dirty="0">
                <a:latin typeface="Times New Roman" panose="02020603050405020304" pitchFamily="18" charset="0"/>
                <a:cs typeface="Times New Roman" panose="02020603050405020304" pitchFamily="18" charset="0"/>
                <a:sym typeface="Symbol" panose="05050102010706020507"/>
              </a:rPr>
              <a:t> |  </a:t>
            </a:r>
            <a:r>
              <a:rPr lang="zh-CN" altLang="en-US" sz="2800" b="1" dirty="0">
                <a:latin typeface="Times New Roman" panose="02020603050405020304" pitchFamily="18" charset="0"/>
                <a:cs typeface="Times New Roman" panose="02020603050405020304" pitchFamily="18" charset="0"/>
                <a:sym typeface="Symbol" panose="05050102010706020507"/>
              </a:rPr>
              <a:t>（</a:t>
            </a:r>
            <a:r>
              <a:rPr lang="en-US" altLang="zh-CN" sz="2800" b="1" dirty="0">
                <a:solidFill>
                  <a:srgbClr val="FF0000"/>
                </a:solidFill>
                <a:latin typeface="Times New Roman" panose="02020603050405020304" pitchFamily="18" charset="0"/>
                <a:cs typeface="Times New Roman" panose="02020603050405020304" pitchFamily="18" charset="0"/>
                <a:sym typeface="Symbol" panose="05050102010706020507"/>
              </a:rPr>
              <a:t>{0}</a:t>
            </a:r>
            <a:r>
              <a:rPr lang="en-US" altLang="zh-CN" sz="2800" b="1" i="1" baseline="30000" dirty="0">
                <a:solidFill>
                  <a:srgbClr val="FF0000"/>
                </a:solidFill>
                <a:latin typeface="Times New Roman" panose="02020603050405020304" pitchFamily="18" charset="0"/>
                <a:cs typeface="Times New Roman" panose="02020603050405020304" pitchFamily="18" charset="0"/>
                <a:sym typeface="Symbol" panose="05050102010706020507"/>
              </a:rPr>
              <a:t>k</a:t>
            </a:r>
            <a:r>
              <a:rPr lang="en-US" altLang="zh-CN" sz="2800" b="1" dirty="0">
                <a:solidFill>
                  <a:srgbClr val="FF0000"/>
                </a:solidFill>
                <a:latin typeface="Times New Roman" panose="02020603050405020304" pitchFamily="18" charset="0"/>
                <a:cs typeface="Times New Roman" panose="02020603050405020304" pitchFamily="18" charset="0"/>
                <a:sym typeface="Symbol" panose="05050102010706020507"/>
              </a:rPr>
              <a:t>{1}</a:t>
            </a:r>
            <a:r>
              <a:rPr lang="en-US" altLang="zh-CN" sz="2800" b="1" i="1" baseline="30000" dirty="0">
                <a:solidFill>
                  <a:srgbClr val="FF0000"/>
                </a:solidFill>
                <a:latin typeface="Times New Roman" panose="02020603050405020304" pitchFamily="18" charset="0"/>
                <a:cs typeface="Times New Roman" panose="02020603050405020304" pitchFamily="18" charset="0"/>
                <a:sym typeface="Symbol" panose="05050102010706020507"/>
              </a:rPr>
              <a:t>k</a:t>
            </a:r>
            <a:r>
              <a:rPr lang="en-US" altLang="zh-CN" sz="2800" b="1" dirty="0">
                <a:solidFill>
                  <a:srgbClr val="FF0000"/>
                </a:solidFill>
                <a:latin typeface="Times New Roman" panose="02020603050405020304" pitchFamily="18" charset="0"/>
                <a:cs typeface="Times New Roman" panose="02020603050405020304" pitchFamily="18" charset="0"/>
                <a:sym typeface="Symbol" panose="05050102010706020507"/>
              </a:rPr>
              <a:t> , </a:t>
            </a:r>
            <a:r>
              <a:rPr lang="en-US" altLang="zh-CN" sz="2800" b="1" i="1" dirty="0">
                <a:solidFill>
                  <a:srgbClr val="FF0000"/>
                </a:solidFill>
                <a:latin typeface="Times New Roman" panose="02020603050405020304" pitchFamily="18" charset="0"/>
                <a:cs typeface="Times New Roman" panose="02020603050405020304" pitchFamily="18" charset="0"/>
                <a:sym typeface="Symbol" panose="05050102010706020507"/>
              </a:rPr>
              <a:t>k</a:t>
            </a:r>
            <a:r>
              <a:rPr lang="en-US" altLang="zh-CN" sz="2800" b="1" dirty="0">
                <a:solidFill>
                  <a:srgbClr val="FF0000"/>
                </a:solidFill>
                <a:latin typeface="Times New Roman" panose="02020603050405020304" pitchFamily="18" charset="0"/>
                <a:cs typeface="Times New Roman" panose="02020603050405020304" pitchFamily="18" charset="0"/>
                <a:sym typeface="Symbol" panose="05050102010706020507"/>
              </a:rPr>
              <a:t>0</a:t>
            </a:r>
            <a:r>
              <a:rPr lang="zh-CN" altLang="en-US" sz="2800" b="1" dirty="0">
                <a:latin typeface="Times New Roman" panose="02020603050405020304" pitchFamily="18" charset="0"/>
                <a:cs typeface="Times New Roman" panose="02020603050405020304" pitchFamily="18" charset="0"/>
                <a:sym typeface="Symbol" panose="05050102010706020507"/>
              </a:rPr>
              <a:t>）</a:t>
            </a:r>
            <a:endParaRPr lang="en-US" altLang="zh-CN" sz="2800" b="1" dirty="0">
              <a:latin typeface="Times New Roman" panose="02020603050405020304" pitchFamily="18" charset="0"/>
              <a:cs typeface="Times New Roman" panose="02020603050405020304" pitchFamily="18" charset="0"/>
              <a:sym typeface="Symbol" panose="05050102010706020507"/>
            </a:endParaRPr>
          </a:p>
          <a:p>
            <a:pPr marL="914400" lvl="2" indent="0">
              <a:buNone/>
              <a:defRPr/>
            </a:pPr>
            <a:r>
              <a:rPr lang="en-US" altLang="zh-CN" sz="2800" b="1" i="1" dirty="0">
                <a:latin typeface="Times New Roman" panose="02020603050405020304" pitchFamily="18" charset="0"/>
                <a:cs typeface="Times New Roman" panose="02020603050405020304" pitchFamily="18" charset="0"/>
                <a:sym typeface="Symbol" panose="05050102010706020507"/>
              </a:rPr>
              <a:t>A</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800" b="1" i="1" dirty="0">
                <a:latin typeface="Times New Roman" panose="02020603050405020304" pitchFamily="18" charset="0"/>
                <a:cs typeface="Times New Roman" panose="02020603050405020304" pitchFamily="18" charset="0"/>
                <a:sym typeface="Wingdings" panose="05000000000000000000" pitchFamily="2" charset="2"/>
              </a:rPr>
              <a:t>A</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0 | 0</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{0}</a:t>
            </a:r>
            <a:r>
              <a:rPr lang="en-US" altLang="zh-CN" sz="2800" b="1" baseline="30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i="1" dirty="0">
                <a:latin typeface="Times New Roman" panose="02020603050405020304" pitchFamily="18" charset="0"/>
                <a:cs typeface="Times New Roman" panose="02020603050405020304" pitchFamily="18" charset="0"/>
                <a:sym typeface="Wingdings" panose="05000000000000000000" pitchFamily="2" charset="2"/>
              </a:rPr>
              <a:t>B </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 1</a:t>
            </a:r>
            <a:r>
              <a:rPr lang="en-US" altLang="zh-CN" sz="2800" b="1" i="1" dirty="0">
                <a:latin typeface="Times New Roman" panose="02020603050405020304" pitchFamily="18" charset="0"/>
                <a:cs typeface="Times New Roman" panose="02020603050405020304" pitchFamily="18" charset="0"/>
                <a:sym typeface="Wingdings" panose="05000000000000000000" pitchFamily="2" charset="2"/>
              </a:rPr>
              <a:t>B</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 | 1</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{1}</a:t>
            </a:r>
            <a:r>
              <a:rPr lang="en-US" altLang="zh-CN" sz="2800" b="1" baseline="30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8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685800" y="1187926"/>
            <a:ext cx="8229600" cy="4525963"/>
          </a:xfrm>
        </p:spPr>
        <p:txBody>
          <a:bodyPr/>
          <a:lstStyle/>
          <a:p>
            <a:r>
              <a:rPr lang="zh-CN" altLang="en-US" dirty="0"/>
              <a:t>上下文无关文法</a:t>
            </a:r>
            <a:endParaRPr lang="en-AU" altLang="zh-CN" dirty="0"/>
          </a:p>
          <a:p>
            <a:pPr lvl="1"/>
            <a:r>
              <a:rPr lang="zh-CN" altLang="en-US" dirty="0"/>
              <a:t>形式定义</a:t>
            </a:r>
            <a:endParaRPr lang="en-AU" altLang="zh-CN" dirty="0"/>
          </a:p>
          <a:p>
            <a:pPr lvl="1"/>
            <a:r>
              <a:rPr lang="zh-CN" altLang="en-US" dirty="0">
                <a:solidFill>
                  <a:srgbClr val="FF0000"/>
                </a:solidFill>
              </a:rPr>
              <a:t>归约和派生</a:t>
            </a:r>
            <a:endParaRPr lang="en-AU" altLang="zh-CN" dirty="0">
              <a:solidFill>
                <a:srgbClr val="FF0000"/>
              </a:solidFill>
            </a:endParaRPr>
          </a:p>
          <a:p>
            <a:pPr lvl="1"/>
            <a:r>
              <a:rPr lang="zh-CN" altLang="en-US" dirty="0"/>
              <a:t>最左派生和最右派生</a:t>
            </a:r>
            <a:endParaRPr lang="en-AU" altLang="zh-CN" dirty="0"/>
          </a:p>
          <a:p>
            <a:pPr lvl="1"/>
            <a:r>
              <a:rPr lang="zh-CN" altLang="en-US" dirty="0"/>
              <a:t>文法的语言</a:t>
            </a:r>
            <a:endParaRPr lang="en-AU" altLang="zh-CN" dirty="0"/>
          </a:p>
          <a:p>
            <a:r>
              <a:rPr lang="zh-CN" altLang="en-US" dirty="0">
                <a:solidFill>
                  <a:schemeClr val="bg1">
                    <a:lumMod val="75000"/>
                  </a:schemeClr>
                </a:solidFill>
              </a:rPr>
              <a:t>语法分析树</a:t>
            </a:r>
            <a:endParaRPr lang="en-AU" altLang="zh-CN" dirty="0">
              <a:solidFill>
                <a:schemeClr val="bg1">
                  <a:lumMod val="75000"/>
                </a:schemeClr>
              </a:solidFill>
            </a:endParaRPr>
          </a:p>
          <a:p>
            <a:r>
              <a:rPr lang="zh-CN" altLang="en-US" dirty="0">
                <a:solidFill>
                  <a:schemeClr val="bg1">
                    <a:lumMod val="75000"/>
                  </a:schemeClr>
                </a:solidFill>
              </a:rPr>
              <a:t>文法和语言的歧义性</a:t>
            </a:r>
            <a:endParaRPr lang="en-AU" altLang="zh-CN" dirty="0">
              <a:solidFill>
                <a:schemeClr val="bg1">
                  <a:lumMod val="75000"/>
                </a:schemeClr>
              </a:solidFill>
            </a:endParaRPr>
          </a:p>
          <a:p>
            <a:r>
              <a:rPr lang="zh-CN" altLang="en-US" dirty="0">
                <a:solidFill>
                  <a:schemeClr val="bg1">
                    <a:lumMod val="75000"/>
                  </a:schemeClr>
                </a:solidFill>
              </a:rPr>
              <a:t>文法的化简与范式</a:t>
            </a:r>
            <a:endParaRPr lang="en-AU" altLang="zh-CN" dirty="0">
              <a:solidFill>
                <a:schemeClr val="bg1">
                  <a:lumMod val="7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归约和派生</a:t>
            </a:r>
            <a:endParaRPr lang="en-AU" dirty="0"/>
          </a:p>
        </p:txBody>
      </p:sp>
      <p:sp>
        <p:nvSpPr>
          <p:cNvPr id="3" name="Content Placeholder 2"/>
          <p:cNvSpPr>
            <a:spLocks noGrp="1"/>
          </p:cNvSpPr>
          <p:nvPr>
            <p:ph idx="1"/>
          </p:nvPr>
        </p:nvSpPr>
        <p:spPr>
          <a:xfrm>
            <a:off x="685800" y="1257458"/>
            <a:ext cx="8229600" cy="4525963"/>
          </a:xfrm>
        </p:spPr>
        <p:txBody>
          <a:bodyPr>
            <a:normAutofit fontScale="92500" lnSpcReduction="20000"/>
          </a:bodyPr>
          <a:lstStyle/>
          <a:p>
            <a:r>
              <a:rPr lang="zh-CN" altLang="en-US" dirty="0"/>
              <a:t>非形式定义</a:t>
            </a:r>
            <a:r>
              <a:rPr lang="en-AU" altLang="zh-CN" dirty="0"/>
              <a:t>:</a:t>
            </a:r>
            <a:endParaRPr lang="en-AU" altLang="zh-CN" dirty="0"/>
          </a:p>
          <a:p>
            <a:pPr lvl="1"/>
            <a:r>
              <a:rPr lang="zh-CN" altLang="en-US" dirty="0"/>
              <a:t>从字符串到文法变元的分析过程</a:t>
            </a:r>
            <a:r>
              <a:rPr lang="en-US" altLang="zh-CN" dirty="0"/>
              <a:t>, </a:t>
            </a:r>
            <a:r>
              <a:rPr lang="zh-CN" altLang="en-US" dirty="0"/>
              <a:t>称为归约</a:t>
            </a:r>
            <a:r>
              <a:rPr lang="en-AU" altLang="zh-CN" dirty="0"/>
              <a:t>(</a:t>
            </a:r>
            <a:r>
              <a:rPr lang="en-AU" altLang="zh-CN" dirty="0">
                <a:latin typeface="Times New Roman" panose="02020603050405020304" pitchFamily="18" charset="0"/>
                <a:cs typeface="Times New Roman" panose="02020603050405020304" pitchFamily="18" charset="0"/>
              </a:rPr>
              <a:t>reduction</a:t>
            </a:r>
            <a:r>
              <a:rPr lang="en-AU" altLang="zh-CN" dirty="0"/>
              <a:t>)</a:t>
            </a:r>
            <a:r>
              <a:rPr lang="en-US" altLang="zh-CN" dirty="0"/>
              <a:t>;</a:t>
            </a:r>
            <a:endParaRPr lang="en-US" altLang="zh-CN" dirty="0"/>
          </a:p>
          <a:p>
            <a:pPr lvl="1"/>
            <a:r>
              <a:rPr lang="zh-CN" altLang="en-US" dirty="0"/>
              <a:t>从文法变元到字符串的分析过程</a:t>
            </a:r>
            <a:r>
              <a:rPr lang="en-US" altLang="zh-CN" dirty="0"/>
              <a:t>, </a:t>
            </a:r>
            <a:r>
              <a:rPr lang="zh-CN" altLang="en-US" dirty="0"/>
              <a:t>称为派生</a:t>
            </a:r>
            <a:r>
              <a:rPr lang="en-AU" altLang="zh-CN" dirty="0"/>
              <a:t>(</a:t>
            </a:r>
            <a:r>
              <a:rPr lang="en-AU" altLang="zh-CN" dirty="0">
                <a:latin typeface="Times New Roman" panose="02020603050405020304" pitchFamily="18" charset="0"/>
                <a:cs typeface="Times New Roman" panose="02020603050405020304" pitchFamily="18" charset="0"/>
              </a:rPr>
              <a:t>derivation</a:t>
            </a:r>
            <a:r>
              <a:rPr lang="en-AU" altLang="zh-CN" dirty="0"/>
              <a:t>)</a:t>
            </a:r>
            <a:r>
              <a:rPr lang="zh-CN" altLang="en-US" dirty="0"/>
              <a:t>。</a:t>
            </a:r>
            <a:endParaRPr lang="en-AU" altLang="zh-CN" dirty="0"/>
          </a:p>
          <a:p>
            <a:pPr lvl="1"/>
            <a:endParaRPr lang="en-AU" dirty="0"/>
          </a:p>
          <a:p>
            <a:pPr lvl="1"/>
            <a:endParaRPr lang="en-AU" dirty="0"/>
          </a:p>
          <a:p>
            <a:pPr lvl="1"/>
            <a:endParaRPr lang="en-AU" dirty="0"/>
          </a:p>
          <a:p>
            <a:pPr lvl="1"/>
            <a:endParaRPr lang="en-AU" dirty="0"/>
          </a:p>
          <a:p>
            <a:r>
              <a:rPr lang="zh-CN" altLang="en-US" dirty="0"/>
              <a:t>归约</a:t>
            </a:r>
            <a:r>
              <a:rPr lang="en-US" altLang="zh-CN" dirty="0"/>
              <a:t>: </a:t>
            </a:r>
            <a:r>
              <a:rPr lang="zh-CN" altLang="en-US" dirty="0"/>
              <a:t>自底向上</a:t>
            </a:r>
            <a:r>
              <a:rPr lang="en-US" altLang="zh-CN" dirty="0"/>
              <a:t>, </a:t>
            </a:r>
            <a:r>
              <a:rPr lang="zh-CN" altLang="en-US" dirty="0"/>
              <a:t>由产生式的体向头的分析</a:t>
            </a:r>
            <a:endParaRPr lang="zh-CN" altLang="en-US" dirty="0"/>
          </a:p>
          <a:p>
            <a:r>
              <a:rPr lang="zh-CN" altLang="en-US" dirty="0"/>
              <a:t>派生</a:t>
            </a:r>
            <a:r>
              <a:rPr lang="en-US" altLang="zh-CN" dirty="0"/>
              <a:t>: </a:t>
            </a:r>
            <a:r>
              <a:rPr lang="zh-CN" altLang="en-US" dirty="0"/>
              <a:t>自顶向下</a:t>
            </a:r>
            <a:r>
              <a:rPr lang="en-US" altLang="zh-CN" dirty="0"/>
              <a:t>, </a:t>
            </a:r>
            <a:r>
              <a:rPr lang="zh-CN" altLang="en-US" dirty="0"/>
              <a:t>由产生式的头向体分析</a:t>
            </a:r>
            <a:endParaRPr lang="en-AU" dirty="0"/>
          </a:p>
        </p:txBody>
      </p:sp>
      <p:pic>
        <p:nvPicPr>
          <p:cNvPr id="5" name="Picture 4" descr="Text&#10;&#10;Description automatically generated"/>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50041" y="3092177"/>
            <a:ext cx="3308801" cy="1458483"/>
          </a:xfrm>
          <a:prstGeom prst="rect">
            <a:avLst/>
          </a:prstGeom>
        </p:spPr>
      </p:pic>
      <p:sp>
        <p:nvSpPr>
          <p:cNvPr id="4" name="Slide Number Placeholder 3"/>
          <p:cNvSpPr>
            <a:spLocks noGrp="1"/>
          </p:cNvSpPr>
          <p:nvPr>
            <p:ph type="sldNum" sz="quarter" idx="12"/>
          </p:nvPr>
        </p:nvSpPr>
        <p:spPr/>
        <p:txBody>
          <a:bodyPr/>
          <a:lstStyle/>
          <a:p>
            <a:fld id="{0662E1F6-9BD6-474C-A82E-E07C3DB67AAE}" type="slidenum">
              <a:rPr lang="en-AU" smtClean="0"/>
            </a:fld>
            <a:endParaRPr lang="en-A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派生和归约的形式定义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87926"/>
                <a:ext cx="8229600" cy="4525963"/>
              </a:xfrm>
            </p:spPr>
            <p:txBody>
              <a:bodyPr>
                <a:normAutofit lnSpcReduction="10000"/>
              </a:bodyPr>
              <a:lstStyle/>
              <a:p>
                <a:r>
                  <a:rPr lang="zh-CN" altLang="en-US" dirty="0"/>
                  <a:t>定义</a:t>
                </a:r>
                <a:r>
                  <a:rPr lang="en-AU" altLang="zh-CN" dirty="0"/>
                  <a:t>:</a:t>
                </a:r>
                <a:r>
                  <a:rPr lang="zh-CN" altLang="en-US" dirty="0"/>
                  <a:t>若上下文</a:t>
                </a:r>
                <a14:m>
                  <m:oMath xmlns:m="http://schemas.openxmlformats.org/officeDocument/2006/math">
                    <m:r>
                      <a:rPr lang="zh-CN" altLang="en-US" i="1" dirty="0">
                        <a:latin typeface="Cambria Math" panose="02040503050406030204" pitchFamily="18" charset="0"/>
                      </a:rPr>
                      <m:t>无关</m:t>
                    </m:r>
                    <m:r>
                      <a:rPr lang="zh-CN" altLang="en-US" i="1" dirty="0" smtClean="0">
                        <a:latin typeface="Cambria Math" panose="02040503050406030204" pitchFamily="18" charset="0"/>
                      </a:rPr>
                      <m:t>文法</m:t>
                    </m:r>
                    <m:r>
                      <a:rPr lang="en-AU" altLang="zh-CN" b="0" i="1" dirty="0" smtClean="0">
                        <a:latin typeface="Cambria Math" panose="02040503050406030204" pitchFamily="18" charset="0"/>
                      </a:rPr>
                      <m:t> </m:t>
                    </m:r>
                    <m:r>
                      <a:rPr lang="en-AU" i="1" dirty="0" smtClean="0">
                        <a:latin typeface="Cambria Math" panose="02040503050406030204" pitchFamily="18" charset="0"/>
                      </a:rPr>
                      <m:t>𝐺</m:t>
                    </m:r>
                    <m:r>
                      <a:rPr lang="en-AU" i="1" dirty="0" smtClean="0">
                        <a:latin typeface="Cambria Math" panose="02040503050406030204" pitchFamily="18" charset="0"/>
                      </a:rPr>
                      <m:t> = (</m:t>
                    </m:r>
                    <m:r>
                      <a:rPr lang="en-AU" i="1" dirty="0" smtClean="0">
                        <a:latin typeface="Cambria Math" panose="02040503050406030204" pitchFamily="18" charset="0"/>
                      </a:rPr>
                      <m:t>𝑉</m:t>
                    </m:r>
                    <m:r>
                      <a:rPr lang="en-AU" i="1" dirty="0" smtClean="0">
                        <a:latin typeface="Cambria Math" panose="02040503050406030204" pitchFamily="18" charset="0"/>
                      </a:rPr>
                      <m:t>, </m:t>
                    </m:r>
                    <m:r>
                      <a:rPr lang="en-AU" i="1" dirty="0" smtClean="0">
                        <a:latin typeface="Cambria Math" panose="02040503050406030204" pitchFamily="18" charset="0"/>
                      </a:rPr>
                      <m:t>𝑇</m:t>
                    </m:r>
                    <m:r>
                      <a:rPr lang="en-AU" i="1" dirty="0" smtClean="0">
                        <a:latin typeface="Cambria Math" panose="02040503050406030204" pitchFamily="18" charset="0"/>
                      </a:rPr>
                      <m:t>, </m:t>
                    </m:r>
                    <m:r>
                      <a:rPr lang="en-AU" i="1" dirty="0" smtClean="0">
                        <a:latin typeface="Cambria Math" panose="02040503050406030204" pitchFamily="18" charset="0"/>
                      </a:rPr>
                      <m:t>𝑃</m:t>
                    </m:r>
                    <m:r>
                      <a:rPr lang="en-AU" i="1" dirty="0" smtClean="0">
                        <a:latin typeface="Cambria Math" panose="02040503050406030204" pitchFamily="18" charset="0"/>
                      </a:rPr>
                      <m:t>, </m:t>
                    </m:r>
                    <m:r>
                      <a:rPr lang="en-AU" i="1" dirty="0" smtClean="0">
                        <a:latin typeface="Cambria Math" panose="02040503050406030204" pitchFamily="18" charset="0"/>
                      </a:rPr>
                      <m:t>𝑆</m:t>
                    </m:r>
                    <m:r>
                      <a:rPr lang="en-AU" b="1" i="1" dirty="0" smtClean="0">
                        <a:latin typeface="Cambria Math" panose="02040503050406030204" pitchFamily="18" charset="0"/>
                      </a:rPr>
                      <m:t>)</m:t>
                    </m:r>
                  </m:oMath>
                </a14:m>
                <a:r>
                  <a:rPr lang="en-AU" dirty="0"/>
                  <a:t>, </a:t>
                </a:r>
                <a:r>
                  <a:rPr lang="zh-CN" altLang="en-US" dirty="0"/>
                  <a:t>设 </a:t>
                </a:r>
                <a14:m>
                  <m:oMath xmlns:m="http://schemas.openxmlformats.org/officeDocument/2006/math">
                    <m:r>
                      <a:rPr lang="el-GR" i="1" dirty="0" smtClean="0">
                        <a:latin typeface="Cambria Math" panose="02040503050406030204" pitchFamily="18" charset="0"/>
                      </a:rPr>
                      <m:t>𝛼</m:t>
                    </m:r>
                    <m:r>
                      <a:rPr lang="el-GR" i="1" dirty="0" smtClean="0">
                        <a:latin typeface="Cambria Math" panose="02040503050406030204" pitchFamily="18" charset="0"/>
                      </a:rPr>
                      <m:t>, </m:t>
                    </m:r>
                    <m:r>
                      <a:rPr lang="el-GR" i="1" dirty="0" smtClean="0">
                        <a:latin typeface="Cambria Math" panose="02040503050406030204" pitchFamily="18" charset="0"/>
                      </a:rPr>
                      <m:t>𝛽</m:t>
                    </m:r>
                    <m:r>
                      <a:rPr lang="el-GR" i="1" dirty="0" smtClean="0">
                        <a:latin typeface="Cambria Math" panose="02040503050406030204" pitchFamily="18" charset="0"/>
                      </a:rPr>
                      <m:t>, </m:t>
                    </m:r>
                    <m:r>
                      <a:rPr lang="el-GR" i="1" dirty="0" smtClean="0">
                        <a:latin typeface="Cambria Math" panose="02040503050406030204" pitchFamily="18" charset="0"/>
                      </a:rPr>
                      <m:t>𝛾</m:t>
                    </m:r>
                    <m:r>
                      <a:rPr lang="el-GR" i="1" dirty="0" smtClean="0">
                        <a:latin typeface="Cambria Math" panose="02040503050406030204" pitchFamily="18" charset="0"/>
                      </a:rPr>
                      <m:t> ∈ </m:t>
                    </m:r>
                    <m:sSup>
                      <m:sSupPr>
                        <m:ctrlPr>
                          <a:rPr lang="el-GR" i="1" dirty="0" smtClean="0">
                            <a:latin typeface="Cambria Math" panose="02040503050406030204" pitchFamily="18" charset="0"/>
                          </a:rPr>
                        </m:ctrlPr>
                      </m:sSupPr>
                      <m:e>
                        <m:r>
                          <a:rPr lang="el-GR" i="1" dirty="0">
                            <a:latin typeface="Cambria Math" panose="02040503050406030204" pitchFamily="18" charset="0"/>
                          </a:rPr>
                          <m:t>(</m:t>
                        </m:r>
                        <m:r>
                          <a:rPr lang="en-AU" i="1" dirty="0">
                            <a:latin typeface="Cambria Math" panose="02040503050406030204" pitchFamily="18" charset="0"/>
                          </a:rPr>
                          <m:t>𝑉</m:t>
                        </m:r>
                        <m:r>
                          <a:rPr lang="en-AU" i="1" dirty="0">
                            <a:latin typeface="Cambria Math" panose="02040503050406030204" pitchFamily="18" charset="0"/>
                          </a:rPr>
                          <m:t> ∪ </m:t>
                        </m:r>
                        <m:r>
                          <a:rPr lang="en-AU" i="1" dirty="0">
                            <a:latin typeface="Cambria Math" panose="02040503050406030204" pitchFamily="18" charset="0"/>
                          </a:rPr>
                          <m:t>𝑇</m:t>
                        </m:r>
                        <m:r>
                          <a:rPr lang="en-AU" i="1" dirty="0">
                            <a:latin typeface="Cambria Math" panose="02040503050406030204" pitchFamily="18" charset="0"/>
                          </a:rPr>
                          <m:t>)</m:t>
                        </m:r>
                      </m:e>
                      <m:sup>
                        <m:r>
                          <a:rPr lang="en-AU" b="1" i="1" dirty="0" smtClean="0">
                            <a:latin typeface="Cambria Math" panose="02040503050406030204" pitchFamily="18" charset="0"/>
                          </a:rPr>
                          <m:t>∗</m:t>
                        </m:r>
                      </m:sup>
                    </m:sSup>
                  </m:oMath>
                </a14:m>
                <a:r>
                  <a:rPr lang="en-AU" dirty="0"/>
                  <a:t>,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r>
                      <a:rPr lang="en-AU" i="1" dirty="0" smtClean="0">
                        <a:latin typeface="Cambria Math" panose="02040503050406030204" pitchFamily="18" charset="0"/>
                      </a:rPr>
                      <m:t>𝑉</m:t>
                    </m:r>
                    <m:r>
                      <a:rPr lang="en-AU" i="1" dirty="0" smtClean="0">
                        <a:latin typeface="Cambria Math" panose="02040503050406030204" pitchFamily="18" charset="0"/>
                      </a:rPr>
                      <m:t> , </m:t>
                    </m:r>
                    <m:r>
                      <a:rPr lang="en-AU" i="1" dirty="0" smtClean="0">
                        <a:latin typeface="Cambria Math" panose="02040503050406030204" pitchFamily="18" charset="0"/>
                      </a:rPr>
                      <m:t>𝐴</m:t>
                    </m:r>
                    <m:r>
                      <a:rPr lang="en-AU" i="1" dirty="0" smtClean="0">
                        <a:latin typeface="Cambria Math" panose="02040503050406030204" pitchFamily="18" charset="0"/>
                      </a:rPr>
                      <m:t> → </m:t>
                    </m:r>
                    <m:r>
                      <a:rPr lang="el-GR" i="1" dirty="0" smtClean="0">
                        <a:latin typeface="Cambria Math" panose="02040503050406030204" pitchFamily="18" charset="0"/>
                      </a:rPr>
                      <m:t>𝛾</m:t>
                    </m:r>
                    <m:r>
                      <a:rPr lang="el-GR" i="1" dirty="0" smtClean="0">
                        <a:latin typeface="Cambria Math" panose="02040503050406030204" pitchFamily="18" charset="0"/>
                      </a:rPr>
                      <m:t> ∈ </m:t>
                    </m:r>
                    <m:r>
                      <a:rPr lang="en-AU" i="1" dirty="0" smtClean="0">
                        <a:latin typeface="Cambria Math" panose="02040503050406030204" pitchFamily="18" charset="0"/>
                      </a:rPr>
                      <m:t>𝑃</m:t>
                    </m:r>
                  </m:oMath>
                </a14:m>
                <a:r>
                  <a:rPr lang="en-AU" dirty="0"/>
                  <a:t>, </a:t>
                </a:r>
                <a:r>
                  <a:rPr lang="zh-CN" altLang="en-US" dirty="0"/>
                  <a:t>那么称在</a:t>
                </a:r>
                <a14:m>
                  <m:oMath xmlns:m="http://schemas.openxmlformats.org/officeDocument/2006/math">
                    <m:r>
                      <a:rPr lang="en-AU" i="1" dirty="0" smtClean="0">
                        <a:latin typeface="Cambria Math" panose="02040503050406030204" pitchFamily="18" charset="0"/>
                      </a:rPr>
                      <m:t>𝐺</m:t>
                    </m:r>
                  </m:oMath>
                </a14:m>
                <a:r>
                  <a:rPr lang="zh-CN" altLang="en-US" dirty="0"/>
                  <a:t>中由 </a:t>
                </a:r>
                <a14:m>
                  <m:oMath xmlns:m="http://schemas.openxmlformats.org/officeDocument/2006/math">
                    <m:r>
                      <a:rPr lang="el-GR" i="1" dirty="0" smtClean="0">
                        <a:latin typeface="Cambria Math" panose="02040503050406030204" pitchFamily="18" charset="0"/>
                      </a:rPr>
                      <m:t>𝛼</m:t>
                    </m:r>
                    <m:r>
                      <a:rPr lang="en-AU" i="1" dirty="0" smtClean="0">
                        <a:latin typeface="Cambria Math" panose="02040503050406030204" pitchFamily="18" charset="0"/>
                      </a:rPr>
                      <m:t>𝐴</m:t>
                    </m:r>
                    <m:r>
                      <a:rPr lang="el-GR" i="1" dirty="0" smtClean="0">
                        <a:latin typeface="Cambria Math" panose="02040503050406030204" pitchFamily="18" charset="0"/>
                      </a:rPr>
                      <m:t>𝛽</m:t>
                    </m:r>
                  </m:oMath>
                </a14:m>
                <a:r>
                  <a:rPr lang="el-GR" dirty="0"/>
                  <a:t> </a:t>
                </a:r>
                <a:r>
                  <a:rPr lang="zh-CN" altLang="en-US" dirty="0"/>
                  <a:t>可派生出 </a:t>
                </a:r>
                <a14:m>
                  <m:oMath xmlns:m="http://schemas.openxmlformats.org/officeDocument/2006/math">
                    <m:r>
                      <a:rPr lang="el-GR" i="1" dirty="0" smtClean="0">
                        <a:latin typeface="Cambria Math" panose="02040503050406030204" pitchFamily="18" charset="0"/>
                      </a:rPr>
                      <m:t>𝛼𝛾𝛽</m:t>
                    </m:r>
                  </m:oMath>
                </a14:m>
                <a:r>
                  <a:rPr lang="el-GR" dirty="0"/>
                  <a:t>, </a:t>
                </a:r>
                <a:r>
                  <a:rPr lang="zh-CN" altLang="en-US" dirty="0"/>
                  <a:t>记为</a:t>
                </a:r>
                <a:endParaRPr lang="zh-CN" altLang="en-US" dirty="0"/>
              </a:p>
              <a:p>
                <a:pPr marL="0" indent="0">
                  <a:buNone/>
                </a:pPr>
                <a:r>
                  <a:rPr lang="en-AU" dirty="0"/>
                  <a:t>                </a:t>
                </a:r>
                <a14:m>
                  <m:oMath xmlns:m="http://schemas.openxmlformats.org/officeDocument/2006/math">
                    <m:r>
                      <a:rPr lang="el-GR" i="1" dirty="0" smtClean="0">
                        <a:latin typeface="Cambria Math" panose="02040503050406030204" pitchFamily="18" charset="0"/>
                      </a:rPr>
                      <m:t>𝛼</m:t>
                    </m:r>
                    <m:r>
                      <a:rPr lang="en-AU" i="1" dirty="0" smtClean="0">
                        <a:latin typeface="Cambria Math" panose="02040503050406030204" pitchFamily="18" charset="0"/>
                      </a:rPr>
                      <m:t>𝐴</m:t>
                    </m:r>
                    <m:r>
                      <a:rPr lang="el-GR" i="1" dirty="0" smtClean="0">
                        <a:latin typeface="Cambria Math" panose="02040503050406030204" pitchFamily="18" charset="0"/>
                      </a:rPr>
                      <m:t>𝛽</m:t>
                    </m:r>
                    <m:groupChr>
                      <m:groupChrPr>
                        <m:chr m:val="⇒"/>
                        <m:pos m:val="top"/>
                        <m:ctrlPr>
                          <a:rPr lang="el-GR" b="0" i="1" dirty="0" smtClean="0">
                            <a:latin typeface="Cambria Math" panose="02040503050406030204" pitchFamily="18" charset="0"/>
                          </a:rPr>
                        </m:ctrlPr>
                      </m:groupChrPr>
                      <m:e>
                        <m:r>
                          <m:rPr>
                            <m:brk m:alnAt="1"/>
                          </m:rPr>
                          <a:rPr lang="en-AU" b="0" i="1" dirty="0" smtClean="0">
                            <a:latin typeface="Cambria Math" panose="02040503050406030204" pitchFamily="18" charset="0"/>
                          </a:rPr>
                          <m:t>𝐺</m:t>
                        </m:r>
                      </m:e>
                    </m:groupChr>
                    <m:r>
                      <a:rPr lang="el-GR" b="0" i="1" dirty="0" smtClean="0">
                        <a:latin typeface="Cambria Math" panose="02040503050406030204" pitchFamily="18" charset="0"/>
                      </a:rPr>
                      <m:t> </m:t>
                    </m:r>
                    <m:r>
                      <a:rPr lang="el-GR" i="1" dirty="0" smtClean="0">
                        <a:latin typeface="Cambria Math" panose="02040503050406030204" pitchFamily="18" charset="0"/>
                      </a:rPr>
                      <m:t>𝛼𝛾𝛽</m:t>
                    </m:r>
                  </m:oMath>
                </a14:m>
                <a:r>
                  <a:rPr lang="el-GR" dirty="0"/>
                  <a:t>.</a:t>
                </a:r>
                <a:endParaRPr lang="el-GR" dirty="0"/>
              </a:p>
              <a:p>
                <a:r>
                  <a:rPr lang="zh-CN" altLang="en-US" dirty="0"/>
                  <a:t>相应的</a:t>
                </a:r>
                <a:r>
                  <a:rPr lang="en-US" altLang="zh-CN" dirty="0"/>
                  <a:t>, </a:t>
                </a:r>
                <a:r>
                  <a:rPr lang="zh-CN" altLang="en-US" dirty="0"/>
                  <a:t>称 </a:t>
                </a:r>
                <a14:m>
                  <m:oMath xmlns:m="http://schemas.openxmlformats.org/officeDocument/2006/math">
                    <m:r>
                      <a:rPr lang="el-GR" i="1" dirty="0" smtClean="0">
                        <a:latin typeface="Cambria Math" panose="02040503050406030204" pitchFamily="18" charset="0"/>
                      </a:rPr>
                      <m:t>𝛼𝛾𝛽</m:t>
                    </m:r>
                  </m:oMath>
                </a14:m>
                <a:r>
                  <a:rPr lang="el-GR" dirty="0"/>
                  <a:t> </a:t>
                </a:r>
                <a:r>
                  <a:rPr lang="zh-CN" altLang="en-US" dirty="0"/>
                  <a:t>可</a:t>
                </a:r>
                <a:r>
                  <a:rPr lang="zh-CN" altLang="en-US" dirty="0">
                    <a:solidFill>
                      <a:schemeClr val="accent1"/>
                    </a:solidFill>
                  </a:rPr>
                  <a:t>归约</a:t>
                </a:r>
                <a:r>
                  <a:rPr lang="zh-CN" altLang="en-US" dirty="0"/>
                  <a:t>为</a:t>
                </a:r>
                <a14:m>
                  <m:oMath xmlns:m="http://schemas.openxmlformats.org/officeDocument/2006/math">
                    <m:r>
                      <a:rPr lang="el-GR" i="1" dirty="0" smtClean="0">
                        <a:latin typeface="Cambria Math" panose="02040503050406030204" pitchFamily="18" charset="0"/>
                      </a:rPr>
                      <m:t>𝛼</m:t>
                    </m:r>
                    <m:r>
                      <a:rPr lang="en-AU" i="1" dirty="0" smtClean="0">
                        <a:latin typeface="Cambria Math" panose="02040503050406030204" pitchFamily="18" charset="0"/>
                      </a:rPr>
                      <m:t>𝐴</m:t>
                    </m:r>
                    <m:r>
                      <a:rPr lang="el-GR" i="1" dirty="0" smtClean="0">
                        <a:latin typeface="Cambria Math" panose="02040503050406030204" pitchFamily="18" charset="0"/>
                      </a:rPr>
                      <m:t>𝛽</m:t>
                    </m:r>
                  </m:oMath>
                </a14:m>
                <a:r>
                  <a:rPr lang="el-GR" dirty="0"/>
                  <a:t>.</a:t>
                </a:r>
                <a:endParaRPr lang="en-AU" i="1" dirty="0">
                  <a:latin typeface="Cambria Math" panose="02040503050406030204" pitchFamily="18" charset="0"/>
                </a:endParaRPr>
              </a:p>
              <a:p>
                <a:r>
                  <a:rPr lang="zh-CN" altLang="en-US" dirty="0"/>
                  <a:t>派生</a:t>
                </a:r>
                <a14:m>
                  <m:oMath xmlns:m="http://schemas.openxmlformats.org/officeDocument/2006/math">
                    <m:r>
                      <a:rPr lang="el-GR" i="1" dirty="0" smtClean="0">
                        <a:latin typeface="Cambria Math" panose="02040503050406030204" pitchFamily="18" charset="0"/>
                      </a:rPr>
                      <m:t>𝛼</m:t>
                    </m:r>
                    <m:r>
                      <a:rPr lang="en-AU" i="1" dirty="0" smtClean="0">
                        <a:latin typeface="Cambria Math" panose="02040503050406030204" pitchFamily="18" charset="0"/>
                      </a:rPr>
                      <m:t>𝐴</m:t>
                    </m:r>
                    <m:r>
                      <a:rPr lang="el-GR" i="1" dirty="0" smtClean="0">
                        <a:latin typeface="Cambria Math" panose="02040503050406030204" pitchFamily="18" charset="0"/>
                      </a:rPr>
                      <m:t>𝛽</m:t>
                    </m:r>
                    <m:groupChr>
                      <m:groupChrPr>
                        <m:chr m:val="⇒"/>
                        <m:pos m:val="top"/>
                        <m:ctrlPr>
                          <a:rPr lang="el-GR" i="1" dirty="0">
                            <a:latin typeface="Cambria Math" panose="02040503050406030204" pitchFamily="18" charset="0"/>
                          </a:rPr>
                        </m:ctrlPr>
                      </m:groupChrPr>
                      <m:e>
                        <m:r>
                          <m:rPr>
                            <m:brk m:alnAt="1"/>
                          </m:rPr>
                          <a:rPr lang="en-AU" i="1" dirty="0">
                            <a:latin typeface="Cambria Math" panose="02040503050406030204" pitchFamily="18" charset="0"/>
                          </a:rPr>
                          <m:t>𝐺</m:t>
                        </m:r>
                      </m:e>
                    </m:groupChr>
                    <m:r>
                      <a:rPr lang="el-GR" i="1" dirty="0" smtClean="0">
                        <a:latin typeface="Cambria Math" panose="02040503050406030204" pitchFamily="18" charset="0"/>
                      </a:rPr>
                      <m:t>𝛼𝛾𝛽</m:t>
                    </m:r>
                  </m:oMath>
                </a14:m>
                <a:r>
                  <a:rPr lang="zh-CN" altLang="en-US" dirty="0"/>
                  <a:t>，即是用产生式</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m:t>
                    </m:r>
                    <m:r>
                      <a:rPr lang="el-GR" i="1" dirty="0" smtClean="0">
                        <a:latin typeface="Cambria Math" panose="02040503050406030204" pitchFamily="18" charset="0"/>
                      </a:rPr>
                      <m:t>𝛾</m:t>
                    </m:r>
                    <m:r>
                      <a:rPr lang="el-GR" i="1" dirty="0" smtClean="0">
                        <a:latin typeface="Cambria Math" panose="02040503050406030204" pitchFamily="18" charset="0"/>
                      </a:rPr>
                      <m:t> </m:t>
                    </m:r>
                  </m:oMath>
                </a14:m>
                <a:r>
                  <a:rPr lang="zh-CN" altLang="en-US" dirty="0"/>
                  <a:t>的右部</a:t>
                </a:r>
                <a14:m>
                  <m:oMath xmlns:m="http://schemas.openxmlformats.org/officeDocument/2006/math">
                    <m:r>
                      <a:rPr lang="el-GR" i="1" dirty="0" smtClean="0">
                        <a:latin typeface="Cambria Math" panose="02040503050406030204" pitchFamily="18" charset="0"/>
                      </a:rPr>
                      <m:t>𝛾</m:t>
                    </m:r>
                  </m:oMath>
                </a14:m>
                <a:r>
                  <a:rPr lang="zh-CN" altLang="en-US" dirty="0"/>
                  <a:t>替换串</a:t>
                </a:r>
                <a14:m>
                  <m:oMath xmlns:m="http://schemas.openxmlformats.org/officeDocument/2006/math">
                    <m:r>
                      <a:rPr lang="el-GR" i="1" dirty="0" smtClean="0">
                        <a:latin typeface="Cambria Math" panose="02040503050406030204" pitchFamily="18" charset="0"/>
                      </a:rPr>
                      <m:t>𝛼</m:t>
                    </m:r>
                    <m:r>
                      <a:rPr lang="en-AU" i="1" dirty="0" smtClean="0">
                        <a:latin typeface="Cambria Math" panose="02040503050406030204" pitchFamily="18" charset="0"/>
                      </a:rPr>
                      <m:t>𝐴</m:t>
                    </m:r>
                    <m:r>
                      <a:rPr lang="el-GR" i="1" dirty="0" smtClean="0">
                        <a:latin typeface="Cambria Math" panose="02040503050406030204" pitchFamily="18" charset="0"/>
                      </a:rPr>
                      <m:t>𝛽</m:t>
                    </m:r>
                  </m:oMath>
                </a14:m>
                <a:r>
                  <a:rPr lang="zh-CN" altLang="en-US" dirty="0"/>
                  <a:t>中变元</a:t>
                </a:r>
                <a14:m>
                  <m:oMath xmlns:m="http://schemas.openxmlformats.org/officeDocument/2006/math">
                    <m:r>
                      <a:rPr lang="en-AU" i="1" dirty="0" smtClean="0">
                        <a:latin typeface="Cambria Math" panose="02040503050406030204" pitchFamily="18" charset="0"/>
                      </a:rPr>
                      <m:t>𝐴</m:t>
                    </m:r>
                  </m:oMath>
                </a14:m>
                <a:r>
                  <a:rPr lang="zh-CN" altLang="en-US" dirty="0"/>
                  <a:t>得到串</a:t>
                </a:r>
                <a14:m>
                  <m:oMath xmlns:m="http://schemas.openxmlformats.org/officeDocument/2006/math">
                    <m:r>
                      <a:rPr lang="el-GR" i="1" dirty="0" smtClean="0">
                        <a:latin typeface="Cambria Math" panose="02040503050406030204" pitchFamily="18" charset="0"/>
                      </a:rPr>
                      <m:t>𝛼𝛾𝛽</m:t>
                    </m:r>
                  </m:oMath>
                </a14:m>
                <a:r>
                  <a:rPr lang="zh-CN" altLang="en-US" dirty="0"/>
                  <a:t>的过程。</a:t>
                </a:r>
                <a:endParaRPr lang="en-AU" dirty="0"/>
              </a:p>
              <a:p>
                <a:r>
                  <a:rPr lang="zh-CN" altLang="en-US" dirty="0"/>
                  <a:t>如果语境中 </a:t>
                </a:r>
                <a14:m>
                  <m:oMath xmlns:m="http://schemas.openxmlformats.org/officeDocument/2006/math">
                    <m:r>
                      <a:rPr lang="en-AU" i="1" dirty="0" smtClean="0">
                        <a:latin typeface="Cambria Math" panose="02040503050406030204" pitchFamily="18" charset="0"/>
                      </a:rPr>
                      <m:t>𝐺</m:t>
                    </m:r>
                    <m:r>
                      <a:rPr lang="en-AU" i="1" dirty="0" smtClean="0">
                        <a:latin typeface="Cambria Math" panose="02040503050406030204" pitchFamily="18" charset="0"/>
                      </a:rPr>
                      <m:t> </m:t>
                    </m:r>
                  </m:oMath>
                </a14:m>
                <a:r>
                  <a:rPr lang="zh-CN" altLang="en-US" dirty="0"/>
                  <a:t>是已知的</a:t>
                </a:r>
                <a:r>
                  <a:rPr lang="en-US" altLang="zh-CN" dirty="0"/>
                  <a:t>, </a:t>
                </a:r>
                <a:r>
                  <a:rPr lang="zh-CN" altLang="en-US" dirty="0"/>
                  <a:t>可省略</a:t>
                </a:r>
                <a:r>
                  <a:rPr lang="en-US" altLang="zh-CN" dirty="0"/>
                  <a:t>, </a:t>
                </a:r>
                <a:r>
                  <a:rPr lang="zh-CN" altLang="en-US" dirty="0"/>
                  <a:t>记为</a:t>
                </a:r>
                <a14:m>
                  <m:oMath xmlns:m="http://schemas.openxmlformats.org/officeDocument/2006/math">
                    <m:r>
                      <a:rPr lang="el-GR" i="1" dirty="0" smtClean="0">
                        <a:latin typeface="Cambria Math" panose="02040503050406030204" pitchFamily="18" charset="0"/>
                      </a:rPr>
                      <m:t>𝛼</m:t>
                    </m:r>
                    <m:r>
                      <a:rPr lang="en-AU" i="1" dirty="0" smtClean="0">
                        <a:latin typeface="Cambria Math" panose="02040503050406030204" pitchFamily="18" charset="0"/>
                      </a:rPr>
                      <m:t>𝐴</m:t>
                    </m:r>
                    <m:r>
                      <a:rPr lang="el-GR" i="1" dirty="0" smtClean="0">
                        <a:latin typeface="Cambria Math" panose="02040503050406030204" pitchFamily="18" charset="0"/>
                      </a:rPr>
                      <m:t>𝛽</m:t>
                    </m:r>
                    <m:r>
                      <a:rPr lang="el-GR" i="1" dirty="0" smtClean="0">
                        <a:latin typeface="Cambria Math" panose="02040503050406030204" pitchFamily="18" charset="0"/>
                      </a:rPr>
                      <m:t> ⇒ </m:t>
                    </m:r>
                    <m:r>
                      <a:rPr lang="el-GR" i="1" dirty="0" smtClean="0">
                        <a:latin typeface="Cambria Math" panose="02040503050406030204" pitchFamily="18" charset="0"/>
                      </a:rPr>
                      <m:t>𝛼𝛾𝛽</m:t>
                    </m:r>
                  </m:oMath>
                </a14:m>
                <a:endParaRPr lang="en-AU"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87926"/>
                <a:ext cx="8229600" cy="4525963"/>
              </a:xfrm>
              <a:blipFill rotWithShape="1">
                <a:blip r:embed="rId1"/>
                <a:stretch>
                  <a:fillRect t="-11" b="-123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派生和归约的形式定义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191458"/>
                <a:ext cx="8229600" cy="4525963"/>
              </a:xfrm>
            </p:spPr>
            <p:txBody>
              <a:bodyPr/>
              <a:lstStyle/>
              <a:p>
                <a:r>
                  <a:rPr lang="zh-CN" altLang="en-US" dirty="0"/>
                  <a:t>设</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𝛼</m:t>
                        </m:r>
                      </m:e>
                      <m:sub>
                        <m:r>
                          <a:rPr lang="en-AU" altLang="zh-CN" b="0" i="1" smtClean="0">
                            <a:latin typeface="Cambria Math" panose="02040503050406030204" pitchFamily="18" charset="0"/>
                          </a:rPr>
                          <m:t>1</m:t>
                        </m:r>
                      </m:sub>
                    </m:sSub>
                    <m:r>
                      <a:rPr lang="en-AU" altLang="zh-CN" b="0" i="1" smtClean="0">
                        <a:latin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𝛼</m:t>
                        </m:r>
                      </m:e>
                      <m:sub>
                        <m:r>
                          <a:rPr lang="en-AU" altLang="zh-CN" b="0" i="1" smtClean="0">
                            <a:latin typeface="Cambria Math" panose="02040503050406030204" pitchFamily="18" charset="0"/>
                          </a:rPr>
                          <m:t>𝑚</m:t>
                        </m:r>
                      </m:sub>
                    </m:sSub>
                    <m:r>
                      <a:rPr lang="el-GR" i="1" dirty="0">
                        <a:latin typeface="Cambria Math" panose="02040503050406030204" pitchFamily="18" charset="0"/>
                      </a:rPr>
                      <m:t>∈ </m:t>
                    </m:r>
                    <m:sSup>
                      <m:sSupPr>
                        <m:ctrlPr>
                          <a:rPr lang="el-GR" i="1" dirty="0">
                            <a:latin typeface="Cambria Math" panose="02040503050406030204" pitchFamily="18" charset="0"/>
                          </a:rPr>
                        </m:ctrlPr>
                      </m:sSupPr>
                      <m:e>
                        <m:d>
                          <m:dPr>
                            <m:ctrlPr>
                              <a:rPr lang="el-GR" i="1" dirty="0">
                                <a:latin typeface="Cambria Math" panose="02040503050406030204" pitchFamily="18" charset="0"/>
                              </a:rPr>
                            </m:ctrlPr>
                          </m:dPr>
                          <m:e>
                            <m:r>
                              <a:rPr lang="en-AU" i="1" dirty="0">
                                <a:latin typeface="Cambria Math" panose="02040503050406030204" pitchFamily="18" charset="0"/>
                              </a:rPr>
                              <m:t>𝑉</m:t>
                            </m:r>
                            <m:r>
                              <a:rPr lang="en-AU" i="1" dirty="0">
                                <a:latin typeface="Cambria Math" panose="02040503050406030204" pitchFamily="18" charset="0"/>
                              </a:rPr>
                              <m:t> ∪ </m:t>
                            </m:r>
                            <m:r>
                              <a:rPr lang="en-AU" i="1" dirty="0">
                                <a:latin typeface="Cambria Math" panose="02040503050406030204" pitchFamily="18" charset="0"/>
                              </a:rPr>
                              <m:t>𝑇</m:t>
                            </m:r>
                          </m:e>
                        </m:d>
                      </m:e>
                      <m:sup>
                        <m:r>
                          <a:rPr lang="en-AU" b="1" i="1" dirty="0">
                            <a:latin typeface="Cambria Math" panose="02040503050406030204" pitchFamily="18" charset="0"/>
                          </a:rPr>
                          <m:t>∗</m:t>
                        </m:r>
                      </m:sup>
                    </m:sSup>
                  </m:oMath>
                </a14:m>
                <a:r>
                  <a:rPr lang="en-AU" dirty="0"/>
                  <a:t>, </a:t>
                </a:r>
                <a14:m>
                  <m:oMath xmlns:m="http://schemas.openxmlformats.org/officeDocument/2006/math">
                    <m:r>
                      <a:rPr lang="en-AU" b="0" i="1" smtClean="0">
                        <a:latin typeface="Cambria Math" panose="02040503050406030204" pitchFamily="18" charset="0"/>
                      </a:rPr>
                      <m:t>𝑚</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1</m:t>
                    </m:r>
                  </m:oMath>
                </a14:m>
                <a:r>
                  <a:rPr lang="zh-CN" altLang="en-US" dirty="0"/>
                  <a:t>，对</a:t>
                </a:r>
                <a14:m>
                  <m:oMath xmlns:m="http://schemas.openxmlformats.org/officeDocument/2006/math">
                    <m: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r>
                      <a:rPr lang="en-AU" altLang="zh-CN" b="0" i="1" smtClean="0">
                        <a:latin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𝑚</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1</m:t>
                    </m:r>
                  </m:oMath>
                </a14:m>
                <a:r>
                  <a:rPr lang="en-AU" dirty="0"/>
                  <a:t>,</a:t>
                </a:r>
                <a:r>
                  <a:rPr lang="zh-CN" altLang="en-US" dirty="0"/>
                  <a:t>如果有</a:t>
                </a:r>
                <a:endParaRPr lang="en-AU"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𝛼</m:t>
                          </m:r>
                        </m:e>
                        <m:sub>
                          <m:r>
                            <a:rPr lang="en-AU" altLang="zh-CN" b="0" i="1" smtClean="0">
                              <a:latin typeface="Cambria Math" panose="02040503050406030204" pitchFamily="18" charset="0"/>
                            </a:rPr>
                            <m:t>𝑖</m:t>
                          </m:r>
                        </m:sub>
                      </m:sSub>
                      <m:groupChr>
                        <m:groupChrPr>
                          <m:chr m:val="⇒"/>
                          <m:pos m:val="top"/>
                          <m:ctrlPr>
                            <a:rPr lang="el-GR" i="1" dirty="0" smtClean="0">
                              <a:latin typeface="Cambria Math" panose="02040503050406030204" pitchFamily="18" charset="0"/>
                            </a:rPr>
                          </m:ctrlPr>
                        </m:groupChrPr>
                        <m:e>
                          <m:r>
                            <m:rPr>
                              <m:brk m:alnAt="1"/>
                            </m:rPr>
                            <a:rPr lang="en-AU" i="1" dirty="0">
                              <a:latin typeface="Cambria Math" panose="02040503050406030204" pitchFamily="18" charset="0"/>
                            </a:rPr>
                            <m:t>𝐺</m:t>
                          </m:r>
                        </m:e>
                      </m:groupChr>
                      <m:sSub>
                        <m:sSubPr>
                          <m:ctrlPr>
                            <a:rPr lang="en-US" altLang="zh-CN" i="1">
                              <a:latin typeface="Cambria Math" panose="02040503050406030204" pitchFamily="18" charset="0"/>
                            </a:rPr>
                          </m:ctrlPr>
                        </m:sSubPr>
                        <m:e>
                          <m:r>
                            <a:rPr lang="zh-CN" altLang="en-US" i="1">
                              <a:latin typeface="Cambria Math" panose="02040503050406030204" pitchFamily="18" charset="0"/>
                            </a:rPr>
                            <m:t>𝛼</m:t>
                          </m:r>
                        </m:e>
                        <m:sub>
                          <m:r>
                            <a:rPr lang="en-AU" altLang="zh-CN" i="1">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oMath>
                  </m:oMathPara>
                </a14:m>
                <a:endParaRPr lang="en-AU" dirty="0"/>
              </a:p>
              <a:p>
                <a:pPr marL="0" indent="0">
                  <a:buNone/>
                </a:pPr>
                <a:r>
                  <a:rPr lang="zh-CN" altLang="en-US" dirty="0"/>
                  <a:t>成立，即</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𝛼</m:t>
                        </m:r>
                      </m:e>
                      <m:sub>
                        <m:r>
                          <a:rPr lang="en-AU" altLang="zh-CN" b="0" i="1" smtClean="0">
                            <a:latin typeface="Cambria Math" panose="02040503050406030204" pitchFamily="18" charset="0"/>
                          </a:rPr>
                          <m:t>1</m:t>
                        </m:r>
                      </m:sub>
                    </m:sSub>
                  </m:oMath>
                </a14:m>
                <a:r>
                  <a:rPr lang="zh-CN" altLang="en-US" dirty="0"/>
                  <a:t>通过零步或者多步派生可得到</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𝛼</m:t>
                        </m:r>
                      </m:e>
                      <m:sub>
                        <m:r>
                          <a:rPr lang="en-AU" altLang="zh-CN" i="1">
                            <a:latin typeface="Cambria Math" panose="02040503050406030204" pitchFamily="18" charset="0"/>
                          </a:rPr>
                          <m:t>𝑚</m:t>
                        </m:r>
                      </m:sub>
                    </m:sSub>
                  </m:oMath>
                </a14:m>
                <a:endParaRPr lang="en-AU"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a:latin typeface="Cambria Math" panose="02040503050406030204" pitchFamily="18" charset="0"/>
                            </a:rPr>
                            <m:t>𝛼</m:t>
                          </m:r>
                        </m:e>
                        <m:sub>
                          <m:r>
                            <a:rPr lang="en-AU" altLang="zh-CN" b="0" i="1" smtClean="0">
                              <a:latin typeface="Cambria Math" panose="02040503050406030204" pitchFamily="18" charset="0"/>
                            </a:rPr>
                            <m:t>1</m:t>
                          </m:r>
                        </m:sub>
                      </m:sSub>
                      <m:groupChr>
                        <m:groupChrPr>
                          <m:chr m:val="⇒"/>
                          <m:pos m:val="top"/>
                          <m:ctrlPr>
                            <a:rPr lang="el-GR" i="1" dirty="0" smtClean="0">
                              <a:latin typeface="Cambria Math" panose="02040503050406030204" pitchFamily="18" charset="0"/>
                            </a:rPr>
                          </m:ctrlPr>
                        </m:groupChrPr>
                        <m:e>
                          <m:r>
                            <m:rPr>
                              <m:brk m:alnAt="1"/>
                            </m:rPr>
                            <a:rPr lang="en-AU" i="1" dirty="0">
                              <a:latin typeface="Cambria Math" panose="02040503050406030204" pitchFamily="18" charset="0"/>
                            </a:rPr>
                            <m:t>𝐺</m:t>
                          </m:r>
                        </m:e>
                      </m:groupChr>
                      <m:sSub>
                        <m:sSubPr>
                          <m:ctrlPr>
                            <a:rPr lang="en-US" altLang="zh-CN" i="1">
                              <a:latin typeface="Cambria Math" panose="02040503050406030204" pitchFamily="18" charset="0"/>
                            </a:rPr>
                          </m:ctrlPr>
                        </m:sSubPr>
                        <m:e>
                          <m:r>
                            <a:rPr lang="zh-CN" altLang="en-US" i="1">
                              <a:latin typeface="Cambria Math" panose="02040503050406030204" pitchFamily="18" charset="0"/>
                            </a:rPr>
                            <m:t>𝛼</m:t>
                          </m:r>
                        </m:e>
                        <m:sub>
                          <m:r>
                            <a:rPr lang="en-AU" altLang="zh-CN" b="0" i="1" smtClean="0">
                              <a:latin typeface="Cambria Math" panose="02040503050406030204" pitchFamily="18" charset="0"/>
                            </a:rPr>
                            <m:t>2</m:t>
                          </m:r>
                        </m:sub>
                      </m:sSub>
                      <m:groupChr>
                        <m:groupChrPr>
                          <m:chr m:val="⇒"/>
                          <m:pos m:val="top"/>
                          <m:ctrlPr>
                            <a:rPr lang="el-GR" i="1" dirty="0">
                              <a:latin typeface="Cambria Math" panose="02040503050406030204" pitchFamily="18" charset="0"/>
                            </a:rPr>
                          </m:ctrlPr>
                        </m:groupChrPr>
                        <m:e>
                          <m:r>
                            <m:rPr>
                              <m:brk m:alnAt="1"/>
                            </m:rPr>
                            <a:rPr lang="en-AU" i="1" dirty="0">
                              <a:latin typeface="Cambria Math" panose="02040503050406030204" pitchFamily="18" charset="0"/>
                            </a:rPr>
                            <m:t>𝐺</m:t>
                          </m:r>
                        </m:e>
                      </m:groupChr>
                      <m:r>
                        <a:rPr lang="en-AU" altLang="zh-CN" i="1">
                          <a:latin typeface="Cambria Math" panose="02040503050406030204" pitchFamily="18" charset="0"/>
                          <a:ea typeface="Cambria Math" panose="02040503050406030204" pitchFamily="18" charset="0"/>
                        </a:rPr>
                        <m:t>⋯</m:t>
                      </m:r>
                      <m:groupChr>
                        <m:groupChrPr>
                          <m:chr m:val="⇒"/>
                          <m:pos m:val="top"/>
                          <m:ctrlPr>
                            <a:rPr lang="el-GR" i="1" dirty="0">
                              <a:latin typeface="Cambria Math" panose="02040503050406030204" pitchFamily="18" charset="0"/>
                            </a:rPr>
                          </m:ctrlPr>
                        </m:groupChrPr>
                        <m:e>
                          <m:r>
                            <m:rPr>
                              <m:brk m:alnAt="1"/>
                            </m:rPr>
                            <a:rPr lang="en-AU" i="1" dirty="0">
                              <a:latin typeface="Cambria Math" panose="02040503050406030204" pitchFamily="18" charset="0"/>
                            </a:rPr>
                            <m:t>𝐺</m:t>
                          </m:r>
                        </m:e>
                      </m:groupChr>
                      <m:sSub>
                        <m:sSubPr>
                          <m:ctrlPr>
                            <a:rPr lang="en-US" altLang="zh-CN" i="1">
                              <a:latin typeface="Cambria Math" panose="02040503050406030204" pitchFamily="18" charset="0"/>
                            </a:rPr>
                          </m:ctrlPr>
                        </m:sSubPr>
                        <m:e>
                          <m:r>
                            <a:rPr lang="zh-CN" altLang="en-US" i="1">
                              <a:latin typeface="Cambria Math" panose="02040503050406030204" pitchFamily="18" charset="0"/>
                            </a:rPr>
                            <m:t>𝛼</m:t>
                          </m:r>
                        </m:e>
                        <m:sub>
                          <m:r>
                            <a:rPr lang="en-AU" altLang="zh-CN" b="0" i="1" smtClean="0">
                              <a:latin typeface="Cambria Math" panose="02040503050406030204" pitchFamily="18" charset="0"/>
                            </a:rPr>
                            <m:t>𝑚</m:t>
                          </m:r>
                        </m:sub>
                      </m:sSub>
                    </m:oMath>
                  </m:oMathPara>
                </a14:m>
                <a:endParaRPr lang="en-AU" dirty="0"/>
              </a:p>
              <a:p>
                <a:pPr marL="0" indent="0">
                  <a:buNone/>
                </a:pPr>
                <a:r>
                  <a:rPr lang="zh-CN" altLang="en-US" dirty="0"/>
                  <a:t>那么记为</a:t>
                </a:r>
                <a14:m>
                  <m:oMath xmlns:m="http://schemas.openxmlformats.org/officeDocument/2006/math">
                    <m:sSub>
                      <m:sSubPr>
                        <m:ctrlPr>
                          <a:rPr lang="en-US" altLang="zh-CN" i="1" smtClean="0">
                            <a:latin typeface="Cambria Math" panose="02040503050406030204" pitchFamily="18" charset="0"/>
                          </a:rPr>
                        </m:ctrlPr>
                      </m:sSubPr>
                      <m:e>
                        <m:r>
                          <a:rPr lang="zh-CN" altLang="en-US" i="1">
                            <a:latin typeface="Cambria Math" panose="02040503050406030204" pitchFamily="18" charset="0"/>
                          </a:rPr>
                          <m:t>𝛼</m:t>
                        </m:r>
                      </m:e>
                      <m:sub>
                        <m:r>
                          <a:rPr lang="en-AU" altLang="zh-CN" b="0" i="1" smtClean="0">
                            <a:latin typeface="Cambria Math" panose="02040503050406030204" pitchFamily="18" charset="0"/>
                          </a:rPr>
                          <m:t>1</m:t>
                        </m:r>
                      </m:sub>
                    </m:sSub>
                    <m:groupChr>
                      <m:groupChrPr>
                        <m:chr m:val="⇒"/>
                        <m:pos m:val="top"/>
                        <m:ctrlPr>
                          <a:rPr lang="el-GR" i="1" dirty="0" smtClean="0">
                            <a:latin typeface="Cambria Math" panose="02040503050406030204" pitchFamily="18" charset="0"/>
                          </a:rPr>
                        </m:ctrlPr>
                      </m:groupChrPr>
                      <m:e>
                        <m:r>
                          <m:rPr>
                            <m:brk m:alnAt="1"/>
                          </m:rPr>
                          <a:rPr lang="en-AU" i="1" dirty="0">
                            <a:latin typeface="Cambria Math" panose="02040503050406030204" pitchFamily="18" charset="0"/>
                          </a:rPr>
                          <m:t>𝐺</m:t>
                        </m:r>
                      </m:e>
                    </m:groupChr>
                    <m:sSub>
                      <m:sSubPr>
                        <m:ctrlPr>
                          <a:rPr lang="en-US" altLang="zh-CN" i="1" smtClean="0">
                            <a:latin typeface="Cambria Math" panose="02040503050406030204" pitchFamily="18" charset="0"/>
                          </a:rPr>
                        </m:ctrlPr>
                      </m:sSubPr>
                      <m:e>
                        <m:r>
                          <a:rPr lang="zh-CN" altLang="en-US" i="1">
                            <a:latin typeface="Cambria Math" panose="02040503050406030204" pitchFamily="18" charset="0"/>
                          </a:rPr>
                          <m:t>𝛼</m:t>
                        </m:r>
                      </m:e>
                      <m:sub>
                        <m:r>
                          <a:rPr lang="en-AU" altLang="zh-CN" b="0" i="1" smtClean="0">
                            <a:latin typeface="Cambria Math" panose="02040503050406030204" pitchFamily="18" charset="0"/>
                          </a:rPr>
                          <m:t>𝑚</m:t>
                        </m:r>
                      </m:sub>
                    </m:sSub>
                  </m:oMath>
                </a14:m>
                <a:r>
                  <a:rPr lang="zh-CN" altLang="en-US" dirty="0"/>
                  <a:t>。</a:t>
                </a:r>
                <a:endParaRPr lang="en-AU" altLang="zh-CN" dirty="0"/>
              </a:p>
              <a:p>
                <a:r>
                  <a:rPr lang="zh-CN" altLang="en-US" dirty="0"/>
                  <a:t>若</a:t>
                </a:r>
                <a14:m>
                  <m:oMath xmlns:m="http://schemas.openxmlformats.org/officeDocument/2006/math">
                    <m:r>
                      <a:rPr lang="zh-CN" altLang="en-US" i="1" smtClean="0">
                        <a:latin typeface="Cambria Math" panose="02040503050406030204" pitchFamily="18" charset="0"/>
                      </a:rPr>
                      <m:t>𝛼</m:t>
                    </m:r>
                  </m:oMath>
                </a14:m>
                <a:r>
                  <a:rPr lang="zh-CN" altLang="en-US" dirty="0"/>
                  <a:t>派生出</a:t>
                </a:r>
                <a14:m>
                  <m:oMath xmlns:m="http://schemas.openxmlformats.org/officeDocument/2006/math">
                    <m:r>
                      <a:rPr lang="zh-CN" altLang="en-US" i="1" smtClean="0">
                        <a:latin typeface="Cambria Math" panose="02040503050406030204" pitchFamily="18" charset="0"/>
                      </a:rPr>
                      <m:t>𝛽</m:t>
                    </m:r>
                  </m:oMath>
                </a14:m>
                <a:r>
                  <a:rPr lang="zh-CN" altLang="en-US" dirty="0"/>
                  <a:t>刚好经过了</a:t>
                </a:r>
                <a14:m>
                  <m:oMath xmlns:m="http://schemas.openxmlformats.org/officeDocument/2006/math">
                    <m:r>
                      <a:rPr lang="en-AU" altLang="zh-CN" b="0" i="1" smtClean="0">
                        <a:latin typeface="Cambria Math" panose="02040503050406030204" pitchFamily="18" charset="0"/>
                      </a:rPr>
                      <m:t>𝑖</m:t>
                    </m:r>
                  </m:oMath>
                </a14:m>
                <a:r>
                  <a:rPr lang="zh-CN" altLang="en-US" dirty="0"/>
                  <a:t>步，可记为</a:t>
                </a:r>
                <a14:m>
                  <m:oMath xmlns:m="http://schemas.openxmlformats.org/officeDocument/2006/math">
                    <m:r>
                      <a:rPr lang="zh-CN" altLang="en-US" i="1">
                        <a:latin typeface="Cambria Math" panose="02040503050406030204" pitchFamily="18" charset="0"/>
                      </a:rPr>
                      <m:t>𝛼</m:t>
                    </m:r>
                    <m:groupChr>
                      <m:groupChrPr>
                        <m:chr m:val="⇒"/>
                        <m:pos m:val="top"/>
                        <m:ctrlPr>
                          <a:rPr lang="el-GR" i="1" dirty="0">
                            <a:latin typeface="Cambria Math" panose="02040503050406030204" pitchFamily="18" charset="0"/>
                          </a:rPr>
                        </m:ctrlPr>
                      </m:groupChrPr>
                      <m:e>
                        <m:r>
                          <m:rPr>
                            <m:brk m:alnAt="1"/>
                          </m:rPr>
                          <a:rPr lang="en-AU" i="1" dirty="0">
                            <a:latin typeface="Cambria Math" panose="02040503050406030204" pitchFamily="18" charset="0"/>
                          </a:rPr>
                          <m:t>𝐺</m:t>
                        </m:r>
                      </m:e>
                    </m:groupChr>
                    <m:r>
                      <a:rPr lang="zh-CN" altLang="en-US" i="1">
                        <a:latin typeface="Cambria Math" panose="02040503050406030204" pitchFamily="18" charset="0"/>
                      </a:rPr>
                      <m:t>𝛽</m:t>
                    </m:r>
                  </m:oMath>
                </a14:m>
                <a:r>
                  <a:rPr lang="zh-CN" altLang="en-US"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191458"/>
                <a:ext cx="8229600" cy="4525963"/>
              </a:xfrm>
              <a:blipFill rotWithShape="1">
                <a:blip r:embed="rId1"/>
                <a:stretch>
                  <a:fillRect t="-4"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TextBox 4"/>
          <p:cNvSpPr txBox="1"/>
          <p:nvPr/>
        </p:nvSpPr>
        <p:spPr>
          <a:xfrm>
            <a:off x="2564042" y="3525126"/>
            <a:ext cx="300082" cy="369332"/>
          </a:xfrm>
          <a:prstGeom prst="rect">
            <a:avLst/>
          </a:prstGeom>
          <a:noFill/>
        </p:spPr>
        <p:txBody>
          <a:bodyPr wrap="none" rtlCol="0">
            <a:spAutoFit/>
          </a:bodyPr>
          <a:lstStyle/>
          <a:p>
            <a:r>
              <a:rPr lang="en-AU" dirty="0"/>
              <a:t>*</a:t>
            </a:r>
            <a:endParaRPr lang="en-AU" dirty="0"/>
          </a:p>
        </p:txBody>
      </p:sp>
      <mc:AlternateContent xmlns:mc="http://schemas.openxmlformats.org/markup-compatibility/2006">
        <mc:Choice xmlns:a14="http://schemas.microsoft.com/office/drawing/2010/main" Requires="a14">
          <p:sp>
            <p:nvSpPr>
              <p:cNvPr id="6" name="TextBox 5"/>
              <p:cNvSpPr txBox="1"/>
              <p:nvPr/>
            </p:nvSpPr>
            <p:spPr>
              <a:xfrm>
                <a:off x="6826250" y="4081145"/>
                <a:ext cx="31861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𝑖</m:t>
                      </m:r>
                    </m:oMath>
                  </m:oMathPara>
                </a14:m>
                <a:endParaRPr lang="en-AU" dirty="0"/>
              </a:p>
            </p:txBody>
          </p:sp>
        </mc:Choice>
        <mc:Fallback>
          <p:sp>
            <p:nvSpPr>
              <p:cNvPr id="6" name="TextBox 5"/>
              <p:cNvSpPr txBox="1">
                <a:spLocks noRot="1" noChangeAspect="1" noMove="1" noResize="1" noEditPoints="1" noAdjustHandles="1" noChangeArrowheads="1" noChangeShapeType="1" noTextEdit="1"/>
              </p:cNvSpPr>
              <p:nvPr/>
            </p:nvSpPr>
            <p:spPr>
              <a:xfrm>
                <a:off x="6826250" y="4081145"/>
                <a:ext cx="318613" cy="369332"/>
              </a:xfrm>
              <a:prstGeom prst="rect">
                <a:avLst/>
              </a:prstGeom>
              <a:blipFill rotWithShape="1">
                <a:blip r:embed="rId2"/>
                <a:stretch>
                  <a:fillRect r="150" b="107"/>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归约和派生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96097" y="1044615"/>
                <a:ext cx="8229600" cy="4525963"/>
              </a:xfrm>
            </p:spPr>
            <p:txBody>
              <a:bodyPr/>
              <a:lstStyle/>
              <a:p>
                <a:r>
                  <a:rPr lang="zh-CN" altLang="en-US" dirty="0"/>
                  <a:t>用算数表达式文法</a:t>
                </a:r>
                <a14:m>
                  <m:oMath xmlns:m="http://schemas.openxmlformats.org/officeDocument/2006/math">
                    <m:sSub>
                      <m:sSubPr>
                        <m:ctrlPr>
                          <a:rPr lang="en-US" altLang="zh-CN" b="0"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en-AU" dirty="0"/>
                  <a:t>, </a:t>
                </a:r>
                <a:r>
                  <a:rPr lang="zh-CN" altLang="en-US" dirty="0"/>
                  <a:t>将 </a:t>
                </a:r>
                <a14:m>
                  <m:oMath xmlns:m="http://schemas.openxmlformats.org/officeDocument/2006/math">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𝑏</m:t>
                    </m:r>
                    <m:r>
                      <a:rPr lang="en-AU" i="1" dirty="0" smtClean="0">
                        <a:latin typeface="Cambria Math" panose="02040503050406030204" pitchFamily="18" charset="0"/>
                      </a:rPr>
                      <m:t>00</m:t>
                    </m:r>
                    <m:r>
                      <a:rPr lang="en-AU" i="1" dirty="0" smtClean="0">
                        <a:latin typeface="Cambria Math" panose="02040503050406030204" pitchFamily="18" charset="0"/>
                      </a:rPr>
                      <m:t>) </m:t>
                    </m:r>
                  </m:oMath>
                </a14:m>
                <a:r>
                  <a:rPr lang="zh-CN" altLang="en-US" dirty="0"/>
                  <a:t>归约的过程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96097" y="1044615"/>
                <a:ext cx="8229600" cy="4525963"/>
              </a:xfrm>
              <a:blipFill rotWithShape="1">
                <a:blip r:embed="rId1"/>
                <a:stretch>
                  <a:fillRect l="-6" t="-1" r="6"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4694453" y="2177812"/>
                <a:ext cx="3717493" cy="1938992"/>
              </a:xfrm>
              <a:prstGeom prst="rect">
                <a:avLst/>
              </a:prstGeom>
              <a:noFill/>
            </p:spPr>
            <p:txBody>
              <a:bodyPr wrap="none" rtlCol="0">
                <a:spAutoFit/>
              </a:bodyPr>
              <a:lstStyle/>
              <a:p>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r>
                  <a:rPr lang="en-AU" sz="2400" dirty="0"/>
                  <a:t>:</a:t>
                </a:r>
                <a:endParaRPr lang="en-AU" sz="2400" dirty="0"/>
              </a:p>
              <a:p>
                <a:endParaRPr lang="en-AU" altLang="zh-CN"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(5),(6):</a:t>
                </a:r>
                <a14:m>
                  <m:oMath xmlns:m="http://schemas.openxmlformats.org/officeDocument/2006/math">
                    <m:r>
                      <a:rPr lang="en-AU" altLang="zh-CN" sz="2400" b="0" i="0" smtClean="0">
                        <a:latin typeface="Cambria Math" panose="02040503050406030204" pitchFamily="18" charset="0"/>
                      </a:rPr>
                      <m:t> </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endParaRPr lang="en-AU" sz="2400" dirty="0"/>
              </a:p>
              <a:p>
                <a:endParaRPr lang="en-AU" sz="2400" dirty="0"/>
              </a:p>
              <a:p>
                <a:endParaRPr lang="en-AU" sz="2400" dirty="0"/>
              </a:p>
            </p:txBody>
          </p:sp>
        </mc:Choice>
        <mc:Fallback>
          <p:sp>
            <p:nvSpPr>
              <p:cNvPr id="7" name="TextBox 6"/>
              <p:cNvSpPr txBox="1">
                <a:spLocks noRot="1" noChangeAspect="1" noMove="1" noResize="1" noEditPoints="1" noAdjustHandles="1" noChangeArrowheads="1" noChangeShapeType="1" noTextEdit="1"/>
              </p:cNvSpPr>
              <p:nvPr/>
            </p:nvSpPr>
            <p:spPr>
              <a:xfrm>
                <a:off x="4694453" y="2177812"/>
                <a:ext cx="3717493" cy="1938992"/>
              </a:xfrm>
              <a:prstGeom prst="rect">
                <a:avLst/>
              </a:prstGeom>
              <a:blipFill rotWithShape="1">
                <a:blip r:embed="rId2"/>
                <a:stretch>
                  <a:fillRect l="-14" t="-20" r="3" b="5"/>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8" name="TextBox 7"/>
              <p:cNvSpPr txBox="1"/>
              <p:nvPr/>
            </p:nvSpPr>
            <p:spPr>
              <a:xfrm>
                <a:off x="1411999" y="2177812"/>
                <a:ext cx="2044491" cy="3785652"/>
              </a:xfrm>
              <a:prstGeom prst="rect">
                <a:avLst/>
              </a:prstGeom>
              <a:noFill/>
            </p:spPr>
            <p:txBody>
              <a:bodyPr wrap="square" rtlCol="0">
                <a:spAutoFit/>
              </a:bodyPr>
              <a:lstStyle/>
              <a:p>
                <a:r>
                  <a:rPr lang="en-AU" sz="2400" b="0" dirty="0"/>
                  <a:t>1.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endParaRPr lang="en-AU" sz="2400" dirty="0"/>
              </a:p>
              <a:p>
                <a:r>
                  <a:rPr lang="en-AU" sz="2400" b="0" dirty="0"/>
                  <a:t>2.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dirty="0"/>
              </a:p>
              <a:p>
                <a:r>
                  <a:rPr lang="en-AU" sz="2400" b="0" dirty="0"/>
                  <a:t>3.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b="0" dirty="0">
                  <a:ea typeface="Cambria Math" panose="02040503050406030204" pitchFamily="18" charset="0"/>
                </a:endParaRPr>
              </a:p>
              <a:p>
                <a:r>
                  <a:rPr lang="en-AU" sz="2400" b="0" dirty="0"/>
                  <a:t>4.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oMath>
                </a14:m>
                <a:endParaRPr lang="en-AU" sz="2400" dirty="0"/>
              </a:p>
              <a:p>
                <a:r>
                  <a:rPr lang="en-AU" sz="2400" b="0" dirty="0">
                    <a:ea typeface="Cambria Math" panose="02040503050406030204" pitchFamily="18" charset="0"/>
                  </a:rPr>
                  <a:t>5.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a14:m>
                <a:endParaRPr lang="en-AU" sz="2400" dirty="0"/>
              </a:p>
              <a:p>
                <a:r>
                  <a:rPr lang="en-AU" sz="2400" b="0" dirty="0">
                    <a:ea typeface="Cambria Math" panose="02040503050406030204" pitchFamily="18" charset="0"/>
                  </a:rPr>
                  <a:t>6.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a14:m>
                <a:endParaRPr lang="en-AU" sz="2400" dirty="0"/>
              </a:p>
              <a:p>
                <a:r>
                  <a:rPr lang="en-AU" sz="2400" b="0" dirty="0">
                    <a:ea typeface="Cambria Math" panose="02040503050406030204" pitchFamily="18" charset="0"/>
                  </a:rPr>
                  <a:t>7.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a14:m>
                <a:endParaRPr lang="en-AU" sz="2400" dirty="0"/>
              </a:p>
              <a:p>
                <a:r>
                  <a:rPr lang="en-AU" sz="2400" b="0" dirty="0">
                    <a:ea typeface="Cambria Math" panose="02040503050406030204" pitchFamily="18" charset="0"/>
                  </a:rPr>
                  <a:t>8.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a14:m>
                <a:endParaRPr lang="en-AU" sz="2400" dirty="0"/>
              </a:p>
              <a:p>
                <a:r>
                  <a:rPr lang="en-AU" sz="2400" b="0" dirty="0">
                    <a:ea typeface="Cambria Math" panose="02040503050406030204" pitchFamily="18" charset="0"/>
                  </a:rPr>
                  <a:t>9.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a14:m>
                <a:endParaRPr lang="en-AU" sz="2400" dirty="0"/>
              </a:p>
              <a:p>
                <a:r>
                  <a:rPr lang="en-AU" sz="2400" b="0" dirty="0">
                    <a:ea typeface="Cambria Math" panose="02040503050406030204" pitchFamily="18" charset="0"/>
                  </a:rPr>
                  <a:t>10.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1411999" y="2177812"/>
                <a:ext cx="2044491" cy="3785652"/>
              </a:xfrm>
              <a:prstGeom prst="rect">
                <a:avLst/>
              </a:prstGeom>
              <a:blipFill rotWithShape="1">
                <a:blip r:embed="rId3"/>
                <a:stretch>
                  <a:fillRect l="-19" t="-10" r="9" b="5"/>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归约和派生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98316"/>
                <a:ext cx="8229600" cy="4525963"/>
              </a:xfrm>
            </p:spPr>
            <p:txBody>
              <a:bodyPr/>
              <a:lstStyle/>
              <a:p>
                <a:r>
                  <a:rPr lang="zh-CN" altLang="en-US" dirty="0"/>
                  <a:t>用算数表达式文法</a:t>
                </a:r>
                <a14:m>
                  <m:oMath xmlns:m="http://schemas.openxmlformats.org/officeDocument/2006/math">
                    <m:sSub>
                      <m:sSubPr>
                        <m:ctrlPr>
                          <a:rPr lang="en-US" altLang="zh-CN" b="0"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en-AU" dirty="0"/>
                  <a:t>, </a:t>
                </a:r>
                <a:r>
                  <a:rPr lang="zh-CN" altLang="en-US" dirty="0"/>
                  <a:t>将 </a:t>
                </a:r>
                <a14:m>
                  <m:oMath xmlns:m="http://schemas.openxmlformats.org/officeDocument/2006/math">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𝑏</m:t>
                    </m:r>
                    <m:r>
                      <a:rPr lang="en-AU" i="1" dirty="0" smtClean="0">
                        <a:latin typeface="Cambria Math" panose="02040503050406030204" pitchFamily="18" charset="0"/>
                      </a:rPr>
                      <m:t>00</m:t>
                    </m:r>
                    <m:r>
                      <a:rPr lang="en-AU" i="1" dirty="0" smtClean="0">
                        <a:latin typeface="Cambria Math" panose="02040503050406030204" pitchFamily="18" charset="0"/>
                      </a:rPr>
                      <m:t>) </m:t>
                    </m:r>
                  </m:oMath>
                </a14:m>
                <a:r>
                  <a:rPr lang="zh-CN" altLang="en-US" dirty="0"/>
                  <a:t>归约的过程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998316"/>
                <a:ext cx="8229600" cy="4525963"/>
              </a:xfrm>
              <a:blipFill rotWithShape="1">
                <a:blip r:embed="rId1"/>
                <a:stretch>
                  <a:fillRect t="-2"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4628333" y="2012665"/>
                <a:ext cx="3717493" cy="2308324"/>
              </a:xfrm>
              <a:prstGeom prst="rect">
                <a:avLst/>
              </a:prstGeom>
              <a:noFill/>
            </p:spPr>
            <p:txBody>
              <a:bodyPr wrap="none" rtlCol="0">
                <a:spAutoFit/>
              </a:bodyPr>
              <a:lstStyle/>
              <a:p>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r>
                  <a:rPr lang="en-AU" sz="2400" dirty="0"/>
                  <a:t>:</a:t>
                </a:r>
                <a:endParaRPr lang="en-AU" sz="2400" dirty="0"/>
              </a:p>
              <a:p>
                <a:endParaRPr lang="en-AU" altLang="zh-CN"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(5),(6):</a:t>
                </a:r>
                <a14:m>
                  <m:oMath xmlns:m="http://schemas.openxmlformats.org/officeDocument/2006/math">
                    <m:r>
                      <a:rPr lang="en-AU" altLang="zh-CN" sz="2400" b="0" i="0" smtClean="0">
                        <a:latin typeface="Cambria Math" panose="02040503050406030204" pitchFamily="18" charset="0"/>
                      </a:rPr>
                      <m:t> </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oMath>
                </a14:m>
                <a:endParaRPr lang="en-AU" sz="2400" dirty="0"/>
              </a:p>
              <a:p>
                <a:endParaRPr lang="en-AU" sz="2400" dirty="0"/>
              </a:p>
              <a:p>
                <a:endParaRPr lang="en-AU" sz="2400" dirty="0"/>
              </a:p>
            </p:txBody>
          </p:sp>
        </mc:Choice>
        <mc:Fallback>
          <p:sp>
            <p:nvSpPr>
              <p:cNvPr id="7" name="TextBox 6"/>
              <p:cNvSpPr txBox="1">
                <a:spLocks noRot="1" noChangeAspect="1" noMove="1" noResize="1" noEditPoints="1" noAdjustHandles="1" noChangeArrowheads="1" noChangeShapeType="1" noTextEdit="1"/>
              </p:cNvSpPr>
              <p:nvPr/>
            </p:nvSpPr>
            <p:spPr>
              <a:xfrm>
                <a:off x="4628333" y="2012665"/>
                <a:ext cx="3717493" cy="2308324"/>
              </a:xfrm>
              <a:prstGeom prst="rect">
                <a:avLst/>
              </a:prstGeom>
              <a:blipFill rotWithShape="1">
                <a:blip r:embed="rId2"/>
                <a:stretch>
                  <a:fillRect l="-12" t="-15" r="1" b="1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8" name="TextBox 7"/>
              <p:cNvSpPr txBox="1"/>
              <p:nvPr/>
            </p:nvSpPr>
            <p:spPr>
              <a:xfrm>
                <a:off x="1157356" y="2154663"/>
                <a:ext cx="2044491" cy="3785652"/>
              </a:xfrm>
              <a:prstGeom prst="rect">
                <a:avLst/>
              </a:prstGeom>
              <a:noFill/>
            </p:spPr>
            <p:txBody>
              <a:bodyPr wrap="square" rtlCol="0">
                <a:spAutoFit/>
              </a:bodyPr>
              <a:lstStyle/>
              <a:p>
                <a:r>
                  <a:rPr lang="en-AU" sz="2400" b="0" dirty="0"/>
                  <a:t>1.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endParaRPr lang="en-AU" sz="2400" dirty="0"/>
              </a:p>
              <a:p>
                <a:r>
                  <a:rPr lang="en-AU" sz="2400" b="0" dirty="0"/>
                  <a:t>2.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dirty="0"/>
              </a:p>
              <a:p>
                <a:r>
                  <a:rPr lang="en-AU" sz="2400" b="0" dirty="0"/>
                  <a:t>3.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b="0" dirty="0">
                  <a:ea typeface="Cambria Math" panose="02040503050406030204" pitchFamily="18" charset="0"/>
                </a:endParaRPr>
              </a:p>
              <a:p>
                <a:r>
                  <a:rPr lang="en-AU" sz="2400" b="0" dirty="0"/>
                  <a:t>4.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oMath>
                </a14:m>
                <a:endParaRPr lang="en-AU" sz="2400" dirty="0"/>
              </a:p>
              <a:p>
                <a:r>
                  <a:rPr lang="en-AU" sz="2400" b="0" dirty="0">
                    <a:ea typeface="Cambria Math" panose="02040503050406030204" pitchFamily="18" charset="0"/>
                  </a:rPr>
                  <a:t>5.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a14:m>
                <a:endParaRPr lang="en-AU" sz="2400" dirty="0"/>
              </a:p>
              <a:p>
                <a:r>
                  <a:rPr lang="en-AU" sz="2400" b="0" dirty="0">
                    <a:ea typeface="Cambria Math" panose="02040503050406030204" pitchFamily="18" charset="0"/>
                  </a:rPr>
                  <a:t>6.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a14:m>
                <a:endParaRPr lang="en-AU" sz="2400" dirty="0"/>
              </a:p>
              <a:p>
                <a:r>
                  <a:rPr lang="en-AU" sz="2400" b="0" dirty="0">
                    <a:ea typeface="Cambria Math" panose="02040503050406030204" pitchFamily="18" charset="0"/>
                  </a:rPr>
                  <a:t>7.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a14:m>
                <a:endParaRPr lang="en-AU" sz="2400" dirty="0"/>
              </a:p>
              <a:p>
                <a:r>
                  <a:rPr lang="en-AU" sz="2400" b="0" dirty="0">
                    <a:ea typeface="Cambria Math" panose="02040503050406030204" pitchFamily="18" charset="0"/>
                  </a:rPr>
                  <a:t>8.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a14:m>
                <a:endParaRPr lang="en-AU" sz="2400" dirty="0"/>
              </a:p>
              <a:p>
                <a:r>
                  <a:rPr lang="en-AU" sz="2400" b="0" dirty="0">
                    <a:ea typeface="Cambria Math" panose="02040503050406030204" pitchFamily="18" charset="0"/>
                  </a:rPr>
                  <a:t>9.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a14:m>
                <a:endParaRPr lang="en-AU" sz="2400" dirty="0"/>
              </a:p>
              <a:p>
                <a:r>
                  <a:rPr lang="en-AU" sz="2400" b="0" dirty="0">
                    <a:ea typeface="Cambria Math" panose="02040503050406030204" pitchFamily="18" charset="0"/>
                  </a:rPr>
                  <a:t>10.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1157356" y="2154663"/>
                <a:ext cx="2044491" cy="3785652"/>
              </a:xfrm>
              <a:prstGeom prst="rect">
                <a:avLst/>
              </a:prstGeom>
              <a:blipFill rotWithShape="1">
                <a:blip r:embed="rId3"/>
                <a:stretch>
                  <a:fillRect l="-19" t="-3" r="9" b="14"/>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归约和派生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882570"/>
                <a:ext cx="8229600" cy="4525963"/>
              </a:xfrm>
            </p:spPr>
            <p:txBody>
              <a:bodyPr/>
              <a:lstStyle/>
              <a:p>
                <a:r>
                  <a:rPr lang="zh-CN" altLang="en-US" dirty="0"/>
                  <a:t>用算数表达式文法</a:t>
                </a:r>
                <a14:m>
                  <m:oMath xmlns:m="http://schemas.openxmlformats.org/officeDocument/2006/math">
                    <m:sSub>
                      <m:sSubPr>
                        <m:ctrlPr>
                          <a:rPr lang="en-US" altLang="zh-CN" b="0"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en-AU" dirty="0"/>
                  <a:t>, </a:t>
                </a:r>
                <a:r>
                  <a:rPr lang="zh-CN" altLang="en-US" dirty="0"/>
                  <a:t>将 </a:t>
                </a:r>
                <a14:m>
                  <m:oMath xmlns:m="http://schemas.openxmlformats.org/officeDocument/2006/math">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𝑏</m:t>
                    </m:r>
                    <m:r>
                      <a:rPr lang="en-AU" i="1" dirty="0" smtClean="0">
                        <a:latin typeface="Cambria Math" panose="02040503050406030204" pitchFamily="18" charset="0"/>
                      </a:rPr>
                      <m:t>00</m:t>
                    </m:r>
                    <m:r>
                      <a:rPr lang="en-AU" i="1" dirty="0" smtClean="0">
                        <a:latin typeface="Cambria Math" panose="02040503050406030204" pitchFamily="18" charset="0"/>
                      </a:rPr>
                      <m:t>) </m:t>
                    </m:r>
                  </m:oMath>
                </a14:m>
                <a:r>
                  <a:rPr lang="zh-CN" altLang="en-US" dirty="0"/>
                  <a:t>归约的过程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882570"/>
                <a:ext cx="8229600" cy="4525963"/>
              </a:xfrm>
              <a:blipFill rotWithShape="1">
                <a:blip r:embed="rId1"/>
                <a:stretch>
                  <a:fillRect t="-12"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4628333" y="1896919"/>
                <a:ext cx="3717493" cy="2308324"/>
              </a:xfrm>
              <a:prstGeom prst="rect">
                <a:avLst/>
              </a:prstGeom>
              <a:noFill/>
            </p:spPr>
            <p:txBody>
              <a:bodyPr wrap="none" rtlCol="0">
                <a:spAutoFit/>
              </a:bodyPr>
              <a:lstStyle/>
              <a:p>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r>
                  <a:rPr lang="en-AU" sz="2400" dirty="0"/>
                  <a:t>:</a:t>
                </a:r>
                <a:endParaRPr lang="en-AU" sz="2400" dirty="0"/>
              </a:p>
              <a:p>
                <a:endParaRPr lang="en-AU" altLang="zh-CN"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(5),(6):</a:t>
                </a:r>
                <a14:m>
                  <m:oMath xmlns:m="http://schemas.openxmlformats.org/officeDocument/2006/math">
                    <m:r>
                      <a:rPr lang="en-AU" altLang="zh-CN" sz="2400" b="0" i="0" smtClean="0">
                        <a:latin typeface="Cambria Math" panose="02040503050406030204" pitchFamily="18" charset="0"/>
                      </a:rPr>
                      <m:t> </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oMath>
                </a14:m>
                <a:endParaRPr lang="en-AU" sz="2400" dirty="0"/>
              </a:p>
              <a:p>
                <a:endParaRPr lang="en-AU" sz="2400" dirty="0"/>
              </a:p>
            </p:txBody>
          </p:sp>
        </mc:Choice>
        <mc:Fallback>
          <p:sp>
            <p:nvSpPr>
              <p:cNvPr id="7" name="TextBox 6"/>
              <p:cNvSpPr txBox="1">
                <a:spLocks noRot="1" noChangeAspect="1" noMove="1" noResize="1" noEditPoints="1" noAdjustHandles="1" noChangeArrowheads="1" noChangeShapeType="1" noTextEdit="1"/>
              </p:cNvSpPr>
              <p:nvPr/>
            </p:nvSpPr>
            <p:spPr>
              <a:xfrm>
                <a:off x="4628333" y="1896919"/>
                <a:ext cx="3717493" cy="2308324"/>
              </a:xfrm>
              <a:prstGeom prst="rect">
                <a:avLst/>
              </a:prstGeom>
              <a:blipFill rotWithShape="1">
                <a:blip r:embed="rId2"/>
                <a:stretch>
                  <a:fillRect l="-12" t="-8" r="1" b="1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8" name="TextBox 7"/>
              <p:cNvSpPr txBox="1"/>
              <p:nvPr/>
            </p:nvSpPr>
            <p:spPr>
              <a:xfrm>
                <a:off x="1041609" y="2110304"/>
                <a:ext cx="2044491" cy="3785652"/>
              </a:xfrm>
              <a:prstGeom prst="rect">
                <a:avLst/>
              </a:prstGeom>
              <a:noFill/>
            </p:spPr>
            <p:txBody>
              <a:bodyPr wrap="square" rtlCol="0">
                <a:spAutoFit/>
              </a:bodyPr>
              <a:lstStyle/>
              <a:p>
                <a:r>
                  <a:rPr lang="en-AU" sz="2400" b="0" dirty="0"/>
                  <a:t>1.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endParaRPr lang="en-AU" sz="2400" dirty="0"/>
              </a:p>
              <a:p>
                <a:r>
                  <a:rPr lang="en-AU" sz="2400" b="0" dirty="0"/>
                  <a:t>2.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dirty="0"/>
              </a:p>
              <a:p>
                <a:r>
                  <a:rPr lang="en-AU" sz="2400" b="0" dirty="0"/>
                  <a:t>3.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b="0" dirty="0">
                  <a:ea typeface="Cambria Math" panose="02040503050406030204" pitchFamily="18" charset="0"/>
                </a:endParaRPr>
              </a:p>
              <a:p>
                <a:r>
                  <a:rPr lang="en-AU" sz="2400" b="0" dirty="0"/>
                  <a:t>4.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oMath>
                </a14:m>
                <a:endParaRPr lang="en-AU" sz="2400" dirty="0"/>
              </a:p>
              <a:p>
                <a:r>
                  <a:rPr lang="en-AU" sz="2400" b="0" dirty="0">
                    <a:ea typeface="Cambria Math" panose="02040503050406030204" pitchFamily="18" charset="0"/>
                  </a:rPr>
                  <a:t>5.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a14:m>
                <a:endParaRPr lang="en-AU" sz="2400" dirty="0"/>
              </a:p>
              <a:p>
                <a:r>
                  <a:rPr lang="en-AU" sz="2400" b="0" dirty="0">
                    <a:ea typeface="Cambria Math" panose="02040503050406030204" pitchFamily="18" charset="0"/>
                  </a:rPr>
                  <a:t>6.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a14:m>
                <a:endParaRPr lang="en-AU" sz="2400" dirty="0"/>
              </a:p>
              <a:p>
                <a:r>
                  <a:rPr lang="en-AU" sz="2400" b="0" dirty="0">
                    <a:ea typeface="Cambria Math" panose="02040503050406030204" pitchFamily="18" charset="0"/>
                  </a:rPr>
                  <a:t>7.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a14:m>
                <a:endParaRPr lang="en-AU" sz="2400" dirty="0"/>
              </a:p>
              <a:p>
                <a:r>
                  <a:rPr lang="en-AU" sz="2400" b="0" dirty="0">
                    <a:ea typeface="Cambria Math" panose="02040503050406030204" pitchFamily="18" charset="0"/>
                  </a:rPr>
                  <a:t>8.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a14:m>
                <a:endParaRPr lang="en-AU" sz="2400" dirty="0"/>
              </a:p>
              <a:p>
                <a:r>
                  <a:rPr lang="en-AU" sz="2400" b="0" dirty="0">
                    <a:ea typeface="Cambria Math" panose="02040503050406030204" pitchFamily="18" charset="0"/>
                  </a:rPr>
                  <a:t>9.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a14:m>
                <a:endParaRPr lang="en-AU" sz="2400" dirty="0"/>
              </a:p>
              <a:p>
                <a:r>
                  <a:rPr lang="en-AU" sz="2400" b="0" dirty="0">
                    <a:ea typeface="Cambria Math" panose="02040503050406030204" pitchFamily="18" charset="0"/>
                  </a:rPr>
                  <a:t>10.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1041609" y="2110304"/>
                <a:ext cx="2044491" cy="3785652"/>
              </a:xfrm>
              <a:prstGeom prst="rect">
                <a:avLst/>
              </a:prstGeom>
              <a:blipFill rotWithShape="1">
                <a:blip r:embed="rId3"/>
                <a:stretch>
                  <a:fillRect l="-10" t="-5" b="16"/>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归约和派生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044615"/>
                <a:ext cx="8229600" cy="4525963"/>
              </a:xfrm>
            </p:spPr>
            <p:txBody>
              <a:bodyPr/>
              <a:lstStyle/>
              <a:p>
                <a:r>
                  <a:rPr lang="zh-CN" altLang="en-US" dirty="0"/>
                  <a:t>用算数表达式文法</a:t>
                </a:r>
                <a14:m>
                  <m:oMath xmlns:m="http://schemas.openxmlformats.org/officeDocument/2006/math">
                    <m:sSub>
                      <m:sSubPr>
                        <m:ctrlPr>
                          <a:rPr lang="en-US" altLang="zh-CN" b="0"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en-AU" dirty="0"/>
                  <a:t>, </a:t>
                </a:r>
                <a:r>
                  <a:rPr lang="zh-CN" altLang="en-US" dirty="0"/>
                  <a:t>将 </a:t>
                </a:r>
                <a14:m>
                  <m:oMath xmlns:m="http://schemas.openxmlformats.org/officeDocument/2006/math">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𝑏</m:t>
                    </m:r>
                    <m:r>
                      <a:rPr lang="en-AU" i="1" dirty="0" smtClean="0">
                        <a:latin typeface="Cambria Math" panose="02040503050406030204" pitchFamily="18" charset="0"/>
                      </a:rPr>
                      <m:t>00</m:t>
                    </m:r>
                    <m:r>
                      <a:rPr lang="en-AU" i="1" dirty="0" smtClean="0">
                        <a:latin typeface="Cambria Math" panose="02040503050406030204" pitchFamily="18" charset="0"/>
                      </a:rPr>
                      <m:t>) </m:t>
                    </m:r>
                  </m:oMath>
                </a14:m>
                <a:r>
                  <a:rPr lang="zh-CN" altLang="en-US" dirty="0"/>
                  <a:t>归约的过程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044615"/>
                <a:ext cx="8229600" cy="4525963"/>
              </a:xfrm>
              <a:blipFill rotWithShape="1">
                <a:blip r:embed="rId1"/>
                <a:stretch>
                  <a:fillRect t="-1"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4628333" y="2058964"/>
                <a:ext cx="3717493" cy="2677656"/>
              </a:xfrm>
              <a:prstGeom prst="rect">
                <a:avLst/>
              </a:prstGeom>
              <a:noFill/>
            </p:spPr>
            <p:txBody>
              <a:bodyPr wrap="none" rtlCol="0">
                <a:spAutoFit/>
              </a:bodyPr>
              <a:lstStyle/>
              <a:p>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r>
                  <a:rPr lang="en-AU" sz="2400" dirty="0"/>
                  <a:t>:</a:t>
                </a:r>
                <a:endParaRPr lang="en-AU" sz="2400" dirty="0"/>
              </a:p>
              <a:p>
                <a:endParaRPr lang="en-AU" altLang="zh-CN"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(5),(6):</a:t>
                </a:r>
                <a14:m>
                  <m:oMath xmlns:m="http://schemas.openxmlformats.org/officeDocument/2006/math">
                    <m:r>
                      <a:rPr lang="en-AU" altLang="zh-CN" sz="2400" b="0" i="0" smtClean="0">
                        <a:latin typeface="Cambria Math" panose="02040503050406030204" pitchFamily="18" charset="0"/>
                      </a:rPr>
                      <m:t> </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oMath>
                </a14:m>
                <a:endParaRPr lang="en-AU" sz="2400" dirty="0"/>
              </a:p>
              <a:p>
                <a:endParaRPr lang="en-AU" sz="2400" dirty="0"/>
              </a:p>
            </p:txBody>
          </p:sp>
        </mc:Choice>
        <mc:Fallback>
          <p:sp>
            <p:nvSpPr>
              <p:cNvPr id="7" name="TextBox 6"/>
              <p:cNvSpPr txBox="1">
                <a:spLocks noRot="1" noChangeAspect="1" noMove="1" noResize="1" noEditPoints="1" noAdjustHandles="1" noChangeArrowheads="1" noChangeShapeType="1" noTextEdit="1"/>
              </p:cNvSpPr>
              <p:nvPr/>
            </p:nvSpPr>
            <p:spPr>
              <a:xfrm>
                <a:off x="4628333" y="2058964"/>
                <a:ext cx="3717493" cy="2677656"/>
              </a:xfrm>
              <a:prstGeom prst="rect">
                <a:avLst/>
              </a:prstGeom>
              <a:blipFill rotWithShape="1">
                <a:blip r:embed="rId2"/>
                <a:stretch>
                  <a:fillRect l="-12" t="-11" r="1" b="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a:xfrm>
            <a:off x="6781800" y="6069728"/>
            <a:ext cx="2133600" cy="365125"/>
          </a:xfrm>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8" name="TextBox 7"/>
              <p:cNvSpPr txBox="1"/>
              <p:nvPr/>
            </p:nvSpPr>
            <p:spPr>
              <a:xfrm>
                <a:off x="1041609" y="2272349"/>
                <a:ext cx="2044491" cy="3785652"/>
              </a:xfrm>
              <a:prstGeom prst="rect">
                <a:avLst/>
              </a:prstGeom>
              <a:noFill/>
            </p:spPr>
            <p:txBody>
              <a:bodyPr wrap="square" rtlCol="0">
                <a:spAutoFit/>
              </a:bodyPr>
              <a:lstStyle/>
              <a:p>
                <a:r>
                  <a:rPr lang="en-AU" sz="2400" b="0" dirty="0"/>
                  <a:t>1.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endParaRPr lang="en-AU" sz="2400" dirty="0"/>
              </a:p>
              <a:p>
                <a:r>
                  <a:rPr lang="en-AU" sz="2400" b="0" dirty="0"/>
                  <a:t>2.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dirty="0"/>
              </a:p>
              <a:p>
                <a:r>
                  <a:rPr lang="en-AU" sz="2400" b="0" dirty="0"/>
                  <a:t>3.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b="0" dirty="0">
                  <a:ea typeface="Cambria Math" panose="02040503050406030204" pitchFamily="18" charset="0"/>
                </a:endParaRPr>
              </a:p>
              <a:p>
                <a:r>
                  <a:rPr lang="en-AU" sz="2400" b="0" dirty="0"/>
                  <a:t>4.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oMath>
                </a14:m>
                <a:endParaRPr lang="en-AU" sz="2400" dirty="0"/>
              </a:p>
              <a:p>
                <a:r>
                  <a:rPr lang="en-AU" sz="2400" b="0" dirty="0">
                    <a:ea typeface="Cambria Math" panose="02040503050406030204" pitchFamily="18" charset="0"/>
                  </a:rPr>
                  <a:t>5.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a14:m>
                <a:endParaRPr lang="en-AU" sz="2400" dirty="0"/>
              </a:p>
              <a:p>
                <a:r>
                  <a:rPr lang="en-AU" sz="2400" b="0" dirty="0">
                    <a:ea typeface="Cambria Math" panose="02040503050406030204" pitchFamily="18" charset="0"/>
                  </a:rPr>
                  <a:t>6.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a14:m>
                <a:endParaRPr lang="en-AU" sz="2400" dirty="0"/>
              </a:p>
              <a:p>
                <a:r>
                  <a:rPr lang="en-AU" sz="2400" b="0" dirty="0">
                    <a:ea typeface="Cambria Math" panose="02040503050406030204" pitchFamily="18" charset="0"/>
                  </a:rPr>
                  <a:t>7.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a14:m>
                <a:endParaRPr lang="en-AU" sz="2400" dirty="0"/>
              </a:p>
              <a:p>
                <a:r>
                  <a:rPr lang="en-AU" sz="2400" b="0" dirty="0">
                    <a:ea typeface="Cambria Math" panose="02040503050406030204" pitchFamily="18" charset="0"/>
                  </a:rPr>
                  <a:t>8.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a14:m>
                <a:endParaRPr lang="en-AU" sz="2400" dirty="0"/>
              </a:p>
              <a:p>
                <a:r>
                  <a:rPr lang="en-AU" sz="2400" b="0" dirty="0">
                    <a:ea typeface="Cambria Math" panose="02040503050406030204" pitchFamily="18" charset="0"/>
                  </a:rPr>
                  <a:t>9.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a14:m>
                <a:endParaRPr lang="en-AU" sz="2400" dirty="0"/>
              </a:p>
              <a:p>
                <a:r>
                  <a:rPr lang="en-AU" sz="2400" b="0" dirty="0">
                    <a:ea typeface="Cambria Math" panose="02040503050406030204" pitchFamily="18" charset="0"/>
                  </a:rPr>
                  <a:t>10.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1041609" y="2272349"/>
                <a:ext cx="2044491" cy="3785652"/>
              </a:xfrm>
              <a:prstGeom prst="rect">
                <a:avLst/>
              </a:prstGeom>
              <a:blipFill rotWithShape="1">
                <a:blip r:embed="rId3"/>
                <a:stretch>
                  <a:fillRect l="-10" t="-8" b="3"/>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归约和派生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70257"/>
                <a:ext cx="8229600" cy="4525963"/>
              </a:xfrm>
            </p:spPr>
            <p:txBody>
              <a:bodyPr/>
              <a:lstStyle/>
              <a:p>
                <a:r>
                  <a:rPr lang="zh-CN" altLang="en-US" dirty="0"/>
                  <a:t>用算数表达式文法</a:t>
                </a:r>
                <a14:m>
                  <m:oMath xmlns:m="http://schemas.openxmlformats.org/officeDocument/2006/math">
                    <m:sSub>
                      <m:sSubPr>
                        <m:ctrlPr>
                          <a:rPr lang="en-US" altLang="zh-CN" b="0"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en-AU" dirty="0"/>
                  <a:t>, </a:t>
                </a:r>
                <a:r>
                  <a:rPr lang="zh-CN" altLang="en-US" dirty="0"/>
                  <a:t>将 </a:t>
                </a:r>
                <a14:m>
                  <m:oMath xmlns:m="http://schemas.openxmlformats.org/officeDocument/2006/math">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𝑏</m:t>
                    </m:r>
                    <m:r>
                      <a:rPr lang="en-AU" i="1" dirty="0" smtClean="0">
                        <a:latin typeface="Cambria Math" panose="02040503050406030204" pitchFamily="18" charset="0"/>
                      </a:rPr>
                      <m:t>00</m:t>
                    </m:r>
                    <m:r>
                      <a:rPr lang="en-AU" i="1" dirty="0" smtClean="0">
                        <a:latin typeface="Cambria Math" panose="02040503050406030204" pitchFamily="18" charset="0"/>
                      </a:rPr>
                      <m:t>) </m:t>
                    </m:r>
                  </m:oMath>
                </a14:m>
                <a:r>
                  <a:rPr lang="zh-CN" altLang="en-US" dirty="0"/>
                  <a:t>归约的过程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970257"/>
                <a:ext cx="8229600" cy="4525963"/>
              </a:xfrm>
              <a:blipFill rotWithShape="1">
                <a:blip r:embed="rId1"/>
                <a:stretch>
                  <a:fillRect t="-14"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4628333" y="1984606"/>
                <a:ext cx="3665855" cy="3046095"/>
              </a:xfrm>
              <a:prstGeom prst="rect">
                <a:avLst/>
              </a:prstGeom>
              <a:noFill/>
            </p:spPr>
            <p:txBody>
              <a:bodyPr wrap="none" rtlCol="0">
                <a:spAutoFit/>
              </a:bodyPr>
              <a:lstStyle/>
              <a:p>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r>
                  <a:rPr lang="en-AU" sz="2400" dirty="0"/>
                  <a:t>:</a:t>
                </a:r>
                <a:endParaRPr lang="en-AU" sz="2400" dirty="0"/>
              </a:p>
              <a:p>
                <a:endParaRPr lang="en-AU" altLang="zh-CN"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(5),(6):</a:t>
                </a:r>
                <a14:m>
                  <m:oMath xmlns:m="http://schemas.openxmlformats.org/officeDocument/2006/math">
                    <m:r>
                      <a:rPr lang="en-AU" altLang="zh-CN" sz="2400" b="0" i="0" smtClean="0">
                        <a:latin typeface="Cambria Math" panose="02040503050406030204" pitchFamily="18" charset="0"/>
                      </a:rPr>
                      <m:t> </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oMath>
                </a14:m>
                <a:endParaRPr lang="en-AU" sz="2400" dirty="0"/>
              </a:p>
              <a:p>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US" altLang="en-AU" sz="2400" b="0" i="1" smtClean="0">
                        <a:latin typeface="Cambria Math" panose="02040503050406030204" pitchFamily="18" charset="0"/>
                      </a:rPr>
                      <m:t>)</m:t>
                    </m:r>
                  </m:oMath>
                </a14:m>
                <a:endParaRPr lang="en-AU" sz="2400" dirty="0"/>
              </a:p>
              <a:p>
                <a:endParaRPr lang="en-AU" sz="2400" dirty="0"/>
              </a:p>
            </p:txBody>
          </p:sp>
        </mc:Choice>
        <mc:Fallback>
          <p:sp>
            <p:nvSpPr>
              <p:cNvPr id="7" name="TextBox 6"/>
              <p:cNvSpPr txBox="1">
                <a:spLocks noRot="1" noChangeAspect="1" noMove="1" noResize="1" noEditPoints="1" noAdjustHandles="1" noChangeArrowheads="1" noChangeShapeType="1" noTextEdit="1"/>
              </p:cNvSpPr>
              <p:nvPr/>
            </p:nvSpPr>
            <p:spPr>
              <a:xfrm>
                <a:off x="4628333" y="1984606"/>
                <a:ext cx="3665855" cy="3046095"/>
              </a:xfrm>
              <a:prstGeom prst="rect">
                <a:avLst/>
              </a:prstGeom>
              <a:blipFill rotWithShape="1">
                <a:blip r:embed="rId2"/>
                <a:stretch>
                  <a:fillRect l="-12" t="-8" r="12" b="8"/>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8" name="TextBox 7"/>
              <p:cNvSpPr txBox="1"/>
              <p:nvPr/>
            </p:nvSpPr>
            <p:spPr>
              <a:xfrm>
                <a:off x="1041609" y="2197991"/>
                <a:ext cx="2044491" cy="3785652"/>
              </a:xfrm>
              <a:prstGeom prst="rect">
                <a:avLst/>
              </a:prstGeom>
              <a:noFill/>
            </p:spPr>
            <p:txBody>
              <a:bodyPr wrap="square" rtlCol="0">
                <a:spAutoFit/>
              </a:bodyPr>
              <a:lstStyle/>
              <a:p>
                <a:r>
                  <a:rPr lang="en-AU" sz="2400" b="0" dirty="0"/>
                  <a:t>1.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endParaRPr lang="en-AU" sz="2400" dirty="0"/>
              </a:p>
              <a:p>
                <a:r>
                  <a:rPr lang="en-AU" sz="2400" b="0" dirty="0"/>
                  <a:t>2.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dirty="0"/>
              </a:p>
              <a:p>
                <a:r>
                  <a:rPr lang="en-AU" sz="2400" b="0" dirty="0"/>
                  <a:t>3.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b="0" dirty="0">
                  <a:ea typeface="Cambria Math" panose="02040503050406030204" pitchFamily="18" charset="0"/>
                </a:endParaRPr>
              </a:p>
              <a:p>
                <a:r>
                  <a:rPr lang="en-AU" sz="2400" b="0" dirty="0"/>
                  <a:t>4.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oMath>
                </a14:m>
                <a:endParaRPr lang="en-AU" sz="2400" dirty="0"/>
              </a:p>
              <a:p>
                <a:r>
                  <a:rPr lang="en-AU" sz="2400" b="0" dirty="0">
                    <a:ea typeface="Cambria Math" panose="02040503050406030204" pitchFamily="18" charset="0"/>
                  </a:rPr>
                  <a:t>5.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a14:m>
                <a:endParaRPr lang="en-AU" sz="2400" dirty="0"/>
              </a:p>
              <a:p>
                <a:r>
                  <a:rPr lang="en-AU" sz="2400" b="0" dirty="0">
                    <a:ea typeface="Cambria Math" panose="02040503050406030204" pitchFamily="18" charset="0"/>
                  </a:rPr>
                  <a:t>6.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a14:m>
                <a:endParaRPr lang="en-AU" sz="2400" dirty="0"/>
              </a:p>
              <a:p>
                <a:r>
                  <a:rPr lang="en-AU" sz="2400" b="0" dirty="0">
                    <a:ea typeface="Cambria Math" panose="02040503050406030204" pitchFamily="18" charset="0"/>
                  </a:rPr>
                  <a:t>7.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a14:m>
                <a:endParaRPr lang="en-AU" sz="2400" dirty="0"/>
              </a:p>
              <a:p>
                <a:r>
                  <a:rPr lang="en-AU" sz="2400" b="0" dirty="0">
                    <a:ea typeface="Cambria Math" panose="02040503050406030204" pitchFamily="18" charset="0"/>
                  </a:rPr>
                  <a:t>8.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a14:m>
                <a:endParaRPr lang="en-AU" sz="2400" dirty="0"/>
              </a:p>
              <a:p>
                <a:r>
                  <a:rPr lang="en-AU" sz="2400" b="0" dirty="0">
                    <a:ea typeface="Cambria Math" panose="02040503050406030204" pitchFamily="18" charset="0"/>
                  </a:rPr>
                  <a:t>9.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a14:m>
                <a:endParaRPr lang="en-AU" sz="2400" dirty="0"/>
              </a:p>
              <a:p>
                <a:r>
                  <a:rPr lang="en-AU" sz="2400" b="0" dirty="0">
                    <a:ea typeface="Cambria Math" panose="02040503050406030204" pitchFamily="18" charset="0"/>
                  </a:rPr>
                  <a:t>10.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1041609" y="2197991"/>
                <a:ext cx="2044491" cy="3785652"/>
              </a:xfrm>
              <a:prstGeom prst="rect">
                <a:avLst/>
              </a:prstGeom>
              <a:blipFill rotWithShape="1">
                <a:blip r:embed="rId3"/>
                <a:stretch>
                  <a:fillRect l="-10" t="-7" b="1"/>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归约和派生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70257"/>
                <a:ext cx="8229600" cy="4525963"/>
              </a:xfrm>
            </p:spPr>
            <p:txBody>
              <a:bodyPr/>
              <a:lstStyle/>
              <a:p>
                <a:r>
                  <a:rPr lang="zh-CN" altLang="en-US" dirty="0"/>
                  <a:t>用算数表达式文法</a:t>
                </a:r>
                <a14:m>
                  <m:oMath xmlns:m="http://schemas.openxmlformats.org/officeDocument/2006/math">
                    <m:sSub>
                      <m:sSubPr>
                        <m:ctrlPr>
                          <a:rPr lang="en-US" altLang="zh-CN" b="0"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en-AU" dirty="0"/>
                  <a:t>, </a:t>
                </a:r>
                <a:r>
                  <a:rPr lang="zh-CN" altLang="en-US" dirty="0"/>
                  <a:t>将 </a:t>
                </a:r>
                <a14:m>
                  <m:oMath xmlns:m="http://schemas.openxmlformats.org/officeDocument/2006/math">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𝑏</m:t>
                    </m:r>
                    <m:r>
                      <a:rPr lang="en-AU" i="1" dirty="0" smtClean="0">
                        <a:latin typeface="Cambria Math" panose="02040503050406030204" pitchFamily="18" charset="0"/>
                      </a:rPr>
                      <m:t>00</m:t>
                    </m:r>
                    <m:r>
                      <a:rPr lang="en-AU" i="1" dirty="0" smtClean="0">
                        <a:latin typeface="Cambria Math" panose="02040503050406030204" pitchFamily="18" charset="0"/>
                      </a:rPr>
                      <m:t>) </m:t>
                    </m:r>
                  </m:oMath>
                </a14:m>
                <a:r>
                  <a:rPr lang="zh-CN" altLang="en-US" dirty="0"/>
                  <a:t>归约的过程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970257"/>
                <a:ext cx="8229600" cy="4525963"/>
              </a:xfrm>
              <a:blipFill rotWithShape="1">
                <a:blip r:embed="rId1"/>
                <a:stretch>
                  <a:fillRect t="-14"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4628333" y="1984606"/>
                <a:ext cx="3665855" cy="3415030"/>
              </a:xfrm>
              <a:prstGeom prst="rect">
                <a:avLst/>
              </a:prstGeom>
              <a:noFill/>
            </p:spPr>
            <p:txBody>
              <a:bodyPr wrap="none" rtlCol="0">
                <a:spAutoFit/>
              </a:bodyPr>
              <a:lstStyle/>
              <a:p>
                <a:pPr algn="l"/>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r>
                  <a:rPr lang="en-AU" sz="2400" dirty="0"/>
                  <a:t>:</a:t>
                </a:r>
                <a:endParaRPr lang="en-AU" sz="2400" dirty="0"/>
              </a:p>
              <a:p>
                <a:pPr algn="l"/>
                <a:endParaRPr lang="en-AU" altLang="zh-CN"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(5),(6):</a:t>
                </a:r>
                <a14:m>
                  <m:oMath xmlns:m="http://schemas.openxmlformats.org/officeDocument/2006/math">
                    <m:r>
                      <a:rPr lang="en-AU" altLang="zh-CN" sz="2400" b="0" i="0" smtClean="0">
                        <a:latin typeface="Cambria Math" panose="02040503050406030204" pitchFamily="18" charset="0"/>
                      </a:rPr>
                      <m:t> </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endParaRPr lang="en-AU"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oMath>
                </a14:m>
                <a:endParaRPr lang="en-AU"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oMath>
                </a14:m>
                <a:endParaRPr lang="en-AU"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oMath>
                </a14:m>
                <a:endParaRPr lang="en-AU"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US" altLang="en-AU" sz="2400" b="0" i="1" smtClean="0">
                        <a:latin typeface="Cambria Math" panose="02040503050406030204" pitchFamily="18" charset="0"/>
                      </a:rPr>
                      <m:t>)</m:t>
                    </m:r>
                  </m:oMath>
                </a14:m>
                <a:endParaRPr lang="en-US" altLang="en-AU" sz="2400" b="0" i="1">
                  <a:latin typeface="Cambria Math" panose="02040503050406030204" pitchFamily="18" charset="0"/>
                </a:endParaRPr>
              </a:p>
              <a:p>
                <a:pPr algn="l"/>
                <a:r>
                  <a:rPr lang="zh-CN" altLang="en-US" sz="2400" dirty="0">
                    <a:latin typeface="楷体" panose="02010609060101010101" pitchFamily="49" charset="-122"/>
                    <a:ea typeface="楷体" panose="02010609060101010101" pitchFamily="49" charset="-122"/>
                    <a:sym typeface="+mn-ea"/>
                  </a:rPr>
                  <a:t>利用(4):</a:t>
                </a:r>
                <a:r>
                  <a:rPr lang="en-US" altLang="zh-CN" sz="2400" dirty="0">
                    <a:latin typeface="楷体" panose="02010609060101010101" pitchFamily="49" charset="-122"/>
                    <a:ea typeface="楷体" panose="02010609060101010101" pitchFamily="49" charset="-122"/>
                    <a:sym typeface="+mn-ea"/>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oMath>
                </a14:m>
                <a:endParaRPr lang="en-AU" sz="2400" dirty="0"/>
              </a:p>
              <a:p>
                <a:endParaRPr lang="en-AU" sz="2400" dirty="0"/>
              </a:p>
            </p:txBody>
          </p:sp>
        </mc:Choice>
        <mc:Fallback>
          <p:sp>
            <p:nvSpPr>
              <p:cNvPr id="7" name="TextBox 6"/>
              <p:cNvSpPr txBox="1">
                <a:spLocks noRot="1" noChangeAspect="1" noMove="1" noResize="1" noEditPoints="1" noAdjustHandles="1" noChangeArrowheads="1" noChangeShapeType="1" noTextEdit="1"/>
              </p:cNvSpPr>
              <p:nvPr/>
            </p:nvSpPr>
            <p:spPr>
              <a:xfrm>
                <a:off x="4628333" y="1984606"/>
                <a:ext cx="3665855" cy="3415030"/>
              </a:xfrm>
              <a:prstGeom prst="rect">
                <a:avLst/>
              </a:prstGeom>
              <a:blipFill rotWithShape="1">
                <a:blip r:embed="rId2"/>
                <a:stretch>
                  <a:fillRect l="-12" t="-7" r="12"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8" name="TextBox 7"/>
              <p:cNvSpPr txBox="1"/>
              <p:nvPr/>
            </p:nvSpPr>
            <p:spPr>
              <a:xfrm>
                <a:off x="1041609" y="2197991"/>
                <a:ext cx="2044491" cy="3785652"/>
              </a:xfrm>
              <a:prstGeom prst="rect">
                <a:avLst/>
              </a:prstGeom>
              <a:noFill/>
            </p:spPr>
            <p:txBody>
              <a:bodyPr wrap="square" rtlCol="0">
                <a:spAutoFit/>
              </a:bodyPr>
              <a:lstStyle/>
              <a:p>
                <a:r>
                  <a:rPr lang="en-AU" sz="2400" b="0" dirty="0"/>
                  <a:t>1.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endParaRPr lang="en-AU" sz="2400" dirty="0"/>
              </a:p>
              <a:p>
                <a:r>
                  <a:rPr lang="en-AU" sz="2400" b="0" dirty="0"/>
                  <a:t>2.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dirty="0"/>
              </a:p>
              <a:p>
                <a:r>
                  <a:rPr lang="en-AU" sz="2400" b="0" dirty="0"/>
                  <a:t>3.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b="0" dirty="0">
                  <a:ea typeface="Cambria Math" panose="02040503050406030204" pitchFamily="18" charset="0"/>
                </a:endParaRPr>
              </a:p>
              <a:p>
                <a:r>
                  <a:rPr lang="en-AU" sz="2400" b="0" dirty="0"/>
                  <a:t>4.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oMath>
                </a14:m>
                <a:endParaRPr lang="en-AU" sz="2400" dirty="0"/>
              </a:p>
              <a:p>
                <a:r>
                  <a:rPr lang="en-AU" sz="2400" b="0" dirty="0">
                    <a:ea typeface="Cambria Math" panose="02040503050406030204" pitchFamily="18" charset="0"/>
                  </a:rPr>
                  <a:t>5.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a14:m>
                <a:endParaRPr lang="en-AU" sz="2400" dirty="0"/>
              </a:p>
              <a:p>
                <a:r>
                  <a:rPr lang="en-AU" sz="2400" b="0" dirty="0">
                    <a:ea typeface="Cambria Math" panose="02040503050406030204" pitchFamily="18" charset="0"/>
                  </a:rPr>
                  <a:t>6.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a14:m>
                <a:endParaRPr lang="en-AU" sz="2400" dirty="0"/>
              </a:p>
              <a:p>
                <a:r>
                  <a:rPr lang="en-AU" sz="2400" b="0" dirty="0">
                    <a:ea typeface="Cambria Math" panose="02040503050406030204" pitchFamily="18" charset="0"/>
                  </a:rPr>
                  <a:t>7.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a14:m>
                <a:endParaRPr lang="en-AU" sz="2400" dirty="0"/>
              </a:p>
              <a:p>
                <a:r>
                  <a:rPr lang="en-AU" sz="2400" b="0" dirty="0">
                    <a:ea typeface="Cambria Math" panose="02040503050406030204" pitchFamily="18" charset="0"/>
                  </a:rPr>
                  <a:t>8.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a14:m>
                <a:endParaRPr lang="en-AU" sz="2400" dirty="0"/>
              </a:p>
              <a:p>
                <a:r>
                  <a:rPr lang="en-AU" sz="2400" b="0" dirty="0">
                    <a:ea typeface="Cambria Math" panose="02040503050406030204" pitchFamily="18" charset="0"/>
                  </a:rPr>
                  <a:t>9.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a14:m>
                <a:endParaRPr lang="en-AU" sz="2400" dirty="0"/>
              </a:p>
              <a:p>
                <a:r>
                  <a:rPr lang="en-AU" sz="2400" b="0" dirty="0">
                    <a:ea typeface="Cambria Math" panose="02040503050406030204" pitchFamily="18" charset="0"/>
                  </a:rPr>
                  <a:t>10.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1041609" y="2197991"/>
                <a:ext cx="2044491" cy="3785652"/>
              </a:xfrm>
              <a:prstGeom prst="rect">
                <a:avLst/>
              </a:prstGeom>
              <a:blipFill rotWithShape="1">
                <a:blip r:embed="rId3"/>
                <a:stretch>
                  <a:fillRect l="-10" t="-7" b="1"/>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归约和派生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75167"/>
                <a:ext cx="8229600" cy="4525963"/>
              </a:xfrm>
            </p:spPr>
            <p:txBody>
              <a:bodyPr/>
              <a:lstStyle/>
              <a:p>
                <a:r>
                  <a:rPr lang="zh-CN" altLang="en-US" dirty="0"/>
                  <a:t>用算数表达式文法</a:t>
                </a:r>
                <a14:m>
                  <m:oMath xmlns:m="http://schemas.openxmlformats.org/officeDocument/2006/math">
                    <m:sSub>
                      <m:sSubPr>
                        <m:ctrlPr>
                          <a:rPr lang="en-US" altLang="zh-CN" b="0"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en-AU" dirty="0"/>
                  <a:t>, </a:t>
                </a:r>
                <a:r>
                  <a:rPr lang="zh-CN" altLang="en-US" dirty="0"/>
                  <a:t>将 </a:t>
                </a:r>
                <a14:m>
                  <m:oMath xmlns:m="http://schemas.openxmlformats.org/officeDocument/2006/math">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𝑎</m:t>
                    </m:r>
                    <m:r>
                      <a:rPr lang="en-AU" i="1" dirty="0" smtClean="0">
                        <a:latin typeface="Cambria Math" panose="02040503050406030204" pitchFamily="18" charset="0"/>
                      </a:rPr>
                      <m:t> + </m:t>
                    </m:r>
                    <m:r>
                      <a:rPr lang="en-AU" i="1" dirty="0" smtClean="0">
                        <a:latin typeface="Cambria Math" panose="02040503050406030204" pitchFamily="18" charset="0"/>
                      </a:rPr>
                      <m:t>𝑏</m:t>
                    </m:r>
                    <m:r>
                      <a:rPr lang="en-AU" i="1" dirty="0" smtClean="0">
                        <a:latin typeface="Cambria Math" panose="02040503050406030204" pitchFamily="18" charset="0"/>
                      </a:rPr>
                      <m:t>00</m:t>
                    </m:r>
                    <m:r>
                      <a:rPr lang="en-AU" i="1" dirty="0" smtClean="0">
                        <a:latin typeface="Cambria Math" panose="02040503050406030204" pitchFamily="18" charset="0"/>
                      </a:rPr>
                      <m:t>) </m:t>
                    </m:r>
                  </m:oMath>
                </a14:m>
                <a:r>
                  <a:rPr lang="zh-CN" altLang="en-US" dirty="0"/>
                  <a:t>归约的过程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975167"/>
                <a:ext cx="8229600" cy="4525963"/>
              </a:xfrm>
              <a:blipFill rotWithShape="1">
                <a:blip r:embed="rId1"/>
                <a:stretch>
                  <a:fillRect t="-10"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4628333" y="1989516"/>
                <a:ext cx="4335780" cy="4523105"/>
              </a:xfrm>
              <a:prstGeom prst="rect">
                <a:avLst/>
              </a:prstGeom>
              <a:noFill/>
            </p:spPr>
            <p:txBody>
              <a:bodyPr wrap="none" rtlCol="0">
                <a:spAutoFit/>
              </a:bodyPr>
              <a:lstStyle/>
              <a:p>
                <a:pPr algn="l"/>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r>
                  <a:rPr lang="en-AU" sz="2400" dirty="0"/>
                  <a:t>:</a:t>
                </a:r>
                <a:endParaRPr lang="en-AU" sz="2400" dirty="0"/>
              </a:p>
              <a:p>
                <a:pPr algn="l"/>
                <a:endParaRPr lang="en-AU" altLang="zh-CN"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(5),(6):</a:t>
                </a:r>
                <a14:m>
                  <m:oMath xmlns:m="http://schemas.openxmlformats.org/officeDocument/2006/math">
                    <m:r>
                      <a:rPr lang="en-AU" altLang="zh-CN" sz="2400" b="0" i="0" smtClean="0">
                        <a:latin typeface="Cambria Math" panose="02040503050406030204" pitchFamily="18" charset="0"/>
                      </a:rPr>
                      <m:t> </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00</m:t>
                    </m:r>
                    <m:r>
                      <a:rPr lang="en-AU" altLang="zh-CN" sz="2400" b="0" i="1" smtClean="0">
                        <a:latin typeface="Cambria Math" panose="02040503050406030204" pitchFamily="18" charset="0"/>
                      </a:rPr>
                      <m:t>)</m:t>
                    </m:r>
                  </m:oMath>
                </a14:m>
                <a:endParaRPr lang="en-AU"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oMath>
                </a14:m>
                <a:endParaRPr lang="en-AU"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𝐼</m:t>
                    </m:r>
                    <m:r>
                      <a:rPr lang="en-AU" altLang="zh-CN" sz="2400" b="0" i="1" smtClean="0">
                        <a:latin typeface="Cambria Math" panose="02040503050406030204" pitchFamily="18" charset="0"/>
                      </a:rPr>
                      <m:t>)</m:t>
                    </m:r>
                  </m:oMath>
                </a14:m>
                <a:endParaRPr lang="en-AU"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oMath>
                </a14:m>
                <a:endParaRPr lang="en-AU" sz="2400" dirty="0"/>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r>
                      <a:rPr lang="en-US" altLang="en-AU" sz="2400" b="0" i="1" smtClean="0">
                        <a:latin typeface="Cambria Math" panose="02040503050406030204" pitchFamily="18" charset="0"/>
                      </a:rPr>
                      <m:t>)</m:t>
                    </m:r>
                  </m:oMath>
                </a14:m>
                <a:endParaRPr lang="en-US" altLang="en-AU" sz="2400" b="0" i="1">
                  <a:latin typeface="Cambria Math" panose="02040503050406030204" pitchFamily="18" charset="0"/>
                </a:endParaRPr>
              </a:p>
              <a:p>
                <a:pPr algn="l"/>
                <a:r>
                  <a:rPr lang="zh-CN" altLang="en-US" sz="2400" dirty="0">
                    <a:latin typeface="楷体" panose="02010609060101010101" pitchFamily="49" charset="-122"/>
                    <a:ea typeface="楷体" panose="02010609060101010101" pitchFamily="49" charset="-122"/>
                  </a:rPr>
                  <a:t>利用(4):</a:t>
                </a:r>
                <a:r>
                  <a:rPr lang="en-US" altLang="zh-CN" sz="2400" dirty="0">
                    <a:latin typeface="楷体" panose="02010609060101010101" pitchFamily="49" charset="-122"/>
                    <a:ea typeface="楷体" panose="02010609060101010101" pitchFamily="49" charset="-122"/>
                  </a:rPr>
                  <a:t> </a:t>
                </a:r>
                <a14:m>
                  <m:oMath xmlns:m="http://schemas.openxmlformats.org/officeDocument/2006/math">
                    <m:r>
                      <a:rPr lang="en-AU" altLang="zh-CN" sz="2400" b="0" i="1" smtClean="0">
                        <a:latin typeface="Cambria Math" panose="02040503050406030204" pitchFamily="18" charset="0"/>
                      </a:rPr>
                      <m:t>𝐸</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𝐸</m:t>
                    </m:r>
                  </m:oMath>
                </a14:m>
                <a:endParaRPr lang="zh-CN" altLang="en-US" sz="2400" dirty="0">
                  <a:latin typeface="楷体" panose="02010609060101010101" pitchFamily="49" charset="-122"/>
                  <a:ea typeface="楷体" panose="02010609060101010101" pitchFamily="49" charset="-122"/>
                </a:endParaRPr>
              </a:p>
              <a:p>
                <a:pPr algn="l"/>
                <a:r>
                  <a:rPr lang="zh-CN" altLang="en-US" sz="2400" dirty="0">
                    <a:latin typeface="楷体" panose="02010609060101010101" pitchFamily="49" charset="-122"/>
                    <a:ea typeface="楷体" panose="02010609060101010101" pitchFamily="49" charset="-122"/>
                  </a:rPr>
                  <a:t>利用</a:t>
                </a:r>
                <a:r>
                  <a:rPr lang="en-AU" altLang="zh-CN" sz="2400" dirty="0">
                    <a:latin typeface="楷体" panose="02010609060101010101" pitchFamily="49" charset="-122"/>
                    <a:ea typeface="楷体" panose="02010609060101010101" pitchFamily="49" charset="-122"/>
                  </a:rPr>
                  <a:t>(3): </a:t>
                </a:r>
                <a14:m>
                  <m:oMath xmlns:m="http://schemas.openxmlformats.org/officeDocument/2006/math">
                    <m:r>
                      <a:rPr lang="en-AU" altLang="zh-CN" sz="2400" b="0" i="1" smtClean="0">
                        <a:latin typeface="Cambria Math" panose="02040503050406030204" pitchFamily="18" charset="0"/>
                      </a:rPr>
                      <m:t>𝐸</m:t>
                    </m:r>
                  </m:oMath>
                </a14:m>
                <a:endParaRPr lang="en-AU" sz="2400" dirty="0"/>
              </a:p>
              <a:p>
                <a:pPr algn="l"/>
                <a:endParaRPr lang="en-AU" sz="2400" dirty="0"/>
              </a:p>
              <a:p>
                <a:pPr algn="l"/>
                <a:r>
                  <a:rPr lang="zh-CN" altLang="en-US" sz="2400" dirty="0">
                    <a:latin typeface="楷体" panose="02010609060101010101" pitchFamily="49" charset="-122"/>
                    <a:ea typeface="楷体" panose="02010609060101010101" pitchFamily="49" charset="-122"/>
                  </a:rPr>
                  <a:t>可以归约到文法的开始符号</a:t>
                </a:r>
                <a14:m>
                  <m:oMath xmlns:m="http://schemas.openxmlformats.org/officeDocument/2006/math">
                    <m:r>
                      <a:rPr lang="en-AU" altLang="zh-CN" sz="2400" b="0" i="1" smtClean="0">
                        <a:latin typeface="Cambria Math" panose="02040503050406030204" pitchFamily="18" charset="0"/>
                        <a:ea typeface="楷体" panose="02010609060101010101" pitchFamily="49" charset="-122"/>
                      </a:rPr>
                      <m:t>𝐸</m:t>
                    </m:r>
                  </m:oMath>
                </a14:m>
                <a:r>
                  <a:rPr lang="zh-CN" altLang="en-US" sz="2400" dirty="0">
                    <a:latin typeface="楷体" panose="02010609060101010101" pitchFamily="49" charset="-122"/>
                    <a:ea typeface="楷体" panose="02010609060101010101" pitchFamily="49" charset="-122"/>
                  </a:rPr>
                  <a:t>。</a:t>
                </a:r>
                <a:endParaRPr lang="en-AU" sz="2400" dirty="0">
                  <a:latin typeface="楷体" panose="02010609060101010101" pitchFamily="49" charset="-122"/>
                  <a:ea typeface="楷体" panose="02010609060101010101" pitchFamily="49" charset="-122"/>
                </a:endParaRPr>
              </a:p>
              <a:p>
                <a:endParaRPr lang="en-AU" sz="2400" dirty="0"/>
              </a:p>
            </p:txBody>
          </p:sp>
        </mc:Choice>
        <mc:Fallback>
          <p:sp>
            <p:nvSpPr>
              <p:cNvPr id="7" name="TextBox 6"/>
              <p:cNvSpPr txBox="1">
                <a:spLocks noRot="1" noChangeAspect="1" noMove="1" noResize="1" noEditPoints="1" noAdjustHandles="1" noChangeArrowheads="1" noChangeShapeType="1" noTextEdit="1"/>
              </p:cNvSpPr>
              <p:nvPr/>
            </p:nvSpPr>
            <p:spPr>
              <a:xfrm>
                <a:off x="4628333" y="1989516"/>
                <a:ext cx="4335780" cy="4523105"/>
              </a:xfrm>
              <a:prstGeom prst="rect">
                <a:avLst/>
              </a:prstGeom>
              <a:blipFill rotWithShape="1">
                <a:blip r:embed="rId2"/>
                <a:stretch>
                  <a:fillRect l="-10" t="-1" r="-1396" b="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8" name="TextBox 7"/>
              <p:cNvSpPr txBox="1"/>
              <p:nvPr/>
            </p:nvSpPr>
            <p:spPr>
              <a:xfrm>
                <a:off x="1041609" y="2202901"/>
                <a:ext cx="2044491" cy="3785652"/>
              </a:xfrm>
              <a:prstGeom prst="rect">
                <a:avLst/>
              </a:prstGeom>
              <a:noFill/>
            </p:spPr>
            <p:txBody>
              <a:bodyPr wrap="square" rtlCol="0">
                <a:spAutoFit/>
              </a:bodyPr>
              <a:lstStyle/>
              <a:p>
                <a:r>
                  <a:rPr lang="en-AU" sz="2400" b="0" dirty="0"/>
                  <a:t>1.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endParaRPr lang="en-AU" sz="2400" dirty="0"/>
              </a:p>
              <a:p>
                <a:r>
                  <a:rPr lang="en-AU" sz="2400" b="0" dirty="0"/>
                  <a:t>2.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dirty="0"/>
              </a:p>
              <a:p>
                <a:r>
                  <a:rPr lang="en-AU" sz="2400" b="0" dirty="0"/>
                  <a:t>3.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oMath>
                </a14:m>
                <a:endParaRPr lang="en-AU" sz="2400" b="0" dirty="0">
                  <a:ea typeface="Cambria Math" panose="02040503050406030204" pitchFamily="18" charset="0"/>
                </a:endParaRPr>
              </a:p>
              <a:p>
                <a:r>
                  <a:rPr lang="en-AU" sz="2400" b="0" dirty="0"/>
                  <a:t>4. </a:t>
                </a:r>
                <a14:m>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oMath>
                </a14:m>
                <a:endParaRPr lang="en-AU" sz="2400" dirty="0"/>
              </a:p>
              <a:p>
                <a:r>
                  <a:rPr lang="en-AU" sz="2400" b="0" dirty="0">
                    <a:ea typeface="Cambria Math" panose="02040503050406030204" pitchFamily="18" charset="0"/>
                  </a:rPr>
                  <a:t>5.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a14:m>
                <a:endParaRPr lang="en-AU" sz="2400" dirty="0"/>
              </a:p>
              <a:p>
                <a:r>
                  <a:rPr lang="en-AU" sz="2400" b="0" dirty="0">
                    <a:ea typeface="Cambria Math" panose="02040503050406030204" pitchFamily="18" charset="0"/>
                  </a:rPr>
                  <a:t>6.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a14:m>
                <a:endParaRPr lang="en-AU" sz="2400" dirty="0"/>
              </a:p>
              <a:p>
                <a:r>
                  <a:rPr lang="en-AU" sz="2400" b="0" dirty="0">
                    <a:ea typeface="Cambria Math" panose="02040503050406030204" pitchFamily="18" charset="0"/>
                  </a:rPr>
                  <a:t>7.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a14:m>
                <a:endParaRPr lang="en-AU" sz="2400" dirty="0"/>
              </a:p>
              <a:p>
                <a:r>
                  <a:rPr lang="en-AU" sz="2400" b="0" dirty="0">
                    <a:ea typeface="Cambria Math" panose="02040503050406030204" pitchFamily="18" charset="0"/>
                  </a:rPr>
                  <a:t>8.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a14:m>
                <a:endParaRPr lang="en-AU" sz="2400" dirty="0"/>
              </a:p>
              <a:p>
                <a:r>
                  <a:rPr lang="en-AU" sz="2400" b="0" dirty="0">
                    <a:ea typeface="Cambria Math" panose="02040503050406030204" pitchFamily="18" charset="0"/>
                  </a:rPr>
                  <a:t>9.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a14:m>
                <a:endParaRPr lang="en-AU" sz="2400" dirty="0"/>
              </a:p>
              <a:p>
                <a:r>
                  <a:rPr lang="en-AU" sz="2400" b="0" dirty="0">
                    <a:ea typeface="Cambria Math" panose="02040503050406030204" pitchFamily="18" charset="0"/>
                  </a:rPr>
                  <a:t>10. </a:t>
                </a:r>
                <a14:m>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1041609" y="2202901"/>
                <a:ext cx="2044491" cy="3785652"/>
              </a:xfrm>
              <a:prstGeom prst="rect">
                <a:avLst/>
              </a:prstGeom>
              <a:blipFill rotWithShape="1">
                <a:blip r:embed="rId3"/>
                <a:stretch>
                  <a:fillRect l="-10" t="-2" b="13"/>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派生和归约的形式定义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58240"/>
                <a:ext cx="8229600" cy="4525963"/>
              </a:xfrm>
            </p:spPr>
            <p:txBody>
              <a:bodyPr/>
              <a:lstStyle/>
              <a:p>
                <a:r>
                  <a:rPr lang="zh-CN" altLang="en-US" dirty="0"/>
                  <a:t>例：算数表达式 </a:t>
                </a:r>
                <a14:m>
                  <m:oMath xmlns:m="http://schemas.openxmlformats.org/officeDocument/2006/math">
                    <m:r>
                      <a:rPr lang="en-AU" altLang="zh-CN" i="1" dirty="0" smtClean="0">
                        <a:latin typeface="Cambria Math" panose="02040503050406030204" pitchFamily="18" charset="0"/>
                      </a:rPr>
                      <m:t>𝑎</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𝑎</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𝑏</m:t>
                    </m:r>
                    <m:r>
                      <a:rPr lang="en-AU" altLang="zh-CN" i="1" dirty="0" smtClean="0">
                        <a:latin typeface="Cambria Math" panose="02040503050406030204" pitchFamily="18" charset="0"/>
                      </a:rPr>
                      <m:t>00</m:t>
                    </m:r>
                    <m:r>
                      <a:rPr lang="en-AU" altLang="zh-CN" i="1" dirty="0" smtClean="0">
                        <a:latin typeface="Cambria Math" panose="02040503050406030204" pitchFamily="18" charset="0"/>
                      </a:rPr>
                      <m:t>)</m:t>
                    </m:r>
                  </m:oMath>
                </a14:m>
                <a:r>
                  <a:rPr lang="en-AU" altLang="zh-CN" dirty="0"/>
                  <a:t> </a:t>
                </a:r>
                <a:r>
                  <a:rPr lang="zh-CN" altLang="en-US" dirty="0"/>
                  <a:t>在文法</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zh-CN" altLang="en-US" dirty="0"/>
                  <a:t>中的派生过程</a:t>
                </a:r>
                <a:r>
                  <a:rPr lang="en-AU" altLang="zh-CN"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58240"/>
                <a:ext cx="8229600" cy="4525963"/>
              </a:xfrm>
              <a:blipFill rotWithShape="1">
                <a:blip r:embed="rId1"/>
                <a:stretch>
                  <a:fillRect b="7"/>
                </a:stretch>
              </a:blipFill>
            </p:spPr>
            <p:txBody>
              <a:bodyPr/>
              <a:lstStyle/>
              <a:p>
                <a:r>
                  <a:rPr lang="zh-CN" altLang="en-US">
                    <a:noFill/>
                  </a:rPr>
                  <a:t> </a:t>
                </a:r>
              </a:p>
            </p:txBody>
          </p:sp>
        </mc:Fallback>
      </mc:AlternateContent>
      <p:pic>
        <p:nvPicPr>
          <p:cNvPr id="5" name="Picture 4" descr="Text, letter&#10;&#10;Description automatically generated"/>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67257" y="2490233"/>
            <a:ext cx="7071231" cy="2792839"/>
          </a:xfrm>
          <a:prstGeom prst="rect">
            <a:avLst/>
          </a:prstGeom>
        </p:spPr>
      </p:pic>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792866" y="1187926"/>
            <a:ext cx="8229600" cy="4525963"/>
          </a:xfrm>
        </p:spPr>
        <p:txBody>
          <a:bodyPr/>
          <a:lstStyle/>
          <a:p>
            <a:r>
              <a:rPr lang="zh-CN" altLang="en-US" dirty="0"/>
              <a:t>上下文无关文法</a:t>
            </a:r>
            <a:endParaRPr lang="en-AU" altLang="zh-CN" dirty="0"/>
          </a:p>
          <a:p>
            <a:pPr lvl="1"/>
            <a:r>
              <a:rPr lang="zh-CN" altLang="en-US" dirty="0"/>
              <a:t>形式定义</a:t>
            </a:r>
            <a:endParaRPr lang="en-AU" altLang="zh-CN" dirty="0"/>
          </a:p>
          <a:p>
            <a:pPr lvl="1"/>
            <a:r>
              <a:rPr lang="zh-CN" altLang="en-US" dirty="0"/>
              <a:t>归约和派生</a:t>
            </a:r>
            <a:endParaRPr lang="en-AU" altLang="zh-CN" dirty="0"/>
          </a:p>
          <a:p>
            <a:pPr lvl="1"/>
            <a:r>
              <a:rPr lang="zh-CN" altLang="en-US" dirty="0">
                <a:solidFill>
                  <a:srgbClr val="FF0000"/>
                </a:solidFill>
              </a:rPr>
              <a:t>最左派生和最右派生</a:t>
            </a:r>
            <a:endParaRPr lang="en-AU" altLang="zh-CN" dirty="0">
              <a:solidFill>
                <a:srgbClr val="FF0000"/>
              </a:solidFill>
            </a:endParaRPr>
          </a:p>
          <a:p>
            <a:pPr lvl="1"/>
            <a:r>
              <a:rPr lang="zh-CN" altLang="en-US" dirty="0"/>
              <a:t>文法的语言</a:t>
            </a:r>
            <a:endParaRPr lang="en-AU" altLang="zh-CN" dirty="0"/>
          </a:p>
          <a:p>
            <a:r>
              <a:rPr lang="zh-CN" altLang="en-US" dirty="0">
                <a:solidFill>
                  <a:schemeClr val="bg1">
                    <a:lumMod val="75000"/>
                  </a:schemeClr>
                </a:solidFill>
              </a:rPr>
              <a:t>语法分析树</a:t>
            </a:r>
            <a:endParaRPr lang="en-AU" altLang="zh-CN" dirty="0">
              <a:solidFill>
                <a:schemeClr val="bg1">
                  <a:lumMod val="75000"/>
                </a:schemeClr>
              </a:solidFill>
            </a:endParaRPr>
          </a:p>
          <a:p>
            <a:r>
              <a:rPr lang="zh-CN" altLang="en-US" dirty="0">
                <a:solidFill>
                  <a:schemeClr val="bg1">
                    <a:lumMod val="75000"/>
                  </a:schemeClr>
                </a:solidFill>
              </a:rPr>
              <a:t>文法和语言的歧义性</a:t>
            </a:r>
            <a:endParaRPr lang="en-AU" altLang="zh-CN" dirty="0">
              <a:solidFill>
                <a:schemeClr val="bg1">
                  <a:lumMod val="75000"/>
                </a:schemeClr>
              </a:solidFill>
            </a:endParaRPr>
          </a:p>
          <a:p>
            <a:r>
              <a:rPr lang="zh-CN" altLang="en-US" dirty="0">
                <a:solidFill>
                  <a:schemeClr val="bg1">
                    <a:lumMod val="75000"/>
                  </a:schemeClr>
                </a:solidFill>
              </a:rPr>
              <a:t>文法的化简与范式</a:t>
            </a:r>
            <a:endParaRPr lang="en-AU" altLang="zh-CN" dirty="0">
              <a:solidFill>
                <a:schemeClr val="bg1">
                  <a:lumMod val="7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最左派生和最右派生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为限制派生的随意性</a:t>
                </a:r>
                <a:r>
                  <a:rPr lang="en-US" altLang="zh-CN" dirty="0"/>
                  <a:t>, </a:t>
                </a:r>
                <a:r>
                  <a:rPr lang="zh-CN" altLang="en-US" dirty="0"/>
                  <a:t>要求只替换符号串中最左边变元的派生过程</a:t>
                </a:r>
                <a:r>
                  <a:rPr lang="en-US" altLang="zh-CN" dirty="0"/>
                  <a:t>, </a:t>
                </a:r>
                <a:r>
                  <a:rPr lang="zh-CN" altLang="en-US" dirty="0"/>
                  <a:t>称为最左派生</a:t>
                </a:r>
                <a:r>
                  <a:rPr lang="en-US" altLang="zh-CN" dirty="0"/>
                  <a:t>, </a:t>
                </a:r>
                <a:r>
                  <a:rPr lang="zh-CN" altLang="en-US" dirty="0"/>
                  <a:t>记为</a:t>
                </a:r>
                <a:endParaRPr lang="en-AU" altLang="zh-CN" dirty="0"/>
              </a:p>
              <a:p>
                <a:pPr marL="0" indent="0" algn="ctr">
                  <a:buNone/>
                </a:pPr>
                <a14:m>
                  <m:oMath xmlns:m="http://schemas.openxmlformats.org/officeDocument/2006/math">
                    <m:groupChr>
                      <m:groupChrPr>
                        <m:chr m:val="⇒"/>
                        <m:pos m:val="top"/>
                        <m:ctrlPr>
                          <a:rPr lang="en-AU" i="1" smtClean="0">
                            <a:latin typeface="Cambria Math" panose="02040503050406030204" pitchFamily="18" charset="0"/>
                          </a:rPr>
                        </m:ctrlPr>
                      </m:groupChrPr>
                      <m:e>
                        <m:r>
                          <m:rPr>
                            <m:brk m:alnAt="1"/>
                          </m:rPr>
                          <a:rPr lang="en-AU" b="0" i="1" smtClean="0">
                            <a:latin typeface="Cambria Math" panose="02040503050406030204" pitchFamily="18" charset="0"/>
                          </a:rPr>
                          <m:t>𝑙</m:t>
                        </m:r>
                        <m:r>
                          <a:rPr lang="en-AU" b="0" i="1" smtClean="0">
                            <a:latin typeface="Cambria Math" panose="02040503050406030204" pitchFamily="18" charset="0"/>
                          </a:rPr>
                          <m:t>𝑚</m:t>
                        </m:r>
                      </m:e>
                    </m:groupChr>
                  </m:oMath>
                </a14:m>
                <a:r>
                  <a:rPr lang="en-AU" dirty="0"/>
                  <a:t>, </a:t>
                </a:r>
                <a14:m>
                  <m:oMath xmlns:m="http://schemas.openxmlformats.org/officeDocument/2006/math">
                    <m:groupChr>
                      <m:groupChrPr>
                        <m:chr m:val="⇒"/>
                        <m:pos m:val="top"/>
                        <m:ctrlPr>
                          <a:rPr lang="en-AU" i="1">
                            <a:latin typeface="Cambria Math" panose="02040503050406030204" pitchFamily="18" charset="0"/>
                          </a:rPr>
                        </m:ctrlPr>
                      </m:groupChrPr>
                      <m:e>
                        <m:r>
                          <m:rPr>
                            <m:brk m:alnAt="1"/>
                          </m:rPr>
                          <a:rPr lang="en-AU" i="1">
                            <a:latin typeface="Cambria Math" panose="02040503050406030204" pitchFamily="18" charset="0"/>
                          </a:rPr>
                          <m:t>𝑙</m:t>
                        </m:r>
                        <m:r>
                          <a:rPr lang="en-AU" i="1">
                            <a:latin typeface="Cambria Math" panose="02040503050406030204" pitchFamily="18" charset="0"/>
                          </a:rPr>
                          <m:t>𝑚</m:t>
                        </m:r>
                      </m:e>
                    </m:groupChr>
                  </m:oMath>
                </a14:m>
                <a:endParaRPr lang="en-AU" dirty="0"/>
              </a:p>
              <a:p>
                <a:pPr marL="0" indent="0">
                  <a:buNone/>
                </a:pPr>
                <a:r>
                  <a:rPr lang="zh-CN" altLang="en-US" dirty="0"/>
                  <a:t>只替换最右的，称为最右派生，记为</a:t>
                </a:r>
                <a:endParaRPr lang="en-AU" altLang="zh-CN" dirty="0"/>
              </a:p>
              <a:p>
                <a:pPr marL="0" indent="0" algn="ctr">
                  <a:buNone/>
                </a:pPr>
                <a14:m>
                  <m:oMath xmlns:m="http://schemas.openxmlformats.org/officeDocument/2006/math">
                    <m:groupChr>
                      <m:groupChrPr>
                        <m:chr m:val="⇒"/>
                        <m:pos m:val="top"/>
                        <m:ctrlPr>
                          <a:rPr lang="en-AU" i="1" smtClean="0">
                            <a:latin typeface="Cambria Math" panose="02040503050406030204" pitchFamily="18" charset="0"/>
                          </a:rPr>
                        </m:ctrlPr>
                      </m:groupChrPr>
                      <m:e>
                        <m:r>
                          <m:rPr>
                            <m:brk m:alnAt="1"/>
                          </m:rPr>
                          <a:rPr lang="en-AU" b="0" i="1" smtClean="0">
                            <a:latin typeface="Cambria Math" panose="02040503050406030204" pitchFamily="18" charset="0"/>
                          </a:rPr>
                          <m:t>𝑟</m:t>
                        </m:r>
                        <m:r>
                          <a:rPr lang="en-AU" b="0" i="1" smtClean="0">
                            <a:latin typeface="Cambria Math" panose="02040503050406030204" pitchFamily="18" charset="0"/>
                          </a:rPr>
                          <m:t>𝑚</m:t>
                        </m:r>
                      </m:e>
                    </m:groupChr>
                  </m:oMath>
                </a14:m>
                <a:r>
                  <a:rPr lang="en-AU" dirty="0"/>
                  <a:t>, </a:t>
                </a:r>
                <a14:m>
                  <m:oMath xmlns:m="http://schemas.openxmlformats.org/officeDocument/2006/math">
                    <m:groupChr>
                      <m:groupChrPr>
                        <m:chr m:val="⇒"/>
                        <m:pos m:val="top"/>
                        <m:ctrlPr>
                          <a:rPr lang="en-AU" i="1">
                            <a:latin typeface="Cambria Math" panose="02040503050406030204" pitchFamily="18" charset="0"/>
                          </a:rPr>
                        </m:ctrlPr>
                      </m:groupChrPr>
                      <m:e>
                        <m:r>
                          <m:rPr>
                            <m:brk m:alnAt="1"/>
                          </m:rPr>
                          <a:rPr lang="en-AU" b="0" i="1" smtClean="0">
                            <a:latin typeface="Cambria Math" panose="02040503050406030204" pitchFamily="18" charset="0"/>
                          </a:rPr>
                          <m:t>𝑟</m:t>
                        </m:r>
                        <m:r>
                          <a:rPr lang="en-AU" i="1">
                            <a:latin typeface="Cambria Math" panose="02040503050406030204" pitchFamily="18" charset="0"/>
                          </a:rPr>
                          <m:t>𝑚</m:t>
                        </m:r>
                      </m:e>
                    </m:groupChr>
                  </m:oMath>
                </a14:m>
                <a:endParaRPr lang="en-AU" dirty="0"/>
              </a:p>
              <a:p>
                <a:r>
                  <a:rPr lang="zh-CN" altLang="en-US" dirty="0"/>
                  <a:t>任何派生都有等价的最左派生和最右派生。</a:t>
                </a:r>
                <a:endParaRPr lang="en-AU" dirty="0"/>
              </a:p>
              <a:p>
                <a:pPr marL="0" indent="0">
                  <a:buNone/>
                </a:pPr>
                <a:endParaRPr lang="en-AU" altLang="zh-CN" dirty="0"/>
              </a:p>
              <a:p>
                <a:pPr marL="0" indent="0">
                  <a:buNone/>
                </a:pPr>
                <a14:m>
                  <m:oMath xmlns:m="http://schemas.openxmlformats.org/officeDocument/2006/math">
                    <m:r>
                      <a:rPr lang="en-AU" b="0" i="1" smtClean="0">
                        <a:latin typeface="Cambria Math" panose="02040503050406030204" pitchFamily="18" charset="0"/>
                      </a:rPr>
                      <m:t>𝐴</m:t>
                    </m:r>
                    <m:groupChr>
                      <m:groupChrPr>
                        <m:chr m:val="⇒"/>
                        <m:vertJc m:val="bot"/>
                        <m:ctrlPr>
                          <a:rPr lang="en-AU" b="0" i="1" smtClean="0">
                            <a:latin typeface="Cambria Math" panose="02040503050406030204" pitchFamily="18" charset="0"/>
                          </a:rPr>
                        </m:ctrlPr>
                      </m:groupChrPr>
                      <m:e>
                        <m:r>
                          <m:rPr>
                            <m:brk m:alnAt="2"/>
                          </m:rPr>
                          <a:rPr lang="en-AU" b="0" i="1" smtClean="0">
                            <a:latin typeface="Cambria Math" panose="02040503050406030204" pitchFamily="18" charset="0"/>
                          </a:rPr>
                          <m:t>∗</m:t>
                        </m:r>
                      </m:e>
                    </m:groupChr>
                    <m:r>
                      <a:rPr lang="en-AU" b="0" i="1" smtClean="0">
                        <a:latin typeface="Cambria Math" panose="02040503050406030204" pitchFamily="18" charset="0"/>
                      </a:rPr>
                      <m:t>𝑤</m:t>
                    </m:r>
                  </m:oMath>
                </a14:m>
                <a:r>
                  <a:rPr lang="zh-CN" altLang="en-US" dirty="0"/>
                  <a:t>当且仅当</a:t>
                </a:r>
                <a14:m>
                  <m:oMath xmlns:m="http://schemas.openxmlformats.org/officeDocument/2006/math">
                    <m:r>
                      <a:rPr lang="en-AU" i="1">
                        <a:latin typeface="Cambria Math" panose="02040503050406030204" pitchFamily="18" charset="0"/>
                      </a:rPr>
                      <m:t>𝐴</m:t>
                    </m:r>
                    <m:groupChr>
                      <m:groupChrPr>
                        <m:chr m:val="⇒"/>
                        <m:pos m:val="top"/>
                        <m:ctrlPr>
                          <a:rPr lang="en-AU" i="1" smtClean="0">
                            <a:latin typeface="Cambria Math" panose="02040503050406030204" pitchFamily="18" charset="0"/>
                          </a:rPr>
                        </m:ctrlPr>
                      </m:groupChrPr>
                      <m:e>
                        <m:r>
                          <m:rPr>
                            <m:brk m:alnAt="1"/>
                          </m:rPr>
                          <a:rPr lang="en-AU" b="0" i="1" smtClean="0">
                            <a:latin typeface="Cambria Math" panose="02040503050406030204" pitchFamily="18" charset="0"/>
                          </a:rPr>
                          <m:t>𝑙</m:t>
                        </m:r>
                        <m:r>
                          <a:rPr lang="en-AU" b="0" i="1" smtClean="0">
                            <a:latin typeface="Cambria Math" panose="02040503050406030204" pitchFamily="18" charset="0"/>
                          </a:rPr>
                          <m:t>𝑚</m:t>
                        </m:r>
                      </m:e>
                    </m:groupChr>
                    <m:r>
                      <a:rPr lang="en-AU" b="0" i="1" smtClean="0">
                        <a:latin typeface="Cambria Math" panose="02040503050406030204" pitchFamily="18" charset="0"/>
                      </a:rPr>
                      <m:t>𝑤</m:t>
                    </m:r>
                  </m:oMath>
                </a14:m>
                <a:r>
                  <a:rPr lang="en-AU" dirty="0"/>
                  <a:t>,</a:t>
                </a:r>
                <a:r>
                  <a:rPr lang="zh-CN" altLang="en-US" dirty="0"/>
                  <a:t>当且仅当</a:t>
                </a:r>
                <a14:m>
                  <m:oMath xmlns:m="http://schemas.openxmlformats.org/officeDocument/2006/math">
                    <m:r>
                      <a:rPr lang="en-AU" i="1">
                        <a:latin typeface="Cambria Math" panose="02040503050406030204" pitchFamily="18" charset="0"/>
                      </a:rPr>
                      <m:t>𝐴</m:t>
                    </m:r>
                    <m:groupChr>
                      <m:groupChrPr>
                        <m:chr m:val="⇒"/>
                        <m:pos m:val="top"/>
                        <m:ctrlPr>
                          <a:rPr lang="en-AU" i="1">
                            <a:latin typeface="Cambria Math" panose="02040503050406030204" pitchFamily="18" charset="0"/>
                          </a:rPr>
                        </m:ctrlPr>
                      </m:groupChrPr>
                      <m:e>
                        <m:r>
                          <m:rPr>
                            <m:brk m:alnAt="1"/>
                          </m:rPr>
                          <a:rPr lang="en-AU" b="0" i="1" smtClean="0">
                            <a:latin typeface="Cambria Math" panose="02040503050406030204" pitchFamily="18" charset="0"/>
                          </a:rPr>
                          <m:t>𝑟</m:t>
                        </m:r>
                        <m:r>
                          <a:rPr lang="en-AU" i="1">
                            <a:latin typeface="Cambria Math" panose="02040503050406030204" pitchFamily="18" charset="0"/>
                          </a:rPr>
                          <m:t>𝑚</m:t>
                        </m:r>
                      </m:e>
                    </m:groupChr>
                    <m:r>
                      <a:rPr lang="en-AU" i="1">
                        <a:latin typeface="Cambria Math" panose="02040503050406030204" pitchFamily="18" charset="0"/>
                      </a:rPr>
                      <m:t>𝑤</m:t>
                    </m:r>
                  </m:oMath>
                </a14:m>
                <a:r>
                  <a:rPr lang="zh-CN" altLang="en-US" dirty="0"/>
                  <a:t>。</a:t>
                </a:r>
                <a:endParaRPr lang="en-AU" dirty="0"/>
              </a:p>
              <a:p>
                <a:pPr marL="0" indent="0" algn="ctr">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4567"/>
                </a:stretch>
              </a:blipFill>
            </p:spPr>
            <p:txBody>
              <a:bodyPr/>
              <a:lstStyle/>
              <a:p>
                <a:r>
                  <a:rPr lang="zh-CN" altLang="en-US">
                    <a:noFill/>
                  </a:rPr>
                  <a:t> </a:t>
                </a:r>
              </a:p>
            </p:txBody>
          </p:sp>
        </mc:Fallback>
      </mc:AlternateContent>
      <p:sp>
        <p:nvSpPr>
          <p:cNvPr id="4" name="TextBox 3"/>
          <p:cNvSpPr txBox="1"/>
          <p:nvPr/>
        </p:nvSpPr>
        <p:spPr>
          <a:xfrm>
            <a:off x="4732020" y="2550179"/>
            <a:ext cx="914400" cy="369332"/>
          </a:xfrm>
          <a:prstGeom prst="rect">
            <a:avLst/>
          </a:prstGeom>
          <a:noFill/>
        </p:spPr>
        <p:txBody>
          <a:bodyPr wrap="square" rtlCol="0">
            <a:spAutoFit/>
          </a:bodyPr>
          <a:lstStyle/>
          <a:p>
            <a:r>
              <a:rPr lang="en-AU" dirty="0"/>
              <a:t>*</a:t>
            </a:r>
            <a:endParaRPr lang="en-AU" dirty="0"/>
          </a:p>
        </p:txBody>
      </p:sp>
      <p:sp>
        <p:nvSpPr>
          <p:cNvPr id="5" name="TextBox 4"/>
          <p:cNvSpPr txBox="1"/>
          <p:nvPr/>
        </p:nvSpPr>
        <p:spPr>
          <a:xfrm>
            <a:off x="4443160" y="3586000"/>
            <a:ext cx="914400" cy="369332"/>
          </a:xfrm>
          <a:prstGeom prst="rect">
            <a:avLst/>
          </a:prstGeom>
          <a:noFill/>
        </p:spPr>
        <p:txBody>
          <a:bodyPr wrap="square" rtlCol="0">
            <a:spAutoFit/>
          </a:bodyPr>
          <a:lstStyle/>
          <a:p>
            <a:pPr algn="ctr"/>
            <a:r>
              <a:rPr lang="en-AU" dirty="0"/>
              <a:t>*</a:t>
            </a:r>
            <a:endParaRPr lang="en-AU" dirty="0"/>
          </a:p>
        </p:txBody>
      </p:sp>
      <p:sp>
        <p:nvSpPr>
          <p:cNvPr id="6" name="Slide Number Placeholder 5"/>
          <p:cNvSpPr>
            <a:spLocks noGrp="1"/>
          </p:cNvSpPr>
          <p:nvPr>
            <p:ph type="sldNum" sz="quarter" idx="12"/>
          </p:nvPr>
        </p:nvSpPr>
        <p:spPr/>
        <p:txBody>
          <a:bodyPr/>
          <a:lstStyle/>
          <a:p>
            <a:fld id="{0662E1F6-9BD6-474C-A82E-E07C3DB67AAE}" type="slidenum">
              <a:rPr lang="en-AU" smtClean="0"/>
            </a:fld>
            <a:endParaRPr lang="en-AU"/>
          </a:p>
        </p:txBody>
      </p:sp>
      <p:sp>
        <p:nvSpPr>
          <p:cNvPr id="8" name="TextBox 7"/>
          <p:cNvSpPr txBox="1"/>
          <p:nvPr/>
        </p:nvSpPr>
        <p:spPr>
          <a:xfrm>
            <a:off x="2691766" y="5275337"/>
            <a:ext cx="914400" cy="369332"/>
          </a:xfrm>
          <a:prstGeom prst="rect">
            <a:avLst/>
          </a:prstGeom>
          <a:noFill/>
        </p:spPr>
        <p:txBody>
          <a:bodyPr wrap="square" rtlCol="0">
            <a:spAutoFit/>
          </a:bodyPr>
          <a:lstStyle/>
          <a:p>
            <a:pPr algn="ctr"/>
            <a:r>
              <a:rPr lang="en-AU" dirty="0"/>
              <a:t>*</a:t>
            </a:r>
            <a:endParaRPr lang="en-AU" dirty="0"/>
          </a:p>
        </p:txBody>
      </p:sp>
      <p:sp>
        <p:nvSpPr>
          <p:cNvPr id="10" name="TextBox 9"/>
          <p:cNvSpPr txBox="1"/>
          <p:nvPr/>
        </p:nvSpPr>
        <p:spPr>
          <a:xfrm>
            <a:off x="5090050" y="5263907"/>
            <a:ext cx="914400" cy="369332"/>
          </a:xfrm>
          <a:prstGeom prst="rect">
            <a:avLst/>
          </a:prstGeom>
          <a:noFill/>
        </p:spPr>
        <p:txBody>
          <a:bodyPr wrap="square" rtlCol="0">
            <a:spAutoFit/>
          </a:bodyPr>
          <a:lstStyle/>
          <a:p>
            <a:pPr algn="ctr"/>
            <a:r>
              <a:rPr lang="en-AU" dirty="0"/>
              <a:t>*</a:t>
            </a:r>
            <a:endParaRPr lang="en-AU"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最左派生和最右派生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41454" y="1067765"/>
                <a:ext cx="8229600" cy="4525963"/>
              </a:xfrm>
            </p:spPr>
            <p:txBody>
              <a:bodyPr/>
              <a:lstStyle/>
              <a:p>
                <a:r>
                  <a:rPr lang="zh-CN" altLang="en-US" dirty="0"/>
                  <a:t>例</a:t>
                </a:r>
                <a:r>
                  <a:rPr lang="en-AU" altLang="zh-CN" dirty="0"/>
                  <a:t>: </a:t>
                </a:r>
                <a:r>
                  <a:rPr lang="zh-CN" altLang="en-US" dirty="0"/>
                  <a:t>表达式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r>
                  <a:rPr lang="en-US" altLang="zh-CN" dirty="0"/>
                  <a:t> </a:t>
                </a:r>
                <a:r>
                  <a:rPr lang="zh-CN" altLang="en-US" dirty="0"/>
                  <a:t>在</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zh-CN" altLang="en-US" dirty="0"/>
                  <a:t>中的</a:t>
                </a:r>
                <a:r>
                  <a:rPr lang="zh-CN" altLang="en-US" b="1" dirty="0"/>
                  <a:t>最左派生</a:t>
                </a:r>
                <a:r>
                  <a:rPr lang="zh-CN" altLang="en-US" dirty="0"/>
                  <a:t>为</a:t>
                </a:r>
                <a:r>
                  <a:rPr lang="en-US" altLang="zh-CN"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41454" y="1067765"/>
                <a:ext cx="8229600" cy="4525963"/>
              </a:xfrm>
              <a:blipFill rotWithShape="1">
                <a:blip r:embed="rId1"/>
                <a:stretch>
                  <a:fillRect l="-6" t="-7" r="-450"/>
                </a:stretch>
              </a:blipFill>
            </p:spPr>
            <p:txBody>
              <a:bodyPr/>
              <a:lstStyle/>
              <a:p>
                <a:r>
                  <a:rPr lang="zh-CN" altLang="en-US">
                    <a:noFill/>
                  </a:rPr>
                  <a:t> </a:t>
                </a:r>
              </a:p>
            </p:txBody>
          </p:sp>
        </mc:Fallback>
      </mc:AlternateContent>
      <p:pic>
        <p:nvPicPr>
          <p:cNvPr id="5" name="Picture 4" descr="A picture containing text, keyboard, electronics&#10;&#10;Description automatically generated"/>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75240" y="1974346"/>
            <a:ext cx="1925414" cy="4081334"/>
          </a:xfrm>
          <a:prstGeom prst="rect">
            <a:avLst/>
          </a:prstGeom>
        </p:spPr>
      </p:pic>
      <p:pic>
        <p:nvPicPr>
          <p:cNvPr id="8" name="Picture 7" descr="Text, letter&#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33965" y="1974346"/>
            <a:ext cx="2676168" cy="4081334"/>
          </a:xfrm>
          <a:prstGeom prst="rect">
            <a:avLst/>
          </a:prstGeom>
        </p:spPr>
      </p:pic>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最左派生和最右派生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06729" y="1166018"/>
                <a:ext cx="8229600" cy="4525963"/>
              </a:xfrm>
            </p:spPr>
            <p:txBody>
              <a:bodyPr/>
              <a:lstStyle/>
              <a:p>
                <a:r>
                  <a:rPr lang="zh-CN" altLang="en-US" dirty="0"/>
                  <a:t>例</a:t>
                </a:r>
                <a:r>
                  <a:rPr lang="en-US" altLang="zh-CN" dirty="0"/>
                  <a:t>: </a:t>
                </a:r>
                <a:r>
                  <a:rPr lang="zh-CN" altLang="en-US" dirty="0"/>
                  <a:t>表达式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r>
                  <a:rPr lang="en-US" altLang="zh-CN" dirty="0"/>
                  <a:t> </a:t>
                </a:r>
                <a:r>
                  <a:rPr lang="zh-CN" altLang="en-US" dirty="0"/>
                  <a:t>在</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zh-CN" altLang="en-US" dirty="0"/>
                  <a:t>中的</a:t>
                </a:r>
                <a:r>
                  <a:rPr lang="zh-CN" altLang="en-US" b="1" dirty="0"/>
                  <a:t>最右派生</a:t>
                </a:r>
                <a:r>
                  <a:rPr lang="zh-CN" altLang="en-US" dirty="0"/>
                  <a:t>为</a:t>
                </a:r>
                <a:r>
                  <a:rPr lang="en-US" altLang="zh-CN"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06729" y="1166018"/>
                <a:ext cx="8229600" cy="4525963"/>
              </a:xfrm>
              <a:blipFill rotWithShape="1">
                <a:blip r:embed="rId1"/>
                <a:stretch>
                  <a:fillRect t="-3" r="-455" b="11"/>
                </a:stretch>
              </a:blipFill>
            </p:spPr>
            <p:txBody>
              <a:bodyPr/>
              <a:lstStyle/>
              <a:p>
                <a:r>
                  <a:rPr lang="zh-CN" altLang="en-US">
                    <a:noFill/>
                  </a:rPr>
                  <a:t> </a:t>
                </a:r>
              </a:p>
            </p:txBody>
          </p:sp>
        </mc:Fallback>
      </mc:AlternateContent>
      <p:pic>
        <p:nvPicPr>
          <p:cNvPr id="5" name="Picture 4" descr="A picture containing text, keyboard, electronics&#10;&#10;Description automatically generated"/>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35438" y="2126741"/>
            <a:ext cx="1925414" cy="4081334"/>
          </a:xfrm>
          <a:prstGeom prst="rect">
            <a:avLst/>
          </a:prstGeom>
        </p:spPr>
      </p:pic>
      <p:pic>
        <p:nvPicPr>
          <p:cNvPr id="9" name="Picture 8" descr="Text, letter&#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44443" y="2126741"/>
            <a:ext cx="2536845" cy="3945425"/>
          </a:xfrm>
          <a:prstGeom prst="rect">
            <a:avLst/>
          </a:prstGeom>
        </p:spPr>
      </p:pic>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685800" y="1187926"/>
            <a:ext cx="8229600" cy="4525963"/>
          </a:xfrm>
        </p:spPr>
        <p:txBody>
          <a:bodyPr/>
          <a:lstStyle/>
          <a:p>
            <a:r>
              <a:rPr lang="zh-CN" altLang="en-US" dirty="0"/>
              <a:t>上下文无关文法</a:t>
            </a:r>
            <a:endParaRPr lang="en-AU" altLang="zh-CN" dirty="0"/>
          </a:p>
          <a:p>
            <a:pPr lvl="1"/>
            <a:r>
              <a:rPr lang="zh-CN" altLang="en-US" dirty="0"/>
              <a:t>形式定义</a:t>
            </a:r>
            <a:endParaRPr lang="en-AU" altLang="zh-CN" dirty="0"/>
          </a:p>
          <a:p>
            <a:pPr lvl="1"/>
            <a:r>
              <a:rPr lang="zh-CN" altLang="en-US" dirty="0"/>
              <a:t>归约和派生</a:t>
            </a:r>
            <a:endParaRPr lang="en-AU" altLang="zh-CN" dirty="0"/>
          </a:p>
          <a:p>
            <a:pPr lvl="1"/>
            <a:r>
              <a:rPr lang="zh-CN" altLang="en-US" dirty="0"/>
              <a:t>最左派生和最右派生</a:t>
            </a:r>
            <a:endParaRPr lang="en-AU" altLang="zh-CN" dirty="0"/>
          </a:p>
          <a:p>
            <a:pPr lvl="1"/>
            <a:r>
              <a:rPr lang="zh-CN" altLang="en-US" dirty="0">
                <a:solidFill>
                  <a:srgbClr val="FF0000"/>
                </a:solidFill>
              </a:rPr>
              <a:t>文法的语言</a:t>
            </a:r>
            <a:endParaRPr lang="en-AU" altLang="zh-CN" dirty="0">
              <a:solidFill>
                <a:srgbClr val="FF0000"/>
              </a:solidFill>
            </a:endParaRPr>
          </a:p>
          <a:p>
            <a:r>
              <a:rPr lang="zh-CN" altLang="en-US" dirty="0">
                <a:solidFill>
                  <a:schemeClr val="bg1">
                    <a:lumMod val="75000"/>
                  </a:schemeClr>
                </a:solidFill>
              </a:rPr>
              <a:t>语法分析树</a:t>
            </a:r>
            <a:endParaRPr lang="en-AU" altLang="zh-CN" dirty="0">
              <a:solidFill>
                <a:schemeClr val="bg1">
                  <a:lumMod val="75000"/>
                </a:schemeClr>
              </a:solidFill>
            </a:endParaRPr>
          </a:p>
          <a:p>
            <a:r>
              <a:rPr lang="zh-CN" altLang="en-US" dirty="0">
                <a:solidFill>
                  <a:schemeClr val="bg1">
                    <a:lumMod val="75000"/>
                  </a:schemeClr>
                </a:solidFill>
              </a:rPr>
              <a:t>文法和语言的歧义性</a:t>
            </a:r>
            <a:endParaRPr lang="en-AU" altLang="zh-CN" dirty="0">
              <a:solidFill>
                <a:schemeClr val="bg1">
                  <a:lumMod val="75000"/>
                </a:schemeClr>
              </a:solidFill>
            </a:endParaRPr>
          </a:p>
          <a:p>
            <a:r>
              <a:rPr lang="zh-CN" altLang="en-US" dirty="0">
                <a:solidFill>
                  <a:schemeClr val="bg1">
                    <a:lumMod val="75000"/>
                  </a:schemeClr>
                </a:solidFill>
              </a:rPr>
              <a:t>文法的化简与范式</a:t>
            </a:r>
            <a:endParaRPr lang="en-AU" altLang="zh-CN" dirty="0">
              <a:solidFill>
                <a:schemeClr val="bg1">
                  <a:lumMod val="7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文法的语言</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定义</a:t>
                </a:r>
                <a:r>
                  <a:rPr lang="en-AU" altLang="zh-CN" dirty="0"/>
                  <a:t>:</a:t>
                </a:r>
                <a:r>
                  <a:rPr lang="zh-CN" altLang="en-US" dirty="0">
                    <a:latin typeface="Times New Roman" panose="02020603050405020304" pitchFamily="18" charset="0"/>
                    <a:cs typeface="Times New Roman" panose="02020603050405020304" pitchFamily="18" charset="0"/>
                  </a:rPr>
                  <a:t>上下文无关文法</a:t>
                </a:r>
                <a14:m>
                  <m:oMath xmlns:m="http://schemas.openxmlformats.org/officeDocument/2006/math">
                    <m:r>
                      <a:rPr lang="en-AU" altLang="zh-CN" b="0" i="1" smtClean="0">
                        <a:latin typeface="Cambria Math" panose="02040503050406030204" pitchFamily="18" charset="0"/>
                      </a:rPr>
                      <m:t>𝐺</m:t>
                    </m:r>
                    <m:r>
                      <a:rPr lang="en-AU" altLang="zh-CN" b="0" i="1" smtClean="0">
                        <a:latin typeface="Cambria Math" panose="02040503050406030204" pitchFamily="18" charset="0"/>
                      </a:rPr>
                      <m:t>=(</m:t>
                    </m:r>
                    <m:r>
                      <a:rPr lang="en-AU" altLang="zh-CN" b="0" i="1" smtClean="0">
                        <a:latin typeface="Cambria Math" panose="02040503050406030204" pitchFamily="18" charset="0"/>
                      </a:rPr>
                      <m:t>𝑉</m:t>
                    </m:r>
                    <m:r>
                      <a:rPr lang="en-AU" altLang="zh-CN" b="0" i="1" smtClean="0">
                        <a:latin typeface="Cambria Math" panose="02040503050406030204" pitchFamily="18" charset="0"/>
                      </a:rPr>
                      <m:t>,</m:t>
                    </m:r>
                    <m:r>
                      <a:rPr lang="en-AU" altLang="zh-CN" b="0" i="1" smtClean="0">
                        <a:latin typeface="Cambria Math" panose="02040503050406030204" pitchFamily="18" charset="0"/>
                      </a:rPr>
                      <m:t>𝑇</m:t>
                    </m:r>
                    <m:r>
                      <a:rPr lang="en-AU" altLang="zh-CN" b="0" i="1" smtClean="0">
                        <a:latin typeface="Cambria Math" panose="02040503050406030204" pitchFamily="18" charset="0"/>
                      </a:rPr>
                      <m:t>,</m:t>
                    </m:r>
                    <m:r>
                      <a:rPr lang="en-AU" altLang="zh-CN" b="0" i="1" smtClean="0">
                        <a:latin typeface="Cambria Math" panose="02040503050406030204" pitchFamily="18" charset="0"/>
                      </a:rPr>
                      <m:t>𝑃</m:t>
                    </m:r>
                    <m:r>
                      <a:rPr lang="en-AU" altLang="zh-CN" b="0" i="1" smtClean="0">
                        <a:latin typeface="Cambria Math" panose="02040503050406030204" pitchFamily="18" charset="0"/>
                      </a:rPr>
                      <m:t>,</m:t>
                    </m:r>
                    <m:r>
                      <a:rPr lang="en-AU" altLang="zh-CN" b="0" i="1" smtClean="0">
                        <a:latin typeface="Cambria Math" panose="02040503050406030204" pitchFamily="18" charset="0"/>
                      </a:rPr>
                      <m:t>𝑆</m:t>
                    </m:r>
                    <m:r>
                      <a:rPr lang="en-AU" altLang="zh-CN" b="0" i="1" smtClean="0">
                        <a:latin typeface="Cambria Math" panose="02040503050406030204" pitchFamily="18" charset="0"/>
                      </a:rPr>
                      <m:t>)</m:t>
                    </m:r>
                  </m:oMath>
                </a14:m>
                <a:r>
                  <a:rPr lang="zh-CN" altLang="en-US" dirty="0"/>
                  <a:t>的语言定义为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b="1" i="1" smtClean="0">
                          <a:latin typeface="Cambria Math" panose="02040503050406030204" pitchFamily="18" charset="0"/>
                        </a:rPr>
                        <m:t>𝑳</m:t>
                      </m:r>
                      <m:d>
                        <m:dPr>
                          <m:ctrlPr>
                            <a:rPr lang="en-AU" b="0" i="1" smtClean="0">
                              <a:latin typeface="Cambria Math" panose="02040503050406030204" pitchFamily="18" charset="0"/>
                            </a:rPr>
                          </m:ctrlPr>
                        </m:dPr>
                        <m:e>
                          <m:r>
                            <a:rPr lang="en-AU" b="0" i="1" smtClean="0">
                              <a:latin typeface="Cambria Math" panose="02040503050406030204" pitchFamily="18" charset="0"/>
                            </a:rPr>
                            <m:t>𝐺</m:t>
                          </m:r>
                        </m:e>
                      </m:d>
                      <m:r>
                        <a:rPr lang="en-AU" b="0" i="1" smtClean="0">
                          <a:latin typeface="Cambria Math" panose="02040503050406030204" pitchFamily="18" charset="0"/>
                        </a:rPr>
                        <m:t>={</m:t>
                      </m:r>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rPr>
                        <m:t>𝑤</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𝑇</m:t>
                          </m:r>
                        </m:e>
                        <m:sup>
                          <m:r>
                            <a:rPr lang="en-AU" b="0" i="1" smtClean="0">
                              <a:latin typeface="Cambria Math" panose="02040503050406030204" pitchFamily="18" charset="0"/>
                              <a:ea typeface="Cambria Math" panose="02040503050406030204" pitchFamily="18" charset="0"/>
                            </a:rPr>
                            <m:t>∗</m:t>
                          </m:r>
                        </m:sup>
                      </m:sSup>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𝑆</m:t>
                      </m:r>
                      <m:groupChr>
                        <m:groupChrPr>
                          <m:chr m:val="⇒"/>
                          <m:pos m:val="top"/>
                          <m:ctrlPr>
                            <a:rPr lang="en-AU" b="0" i="1" smtClean="0">
                              <a:latin typeface="Cambria Math" panose="02040503050406030204" pitchFamily="18" charset="0"/>
                              <a:ea typeface="Cambria Math" panose="02040503050406030204" pitchFamily="18" charset="0"/>
                            </a:rPr>
                          </m:ctrlPr>
                        </m:groupChrPr>
                        <m:e>
                          <m:r>
                            <m:rPr>
                              <m:brk m:alnAt="1"/>
                            </m:rPr>
                            <a:rPr lang="en-AU" b="0" i="1" smtClean="0">
                              <a:latin typeface="Cambria Math" panose="02040503050406030204" pitchFamily="18" charset="0"/>
                              <a:ea typeface="Cambria Math" panose="02040503050406030204" pitchFamily="18" charset="0"/>
                            </a:rPr>
                            <m:t>𝐺</m:t>
                          </m:r>
                        </m:e>
                      </m:groupChr>
                      <m:r>
                        <a:rPr lang="en-AU" b="0" i="1" smtClean="0">
                          <a:latin typeface="Cambria Math" panose="02040503050406030204" pitchFamily="18" charset="0"/>
                          <a:ea typeface="Cambria Math" panose="02040503050406030204" pitchFamily="18" charset="0"/>
                        </a:rPr>
                        <m:t>𝑤</m:t>
                      </m:r>
                      <m:r>
                        <a:rPr lang="en-AU" b="0" i="1" smtClean="0">
                          <a:latin typeface="Cambria Math" panose="02040503050406030204" pitchFamily="18" charset="0"/>
                        </a:rPr>
                        <m:t>}</m:t>
                      </m:r>
                    </m:oMath>
                  </m:oMathPara>
                </a14:m>
                <a:endParaRPr lang="en-AU" dirty="0"/>
              </a:p>
              <a:p>
                <a:pPr marL="0" indent="0">
                  <a:buNone/>
                </a:pPr>
                <a:r>
                  <a:rPr lang="zh-CN" altLang="en-US" dirty="0"/>
                  <a:t>即符号串</a:t>
                </a:r>
                <a14:m>
                  <m:oMath xmlns:m="http://schemas.openxmlformats.org/officeDocument/2006/math">
                    <m:r>
                      <a:rPr lang="en-AU" i="1" dirty="0" smtClean="0">
                        <a:latin typeface="Cambria Math" panose="02040503050406030204" pitchFamily="18" charset="0"/>
                      </a:rPr>
                      <m:t>𝑤</m:t>
                    </m:r>
                  </m:oMath>
                </a14:m>
                <a:r>
                  <a:rPr lang="zh-CN" altLang="en-US" dirty="0"/>
                  <a:t>在</a:t>
                </a:r>
                <a14:m>
                  <m:oMath xmlns:m="http://schemas.openxmlformats.org/officeDocument/2006/math">
                    <m:r>
                      <a:rPr lang="en-AU" b="1" i="1" dirty="0" smtClean="0">
                        <a:latin typeface="Cambria Math" panose="02040503050406030204" pitchFamily="18" charset="0"/>
                      </a:rPr>
                      <m:t>𝑳</m:t>
                    </m:r>
                    <m:r>
                      <a:rPr lang="en-AU" i="1" dirty="0" smtClean="0">
                        <a:latin typeface="Cambria Math" panose="02040503050406030204" pitchFamily="18" charset="0"/>
                      </a:rPr>
                      <m:t>(</m:t>
                    </m:r>
                    <m:r>
                      <a:rPr lang="en-AU" i="1" dirty="0" smtClean="0">
                        <a:latin typeface="Cambria Math" panose="02040503050406030204" pitchFamily="18" charset="0"/>
                      </a:rPr>
                      <m:t>𝐺</m:t>
                    </m:r>
                    <m:r>
                      <a:rPr lang="en-AU" i="1" dirty="0" smtClean="0">
                        <a:latin typeface="Cambria Math" panose="02040503050406030204" pitchFamily="18" charset="0"/>
                      </a:rPr>
                      <m:t>)</m:t>
                    </m:r>
                  </m:oMath>
                </a14:m>
                <a:r>
                  <a:rPr lang="zh-CN" altLang="en-US" dirty="0"/>
                  <a:t>中要满足</a:t>
                </a:r>
                <a:r>
                  <a:rPr lang="en-US" altLang="zh-CN" dirty="0"/>
                  <a:t>:</a:t>
                </a:r>
                <a:endParaRPr lang="en-US" altLang="zh-CN" dirty="0"/>
              </a:p>
              <a:p>
                <a:pPr marL="0" indent="0">
                  <a:buNone/>
                </a:pPr>
                <a:r>
                  <a:rPr lang="en-US" altLang="zh-CN" dirty="0"/>
                  <a:t>1. </a:t>
                </a:r>
                <a14:m>
                  <m:oMath xmlns:m="http://schemas.openxmlformats.org/officeDocument/2006/math">
                    <m:r>
                      <a:rPr lang="en-AU" i="1" dirty="0" smtClean="0">
                        <a:latin typeface="Cambria Math" panose="02040503050406030204" pitchFamily="18" charset="0"/>
                      </a:rPr>
                      <m:t>𝑤</m:t>
                    </m:r>
                  </m:oMath>
                </a14:m>
                <a:r>
                  <a:rPr lang="zh-CN" altLang="en-US" dirty="0"/>
                  <a:t>仅由终结符组成</a:t>
                </a:r>
                <a:r>
                  <a:rPr lang="en-US" altLang="zh-CN" dirty="0"/>
                  <a:t>;</a:t>
                </a:r>
                <a:endParaRPr lang="en-US" altLang="zh-CN" dirty="0"/>
              </a:p>
              <a:p>
                <a:pPr marL="0" indent="0">
                  <a:buNone/>
                </a:pPr>
                <a:r>
                  <a:rPr lang="en-US" altLang="zh-CN" dirty="0"/>
                  <a:t>2. </a:t>
                </a:r>
                <a:r>
                  <a:rPr lang="zh-CN" altLang="en-US" dirty="0"/>
                  <a:t>初始符号</a:t>
                </a:r>
                <a14:m>
                  <m:oMath xmlns:m="http://schemas.openxmlformats.org/officeDocument/2006/math">
                    <m:r>
                      <a:rPr lang="en-AU" i="1" dirty="0" smtClean="0">
                        <a:latin typeface="Cambria Math" panose="02040503050406030204" pitchFamily="18" charset="0"/>
                      </a:rPr>
                      <m:t>𝑆</m:t>
                    </m:r>
                  </m:oMath>
                </a14:m>
                <a:r>
                  <a:rPr lang="zh-CN" altLang="en-US" dirty="0"/>
                  <a:t>能派生出</a:t>
                </a:r>
                <a14:m>
                  <m:oMath xmlns:m="http://schemas.openxmlformats.org/officeDocument/2006/math">
                    <m:r>
                      <a:rPr lang="en-AU" i="1" dirty="0" smtClean="0">
                        <a:latin typeface="Cambria Math" panose="02040503050406030204" pitchFamily="18" charset="0"/>
                      </a:rPr>
                      <m:t>𝑤</m:t>
                    </m:r>
                  </m:oMath>
                </a14:m>
                <a:r>
                  <a:rPr lang="en-AU"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TextBox 3"/>
          <p:cNvSpPr txBox="1"/>
          <p:nvPr/>
        </p:nvSpPr>
        <p:spPr>
          <a:xfrm>
            <a:off x="5752555" y="2523036"/>
            <a:ext cx="914400" cy="369332"/>
          </a:xfrm>
          <a:prstGeom prst="rect">
            <a:avLst/>
          </a:prstGeom>
          <a:noFill/>
        </p:spPr>
        <p:txBody>
          <a:bodyPr wrap="square" rtlCol="0">
            <a:spAutoFit/>
          </a:bodyPr>
          <a:lstStyle/>
          <a:p>
            <a:r>
              <a:rPr lang="en-AU" dirty="0"/>
              <a:t>*</a:t>
            </a:r>
            <a:endParaRPr lang="en-AU" dirty="0"/>
          </a:p>
        </p:txBody>
      </p:sp>
      <p:sp>
        <p:nvSpPr>
          <p:cNvPr id="5" name="Slide Number Placeholder 4"/>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上下文无关语言</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如果语言</a:t>
                </a:r>
                <a14:m>
                  <m:oMath xmlns:m="http://schemas.openxmlformats.org/officeDocument/2006/math">
                    <m:r>
                      <a:rPr lang="en-AU" i="1" dirty="0" smtClean="0">
                        <a:latin typeface="Cambria Math" panose="02040503050406030204" pitchFamily="18" charset="0"/>
                      </a:rPr>
                      <m:t>𝐿</m:t>
                    </m:r>
                  </m:oMath>
                </a14:m>
                <a:r>
                  <a:rPr lang="zh-CN" altLang="en-US" dirty="0"/>
                  <a:t>是某个 </a:t>
                </a:r>
                <a:r>
                  <a:rPr lang="en-AU" dirty="0">
                    <a:latin typeface="Times New Roman" panose="02020603050405020304" pitchFamily="18" charset="0"/>
                    <a:cs typeface="Times New Roman" panose="02020603050405020304" pitchFamily="18" charset="0"/>
                  </a:rPr>
                  <a:t>CFG</a:t>
                </a:r>
                <a:r>
                  <a:rPr lang="en-AU" dirty="0"/>
                  <a:t> </a:t>
                </a:r>
                <a14:m>
                  <m:oMath xmlns:m="http://schemas.openxmlformats.org/officeDocument/2006/math">
                    <m:r>
                      <a:rPr lang="en-AU" i="1" dirty="0" smtClean="0">
                        <a:latin typeface="Cambria Math" panose="02040503050406030204" pitchFamily="18" charset="0"/>
                      </a:rPr>
                      <m:t>𝐺</m:t>
                    </m:r>
                  </m:oMath>
                </a14:m>
                <a:r>
                  <a:rPr lang="en-AU" dirty="0"/>
                  <a:t> </a:t>
                </a:r>
                <a:r>
                  <a:rPr lang="zh-CN" altLang="en-US" dirty="0"/>
                  <a:t>定义的语言</a:t>
                </a:r>
                <a:r>
                  <a:rPr lang="en-US" altLang="zh-CN" dirty="0"/>
                  <a:t>, </a:t>
                </a:r>
                <a:r>
                  <a:rPr lang="zh-CN" altLang="en-US" dirty="0"/>
                  <a:t>即 </a:t>
                </a:r>
                <a14:m>
                  <m:oMath xmlns:m="http://schemas.openxmlformats.org/officeDocument/2006/math">
                    <m:r>
                      <a:rPr lang="en-AU" i="1" dirty="0" smtClean="0">
                        <a:latin typeface="Cambria Math" panose="02040503050406030204" pitchFamily="18" charset="0"/>
                      </a:rPr>
                      <m:t>𝐿</m:t>
                    </m:r>
                    <m:r>
                      <a:rPr lang="en-AU" i="1" dirty="0" smtClean="0">
                        <a:latin typeface="Cambria Math" panose="02040503050406030204" pitchFamily="18" charset="0"/>
                      </a:rPr>
                      <m:t> = </m:t>
                    </m:r>
                    <m:r>
                      <a:rPr lang="en-AU" b="1" i="1" dirty="0" smtClean="0">
                        <a:latin typeface="Cambria Math" panose="02040503050406030204" pitchFamily="18" charset="0"/>
                      </a:rPr>
                      <m:t>𝑳</m:t>
                    </m:r>
                    <m:r>
                      <a:rPr lang="en-AU" i="1" dirty="0" smtClean="0">
                        <a:latin typeface="Cambria Math" panose="02040503050406030204" pitchFamily="18" charset="0"/>
                      </a:rPr>
                      <m:t>(</m:t>
                    </m:r>
                    <m:r>
                      <a:rPr lang="en-AU" i="1" dirty="0" smtClean="0">
                        <a:latin typeface="Cambria Math" panose="02040503050406030204" pitchFamily="18" charset="0"/>
                      </a:rPr>
                      <m:t>𝐺</m:t>
                    </m:r>
                    <m:r>
                      <a:rPr lang="en-AU" i="1" dirty="0" smtClean="0">
                        <a:latin typeface="Cambria Math" panose="02040503050406030204" pitchFamily="18" charset="0"/>
                      </a:rPr>
                      <m:t>)</m:t>
                    </m:r>
                  </m:oMath>
                </a14:m>
                <a:r>
                  <a:rPr lang="en-AU" dirty="0"/>
                  <a:t>, </a:t>
                </a:r>
                <a:r>
                  <a:rPr lang="zh-CN" altLang="en-US" dirty="0"/>
                  <a:t>则称</a:t>
                </a:r>
                <a14:m>
                  <m:oMath xmlns:m="http://schemas.openxmlformats.org/officeDocument/2006/math">
                    <m:r>
                      <a:rPr lang="en-AU" i="1" dirty="0" smtClean="0">
                        <a:latin typeface="Cambria Math" panose="02040503050406030204" pitchFamily="18" charset="0"/>
                      </a:rPr>
                      <m:t>𝐿</m:t>
                    </m:r>
                  </m:oMath>
                </a14:m>
                <a:r>
                  <a:rPr lang="zh-CN" altLang="en-US" dirty="0"/>
                  <a:t>为上下文无关语言</a:t>
                </a:r>
                <a:r>
                  <a:rPr lang="en-US" altLang="zh-CN" dirty="0"/>
                  <a:t>(</a:t>
                </a:r>
                <a:r>
                  <a:rPr lang="en-AU" dirty="0">
                    <a:latin typeface="Times New Roman" panose="02020603050405020304" pitchFamily="18" charset="0"/>
                    <a:cs typeface="Times New Roman" panose="02020603050405020304" pitchFamily="18" charset="0"/>
                  </a:rPr>
                  <a:t>CFL</a:t>
                </a:r>
                <a:r>
                  <a:rPr lang="en-AU" dirty="0"/>
                  <a:t>, </a:t>
                </a:r>
                <a:r>
                  <a:rPr lang="en-AU" dirty="0">
                    <a:latin typeface="Times New Roman" panose="02020603050405020304" pitchFamily="18" charset="0"/>
                    <a:cs typeface="Times New Roman" panose="02020603050405020304" pitchFamily="18" charset="0"/>
                  </a:rPr>
                  <a:t>Context-Free Language</a:t>
                </a:r>
                <a:r>
                  <a:rPr lang="en-AU" dirty="0"/>
                  <a:t>)</a:t>
                </a:r>
                <a:endParaRPr lang="en-AU" dirty="0"/>
              </a:p>
              <a:p>
                <a:r>
                  <a:rPr lang="zh-CN" altLang="en-US" dirty="0">
                    <a:solidFill>
                      <a:srgbClr val="FF0000"/>
                    </a:solidFill>
                  </a:rPr>
                  <a:t>上下文无关</a:t>
                </a:r>
                <a:r>
                  <a:rPr lang="zh-CN" altLang="en-US" dirty="0"/>
                  <a:t>是指在文法派生的每一步</a:t>
                </a:r>
                <a:endParaRPr lang="en-AU" altLang="zh-CN" dirty="0"/>
              </a:p>
              <a:p>
                <a:pPr marL="0" indent="0">
                  <a:buNone/>
                </a:pPr>
                <a14:m>
                  <m:oMathPara xmlns:m="http://schemas.openxmlformats.org/officeDocument/2006/math">
                    <m:oMathParaPr>
                      <m:jc m:val="centerGroup"/>
                    </m:oMathParaPr>
                    <m:oMath xmlns:m="http://schemas.openxmlformats.org/officeDocument/2006/math">
                      <m:r>
                        <a:rPr lang="zh-CN" altLang="en-AU" i="1" smtClean="0">
                          <a:latin typeface="Cambria Math" panose="02040503050406030204" pitchFamily="18" charset="0"/>
                        </a:rPr>
                        <m:t>𝛼</m:t>
                      </m:r>
                      <m:r>
                        <a:rPr lang="en-AU" altLang="zh-CN" b="0" i="1" smtClean="0">
                          <a:latin typeface="Cambria Math" panose="02040503050406030204" pitchFamily="18" charset="0"/>
                        </a:rPr>
                        <m:t>𝐴</m:t>
                      </m:r>
                      <m:r>
                        <a:rPr lang="zh-CN" altLang="en-US" i="1" smtClean="0">
                          <a:latin typeface="Cambria Math" panose="02040503050406030204" pitchFamily="18" charset="0"/>
                        </a:rPr>
                        <m:t>𝛽</m:t>
                      </m:r>
                      <m:r>
                        <a:rPr lang="zh-CN" altLang="en-US" i="1" smtClean="0">
                          <a:latin typeface="Cambria Math" panose="02040503050406030204" pitchFamily="18" charset="0"/>
                        </a:rPr>
                        <m:t>⟹</m:t>
                      </m:r>
                      <m:r>
                        <a:rPr lang="zh-CN" altLang="en-AU" i="1">
                          <a:latin typeface="Cambria Math" panose="02040503050406030204" pitchFamily="18" charset="0"/>
                        </a:rPr>
                        <m:t>𝛼</m:t>
                      </m:r>
                      <m:r>
                        <a:rPr lang="zh-CN" altLang="en-US" i="1" smtClean="0">
                          <a:latin typeface="Cambria Math" panose="02040503050406030204" pitchFamily="18" charset="0"/>
                        </a:rPr>
                        <m:t>𝛾</m:t>
                      </m:r>
                      <m:r>
                        <a:rPr lang="zh-CN" altLang="en-US" i="1">
                          <a:latin typeface="Cambria Math" panose="02040503050406030204" pitchFamily="18" charset="0"/>
                        </a:rPr>
                        <m:t>𝛽</m:t>
                      </m:r>
                    </m:oMath>
                  </m:oMathPara>
                </a14:m>
                <a:endParaRPr lang="en-AU" altLang="zh-CN" dirty="0"/>
              </a:p>
              <a:p>
                <a:pPr marL="0" indent="0">
                  <a:buNone/>
                </a:pPr>
                <a:r>
                  <a:rPr lang="zh-CN" altLang="en-US" dirty="0"/>
                  <a:t>符号串</a:t>
                </a:r>
                <a14:m>
                  <m:oMath xmlns:m="http://schemas.openxmlformats.org/officeDocument/2006/math">
                    <m:r>
                      <a:rPr lang="zh-CN" altLang="en-US" i="1" smtClean="0">
                        <a:latin typeface="Cambria Math" panose="02040503050406030204" pitchFamily="18" charset="0"/>
                      </a:rPr>
                      <m:t>𝛾</m:t>
                    </m:r>
                  </m:oMath>
                </a14:m>
                <a:r>
                  <a:rPr lang="zh-CN" altLang="en-US" dirty="0"/>
                  <a:t>仅根据</a:t>
                </a:r>
                <a14:m>
                  <m:oMath xmlns:m="http://schemas.openxmlformats.org/officeDocument/2006/math">
                    <m:r>
                      <a:rPr lang="en-AU" altLang="zh-CN" i="1" dirty="0" smtClean="0">
                        <a:latin typeface="Cambria Math" panose="02040503050406030204" pitchFamily="18" charset="0"/>
                      </a:rPr>
                      <m:t>𝐴</m:t>
                    </m:r>
                  </m:oMath>
                </a14:m>
                <a:r>
                  <a:rPr lang="zh-CN" altLang="en-US" dirty="0"/>
                  <a:t>的产生式派生</a:t>
                </a:r>
                <a:r>
                  <a:rPr lang="en-US" altLang="zh-CN" dirty="0"/>
                  <a:t>, </a:t>
                </a:r>
                <a:r>
                  <a:rPr lang="zh-CN" altLang="en-US" dirty="0"/>
                  <a:t>而无需依赖 </a:t>
                </a:r>
                <a14:m>
                  <m:oMath xmlns:m="http://schemas.openxmlformats.org/officeDocument/2006/math">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oMath>
                </a14:m>
                <a:r>
                  <a:rPr lang="zh-CN" altLang="en-US" dirty="0"/>
                  <a:t>的上下文 </a:t>
                </a:r>
                <a14:m>
                  <m:oMath xmlns:m="http://schemas.openxmlformats.org/officeDocument/2006/math">
                    <m:r>
                      <a:rPr lang="el-GR" altLang="zh-CN" i="1" dirty="0" smtClean="0">
                        <a:latin typeface="Cambria Math" panose="02040503050406030204" pitchFamily="18" charset="0"/>
                      </a:rPr>
                      <m:t>𝛼</m:t>
                    </m:r>
                  </m:oMath>
                </a14:m>
                <a:r>
                  <a:rPr lang="el-GR" altLang="zh-CN" dirty="0"/>
                  <a:t> </a:t>
                </a:r>
                <a:r>
                  <a:rPr lang="zh-CN" altLang="en-US" dirty="0"/>
                  <a:t>和 </a:t>
                </a:r>
                <a14:m>
                  <m:oMath xmlns:m="http://schemas.openxmlformats.org/officeDocument/2006/math">
                    <m:r>
                      <a:rPr lang="el-GR" altLang="zh-CN" i="1" dirty="0" smtClean="0">
                        <a:latin typeface="Cambria Math" panose="02040503050406030204" pitchFamily="18" charset="0"/>
                      </a:rPr>
                      <m:t>𝛽</m:t>
                    </m:r>
                  </m:oMath>
                </a14:m>
                <a:r>
                  <a:rPr lang="el-GR" altLang="zh-CN" dirty="0"/>
                  <a:t>.</a:t>
                </a:r>
                <a:endParaRPr lang="en-AU" altLang="zh-CN" dirty="0"/>
              </a:p>
              <a:p>
                <a:endParaRPr lang="en-AU" altLang="zh-CN" dirty="0"/>
              </a:p>
              <a:p>
                <a:pPr marL="0" indent="0">
                  <a:buNone/>
                </a:pPr>
                <a:endParaRPr lang="en-AU" altLang="zh-CN"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469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文法的等价性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定义</a:t>
                </a:r>
                <a:r>
                  <a:rPr lang="en-AU" altLang="zh-CN" dirty="0"/>
                  <a:t>: </a:t>
                </a:r>
                <a:r>
                  <a:rPr lang="zh-CN" altLang="en-US" dirty="0"/>
                  <a:t>如果有两个文法 </a:t>
                </a:r>
                <a:r>
                  <a:rPr lang="en-US" altLang="zh-CN" dirty="0">
                    <a:latin typeface="Times New Roman" panose="02020603050405020304" pitchFamily="18" charset="0"/>
                    <a:cs typeface="Times New Roman" panose="02020603050405020304" pitchFamily="18" charset="0"/>
                  </a:rPr>
                  <a:t>CFG</a:t>
                </a: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𝐺</m:t>
                        </m:r>
                      </m:e>
                      <m:sub>
                        <m:r>
                          <a:rPr lang="en-AU" altLang="zh-CN" b="0" i="1" dirty="0" smtClean="0">
                            <a:latin typeface="Cambria Math" panose="02040503050406030204" pitchFamily="18" charset="0"/>
                          </a:rPr>
                          <m:t>1</m:t>
                        </m:r>
                      </m:sub>
                    </m:sSub>
                  </m:oMath>
                </a14:m>
                <a:r>
                  <a:rPr lang="zh-CN" altLang="en-US" dirty="0"/>
                  <a:t>和</a:t>
                </a:r>
                <a:r>
                  <a:rPr lang="en-US" altLang="zh-CN" dirty="0">
                    <a:latin typeface="Times New Roman" panose="02020603050405020304" pitchFamily="18" charset="0"/>
                    <a:cs typeface="Times New Roman" panose="02020603050405020304" pitchFamily="18" charset="0"/>
                  </a:rPr>
                  <a:t>CFG</a:t>
                </a: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2</m:t>
                        </m:r>
                      </m:sub>
                    </m:sSub>
                  </m:oMath>
                </a14:m>
                <a:r>
                  <a:rPr lang="en-US" altLang="zh-CN" dirty="0"/>
                  <a:t>, </a:t>
                </a:r>
                <a:r>
                  <a:rPr lang="zh-CN" altLang="en-US" dirty="0"/>
                  <a:t>满足</a:t>
                </a:r>
                <a14:m>
                  <m:oMath xmlns:m="http://schemas.openxmlformats.org/officeDocument/2006/math">
                    <m:r>
                      <a:rPr lang="en-US" altLang="zh-CN" b="1" i="0" dirty="0" smtClean="0">
                        <a:latin typeface="Cambria Math" panose="02040503050406030204" pitchFamily="18" charset="0"/>
                      </a:rPr>
                      <m:t>𝐋</m:t>
                    </m:r>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𝐺</m:t>
                        </m:r>
                      </m:e>
                      <m:sub>
                        <m:r>
                          <a:rPr lang="en-AU" altLang="zh-CN" b="0" i="1" dirty="0" smtClean="0">
                            <a:latin typeface="Cambria Math" panose="02040503050406030204" pitchFamily="18" charset="0"/>
                          </a:rPr>
                          <m:t>1</m:t>
                        </m:r>
                      </m:sub>
                    </m:sSub>
                    <m:r>
                      <a:rPr lang="en-US" altLang="zh-CN" i="1" dirty="0" smtClean="0">
                        <a:latin typeface="Cambria Math" panose="02040503050406030204" pitchFamily="18" charset="0"/>
                      </a:rPr>
                      <m:t>) = </m:t>
                    </m:r>
                    <m:r>
                      <a:rPr lang="en-US" altLang="zh-CN" b="1" i="0" dirty="0" smtClean="0">
                        <a:latin typeface="Cambria Math" panose="02040503050406030204" pitchFamily="18" charset="0"/>
                      </a:rPr>
                      <m:t>𝐋</m:t>
                    </m:r>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𝐺</m:t>
                        </m:r>
                      </m:e>
                      <m:sub>
                        <m:r>
                          <a:rPr lang="en-AU" altLang="zh-CN" b="0" i="1" dirty="0" smtClean="0">
                            <a:latin typeface="Cambria Math" panose="02040503050406030204" pitchFamily="18" charset="0"/>
                          </a:rPr>
                          <m:t>2</m:t>
                        </m:r>
                      </m:sub>
                    </m:sSub>
                    <m:r>
                      <a:rPr lang="en-US" altLang="zh-CN" i="1" dirty="0" smtClean="0">
                        <a:latin typeface="Cambria Math" panose="02040503050406030204" pitchFamily="18" charset="0"/>
                      </a:rPr>
                      <m:t>),</m:t>
                    </m:r>
                  </m:oMath>
                </a14:m>
                <a:r>
                  <a:rPr lang="zh-CN" altLang="en-US" dirty="0"/>
                  <a:t>则称 </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𝐺</m:t>
                        </m:r>
                      </m:e>
                      <m:sub>
                        <m:r>
                          <a:rPr lang="en-AU" altLang="zh-CN" i="1" dirty="0">
                            <a:latin typeface="Cambria Math" panose="02040503050406030204" pitchFamily="18" charset="0"/>
                          </a:rPr>
                          <m:t>1</m:t>
                        </m:r>
                      </m:sub>
                    </m:sSub>
                  </m:oMath>
                </a14:m>
                <a:r>
                  <a:rPr lang="en-US" altLang="zh-CN" dirty="0"/>
                  <a:t> </a:t>
                </a:r>
                <a:r>
                  <a:rPr lang="zh-CN" altLang="en-US" dirty="0"/>
                  <a:t>和 </a:t>
                </a:r>
                <a14:m>
                  <m:oMath xmlns:m="http://schemas.openxmlformats.org/officeDocument/2006/math">
                    <m:sSub>
                      <m:sSubPr>
                        <m:ctrlPr>
                          <a:rPr lang="en-US" altLang="zh-CN" i="1" dirty="0" smtClean="0">
                            <a:latin typeface="Cambria Math" panose="02040503050406030204" pitchFamily="18" charset="0"/>
                          </a:rPr>
                        </m:ctrlPr>
                      </m:sSubPr>
                      <m:e>
                        <m:r>
                          <a:rPr lang="en-AU" altLang="zh-CN" i="1" dirty="0">
                            <a:latin typeface="Cambria Math" panose="02040503050406030204" pitchFamily="18" charset="0"/>
                          </a:rPr>
                          <m:t>𝐺</m:t>
                        </m:r>
                      </m:e>
                      <m:sub>
                        <m:r>
                          <a:rPr lang="en-AU" altLang="zh-CN" b="0" i="1" dirty="0" smtClean="0">
                            <a:latin typeface="Cambria Math" panose="02040503050406030204" pitchFamily="18" charset="0"/>
                          </a:rPr>
                          <m:t>2</m:t>
                        </m:r>
                      </m:sub>
                    </m:sSub>
                  </m:oMath>
                </a14:m>
                <a:r>
                  <a:rPr lang="en-US" altLang="zh-CN" dirty="0"/>
                  <a:t> </a:t>
                </a:r>
                <a:r>
                  <a:rPr lang="zh-CN" altLang="en-US" dirty="0"/>
                  <a:t>是等价的</a:t>
                </a:r>
                <a:r>
                  <a:rPr lang="en-US" altLang="zh-CN"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句型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66018"/>
                <a:ext cx="8229600" cy="4525963"/>
              </a:xfrm>
            </p:spPr>
            <p:txBody>
              <a:bodyPr>
                <a:normAutofit/>
              </a:bodyPr>
              <a:lstStyle/>
              <a:p>
                <a:r>
                  <a:rPr lang="zh-CN" altLang="en-US" dirty="0"/>
                  <a:t>若文法</a:t>
                </a:r>
                <a14:m>
                  <m:oMath xmlns:m="http://schemas.openxmlformats.org/officeDocument/2006/math">
                    <m:r>
                      <a:rPr lang="en-AU" i="1" dirty="0" smtClean="0">
                        <a:latin typeface="Cambria Math" panose="02040503050406030204" pitchFamily="18" charset="0"/>
                      </a:rPr>
                      <m:t>𝐺</m:t>
                    </m:r>
                    <m:r>
                      <a:rPr lang="en-AU" i="1" dirty="0" smtClean="0">
                        <a:latin typeface="Cambria Math" panose="02040503050406030204" pitchFamily="18" charset="0"/>
                      </a:rPr>
                      <m:t> = (</m:t>
                    </m:r>
                    <m:r>
                      <a:rPr lang="en-AU" i="1" dirty="0" smtClean="0">
                        <a:latin typeface="Cambria Math" panose="02040503050406030204" pitchFamily="18" charset="0"/>
                      </a:rPr>
                      <m:t>𝑉</m:t>
                    </m:r>
                    <m:r>
                      <a:rPr lang="en-AU" i="1" dirty="0" smtClean="0">
                        <a:latin typeface="Cambria Math" panose="02040503050406030204" pitchFamily="18" charset="0"/>
                      </a:rPr>
                      <m:t>, </m:t>
                    </m:r>
                    <m:r>
                      <a:rPr lang="en-AU" i="1" dirty="0" smtClean="0">
                        <a:latin typeface="Cambria Math" panose="02040503050406030204" pitchFamily="18" charset="0"/>
                      </a:rPr>
                      <m:t>𝑇</m:t>
                    </m:r>
                    <m:r>
                      <a:rPr lang="en-AU" i="1" dirty="0" smtClean="0">
                        <a:latin typeface="Cambria Math" panose="02040503050406030204" pitchFamily="18" charset="0"/>
                      </a:rPr>
                      <m:t>, </m:t>
                    </m:r>
                    <m:r>
                      <a:rPr lang="en-AU" i="1" dirty="0" smtClean="0">
                        <a:latin typeface="Cambria Math" panose="02040503050406030204" pitchFamily="18" charset="0"/>
                      </a:rPr>
                      <m:t>𝑃</m:t>
                    </m:r>
                    <m:r>
                      <a:rPr lang="en-AU" i="1" dirty="0" smtClean="0">
                        <a:latin typeface="Cambria Math" panose="02040503050406030204" pitchFamily="18" charset="0"/>
                      </a:rPr>
                      <m:t>, </m:t>
                    </m:r>
                    <m:r>
                      <a:rPr lang="en-AU" i="1" dirty="0" smtClean="0">
                        <a:latin typeface="Cambria Math" panose="02040503050406030204" pitchFamily="18" charset="0"/>
                      </a:rPr>
                      <m:t>𝑆</m:t>
                    </m:r>
                    <m:r>
                      <a:rPr lang="en-AU" i="1" dirty="0" smtClean="0">
                        <a:latin typeface="Cambria Math" panose="02040503050406030204" pitchFamily="18" charset="0"/>
                      </a:rPr>
                      <m:t>), </m:t>
                    </m:r>
                  </m:oMath>
                </a14:m>
                <a:r>
                  <a:rPr lang="zh-CN" altLang="en-US" dirty="0"/>
                  <a:t>初始符号</a:t>
                </a:r>
                <a14:m>
                  <m:oMath xmlns:m="http://schemas.openxmlformats.org/officeDocument/2006/math">
                    <m:r>
                      <a:rPr lang="en-AU" i="1" dirty="0" smtClean="0">
                        <a:latin typeface="Cambria Math" panose="02040503050406030204" pitchFamily="18" charset="0"/>
                      </a:rPr>
                      <m:t>𝑆</m:t>
                    </m:r>
                  </m:oMath>
                </a14:m>
                <a:r>
                  <a:rPr lang="zh-CN" altLang="en-US" dirty="0"/>
                  <a:t>派生出来的符号串</a:t>
                </a:r>
                <a:r>
                  <a:rPr lang="en-US" altLang="zh-CN" dirty="0"/>
                  <a:t>, </a:t>
                </a:r>
                <a:r>
                  <a:rPr lang="zh-CN" altLang="en-US" dirty="0"/>
                  <a:t>称为 </a:t>
                </a:r>
                <a14:m>
                  <m:oMath xmlns:m="http://schemas.openxmlformats.org/officeDocument/2006/math">
                    <m:r>
                      <a:rPr lang="en-AU" i="1" dirty="0" smtClean="0">
                        <a:latin typeface="Cambria Math" panose="02040503050406030204" pitchFamily="18" charset="0"/>
                      </a:rPr>
                      <m:t>𝐺</m:t>
                    </m:r>
                  </m:oMath>
                </a14:m>
                <a:r>
                  <a:rPr lang="en-AU" dirty="0"/>
                  <a:t> </a:t>
                </a:r>
                <a:r>
                  <a:rPr lang="zh-CN" altLang="en-US" dirty="0"/>
                  <a:t>的句型</a:t>
                </a:r>
                <a:r>
                  <a:rPr lang="en-US" altLang="zh-CN" dirty="0"/>
                  <a:t>, </a:t>
                </a:r>
                <a:r>
                  <a:rPr lang="zh-CN" altLang="en-US" dirty="0"/>
                  <a:t>即</a:t>
                </a:r>
                <a14:m>
                  <m:oMath xmlns:m="http://schemas.openxmlformats.org/officeDocument/2006/math">
                    <m:r>
                      <a:rPr lang="el-GR" i="1" dirty="0" smtClean="0">
                        <a:latin typeface="Cambria Math" panose="02040503050406030204" pitchFamily="18" charset="0"/>
                      </a:rPr>
                      <m:t>𝛼</m:t>
                    </m:r>
                    <m:r>
                      <a:rPr lang="el-GR" i="1" dirty="0" smtClean="0">
                        <a:latin typeface="Cambria Math" panose="02040503050406030204" pitchFamily="18" charset="0"/>
                      </a:rPr>
                      <m:t> ∈ </m:t>
                    </m:r>
                    <m:sSup>
                      <m:sSupPr>
                        <m:ctrlPr>
                          <a:rPr lang="el-GR" i="1" dirty="0" smtClean="0">
                            <a:latin typeface="Cambria Math" panose="02040503050406030204" pitchFamily="18" charset="0"/>
                          </a:rPr>
                        </m:ctrlPr>
                      </m:sSupPr>
                      <m:e>
                        <m:r>
                          <a:rPr lang="el-GR" i="1" dirty="0">
                            <a:latin typeface="Cambria Math" panose="02040503050406030204" pitchFamily="18" charset="0"/>
                          </a:rPr>
                          <m:t>(</m:t>
                        </m:r>
                        <m:r>
                          <a:rPr lang="en-AU" i="1" dirty="0">
                            <a:latin typeface="Cambria Math" panose="02040503050406030204" pitchFamily="18" charset="0"/>
                          </a:rPr>
                          <m:t>𝑉</m:t>
                        </m:r>
                        <m:r>
                          <a:rPr lang="en-AU" i="1" dirty="0">
                            <a:latin typeface="Cambria Math" panose="02040503050406030204" pitchFamily="18" charset="0"/>
                          </a:rPr>
                          <m:t> ∪ </m:t>
                        </m:r>
                        <m:r>
                          <a:rPr lang="en-AU" i="1" dirty="0">
                            <a:latin typeface="Cambria Math" panose="02040503050406030204" pitchFamily="18" charset="0"/>
                          </a:rPr>
                          <m:t>𝑇</m:t>
                        </m:r>
                        <m:r>
                          <a:rPr lang="en-AU" i="1" dirty="0">
                            <a:latin typeface="Cambria Math" panose="02040503050406030204" pitchFamily="18" charset="0"/>
                          </a:rPr>
                          <m:t>)</m:t>
                        </m:r>
                      </m:e>
                      <m:sup>
                        <m:r>
                          <a:rPr lang="en-AU" b="0" i="1" dirty="0" smtClean="0">
                            <a:latin typeface="Cambria Math" panose="02040503050406030204" pitchFamily="18" charset="0"/>
                          </a:rPr>
                          <m:t>∗</m:t>
                        </m:r>
                      </m:sup>
                    </m:sSup>
                    <m:r>
                      <a:rPr lang="en-AU" i="1" dirty="0" smtClean="0">
                        <a:latin typeface="Cambria Math" panose="02040503050406030204" pitchFamily="18" charset="0"/>
                      </a:rPr>
                      <m:t> </m:t>
                    </m:r>
                  </m:oMath>
                </a14:m>
                <a:r>
                  <a:rPr lang="zh-CN" altLang="en-US" dirty="0"/>
                  <a:t>且 </a:t>
                </a:r>
                <a14:m>
                  <m:oMath xmlns:m="http://schemas.openxmlformats.org/officeDocument/2006/math">
                    <m:r>
                      <a:rPr lang="en-AU" i="1" dirty="0" smtClean="0">
                        <a:latin typeface="Cambria Math" panose="02040503050406030204" pitchFamily="18" charset="0"/>
                      </a:rPr>
                      <m:t>𝑆</m:t>
                    </m:r>
                    <m:groupChr>
                      <m:groupChrPr>
                        <m:chr m:val="⇒"/>
                        <m:vertJc m:val="bot"/>
                        <m:ctrlPr>
                          <a:rPr lang="en-AU" i="1" dirty="0" smtClean="0">
                            <a:latin typeface="Cambria Math" panose="02040503050406030204" pitchFamily="18" charset="0"/>
                          </a:rPr>
                        </m:ctrlPr>
                      </m:groupChrPr>
                      <m:e>
                        <m:r>
                          <m:rPr>
                            <m:brk m:alnAt="2"/>
                          </m:rPr>
                          <a:rPr lang="en-AU" b="0" i="1" dirty="0" smtClean="0">
                            <a:latin typeface="Cambria Math" panose="02040503050406030204" pitchFamily="18" charset="0"/>
                          </a:rPr>
                          <m:t>∗</m:t>
                        </m:r>
                      </m:e>
                    </m:groupChr>
                    <m:r>
                      <a:rPr lang="en-AU" i="1" dirty="0" smtClean="0">
                        <a:latin typeface="Cambria Math" panose="02040503050406030204" pitchFamily="18" charset="0"/>
                        <a:ea typeface="Cambria Math" panose="02040503050406030204" pitchFamily="18" charset="0"/>
                      </a:rPr>
                      <m:t>𝛼</m:t>
                    </m:r>
                  </m:oMath>
                </a14:m>
                <a:endParaRPr lang="en-AU" dirty="0"/>
              </a:p>
              <a:p>
                <a:pPr marL="0" indent="0">
                  <a:buNone/>
                </a:pPr>
                <a:r>
                  <a:rPr lang="zh-CN" altLang="en-US" dirty="0"/>
                  <a:t>如果 </a:t>
                </a:r>
                <a14:m>
                  <m:oMath xmlns:m="http://schemas.openxmlformats.org/officeDocument/2006/math">
                    <m:r>
                      <a:rPr lang="en-AU" b="0" i="1" smtClean="0">
                        <a:latin typeface="Cambria Math" panose="02040503050406030204" pitchFamily="18" charset="0"/>
                        <a:ea typeface="Cambria Math" panose="02040503050406030204" pitchFamily="18" charset="0"/>
                      </a:rPr>
                      <m:t>𝑆</m:t>
                    </m:r>
                    <m:groupChr>
                      <m:groupChrPr>
                        <m:chr m:val="⇒"/>
                        <m:pos m:val="top"/>
                        <m:ctrlPr>
                          <a:rPr lang="en-AU" b="0" i="1" smtClean="0">
                            <a:latin typeface="Cambria Math" panose="02040503050406030204" pitchFamily="18" charset="0"/>
                            <a:ea typeface="Cambria Math" panose="02040503050406030204" pitchFamily="18" charset="0"/>
                          </a:rPr>
                        </m:ctrlPr>
                      </m:groupChrPr>
                      <m:e>
                        <m:r>
                          <m:rPr>
                            <m:brk m:alnAt="1"/>
                          </m:rPr>
                          <a:rPr lang="en-AU" b="0" i="1" smtClean="0">
                            <a:latin typeface="Cambria Math" panose="02040503050406030204" pitchFamily="18" charset="0"/>
                            <a:ea typeface="Cambria Math" panose="02040503050406030204" pitchFamily="18" charset="0"/>
                          </a:rPr>
                          <m:t>𝑙</m:t>
                        </m:r>
                        <m:r>
                          <a:rPr lang="en-AU" b="0" i="1" smtClean="0">
                            <a:latin typeface="Cambria Math" panose="02040503050406030204" pitchFamily="18" charset="0"/>
                            <a:ea typeface="Cambria Math" panose="02040503050406030204" pitchFamily="18" charset="0"/>
                          </a:rPr>
                          <m:t>𝑚</m:t>
                        </m:r>
                      </m:e>
                    </m:groupChr>
                    <m:r>
                      <a:rPr lang="en-AU" b="0" i="1" smtClean="0">
                        <a:latin typeface="Cambria Math" panose="02040503050406030204" pitchFamily="18" charset="0"/>
                        <a:ea typeface="Cambria Math" panose="02040503050406030204" pitchFamily="18" charset="0"/>
                      </a:rPr>
                      <m:t>𝛼</m:t>
                    </m:r>
                  </m:oMath>
                </a14:m>
                <a:r>
                  <a:rPr lang="zh-CN" altLang="en-US" dirty="0"/>
                  <a:t>，称</a:t>
                </a:r>
                <a14:m>
                  <m:oMath xmlns:m="http://schemas.openxmlformats.org/officeDocument/2006/math">
                    <m:r>
                      <a:rPr lang="en-AU" i="1">
                        <a:latin typeface="Cambria Math" panose="02040503050406030204" pitchFamily="18" charset="0"/>
                        <a:ea typeface="Cambria Math" panose="02040503050406030204" pitchFamily="18" charset="0"/>
                      </a:rPr>
                      <m:t>𝛼</m:t>
                    </m:r>
                  </m:oMath>
                </a14:m>
                <a:r>
                  <a:rPr lang="zh-CN" altLang="en-US" dirty="0"/>
                  <a:t>为左句型</a:t>
                </a:r>
                <a:endParaRPr lang="en-AU" dirty="0"/>
              </a:p>
              <a:p>
                <a:pPr marL="0" indent="0">
                  <a:buNone/>
                </a:pPr>
                <a:r>
                  <a:rPr lang="zh-CN" altLang="en-US" dirty="0"/>
                  <a:t>如果 </a:t>
                </a:r>
                <a14:m>
                  <m:oMath xmlns:m="http://schemas.openxmlformats.org/officeDocument/2006/math">
                    <m:r>
                      <a:rPr lang="en-AU" b="0" i="1" smtClean="0">
                        <a:latin typeface="Cambria Math" panose="02040503050406030204" pitchFamily="18" charset="0"/>
                        <a:ea typeface="Cambria Math" panose="02040503050406030204" pitchFamily="18" charset="0"/>
                      </a:rPr>
                      <m:t>𝑆</m:t>
                    </m:r>
                    <m:groupChr>
                      <m:groupChrPr>
                        <m:chr m:val="⇒"/>
                        <m:pos m:val="top"/>
                        <m:ctrlPr>
                          <a:rPr lang="en-AU" b="0" i="1" smtClean="0">
                            <a:latin typeface="Cambria Math" panose="02040503050406030204" pitchFamily="18" charset="0"/>
                            <a:ea typeface="Cambria Math" panose="02040503050406030204" pitchFamily="18" charset="0"/>
                          </a:rPr>
                        </m:ctrlPr>
                      </m:groupChrPr>
                      <m:e>
                        <m:r>
                          <m:rPr>
                            <m:brk m:alnAt="1"/>
                          </m:rPr>
                          <a:rPr lang="en-AU" b="0" i="1" smtClean="0">
                            <a:latin typeface="Cambria Math" panose="02040503050406030204" pitchFamily="18" charset="0"/>
                            <a:ea typeface="Cambria Math" panose="02040503050406030204" pitchFamily="18" charset="0"/>
                          </a:rPr>
                          <m:t>𝑟</m:t>
                        </m:r>
                        <m:r>
                          <a:rPr lang="en-AU" b="0" i="1" smtClean="0">
                            <a:latin typeface="Cambria Math" panose="02040503050406030204" pitchFamily="18" charset="0"/>
                            <a:ea typeface="Cambria Math" panose="02040503050406030204" pitchFamily="18" charset="0"/>
                          </a:rPr>
                          <m:t>𝑚</m:t>
                        </m:r>
                      </m:e>
                    </m:groupChr>
                    <m:r>
                      <a:rPr lang="en-AU" b="0" i="1" smtClean="0">
                        <a:latin typeface="Cambria Math" panose="02040503050406030204" pitchFamily="18" charset="0"/>
                        <a:ea typeface="Cambria Math" panose="02040503050406030204" pitchFamily="18" charset="0"/>
                      </a:rPr>
                      <m:t>𝛼</m:t>
                    </m:r>
                  </m:oMath>
                </a14:m>
                <a:r>
                  <a:rPr lang="zh-CN" altLang="en-US" dirty="0"/>
                  <a:t>，称</a:t>
                </a:r>
                <a14:m>
                  <m:oMath xmlns:m="http://schemas.openxmlformats.org/officeDocument/2006/math">
                    <m:r>
                      <a:rPr lang="en-AU" i="1">
                        <a:latin typeface="Cambria Math" panose="02040503050406030204" pitchFamily="18" charset="0"/>
                        <a:ea typeface="Cambria Math" panose="02040503050406030204" pitchFamily="18" charset="0"/>
                      </a:rPr>
                      <m:t>𝛼</m:t>
                    </m:r>
                  </m:oMath>
                </a14:m>
                <a:r>
                  <a:rPr lang="zh-CN" altLang="en-US" dirty="0"/>
                  <a:t>为右句型</a:t>
                </a:r>
                <a:endParaRPr lang="en-AU" altLang="zh-CN" dirty="0"/>
              </a:p>
              <a:p>
                <a:r>
                  <a:rPr lang="zh-CN" altLang="en-US" dirty="0"/>
                  <a:t>只含有</a:t>
                </a:r>
                <a:r>
                  <a:rPr lang="zh-CN" altLang="en-US" dirty="0">
                    <a:solidFill>
                      <a:srgbClr val="FF0000"/>
                    </a:solidFill>
                  </a:rPr>
                  <a:t>终结符</a:t>
                </a:r>
                <a:r>
                  <a:rPr lang="zh-CN" altLang="en-US" dirty="0"/>
                  <a:t>的句型</a:t>
                </a:r>
                <a:r>
                  <a:rPr lang="en-US" altLang="zh-CN" dirty="0"/>
                  <a:t>, </a:t>
                </a:r>
                <a:r>
                  <a:rPr lang="zh-CN" altLang="en-US" dirty="0"/>
                  <a:t>也称为</a:t>
                </a:r>
                <a14:m>
                  <m:oMath xmlns:m="http://schemas.openxmlformats.org/officeDocument/2006/math">
                    <m:r>
                      <a:rPr lang="en-US" altLang="zh-CN" i="1" dirty="0" smtClean="0">
                        <a:latin typeface="Cambria Math" panose="02040503050406030204" pitchFamily="18" charset="0"/>
                      </a:rPr>
                      <m:t>𝐺</m:t>
                    </m:r>
                  </m:oMath>
                </a14:m>
                <a:r>
                  <a:rPr lang="zh-CN" altLang="en-US" dirty="0"/>
                  <a:t>的句子</a:t>
                </a:r>
                <a:endParaRPr lang="zh-CN" altLang="en-US" dirty="0"/>
              </a:p>
              <a:p>
                <a:r>
                  <a:rPr lang="zh-CN" altLang="en-US" dirty="0"/>
                  <a:t>而 </a:t>
                </a:r>
                <a14:m>
                  <m:oMath xmlns:m="http://schemas.openxmlformats.org/officeDocument/2006/math">
                    <m:r>
                      <a:rPr lang="en-US" altLang="zh-CN" b="1" i="0" dirty="0" smtClean="0">
                        <a:latin typeface="Cambria Math" panose="02040503050406030204" pitchFamily="18" charset="0"/>
                      </a:rPr>
                      <m:t>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oMath>
                </a14:m>
                <a:r>
                  <a:rPr lang="en-US" altLang="zh-CN" dirty="0"/>
                  <a:t> </a:t>
                </a:r>
                <a:r>
                  <a:rPr lang="zh-CN" altLang="en-US" dirty="0"/>
                  <a:t>就是文法</a:t>
                </a:r>
                <a14:m>
                  <m:oMath xmlns:m="http://schemas.openxmlformats.org/officeDocument/2006/math">
                    <m:r>
                      <a:rPr lang="en-US" altLang="zh-CN" i="1" dirty="0" smtClean="0">
                        <a:latin typeface="Cambria Math" panose="02040503050406030204" pitchFamily="18" charset="0"/>
                      </a:rPr>
                      <m:t>𝐺</m:t>
                    </m:r>
                  </m:oMath>
                </a14:m>
                <a:r>
                  <a:rPr lang="zh-CN" altLang="en-US" dirty="0"/>
                  <a:t>全部的</a:t>
                </a:r>
                <a:r>
                  <a:rPr lang="zh-CN" altLang="en-US" dirty="0">
                    <a:solidFill>
                      <a:srgbClr val="FF0000"/>
                    </a:solidFill>
                  </a:rPr>
                  <a:t>句子</a:t>
                </a:r>
                <a:endParaRPr lang="en-AU" altLang="zh-CN" dirty="0">
                  <a:solidFill>
                    <a:srgbClr val="FF0000"/>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1"/>
                <a:stretch>
                  <a:fillRect t="-3" b="11"/>
                </a:stretch>
              </a:blipFill>
            </p:spPr>
            <p:txBody>
              <a:bodyPr/>
              <a:lstStyle/>
              <a:p>
                <a:r>
                  <a:rPr lang="zh-CN" altLang="en-US">
                    <a:noFill/>
                  </a:rPr>
                  <a:t> </a:t>
                </a:r>
              </a:p>
            </p:txBody>
          </p:sp>
        </mc:Fallback>
      </mc:AlternateContent>
      <p:sp>
        <p:nvSpPr>
          <p:cNvPr id="4" name="TextBox 3"/>
          <p:cNvSpPr txBox="1"/>
          <p:nvPr/>
        </p:nvSpPr>
        <p:spPr>
          <a:xfrm>
            <a:off x="1676795" y="2679660"/>
            <a:ext cx="914400" cy="369332"/>
          </a:xfrm>
          <a:prstGeom prst="rect">
            <a:avLst/>
          </a:prstGeom>
          <a:noFill/>
        </p:spPr>
        <p:txBody>
          <a:bodyPr wrap="square" rtlCol="0">
            <a:spAutoFit/>
          </a:bodyPr>
          <a:lstStyle/>
          <a:p>
            <a:r>
              <a:rPr lang="en-AU" dirty="0"/>
              <a:t>*</a:t>
            </a:r>
            <a:endParaRPr lang="en-AU" dirty="0"/>
          </a:p>
        </p:txBody>
      </p:sp>
      <p:sp>
        <p:nvSpPr>
          <p:cNvPr id="5" name="TextBox 4"/>
          <p:cNvSpPr txBox="1"/>
          <p:nvPr/>
        </p:nvSpPr>
        <p:spPr>
          <a:xfrm>
            <a:off x="1676795" y="3314988"/>
            <a:ext cx="914400" cy="369332"/>
          </a:xfrm>
          <a:prstGeom prst="rect">
            <a:avLst/>
          </a:prstGeom>
          <a:noFill/>
        </p:spPr>
        <p:txBody>
          <a:bodyPr wrap="square" rtlCol="0">
            <a:spAutoFit/>
          </a:bodyPr>
          <a:lstStyle/>
          <a:p>
            <a:r>
              <a:rPr lang="en-AU"/>
              <a:t>*</a:t>
            </a:r>
            <a:endParaRPr lang="en-AU" dirty="0"/>
          </a:p>
        </p:txBody>
      </p:sp>
      <p:sp>
        <p:nvSpPr>
          <p:cNvPr id="6" name="Slide Number Placeholder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187926"/>
                <a:ext cx="8229600" cy="4525963"/>
              </a:xfrm>
            </p:spPr>
            <p:txBody>
              <a:bodyPr/>
              <a:lstStyle/>
              <a:p>
                <a:r>
                  <a:rPr lang="zh-CN" altLang="en-US" dirty="0"/>
                  <a:t>例</a:t>
                </a:r>
                <a:r>
                  <a:rPr lang="en-AU" altLang="zh-CN" dirty="0"/>
                  <a:t>:</a:t>
                </a:r>
                <a:r>
                  <a:rPr lang="zh-CN" altLang="en-US" dirty="0"/>
                  <a:t> 描述</a:t>
                </a:r>
                <a:r>
                  <a:rPr lang="en-AU" dirty="0">
                    <a:latin typeface="Times New Roman" panose="02020603050405020304" pitchFamily="18" charset="0"/>
                    <a:cs typeface="Times New Roman" panose="02020603050405020304" pitchFamily="18" charset="0"/>
                  </a:rPr>
                  <a:t>CFG</a:t>
                </a:r>
                <a:r>
                  <a:rPr lang="en-AU" dirty="0"/>
                  <a:t> </a:t>
                </a:r>
                <a14:m>
                  <m:oMath xmlns:m="http://schemas.openxmlformats.org/officeDocument/2006/math">
                    <m:r>
                      <a:rPr lang="en-AU" i="1" dirty="0" smtClean="0">
                        <a:latin typeface="Cambria Math" panose="02040503050406030204" pitchFamily="18" charset="0"/>
                      </a:rPr>
                      <m:t>𝐺</m:t>
                    </m:r>
                    <m:r>
                      <a:rPr lang="en-AU" i="1" dirty="0" smtClean="0">
                        <a:latin typeface="Cambria Math" panose="02040503050406030204" pitchFamily="18" charset="0"/>
                      </a:rPr>
                      <m:t> = ({</m:t>
                    </m:r>
                    <m:r>
                      <a:rPr lang="en-AU" i="1" dirty="0" smtClean="0">
                        <a:latin typeface="Cambria Math" panose="02040503050406030204" pitchFamily="18" charset="0"/>
                      </a:rPr>
                      <m:t>𝑆</m:t>
                    </m:r>
                    <m:r>
                      <a:rPr lang="en-AU" i="1" dirty="0" smtClean="0">
                        <a:latin typeface="Cambria Math" panose="02040503050406030204" pitchFamily="18" charset="0"/>
                      </a:rPr>
                      <m:t>}, {</m:t>
                    </m:r>
                    <m:r>
                      <a:rPr lang="en-AU" i="1" dirty="0" smtClean="0">
                        <a:latin typeface="Cambria Math" panose="02040503050406030204" pitchFamily="18" charset="0"/>
                      </a:rPr>
                      <m:t>𝑎</m:t>
                    </m:r>
                    <m:r>
                      <a:rPr lang="en-AU" i="1" dirty="0" smtClean="0">
                        <a:latin typeface="Cambria Math" panose="02040503050406030204" pitchFamily="18" charset="0"/>
                      </a:rPr>
                      <m:t>, </m:t>
                    </m:r>
                    <m:r>
                      <a:rPr lang="en-AU" i="1" dirty="0" smtClean="0">
                        <a:latin typeface="Cambria Math" panose="02040503050406030204" pitchFamily="18" charset="0"/>
                      </a:rPr>
                      <m:t>𝑏</m:t>
                    </m:r>
                    <m:r>
                      <a:rPr lang="en-AU" i="1" dirty="0" smtClean="0">
                        <a:latin typeface="Cambria Math" panose="02040503050406030204" pitchFamily="18" charset="0"/>
                      </a:rPr>
                      <m:t>}, {</m:t>
                    </m:r>
                    <m:r>
                      <a:rPr lang="en-AU" i="1" dirty="0" smtClean="0">
                        <a:latin typeface="Cambria Math" panose="02040503050406030204" pitchFamily="18" charset="0"/>
                      </a:rPr>
                      <m:t>𝑆</m:t>
                    </m:r>
                    <m:r>
                      <a:rPr lang="en-US" b="1" i="1" dirty="0" smtClean="0">
                        <a:latin typeface="Cambria Math" panose="02040503050406030204" pitchFamily="18" charset="0"/>
                      </a:rPr>
                      <m:t>→</m:t>
                    </m:r>
                    <m:r>
                      <a:rPr lang="en-AU" i="1" dirty="0" err="1" smtClean="0">
                        <a:latin typeface="Cambria Math" panose="02040503050406030204" pitchFamily="18" charset="0"/>
                      </a:rPr>
                      <m:t>𝑎𝑆𝑏</m:t>
                    </m:r>
                    <m:r>
                      <a:rPr lang="en-AU" i="1" dirty="0" smtClean="0">
                        <a:latin typeface="Cambria Math" panose="02040503050406030204" pitchFamily="18" charset="0"/>
                      </a:rPr>
                      <m:t>, </m:t>
                    </m:r>
                    <m:r>
                      <a:rPr lang="en-AU" i="1" dirty="0" smtClean="0">
                        <a:latin typeface="Cambria Math" panose="02040503050406030204" pitchFamily="18" charset="0"/>
                      </a:rPr>
                      <m:t>𝑆</m:t>
                    </m:r>
                    <m:r>
                      <a:rPr lang="en-US" b="1" i="1" dirty="0" smtClean="0">
                        <a:latin typeface="Cambria Math" panose="02040503050406030204" pitchFamily="18" charset="0"/>
                      </a:rPr>
                      <m:t>→</m:t>
                    </m:r>
                    <m:r>
                      <a:rPr lang="en-AU" i="1" dirty="0" smtClean="0">
                        <a:latin typeface="Cambria Math" panose="02040503050406030204" pitchFamily="18" charset="0"/>
                      </a:rPr>
                      <m:t>𝑎𝑏</m:t>
                    </m:r>
                    <m:r>
                      <a:rPr lang="en-AU" i="1" dirty="0" smtClean="0">
                        <a:latin typeface="Cambria Math" panose="02040503050406030204" pitchFamily="18" charset="0"/>
                      </a:rPr>
                      <m:t>}, </m:t>
                    </m:r>
                    <m:r>
                      <a:rPr lang="en-AU" i="1" dirty="0" smtClean="0">
                        <a:latin typeface="Cambria Math" panose="02040503050406030204" pitchFamily="18" charset="0"/>
                      </a:rPr>
                      <m:t>𝑆</m:t>
                    </m:r>
                    <m:r>
                      <a:rPr lang="en-AU" i="1" dirty="0" smtClean="0">
                        <a:latin typeface="Cambria Math" panose="02040503050406030204" pitchFamily="18" charset="0"/>
                      </a:rPr>
                      <m:t>)</m:t>
                    </m:r>
                  </m:oMath>
                </a14:m>
                <a:r>
                  <a:rPr lang="en-AU" dirty="0"/>
                  <a:t> </a:t>
                </a:r>
                <a:r>
                  <a:rPr lang="zh-CN" altLang="en-US" dirty="0"/>
                  <a:t>定义的语言</a:t>
                </a:r>
                <a:r>
                  <a:rPr lang="en-US" altLang="zh-CN" dirty="0"/>
                  <a:t>?</a:t>
                </a:r>
                <a:endParaRPr lang="en-US" altLang="zh-CN" dirty="0"/>
              </a:p>
              <a:p>
                <a:pPr marL="0" indent="0">
                  <a:buNone/>
                </a:pPr>
                <a:endParaRPr lang="en-US" dirty="0"/>
              </a:p>
              <a:p>
                <a:pPr marL="0" indent="0">
                  <a:buNone/>
                </a:pPr>
                <a:r>
                  <a:rPr lang="zh-CN" altLang="en-US" dirty="0"/>
                  <a:t>观察开始符号</a:t>
                </a:r>
                <a14:m>
                  <m:oMath xmlns:m="http://schemas.openxmlformats.org/officeDocument/2006/math">
                    <m:r>
                      <a:rPr lang="en-AU" altLang="zh-CN" b="0" i="1" smtClean="0">
                        <a:latin typeface="Cambria Math" panose="02040503050406030204" pitchFamily="18" charset="0"/>
                      </a:rPr>
                      <m:t>𝑆</m:t>
                    </m:r>
                  </m:oMath>
                </a14:m>
                <a:r>
                  <a:rPr lang="zh-CN" altLang="en-US" dirty="0"/>
                  <a:t>可以派生出的串</a:t>
                </a:r>
                <a:r>
                  <a:rPr lang="en-AU" altLang="zh-CN" dirty="0"/>
                  <a:t>:</a:t>
                </a:r>
                <a:endParaRPr lang="en-US" dirty="0"/>
              </a:p>
              <a:p>
                <a:pPr marL="0" indent="0">
                  <a:buNone/>
                </a:pPr>
                <a14:m>
                  <m:oMath xmlns:m="http://schemas.openxmlformats.org/officeDocument/2006/math">
                    <m:r>
                      <a:rPr lang="en-AU" i="1" dirty="0" smtClean="0">
                        <a:latin typeface="Cambria Math" panose="02040503050406030204" pitchFamily="18" charset="0"/>
                      </a:rPr>
                      <m:t>𝑆</m:t>
                    </m:r>
                    <m:r>
                      <a:rPr lang="en-AU" i="1" dirty="0">
                        <a:latin typeface="Cambria Math" panose="02040503050406030204" pitchFamily="18" charset="0"/>
                        <a:ea typeface="Cambria Math" panose="02040503050406030204" pitchFamily="18" charset="0"/>
                      </a:rPr>
                      <m:t>⟹</m:t>
                    </m:r>
                    <m:r>
                      <a:rPr lang="en-AU" i="1" dirty="0" err="1" smtClean="0">
                        <a:latin typeface="Cambria Math" panose="02040503050406030204" pitchFamily="18" charset="0"/>
                      </a:rPr>
                      <m:t>𝑎𝑆𝑏</m:t>
                    </m:r>
                    <m:r>
                      <a:rPr lang="en-AU" i="1" dirty="0">
                        <a:latin typeface="Cambria Math" panose="02040503050406030204" pitchFamily="18" charset="0"/>
                        <a:ea typeface="Cambria Math" panose="02040503050406030204" pitchFamily="18" charset="0"/>
                      </a:rPr>
                      <m:t>⟹</m:t>
                    </m:r>
                    <m:sSup>
                      <m:sSupPr>
                        <m:ctrlPr>
                          <a:rPr lang="en-AU" i="1" dirty="0" smtClean="0">
                            <a:latin typeface="Cambria Math" panose="02040503050406030204" pitchFamily="18" charset="0"/>
                            <a:ea typeface="Cambria Math" panose="02040503050406030204" pitchFamily="18" charset="0"/>
                          </a:rPr>
                        </m:ctrlPr>
                      </m:sSupPr>
                      <m:e>
                        <m:r>
                          <a:rPr lang="en-AU" b="0" i="1" dirty="0" smtClean="0">
                            <a:latin typeface="Cambria Math" panose="02040503050406030204" pitchFamily="18" charset="0"/>
                            <a:ea typeface="Cambria Math" panose="02040503050406030204" pitchFamily="18" charset="0"/>
                          </a:rPr>
                          <m:t>𝑎</m:t>
                        </m:r>
                      </m:e>
                      <m:sup>
                        <m:r>
                          <a:rPr lang="en-AU" b="0" i="1" dirty="0" smtClean="0">
                            <a:latin typeface="Cambria Math" panose="02040503050406030204" pitchFamily="18" charset="0"/>
                            <a:ea typeface="Cambria Math" panose="02040503050406030204" pitchFamily="18" charset="0"/>
                          </a:rPr>
                          <m:t>2</m:t>
                        </m:r>
                      </m:sup>
                    </m:sSup>
                    <m:r>
                      <a:rPr lang="en-AU" b="0" i="1" dirty="0" smtClean="0">
                        <a:latin typeface="Cambria Math" panose="02040503050406030204" pitchFamily="18" charset="0"/>
                        <a:ea typeface="Cambria Math" panose="02040503050406030204" pitchFamily="18" charset="0"/>
                      </a:rPr>
                      <m:t>𝑆</m:t>
                    </m:r>
                    <m:sSup>
                      <m:sSupPr>
                        <m:ctrlPr>
                          <a:rPr lang="en-AU" i="1" dirty="0" smtClean="0">
                            <a:latin typeface="Cambria Math" panose="02040503050406030204" pitchFamily="18" charset="0"/>
                            <a:ea typeface="Cambria Math" panose="02040503050406030204" pitchFamily="18" charset="0"/>
                          </a:rPr>
                        </m:ctrlPr>
                      </m:sSupPr>
                      <m:e>
                        <m:r>
                          <a:rPr lang="en-AU" b="0" i="1" dirty="0" smtClean="0">
                            <a:latin typeface="Cambria Math" panose="02040503050406030204" pitchFamily="18" charset="0"/>
                            <a:ea typeface="Cambria Math" panose="02040503050406030204" pitchFamily="18" charset="0"/>
                          </a:rPr>
                          <m:t>𝑏</m:t>
                        </m:r>
                      </m:e>
                      <m:sup>
                        <m:r>
                          <a:rPr lang="en-AU" b="0" i="1" dirty="0" smtClean="0">
                            <a:latin typeface="Cambria Math" panose="02040503050406030204" pitchFamily="18" charset="0"/>
                            <a:ea typeface="Cambria Math" panose="02040503050406030204" pitchFamily="18" charset="0"/>
                          </a:rPr>
                          <m:t>2</m:t>
                        </m:r>
                      </m:sup>
                    </m:sSup>
                    <m:r>
                      <a:rPr lang="en-AU" i="1" dirty="0">
                        <a:latin typeface="Cambria Math" panose="02040503050406030204" pitchFamily="18" charset="0"/>
                        <a:ea typeface="Cambria Math" panose="02040503050406030204" pitchFamily="18" charset="0"/>
                      </a:rPr>
                      <m:t>⟹</m:t>
                    </m:r>
                  </m:oMath>
                </a14:m>
                <a:r>
                  <a:rPr lang="en-AU" dirty="0"/>
                  <a:t>…</a:t>
                </a:r>
                <a:r>
                  <a:rPr lang="en-AU" dirty="0">
                    <a:ea typeface="Cambria Math" panose="02040503050406030204" pitchFamily="18" charset="0"/>
                  </a:rPr>
                  <a:t> </a:t>
                </a:r>
                <a14:m>
                  <m:oMath xmlns:m="http://schemas.openxmlformats.org/officeDocument/2006/math">
                    <m:r>
                      <a:rPr lang="en-AU" i="1" dirty="0">
                        <a:latin typeface="Cambria Math" panose="02040503050406030204" pitchFamily="18" charset="0"/>
                        <a:ea typeface="Cambria Math" panose="02040503050406030204" pitchFamily="18" charset="0"/>
                      </a:rPr>
                      <m:t>⟹</m:t>
                    </m:r>
                  </m:oMath>
                </a14:m>
                <a:r>
                  <a:rPr lang="en-AU" dirty="0">
                    <a:ea typeface="Cambria Math" panose="02040503050406030204" pitchFamily="18" charset="0"/>
                  </a:rPr>
                  <a:t> </a:t>
                </a:r>
                <a14:m>
                  <m:oMath xmlns:m="http://schemas.openxmlformats.org/officeDocument/2006/math">
                    <m:sSup>
                      <m:sSupPr>
                        <m:ctrlPr>
                          <a:rPr lang="en-AU" i="1" dirty="0">
                            <a:latin typeface="Cambria Math" panose="02040503050406030204" pitchFamily="18" charset="0"/>
                            <a:ea typeface="Cambria Math" panose="02040503050406030204" pitchFamily="18" charset="0"/>
                          </a:rPr>
                        </m:ctrlPr>
                      </m:sSupPr>
                      <m:e>
                        <m:r>
                          <a:rPr lang="en-AU" i="1" dirty="0">
                            <a:latin typeface="Cambria Math" panose="02040503050406030204" pitchFamily="18" charset="0"/>
                            <a:ea typeface="Cambria Math" panose="02040503050406030204" pitchFamily="18" charset="0"/>
                          </a:rPr>
                          <m:t>𝑎</m:t>
                        </m:r>
                      </m:e>
                      <m:sup>
                        <m:r>
                          <a:rPr lang="en-AU" b="0" i="1" dirty="0" smtClean="0">
                            <a:latin typeface="Cambria Math" panose="02040503050406030204" pitchFamily="18" charset="0"/>
                            <a:ea typeface="Cambria Math" panose="02040503050406030204" pitchFamily="18" charset="0"/>
                          </a:rPr>
                          <m:t>𝑛</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1</m:t>
                        </m:r>
                      </m:sup>
                    </m:sSup>
                    <m:r>
                      <a:rPr lang="en-AU" i="1" dirty="0">
                        <a:latin typeface="Cambria Math" panose="02040503050406030204" pitchFamily="18" charset="0"/>
                        <a:ea typeface="Cambria Math" panose="02040503050406030204" pitchFamily="18" charset="0"/>
                      </a:rPr>
                      <m:t>𝑆</m:t>
                    </m:r>
                    <m:sSup>
                      <m:sSupPr>
                        <m:ctrlPr>
                          <a:rPr lang="en-AU" i="1" dirty="0">
                            <a:latin typeface="Cambria Math" panose="02040503050406030204" pitchFamily="18" charset="0"/>
                            <a:ea typeface="Cambria Math" panose="02040503050406030204" pitchFamily="18" charset="0"/>
                          </a:rPr>
                        </m:ctrlPr>
                      </m:sSupPr>
                      <m:e>
                        <m:r>
                          <a:rPr lang="en-AU" i="1" dirty="0">
                            <a:latin typeface="Cambria Math" panose="02040503050406030204" pitchFamily="18" charset="0"/>
                            <a:ea typeface="Cambria Math" panose="02040503050406030204" pitchFamily="18" charset="0"/>
                          </a:rPr>
                          <m:t>𝑏</m:t>
                        </m:r>
                      </m:e>
                      <m:sup>
                        <m:r>
                          <a:rPr lang="en-AU" b="0" i="1" dirty="0" smtClean="0">
                            <a:latin typeface="Cambria Math" panose="02040503050406030204" pitchFamily="18" charset="0"/>
                            <a:ea typeface="Cambria Math" panose="02040503050406030204" pitchFamily="18" charset="0"/>
                          </a:rPr>
                          <m:t>𝑛</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1</m:t>
                        </m:r>
                      </m:sup>
                    </m:sSup>
                  </m:oMath>
                </a14:m>
                <a:endParaRPr lang="en-AU" dirty="0"/>
              </a:p>
              <a:p>
                <a:pPr marL="0" indent="0">
                  <a:buNone/>
                </a:pPr>
                <a:r>
                  <a:rPr lang="zh-CN" altLang="en-US" dirty="0"/>
                  <a:t>利用第二条产生式，有</a:t>
                </a:r>
                <a:r>
                  <a:rPr lang="en-AU" altLang="zh-CN" dirty="0"/>
                  <a:t>:</a:t>
                </a:r>
                <a:endParaRPr lang="en-AU" dirty="0"/>
              </a:p>
              <a:p>
                <a:pPr marL="0" indent="0">
                  <a:buNone/>
                </a:pPr>
                <a14:m>
                  <m:oMathPara xmlns:m="http://schemas.openxmlformats.org/officeDocument/2006/math">
                    <m:oMathParaPr>
                      <m:jc m:val="centerGroup"/>
                    </m:oMathParaPr>
                    <m:oMath xmlns:m="http://schemas.openxmlformats.org/officeDocument/2006/math">
                      <m:sSup>
                        <m:sSupPr>
                          <m:ctrlPr>
                            <a:rPr lang="en-AU" i="1" dirty="0" smtClean="0">
                              <a:latin typeface="Cambria Math" panose="02040503050406030204" pitchFamily="18" charset="0"/>
                              <a:ea typeface="Cambria Math" panose="02040503050406030204" pitchFamily="18" charset="0"/>
                            </a:rPr>
                          </m:ctrlPr>
                        </m:sSupPr>
                        <m:e>
                          <m:r>
                            <a:rPr lang="en-AU" i="1" dirty="0">
                              <a:latin typeface="Cambria Math" panose="02040503050406030204" pitchFamily="18" charset="0"/>
                              <a:ea typeface="Cambria Math" panose="02040503050406030204" pitchFamily="18" charset="0"/>
                            </a:rPr>
                            <m:t>𝑎</m:t>
                          </m:r>
                        </m:e>
                        <m:sup>
                          <m:r>
                            <a:rPr lang="en-AU" b="0" i="1" dirty="0" smtClean="0">
                              <a:latin typeface="Cambria Math" panose="02040503050406030204" pitchFamily="18" charset="0"/>
                              <a:ea typeface="Cambria Math" panose="02040503050406030204" pitchFamily="18" charset="0"/>
                            </a:rPr>
                            <m:t>𝑛</m:t>
                          </m:r>
                        </m:sup>
                      </m:sSup>
                      <m:sSup>
                        <m:sSupPr>
                          <m:ctrlPr>
                            <a:rPr lang="en-AU" i="1" dirty="0">
                              <a:latin typeface="Cambria Math" panose="02040503050406030204" pitchFamily="18" charset="0"/>
                              <a:ea typeface="Cambria Math" panose="02040503050406030204" pitchFamily="18" charset="0"/>
                            </a:rPr>
                          </m:ctrlPr>
                        </m:sSupPr>
                        <m:e>
                          <m:r>
                            <a:rPr lang="en-AU" i="1" dirty="0">
                              <a:latin typeface="Cambria Math" panose="02040503050406030204" pitchFamily="18" charset="0"/>
                              <a:ea typeface="Cambria Math" panose="02040503050406030204" pitchFamily="18" charset="0"/>
                            </a:rPr>
                            <m:t>𝑏</m:t>
                          </m:r>
                        </m:e>
                        <m:sup>
                          <m:r>
                            <a:rPr lang="en-AU" b="0" i="1" dirty="0" smtClean="0">
                              <a:latin typeface="Cambria Math" panose="02040503050406030204" pitchFamily="18" charset="0"/>
                              <a:ea typeface="Cambria Math" panose="02040503050406030204" pitchFamily="18" charset="0"/>
                            </a:rPr>
                            <m:t>𝑛</m:t>
                          </m:r>
                        </m:sup>
                      </m:sSup>
                    </m:oMath>
                  </m:oMathPara>
                </a14:m>
                <a:endParaRPr lang="en-AU" dirty="0"/>
              </a:p>
              <a:p>
                <a:pPr marL="0" indent="0">
                  <a:buNone/>
                </a:pPr>
                <a:r>
                  <a:rPr lang="zh-CN" altLang="en-US" dirty="0"/>
                  <a:t>故</a:t>
                </a:r>
                <a14:m>
                  <m:oMath xmlns:m="http://schemas.openxmlformats.org/officeDocument/2006/math">
                    <m:r>
                      <a:rPr lang="en-AU" altLang="zh-CN" b="1" i="0" smtClean="0">
                        <a:latin typeface="Cambria Math" panose="02040503050406030204" pitchFamily="18" charset="0"/>
                      </a:rPr>
                      <m:t>𝐋</m:t>
                    </m:r>
                    <m:d>
                      <m:dPr>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𝐺</m:t>
                        </m:r>
                      </m:e>
                    </m:d>
                    <m:r>
                      <a:rPr lang="en-AU" altLang="zh-CN" b="0" i="1" smtClean="0">
                        <a:latin typeface="Cambria Math" panose="02040503050406030204" pitchFamily="18" charset="0"/>
                      </a:rPr>
                      <m:t>={</m:t>
                    </m:r>
                    <m:sSup>
                      <m:sSupPr>
                        <m:ctrlPr>
                          <a:rPr lang="en-AU" i="1" dirty="0">
                            <a:latin typeface="Cambria Math" panose="02040503050406030204" pitchFamily="18" charset="0"/>
                            <a:ea typeface="Cambria Math" panose="02040503050406030204" pitchFamily="18" charset="0"/>
                          </a:rPr>
                        </m:ctrlPr>
                      </m:sSupPr>
                      <m:e>
                        <m:r>
                          <a:rPr lang="en-AU" i="1" dirty="0">
                            <a:latin typeface="Cambria Math" panose="02040503050406030204" pitchFamily="18" charset="0"/>
                            <a:ea typeface="Cambria Math" panose="02040503050406030204" pitchFamily="18" charset="0"/>
                          </a:rPr>
                          <m:t>𝑎</m:t>
                        </m:r>
                      </m:e>
                      <m:sup>
                        <m:r>
                          <a:rPr lang="en-AU" i="1" dirty="0">
                            <a:latin typeface="Cambria Math" panose="02040503050406030204" pitchFamily="18" charset="0"/>
                            <a:ea typeface="Cambria Math" panose="02040503050406030204" pitchFamily="18" charset="0"/>
                          </a:rPr>
                          <m:t>𝑛</m:t>
                        </m:r>
                      </m:sup>
                    </m:sSup>
                    <m:sSup>
                      <m:sSupPr>
                        <m:ctrlPr>
                          <a:rPr lang="en-AU" i="1" dirty="0">
                            <a:latin typeface="Cambria Math" panose="02040503050406030204" pitchFamily="18" charset="0"/>
                            <a:ea typeface="Cambria Math" panose="02040503050406030204" pitchFamily="18" charset="0"/>
                          </a:rPr>
                        </m:ctrlPr>
                      </m:sSupPr>
                      <m:e>
                        <m:r>
                          <a:rPr lang="en-AU" i="1" dirty="0">
                            <a:latin typeface="Cambria Math" panose="02040503050406030204" pitchFamily="18" charset="0"/>
                            <a:ea typeface="Cambria Math" panose="02040503050406030204" pitchFamily="18" charset="0"/>
                          </a:rPr>
                          <m:t>𝑏</m:t>
                        </m:r>
                      </m:e>
                      <m:sup>
                        <m:r>
                          <a:rPr lang="en-AU" i="1" dirty="0">
                            <a:latin typeface="Cambria Math" panose="02040503050406030204" pitchFamily="18" charset="0"/>
                            <a:ea typeface="Cambria Math" panose="02040503050406030204" pitchFamily="18" charset="0"/>
                          </a:rPr>
                          <m:t>𝑛</m:t>
                        </m:r>
                      </m:sup>
                    </m:sSup>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𝑛</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1</m:t>
                    </m:r>
                    <m:r>
                      <a:rPr lang="en-AU" b="0" i="1" dirty="0" smtClean="0">
                        <a:latin typeface="Cambria Math" panose="02040503050406030204" pitchFamily="18" charset="0"/>
                        <a:ea typeface="Cambria Math" panose="02040503050406030204" pitchFamily="18" charset="0"/>
                      </a:rPr>
                      <m:t>}</m:t>
                    </m:r>
                  </m:oMath>
                </a14:m>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187926"/>
                <a:ext cx="8229600" cy="4525963"/>
              </a:xfrm>
              <a:blipFill rotWithShape="1">
                <a:blip r:embed="rId1"/>
                <a:stretch>
                  <a:fillRect t="-1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a:xfrm>
            <a:off x="685800" y="1322408"/>
            <a:ext cx="8229600" cy="4525963"/>
          </a:xfrm>
        </p:spPr>
        <p:txBody>
          <a:bodyPr/>
          <a:lstStyle/>
          <a:p>
            <a:r>
              <a:rPr lang="zh-CN" altLang="en-US" dirty="0">
                <a:solidFill>
                  <a:schemeClr val="bg1">
                    <a:lumMod val="75000"/>
                  </a:schemeClr>
                </a:solidFill>
              </a:rPr>
              <a:t>上下文无关文法</a:t>
            </a:r>
            <a:endParaRPr lang="en-AU" altLang="zh-CN" dirty="0">
              <a:solidFill>
                <a:schemeClr val="bg1">
                  <a:lumMod val="75000"/>
                </a:schemeClr>
              </a:solidFill>
            </a:endParaRPr>
          </a:p>
          <a:p>
            <a:r>
              <a:rPr lang="zh-CN" altLang="en-US" b="1" dirty="0">
                <a:solidFill>
                  <a:srgbClr val="FF0000"/>
                </a:solidFill>
              </a:rPr>
              <a:t>语法分析树</a:t>
            </a:r>
            <a:endParaRPr lang="en-AU" altLang="zh-CN" b="1" dirty="0">
              <a:solidFill>
                <a:srgbClr val="FF0000"/>
              </a:solidFill>
            </a:endParaRPr>
          </a:p>
          <a:p>
            <a:pPr lvl="1"/>
            <a:r>
              <a:rPr lang="zh-CN" altLang="en-US" dirty="0"/>
              <a:t>形式定义</a:t>
            </a:r>
            <a:endParaRPr lang="en-AU" altLang="zh-CN" dirty="0"/>
          </a:p>
          <a:p>
            <a:pPr lvl="1"/>
            <a:r>
              <a:rPr lang="zh-CN" altLang="en-US" dirty="0"/>
              <a:t>语法树和派生的等价性</a:t>
            </a:r>
            <a:endParaRPr lang="en-AU" altLang="zh-CN" dirty="0"/>
          </a:p>
          <a:p>
            <a:r>
              <a:rPr lang="zh-CN" altLang="en-US" dirty="0">
                <a:solidFill>
                  <a:schemeClr val="bg1">
                    <a:lumMod val="75000"/>
                  </a:schemeClr>
                </a:solidFill>
              </a:rPr>
              <a:t>文法和语言的歧义性</a:t>
            </a:r>
            <a:endParaRPr lang="en-AU" altLang="zh-CN" dirty="0">
              <a:solidFill>
                <a:schemeClr val="bg1">
                  <a:lumMod val="75000"/>
                </a:schemeClr>
              </a:solidFill>
            </a:endParaRPr>
          </a:p>
          <a:p>
            <a:r>
              <a:rPr lang="zh-CN" altLang="en-US" dirty="0">
                <a:solidFill>
                  <a:schemeClr val="bg1">
                    <a:lumMod val="75000"/>
                  </a:schemeClr>
                </a:solidFill>
              </a:rPr>
              <a:t>文法的化简与范式</a:t>
            </a:r>
            <a:endParaRPr lang="en-AU" altLang="zh-CN" dirty="0">
              <a:solidFill>
                <a:schemeClr val="bg1">
                  <a:lumMod val="75000"/>
                </a:schemeClr>
              </a:solidFill>
            </a:endParaRPr>
          </a:p>
          <a:p>
            <a:endParaRPr lang="en-AU" altLang="zh-CN"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语法分析树</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86742"/>
                <a:ext cx="8229600" cy="4525963"/>
              </a:xfrm>
            </p:spPr>
            <p:txBody>
              <a:bodyPr>
                <a:normAutofit/>
              </a:bodyPr>
              <a:lstStyle/>
              <a:p>
                <a:r>
                  <a:rPr lang="zh-CN" altLang="en-US" sz="2400" dirty="0"/>
                  <a:t>语法分析树用来表示派生 </a:t>
                </a:r>
                <a:r>
                  <a:rPr lang="en-US" altLang="zh-CN" sz="2400" dirty="0"/>
                  <a:t>(</a:t>
                </a:r>
                <a:r>
                  <a:rPr lang="zh-CN" altLang="en-US" sz="2400" dirty="0"/>
                  <a:t>或递归推理</a:t>
                </a:r>
                <a:r>
                  <a:rPr lang="en-US" altLang="zh-CN" sz="2400" dirty="0"/>
                  <a:t>), </a:t>
                </a:r>
                <a:r>
                  <a:rPr lang="zh-CN" altLang="en-US" sz="2400" dirty="0"/>
                  <a:t>可以从树中看出整个派生过程和最终产生的符号串</a:t>
                </a:r>
                <a:r>
                  <a:rPr lang="en-US" altLang="zh-CN" sz="2400" dirty="0"/>
                  <a:t>. </a:t>
                </a:r>
                <a:endParaRPr lang="en-US" altLang="zh-CN" sz="2400" dirty="0"/>
              </a:p>
              <a:p>
                <a:r>
                  <a:rPr lang="zh-CN" altLang="en-US" sz="2400" dirty="0"/>
                  <a:t>例</a:t>
                </a:r>
                <a:r>
                  <a:rPr lang="en-US" altLang="zh-CN" sz="2400" dirty="0"/>
                  <a:t>: </a:t>
                </a:r>
                <a:r>
                  <a:rPr lang="zh-CN" altLang="en-US" sz="2400" dirty="0"/>
                  <a:t>算数表达式文法</a:t>
                </a:r>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𝐺</m:t>
                        </m:r>
                      </m:e>
                      <m:sub>
                        <m:r>
                          <a:rPr lang="en-AU" altLang="zh-CN" sz="2400" b="0" i="1" smtClean="0">
                            <a:latin typeface="Cambria Math" panose="02040503050406030204" pitchFamily="18" charset="0"/>
                          </a:rPr>
                          <m:t>𝑒𝑥𝑝</m:t>
                        </m:r>
                      </m:sub>
                    </m:sSub>
                  </m:oMath>
                </a14:m>
                <a:r>
                  <a:rPr lang="zh-CN" altLang="en-US" sz="2400" dirty="0"/>
                  <a:t>推导算数表达式</a:t>
                </a:r>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oMath>
                </a14:m>
                <a:r>
                  <a:rPr lang="zh-CN" altLang="en-US" sz="2400" dirty="0"/>
                  <a:t>的过程。</a:t>
                </a:r>
                <a:endParaRPr lang="en-AU" altLang="zh-CN" sz="24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986742"/>
                <a:ext cx="8229600" cy="4525963"/>
              </a:xfrm>
              <a:blipFill rotWithShape="1">
                <a:blip r:embed="rId1"/>
                <a:stretch>
                  <a:fillRect t="-13" b="6"/>
                </a:stretch>
              </a:blipFill>
            </p:spPr>
            <p:txBody>
              <a:bodyPr/>
              <a:lstStyle/>
              <a:p>
                <a:r>
                  <a:rPr lang="zh-CN" altLang="en-US">
                    <a:noFill/>
                  </a:rPr>
                  <a:t> </a:t>
                </a:r>
              </a:p>
            </p:txBody>
          </p:sp>
        </mc:Fallback>
      </mc:AlternateContent>
      <p:pic>
        <p:nvPicPr>
          <p:cNvPr id="6" name="Picture 5" descr="A picture containing clock&#10;&#10;Description automatically generated"/>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79836" y="2579776"/>
            <a:ext cx="2522439" cy="3330229"/>
          </a:xfrm>
          <a:prstGeom prst="rect">
            <a:avLst/>
          </a:prstGeom>
        </p:spPr>
      </p:pic>
      <p:sp>
        <p:nvSpPr>
          <p:cNvPr id="5" name="Slide Number Placeholder 4"/>
          <p:cNvSpPr>
            <a:spLocks noGrp="1"/>
          </p:cNvSpPr>
          <p:nvPr>
            <p:ph type="sldNum" sz="quarter" idx="12"/>
          </p:nvPr>
        </p:nvSpPr>
        <p:spPr/>
        <p:txBody>
          <a:bodyPr/>
          <a:lstStyle/>
          <a:p>
            <a:fld id="{0662E1F6-9BD6-474C-A82E-E07C3DB67AAE}" type="slidenum">
              <a:rPr lang="en-AU" smtClean="0"/>
            </a:fld>
            <a:endParaRPr lang="en-AU"/>
          </a:p>
        </p:txBody>
      </p:sp>
      <p:pic>
        <p:nvPicPr>
          <p:cNvPr id="7" name="Picture 6" descr="A picture containing text, keyboard, electronics&#10;&#10;Description automatically generated"/>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58627" y="2574360"/>
            <a:ext cx="1694274" cy="359138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语法分析树的形式定义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056190"/>
                <a:ext cx="8229600" cy="4525963"/>
              </a:xfrm>
            </p:spPr>
            <p:txBody>
              <a:bodyPr/>
              <a:lstStyle/>
              <a:p>
                <a:r>
                  <a:rPr lang="zh-CN" altLang="en-US" dirty="0"/>
                  <a:t>定义</a:t>
                </a:r>
                <a:r>
                  <a:rPr lang="en-AU" altLang="zh-CN" dirty="0"/>
                  <a:t>:</a:t>
                </a:r>
                <a:r>
                  <a:rPr lang="en-AU" dirty="0">
                    <a:latin typeface="Times New Roman" panose="02020603050405020304" pitchFamily="18" charset="0"/>
                    <a:cs typeface="Times New Roman" panose="02020603050405020304" pitchFamily="18" charset="0"/>
                  </a:rPr>
                  <a:t>CFG</a:t>
                </a:r>
                <a:r>
                  <a:rPr lang="en-AU" dirty="0"/>
                  <a:t> </a:t>
                </a:r>
                <a14:m>
                  <m:oMath xmlns:m="http://schemas.openxmlformats.org/officeDocument/2006/math">
                    <m:r>
                      <a:rPr lang="en-AU" i="1" dirty="0" smtClean="0">
                        <a:latin typeface="Cambria Math" panose="02040503050406030204" pitchFamily="18" charset="0"/>
                      </a:rPr>
                      <m:t>𝐺</m:t>
                    </m:r>
                    <m:r>
                      <a:rPr lang="en-AU" i="1" dirty="0" smtClean="0">
                        <a:latin typeface="Cambria Math" panose="02040503050406030204" pitchFamily="18" charset="0"/>
                      </a:rPr>
                      <m:t> = (</m:t>
                    </m:r>
                    <m:r>
                      <a:rPr lang="en-AU" i="1" dirty="0" smtClean="0">
                        <a:latin typeface="Cambria Math" panose="02040503050406030204" pitchFamily="18" charset="0"/>
                      </a:rPr>
                      <m:t>𝑉</m:t>
                    </m:r>
                    <m:r>
                      <a:rPr lang="en-AU" b="0" i="1" dirty="0" smtClean="0">
                        <a:latin typeface="Cambria Math" panose="02040503050406030204" pitchFamily="18" charset="0"/>
                      </a:rPr>
                      <m:t>,</m:t>
                    </m:r>
                    <m:r>
                      <a:rPr lang="en-AU" i="1" dirty="0" smtClean="0">
                        <a:latin typeface="Cambria Math" panose="02040503050406030204" pitchFamily="18" charset="0"/>
                      </a:rPr>
                      <m:t> </m:t>
                    </m:r>
                    <m:r>
                      <a:rPr lang="en-AU" i="1" dirty="0" smtClean="0">
                        <a:latin typeface="Cambria Math" panose="02040503050406030204" pitchFamily="18" charset="0"/>
                      </a:rPr>
                      <m:t>𝑇</m:t>
                    </m:r>
                    <m:r>
                      <a:rPr lang="en-AU" b="0" i="1" dirty="0" smtClean="0">
                        <a:latin typeface="Cambria Math" panose="02040503050406030204" pitchFamily="18" charset="0"/>
                      </a:rPr>
                      <m:t>,</m:t>
                    </m:r>
                    <m:r>
                      <a:rPr lang="en-AU" i="1" dirty="0" smtClean="0">
                        <a:latin typeface="Cambria Math" panose="02040503050406030204" pitchFamily="18" charset="0"/>
                      </a:rPr>
                      <m:t> </m:t>
                    </m:r>
                    <m:r>
                      <a:rPr lang="en-AU" i="1" dirty="0" smtClean="0">
                        <a:latin typeface="Cambria Math" panose="02040503050406030204" pitchFamily="18" charset="0"/>
                      </a:rPr>
                      <m:t>𝑃</m:t>
                    </m:r>
                    <m:r>
                      <a:rPr lang="en-AU" b="0" i="1" dirty="0" smtClean="0">
                        <a:latin typeface="Cambria Math" panose="02040503050406030204" pitchFamily="18" charset="0"/>
                      </a:rPr>
                      <m:t>,</m:t>
                    </m:r>
                    <m:r>
                      <a:rPr lang="en-AU" i="1" dirty="0" smtClean="0">
                        <a:latin typeface="Cambria Math" panose="02040503050406030204" pitchFamily="18" charset="0"/>
                      </a:rPr>
                      <m:t> </m:t>
                    </m:r>
                    <m:r>
                      <a:rPr lang="en-AU" i="1" dirty="0" smtClean="0">
                        <a:latin typeface="Cambria Math" panose="02040503050406030204" pitchFamily="18" charset="0"/>
                      </a:rPr>
                      <m:t>𝑆</m:t>
                    </m:r>
                    <m:r>
                      <a:rPr lang="en-AU" i="1" dirty="0" smtClean="0">
                        <a:latin typeface="Cambria Math" panose="02040503050406030204" pitchFamily="18" charset="0"/>
                      </a:rPr>
                      <m:t>) </m:t>
                    </m:r>
                  </m:oMath>
                </a14:m>
                <a:r>
                  <a:rPr lang="zh-CN" altLang="en-US" dirty="0"/>
                  <a:t>的语法分析树 </a:t>
                </a:r>
                <a:r>
                  <a:rPr lang="en-US" altLang="zh-CN" dirty="0"/>
                  <a:t>(</a:t>
                </a:r>
                <a:r>
                  <a:rPr lang="en-AU" dirty="0">
                    <a:latin typeface="Times New Roman" panose="02020603050405020304" pitchFamily="18" charset="0"/>
                    <a:cs typeface="Times New Roman" panose="02020603050405020304" pitchFamily="18" charset="0"/>
                  </a:rPr>
                  <a:t>parse tree</a:t>
                </a:r>
                <a:r>
                  <a:rPr lang="en-AU" dirty="0"/>
                  <a:t>), </a:t>
                </a:r>
                <a:r>
                  <a:rPr lang="zh-CN" altLang="en-US" dirty="0"/>
                  <a:t>也称为派生树 </a:t>
                </a:r>
                <a:r>
                  <a:rPr lang="en-US" altLang="zh-CN" dirty="0"/>
                  <a:t>(</a:t>
                </a:r>
                <a:r>
                  <a:rPr lang="en-AU" dirty="0">
                    <a:latin typeface="Times New Roman" panose="02020603050405020304" pitchFamily="18" charset="0"/>
                    <a:cs typeface="Times New Roman" panose="02020603050405020304" pitchFamily="18" charset="0"/>
                  </a:rPr>
                  <a:t>derivation tree</a:t>
                </a:r>
                <a:r>
                  <a:rPr lang="en-AU" dirty="0"/>
                  <a:t>), </a:t>
                </a:r>
                <a:r>
                  <a:rPr lang="zh-CN" altLang="en-US" dirty="0"/>
                  <a:t>其形式定义为</a:t>
                </a:r>
                <a:r>
                  <a:rPr lang="en-US" altLang="zh-CN" dirty="0"/>
                  <a:t>:</a:t>
                </a:r>
                <a:endParaRPr lang="en-US" altLang="zh-CN" dirty="0"/>
              </a:p>
              <a:p>
                <a:pPr lvl="1"/>
                <a:r>
                  <a:rPr lang="zh-CN" altLang="en-US" dirty="0"/>
                  <a:t>每个内节点的标记是</a:t>
                </a:r>
                <a14:m>
                  <m:oMath xmlns:m="http://schemas.openxmlformats.org/officeDocument/2006/math">
                    <m:r>
                      <a:rPr lang="en-US" altLang="zh-CN" i="1" dirty="0" smtClean="0">
                        <a:latin typeface="Cambria Math" panose="02040503050406030204" pitchFamily="18" charset="0"/>
                      </a:rPr>
                      <m:t>𝑉</m:t>
                    </m:r>
                  </m:oMath>
                </a14:m>
                <a:r>
                  <a:rPr lang="zh-CN" altLang="en-US" dirty="0"/>
                  <a:t>中的变元符号</a:t>
                </a:r>
                <a:endParaRPr lang="en-AU" altLang="zh-CN" dirty="0"/>
              </a:p>
              <a:p>
                <a:pPr lvl="1"/>
                <a:r>
                  <a:rPr lang="zh-CN" altLang="en-US" dirty="0"/>
                  <a:t>每个叶节点的标记是</a:t>
                </a:r>
                <a14:m>
                  <m:oMath xmlns:m="http://schemas.openxmlformats.org/officeDocument/2006/math">
                    <m:r>
                      <a:rPr lang="en-AU" altLang="zh-CN" b="0" i="1" smtClean="0">
                        <a:latin typeface="Cambria Math" panose="02040503050406030204" pitchFamily="18" charset="0"/>
                      </a:rPr>
                      <m:t>𝑉</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𝑇</m:t>
                    </m:r>
                    <m:r>
                      <a:rPr lang="en-AU" altLang="zh-CN" i="1">
                        <a:latin typeface="Cambria Math" panose="02040503050406030204" pitchFamily="18" charset="0"/>
                        <a:ea typeface="Cambria Math" panose="02040503050406030204" pitchFamily="18" charset="0"/>
                      </a:rPr>
                      <m:t>∪</m:t>
                    </m:r>
                    <m:r>
                      <a:rPr lang="en-AU" altLang="zh-CN" b="0" i="0" smtClean="0">
                        <a:latin typeface="Cambria Math" panose="02040503050406030204" pitchFamily="18" charset="0"/>
                        <a:ea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ε</m:t>
                    </m:r>
                    <m:r>
                      <a:rPr lang="en-AU" altLang="zh-CN" b="0" i="0" smtClean="0">
                        <a:latin typeface="Cambria Math" panose="02040503050406030204" pitchFamily="18" charset="0"/>
                        <a:ea typeface="Cambria Math" panose="02040503050406030204" pitchFamily="18" charset="0"/>
                      </a:rPr>
                      <m:t>}</m:t>
                    </m:r>
                  </m:oMath>
                </a14:m>
                <a:r>
                  <a:rPr lang="zh-CN" altLang="en-US" dirty="0"/>
                  <a:t>中的符号</a:t>
                </a:r>
                <a:endParaRPr lang="en-US" altLang="zh-CN" dirty="0"/>
              </a:p>
              <a:p>
                <a:pPr lvl="1"/>
                <a:r>
                  <a:rPr lang="zh-CN" altLang="en-US" dirty="0"/>
                  <a:t>如果内节点的标记是</a:t>
                </a:r>
                <a14:m>
                  <m:oMath xmlns:m="http://schemas.openxmlformats.org/officeDocument/2006/math">
                    <m:r>
                      <a:rPr lang="en-US" altLang="zh-CN" i="1" dirty="0" smtClean="0">
                        <a:latin typeface="Cambria Math" panose="02040503050406030204" pitchFamily="18" charset="0"/>
                      </a:rPr>
                      <m:t>𝐴</m:t>
                    </m:r>
                  </m:oMath>
                </a14:m>
                <a:r>
                  <a:rPr lang="en-US" altLang="zh-CN" dirty="0"/>
                  <a:t>, </a:t>
                </a:r>
                <a:r>
                  <a:rPr lang="zh-CN" altLang="en-US" dirty="0"/>
                  <a:t>其子节点从左至右分别为</a:t>
                </a:r>
                <a:endParaRPr lang="en-AU" altLang="zh-CN"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𝑋</m:t>
                          </m:r>
                        </m:e>
                        <m:sub>
                          <m:r>
                            <a:rPr lang="en-AU" altLang="zh-CN" b="0" i="1" smtClean="0">
                              <a:latin typeface="Cambria Math" panose="02040503050406030204" pitchFamily="18" charset="0"/>
                            </a:rPr>
                            <m:t>1</m:t>
                          </m:r>
                        </m:sub>
                      </m:sSub>
                      <m:r>
                        <a:rPr lang="en-AU"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2</m:t>
                          </m:r>
                        </m:sub>
                      </m:sSub>
                      <m:r>
                        <a:rPr lang="en-AU"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𝑛</m:t>
                          </m:r>
                        </m:sub>
                      </m:sSub>
                    </m:oMath>
                  </m:oMathPara>
                </a14:m>
                <a:endParaRPr lang="en-AU" altLang="zh-CN" dirty="0"/>
              </a:p>
              <a:p>
                <a:pPr marL="457200" lvl="1" indent="0">
                  <a:buNone/>
                </a:pPr>
                <a:r>
                  <a:rPr lang="zh-CN" altLang="en-US" dirty="0"/>
                  <a:t>那么，那么</a:t>
                </a:r>
                <a:r>
                  <a:rPr lang="en-US" altLang="zh-CN" dirty="0"/>
                  <a:t>,</a:t>
                </a:r>
                <a14:m>
                  <m:oMath xmlns:m="http://schemas.openxmlformats.org/officeDocument/2006/math">
                    <m:r>
                      <a:rPr lang="en-AU" altLang="zh-CN" b="0" i="1" smtClean="0">
                        <a:latin typeface="Cambria Math" panose="02040503050406030204" pitchFamily="18" charset="0"/>
                      </a:rPr>
                      <m:t>𝐴</m:t>
                    </m:r>
                    <m:r>
                      <a:rPr lang="en-AU" altLang="zh-CN" i="1">
                        <a:latin typeface="Cambria Math" panose="02040503050406030204" pitchFamily="18" charset="0"/>
                        <a:ea typeface="Cambria Math" panose="02040503050406030204" pitchFamily="18" charset="0"/>
                      </a:rPr>
                      <m:t>→</m:t>
                    </m:r>
                    <m:sSub>
                      <m:sSubPr>
                        <m:ctrlPr>
                          <a:rPr lang="en-AU" altLang="zh-CN" b="0" i="1" smtClean="0">
                            <a:latin typeface="Cambria Math" panose="02040503050406030204" pitchFamily="18" charset="0"/>
                            <a:ea typeface="Cambria Math" panose="02040503050406030204" pitchFamily="18" charset="0"/>
                          </a:rPr>
                        </m:ctrlPr>
                      </m:sSubPr>
                      <m:e>
                        <m:r>
                          <a:rPr lang="en-AU" altLang="zh-CN" b="0" i="1" smtClean="0">
                            <a:latin typeface="Cambria Math" panose="02040503050406030204" pitchFamily="18" charset="0"/>
                            <a:ea typeface="Cambria Math" panose="02040503050406030204" pitchFamily="18" charset="0"/>
                          </a:rPr>
                          <m:t>𝑋</m:t>
                        </m:r>
                      </m:e>
                      <m:sub>
                        <m:r>
                          <a:rPr lang="en-AU" altLang="zh-CN" b="0" i="1" smtClean="0">
                            <a:latin typeface="Cambria Math" panose="02040503050406030204" pitchFamily="18" charset="0"/>
                            <a:ea typeface="Cambria Math" panose="02040503050406030204" pitchFamily="18" charset="0"/>
                          </a:rPr>
                          <m:t>1</m:t>
                        </m:r>
                      </m:sub>
                    </m:sSub>
                    <m:sSub>
                      <m:sSubPr>
                        <m:ctrlPr>
                          <a:rPr lang="en-AU" altLang="zh-CN" i="1">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𝑋</m:t>
                        </m:r>
                      </m:e>
                      <m:sub>
                        <m:r>
                          <a:rPr lang="en-AU" altLang="zh-CN" b="0" i="1" smtClean="0">
                            <a:latin typeface="Cambria Math" panose="02040503050406030204" pitchFamily="18" charset="0"/>
                            <a:ea typeface="Cambria Math" panose="02040503050406030204" pitchFamily="18" charset="0"/>
                          </a:rPr>
                          <m:t>2</m:t>
                        </m:r>
                      </m:sub>
                    </m:sSub>
                    <m:r>
                      <a:rPr lang="en-AU" altLang="zh-CN" b="0" i="1" smtClean="0">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𝑋</m:t>
                        </m:r>
                      </m:e>
                      <m:sub>
                        <m:r>
                          <a:rPr lang="en-AU" altLang="zh-CN" b="0" i="1" smtClean="0">
                            <a:latin typeface="Cambria Math" panose="02040503050406030204" pitchFamily="18" charset="0"/>
                            <a:ea typeface="Cambria Math" panose="02040503050406030204" pitchFamily="18" charset="0"/>
                          </a:rPr>
                          <m:t>𝑛</m:t>
                        </m:r>
                      </m:sub>
                    </m:sSub>
                  </m:oMath>
                </a14:m>
                <a:r>
                  <a:rPr lang="zh-CN" altLang="en-US" dirty="0"/>
                  <a:t>是</a:t>
                </a:r>
                <a14:m>
                  <m:oMath xmlns:m="http://schemas.openxmlformats.org/officeDocument/2006/math">
                    <m:r>
                      <a:rPr lang="en-AU" altLang="zh-CN" i="1" dirty="0" smtClean="0">
                        <a:latin typeface="Cambria Math" panose="02040503050406030204" pitchFamily="18" charset="0"/>
                      </a:rPr>
                      <m:t>𝑃</m:t>
                    </m:r>
                  </m:oMath>
                </a14:m>
                <a:r>
                  <a:rPr lang="zh-CN" altLang="en-US" dirty="0"/>
                  <a:t>的一个产生式</a:t>
                </a:r>
                <a:r>
                  <a:rPr lang="en-US" altLang="zh-CN" dirty="0"/>
                  <a:t>; </a:t>
                </a:r>
                <a:endParaRPr lang="en-US" altLang="zh-CN" dirty="0"/>
              </a:p>
              <a:p>
                <a:pPr marL="457200" lvl="1" indent="0">
                  <a:buNone/>
                </a:pPr>
                <a:r>
                  <a:rPr lang="zh-CN" altLang="en-US" dirty="0"/>
                  <a:t>若某个</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𝑋</m:t>
                        </m:r>
                      </m:e>
                      <m:sub>
                        <m:r>
                          <a:rPr lang="en-AU" altLang="zh-CN" b="0" i="1" smtClean="0">
                            <a:latin typeface="Cambria Math" panose="02040503050406030204" pitchFamily="18" charset="0"/>
                          </a:rPr>
                          <m:t>𝑖</m:t>
                        </m:r>
                      </m:sub>
                    </m:sSub>
                  </m:oMath>
                </a14:m>
                <a:r>
                  <a:rPr lang="zh-CN" altLang="en-US" dirty="0"/>
                  <a:t>为</a:t>
                </a:r>
                <a14:m>
                  <m:oMath xmlns:m="http://schemas.openxmlformats.org/officeDocument/2006/math">
                    <m:r>
                      <a:rPr lang="zh-CN" altLang="en-US" i="1" dirty="0" smtClean="0">
                        <a:latin typeface="Cambria Math" panose="02040503050406030204" pitchFamily="18" charset="0"/>
                      </a:rPr>
                      <m:t>𝜀</m:t>
                    </m:r>
                  </m:oMath>
                </a14:m>
                <a:r>
                  <a:rPr lang="en-US" altLang="zh-CN" dirty="0"/>
                  <a:t>, </a:t>
                </a:r>
                <a:r>
                  <a:rPr lang="zh-CN" altLang="en-US" dirty="0"/>
                  <a:t>则</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sub>
                    </m:sSub>
                  </m:oMath>
                </a14:m>
                <a:r>
                  <a:rPr lang="zh-CN" altLang="en-US" dirty="0"/>
                  <a:t>一定是</a:t>
                </a:r>
                <a14:m>
                  <m:oMath xmlns:m="http://schemas.openxmlformats.org/officeDocument/2006/math">
                    <m:r>
                      <a:rPr lang="en-AU" altLang="zh-CN" i="1" dirty="0" smtClean="0">
                        <a:latin typeface="Cambria Math" panose="02040503050406030204" pitchFamily="18" charset="0"/>
                      </a:rPr>
                      <m:t>𝐴</m:t>
                    </m:r>
                  </m:oMath>
                </a14:m>
                <a:r>
                  <a:rPr lang="zh-CN" altLang="en-US" dirty="0"/>
                  <a:t>唯一的子节点</a:t>
                </a:r>
                <a:r>
                  <a:rPr lang="en-US" altLang="zh-CN" dirty="0"/>
                  <a:t>, </a:t>
                </a:r>
                <a:r>
                  <a:rPr lang="zh-CN" altLang="en-US" dirty="0"/>
                  <a:t>且</a:t>
                </a:r>
                <a14:m>
                  <m:oMath xmlns:m="http://schemas.openxmlformats.org/officeDocument/2006/math">
                    <m:r>
                      <a:rPr lang="en-AU" altLang="zh-CN" i="1">
                        <a:latin typeface="Cambria Math" panose="02040503050406030204" pitchFamily="18" charset="0"/>
                      </a:rPr>
                      <m:t>𝐴</m:t>
                    </m:r>
                    <m:r>
                      <a:rPr lang="en-AU" altLang="zh-CN" i="1">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rPr>
                      <m:t>𝜀</m:t>
                    </m:r>
                  </m:oMath>
                </a14:m>
                <a:r>
                  <a:rPr lang="zh-CN" altLang="en-US" dirty="0"/>
                  <a:t>是一个产生式。</a:t>
                </a:r>
                <a:endParaRPr lang="en-US"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056190"/>
                <a:ext cx="8229600" cy="4525963"/>
              </a:xfrm>
              <a:blipFill rotWithShape="1">
                <a:blip r:embed="rId1"/>
                <a:stretch>
                  <a:fillRect t="-4" b="-1413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语法分析树的形式定义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80353" y="891382"/>
                <a:ext cx="8229600" cy="4525963"/>
              </a:xfrm>
            </p:spPr>
            <p:txBody>
              <a:bodyPr/>
              <a:lstStyle/>
              <a:p>
                <a:r>
                  <a:rPr lang="zh-CN" altLang="en-US" dirty="0"/>
                  <a:t>定义</a:t>
                </a:r>
                <a:r>
                  <a:rPr lang="en-AU" altLang="zh-CN" dirty="0"/>
                  <a:t>:</a:t>
                </a:r>
                <a:r>
                  <a:rPr lang="zh-CN" altLang="en-US" dirty="0"/>
                  <a:t>语法分析树的全部叶节点从左到右连接起来</a:t>
                </a:r>
                <a:r>
                  <a:rPr lang="en-US" altLang="zh-CN" dirty="0"/>
                  <a:t>, </a:t>
                </a:r>
                <a:r>
                  <a:rPr lang="zh-CN" altLang="en-US" dirty="0"/>
                  <a:t>称为该树的产物 </a:t>
                </a:r>
                <a:r>
                  <a:rPr lang="en-US" altLang="zh-CN" dirty="0"/>
                  <a:t>(</a:t>
                </a:r>
                <a:r>
                  <a:rPr lang="en-US" altLang="zh-CN" dirty="0">
                    <a:latin typeface="Times New Roman" panose="02020603050405020304" pitchFamily="18" charset="0"/>
                    <a:cs typeface="Times New Roman" panose="02020603050405020304" pitchFamily="18" charset="0"/>
                  </a:rPr>
                  <a:t>yield</a:t>
                </a:r>
                <a:r>
                  <a:rPr lang="en-US" altLang="zh-CN" dirty="0"/>
                  <a:t>) </a:t>
                </a:r>
                <a:r>
                  <a:rPr lang="zh-CN" altLang="en-US" dirty="0"/>
                  <a:t>或结果。如果树根节点是初始符号</a:t>
                </a:r>
                <a14:m>
                  <m:oMath xmlns:m="http://schemas.openxmlformats.org/officeDocument/2006/math">
                    <m:r>
                      <a:rPr lang="en-US" altLang="zh-CN" i="1" dirty="0" smtClean="0">
                        <a:latin typeface="Cambria Math" panose="02040503050406030204" pitchFamily="18" charset="0"/>
                      </a:rPr>
                      <m:t>𝑆</m:t>
                    </m:r>
                  </m:oMath>
                </a14:m>
                <a:r>
                  <a:rPr lang="en-US" altLang="zh-CN" dirty="0"/>
                  <a:t>, </a:t>
                </a:r>
                <a:r>
                  <a:rPr lang="zh-CN" altLang="en-US" dirty="0"/>
                  <a:t>叶节点是终结符</a:t>
                </a:r>
                <a:r>
                  <a:rPr lang="en-US" altLang="zh-CN" dirty="0"/>
                  <a:t>, </a:t>
                </a:r>
                <a:r>
                  <a:rPr lang="zh-CN" altLang="en-US" dirty="0"/>
                  <a:t>那么该树的产物属于</a:t>
                </a:r>
                <a14:m>
                  <m:oMath xmlns:m="http://schemas.openxmlformats.org/officeDocument/2006/math">
                    <m:r>
                      <a:rPr lang="en-US" altLang="zh-CN" b="1" i="0" dirty="0" smtClean="0">
                        <a:latin typeface="Cambria Math" panose="02040503050406030204" pitchFamily="18" charset="0"/>
                      </a:rPr>
                      <m:t>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𝐺</m:t>
                    </m:r>
                    <m:r>
                      <a:rPr lang="en-US" altLang="zh-CN" i="1" dirty="0" smtClean="0">
                        <a:latin typeface="Cambria Math" panose="02040503050406030204" pitchFamily="18" charset="0"/>
                      </a:rPr>
                      <m:t>)</m:t>
                    </m:r>
                    <m:r>
                      <a:rPr lang="zh-CN" altLang="en-US" i="1" dirty="0">
                        <a:latin typeface="Cambria Math" panose="02040503050406030204" pitchFamily="18" charset="0"/>
                      </a:rPr>
                      <m:t>。</m:t>
                    </m:r>
                  </m:oMath>
                </a14:m>
                <a:endParaRPr lang="en-US" altLang="zh-CN" dirty="0"/>
              </a:p>
              <a:p>
                <a:r>
                  <a:rPr lang="zh-CN" altLang="en-US" dirty="0"/>
                  <a:t>定义</a:t>
                </a:r>
                <a:r>
                  <a:rPr lang="en-AU" altLang="zh-CN" dirty="0"/>
                  <a:t>:</a:t>
                </a:r>
                <a:r>
                  <a:rPr lang="zh-CN" altLang="en-US" dirty="0"/>
                  <a:t>语法分析树中标记为</a:t>
                </a:r>
                <a14:m>
                  <m:oMath xmlns:m="http://schemas.openxmlformats.org/officeDocument/2006/math">
                    <m:r>
                      <a:rPr lang="en-US" altLang="zh-CN" b="0" i="1" dirty="0" smtClean="0">
                        <a:latin typeface="Cambria Math" panose="02040503050406030204" pitchFamily="18" charset="0"/>
                      </a:rPr>
                      <m:t>𝐴</m:t>
                    </m:r>
                  </m:oMath>
                </a14:m>
                <a:r>
                  <a:rPr lang="zh-CN" altLang="en-US" dirty="0"/>
                  <a:t>的内节点及其全部子孙节点构成的子树</a:t>
                </a:r>
                <a:r>
                  <a:rPr lang="en-US" altLang="zh-CN" dirty="0"/>
                  <a:t>, </a:t>
                </a:r>
                <a:r>
                  <a:rPr lang="zh-CN" altLang="en-US" dirty="0"/>
                  <a:t>称为</a:t>
                </a:r>
                <a14:m>
                  <m:oMath xmlns:m="http://schemas.openxmlformats.org/officeDocument/2006/math">
                    <m:r>
                      <a:rPr lang="en-US" altLang="zh-CN" i="1" dirty="0">
                        <a:latin typeface="Cambria Math" panose="02040503050406030204" pitchFamily="18" charset="0"/>
                      </a:rPr>
                      <m:t>𝐴</m:t>
                    </m:r>
                  </m:oMath>
                </a14:m>
                <a:r>
                  <a:rPr lang="zh-CN" altLang="en-US" dirty="0"/>
                  <a:t>子树。</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80353" y="891382"/>
                <a:ext cx="8229600" cy="4525963"/>
              </a:xfrm>
              <a:blipFill rotWithShape="1">
                <a:blip r:embed="rId1"/>
                <a:stretch>
                  <a:fillRect l="-4" t="-11" r="-868"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pic>
        <p:nvPicPr>
          <p:cNvPr id="6" name="Picture 3"/>
          <p:cNvPicPr>
            <a:picLocks noChangeAspect="1" noChangeArrowheads="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7487" y="3966796"/>
            <a:ext cx="3719513" cy="1999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任意多边形 7"/>
          <p:cNvSpPr/>
          <p:nvPr/>
        </p:nvSpPr>
        <p:spPr>
          <a:xfrm>
            <a:off x="5334000" y="4518818"/>
            <a:ext cx="990600" cy="1136462"/>
          </a:xfrm>
          <a:custGeom>
            <a:avLst/>
            <a:gdLst>
              <a:gd name="connsiteX0" fmla="*/ 0 w 990600"/>
              <a:gd name="connsiteY0" fmla="*/ 28575 h 1136462"/>
              <a:gd name="connsiteX1" fmla="*/ 342900 w 990600"/>
              <a:gd name="connsiteY1" fmla="*/ 219075 h 1136462"/>
              <a:gd name="connsiteX2" fmla="*/ 438150 w 990600"/>
              <a:gd name="connsiteY2" fmla="*/ 666750 h 1136462"/>
              <a:gd name="connsiteX3" fmla="*/ 466725 w 990600"/>
              <a:gd name="connsiteY3" fmla="*/ 1066800 h 1136462"/>
              <a:gd name="connsiteX4" fmla="*/ 723900 w 990600"/>
              <a:gd name="connsiteY4" fmla="*/ 1066800 h 1136462"/>
              <a:gd name="connsiteX5" fmla="*/ 685800 w 990600"/>
              <a:gd name="connsiteY5" fmla="*/ 371475 h 1136462"/>
              <a:gd name="connsiteX6" fmla="*/ 990600 w 990600"/>
              <a:gd name="connsiteY6" fmla="*/ 0 h 1136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0" h="1136462">
                <a:moveTo>
                  <a:pt x="0" y="28575"/>
                </a:moveTo>
                <a:cubicBezTo>
                  <a:pt x="134937" y="70644"/>
                  <a:pt x="269875" y="112713"/>
                  <a:pt x="342900" y="219075"/>
                </a:cubicBezTo>
                <a:cubicBezTo>
                  <a:pt x="415925" y="325438"/>
                  <a:pt x="417513" y="525463"/>
                  <a:pt x="438150" y="666750"/>
                </a:cubicBezTo>
                <a:cubicBezTo>
                  <a:pt x="458787" y="808037"/>
                  <a:pt x="419100" y="1000125"/>
                  <a:pt x="466725" y="1066800"/>
                </a:cubicBezTo>
                <a:cubicBezTo>
                  <a:pt x="514350" y="1133475"/>
                  <a:pt x="687387" y="1182688"/>
                  <a:pt x="723900" y="1066800"/>
                </a:cubicBezTo>
                <a:cubicBezTo>
                  <a:pt x="760413" y="950912"/>
                  <a:pt x="641350" y="549275"/>
                  <a:pt x="685800" y="371475"/>
                </a:cubicBezTo>
                <a:cubicBezTo>
                  <a:pt x="730250" y="193675"/>
                  <a:pt x="860425" y="96837"/>
                  <a:pt x="990600" y="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任意多边形 4"/>
          <p:cNvSpPr/>
          <p:nvPr/>
        </p:nvSpPr>
        <p:spPr>
          <a:xfrm>
            <a:off x="2652584" y="4328342"/>
            <a:ext cx="1902940" cy="1323742"/>
          </a:xfrm>
          <a:custGeom>
            <a:avLst/>
            <a:gdLst>
              <a:gd name="connsiteX0" fmla="*/ 0 w 1902940"/>
              <a:gd name="connsiteY0" fmla="*/ 531982 h 1323742"/>
              <a:gd name="connsiteX1" fmla="*/ 345989 w 1902940"/>
              <a:gd name="connsiteY1" fmla="*/ 293085 h 1323742"/>
              <a:gd name="connsiteX2" fmla="*/ 411892 w 1902940"/>
              <a:gd name="connsiteY2" fmla="*/ 37712 h 1323742"/>
              <a:gd name="connsiteX3" fmla="*/ 527221 w 1902940"/>
              <a:gd name="connsiteY3" fmla="*/ 45950 h 1323742"/>
              <a:gd name="connsiteX4" fmla="*/ 733167 w 1902940"/>
              <a:gd name="connsiteY4" fmla="*/ 457842 h 1323742"/>
              <a:gd name="connsiteX5" fmla="*/ 856735 w 1902940"/>
              <a:gd name="connsiteY5" fmla="*/ 803831 h 1323742"/>
              <a:gd name="connsiteX6" fmla="*/ 897924 w 1902940"/>
              <a:gd name="connsiteY6" fmla="*/ 1281626 h 1323742"/>
              <a:gd name="connsiteX7" fmla="*/ 1128584 w 1902940"/>
              <a:gd name="connsiteY7" fmla="*/ 1256912 h 1323742"/>
              <a:gd name="connsiteX8" fmla="*/ 1227438 w 1902940"/>
              <a:gd name="connsiteY8" fmla="*/ 902685 h 1323742"/>
              <a:gd name="connsiteX9" fmla="*/ 1375719 w 1902940"/>
              <a:gd name="connsiteY9" fmla="*/ 943874 h 1323742"/>
              <a:gd name="connsiteX10" fmla="*/ 1458097 w 1902940"/>
              <a:gd name="connsiteY10" fmla="*/ 1306339 h 1323742"/>
              <a:gd name="connsiteX11" fmla="*/ 1729946 w 1902940"/>
              <a:gd name="connsiteY11" fmla="*/ 1166296 h 1323742"/>
              <a:gd name="connsiteX12" fmla="*/ 1729946 w 1902940"/>
              <a:gd name="connsiteY12" fmla="*/ 573172 h 1323742"/>
              <a:gd name="connsiteX13" fmla="*/ 1902940 w 1902940"/>
              <a:gd name="connsiteY13" fmla="*/ 358988 h 1323742"/>
              <a:gd name="connsiteX14" fmla="*/ 1902940 w 1902940"/>
              <a:gd name="connsiteY14" fmla="*/ 358988 h 132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2940" h="1323742">
                <a:moveTo>
                  <a:pt x="0" y="531982"/>
                </a:moveTo>
                <a:cubicBezTo>
                  <a:pt x="138670" y="453722"/>
                  <a:pt x="277340" y="375463"/>
                  <a:pt x="345989" y="293085"/>
                </a:cubicBezTo>
                <a:cubicBezTo>
                  <a:pt x="414638" y="210707"/>
                  <a:pt x="381687" y="78901"/>
                  <a:pt x="411892" y="37712"/>
                </a:cubicBezTo>
                <a:cubicBezTo>
                  <a:pt x="442097" y="-3477"/>
                  <a:pt x="473675" y="-24072"/>
                  <a:pt x="527221" y="45950"/>
                </a:cubicBezTo>
                <a:cubicBezTo>
                  <a:pt x="580767" y="115972"/>
                  <a:pt x="678248" y="331529"/>
                  <a:pt x="733167" y="457842"/>
                </a:cubicBezTo>
                <a:cubicBezTo>
                  <a:pt x="788086" y="584155"/>
                  <a:pt x="829276" y="666534"/>
                  <a:pt x="856735" y="803831"/>
                </a:cubicBezTo>
                <a:cubicBezTo>
                  <a:pt x="884194" y="941128"/>
                  <a:pt x="852616" y="1206113"/>
                  <a:pt x="897924" y="1281626"/>
                </a:cubicBezTo>
                <a:cubicBezTo>
                  <a:pt x="943232" y="1357139"/>
                  <a:pt x="1073665" y="1320069"/>
                  <a:pt x="1128584" y="1256912"/>
                </a:cubicBezTo>
                <a:cubicBezTo>
                  <a:pt x="1183503" y="1193755"/>
                  <a:pt x="1186249" y="954858"/>
                  <a:pt x="1227438" y="902685"/>
                </a:cubicBezTo>
                <a:cubicBezTo>
                  <a:pt x="1268627" y="850512"/>
                  <a:pt x="1337276" y="876598"/>
                  <a:pt x="1375719" y="943874"/>
                </a:cubicBezTo>
                <a:cubicBezTo>
                  <a:pt x="1414162" y="1011150"/>
                  <a:pt x="1399059" y="1269269"/>
                  <a:pt x="1458097" y="1306339"/>
                </a:cubicBezTo>
                <a:cubicBezTo>
                  <a:pt x="1517135" y="1343409"/>
                  <a:pt x="1684638" y="1288490"/>
                  <a:pt x="1729946" y="1166296"/>
                </a:cubicBezTo>
                <a:cubicBezTo>
                  <a:pt x="1775254" y="1044102"/>
                  <a:pt x="1701114" y="707723"/>
                  <a:pt x="1729946" y="573172"/>
                </a:cubicBezTo>
                <a:cubicBezTo>
                  <a:pt x="1758778" y="438621"/>
                  <a:pt x="1902940" y="358988"/>
                  <a:pt x="1902940" y="358988"/>
                </a:cubicBezTo>
                <a:lnTo>
                  <a:pt x="1902940" y="358988"/>
                </a:ln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语法分析树和派生的等价性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定理</a:t>
                </a:r>
                <a:r>
                  <a:rPr lang="en-AU" altLang="zh-CN" dirty="0"/>
                  <a:t>:</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𝑉</m:t>
                    </m:r>
                    <m:r>
                      <a:rPr lang="en-AU" altLang="zh-CN" b="0" i="1" dirty="0" smtClean="0">
                        <a:latin typeface="Cambria Math" panose="02040503050406030204" pitchFamily="18" charset="0"/>
                      </a:rPr>
                      <m:t>,</m:t>
                    </m:r>
                    <m:r>
                      <a:rPr lang="en-US" altLang="zh-CN" i="1" dirty="0" smtClean="0">
                        <a:latin typeface="Cambria Math" panose="02040503050406030204" pitchFamily="18" charset="0"/>
                      </a:rPr>
                      <m:t>𝑇</m:t>
                    </m:r>
                    <m:r>
                      <a:rPr lang="en-AU" altLang="zh-CN" b="0" i="1" dirty="0" smtClean="0">
                        <a:latin typeface="Cambria Math" panose="02040503050406030204" pitchFamily="18" charset="0"/>
                      </a:rPr>
                      <m:t>,</m:t>
                    </m:r>
                    <m:r>
                      <a:rPr lang="en-US" altLang="zh-CN" i="1" dirty="0" smtClean="0">
                        <a:latin typeface="Cambria Math" panose="02040503050406030204" pitchFamily="18" charset="0"/>
                      </a:rPr>
                      <m:t>𝑃</m:t>
                    </m:r>
                    <m:r>
                      <a:rPr lang="en-AU" altLang="zh-CN" b="0"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oMath>
                </a14:m>
                <a:r>
                  <a:rPr lang="zh-CN" altLang="en-US" dirty="0"/>
                  <a:t>且</a:t>
                </a:r>
                <a14:m>
                  <m:oMath xmlns:m="http://schemas.openxmlformats.org/officeDocument/2006/math">
                    <m:r>
                      <a:rPr lang="en-AU" altLang="zh-CN" b="0" i="1" dirty="0" smtClean="0">
                        <a:latin typeface="Cambria Math" panose="02040503050406030204" pitchFamily="18" charset="0"/>
                      </a:rPr>
                      <m:t>𝐴</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𝑉</m:t>
                    </m:r>
                  </m:oMath>
                </a14:m>
                <a:r>
                  <a:rPr lang="en-AU" altLang="zh-CN" dirty="0"/>
                  <a:t>,</a:t>
                </a:r>
                <a:r>
                  <a:rPr lang="zh-CN" altLang="en-US" dirty="0"/>
                  <a:t>那么文法 </a:t>
                </a:r>
                <a14:m>
                  <m:oMath xmlns:m="http://schemas.openxmlformats.org/officeDocument/2006/math">
                    <m:r>
                      <a:rPr lang="en-US" altLang="zh-CN" i="1" dirty="0" smtClean="0">
                        <a:latin typeface="Cambria Math" panose="02040503050406030204" pitchFamily="18" charset="0"/>
                      </a:rPr>
                      <m:t>𝐺</m:t>
                    </m:r>
                    <m:r>
                      <a:rPr lang="en-US" altLang="zh-CN" i="1" dirty="0" smtClean="0">
                        <a:latin typeface="Cambria Math" panose="02040503050406030204" pitchFamily="18" charset="0"/>
                      </a:rPr>
                      <m:t> </m:t>
                    </m:r>
                  </m:oMath>
                </a14:m>
                <a:r>
                  <a:rPr lang="zh-CN" altLang="en-US" dirty="0"/>
                  <a:t>中</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𝐴</m:t>
                      </m:r>
                      <m:groupChr>
                        <m:groupChrPr>
                          <m:chr m:val="⇒"/>
                          <m:vertJc m:val="bot"/>
                          <m:ctrlPr>
                            <a:rPr lang="en-AU" i="1" dirty="0" smtClean="0">
                              <a:latin typeface="Cambria Math" panose="02040503050406030204" pitchFamily="18" charset="0"/>
                            </a:rPr>
                          </m:ctrlPr>
                        </m:groupChrPr>
                        <m:e>
                          <m:r>
                            <m:rPr>
                              <m:brk m:alnAt="2"/>
                            </m:rPr>
                            <a:rPr lang="en-AU" b="0" i="1" dirty="0" smtClean="0">
                              <a:latin typeface="Cambria Math" panose="02040503050406030204" pitchFamily="18" charset="0"/>
                            </a:rPr>
                            <m:t>∗</m:t>
                          </m:r>
                        </m:e>
                      </m:groupChr>
                      <m:r>
                        <a:rPr lang="en-AU" i="1" dirty="0" smtClean="0">
                          <a:latin typeface="Cambria Math" panose="02040503050406030204" pitchFamily="18" charset="0"/>
                          <a:ea typeface="Cambria Math" panose="02040503050406030204" pitchFamily="18" charset="0"/>
                        </a:rPr>
                        <m:t>𝛼</m:t>
                      </m:r>
                    </m:oMath>
                  </m:oMathPara>
                </a14:m>
                <a:endParaRPr lang="en-AU" altLang="zh-CN" dirty="0"/>
              </a:p>
              <a:p>
                <a:pPr marL="0" indent="0">
                  <a:buNone/>
                </a:pPr>
                <a:r>
                  <a:rPr lang="zh-CN" altLang="en-US" dirty="0"/>
                  <a:t>当且仅当在文法</a:t>
                </a:r>
                <a14:m>
                  <m:oMath xmlns:m="http://schemas.openxmlformats.org/officeDocument/2006/math">
                    <m:r>
                      <a:rPr lang="en-US" altLang="zh-CN" i="1" dirty="0" smtClean="0">
                        <a:latin typeface="Cambria Math" panose="02040503050406030204" pitchFamily="18" charset="0"/>
                      </a:rPr>
                      <m:t>𝐺</m:t>
                    </m:r>
                  </m:oMath>
                </a14:m>
                <a:r>
                  <a:rPr lang="zh-CN" altLang="en-US" dirty="0"/>
                  <a:t>中存在以</a:t>
                </a:r>
                <a14:m>
                  <m:oMath xmlns:m="http://schemas.openxmlformats.org/officeDocument/2006/math">
                    <m:r>
                      <a:rPr lang="en-AU" altLang="zh-CN" b="0" i="1" smtClean="0">
                        <a:latin typeface="Cambria Math" panose="02040503050406030204" pitchFamily="18" charset="0"/>
                      </a:rPr>
                      <m:t>𝐴</m:t>
                    </m:r>
                  </m:oMath>
                </a14:m>
                <a:r>
                  <a:rPr lang="zh-CN" altLang="en-US" dirty="0"/>
                  <a:t>为根节点产物为</a:t>
                </a:r>
                <a14:m>
                  <m:oMath xmlns:m="http://schemas.openxmlformats.org/officeDocument/2006/math">
                    <m:r>
                      <a:rPr lang="en-US" altLang="zh-CN" i="1" dirty="0" smtClean="0">
                        <a:latin typeface="Cambria Math" panose="02040503050406030204" pitchFamily="18" charset="0"/>
                      </a:rPr>
                      <m:t>𝛼</m:t>
                    </m:r>
                  </m:oMath>
                </a14:m>
                <a:r>
                  <a:rPr lang="zh-CN" altLang="en-US" dirty="0"/>
                  <a:t>的语法分析树。</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证明（充分性）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66018"/>
                <a:ext cx="8229600" cy="4525963"/>
              </a:xfrm>
            </p:spPr>
            <p:txBody>
              <a:bodyPr>
                <a:normAutofit/>
              </a:bodyPr>
              <a:lstStyle/>
              <a:p>
                <a:r>
                  <a:rPr lang="zh-CN" altLang="en-US" dirty="0"/>
                  <a:t>对</a:t>
                </a:r>
                <a14:m>
                  <m:oMath xmlns:m="http://schemas.openxmlformats.org/officeDocument/2006/math">
                    <m:r>
                      <a:rPr lang="en-AU" b="0" i="1" dirty="0" smtClean="0">
                        <a:latin typeface="Cambria Math" panose="02040503050406030204" pitchFamily="18" charset="0"/>
                      </a:rPr>
                      <m:t>𝐴</m:t>
                    </m:r>
                    <m:groupChr>
                      <m:groupChrPr>
                        <m:chr m:val="⇒"/>
                        <m:vertJc m:val="bot"/>
                        <m:ctrlPr>
                          <a:rPr lang="en-AU" i="1" dirty="0" smtClean="0">
                            <a:latin typeface="Cambria Math" panose="02040503050406030204" pitchFamily="18" charset="0"/>
                          </a:rPr>
                        </m:ctrlPr>
                      </m:groupChrPr>
                      <m:e>
                        <m:r>
                          <m:rPr>
                            <m:brk m:alnAt="2"/>
                          </m:rPr>
                          <a:rPr lang="en-AU" b="0" i="1" dirty="0" smtClean="0">
                            <a:latin typeface="Cambria Math" panose="02040503050406030204" pitchFamily="18" charset="0"/>
                          </a:rPr>
                          <m:t>𝑗</m:t>
                        </m:r>
                      </m:e>
                    </m:groupChr>
                    <m:r>
                      <a:rPr lang="en-AU" i="1" dirty="0" smtClean="0">
                        <a:latin typeface="Cambria Math" panose="02040503050406030204" pitchFamily="18" charset="0"/>
                        <a:ea typeface="Cambria Math" panose="02040503050406030204" pitchFamily="18" charset="0"/>
                      </a:rPr>
                      <m:t>𝛼</m:t>
                    </m:r>
                  </m:oMath>
                </a14:m>
                <a:r>
                  <a:rPr lang="zh-CN" altLang="en-US" dirty="0"/>
                  <a:t>的步骤数</a:t>
                </a:r>
                <a14:m>
                  <m:oMath xmlns:m="http://schemas.openxmlformats.org/officeDocument/2006/math">
                    <m:r>
                      <a:rPr lang="en-AU" altLang="zh-CN" b="0" i="1" smtClean="0">
                        <a:latin typeface="Cambria Math" panose="02040503050406030204" pitchFamily="18" charset="0"/>
                      </a:rPr>
                      <m:t>𝑗</m:t>
                    </m:r>
                  </m:oMath>
                </a14:m>
                <a:r>
                  <a:rPr lang="zh-CN" altLang="en-US" dirty="0"/>
                  <a:t>进行归纳证明（即以</a:t>
                </a:r>
                <a14:m>
                  <m:oMath xmlns:m="http://schemas.openxmlformats.org/officeDocument/2006/math">
                    <m:r>
                      <a:rPr lang="en-AU" altLang="zh-CN" b="0" i="1" smtClean="0">
                        <a:latin typeface="Cambria Math" panose="02040503050406030204" pitchFamily="18" charset="0"/>
                      </a:rPr>
                      <m:t>𝐴</m:t>
                    </m:r>
                  </m:oMath>
                </a14:m>
                <a:r>
                  <a:rPr lang="zh-CN" altLang="en-US" dirty="0"/>
                  <a:t>为根节点的树的高度）</a:t>
                </a:r>
                <a:endParaRPr lang="en-AU" altLang="zh-CN" dirty="0"/>
              </a:p>
              <a:p>
                <a:r>
                  <a:rPr lang="zh-CN" altLang="en-US" dirty="0"/>
                  <a:t>归纳基础</a:t>
                </a:r>
                <a:r>
                  <a:rPr lang="en-AU" altLang="zh-CN" dirty="0"/>
                  <a:t>:</a:t>
                </a:r>
                <a14:m>
                  <m:oMath xmlns:m="http://schemas.openxmlformats.org/officeDocument/2006/math">
                    <m:r>
                      <a:rPr lang="en-AU" altLang="zh-CN" b="0" i="1" smtClean="0">
                        <a:latin typeface="Cambria Math" panose="02040503050406030204" pitchFamily="18" charset="0"/>
                      </a:rPr>
                      <m:t>𝑗</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oMath>
                </a14:m>
                <a:r>
                  <a:rPr lang="en-AU" altLang="zh-CN" dirty="0"/>
                  <a:t>,</a:t>
                </a:r>
                <a:r>
                  <a:rPr lang="zh-CN" altLang="en-US" dirty="0"/>
                  <a:t>即</a:t>
                </a:r>
                <a14:m>
                  <m:oMath xmlns:m="http://schemas.openxmlformats.org/officeDocument/2006/math">
                    <m:r>
                      <a:rPr lang="en-AU" altLang="zh-CN" b="0" i="1" dirty="0" smtClean="0">
                        <a:latin typeface="Cambria Math" panose="02040503050406030204" pitchFamily="18" charset="0"/>
                      </a:rPr>
                      <m:t>𝐴</m:t>
                    </m:r>
                    <m:r>
                      <a:rPr lang="en-AU" altLang="zh-CN" b="0" i="1" dirty="0" smtClean="0">
                        <a:latin typeface="Cambria Math" panose="02040503050406030204" pitchFamily="18" charset="0"/>
                        <a:ea typeface="Cambria Math" panose="02040503050406030204" pitchFamily="18" charset="0"/>
                      </a:rPr>
                      <m:t>⇒</m:t>
                    </m:r>
                    <m:r>
                      <a:rPr lang="zh-CN" altLang="en-AU" b="0" i="1" dirty="0" smtClean="0">
                        <a:latin typeface="Cambria Math" panose="02040503050406030204" pitchFamily="18" charset="0"/>
                        <a:ea typeface="Cambria Math" panose="02040503050406030204" pitchFamily="18" charset="0"/>
                      </a:rPr>
                      <m:t>𝛼</m:t>
                    </m:r>
                  </m:oMath>
                </a14:m>
                <a:r>
                  <a:rPr lang="en-AU" altLang="zh-CN" dirty="0"/>
                  <a:t>,</a:t>
                </a:r>
                <a:r>
                  <a:rPr lang="zh-CN" altLang="en-US" dirty="0"/>
                  <a:t>有</a:t>
                </a:r>
                <a14:m>
                  <m:oMath xmlns:m="http://schemas.openxmlformats.org/officeDocument/2006/math">
                    <m:r>
                      <a:rPr lang="en-AU" altLang="zh-CN" i="1" dirty="0">
                        <a:latin typeface="Cambria Math" panose="02040503050406030204" pitchFamily="18" charset="0"/>
                      </a:rPr>
                      <m:t>𝐴</m:t>
                    </m:r>
                    <m:r>
                      <a:rPr lang="en-AU" altLang="zh-CN" b="0" i="1" dirty="0" smtClean="0">
                        <a:latin typeface="Cambria Math" panose="02040503050406030204" pitchFamily="18" charset="0"/>
                      </a:rPr>
                      <m:t>→</m:t>
                    </m:r>
                    <m:r>
                      <a:rPr lang="zh-CN" altLang="en-AU" i="1" dirty="0">
                        <a:latin typeface="Cambria Math" panose="02040503050406030204" pitchFamily="18" charset="0"/>
                        <a:ea typeface="Cambria Math" panose="02040503050406030204" pitchFamily="18" charset="0"/>
                      </a:rPr>
                      <m:t>𝛼</m:t>
                    </m:r>
                  </m:oMath>
                </a14:m>
                <a:r>
                  <a:rPr lang="zh-CN" altLang="en-US" dirty="0"/>
                  <a:t>是产生式。</a:t>
                </a:r>
                <a:r>
                  <a:rPr lang="en-AU" altLang="zh-CN" dirty="0"/>
                  <a:t> </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1"/>
                <a:stretch>
                  <a:fillRect t="-3" b="11"/>
                </a:stretch>
              </a:blipFill>
            </p:spPr>
            <p:txBody>
              <a:bodyPr/>
              <a:lstStyle/>
              <a:p>
                <a:r>
                  <a:rPr lang="zh-CN" altLang="en-US">
                    <a:noFill/>
                  </a:rPr>
                  <a:t> </a:t>
                </a:r>
              </a:p>
            </p:txBody>
          </p:sp>
        </mc:Fallback>
      </mc:AlternateContent>
      <p:grpSp>
        <p:nvGrpSpPr>
          <p:cNvPr id="4" name="Group 11"/>
          <p:cNvGrpSpPr/>
          <p:nvPr/>
        </p:nvGrpSpPr>
        <p:grpSpPr bwMode="auto">
          <a:xfrm>
            <a:off x="6503670" y="3429794"/>
            <a:ext cx="1752600" cy="1143000"/>
            <a:chOff x="4320" y="2064"/>
            <a:chExt cx="1104" cy="720"/>
          </a:xfrm>
        </p:grpSpPr>
        <p:sp>
          <p:nvSpPr>
            <p:cNvPr id="5" name="Oval 5"/>
            <p:cNvSpPr>
              <a:spLocks noChangeArrowheads="1"/>
            </p:cNvSpPr>
            <p:nvPr/>
          </p:nvSpPr>
          <p:spPr bwMode="auto">
            <a:xfrm>
              <a:off x="4704" y="2064"/>
              <a:ext cx="288" cy="288"/>
            </a:xfrm>
            <a:prstGeom prst="ellipse">
              <a:avLst/>
            </a:prstGeom>
            <a:solidFill>
              <a:srgbClr val="FFCC99">
                <a:alpha val="50000"/>
              </a:srgb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A</a:t>
              </a:r>
              <a:endParaRPr lang="en-US" altLang="en-US"/>
            </a:p>
          </p:txBody>
        </p:sp>
        <mc:AlternateContent xmlns:mc="http://schemas.openxmlformats.org/markup-compatibility/2006">
          <mc:Choice xmlns:a14="http://schemas.microsoft.com/office/drawing/2010/main" Requires="a14">
            <p:sp>
              <p:nvSpPr>
                <p:cNvPr id="6" name="Oval 6"/>
                <p:cNvSpPr>
                  <a:spLocks noChangeArrowheads="1"/>
                </p:cNvSpPr>
                <p:nvPr/>
              </p:nvSpPr>
              <p:spPr bwMode="auto">
                <a:xfrm>
                  <a:off x="4320" y="2496"/>
                  <a:ext cx="288" cy="288"/>
                </a:xfrm>
                <a:prstGeom prst="ellipse">
                  <a:avLst/>
                </a:prstGeom>
                <a:solidFill>
                  <a:srgbClr val="FFCC99">
                    <a:alpha val="50000"/>
                  </a:srgb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14:m>
                    <m:oMath xmlns:m="http://schemas.openxmlformats.org/officeDocument/2006/math">
                      <m:r>
                        <a:rPr lang="zh-CN" altLang="en-AU" i="1" dirty="0" smtClean="0">
                          <a:latin typeface="Cambria Math" panose="02040503050406030204" pitchFamily="18" charset="0"/>
                          <a:ea typeface="Cambria Math" panose="02040503050406030204" pitchFamily="18" charset="0"/>
                        </a:rPr>
                        <m:t>𝛼</m:t>
                      </m:r>
                    </m:oMath>
                  </a14:m>
                  <a:r>
                    <a:rPr lang="en-US" altLang="en-US" baseline="-25000" dirty="0"/>
                    <a:t>1</a:t>
                  </a:r>
                  <a:endParaRPr lang="en-US" altLang="en-US" baseline="-25000" dirty="0"/>
                </a:p>
              </p:txBody>
            </p:sp>
          </mc:Choice>
          <mc:Fallback>
            <p:sp>
              <p:nvSpPr>
                <p:cNvPr id="6" name="Oval 6"/>
                <p:cNvSpPr>
                  <a:spLocks noRot="1" noChangeAspect="1" noMove="1" noResize="1" noEditPoints="1" noAdjustHandles="1" noChangeArrowheads="1" noChangeShapeType="1" noTextEdit="1"/>
                </p:cNvSpPr>
                <p:nvPr/>
              </p:nvSpPr>
              <p:spPr bwMode="auto">
                <a:xfrm>
                  <a:off x="4320" y="2496"/>
                  <a:ext cx="288" cy="288"/>
                </a:xfrm>
                <a:prstGeom prst="ellipse">
                  <a:avLst/>
                </a:prstGeom>
                <a:blipFill rotWithShape="1">
                  <a:blip r:embed="rId2"/>
                </a:bli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val 7"/>
                <p:cNvSpPr>
                  <a:spLocks noChangeArrowheads="1"/>
                </p:cNvSpPr>
                <p:nvPr/>
              </p:nvSpPr>
              <p:spPr bwMode="auto">
                <a:xfrm>
                  <a:off x="5136" y="2496"/>
                  <a:ext cx="288" cy="288"/>
                </a:xfrm>
                <a:prstGeom prst="ellipse">
                  <a:avLst/>
                </a:prstGeom>
                <a:solidFill>
                  <a:srgbClr val="FFCC99">
                    <a:alpha val="50000"/>
                  </a:srgb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14:m>
                    <m:oMath xmlns:m="http://schemas.openxmlformats.org/officeDocument/2006/math">
                      <m:r>
                        <a:rPr lang="zh-CN" altLang="en-AU" i="1" dirty="0" smtClean="0">
                          <a:latin typeface="Cambria Math" panose="02040503050406030204" pitchFamily="18" charset="0"/>
                          <a:ea typeface="Cambria Math" panose="02040503050406030204" pitchFamily="18" charset="0"/>
                        </a:rPr>
                        <m:t>𝛼</m:t>
                      </m:r>
                    </m:oMath>
                  </a14:m>
                  <a:r>
                    <a:rPr lang="en-US" altLang="en-US" baseline="-25000" dirty="0"/>
                    <a:t>n</a:t>
                  </a:r>
                  <a:endParaRPr lang="en-US" altLang="en-US" baseline="-25000" dirty="0"/>
                </a:p>
              </p:txBody>
            </p:sp>
          </mc:Choice>
          <mc:Fallback>
            <p:sp>
              <p:nvSpPr>
                <p:cNvPr id="7" name="Oval 7"/>
                <p:cNvSpPr>
                  <a:spLocks noRot="1" noChangeAspect="1" noMove="1" noResize="1" noEditPoints="1" noAdjustHandles="1" noChangeArrowheads="1" noChangeShapeType="1" noTextEdit="1"/>
                </p:cNvSpPr>
                <p:nvPr/>
              </p:nvSpPr>
              <p:spPr bwMode="auto">
                <a:xfrm>
                  <a:off x="5136" y="2496"/>
                  <a:ext cx="288" cy="288"/>
                </a:xfrm>
                <a:prstGeom prst="ellipse">
                  <a:avLst/>
                </a:prstGeom>
                <a:blipFill rotWithShape="1">
                  <a:blip r:embed="rId3"/>
                </a:bli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8" name="Text Box 8"/>
            <p:cNvSpPr txBox="1">
              <a:spLocks noChangeArrowheads="1"/>
            </p:cNvSpPr>
            <p:nvPr/>
          </p:nvSpPr>
          <p:spPr bwMode="auto">
            <a:xfrm>
              <a:off x="4656" y="2496"/>
              <a:ext cx="4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 . .</a:t>
              </a:r>
              <a:endParaRPr lang="en-US" altLang="en-US"/>
            </a:p>
          </p:txBody>
        </p:sp>
        <p:sp>
          <p:nvSpPr>
            <p:cNvPr id="9" name="Line 9"/>
            <p:cNvSpPr>
              <a:spLocks noChangeShapeType="1"/>
            </p:cNvSpPr>
            <p:nvPr/>
          </p:nvSpPr>
          <p:spPr bwMode="auto">
            <a:xfrm flipH="1">
              <a:off x="4560" y="2304"/>
              <a:ext cx="192"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0" name="Line 10"/>
            <p:cNvSpPr>
              <a:spLocks noChangeShapeType="1"/>
            </p:cNvSpPr>
            <p:nvPr/>
          </p:nvSpPr>
          <p:spPr bwMode="auto">
            <a:xfrm>
              <a:off x="4944" y="2304"/>
              <a:ext cx="240"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sp>
        <p:nvSpPr>
          <p:cNvPr id="11" name="Slide Number Placeholder 10"/>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证明（充分性）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72947" y="1056190"/>
                <a:ext cx="8229600" cy="4525963"/>
              </a:xfrm>
            </p:spPr>
            <p:txBody>
              <a:bodyPr>
                <a:normAutofit/>
              </a:bodyPr>
              <a:lstStyle/>
              <a:p>
                <a:r>
                  <a:rPr lang="zh-CN" altLang="en-US" dirty="0"/>
                  <a:t>归纳递推</a:t>
                </a:r>
                <a:r>
                  <a:rPr lang="en-AU" altLang="zh-CN" dirty="0"/>
                  <a:t>:</a:t>
                </a:r>
                <a:r>
                  <a:rPr lang="zh-CN" altLang="en-US" dirty="0"/>
                  <a:t>假设当</a:t>
                </a:r>
                <a14:m>
                  <m:oMath xmlns:m="http://schemas.openxmlformats.org/officeDocument/2006/math">
                    <m:r>
                      <a:rPr lang="en-AU" altLang="zh-CN" b="0" i="1" smtClean="0">
                        <a:latin typeface="Cambria Math" panose="02040503050406030204" pitchFamily="18" charset="0"/>
                      </a:rPr>
                      <m:t>𝑗</m:t>
                    </m:r>
                    <m:r>
                      <a:rPr lang="en-AU" altLang="zh-CN" dirty="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rPr>
                      <m:t>𝑛</m:t>
                    </m:r>
                  </m:oMath>
                </a14:m>
                <a:r>
                  <a:rPr lang="zh-CN" altLang="en-US" dirty="0"/>
                  <a:t>命题成立。当</a:t>
                </a:r>
                <a14:m>
                  <m:oMath xmlns:m="http://schemas.openxmlformats.org/officeDocument/2006/math">
                    <m:r>
                      <a:rPr lang="en-AU" altLang="zh-CN" b="0" i="1" smtClean="0">
                        <a:latin typeface="Cambria Math" panose="02040503050406030204" pitchFamily="18" charset="0"/>
                      </a:rPr>
                      <m:t>𝑗</m:t>
                    </m:r>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oMath>
                </a14:m>
                <a:r>
                  <a:rPr lang="zh-CN" altLang="en-US" dirty="0"/>
                  <a:t>时，</a:t>
                </a:r>
                <a:r>
                  <a:rPr lang="en-AU" dirty="0"/>
                  <a:t> </a:t>
                </a:r>
                <a14:m>
                  <m:oMath xmlns:m="http://schemas.openxmlformats.org/officeDocument/2006/math">
                    <m:r>
                      <a:rPr lang="en-AU" i="1" dirty="0">
                        <a:latin typeface="Cambria Math" panose="02040503050406030204" pitchFamily="18" charset="0"/>
                      </a:rPr>
                      <m:t>𝐴</m:t>
                    </m:r>
                    <m:groupChr>
                      <m:groupChrPr>
                        <m:chr m:val="⇒"/>
                        <m:vertJc m:val="bot"/>
                        <m:ctrlPr>
                          <a:rPr lang="en-AU" i="1" dirty="0">
                            <a:latin typeface="Cambria Math" panose="02040503050406030204" pitchFamily="18" charset="0"/>
                          </a:rPr>
                        </m:ctrlPr>
                      </m:groupChrPr>
                      <m:e>
                        <m:r>
                          <m:rPr>
                            <m:brk m:alnAt="2"/>
                          </m:rPr>
                          <a:rPr lang="en-AU" b="0" i="1" dirty="0" smtClean="0">
                            <a:latin typeface="Cambria Math" panose="02040503050406030204" pitchFamily="18" charset="0"/>
                          </a:rPr>
                          <m:t>𝑛</m:t>
                        </m:r>
                        <m:r>
                          <a:rPr lang="en-AU" b="0" i="1" dirty="0" smtClean="0">
                            <a:latin typeface="Cambria Math" panose="02040503050406030204" pitchFamily="18" charset="0"/>
                          </a:rPr>
                          <m:t>+</m:t>
                        </m:r>
                        <m:r>
                          <a:rPr lang="en-AU" b="0" i="1" dirty="0" smtClean="0">
                            <a:latin typeface="Cambria Math" panose="02040503050406030204" pitchFamily="18" charset="0"/>
                          </a:rPr>
                          <m:t>1</m:t>
                        </m:r>
                      </m:e>
                    </m:groupChr>
                    <m:r>
                      <a:rPr lang="en-AU" i="1" dirty="0">
                        <a:latin typeface="Cambria Math" panose="02040503050406030204" pitchFamily="18" charset="0"/>
                        <a:ea typeface="Cambria Math" panose="02040503050406030204" pitchFamily="18" charset="0"/>
                      </a:rPr>
                      <m:t>𝛼</m:t>
                    </m:r>
                  </m:oMath>
                </a14:m>
                <a:r>
                  <a:rPr lang="zh-CN" altLang="en-US" dirty="0"/>
                  <a:t>的派生过程为</a:t>
                </a:r>
                <a:r>
                  <a:rPr lang="en-AU" altLang="zh-CN" dirty="0"/>
                  <a:t>:</a:t>
                </a:r>
                <a:endParaRPr lang="en-AU" altLang="zh-CN" dirty="0"/>
              </a:p>
              <a:p>
                <a:pPr marL="0" indent="0" algn="ctr">
                  <a:buNone/>
                </a:pPr>
                <a14:m>
                  <m:oMath xmlns:m="http://schemas.openxmlformats.org/officeDocument/2006/math">
                    <m:r>
                      <a:rPr lang="en-AU" altLang="zh-CN" b="0" i="1" dirty="0" smtClean="0">
                        <a:latin typeface="Cambria Math" panose="02040503050406030204" pitchFamily="18" charset="0"/>
                      </a:rPr>
                      <m:t>𝐴</m:t>
                    </m:r>
                    <m:r>
                      <a:rPr lang="en-AU" altLang="zh-CN" b="0" i="1" dirty="0" smtClean="0">
                        <a:latin typeface="Cambria Math" panose="02040503050406030204" pitchFamily="18" charset="0"/>
                        <a:ea typeface="Cambria Math" panose="02040503050406030204" pitchFamily="18" charset="0"/>
                      </a:rPr>
                      <m:t>⇒</m:t>
                    </m:r>
                    <m:sSub>
                      <m:sSubPr>
                        <m:ctrlPr>
                          <a:rPr lang="en-AU" altLang="zh-CN" b="0" i="1" dirty="0" smtClean="0">
                            <a:latin typeface="Cambria Math" panose="02040503050406030204" pitchFamily="18" charset="0"/>
                            <a:ea typeface="Cambria Math" panose="02040503050406030204" pitchFamily="18" charset="0"/>
                          </a:rPr>
                        </m:ctrlPr>
                      </m:sSubPr>
                      <m:e>
                        <m:r>
                          <a:rPr lang="en-AU" altLang="zh-CN" b="0" i="1" dirty="0" smtClean="0">
                            <a:latin typeface="Cambria Math" panose="02040503050406030204" pitchFamily="18" charset="0"/>
                            <a:ea typeface="Cambria Math" panose="02040503050406030204" pitchFamily="18" charset="0"/>
                          </a:rPr>
                          <m:t>𝑋</m:t>
                        </m:r>
                      </m:e>
                      <m:sub>
                        <m:r>
                          <a:rPr lang="en-AU" altLang="zh-CN" b="0" i="1" dirty="0" smtClean="0">
                            <a:latin typeface="Cambria Math" panose="02040503050406030204" pitchFamily="18" charset="0"/>
                            <a:ea typeface="Cambria Math" panose="02040503050406030204" pitchFamily="18" charset="0"/>
                          </a:rPr>
                          <m:t>1</m:t>
                        </m:r>
                      </m:sub>
                    </m:sSub>
                    <m:sSub>
                      <m:sSubPr>
                        <m:ctrlPr>
                          <a:rPr lang="en-AU" altLang="zh-CN" i="1" dirty="0">
                            <a:latin typeface="Cambria Math" panose="02040503050406030204" pitchFamily="18" charset="0"/>
                            <a:ea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𝑋</m:t>
                        </m:r>
                      </m:e>
                      <m:sub>
                        <m:r>
                          <a:rPr lang="en-AU" altLang="zh-CN" b="0" i="1" dirty="0" smtClean="0">
                            <a:latin typeface="Cambria Math" panose="02040503050406030204" pitchFamily="18" charset="0"/>
                            <a:ea typeface="Cambria Math" panose="02040503050406030204" pitchFamily="18" charset="0"/>
                          </a:rPr>
                          <m:t>2</m:t>
                        </m:r>
                      </m:sub>
                    </m:sSub>
                    <m:r>
                      <a:rPr lang="en-AU" altLang="zh-CN" b="0" i="1" dirty="0" smtClean="0">
                        <a:latin typeface="Cambria Math" panose="02040503050406030204" pitchFamily="18" charset="0"/>
                        <a:ea typeface="Cambria Math" panose="02040503050406030204" pitchFamily="18" charset="0"/>
                      </a:rPr>
                      <m:t>…</m:t>
                    </m:r>
                    <m:sSub>
                      <m:sSubPr>
                        <m:ctrlPr>
                          <a:rPr lang="en-AU" altLang="zh-CN" i="1" dirty="0">
                            <a:latin typeface="Cambria Math" panose="02040503050406030204" pitchFamily="18" charset="0"/>
                            <a:ea typeface="Cambria Math" panose="02040503050406030204" pitchFamily="18" charset="0"/>
                          </a:rPr>
                        </m:ctrlPr>
                      </m:sSubPr>
                      <m:e>
                        <m:r>
                          <a:rPr lang="en-AU" altLang="zh-CN" i="1" dirty="0">
                            <a:latin typeface="Cambria Math" panose="02040503050406030204" pitchFamily="18" charset="0"/>
                            <a:ea typeface="Cambria Math" panose="02040503050406030204" pitchFamily="18" charset="0"/>
                          </a:rPr>
                          <m:t>𝑋</m:t>
                        </m:r>
                      </m:e>
                      <m:sub>
                        <m:r>
                          <a:rPr lang="en-AU" altLang="zh-CN" b="0" i="1" dirty="0" smtClean="0">
                            <a:latin typeface="Cambria Math" panose="02040503050406030204" pitchFamily="18" charset="0"/>
                            <a:ea typeface="Cambria Math" panose="02040503050406030204" pitchFamily="18" charset="0"/>
                          </a:rPr>
                          <m:t>𝑚</m:t>
                        </m:r>
                      </m:sub>
                    </m:sSub>
                  </m:oMath>
                </a14:m>
                <a:r>
                  <a:rPr lang="en-AU" dirty="0"/>
                  <a:t> </a:t>
                </a:r>
                <a14:m>
                  <m:oMath xmlns:m="http://schemas.openxmlformats.org/officeDocument/2006/math">
                    <m:groupChr>
                      <m:groupChrPr>
                        <m:chr m:val="⇒"/>
                        <m:vertJc m:val="bot"/>
                        <m:ctrlPr>
                          <a:rPr lang="en-AU" i="1" dirty="0">
                            <a:latin typeface="Cambria Math" panose="02040503050406030204" pitchFamily="18" charset="0"/>
                          </a:rPr>
                        </m:ctrlPr>
                      </m:groupChrPr>
                      <m:e>
                        <m:r>
                          <m:rPr>
                            <m:brk m:alnAt="2"/>
                          </m:rPr>
                          <a:rPr lang="en-AU" i="1" dirty="0">
                            <a:latin typeface="Cambria Math" panose="02040503050406030204" pitchFamily="18" charset="0"/>
                          </a:rPr>
                          <m:t>𝑛</m:t>
                        </m:r>
                      </m:e>
                    </m:groupChr>
                    <m:sSub>
                      <m:sSubPr>
                        <m:ctrlPr>
                          <a:rPr lang="en-AU" i="1" dirty="0" smtClean="0">
                            <a:latin typeface="Cambria Math" panose="02040503050406030204" pitchFamily="18" charset="0"/>
                          </a:rPr>
                        </m:ctrlPr>
                      </m:sSubPr>
                      <m:e>
                        <m:r>
                          <a:rPr lang="en-AU" i="1" dirty="0" smtClean="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rPr>
                          <m:t>1</m:t>
                        </m:r>
                      </m:sub>
                    </m:sSub>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2</m:t>
                        </m:r>
                      </m:sub>
                    </m:sSub>
                    <m:r>
                      <a:rPr lang="en-AU" b="0" i="1" dirty="0" smtClean="0">
                        <a:latin typeface="Cambria Math" panose="02040503050406030204" pitchFamily="18" charset="0"/>
                      </a:rPr>
                      <m:t>…</m:t>
                    </m:r>
                    <m:sSub>
                      <m:sSubPr>
                        <m:ctrlPr>
                          <a:rPr lang="en-AU" i="1" dirty="0">
                            <a:latin typeface="Cambria Math" panose="02040503050406030204" pitchFamily="18" charset="0"/>
                          </a:rPr>
                        </m:ctrlPr>
                      </m:sSubPr>
                      <m:e>
                        <m:r>
                          <a:rPr lang="en-AU" i="1" dirty="0">
                            <a:latin typeface="Cambria Math" panose="02040503050406030204" pitchFamily="18" charset="0"/>
                            <a:ea typeface="Cambria Math" panose="02040503050406030204" pitchFamily="18" charset="0"/>
                          </a:rPr>
                          <m:t>𝛼</m:t>
                        </m:r>
                      </m:e>
                      <m:sub>
                        <m:r>
                          <a:rPr lang="en-AU" b="0" i="1" dirty="0" smtClean="0">
                            <a:latin typeface="Cambria Math" panose="02040503050406030204" pitchFamily="18" charset="0"/>
                            <a:ea typeface="Cambria Math" panose="02040503050406030204" pitchFamily="18" charset="0"/>
                          </a:rPr>
                          <m:t>𝑚</m:t>
                        </m:r>
                      </m:sub>
                    </m:sSub>
                    <m:r>
                      <a:rPr lang="en-AU" b="0" i="1" dirty="0" smtClean="0">
                        <a:latin typeface="Cambria Math" panose="02040503050406030204" pitchFamily="18" charset="0"/>
                      </a:rPr>
                      <m:t>=</m:t>
                    </m:r>
                    <m:r>
                      <a:rPr lang="en-AU" i="1" dirty="0" smtClean="0">
                        <a:latin typeface="Cambria Math" panose="02040503050406030204" pitchFamily="18" charset="0"/>
                        <a:ea typeface="Cambria Math" panose="02040503050406030204" pitchFamily="18" charset="0"/>
                      </a:rPr>
                      <m:t>𝛼</m:t>
                    </m:r>
                  </m:oMath>
                </a14:m>
                <a:endParaRPr lang="en-AU" dirty="0">
                  <a:ea typeface="Cambria Math" panose="02040503050406030204" pitchFamily="18" charset="0"/>
                </a:endParaRPr>
              </a:p>
              <a:p>
                <a:pPr marL="0" indent="0">
                  <a:buNone/>
                </a:pPr>
                <a:r>
                  <a:rPr lang="zh-CN" altLang="en-US" sz="2600" dirty="0"/>
                  <a:t>其中第一步派生有</a:t>
                </a:r>
                <a14:m>
                  <m:oMath xmlns:m="http://schemas.openxmlformats.org/officeDocument/2006/math">
                    <m:r>
                      <a:rPr lang="en-AU" altLang="zh-CN" sz="2600" b="0" i="1" dirty="0" smtClean="0">
                        <a:latin typeface="Cambria Math" panose="02040503050406030204" pitchFamily="18" charset="0"/>
                      </a:rPr>
                      <m:t>𝐴</m:t>
                    </m:r>
                    <m:r>
                      <a:rPr lang="en-AU" altLang="zh-CN" sz="2600" b="0" i="1" dirty="0" smtClean="0">
                        <a:latin typeface="Cambria Math" panose="02040503050406030204" pitchFamily="18" charset="0"/>
                      </a:rPr>
                      <m:t>→</m:t>
                    </m:r>
                    <m:sSub>
                      <m:sSubPr>
                        <m:ctrlPr>
                          <a:rPr lang="en-AU" altLang="zh-CN" sz="2600" b="0" i="1" dirty="0" smtClean="0">
                            <a:latin typeface="Cambria Math" panose="02040503050406030204" pitchFamily="18" charset="0"/>
                            <a:ea typeface="Cambria Math" panose="02040503050406030204" pitchFamily="18" charset="0"/>
                          </a:rPr>
                        </m:ctrlPr>
                      </m:sSubPr>
                      <m:e>
                        <m:r>
                          <a:rPr lang="en-AU" altLang="zh-CN" sz="2600" b="0" i="1" dirty="0" smtClean="0">
                            <a:latin typeface="Cambria Math" panose="02040503050406030204" pitchFamily="18" charset="0"/>
                            <a:ea typeface="Cambria Math" panose="02040503050406030204" pitchFamily="18" charset="0"/>
                          </a:rPr>
                          <m:t>𝑋</m:t>
                        </m:r>
                      </m:e>
                      <m:sub>
                        <m:r>
                          <a:rPr lang="en-AU" altLang="zh-CN" sz="2600" b="0" i="1" dirty="0" smtClean="0">
                            <a:latin typeface="Cambria Math" panose="02040503050406030204" pitchFamily="18" charset="0"/>
                            <a:ea typeface="Cambria Math" panose="02040503050406030204" pitchFamily="18" charset="0"/>
                          </a:rPr>
                          <m:t>1</m:t>
                        </m:r>
                      </m:sub>
                    </m:sSub>
                    <m:sSub>
                      <m:sSubPr>
                        <m:ctrlPr>
                          <a:rPr lang="en-AU" altLang="zh-CN" sz="2600" i="1" dirty="0">
                            <a:latin typeface="Cambria Math" panose="02040503050406030204" pitchFamily="18" charset="0"/>
                            <a:ea typeface="Cambria Math" panose="02040503050406030204" pitchFamily="18" charset="0"/>
                          </a:rPr>
                        </m:ctrlPr>
                      </m:sSubPr>
                      <m:e>
                        <m:r>
                          <a:rPr lang="en-AU" altLang="zh-CN" sz="2600" i="1" dirty="0">
                            <a:latin typeface="Cambria Math" panose="02040503050406030204" pitchFamily="18" charset="0"/>
                            <a:ea typeface="Cambria Math" panose="02040503050406030204" pitchFamily="18" charset="0"/>
                          </a:rPr>
                          <m:t>𝑋</m:t>
                        </m:r>
                      </m:e>
                      <m:sub>
                        <m:r>
                          <a:rPr lang="en-AU" altLang="zh-CN" sz="2600" b="0" i="1" dirty="0" smtClean="0">
                            <a:latin typeface="Cambria Math" panose="02040503050406030204" pitchFamily="18" charset="0"/>
                            <a:ea typeface="Cambria Math" panose="02040503050406030204" pitchFamily="18" charset="0"/>
                          </a:rPr>
                          <m:t>2</m:t>
                        </m:r>
                      </m:sub>
                    </m:sSub>
                    <m:r>
                      <a:rPr lang="en-AU" altLang="zh-CN" sz="2600" b="0" i="1" dirty="0" smtClean="0">
                        <a:latin typeface="Cambria Math" panose="02040503050406030204" pitchFamily="18" charset="0"/>
                        <a:ea typeface="Cambria Math" panose="02040503050406030204" pitchFamily="18" charset="0"/>
                      </a:rPr>
                      <m:t>…</m:t>
                    </m:r>
                    <m:sSub>
                      <m:sSubPr>
                        <m:ctrlPr>
                          <a:rPr lang="en-AU" altLang="zh-CN" sz="2600" i="1" dirty="0">
                            <a:latin typeface="Cambria Math" panose="02040503050406030204" pitchFamily="18" charset="0"/>
                            <a:ea typeface="Cambria Math" panose="02040503050406030204" pitchFamily="18" charset="0"/>
                          </a:rPr>
                        </m:ctrlPr>
                      </m:sSubPr>
                      <m:e>
                        <m:r>
                          <a:rPr lang="en-AU" altLang="zh-CN" sz="2600" i="1" dirty="0">
                            <a:latin typeface="Cambria Math" panose="02040503050406030204" pitchFamily="18" charset="0"/>
                            <a:ea typeface="Cambria Math" panose="02040503050406030204" pitchFamily="18" charset="0"/>
                          </a:rPr>
                          <m:t>𝑋</m:t>
                        </m:r>
                      </m:e>
                      <m:sub>
                        <m:r>
                          <a:rPr lang="en-US" altLang="en-AU" sz="2600" b="0" i="1" dirty="0" smtClean="0">
                            <a:latin typeface="Cambria Math" panose="02040503050406030204" pitchFamily="18" charset="0"/>
                            <a:ea typeface="Cambria Math" panose="02040503050406030204" pitchFamily="18" charset="0"/>
                          </a:rPr>
                          <m:t>𝑚</m:t>
                        </m:r>
                      </m:sub>
                    </m:sSub>
                  </m:oMath>
                </a14:m>
                <a:r>
                  <a:rPr lang="zh-CN" altLang="en-US" sz="2600" dirty="0"/>
                  <a:t> 是</a:t>
                </a:r>
                <a14:m>
                  <m:oMath xmlns:m="http://schemas.openxmlformats.org/officeDocument/2006/math">
                    <m:r>
                      <a:rPr lang="en-AU" altLang="zh-CN" sz="2600" i="1" dirty="0" smtClean="0">
                        <a:latin typeface="Cambria Math" panose="02040503050406030204" pitchFamily="18" charset="0"/>
                      </a:rPr>
                      <m:t>𝐺</m:t>
                    </m:r>
                  </m:oMath>
                </a14:m>
                <a:r>
                  <a:rPr lang="zh-CN" altLang="en-US" sz="2600" dirty="0"/>
                  <a:t>的产生式，且一定有</a:t>
                </a:r>
                <a14:m>
                  <m:oMath xmlns:m="http://schemas.openxmlformats.org/officeDocument/2006/math">
                    <m:sSub>
                      <m:sSubPr>
                        <m:ctrlPr>
                          <a:rPr lang="en-US" altLang="zh-CN" sz="2600" i="1" smtClean="0">
                            <a:latin typeface="Cambria Math" panose="02040503050406030204" pitchFamily="18" charset="0"/>
                          </a:rPr>
                        </m:ctrlPr>
                      </m:sSubPr>
                      <m:e>
                        <m:r>
                          <a:rPr lang="en-AU" altLang="zh-CN" sz="2600" b="0" i="1" smtClean="0">
                            <a:latin typeface="Cambria Math" panose="02040503050406030204" pitchFamily="18" charset="0"/>
                          </a:rPr>
                          <m:t>𝑋</m:t>
                        </m:r>
                      </m:e>
                      <m:sub>
                        <m:r>
                          <a:rPr lang="en-AU" altLang="zh-CN" sz="2600" b="0" i="1" smtClean="0">
                            <a:latin typeface="Cambria Math" panose="02040503050406030204" pitchFamily="18" charset="0"/>
                          </a:rPr>
                          <m:t>𝑖</m:t>
                        </m:r>
                      </m:sub>
                    </m:sSub>
                    <m:groupChr>
                      <m:groupChrPr>
                        <m:chr m:val="⇒"/>
                        <m:vertJc m:val="bot"/>
                        <m:ctrlPr>
                          <a:rPr lang="en-US" altLang="zh-CN" sz="2600" i="1" smtClean="0">
                            <a:latin typeface="Cambria Math" panose="02040503050406030204" pitchFamily="18" charset="0"/>
                          </a:rPr>
                        </m:ctrlPr>
                      </m:groupChrPr>
                      <m:e>
                        <m:r>
                          <m:rPr>
                            <m:brk m:alnAt="2"/>
                          </m:rPr>
                          <a:rPr lang="en-AU" altLang="zh-CN" sz="2600" b="0" i="1" smtClean="0">
                            <a:latin typeface="Cambria Math" panose="02040503050406030204" pitchFamily="18" charset="0"/>
                          </a:rPr>
                          <m:t>∗</m:t>
                        </m:r>
                      </m:e>
                    </m:groupChr>
                    <m:sSub>
                      <m:sSubPr>
                        <m:ctrlPr>
                          <a:rPr lang="en-AU" sz="2600" i="1" dirty="0">
                            <a:latin typeface="Cambria Math" panose="02040503050406030204" pitchFamily="18" charset="0"/>
                          </a:rPr>
                        </m:ctrlPr>
                      </m:sSubPr>
                      <m:e>
                        <m:r>
                          <a:rPr lang="en-AU" sz="2600" i="1" dirty="0">
                            <a:latin typeface="Cambria Math" panose="02040503050406030204" pitchFamily="18" charset="0"/>
                            <a:ea typeface="Cambria Math" panose="02040503050406030204" pitchFamily="18" charset="0"/>
                          </a:rPr>
                          <m:t>𝛼</m:t>
                        </m:r>
                      </m:e>
                      <m:sub>
                        <m:r>
                          <a:rPr lang="en-AU" sz="2600" b="0" i="1" dirty="0" smtClean="0">
                            <a:latin typeface="Cambria Math" panose="02040503050406030204" pitchFamily="18" charset="0"/>
                            <a:ea typeface="Cambria Math" panose="02040503050406030204" pitchFamily="18" charset="0"/>
                          </a:rPr>
                          <m:t>𝑖</m:t>
                        </m:r>
                      </m:sub>
                    </m:sSub>
                  </m:oMath>
                </a14:m>
                <a:r>
                  <a:rPr lang="zh-CN" altLang="en-US" sz="2600" dirty="0"/>
                  <a:t>且不超过</a:t>
                </a:r>
                <a14:m>
                  <m:oMath xmlns:m="http://schemas.openxmlformats.org/officeDocument/2006/math">
                    <m:r>
                      <a:rPr lang="en-AU" altLang="zh-CN" sz="2600" b="0" i="1" smtClean="0">
                        <a:latin typeface="Cambria Math" panose="02040503050406030204" pitchFamily="18" charset="0"/>
                      </a:rPr>
                      <m:t>𝑛</m:t>
                    </m:r>
                  </m:oMath>
                </a14:m>
                <a:r>
                  <a:rPr lang="zh-CN" altLang="en-US" sz="2600" dirty="0"/>
                  <a:t>步。由归纳假设存在一棵以</a:t>
                </a:r>
                <a14:m>
                  <m:oMath xmlns:m="http://schemas.openxmlformats.org/officeDocument/2006/math">
                    <m:sSub>
                      <m:sSubPr>
                        <m:ctrlPr>
                          <a:rPr lang="en-AU" altLang="zh-CN" sz="2600" i="1" dirty="0">
                            <a:latin typeface="Cambria Math" panose="02040503050406030204" pitchFamily="18" charset="0"/>
                            <a:ea typeface="Cambria Math" panose="02040503050406030204" pitchFamily="18" charset="0"/>
                          </a:rPr>
                        </m:ctrlPr>
                      </m:sSubPr>
                      <m:e>
                        <m:r>
                          <a:rPr lang="en-AU" altLang="zh-CN" sz="2600" i="1" dirty="0">
                            <a:latin typeface="Cambria Math" panose="02040503050406030204" pitchFamily="18" charset="0"/>
                            <a:ea typeface="Cambria Math" panose="02040503050406030204" pitchFamily="18" charset="0"/>
                          </a:rPr>
                          <m:t>𝑋</m:t>
                        </m:r>
                      </m:e>
                      <m:sub>
                        <m:r>
                          <a:rPr lang="en-AU" altLang="zh-CN" sz="2600" i="1" dirty="0">
                            <a:latin typeface="Cambria Math" panose="02040503050406030204" pitchFamily="18" charset="0"/>
                            <a:ea typeface="Cambria Math" panose="02040503050406030204" pitchFamily="18" charset="0"/>
                          </a:rPr>
                          <m:t>𝑖</m:t>
                        </m:r>
                      </m:sub>
                    </m:sSub>
                  </m:oMath>
                </a14:m>
                <a:r>
                  <a:rPr lang="zh-CN" altLang="en-US" sz="2600" dirty="0"/>
                  <a:t>为根，</a:t>
                </a:r>
                <a14:m>
                  <m:oMath xmlns:m="http://schemas.openxmlformats.org/officeDocument/2006/math">
                    <m:sSub>
                      <m:sSubPr>
                        <m:ctrlPr>
                          <a:rPr lang="en-AU" sz="2600" i="1" dirty="0">
                            <a:latin typeface="Cambria Math" panose="02040503050406030204" pitchFamily="18" charset="0"/>
                          </a:rPr>
                        </m:ctrlPr>
                      </m:sSubPr>
                      <m:e>
                        <m:r>
                          <a:rPr lang="en-AU" sz="2600" i="1" dirty="0">
                            <a:latin typeface="Cambria Math" panose="02040503050406030204" pitchFamily="18" charset="0"/>
                            <a:ea typeface="Cambria Math" panose="02040503050406030204" pitchFamily="18" charset="0"/>
                          </a:rPr>
                          <m:t>𝛼</m:t>
                        </m:r>
                      </m:e>
                      <m:sub>
                        <m:r>
                          <a:rPr lang="en-AU" sz="2600" i="1" dirty="0">
                            <a:latin typeface="Cambria Math" panose="02040503050406030204" pitchFamily="18" charset="0"/>
                            <a:ea typeface="Cambria Math" panose="02040503050406030204" pitchFamily="18" charset="0"/>
                          </a:rPr>
                          <m:t>𝑖</m:t>
                        </m:r>
                      </m:sub>
                    </m:sSub>
                  </m:oMath>
                </a14:m>
                <a:r>
                  <a:rPr lang="zh-CN" altLang="en-US" sz="2600" dirty="0"/>
                  <a:t>为产物的一个语法分析树。</a:t>
                </a:r>
                <a:endParaRPr lang="en-AU" altLang="zh-CN" sz="2600" dirty="0"/>
              </a:p>
              <a:p>
                <a:pPr marL="0" indent="0">
                  <a:buNone/>
                </a:pPr>
                <a:r>
                  <a:rPr lang="zh-CN" altLang="en-US" sz="2600" dirty="0"/>
                  <a:t>则可以构造以</a:t>
                </a:r>
                <a14:m>
                  <m:oMath xmlns:m="http://schemas.openxmlformats.org/officeDocument/2006/math">
                    <m:r>
                      <a:rPr lang="en-AU" altLang="zh-CN" sz="2600" b="0" i="1" smtClean="0">
                        <a:latin typeface="Cambria Math" panose="02040503050406030204" pitchFamily="18" charset="0"/>
                      </a:rPr>
                      <m:t>𝐴</m:t>
                    </m:r>
                  </m:oMath>
                </a14:m>
                <a:r>
                  <a:rPr lang="zh-CN" altLang="en-US" sz="2600" dirty="0"/>
                  <a:t>为根，以</a:t>
                </a:r>
                <a14:m>
                  <m:oMath xmlns:m="http://schemas.openxmlformats.org/officeDocument/2006/math">
                    <m:sSub>
                      <m:sSubPr>
                        <m:ctrlPr>
                          <a:rPr lang="en-US" altLang="zh-CN" sz="2600" i="1" smtClean="0">
                            <a:latin typeface="Cambria Math" panose="02040503050406030204" pitchFamily="18" charset="0"/>
                          </a:rPr>
                        </m:ctrlPr>
                      </m:sSubPr>
                      <m:e>
                        <m:r>
                          <a:rPr lang="en-AU" altLang="zh-CN" sz="2600" b="0" i="1" smtClean="0">
                            <a:latin typeface="Cambria Math" panose="02040503050406030204" pitchFamily="18" charset="0"/>
                          </a:rPr>
                          <m:t>𝑋</m:t>
                        </m:r>
                      </m:e>
                      <m:sub>
                        <m:r>
                          <a:rPr lang="en-AU" altLang="zh-CN" sz="2600" b="0" i="1" smtClean="0">
                            <a:latin typeface="Cambria Math" panose="02040503050406030204" pitchFamily="18" charset="0"/>
                          </a:rPr>
                          <m:t>𝑖</m:t>
                        </m:r>
                      </m:sub>
                    </m:sSub>
                  </m:oMath>
                </a14:m>
                <a:r>
                  <a:rPr lang="zh-CN" altLang="en-US" sz="2600" dirty="0"/>
                  <a:t>为子树的语法分析树，其产物刚好为</a:t>
                </a:r>
                <a14:m>
                  <m:oMath xmlns:m="http://schemas.openxmlformats.org/officeDocument/2006/math">
                    <m:r>
                      <a:rPr lang="en-AU" sz="2600" i="1" dirty="0">
                        <a:latin typeface="Cambria Math" panose="02040503050406030204" pitchFamily="18" charset="0"/>
                        <a:ea typeface="Cambria Math" panose="02040503050406030204" pitchFamily="18" charset="0"/>
                      </a:rPr>
                      <m:t>𝛼</m:t>
                    </m:r>
                  </m:oMath>
                </a14:m>
                <a:r>
                  <a:rPr lang="zh-CN" altLang="en-US" sz="2600" dirty="0"/>
                  <a:t>。</a:t>
                </a:r>
                <a:endParaRPr lang="en-AU" altLang="zh-CN" sz="2600" dirty="0"/>
              </a:p>
              <a:p>
                <a:pPr marL="0" indent="0">
                  <a:buNone/>
                </a:pPr>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72947" y="1056190"/>
                <a:ext cx="8229600" cy="4525963"/>
              </a:xfrm>
              <a:blipFill rotWithShape="1">
                <a:blip r:embed="rId1"/>
                <a:stretch>
                  <a:fillRect l="-2" t="-4" r="-2675" b="11"/>
                </a:stretch>
              </a:blipFill>
            </p:spPr>
            <p:txBody>
              <a:bodyPr/>
              <a:lstStyle/>
              <a:p>
                <a:r>
                  <a:rPr lang="zh-CN" altLang="en-US">
                    <a:noFill/>
                  </a:rPr>
                  <a:t> </a:t>
                </a:r>
              </a:p>
            </p:txBody>
          </p:sp>
        </mc:Fallback>
      </mc:AlternateContent>
      <p:pic>
        <p:nvPicPr>
          <p:cNvPr id="18" name="Picture 17"/>
          <p:cNvPicPr>
            <a:picLocks noChangeAspect="1"/>
          </p:cNvPicPr>
          <p:nvPr/>
        </p:nvPicPr>
        <p:blipFill>
          <a:blip r:embed="rId2"/>
          <a:stretch>
            <a:fillRect/>
          </a:stretch>
        </p:blipFill>
        <p:spPr>
          <a:xfrm>
            <a:off x="6158378" y="5097780"/>
            <a:ext cx="1812025" cy="1592939"/>
          </a:xfrm>
          <a:prstGeom prst="rect">
            <a:avLst/>
          </a:prstGeom>
        </p:spPr>
      </p:pic>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证明（必要性）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t>对语法分析树的内节点数</a:t>
                </a:r>
                <a14:m>
                  <m:oMath xmlns:m="http://schemas.openxmlformats.org/officeDocument/2006/math">
                    <m:r>
                      <a:rPr lang="en-AU" altLang="zh-CN" b="0" i="1" smtClean="0">
                        <a:latin typeface="Cambria Math" panose="02040503050406030204" pitchFamily="18" charset="0"/>
                      </a:rPr>
                      <m:t>𝑗</m:t>
                    </m:r>
                  </m:oMath>
                </a14:m>
                <a:r>
                  <a:rPr lang="zh-CN" altLang="en-US" dirty="0"/>
                  <a:t>归纳证明。</a:t>
                </a:r>
                <a:endParaRPr lang="en-AU" altLang="zh-CN" dirty="0"/>
              </a:p>
              <a:p>
                <a:r>
                  <a:rPr lang="zh-CN" altLang="en-US" dirty="0"/>
                  <a:t>归纳基础</a:t>
                </a:r>
                <a:r>
                  <a:rPr lang="en-AU" altLang="zh-CN" dirty="0"/>
                  <a:t>:</a:t>
                </a:r>
                <a14:m>
                  <m:oMath xmlns:m="http://schemas.openxmlformats.org/officeDocument/2006/math">
                    <m:r>
                      <a:rPr lang="en-AU" altLang="zh-CN" b="0" i="1" smtClean="0">
                        <a:latin typeface="Cambria Math" panose="02040503050406030204" pitchFamily="18" charset="0"/>
                      </a:rPr>
                      <m:t>𝑗</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oMath>
                </a14:m>
                <a:r>
                  <a:rPr lang="zh-CN" altLang="en-US" dirty="0"/>
                  <a:t>时，即只有一个内节点，那么一定是根节点</a:t>
                </a:r>
                <a14:m>
                  <m:oMath xmlns:m="http://schemas.openxmlformats.org/officeDocument/2006/math">
                    <m:r>
                      <a:rPr lang="en-US" altLang="zh-CN" i="1" dirty="0" smtClean="0">
                        <a:latin typeface="Cambria Math" panose="02040503050406030204" pitchFamily="18" charset="0"/>
                      </a:rPr>
                      <m:t>𝐴</m:t>
                    </m:r>
                  </m:oMath>
                </a14:m>
                <a:r>
                  <a:rPr lang="en-AU" altLang="zh-CN" dirty="0"/>
                  <a:t>,</a:t>
                </a:r>
                <a:r>
                  <a:rPr lang="zh-CN" altLang="en-US" dirty="0"/>
                  <a:t>产物为</a:t>
                </a:r>
                <a14:m>
                  <m:oMath xmlns:m="http://schemas.openxmlformats.org/officeDocument/2006/math">
                    <m:r>
                      <a:rPr lang="zh-CN" altLang="en-AU" i="1" dirty="0">
                        <a:latin typeface="Cambria Math" panose="02040503050406030204" pitchFamily="18" charset="0"/>
                      </a:rPr>
                      <m:t>𝛼</m:t>
                    </m:r>
                  </m:oMath>
                </a14:m>
                <a:r>
                  <a:rPr lang="zh-CN" altLang="en-US" dirty="0"/>
                  <a:t>，则有</a:t>
                </a:r>
                <a14:m>
                  <m:oMath xmlns:m="http://schemas.openxmlformats.org/officeDocument/2006/math">
                    <m:r>
                      <a:rPr lang="en-AU" altLang="zh-CN" i="1" dirty="0">
                        <a:latin typeface="Cambria Math" panose="02040503050406030204" pitchFamily="18" charset="0"/>
                      </a:rPr>
                      <m:t>𝐴</m:t>
                    </m:r>
                    <m:r>
                      <a:rPr lang="en-AU" altLang="zh-CN" i="1" dirty="0">
                        <a:latin typeface="Cambria Math" panose="02040503050406030204" pitchFamily="18" charset="0"/>
                      </a:rPr>
                      <m:t>→</m:t>
                    </m:r>
                    <m:r>
                      <a:rPr lang="zh-CN" altLang="en-AU" i="1" dirty="0" smtClean="0">
                        <a:latin typeface="Cambria Math" panose="02040503050406030204" pitchFamily="18" charset="0"/>
                      </a:rPr>
                      <m:t>𝛼</m:t>
                    </m:r>
                    <m:r>
                      <a:rPr lang="en-AU" altLang="zh-CN" i="1">
                        <a:latin typeface="Cambria Math" panose="02040503050406030204" pitchFamily="18" charset="0"/>
                        <a:ea typeface="Cambria Math" panose="02040503050406030204" pitchFamily="18" charset="0"/>
                      </a:rPr>
                      <m:t>∈</m:t>
                    </m:r>
                    <m:r>
                      <a:rPr lang="en-AU" altLang="zh-CN" i="1">
                        <a:latin typeface="Cambria Math" panose="02040503050406030204" pitchFamily="18" charset="0"/>
                        <a:ea typeface="Cambria Math" panose="02040503050406030204" pitchFamily="18" charset="0"/>
                      </a:rPr>
                      <m:t>𝑃</m:t>
                    </m:r>
                  </m:oMath>
                </a14:m>
                <a:r>
                  <a:rPr lang="zh-CN" altLang="en-US" dirty="0"/>
                  <a:t>，那么</a:t>
                </a:r>
                <a14:m>
                  <m:oMath xmlns:m="http://schemas.openxmlformats.org/officeDocument/2006/math">
                    <m:r>
                      <a:rPr lang="en-AU" altLang="zh-CN" b="0" i="1" smtClean="0">
                        <a:latin typeface="Cambria Math" panose="02040503050406030204" pitchFamily="18" charset="0"/>
                      </a:rPr>
                      <m:t>𝐴</m:t>
                    </m:r>
                    <m:groupChr>
                      <m:groupChrPr>
                        <m:chr m:val="⇒"/>
                        <m:vertJc m:val="bot"/>
                        <m:ctrlPr>
                          <a:rPr lang="en-AU" altLang="zh-CN" b="0" i="1" smtClean="0">
                            <a:latin typeface="Cambria Math" panose="02040503050406030204" pitchFamily="18" charset="0"/>
                          </a:rPr>
                        </m:ctrlPr>
                      </m:groupChrPr>
                      <m:e>
                        <m:r>
                          <m:rPr>
                            <m:brk m:alnAt="2"/>
                          </m:rPr>
                          <a:rPr lang="en-AU" altLang="zh-CN" b="0" i="1" smtClean="0">
                            <a:latin typeface="Cambria Math" panose="02040503050406030204" pitchFamily="18" charset="0"/>
                          </a:rPr>
                          <m:t>∗</m:t>
                        </m:r>
                      </m:e>
                    </m:groupChr>
                    <m:r>
                      <a:rPr lang="zh-CN" altLang="en-AU" b="0" i="1" smtClean="0">
                        <a:latin typeface="Cambria Math" panose="02040503050406030204" pitchFamily="18" charset="0"/>
                      </a:rPr>
                      <m:t>𝛼</m:t>
                    </m:r>
                  </m:oMath>
                </a14:m>
                <a:r>
                  <a:rPr lang="zh-CN" altLang="en-US" dirty="0"/>
                  <a:t>。</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证明（必要性）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044615"/>
                <a:ext cx="8229600" cy="4525963"/>
              </a:xfrm>
            </p:spPr>
            <p:txBody>
              <a:bodyPr>
                <a:normAutofit/>
              </a:bodyPr>
              <a:lstStyle/>
              <a:p>
                <a:r>
                  <a:rPr lang="zh-CN" altLang="en-US" dirty="0"/>
                  <a:t>归纳递推</a:t>
                </a:r>
                <a:r>
                  <a:rPr lang="en-AU" altLang="zh-CN" dirty="0"/>
                  <a:t>:</a:t>
                </a:r>
                <a:r>
                  <a:rPr lang="zh-CN" altLang="en-US" dirty="0"/>
                  <a:t>假设</a:t>
                </a:r>
                <a14:m>
                  <m:oMath xmlns:m="http://schemas.openxmlformats.org/officeDocument/2006/math">
                    <m:r>
                      <a:rPr lang="en-AU" altLang="zh-CN" b="0" i="1" smtClean="0">
                        <a:latin typeface="Cambria Math" panose="02040503050406030204" pitchFamily="18" charset="0"/>
                      </a:rPr>
                      <m:t>𝑗</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𝑛</m:t>
                    </m:r>
                  </m:oMath>
                </a14:m>
                <a:r>
                  <a:rPr lang="zh-CN" altLang="en-US" dirty="0"/>
                  <a:t>时命题成立</a:t>
                </a:r>
                <a:r>
                  <a:rPr lang="en-AU" altLang="zh-CN" dirty="0"/>
                  <a:t>.</a:t>
                </a:r>
                <a:r>
                  <a:rPr lang="zh-CN" altLang="en-US" dirty="0"/>
                  <a:t>当</a:t>
                </a:r>
                <a14:m>
                  <m:oMath xmlns:m="http://schemas.openxmlformats.org/officeDocument/2006/math">
                    <m:r>
                      <a:rPr lang="en-AU" altLang="zh-CN" b="0" i="1" smtClean="0">
                        <a:latin typeface="Cambria Math" panose="02040503050406030204" pitchFamily="18" charset="0"/>
                      </a:rPr>
                      <m:t>𝑗</m:t>
                    </m:r>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oMath>
                </a14:m>
                <a:r>
                  <a:rPr lang="zh-CN" altLang="en-US" dirty="0"/>
                  <a:t>时，根节点的子节点为</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𝑋</m:t>
                        </m:r>
                      </m:e>
                      <m:sub>
                        <m:r>
                          <a:rPr lang="en-AU" altLang="zh-CN" b="0" i="1" smtClean="0">
                            <a:latin typeface="Cambria Math" panose="02040503050406030204" pitchFamily="18" charset="0"/>
                          </a:rPr>
                          <m:t>1</m:t>
                        </m:r>
                      </m:sub>
                    </m:sSub>
                  </m:oMath>
                </a14:m>
                <a:r>
                  <a:rPr lang="en-AU"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2</m:t>
                        </m:r>
                      </m:sub>
                    </m:sSub>
                  </m:oMath>
                </a14:m>
                <a:r>
                  <a:rPr lang="en-AU"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𝑚</m:t>
                        </m:r>
                      </m:sub>
                    </m:sSub>
                  </m:oMath>
                </a14:m>
                <a:r>
                  <a:rPr lang="zh-CN" altLang="en-US" dirty="0"/>
                  <a:t>，则</a:t>
                </a:r>
                <a:endParaRPr lang="en-AU" altLang="zh-CN" dirty="0"/>
              </a:p>
              <a:p>
                <a:pPr marL="0" indent="0" algn="ctr">
                  <a:buNone/>
                </a:pPr>
                <a14:m>
                  <m:oMath xmlns:m="http://schemas.openxmlformats.org/officeDocument/2006/math">
                    <m:r>
                      <a:rPr lang="en-AU" altLang="zh-CN" b="0" i="1" dirty="0" smtClean="0">
                        <a:latin typeface="Cambria Math" panose="02040503050406030204" pitchFamily="18" charset="0"/>
                      </a:rPr>
                      <m:t>𝐴</m:t>
                    </m:r>
                    <m:r>
                      <a:rPr lang="en-AU" altLang="zh-CN" b="0" i="1" dirty="0" smtClean="0">
                        <a:latin typeface="Cambria Math" panose="02040503050406030204" pitchFamily="18" charset="0"/>
                      </a:rPr>
                      <m:t>→</m:t>
                    </m:r>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𝑚</m:t>
                        </m:r>
                      </m:sub>
                    </m:sSub>
                    <m:r>
                      <a:rPr lang="en-AU" altLang="zh-CN"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𝑃</m:t>
                    </m:r>
                  </m:oMath>
                </a14:m>
                <a:r>
                  <a:rPr lang="zh-CN" altLang="en-US" dirty="0"/>
                  <a:t>，且</a:t>
                </a:r>
                <a14:m>
                  <m:oMath xmlns:m="http://schemas.openxmlformats.org/officeDocument/2006/math">
                    <m:r>
                      <a:rPr lang="en-AU" altLang="zh-CN" i="1" dirty="0">
                        <a:latin typeface="Cambria Math" panose="02040503050406030204" pitchFamily="18" charset="0"/>
                      </a:rPr>
                      <m:t>𝐴</m:t>
                    </m:r>
                    <m:r>
                      <a:rPr lang="en-AU" altLang="zh-CN" i="1" dirty="0"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𝑚</m:t>
                        </m:r>
                      </m:sub>
                    </m:sSub>
                  </m:oMath>
                </a14:m>
                <a:endParaRPr lang="en-AU" altLang="zh-CN" dirty="0"/>
              </a:p>
              <a:p>
                <a:pPr marL="0" indent="0">
                  <a:buNone/>
                </a:pPr>
                <a:r>
                  <a:rPr lang="zh-CN" altLang="en-US" dirty="0"/>
                  <a:t>而</a:t>
                </a:r>
                <a14:m>
                  <m:oMath xmlns:m="http://schemas.openxmlformats.org/officeDocument/2006/math">
                    <m:sSub>
                      <m:sSubPr>
                        <m:ctrlPr>
                          <a:rPr lang="en-US" altLang="zh-CN" i="1" smtClean="0">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𝑖</m:t>
                        </m:r>
                      </m:sub>
                    </m:sSub>
                  </m:oMath>
                </a14:m>
                <a:r>
                  <a:rPr lang="zh-CN" altLang="en-US" dirty="0"/>
                  <a:t>子树（或叶子）内节点数都不超过</a:t>
                </a:r>
                <a14:m>
                  <m:oMath xmlns:m="http://schemas.openxmlformats.org/officeDocument/2006/math">
                    <m:r>
                      <a:rPr lang="en-AU" altLang="zh-CN" b="0" i="1" smtClean="0">
                        <a:latin typeface="Cambria Math" panose="02040503050406030204" pitchFamily="18" charset="0"/>
                      </a:rPr>
                      <m:t>𝑛</m:t>
                    </m:r>
                  </m:oMath>
                </a14:m>
                <a:r>
                  <a:rPr lang="en-AU" altLang="zh-CN" dirty="0"/>
                  <a:t>,</a:t>
                </a:r>
                <a:r>
                  <a:rPr lang="zh-CN" altLang="en-US" dirty="0"/>
                  <a:t>由归纳假设有</a:t>
                </a:r>
                <a:endParaRPr lang="en-AU" altLang="zh-CN" dirty="0"/>
              </a:p>
              <a:p>
                <a:pPr marL="0" indent="0" algn="ctr">
                  <a:buNone/>
                </a:pP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𝑋</m:t>
                        </m:r>
                      </m:e>
                      <m:sub>
                        <m:r>
                          <a:rPr lang="en-AU" altLang="zh-CN" b="0" i="1" smtClean="0">
                            <a:latin typeface="Cambria Math" panose="02040503050406030204" pitchFamily="18" charset="0"/>
                          </a:rPr>
                          <m:t>𝑖</m:t>
                        </m:r>
                      </m:sub>
                    </m:sSub>
                    <m:groupChr>
                      <m:groupChrPr>
                        <m:chr m:val="⇒"/>
                        <m:vertJc m:val="bot"/>
                        <m:ctrlPr>
                          <a:rPr lang="en-US" altLang="zh-CN" i="1" smtClean="0">
                            <a:latin typeface="Cambria Math" panose="02040503050406030204" pitchFamily="18" charset="0"/>
                          </a:rPr>
                        </m:ctrlPr>
                      </m:groupChrPr>
                      <m:e>
                        <m:r>
                          <m:rPr>
                            <m:brk m:alnAt="2"/>
                          </m:rPr>
                          <a:rPr lang="en-AU" altLang="zh-CN" b="0" i="1" smtClean="0">
                            <a:latin typeface="Cambria Math" panose="02040503050406030204" pitchFamily="18" charset="0"/>
                          </a:rPr>
                          <m:t>∗</m:t>
                        </m:r>
                      </m:e>
                    </m:groupChr>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𝛼</m:t>
                        </m:r>
                      </m:e>
                      <m:sub>
                        <m:r>
                          <a:rPr lang="en-AU" altLang="zh-CN" b="0" i="1" smtClean="0">
                            <a:latin typeface="Cambria Math" panose="02040503050406030204" pitchFamily="18" charset="0"/>
                          </a:rPr>
                          <m:t>𝑖</m:t>
                        </m:r>
                      </m:sub>
                    </m:sSub>
                  </m:oMath>
                </a14:m>
                <a:r>
                  <a:rPr lang="en-AU" altLang="zh-CN" dirty="0"/>
                  <a:t>,</a:t>
                </a:r>
                <a:endParaRPr lang="en-AU" altLang="zh-CN" dirty="0"/>
              </a:p>
              <a:p>
                <a:pPr marL="0" indent="0">
                  <a:buNone/>
                </a:pPr>
                <a:r>
                  <a:rPr lang="zh-CN" altLang="en-US" dirty="0"/>
                  <a:t>从左至右连接</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𝛼</m:t>
                        </m:r>
                      </m:e>
                      <m:sub>
                        <m:r>
                          <a:rPr lang="en-AU" altLang="zh-CN" b="0" i="1" smtClean="0">
                            <a:latin typeface="Cambria Math" panose="02040503050406030204" pitchFamily="18" charset="0"/>
                          </a:rPr>
                          <m:t>𝑖</m:t>
                        </m:r>
                      </m:sub>
                    </m:sSub>
                  </m:oMath>
                </a14:m>
                <a:r>
                  <a:rPr lang="zh-CN" altLang="en-US" dirty="0"/>
                  <a:t>，刚好为树的产物</a:t>
                </a:r>
                <a14:m>
                  <m:oMath xmlns:m="http://schemas.openxmlformats.org/officeDocument/2006/math">
                    <m:r>
                      <a:rPr lang="zh-CN" altLang="en-US" i="1" smtClean="0">
                        <a:latin typeface="Cambria Math" panose="02040503050406030204" pitchFamily="18" charset="0"/>
                      </a:rPr>
                      <m:t>𝛼</m:t>
                    </m:r>
                  </m:oMath>
                </a14:m>
                <a:r>
                  <a:rPr lang="zh-CN" altLang="en-US" dirty="0"/>
                  <a:t>，所以有</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044615"/>
                <a:ext cx="8229600" cy="4525963"/>
              </a:xfrm>
              <a:blipFill rotWithShape="1">
                <a:blip r:embed="rId1"/>
                <a:stretch>
                  <a:fillRect t="-1"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nvSpPr>
            <p:spPr>
              <a:xfrm>
                <a:off x="1029308" y="4999900"/>
                <a:ext cx="7542584" cy="551882"/>
              </a:xfrm>
              <a:prstGeom prst="rect">
                <a:avLst/>
              </a:prstGeom>
              <a:noFill/>
            </p:spPr>
            <p:txBody>
              <a:bodyPr wrap="squar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AU" altLang="zh-CN" sz="2400" b="0" i="1" smtClean="0">
                            <a:latin typeface="Cambria Math" panose="02040503050406030204" pitchFamily="18" charset="0"/>
                          </a:rPr>
                          <m:t>𝑋</m:t>
                        </m:r>
                      </m:e>
                      <m:sub>
                        <m:r>
                          <a:rPr lang="en-AU"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𝑋</m:t>
                        </m:r>
                      </m:e>
                      <m:sub>
                        <m:r>
                          <a:rPr lang="en-AU" altLang="zh-CN" sz="2400" b="0" i="1" smtClean="0">
                            <a:latin typeface="Cambria Math" panose="02040503050406030204" pitchFamily="18" charset="0"/>
                          </a:rPr>
                          <m:t>2</m:t>
                        </m:r>
                      </m:sub>
                    </m:sSub>
                    <m:sSub>
                      <m:sSubPr>
                        <m:ctrlPr>
                          <a:rPr lang="en-US" altLang="zh-CN" sz="2400" i="1">
                            <a:latin typeface="Cambria Math" panose="02040503050406030204" pitchFamily="18" charset="0"/>
                          </a:rPr>
                        </m:ctrlPr>
                      </m:sSubPr>
                      <m:e>
                        <m:r>
                          <a:rPr lang="en-AU" altLang="zh-CN" sz="2400" i="1">
                            <a:latin typeface="Cambria Math" panose="02040503050406030204" pitchFamily="18" charset="0"/>
                            <a:ea typeface="Cambria Math" panose="02040503050406030204" pitchFamily="18" charset="0"/>
                          </a:rPr>
                          <m:t>⋯</m:t>
                        </m:r>
                        <m:r>
                          <a:rPr lang="en-AU" altLang="zh-CN" sz="2400" i="1">
                            <a:latin typeface="Cambria Math" panose="02040503050406030204" pitchFamily="18" charset="0"/>
                          </a:rPr>
                          <m:t>𝑋</m:t>
                        </m:r>
                      </m:e>
                      <m:sub>
                        <m:r>
                          <a:rPr lang="en-AU" altLang="zh-CN" sz="2400" b="0" i="1" smtClean="0">
                            <a:latin typeface="Cambria Math" panose="02040503050406030204" pitchFamily="18" charset="0"/>
                          </a:rPr>
                          <m:t>𝑚</m:t>
                        </m:r>
                      </m:sub>
                    </m:sSub>
                    <m:groupChr>
                      <m:groupChrPr>
                        <m:chr m:val="⇒"/>
                        <m:vertJc m:val="bot"/>
                        <m:ctrlPr>
                          <a:rPr lang="en-US" altLang="zh-CN" sz="2400" i="1" smtClean="0">
                            <a:latin typeface="Cambria Math" panose="02040503050406030204" pitchFamily="18" charset="0"/>
                          </a:rPr>
                        </m:ctrlPr>
                      </m:groupChrPr>
                      <m:e>
                        <m:r>
                          <m:rPr>
                            <m:brk m:alnAt="2"/>
                          </m:rPr>
                          <a:rPr lang="en-AU" altLang="zh-CN" sz="2400" b="0" i="1" smtClean="0">
                            <a:latin typeface="Cambria Math" panose="02040503050406030204" pitchFamily="18" charset="0"/>
                          </a:rPr>
                          <m:t>∗</m:t>
                        </m:r>
                      </m:e>
                    </m:groupChr>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𝛼</m:t>
                        </m:r>
                      </m:e>
                      <m:sub>
                        <m:r>
                          <a:rPr lang="en-AU" altLang="zh-CN" sz="2400" b="0" i="1" smtClean="0">
                            <a:latin typeface="Cambria Math" panose="02040503050406030204" pitchFamily="18" charset="0"/>
                          </a:rPr>
                          <m:t>𝑖</m:t>
                        </m:r>
                      </m:sub>
                    </m:sSub>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𝑋</m:t>
                        </m:r>
                      </m:e>
                      <m:sub>
                        <m:r>
                          <a:rPr lang="en-AU" altLang="zh-CN" sz="2400" b="0" i="1" smtClean="0">
                            <a:latin typeface="Cambria Math" panose="02040503050406030204" pitchFamily="18" charset="0"/>
                          </a:rPr>
                          <m:t>2</m:t>
                        </m:r>
                      </m:sub>
                    </m:sSub>
                    <m:r>
                      <a:rPr lang="en-AU"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AU" altLang="zh-CN" sz="2400" i="1">
                            <a:latin typeface="Cambria Math" panose="02040503050406030204" pitchFamily="18" charset="0"/>
                          </a:rPr>
                          <m:t>𝑋</m:t>
                        </m:r>
                      </m:e>
                      <m:sub>
                        <m:r>
                          <a:rPr lang="en-AU" altLang="zh-CN" sz="2400" b="0" i="1" smtClean="0">
                            <a:latin typeface="Cambria Math" panose="02040503050406030204" pitchFamily="18" charset="0"/>
                          </a:rPr>
                          <m:t>𝑚</m:t>
                        </m:r>
                      </m:sub>
                    </m:sSub>
                    <m:groupChr>
                      <m:groupChrPr>
                        <m:chr m:val="⇒"/>
                        <m:vertJc m:val="bot"/>
                        <m:ctrlPr>
                          <a:rPr lang="en-US" altLang="zh-CN" sz="2400" i="1">
                            <a:latin typeface="Cambria Math" panose="02040503050406030204" pitchFamily="18" charset="0"/>
                          </a:rPr>
                        </m:ctrlPr>
                      </m:groupChrPr>
                      <m:e>
                        <m:r>
                          <m:rPr>
                            <m:brk m:alnAt="2"/>
                          </m:rPr>
                          <a:rPr lang="en-AU" altLang="zh-CN" sz="2400" i="1">
                            <a:latin typeface="Cambria Math" panose="02040503050406030204" pitchFamily="18" charset="0"/>
                          </a:rPr>
                          <m:t>∗</m:t>
                        </m:r>
                      </m:e>
                    </m:groupChr>
                    <m:r>
                      <a:rPr lang="en-AU" altLang="zh-CN" sz="2400" i="1" smtClean="0">
                        <a:latin typeface="Cambria Math" panose="02040503050406030204" pitchFamily="18" charset="0"/>
                        <a:ea typeface="Cambria Math" panose="02040503050406030204" pitchFamily="18" charset="0"/>
                      </a:rPr>
                      <m:t>⋯</m:t>
                    </m:r>
                  </m:oMath>
                </a14:m>
                <a:r>
                  <a:rPr lang="en-US" altLang="zh-CN" sz="2400" dirty="0"/>
                  <a:t> </a:t>
                </a:r>
                <a14:m>
                  <m:oMath xmlns:m="http://schemas.openxmlformats.org/officeDocument/2006/math">
                    <m:groupChr>
                      <m:groupChrPr>
                        <m:chr m:val="⇒"/>
                        <m:vertJc m:val="bot"/>
                        <m:ctrlPr>
                          <a:rPr lang="en-US" altLang="zh-CN" sz="2400" i="1">
                            <a:latin typeface="Cambria Math" panose="02040503050406030204" pitchFamily="18" charset="0"/>
                          </a:rPr>
                        </m:ctrlPr>
                      </m:groupChrPr>
                      <m:e>
                        <m:r>
                          <m:rPr>
                            <m:brk m:alnAt="2"/>
                          </m:rPr>
                          <a:rPr lang="en-AU" altLang="zh-CN" sz="2400" i="1">
                            <a:latin typeface="Cambria Math" panose="02040503050406030204" pitchFamily="18" charset="0"/>
                          </a:rPr>
                          <m:t>∗</m:t>
                        </m:r>
                      </m:e>
                    </m:groupCh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𝛼</m:t>
                        </m:r>
                      </m:e>
                      <m:sub>
                        <m:r>
                          <a:rPr lang="en-AU" altLang="zh-CN" sz="2400" b="0" i="1" smtClean="0">
                            <a:latin typeface="Cambria Math" panose="02040503050406030204" pitchFamily="18" charset="0"/>
                          </a:rPr>
                          <m:t>1</m:t>
                        </m:r>
                      </m:sub>
                    </m:sSub>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𝛼</m:t>
                        </m:r>
                      </m:e>
                      <m:sub>
                        <m:r>
                          <a:rPr lang="en-AU" altLang="zh-CN" sz="2400" b="0" i="1" smtClean="0">
                            <a:latin typeface="Cambria Math" panose="02040503050406030204" pitchFamily="18" charset="0"/>
                          </a:rPr>
                          <m:t>2</m:t>
                        </m:r>
                      </m:sub>
                    </m:sSub>
                    <m:r>
                      <a:rPr lang="en-AU" altLang="zh-CN" sz="2400" i="1" smtClean="0">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𝛼</m:t>
                        </m:r>
                      </m:e>
                      <m:sub>
                        <m:r>
                          <a:rPr lang="en-AU" altLang="zh-CN" sz="2400" b="0" i="1" smtClean="0">
                            <a:latin typeface="Cambria Math" panose="02040503050406030204" pitchFamily="18" charset="0"/>
                          </a:rPr>
                          <m:t>𝑚</m:t>
                        </m:r>
                      </m:sub>
                    </m:sSub>
                    <m:r>
                      <a:rPr lang="en-AU" altLang="zh-CN" sz="2400" b="0" i="1" smtClean="0">
                        <a:latin typeface="Cambria Math" panose="02040503050406030204" pitchFamily="18" charset="0"/>
                      </a:rPr>
                      <m:t>=</m:t>
                    </m:r>
                    <m:r>
                      <a:rPr lang="zh-CN" altLang="en-US" sz="2400" i="1">
                        <a:latin typeface="Cambria Math" panose="02040503050406030204" pitchFamily="18" charset="0"/>
                      </a:rPr>
                      <m:t>𝛼</m:t>
                    </m:r>
                  </m:oMath>
                </a14:m>
                <a:endParaRPr lang="en-AU" sz="2400" dirty="0"/>
              </a:p>
            </p:txBody>
          </p:sp>
        </mc:Choice>
        <mc:Fallback>
          <p:sp>
            <p:nvSpPr>
              <p:cNvPr id="5" name="TextBox 4"/>
              <p:cNvSpPr txBox="1">
                <a:spLocks noRot="1" noChangeAspect="1" noMove="1" noResize="1" noEditPoints="1" noAdjustHandles="1" noChangeArrowheads="1" noChangeShapeType="1" noTextEdit="1"/>
              </p:cNvSpPr>
              <p:nvPr/>
            </p:nvSpPr>
            <p:spPr>
              <a:xfrm>
                <a:off x="1029308" y="4999900"/>
                <a:ext cx="7542584" cy="551882"/>
              </a:xfrm>
              <a:prstGeom prst="rect">
                <a:avLst/>
              </a:prstGeom>
              <a:blipFill rotWithShape="1">
                <a:blip r:embed="rId2"/>
                <a:stretch>
                  <a:fillRect l="-8" t="-99" b="1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唯一最左（右）派生</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299258"/>
                <a:ext cx="8229600" cy="4525963"/>
              </a:xfrm>
            </p:spPr>
            <p:txBody>
              <a:bodyPr>
                <a:normAutofit/>
              </a:bodyPr>
              <a:lstStyle/>
              <a:p>
                <a:r>
                  <a:rPr lang="zh-CN" altLang="en-US" dirty="0"/>
                  <a:t>每棵语法分析树都有唯一的最左（右）派生</a:t>
                </a:r>
                <a:endParaRPr lang="en-AU" altLang="zh-CN" dirty="0"/>
              </a:p>
              <a:p>
                <a:r>
                  <a:rPr lang="zh-CN" altLang="en-US" dirty="0"/>
                  <a:t>给定</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𝑉</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𝑇</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oMath>
                </a14:m>
                <a:r>
                  <a:rPr lang="en-AU" altLang="zh-CN" dirty="0"/>
                  <a:t>,</a:t>
                </a:r>
                <a14:m>
                  <m:oMath xmlns:m="http://schemas.openxmlformats.org/officeDocument/2006/math">
                    <m:r>
                      <a:rPr lang="en-AU" altLang="zh-CN" b="0" i="1" smtClean="0">
                        <a:latin typeface="Cambria Math" panose="02040503050406030204" pitchFamily="18" charset="0"/>
                      </a:rPr>
                      <m:t>𝐴</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𝑉</m:t>
                    </m:r>
                  </m:oMath>
                </a14:m>
                <a:r>
                  <a:rPr lang="zh-CN" altLang="en-US" dirty="0"/>
                  <a:t>，以下命题等价</a:t>
                </a:r>
                <a:r>
                  <a:rPr lang="en-AU" altLang="zh-CN" dirty="0"/>
                  <a:t>:</a:t>
                </a:r>
                <a:endParaRPr lang="en-AU" altLang="zh-CN" dirty="0"/>
              </a:p>
              <a:p>
                <a:pPr lvl="1"/>
                <a:r>
                  <a:rPr lang="zh-CN" altLang="en-US" dirty="0"/>
                  <a:t>通过递归推理，确定串</a:t>
                </a:r>
                <a14:m>
                  <m:oMath xmlns:m="http://schemas.openxmlformats.org/officeDocument/2006/math">
                    <m:r>
                      <a:rPr lang="en-AU" altLang="zh-CN" b="0" i="1" smtClean="0">
                        <a:latin typeface="Cambria Math" panose="02040503050406030204" pitchFamily="18" charset="0"/>
                      </a:rPr>
                      <m:t>𝑤</m:t>
                    </m:r>
                  </m:oMath>
                </a14:m>
                <a:r>
                  <a:rPr lang="zh-CN" altLang="en-US" dirty="0"/>
                  <a:t>在变元</a:t>
                </a:r>
                <a14:m>
                  <m:oMath xmlns:m="http://schemas.openxmlformats.org/officeDocument/2006/math">
                    <m:r>
                      <a:rPr lang="en-AU" altLang="zh-CN" b="0" i="1" smtClean="0">
                        <a:latin typeface="Cambria Math" panose="02040503050406030204" pitchFamily="18" charset="0"/>
                      </a:rPr>
                      <m:t>𝐴</m:t>
                    </m:r>
                  </m:oMath>
                </a14:m>
                <a:r>
                  <a:rPr lang="zh-CN" altLang="en-US" dirty="0"/>
                  <a:t>的语言中</a:t>
                </a:r>
                <a:endParaRPr lang="en-AU" altLang="zh-CN" dirty="0"/>
              </a:p>
              <a:p>
                <a:pPr lvl="1"/>
                <a:r>
                  <a:rPr lang="zh-CN" altLang="en-US" dirty="0"/>
                  <a:t>存在以</a:t>
                </a:r>
                <a14:m>
                  <m:oMath xmlns:m="http://schemas.openxmlformats.org/officeDocument/2006/math">
                    <m:r>
                      <a:rPr lang="en-AU" altLang="zh-CN" b="0" i="1" dirty="0" smtClean="0">
                        <a:latin typeface="Cambria Math" panose="02040503050406030204" pitchFamily="18" charset="0"/>
                      </a:rPr>
                      <m:t>𝐴</m:t>
                    </m:r>
                  </m:oMath>
                </a14:m>
                <a:r>
                  <a:rPr lang="zh-CN" altLang="en-US" dirty="0"/>
                  <a:t>为根节点，产物为</a:t>
                </a:r>
                <a14:m>
                  <m:oMath xmlns:m="http://schemas.openxmlformats.org/officeDocument/2006/math">
                    <m:r>
                      <a:rPr lang="en-AU" altLang="zh-CN" b="0" i="1" smtClean="0">
                        <a:latin typeface="Cambria Math" panose="02040503050406030204" pitchFamily="18" charset="0"/>
                      </a:rPr>
                      <m:t>𝑤</m:t>
                    </m:r>
                  </m:oMath>
                </a14:m>
                <a:r>
                  <a:rPr lang="zh-CN" altLang="en-US" dirty="0"/>
                  <a:t>的语法分析树</a:t>
                </a:r>
                <a:endParaRPr lang="en-AU" altLang="zh-CN" dirty="0"/>
              </a:p>
              <a:p>
                <a:pPr lvl="1"/>
                <a14:m>
                  <m:oMath xmlns:m="http://schemas.openxmlformats.org/officeDocument/2006/math">
                    <m:r>
                      <a:rPr lang="en-AU" altLang="zh-CN" b="0" i="1" smtClean="0">
                        <a:latin typeface="Cambria Math" panose="02040503050406030204" pitchFamily="18" charset="0"/>
                      </a:rPr>
                      <m:t>𝐴</m:t>
                    </m:r>
                    <m:groupChr>
                      <m:groupChrPr>
                        <m:chr m:val="⇒"/>
                        <m:vertJc m:val="bot"/>
                        <m:ctrlPr>
                          <a:rPr lang="en-AU" altLang="zh-CN" b="0" i="1" smtClean="0">
                            <a:latin typeface="Cambria Math" panose="02040503050406030204" pitchFamily="18" charset="0"/>
                          </a:rPr>
                        </m:ctrlPr>
                      </m:groupChrPr>
                      <m:e>
                        <m:r>
                          <m:rPr>
                            <m:brk m:alnAt="2"/>
                          </m:rPr>
                          <a:rPr lang="en-AU" altLang="zh-CN" b="0" i="1" smtClean="0">
                            <a:latin typeface="Cambria Math" panose="02040503050406030204" pitchFamily="18" charset="0"/>
                          </a:rPr>
                          <m:t>∗</m:t>
                        </m:r>
                      </m:e>
                    </m:groupChr>
                    <m:r>
                      <a:rPr lang="en-AU" altLang="zh-CN" b="0" i="1" smtClean="0">
                        <a:latin typeface="Cambria Math" panose="02040503050406030204" pitchFamily="18" charset="0"/>
                      </a:rPr>
                      <m:t>𝑤</m:t>
                    </m:r>
                  </m:oMath>
                </a14:m>
                <a:endParaRPr lang="en-AU" altLang="zh-CN" b="0" dirty="0"/>
              </a:p>
              <a:p>
                <a:pPr lvl="1"/>
                <a14:m>
                  <m:oMath xmlns:m="http://schemas.openxmlformats.org/officeDocument/2006/math">
                    <m:r>
                      <a:rPr lang="en-AU" altLang="zh-CN" b="0" i="1" smtClean="0">
                        <a:latin typeface="Cambria Math" panose="02040503050406030204" pitchFamily="18" charset="0"/>
                      </a:rPr>
                      <m:t>𝐴</m:t>
                    </m:r>
                    <m:groupChr>
                      <m:groupChrPr>
                        <m:chr m:val="⇒"/>
                        <m:pos m:val="top"/>
                        <m:ctrlPr>
                          <a:rPr lang="en-AU" altLang="zh-CN" b="0" i="1" smtClean="0">
                            <a:latin typeface="Cambria Math" panose="02040503050406030204" pitchFamily="18" charset="0"/>
                          </a:rPr>
                        </m:ctrlPr>
                      </m:groupChrPr>
                      <m:e>
                        <m:r>
                          <m:rPr>
                            <m:brk m:alnAt="1"/>
                          </m:rPr>
                          <a:rPr lang="en-AU" altLang="zh-CN" b="0" i="1" smtClean="0">
                            <a:latin typeface="Cambria Math" panose="02040503050406030204" pitchFamily="18" charset="0"/>
                          </a:rPr>
                          <m:t>𝑙</m:t>
                        </m:r>
                        <m:r>
                          <a:rPr lang="en-AU" altLang="zh-CN" b="0" i="1" smtClean="0">
                            <a:latin typeface="Cambria Math" panose="02040503050406030204" pitchFamily="18" charset="0"/>
                          </a:rPr>
                          <m:t>𝑚</m:t>
                        </m:r>
                      </m:e>
                    </m:groupChr>
                    <m:r>
                      <a:rPr lang="en-AU" altLang="zh-CN" b="0" i="1" smtClean="0">
                        <a:latin typeface="Cambria Math" panose="02040503050406030204" pitchFamily="18" charset="0"/>
                      </a:rPr>
                      <m:t>𝑤</m:t>
                    </m:r>
                  </m:oMath>
                </a14:m>
                <a:endParaRPr lang="en-AU" altLang="zh-CN" b="0" dirty="0"/>
              </a:p>
              <a:p>
                <a:pPr lvl="1"/>
                <a14:m>
                  <m:oMath xmlns:m="http://schemas.openxmlformats.org/officeDocument/2006/math">
                    <m:r>
                      <a:rPr lang="en-AU" altLang="zh-CN" b="0" i="1" smtClean="0">
                        <a:latin typeface="Cambria Math" panose="02040503050406030204" pitchFamily="18" charset="0"/>
                      </a:rPr>
                      <m:t>𝐴</m:t>
                    </m:r>
                    <m:groupChr>
                      <m:groupChrPr>
                        <m:chr m:val="⇒"/>
                        <m:pos m:val="top"/>
                        <m:ctrlPr>
                          <a:rPr lang="en-AU" altLang="zh-CN" b="0" i="1" smtClean="0">
                            <a:latin typeface="Cambria Math" panose="02040503050406030204" pitchFamily="18" charset="0"/>
                          </a:rPr>
                        </m:ctrlPr>
                      </m:groupChrPr>
                      <m:e>
                        <m:r>
                          <m:rPr>
                            <m:brk m:alnAt="1"/>
                          </m:rPr>
                          <a:rPr lang="en-AU" altLang="zh-CN" b="0" i="1" smtClean="0">
                            <a:latin typeface="Cambria Math" panose="02040503050406030204" pitchFamily="18" charset="0"/>
                          </a:rPr>
                          <m:t>𝑟</m:t>
                        </m:r>
                        <m:r>
                          <a:rPr lang="en-AU" altLang="zh-CN" b="0" i="1" smtClean="0">
                            <a:latin typeface="Cambria Math" panose="02040503050406030204" pitchFamily="18" charset="0"/>
                          </a:rPr>
                          <m:t>𝑚</m:t>
                        </m:r>
                      </m:e>
                    </m:groupChr>
                    <m:r>
                      <a:rPr lang="en-AU" altLang="zh-CN" b="0" i="1" smtClean="0">
                        <a:latin typeface="Cambria Math" panose="02040503050406030204" pitchFamily="18" charset="0"/>
                      </a:rPr>
                      <m:t>𝑤</m:t>
                    </m:r>
                  </m:oMath>
                </a14:m>
                <a:endParaRPr lang="en-AU" altLang="zh-CN" b="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299258"/>
                <a:ext cx="8229600" cy="4525963"/>
              </a:xfrm>
              <a:blipFill rotWithShape="1">
                <a:blip r:embed="rId1"/>
                <a:stretch>
                  <a:fillRect t="-1" b="8"/>
                </a:stretch>
              </a:blipFill>
            </p:spPr>
            <p:txBody>
              <a:bodyPr/>
              <a:lstStyle/>
              <a:p>
                <a:r>
                  <a:rPr lang="zh-CN" altLang="en-US">
                    <a:noFill/>
                  </a:rPr>
                  <a:t> </a:t>
                </a:r>
              </a:p>
            </p:txBody>
          </p:sp>
        </mc:Fallback>
      </mc:AlternateContent>
      <p:sp>
        <p:nvSpPr>
          <p:cNvPr id="4" name="TextBox 3"/>
          <p:cNvSpPr txBox="1"/>
          <p:nvPr/>
        </p:nvSpPr>
        <p:spPr>
          <a:xfrm>
            <a:off x="1950873" y="4001841"/>
            <a:ext cx="45719" cy="400110"/>
          </a:xfrm>
          <a:prstGeom prst="rect">
            <a:avLst/>
          </a:prstGeom>
          <a:noFill/>
        </p:spPr>
        <p:txBody>
          <a:bodyPr wrap="square" rtlCol="0">
            <a:spAutoFit/>
          </a:bodyPr>
          <a:lstStyle/>
          <a:p>
            <a:pPr algn="ctr"/>
            <a:r>
              <a:rPr lang="en-AU" sz="2000" dirty="0"/>
              <a:t>*</a:t>
            </a:r>
            <a:endParaRPr lang="en-AU" sz="2000" dirty="0"/>
          </a:p>
        </p:txBody>
      </p:sp>
      <p:sp>
        <p:nvSpPr>
          <p:cNvPr id="5" name="TextBox 4"/>
          <p:cNvSpPr txBox="1"/>
          <p:nvPr/>
        </p:nvSpPr>
        <p:spPr>
          <a:xfrm>
            <a:off x="1950874" y="4655520"/>
            <a:ext cx="45719" cy="400110"/>
          </a:xfrm>
          <a:prstGeom prst="rect">
            <a:avLst/>
          </a:prstGeom>
          <a:noFill/>
        </p:spPr>
        <p:txBody>
          <a:bodyPr wrap="square" rtlCol="0">
            <a:spAutoFit/>
          </a:bodyPr>
          <a:lstStyle/>
          <a:p>
            <a:pPr algn="ctr"/>
            <a:r>
              <a:rPr lang="en-AU" sz="2000" dirty="0"/>
              <a:t>*</a:t>
            </a:r>
            <a:endParaRPr lang="en-AU" sz="2000" dirty="0"/>
          </a:p>
        </p:txBody>
      </p:sp>
      <p:sp>
        <p:nvSpPr>
          <p:cNvPr id="6" name="Slide Number Placeholder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solidFill>
                  <a:schemeClr val="bg1">
                    <a:lumMod val="75000"/>
                  </a:schemeClr>
                </a:solidFill>
              </a:rPr>
              <a:t>上下文无关文法</a:t>
            </a:r>
            <a:endParaRPr lang="en-AU" altLang="zh-CN" dirty="0">
              <a:solidFill>
                <a:schemeClr val="bg1">
                  <a:lumMod val="75000"/>
                </a:schemeClr>
              </a:solidFill>
            </a:endParaRPr>
          </a:p>
          <a:p>
            <a:r>
              <a:rPr lang="zh-CN" altLang="en-US" dirty="0">
                <a:solidFill>
                  <a:schemeClr val="bg1">
                    <a:lumMod val="75000"/>
                  </a:schemeClr>
                </a:solidFill>
              </a:rPr>
              <a:t>语法分析树</a:t>
            </a:r>
            <a:endParaRPr lang="en-AU" altLang="zh-CN" dirty="0">
              <a:solidFill>
                <a:schemeClr val="bg1">
                  <a:lumMod val="75000"/>
                </a:schemeClr>
              </a:solidFill>
            </a:endParaRPr>
          </a:p>
          <a:p>
            <a:r>
              <a:rPr lang="zh-CN" altLang="en-US" b="1" dirty="0">
                <a:solidFill>
                  <a:srgbClr val="FF0000"/>
                </a:solidFill>
              </a:rPr>
              <a:t>文法和语言的歧义性</a:t>
            </a:r>
            <a:endParaRPr lang="en-AU" altLang="zh-CN" b="1" dirty="0">
              <a:solidFill>
                <a:srgbClr val="FF0000"/>
              </a:solidFill>
            </a:endParaRPr>
          </a:p>
          <a:p>
            <a:pPr lvl="1"/>
            <a:r>
              <a:rPr lang="zh-CN" altLang="en-US" dirty="0"/>
              <a:t>文法歧义性的消除</a:t>
            </a:r>
            <a:endParaRPr lang="en-AU" altLang="zh-CN" dirty="0"/>
          </a:p>
          <a:p>
            <a:pPr lvl="1"/>
            <a:r>
              <a:rPr lang="zh-CN" altLang="en-US" dirty="0"/>
              <a:t>语言的固有歧义性</a:t>
            </a:r>
            <a:endParaRPr lang="en-AU" altLang="zh-CN" dirty="0"/>
          </a:p>
          <a:p>
            <a:r>
              <a:rPr lang="zh-CN" altLang="en-US" dirty="0">
                <a:solidFill>
                  <a:schemeClr val="bg1">
                    <a:lumMod val="75000"/>
                  </a:schemeClr>
                </a:solidFill>
              </a:rPr>
              <a:t>文法的化简与范式</a:t>
            </a:r>
            <a:endParaRPr lang="en-AU" altLang="zh-CN" dirty="0">
              <a:solidFill>
                <a:schemeClr val="bg1">
                  <a:lumMod val="75000"/>
                </a:schemeClr>
              </a:solidFill>
            </a:endParaRPr>
          </a:p>
          <a:p>
            <a:endParaRPr lang="en-AU" altLang="zh-CN"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文法的歧义性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定义</a:t>
                </a:r>
                <a:r>
                  <a:rPr lang="en-AU" altLang="zh-CN" dirty="0"/>
                  <a:t>:</a:t>
                </a:r>
                <a:r>
                  <a:rPr lang="zh-CN" altLang="en-US" dirty="0"/>
                  <a:t>如果</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US" altLang="zh-CN" i="1" dirty="0" smtClean="0">
                        <a:latin typeface="Cambria Math" panose="02040503050406030204" pitchFamily="18" charset="0"/>
                      </a:rPr>
                      <m:t>𝐺</m:t>
                    </m:r>
                  </m:oMath>
                </a14:m>
                <a:r>
                  <a:rPr lang="zh-CN" altLang="en-US" dirty="0"/>
                  <a:t>使某些符号串有两棵不同的语法分析树，则称该文法是歧义的</a:t>
                </a:r>
                <a:r>
                  <a:rPr lang="en-US" altLang="zh-CN"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文法的歧义性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81551"/>
                <a:ext cx="8229600" cy="4525963"/>
              </a:xfrm>
            </p:spPr>
            <p:txBody>
              <a:bodyPr/>
              <a:lstStyle/>
              <a:p>
                <a:r>
                  <a:rPr lang="zh-CN" altLang="en-US" dirty="0"/>
                  <a:t>例</a:t>
                </a:r>
                <a:r>
                  <a:rPr lang="en-AU" altLang="zh-CN" dirty="0"/>
                  <a:t>.</a:t>
                </a:r>
                <a:r>
                  <a:rPr lang="zh-CN" altLang="en-US" dirty="0"/>
                  <a:t>算数表达式的文法</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r>
                      <a:rPr lang="zh-CN" altLang="en-US" i="1">
                        <a:latin typeface="Cambria Math" panose="02040503050406030204" pitchFamily="18" charset="0"/>
                      </a:rPr>
                      <m:t>中</m:t>
                    </m:r>
                  </m:oMath>
                </a14:m>
                <a:r>
                  <a:rPr lang="zh-CN" altLang="en-US" dirty="0"/>
                  <a:t>，对句型</a:t>
                </a:r>
                <a14:m>
                  <m:oMath xmlns:m="http://schemas.openxmlformats.org/officeDocument/2006/math">
                    <m:r>
                      <a:rPr lang="en-AU" altLang="zh-CN" b="0" i="1" smtClean="0">
                        <a:latin typeface="Cambria Math" panose="02040503050406030204" pitchFamily="18" charset="0"/>
                      </a:rPr>
                      <m:t>𝑎</m:t>
                    </m:r>
                    <m:r>
                      <a:rPr lang="en-AU" altLang="zh-CN" b="0" i="1" smtClean="0">
                        <a:latin typeface="Cambria Math" panose="02040503050406030204" pitchFamily="18" charset="0"/>
                      </a:rPr>
                      <m:t>+</m:t>
                    </m:r>
                    <m:r>
                      <a:rPr lang="en-AU" altLang="zh-CN" b="0" i="1" smtClean="0">
                        <a:latin typeface="Cambria Math" panose="02040503050406030204" pitchFamily="18" charset="0"/>
                      </a:rPr>
                      <m:t>𝑎</m:t>
                    </m:r>
                    <m:r>
                      <a:rPr lang="en-AU" altLang="zh-CN" b="0" i="1" smtClean="0">
                        <a:latin typeface="Cambria Math" panose="02040503050406030204" pitchFamily="18" charset="0"/>
                      </a:rPr>
                      <m:t>∗</m:t>
                    </m:r>
                    <m:r>
                      <a:rPr lang="en-AU" altLang="zh-CN" b="0" i="1" smtClean="0">
                        <a:latin typeface="Cambria Math" panose="02040503050406030204" pitchFamily="18" charset="0"/>
                      </a:rPr>
                      <m:t>𝑎</m:t>
                    </m:r>
                  </m:oMath>
                </a14:m>
                <a:r>
                  <a:rPr lang="zh-CN" altLang="en-US" dirty="0"/>
                  <a:t>有下面两棵语法树</a:t>
                </a:r>
                <a:r>
                  <a:rPr lang="en-AU" altLang="zh-CN"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981551"/>
                <a:ext cx="8229600" cy="4525963"/>
              </a:xfrm>
              <a:blipFill rotWithShape="1">
                <a:blip r:embed="rId1"/>
                <a:stretch>
                  <a:fillRect t="-1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11" name="TextBox 10"/>
              <p:cNvSpPr txBox="1"/>
              <p:nvPr/>
            </p:nvSpPr>
            <p:spPr>
              <a:xfrm>
                <a:off x="1270950" y="2620220"/>
                <a:ext cx="3673098" cy="120032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𝐸</m:t>
                      </m:r>
                      <m:r>
                        <a:rPr lang="en-AU" altLang="zh-CN" sz="2400" i="1" dirty="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𝐸</m:t>
                      </m:r>
                      <m:r>
                        <a:rPr lang="en-AU" sz="2400" b="0" i="1" smtClean="0">
                          <a:latin typeface="Cambria Math" panose="02040503050406030204" pitchFamily="18" charset="0"/>
                        </a:rPr>
                        <m:t>+</m:t>
                      </m:r>
                      <m:r>
                        <a:rPr lang="en-AU" sz="2400" b="0" i="1" smtClean="0">
                          <a:latin typeface="Cambria Math" panose="02040503050406030204" pitchFamily="18" charset="0"/>
                        </a:rPr>
                        <m:t>𝐸</m:t>
                      </m:r>
                    </m:oMath>
                  </m:oMathPara>
                </a14:m>
                <a:endParaRPr lang="en-AU" sz="2400" b="0" i="1" dirty="0">
                  <a:latin typeface="Cambria Math" panose="02040503050406030204" pitchFamily="18" charset="0"/>
                </a:endParaRPr>
              </a:p>
              <a:p>
                <a:r>
                  <a:rPr lang="en-AU" altLang="zh-CN" sz="2400" dirty="0">
                    <a:ea typeface="Cambria Math" panose="02040503050406030204" pitchFamily="18" charset="0"/>
                  </a:rPr>
                  <a:t>                   </a:t>
                </a:r>
                <a14:m>
                  <m:oMath xmlns:m="http://schemas.openxmlformats.org/officeDocument/2006/math">
                    <m:r>
                      <a:rPr lang="en-AU" altLang="zh-CN" sz="2400" i="1" dirty="0">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𝐸</m:t>
                    </m:r>
                    <m:r>
                      <a:rPr lang="en-AU" sz="2400" i="1">
                        <a:latin typeface="Cambria Math" panose="02040503050406030204" pitchFamily="18" charset="0"/>
                      </a:rPr>
                      <m:t>+</m:t>
                    </m:r>
                    <m:r>
                      <a:rPr lang="en-AU" sz="2400" i="1">
                        <a:latin typeface="Cambria Math" panose="02040503050406030204" pitchFamily="18" charset="0"/>
                      </a:rPr>
                      <m:t>𝐸</m:t>
                    </m:r>
                    <m:r>
                      <a:rPr lang="en-AU" sz="2400" b="0" i="1" smtClean="0">
                        <a:latin typeface="Cambria Math" panose="02040503050406030204" pitchFamily="18" charset="0"/>
                      </a:rPr>
                      <m:t>∗</m:t>
                    </m:r>
                    <m:r>
                      <a:rPr lang="en-AU" sz="2400" b="0" i="1" smtClean="0">
                        <a:latin typeface="Cambria Math" panose="02040503050406030204" pitchFamily="18" charset="0"/>
                      </a:rPr>
                      <m:t>𝐸</m:t>
                    </m:r>
                  </m:oMath>
                </a14:m>
                <a:endParaRPr lang="en-AU" sz="2400" b="0" i="1" dirty="0">
                  <a:latin typeface="Cambria Math" panose="02040503050406030204" pitchFamily="18" charset="0"/>
                </a:endParaRPr>
              </a:p>
              <a:p>
                <a:r>
                  <a:rPr lang="en-AU" altLang="zh-CN" sz="2400" dirty="0">
                    <a:ea typeface="Cambria Math" panose="02040503050406030204" pitchFamily="18" charset="0"/>
                  </a:rPr>
                  <a:t>                   </a:t>
                </a:r>
                <a14:m>
                  <m:oMath xmlns:m="http://schemas.openxmlformats.org/officeDocument/2006/math">
                    <m:r>
                      <a:rPr lang="en-AU" altLang="zh-CN" sz="2400" i="1" dirty="0">
                        <a:latin typeface="Cambria Math" panose="02040503050406030204" pitchFamily="18" charset="0"/>
                        <a:ea typeface="Cambria Math" panose="02040503050406030204" pitchFamily="18" charset="0"/>
                      </a:rPr>
                      <m:t>⇒ </m:t>
                    </m:r>
                    <m:r>
                      <a:rPr lang="en-AU" altLang="zh-CN" sz="2400" b="0" i="1" dirty="0" smtClean="0">
                        <a:latin typeface="Cambria Math" panose="02040503050406030204" pitchFamily="18" charset="0"/>
                        <a:ea typeface="Cambria Math" panose="02040503050406030204" pitchFamily="18" charset="0"/>
                      </a:rPr>
                      <m:t>𝑎</m:t>
                    </m:r>
                    <m:r>
                      <a:rPr lang="en-AU" sz="2400" i="1">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𝑎</m:t>
                    </m:r>
                  </m:oMath>
                </a14:m>
                <a:endParaRPr lang="en-AU" sz="2400" dirty="0"/>
              </a:p>
            </p:txBody>
          </p:sp>
        </mc:Choice>
        <mc:Fallback>
          <p:sp>
            <p:nvSpPr>
              <p:cNvPr id="11" name="TextBox 10"/>
              <p:cNvSpPr txBox="1">
                <a:spLocks noRot="1" noChangeAspect="1" noMove="1" noResize="1" noEditPoints="1" noAdjustHandles="1" noChangeArrowheads="1" noChangeShapeType="1" noTextEdit="1"/>
              </p:cNvSpPr>
              <p:nvPr/>
            </p:nvSpPr>
            <p:spPr>
              <a:xfrm>
                <a:off x="1270950" y="2620220"/>
                <a:ext cx="3673098" cy="1200329"/>
              </a:xfrm>
              <a:prstGeom prst="rect">
                <a:avLst/>
              </a:prstGeom>
              <a:blipFill rotWithShape="1">
                <a:blip r:embed="rId2"/>
                <a:stretch>
                  <a:fillRect l="-9" t="-17" r="16" b="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5821994" y="2420773"/>
                <a:ext cx="3673098" cy="120032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𝐸</m:t>
                      </m:r>
                      <m:r>
                        <a:rPr lang="en-AU" altLang="zh-CN" sz="2400" i="1" dirty="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𝐸</m:t>
                      </m:r>
                      <m:r>
                        <a:rPr lang="en-AU" sz="2400" b="0" i="1" smtClean="0">
                          <a:latin typeface="Cambria Math" panose="02040503050406030204" pitchFamily="18" charset="0"/>
                        </a:rPr>
                        <m:t>∗</m:t>
                      </m:r>
                      <m:r>
                        <a:rPr lang="en-AU" sz="2400" b="0" i="1" smtClean="0">
                          <a:latin typeface="Cambria Math" panose="02040503050406030204" pitchFamily="18" charset="0"/>
                        </a:rPr>
                        <m:t>𝐸</m:t>
                      </m:r>
                    </m:oMath>
                  </m:oMathPara>
                </a14:m>
                <a:endParaRPr lang="en-AU" sz="2400" b="0" i="1" dirty="0">
                  <a:latin typeface="Cambria Math" panose="02040503050406030204" pitchFamily="18" charset="0"/>
                </a:endParaRPr>
              </a:p>
              <a:p>
                <a:r>
                  <a:rPr lang="en-AU" altLang="zh-CN" sz="2400" dirty="0">
                    <a:ea typeface="Cambria Math" panose="02040503050406030204" pitchFamily="18" charset="0"/>
                  </a:rPr>
                  <a:t>                    </a:t>
                </a:r>
                <a14:m>
                  <m:oMath xmlns:m="http://schemas.openxmlformats.org/officeDocument/2006/math">
                    <m:r>
                      <a:rPr lang="en-AU" altLang="zh-CN" sz="2400" i="1" dirty="0">
                        <a:latin typeface="Cambria Math" panose="02040503050406030204" pitchFamily="18" charset="0"/>
                        <a:ea typeface="Cambria Math" panose="02040503050406030204" pitchFamily="18" charset="0"/>
                      </a:rPr>
                      <m:t>⇒</m:t>
                    </m:r>
                    <m:r>
                      <a:rPr lang="en-AU" sz="2400" i="1">
                        <a:latin typeface="Cambria Math" panose="02040503050406030204" pitchFamily="18" charset="0"/>
                      </a:rPr>
                      <m:t>𝐸</m:t>
                    </m:r>
                    <m:r>
                      <a:rPr lang="en-AU" sz="2400" i="1">
                        <a:latin typeface="Cambria Math" panose="02040503050406030204" pitchFamily="18" charset="0"/>
                      </a:rPr>
                      <m:t>+</m:t>
                    </m:r>
                    <m:r>
                      <a:rPr lang="en-AU" sz="2400" i="1">
                        <a:latin typeface="Cambria Math" panose="02040503050406030204" pitchFamily="18" charset="0"/>
                      </a:rPr>
                      <m:t>𝐸</m:t>
                    </m:r>
                    <m:r>
                      <a:rPr lang="en-AU" sz="2400" b="0" i="1" smtClean="0">
                        <a:latin typeface="Cambria Math" panose="02040503050406030204" pitchFamily="18" charset="0"/>
                      </a:rPr>
                      <m:t>∗</m:t>
                    </m:r>
                    <m:r>
                      <a:rPr lang="en-AU" sz="2400" b="0" i="1" smtClean="0">
                        <a:latin typeface="Cambria Math" panose="02040503050406030204" pitchFamily="18" charset="0"/>
                      </a:rPr>
                      <m:t>𝐸</m:t>
                    </m:r>
                  </m:oMath>
                </a14:m>
                <a:endParaRPr lang="en-AU" sz="2400" b="0" i="1" dirty="0">
                  <a:latin typeface="Cambria Math" panose="02040503050406030204" pitchFamily="18" charset="0"/>
                </a:endParaRPr>
              </a:p>
              <a:p>
                <a:r>
                  <a:rPr lang="en-AU" altLang="zh-CN" sz="2400" dirty="0">
                    <a:ea typeface="Cambria Math" panose="02040503050406030204" pitchFamily="18" charset="0"/>
                  </a:rPr>
                  <a:t>                    </a:t>
                </a:r>
                <a14:m>
                  <m:oMath xmlns:m="http://schemas.openxmlformats.org/officeDocument/2006/math">
                    <m:r>
                      <a:rPr lang="en-AU" altLang="zh-CN" sz="2400" i="1" dirty="0">
                        <a:latin typeface="Cambria Math" panose="02040503050406030204" pitchFamily="18" charset="0"/>
                        <a:ea typeface="Cambria Math" panose="02040503050406030204" pitchFamily="18" charset="0"/>
                      </a:rPr>
                      <m:t>⇒ </m:t>
                    </m:r>
                    <m:r>
                      <a:rPr lang="en-AU" altLang="zh-CN" sz="2400" b="0" i="1" dirty="0" smtClean="0">
                        <a:latin typeface="Cambria Math" panose="02040503050406030204" pitchFamily="18" charset="0"/>
                        <a:ea typeface="Cambria Math" panose="02040503050406030204" pitchFamily="18" charset="0"/>
                      </a:rPr>
                      <m:t>𝑎</m:t>
                    </m:r>
                    <m:r>
                      <a:rPr lang="en-AU" sz="2400" i="1">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𝑎</m:t>
                    </m:r>
                  </m:oMath>
                </a14:m>
                <a:endParaRPr lang="en-AU" sz="2400" dirty="0"/>
              </a:p>
            </p:txBody>
          </p:sp>
        </mc:Choice>
        <mc:Fallback>
          <p:sp>
            <p:nvSpPr>
              <p:cNvPr id="14" name="TextBox 13"/>
              <p:cNvSpPr txBox="1">
                <a:spLocks noRot="1" noChangeAspect="1" noMove="1" noResize="1" noEditPoints="1" noAdjustHandles="1" noChangeArrowheads="1" noChangeShapeType="1" noTextEdit="1"/>
              </p:cNvSpPr>
              <p:nvPr/>
            </p:nvSpPr>
            <p:spPr>
              <a:xfrm>
                <a:off x="5821994" y="2420773"/>
                <a:ext cx="3673098" cy="1200329"/>
              </a:xfrm>
              <a:prstGeom prst="rect">
                <a:avLst/>
              </a:prstGeom>
              <a:blipFill rotWithShape="1">
                <a:blip r:embed="rId3"/>
                <a:stretch>
                  <a:fillRect l="-9" t="-13" r="16" b="28"/>
                </a:stretch>
              </a:blipFill>
            </p:spPr>
            <p:txBody>
              <a:bodyPr/>
              <a:lstStyle/>
              <a:p>
                <a:r>
                  <a:rPr lang="zh-CN" altLang="en-US">
                    <a:noFill/>
                  </a:rPr>
                  <a:t> </a:t>
                </a:r>
              </a:p>
            </p:txBody>
          </p:sp>
        </mc:Fallback>
      </mc:AlternateContent>
      <p:pic>
        <p:nvPicPr>
          <p:cNvPr id="6" name="Picture 5"/>
          <p:cNvPicPr>
            <a:picLocks noChangeAspect="1"/>
          </p:cNvPicPr>
          <p:nvPr/>
        </p:nvPicPr>
        <p:blipFill>
          <a:blip r:embed="rId4"/>
          <a:stretch>
            <a:fillRect/>
          </a:stretch>
        </p:blipFill>
        <p:spPr>
          <a:xfrm>
            <a:off x="495338" y="2028639"/>
            <a:ext cx="2092798" cy="3891625"/>
          </a:xfrm>
          <a:prstGeom prst="rect">
            <a:avLst/>
          </a:prstGeom>
        </p:spPr>
      </p:pic>
      <p:pic>
        <p:nvPicPr>
          <p:cNvPr id="7" name="Picture 6"/>
          <p:cNvPicPr>
            <a:picLocks noChangeAspect="1"/>
          </p:cNvPicPr>
          <p:nvPr/>
        </p:nvPicPr>
        <p:blipFill>
          <a:blip r:embed="rId5"/>
          <a:stretch>
            <a:fillRect/>
          </a:stretch>
        </p:blipFill>
        <p:spPr>
          <a:xfrm>
            <a:off x="4972578" y="2057165"/>
            <a:ext cx="2092798" cy="386309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文法歧义性的消除</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66018"/>
                <a:ext cx="8229600" cy="4525963"/>
              </a:xfrm>
            </p:spPr>
            <p:txBody>
              <a:bodyPr/>
              <a:lstStyle/>
              <a:p>
                <a:r>
                  <a:rPr lang="zh-CN" altLang="en-US" dirty="0"/>
                  <a:t>有些文法的歧义性，可以重新设计文法来消除</a:t>
                </a:r>
                <a:endParaRPr lang="en-AU" altLang="zh-CN" dirty="0"/>
              </a:p>
              <a:p>
                <a:r>
                  <a:rPr lang="zh-CN" altLang="en-US" dirty="0"/>
                  <a:t>例续</a:t>
                </a:r>
                <a:r>
                  <a:rPr lang="en-AU" altLang="zh-CN" dirty="0"/>
                  <a:t>.</a:t>
                </a:r>
                <a:r>
                  <a:rPr lang="zh-CN" altLang="en-US" dirty="0"/>
                  <a:t>文法</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𝐺</m:t>
                        </m:r>
                      </m:e>
                      <m:sub>
                        <m:r>
                          <a:rPr lang="en-AU" altLang="zh-CN" b="0" i="1" smtClean="0">
                            <a:latin typeface="Cambria Math" panose="02040503050406030204" pitchFamily="18" charset="0"/>
                          </a:rPr>
                          <m:t>𝑒𝑥𝑝</m:t>
                        </m:r>
                      </m:sub>
                    </m:sSub>
                  </m:oMath>
                </a14:m>
                <a:r>
                  <a:rPr lang="zh-CN" altLang="en-US" dirty="0"/>
                  <a:t>重新设计为文法</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𝐺</m:t>
                        </m:r>
                      </m:e>
                      <m:sub>
                        <m:r>
                          <a:rPr lang="en-AU" altLang="zh-CN" i="1">
                            <a:latin typeface="Cambria Math" panose="02040503050406030204" pitchFamily="18" charset="0"/>
                          </a:rPr>
                          <m:t>𝑒𝑥𝑝</m:t>
                        </m:r>
                        <m:r>
                          <a:rPr lang="en-AU" altLang="zh-CN" b="0" i="1" smtClean="0">
                            <a:latin typeface="Cambria Math" panose="02040503050406030204" pitchFamily="18" charset="0"/>
                          </a:rPr>
                          <m:t>′</m:t>
                        </m:r>
                      </m:sub>
                    </m:sSub>
                  </m:oMath>
                </a14:m>
                <a:r>
                  <a:rPr lang="zh-CN" altLang="en-US" dirty="0"/>
                  <a:t>可消除歧义</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1"/>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12" name="Group 11"/>
          <p:cNvGrpSpPr/>
          <p:nvPr/>
        </p:nvGrpSpPr>
        <p:grpSpPr>
          <a:xfrm>
            <a:off x="-245633" y="2502374"/>
            <a:ext cx="5262196" cy="3419795"/>
            <a:chOff x="-949475" y="3226490"/>
            <a:chExt cx="5262196" cy="3419795"/>
          </a:xfrm>
        </p:grpSpPr>
        <mc:AlternateContent xmlns:mc="http://schemas.openxmlformats.org/markup-compatibility/2006">
          <mc:Choice xmlns:a14="http://schemas.microsoft.com/office/drawing/2010/main" Requires="a14">
            <p:sp>
              <p:nvSpPr>
                <p:cNvPr id="8" name="TextBox 7"/>
                <p:cNvSpPr txBox="1"/>
                <p:nvPr/>
              </p:nvSpPr>
              <p:spPr>
                <a:xfrm>
                  <a:off x="1209186" y="3226490"/>
                  <a:ext cx="2095993" cy="1569660"/>
                </a:xfrm>
                <a:prstGeom prst="rect">
                  <a:avLst/>
                </a:prstGeom>
                <a:noFill/>
              </p:spPr>
              <p:txBody>
                <a:bodyPr wrap="square" rtlCol="0">
                  <a:spAutoFit/>
                </a:bodyPr>
                <a:lstStyle/>
                <a:p>
                  <a:pPr algn="r"/>
                  <a14:m>
                    <m:oMathPara xmlns:m="http://schemas.openxmlformats.org/officeDocument/2006/math">
                      <m:oMathParaPr>
                        <m:jc m:val="left"/>
                      </m:oMathParaPr>
                      <m:oMath xmlns:m="http://schemas.openxmlformats.org/officeDocument/2006/math">
                        <m:r>
                          <a:rPr lang="en-AU" sz="2400" b="0" i="1" smtClean="0">
                            <a:latin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𝐸</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𝑇</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𝑇</m:t>
                        </m:r>
                      </m:oMath>
                    </m:oMathPara>
                  </a14:m>
                  <a:endParaRPr lang="en-AU" sz="2400" b="0" i="1" dirty="0">
                    <a:latin typeface="Cambria Math" panose="02040503050406030204" pitchFamily="18" charset="0"/>
                    <a:ea typeface="Cambria Math" panose="02040503050406030204" pitchFamily="18" charset="0"/>
                  </a:endParaRPr>
                </a:p>
                <a:p>
                  <a:pPr algn="r"/>
                  <a14:m>
                    <m:oMathPara xmlns:m="http://schemas.openxmlformats.org/officeDocument/2006/math">
                      <m:oMathParaPr>
                        <m:jc m:val="left"/>
                      </m:oMathParaPr>
                      <m:oMath xmlns:m="http://schemas.openxmlformats.org/officeDocument/2006/math">
                        <m:r>
                          <m:rPr>
                            <m:sty m:val="p"/>
                          </m:rPr>
                          <a:rPr lang="en-AU" sz="2400" b="0" i="0" smtClean="0">
                            <a:latin typeface="Cambria Math" panose="02040503050406030204" pitchFamily="18" charset="0"/>
                            <a:ea typeface="Cambria Math" panose="02040503050406030204" pitchFamily="18" charset="0"/>
                          </a:rPr>
                          <m:t>T</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𝑇</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𝐹</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𝐹</m:t>
                        </m:r>
                      </m:oMath>
                    </m:oMathPara>
                  </a14:m>
                  <a:endParaRPr lang="en-AU" sz="2400" b="0" i="1" dirty="0">
                    <a:latin typeface="Cambria Math" panose="02040503050406030204" pitchFamily="18" charset="0"/>
                    <a:ea typeface="Cambria Math" panose="02040503050406030204" pitchFamily="18" charset="0"/>
                  </a:endParaRPr>
                </a:p>
                <a:p>
                  <a14:m>
                    <m:oMath xmlns:m="http://schemas.openxmlformats.org/officeDocument/2006/math">
                      <m:r>
                        <a:rPr lang="en-AU" sz="2400" i="1">
                          <a:latin typeface="Cambria Math" panose="02040503050406030204" pitchFamily="18" charset="0"/>
                          <a:ea typeface="Cambria Math" panose="02040503050406030204" pitchFamily="18" charset="0"/>
                        </a:rPr>
                        <m:t>𝐹</m:t>
                      </m:r>
                      <m:r>
                        <a:rPr lang="en-AU" sz="2400" i="1">
                          <a:latin typeface="Cambria Math" panose="02040503050406030204" pitchFamily="18" charset="0"/>
                          <a:ea typeface="Cambria Math" panose="02040503050406030204" pitchFamily="18" charset="0"/>
                        </a:rPr>
                        <m:t>→</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𝐸</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oMath>
                  </a14:m>
                  <a:r>
                    <a:rPr lang="en-AU" sz="2400" b="0" dirty="0">
                      <a:ea typeface="Cambria Math" panose="02040503050406030204" pitchFamily="18" charset="0"/>
                    </a:rPr>
                    <a:t> </a:t>
                  </a:r>
                  <a:endParaRPr lang="en-AU" sz="2400" b="0" dirty="0">
                    <a:ea typeface="Cambria Math" panose="02040503050406030204" pitchFamily="18" charset="0"/>
                  </a:endParaRPr>
                </a:p>
                <a:p>
                  <a:pPr algn="r"/>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1209186" y="3226490"/>
                  <a:ext cx="2095993" cy="156966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949475" y="4337961"/>
                  <a:ext cx="5262196" cy="2308324"/>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oMath>
                    </m:oMathPara>
                  </a14:m>
                  <a:endParaRPr lang="en-AU" sz="2400" dirty="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oMath>
                    </m:oMathPara>
                  </a14:m>
                  <a:endParaRPr lang="en-AU" sz="2400" dirty="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𝐼𝑎</m:t>
                        </m:r>
                      </m:oMath>
                    </m:oMathPara>
                  </a14:m>
                  <a:endParaRPr lang="en-AU" sz="2400" dirty="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𝐼𝑏</m:t>
                        </m:r>
                      </m:oMath>
                    </m:oMathPara>
                  </a14:m>
                  <a:endParaRPr lang="en-AU" sz="2400" dirty="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0</m:t>
                        </m:r>
                      </m:oMath>
                    </m:oMathPara>
                  </a14:m>
                  <a:endParaRPr lang="en-AU" sz="2400" dirty="0"/>
                </a:p>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𝐼</m:t>
                        </m:r>
                        <m:r>
                          <a:rPr lang="en-AU" sz="2400" b="0" i="1" smtClean="0">
                            <a:latin typeface="Cambria Math" panose="02040503050406030204" pitchFamily="18" charset="0"/>
                            <a:ea typeface="Cambria Math" panose="02040503050406030204" pitchFamily="18" charset="0"/>
                          </a:rPr>
                          <m:t>1</m:t>
                        </m:r>
                      </m:oMath>
                    </m:oMathPara>
                  </a14:m>
                  <a:endParaRPr lang="en-AU" sz="2400" b="0" dirty="0">
                    <a:ea typeface="Cambria Math" panose="02040503050406030204" pitchFamily="18"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949475" y="4337961"/>
                  <a:ext cx="5262196" cy="2308324"/>
                </a:xfrm>
                <a:prstGeom prst="rect">
                  <a:avLst/>
                </a:prstGeom>
                <a:blipFill rotWithShape="1">
                  <a:blip r:embed="rId3"/>
                </a:blipFill>
              </p:spPr>
              <p:txBody>
                <a:bodyPr/>
                <a:lstStyle/>
                <a:p>
                  <a:r>
                    <a:rPr lang="zh-CN" altLang="en-US">
                      <a:noFill/>
                    </a:rPr>
                    <a:t> </a:t>
                  </a:r>
                </a:p>
              </p:txBody>
            </p:sp>
          </mc:Fallback>
        </mc:AlternateContent>
      </p:grpSp>
      <p:pic>
        <p:nvPicPr>
          <p:cNvPr id="11" name="Picture 10"/>
          <p:cNvPicPr>
            <a:picLocks noChangeAspect="1"/>
          </p:cNvPicPr>
          <p:nvPr/>
        </p:nvPicPr>
        <p:blipFill>
          <a:blip r:embed="rId4"/>
          <a:stretch>
            <a:fillRect/>
          </a:stretch>
        </p:blipFill>
        <p:spPr>
          <a:xfrm>
            <a:off x="4574467" y="2375791"/>
            <a:ext cx="2216858" cy="3901778"/>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语言的固有歧义性</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87926"/>
                <a:ext cx="8229600" cy="4525963"/>
              </a:xfrm>
            </p:spPr>
            <p:txBody>
              <a:bodyPr/>
              <a:lstStyle/>
              <a:p>
                <a:r>
                  <a:rPr lang="zh-CN" altLang="en-US" dirty="0"/>
                  <a:t>定义</a:t>
                </a:r>
                <a:r>
                  <a:rPr lang="en-AU" altLang="zh-CN" dirty="0"/>
                  <a:t>:</a:t>
                </a:r>
                <a:r>
                  <a:rPr lang="zh-CN" altLang="en-US" dirty="0"/>
                  <a:t>定义同样的语言可以有多个文法，如果上下文无关语言</a:t>
                </a:r>
                <a14:m>
                  <m:oMath xmlns:m="http://schemas.openxmlformats.org/officeDocument/2006/math">
                    <m:r>
                      <a:rPr lang="en-AU" altLang="zh-CN" i="1" dirty="0" smtClean="0">
                        <a:latin typeface="Cambria Math" panose="02040503050406030204" pitchFamily="18" charset="0"/>
                      </a:rPr>
                      <m:t>𝐿</m:t>
                    </m:r>
                  </m:oMath>
                </a14:m>
                <a:r>
                  <a:rPr lang="zh-CN" altLang="en-US" dirty="0"/>
                  <a:t>的所有文法都是有歧义的，那么称语言</a:t>
                </a:r>
                <a14:m>
                  <m:oMath xmlns:m="http://schemas.openxmlformats.org/officeDocument/2006/math">
                    <m:r>
                      <a:rPr lang="en-US" altLang="zh-CN" i="1" dirty="0" smtClean="0">
                        <a:latin typeface="Cambria Math" panose="02040503050406030204" pitchFamily="18" charset="0"/>
                      </a:rPr>
                      <m:t>𝐿</m:t>
                    </m:r>
                  </m:oMath>
                </a14:m>
                <a:r>
                  <a:rPr lang="zh-CN" altLang="en-US" dirty="0"/>
                  <a:t>是</a:t>
                </a:r>
                <a:r>
                  <a:rPr lang="zh-CN" altLang="en-US" dirty="0">
                    <a:solidFill>
                      <a:srgbClr val="FF0000"/>
                    </a:solidFill>
                  </a:rPr>
                  <a:t>固有歧义</a:t>
                </a:r>
                <a:r>
                  <a:rPr lang="zh-CN" altLang="en-US" dirty="0"/>
                  <a:t>的。</a:t>
                </a:r>
                <a:endParaRPr lang="en-AU" altLang="zh-CN" dirty="0"/>
              </a:p>
              <a:p>
                <a:r>
                  <a:rPr lang="zh-CN" altLang="en-US" dirty="0"/>
                  <a:t>固有歧义的语言确实存在，如语言</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𝐿</m:t>
                      </m:r>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𝑎</m:t>
                          </m:r>
                        </m:e>
                        <m:sup>
                          <m:r>
                            <a:rPr lang="en-AU" b="0" i="1" smtClean="0">
                              <a:latin typeface="Cambria Math" panose="02040503050406030204" pitchFamily="18" charset="0"/>
                            </a:rPr>
                            <m:t>𝑖</m:t>
                          </m:r>
                        </m:sup>
                      </m:sSup>
                      <m:sSup>
                        <m:sSupPr>
                          <m:ctrlPr>
                            <a:rPr lang="en-AU" i="1">
                              <a:latin typeface="Cambria Math" panose="02040503050406030204" pitchFamily="18" charset="0"/>
                            </a:rPr>
                          </m:ctrlPr>
                        </m:sSupPr>
                        <m:e>
                          <m:r>
                            <a:rPr lang="en-AU" b="0" i="1" smtClean="0">
                              <a:latin typeface="Cambria Math" panose="02040503050406030204" pitchFamily="18" charset="0"/>
                            </a:rPr>
                            <m:t>𝑏</m:t>
                          </m:r>
                        </m:e>
                        <m:sup>
                          <m:r>
                            <a:rPr lang="en-AU" b="0" i="1" smtClean="0">
                              <a:latin typeface="Cambria Math" panose="02040503050406030204" pitchFamily="18" charset="0"/>
                            </a:rPr>
                            <m:t>𝑗</m:t>
                          </m:r>
                        </m:sup>
                      </m:sSup>
                      <m:sSup>
                        <m:sSupPr>
                          <m:ctrlPr>
                            <a:rPr lang="en-AU" i="1">
                              <a:latin typeface="Cambria Math" panose="02040503050406030204" pitchFamily="18" charset="0"/>
                            </a:rPr>
                          </m:ctrlPr>
                        </m:sSupPr>
                        <m:e>
                          <m:r>
                            <a:rPr lang="en-AU" b="0" i="1" smtClean="0">
                              <a:latin typeface="Cambria Math" panose="02040503050406030204" pitchFamily="18" charset="0"/>
                            </a:rPr>
                            <m:t>𝑐</m:t>
                          </m:r>
                        </m:e>
                        <m:sup>
                          <m:r>
                            <a:rPr lang="en-AU" b="0" i="1" smtClean="0">
                              <a:latin typeface="Cambria Math" panose="02040503050406030204" pitchFamily="18" charset="0"/>
                            </a:rPr>
                            <m:t>𝑘</m:t>
                          </m:r>
                        </m:sup>
                      </m:sSup>
                      <m:r>
                        <a:rPr lang="en-AU" b="0" i="1" smtClean="0">
                          <a:latin typeface="Cambria Math" panose="02040503050406030204" pitchFamily="18" charset="0"/>
                        </a:rPr>
                        <m:t>|</m:t>
                      </m:r>
                      <m:r>
                        <a:rPr lang="en-AU" b="0" i="1" smtClean="0">
                          <a:latin typeface="Cambria Math" panose="02040503050406030204" pitchFamily="18" charset="0"/>
                        </a:rPr>
                        <m:t>𝑖</m:t>
                      </m:r>
                      <m:r>
                        <a:rPr lang="en-AU" b="0" i="1" smtClean="0">
                          <a:latin typeface="Cambria Math" panose="02040503050406030204" pitchFamily="18" charset="0"/>
                        </a:rPr>
                        <m:t>=</m:t>
                      </m:r>
                      <m:r>
                        <a:rPr lang="en-AU" b="0" i="1" smtClean="0">
                          <a:latin typeface="Cambria Math" panose="02040503050406030204" pitchFamily="18" charset="0"/>
                        </a:rPr>
                        <m:t>𝑗</m:t>
                      </m:r>
                      <m:r>
                        <a:rPr lang="en-AU" b="0" i="1" smtClean="0">
                          <a:latin typeface="Cambria Math" panose="02040503050406030204" pitchFamily="18" charset="0"/>
                        </a:rPr>
                        <m:t> </m:t>
                      </m:r>
                      <m:r>
                        <a:rPr lang="en-AU" b="0" i="1" smtClean="0">
                          <a:latin typeface="Cambria Math" panose="02040503050406030204" pitchFamily="18" charset="0"/>
                        </a:rPr>
                        <m:t>𝑜𝑟</m:t>
                      </m:r>
                      <m:r>
                        <a:rPr lang="en-AU" b="0" i="1" smtClean="0">
                          <a:latin typeface="Cambria Math" panose="02040503050406030204" pitchFamily="18" charset="0"/>
                        </a:rPr>
                        <m:t> </m:t>
                      </m:r>
                      <m:r>
                        <a:rPr lang="en-AU" b="0" i="1" smtClean="0">
                          <a:latin typeface="Cambria Math" panose="02040503050406030204" pitchFamily="18" charset="0"/>
                        </a:rPr>
                        <m:t>𝑗</m:t>
                      </m:r>
                      <m:r>
                        <a:rPr lang="en-AU" b="0" i="1" smtClean="0">
                          <a:latin typeface="Cambria Math" panose="02040503050406030204" pitchFamily="18" charset="0"/>
                        </a:rPr>
                        <m:t>=</m:t>
                      </m:r>
                      <m:r>
                        <a:rPr lang="en-AU" b="0" i="1" smtClean="0">
                          <a:latin typeface="Cambria Math" panose="02040503050406030204" pitchFamily="18" charset="0"/>
                        </a:rPr>
                        <m:t>𝑘</m:t>
                      </m:r>
                      <m:r>
                        <a:rPr lang="en-AU" b="0" i="1" smtClean="0">
                          <a:latin typeface="Cambria Math" panose="02040503050406030204" pitchFamily="18" charset="0"/>
                        </a:rPr>
                        <m:t>}</m:t>
                      </m:r>
                    </m:oMath>
                  </m:oMathPara>
                </a14:m>
                <a:endParaRPr lang="en-AU" dirty="0"/>
              </a:p>
              <a:p>
                <a:pPr marL="0" indent="0">
                  <a:buNone/>
                </a:pPr>
                <a:r>
                  <a:rPr lang="zh-CN" altLang="en-US" dirty="0"/>
                  <a:t>是固有歧义的。</a:t>
                </a:r>
                <a:endParaRPr lang="en-AU" altLang="zh-CN" dirty="0"/>
              </a:p>
              <a:p>
                <a:pPr lvl="1"/>
                <a:r>
                  <a:rPr lang="zh-CN" altLang="en-US" dirty="0"/>
                  <a:t>直观的，至少对于其中形如</a:t>
                </a:r>
                <a14:m>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panose="02040503050406030204" pitchFamily="18" charset="0"/>
                          </a:rPr>
                          <m:t>𝑎</m:t>
                        </m:r>
                      </m:e>
                      <m:sup>
                        <m:r>
                          <a:rPr lang="en-AU" b="0" i="1" smtClean="0">
                            <a:latin typeface="Cambria Math" panose="02040503050406030204" pitchFamily="18" charset="0"/>
                          </a:rPr>
                          <m:t>𝑛</m:t>
                        </m:r>
                      </m:sup>
                    </m:sSup>
                    <m:sSup>
                      <m:sSupPr>
                        <m:ctrlPr>
                          <a:rPr lang="en-AU" i="1">
                            <a:latin typeface="Cambria Math" panose="02040503050406030204" pitchFamily="18" charset="0"/>
                          </a:rPr>
                        </m:ctrlPr>
                      </m:sSupPr>
                      <m:e>
                        <m:r>
                          <a:rPr lang="en-AU" b="0" i="1" smtClean="0">
                            <a:latin typeface="Cambria Math" panose="02040503050406030204" pitchFamily="18" charset="0"/>
                          </a:rPr>
                          <m:t>𝑏</m:t>
                        </m:r>
                      </m:e>
                      <m:sup>
                        <m:r>
                          <a:rPr lang="en-AU" b="0" i="1" smtClean="0">
                            <a:latin typeface="Cambria Math" panose="02040503050406030204" pitchFamily="18" charset="0"/>
                          </a:rPr>
                          <m:t>𝑛</m:t>
                        </m:r>
                      </m:sup>
                    </m:sSup>
                    <m:sSup>
                      <m:sSupPr>
                        <m:ctrlPr>
                          <a:rPr lang="en-AU" i="1">
                            <a:latin typeface="Cambria Math" panose="02040503050406030204" pitchFamily="18" charset="0"/>
                          </a:rPr>
                        </m:ctrlPr>
                      </m:sSupPr>
                      <m:e>
                        <m:r>
                          <a:rPr lang="en-AU" b="0" i="1" smtClean="0">
                            <a:latin typeface="Cambria Math" panose="02040503050406030204" pitchFamily="18" charset="0"/>
                          </a:rPr>
                          <m:t>𝑐</m:t>
                        </m:r>
                      </m:e>
                      <m:sup>
                        <m:r>
                          <a:rPr lang="en-AU" b="0" i="1" smtClean="0">
                            <a:latin typeface="Cambria Math" panose="02040503050406030204" pitchFamily="18" charset="0"/>
                          </a:rPr>
                          <m:t>𝑛</m:t>
                        </m:r>
                      </m:sup>
                    </m:sSup>
                    <m:r>
                      <a:rPr lang="en-AU" b="0" i="1" smtClean="0">
                        <a:latin typeface="Cambria Math" panose="02040503050406030204" pitchFamily="18" charset="0"/>
                      </a:rPr>
                      <m:t> </m:t>
                    </m:r>
                  </m:oMath>
                </a14:m>
                <a:r>
                  <a:rPr lang="zh-CN" altLang="en-US" dirty="0"/>
                  <a:t>的符号串，语法分树可以先检查</a:t>
                </a:r>
                <a14:m>
                  <m:oMath xmlns:m="http://schemas.openxmlformats.org/officeDocument/2006/math">
                    <m:r>
                      <a:rPr lang="en-AU" altLang="zh-CN" i="1" dirty="0" smtClean="0">
                        <a:latin typeface="Cambria Math" panose="02040503050406030204" pitchFamily="18" charset="0"/>
                      </a:rPr>
                      <m:t>𝑎</m:t>
                    </m:r>
                  </m:oMath>
                </a14:m>
                <a:r>
                  <a:rPr lang="zh-CN" altLang="en-US" dirty="0"/>
                  <a:t>和</a:t>
                </a:r>
                <a14:m>
                  <m:oMath xmlns:m="http://schemas.openxmlformats.org/officeDocument/2006/math">
                    <m:r>
                      <a:rPr lang="en-US" altLang="zh-CN" i="1" dirty="0" smtClean="0">
                        <a:latin typeface="Cambria Math" panose="02040503050406030204" pitchFamily="18" charset="0"/>
                      </a:rPr>
                      <m:t>𝑏</m:t>
                    </m:r>
                  </m:oMath>
                </a14:m>
                <a:r>
                  <a:rPr lang="zh-CN" altLang="en-US" dirty="0"/>
                  <a:t>，也可以是先检查</a:t>
                </a:r>
                <a14:m>
                  <m:oMath xmlns:m="http://schemas.openxmlformats.org/officeDocument/2006/math">
                    <m:r>
                      <a:rPr lang="en-AU" altLang="zh-CN" i="1" dirty="0" smtClean="0">
                        <a:latin typeface="Cambria Math" panose="02040503050406030204" pitchFamily="18" charset="0"/>
                      </a:rPr>
                      <m:t>𝑏</m:t>
                    </m:r>
                  </m:oMath>
                </a14:m>
                <a:r>
                  <a:rPr lang="zh-CN" altLang="en-US" dirty="0"/>
                  <a:t>和</a:t>
                </a:r>
                <a14:m>
                  <m:oMath xmlns:m="http://schemas.openxmlformats.org/officeDocument/2006/math">
                    <m:r>
                      <a:rPr lang="en-US" altLang="zh-CN" i="1" dirty="0" smtClean="0">
                        <a:latin typeface="Cambria Math" panose="02040503050406030204" pitchFamily="18" charset="0"/>
                      </a:rPr>
                      <m:t>𝑐</m:t>
                    </m:r>
                  </m:oMath>
                </a14:m>
                <a:r>
                  <a:rPr lang="zh-CN" altLang="en-US" dirty="0"/>
                  <a:t>。</a:t>
                </a:r>
                <a:r>
                  <a:rPr lang="en-AU" altLang="zh-CN" dirty="0"/>
                  <a:t>	</a:t>
                </a:r>
                <a:endParaRPr lang="en-AU" altLang="zh-CN" dirty="0"/>
              </a:p>
              <a:p>
                <a:pPr marL="0" indent="0">
                  <a:buNone/>
                </a:pPr>
                <a:r>
                  <a:rPr lang="en-AU" dirty="0"/>
                  <a:t>	</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87926"/>
                <a:ext cx="8229600" cy="4525963"/>
              </a:xfrm>
              <a:blipFill rotWithShape="1">
                <a:blip r:embed="rId1"/>
                <a:stretch>
                  <a:fillRect t="-11" b="-288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上下文无关文法</a:t>
            </a:r>
            <a:r>
              <a:rPr lang="en-US" altLang="zh-CN" dirty="0"/>
              <a:t>(</a:t>
            </a:r>
            <a:r>
              <a:rPr lang="zh-CN" altLang="en-US" dirty="0"/>
              <a:t>课程回顾</a:t>
            </a:r>
            <a:r>
              <a:rPr lang="en-US" altLang="zh-CN" dirty="0"/>
              <a:t>)</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87926"/>
                <a:ext cx="8229600" cy="4525963"/>
              </a:xfrm>
            </p:spPr>
            <p:txBody>
              <a:bodyPr/>
              <a:lstStyle/>
              <a:p>
                <a:r>
                  <a:rPr lang="zh-CN" altLang="en-US" dirty="0"/>
                  <a:t>上下文无关文法</a:t>
                </a:r>
                <a:endParaRPr lang="en-US" altLang="zh-CN" dirty="0"/>
              </a:p>
              <a:p>
                <a:pPr lvl="1"/>
                <a:r>
                  <a:rPr lang="zh-CN" altLang="en-US" dirty="0"/>
                  <a:t>四元组</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𝑉</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𝑇</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r>
                      <a:rPr lang="zh-CN" altLang="en-US" i="1" dirty="0">
                        <a:latin typeface="Cambria Math" panose="02040503050406030204" pitchFamily="18" charset="0"/>
                      </a:rPr>
                      <m:t>，</m:t>
                    </m:r>
                  </m:oMath>
                </a14:m>
                <a:r>
                  <a:rPr lang="zh-CN" altLang="en-US" dirty="0"/>
                  <a:t>能表示形如</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{0</a:t>
                </a:r>
                <a:r>
                  <a:rPr lang="pt-BR" altLang="zh-CN" b="1" i="1" baseline="30000"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b="1" i="1" baseline="30000"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 | </a:t>
                </a:r>
                <a:r>
                  <a:rPr lang="pt-BR" altLang="zh-CN" b="1" i="1" dirty="0">
                    <a:latin typeface="Times New Roman" panose="02020603050405020304" pitchFamily="18" charset="0"/>
                    <a:ea typeface="黑体" panose="02010609060101010101" pitchFamily="49" charset="-122"/>
                    <a:cs typeface="Times New Roman" panose="02020603050405020304" pitchFamily="18" charset="0"/>
                  </a:rPr>
                  <a:t>n</a:t>
                </a:r>
                <a:r>
                  <a:rPr lang="pt-BR" altLang="zh-CN"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dirty="0"/>
                  <a:t>的非正则语言</a:t>
                </a:r>
                <a:endParaRPr lang="en-AU" altLang="zh-CN" dirty="0"/>
              </a:p>
              <a:p>
                <a:r>
                  <a:rPr lang="zh-CN" altLang="en-US" dirty="0"/>
                  <a:t>语法分析树</a:t>
                </a:r>
                <a:endParaRPr lang="en-US" altLang="zh-CN" dirty="0"/>
              </a:p>
              <a:p>
                <a:pPr lvl="1"/>
                <a:r>
                  <a:rPr lang="zh-CN" altLang="en-US" dirty="0"/>
                  <a:t>派生、规约、最左派生、最右派生、语法分析书</a:t>
                </a:r>
                <a:endParaRPr lang="en-AU" altLang="zh-CN" dirty="0"/>
              </a:p>
              <a:p>
                <a:r>
                  <a:rPr lang="zh-CN" altLang="en-US" dirty="0"/>
                  <a:t>文法和语言的</a:t>
                </a:r>
                <a:r>
                  <a:rPr lang="zh-CN" altLang="en-US"/>
                  <a:t>歧义性</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87926"/>
                <a:ext cx="8229600" cy="4525963"/>
              </a:xfrm>
              <a:blipFill rotWithShape="1">
                <a:blip r:embed="rId1"/>
                <a:stretch>
                  <a:fillRect t="-1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35934" y="1187926"/>
                <a:ext cx="8229600" cy="4525963"/>
              </a:xfrm>
            </p:spPr>
            <p:txBody>
              <a:bodyPr/>
              <a:lstStyle/>
              <a:p>
                <a:r>
                  <a:rPr lang="zh-CN" altLang="en-US" dirty="0">
                    <a:solidFill>
                      <a:schemeClr val="bg1">
                        <a:lumMod val="75000"/>
                      </a:schemeClr>
                    </a:solidFill>
                  </a:rPr>
                  <a:t>上下文无关文法</a:t>
                </a:r>
                <a:endParaRPr lang="en-AU" altLang="zh-CN" dirty="0">
                  <a:solidFill>
                    <a:schemeClr val="bg1">
                      <a:lumMod val="75000"/>
                    </a:schemeClr>
                  </a:solidFill>
                </a:endParaRPr>
              </a:p>
              <a:p>
                <a:r>
                  <a:rPr lang="zh-CN" altLang="en-US" dirty="0">
                    <a:solidFill>
                      <a:schemeClr val="bg1">
                        <a:lumMod val="75000"/>
                      </a:schemeClr>
                    </a:solidFill>
                  </a:rPr>
                  <a:t>语法分析树</a:t>
                </a:r>
                <a:endParaRPr lang="en-AU" altLang="zh-CN" dirty="0">
                  <a:solidFill>
                    <a:schemeClr val="bg1">
                      <a:lumMod val="75000"/>
                    </a:schemeClr>
                  </a:solidFill>
                </a:endParaRPr>
              </a:p>
              <a:p>
                <a:r>
                  <a:rPr lang="zh-CN" altLang="en-US" dirty="0">
                    <a:solidFill>
                      <a:schemeClr val="bg1">
                        <a:lumMod val="75000"/>
                      </a:schemeClr>
                    </a:solidFill>
                  </a:rPr>
                  <a:t>文法和语言的歧义性</a:t>
                </a:r>
                <a:endParaRPr lang="en-AU" altLang="zh-CN" dirty="0">
                  <a:solidFill>
                    <a:schemeClr val="bg1">
                      <a:lumMod val="75000"/>
                    </a:schemeClr>
                  </a:solidFill>
                </a:endParaRPr>
              </a:p>
              <a:p>
                <a:r>
                  <a:rPr lang="zh-CN" altLang="en-US" dirty="0">
                    <a:solidFill>
                      <a:srgbClr val="FF0000"/>
                    </a:solidFill>
                  </a:rPr>
                  <a:t>文法的化简与范式</a:t>
                </a:r>
                <a:endParaRPr lang="en-AU" altLang="zh-CN" dirty="0">
                  <a:solidFill>
                    <a:srgbClr val="FF0000"/>
                  </a:solidFill>
                </a:endParaRPr>
              </a:p>
              <a:p>
                <a:pPr lvl="1"/>
                <a:r>
                  <a:rPr lang="zh-CN" altLang="en-US" dirty="0">
                    <a:solidFill>
                      <a:schemeClr val="tx1"/>
                    </a:solidFill>
                  </a:rPr>
                  <a:t>消除无用符号</a:t>
                </a:r>
                <a:endParaRPr lang="en-AU" altLang="zh-CN" dirty="0">
                  <a:solidFill>
                    <a:schemeClr val="tx1"/>
                  </a:solidFill>
                </a:endParaRPr>
              </a:p>
              <a:p>
                <a:pPr lvl="1"/>
                <a:r>
                  <a:rPr lang="zh-CN" altLang="en-US" dirty="0">
                    <a:solidFill>
                      <a:schemeClr val="tx1"/>
                    </a:solidFill>
                  </a:rPr>
                  <a:t>消除</a:t>
                </a:r>
                <a14:m>
                  <m:oMath xmlns:m="http://schemas.openxmlformats.org/officeDocument/2006/math">
                    <m:r>
                      <a:rPr lang="zh-CN" altLang="en-US" i="1" smtClean="0">
                        <a:solidFill>
                          <a:schemeClr val="tx1"/>
                        </a:solidFill>
                        <a:latin typeface="Cambria Math" panose="02040503050406030204" pitchFamily="18" charset="0"/>
                      </a:rPr>
                      <m:t>𝜀</m:t>
                    </m:r>
                    <m:r>
                      <a:rPr lang="en-AU" altLang="zh-CN" b="0" i="1" smtClean="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产生</m:t>
                    </m:r>
                  </m:oMath>
                </a14:m>
                <a:r>
                  <a:rPr lang="zh-CN" altLang="en-US" dirty="0">
                    <a:solidFill>
                      <a:schemeClr val="tx1"/>
                    </a:solidFill>
                  </a:rPr>
                  <a:t>式</a:t>
                </a:r>
                <a:endParaRPr lang="en-AU" altLang="zh-CN" dirty="0">
                  <a:solidFill>
                    <a:schemeClr val="tx1"/>
                  </a:solidFill>
                </a:endParaRPr>
              </a:p>
              <a:p>
                <a:pPr lvl="1"/>
                <a:r>
                  <a:rPr lang="zh-CN" altLang="en-US" dirty="0">
                    <a:solidFill>
                      <a:schemeClr val="tx1"/>
                    </a:solidFill>
                  </a:rPr>
                  <a:t>消除单元产生式</a:t>
                </a:r>
                <a:endParaRPr lang="en-AU" altLang="zh-CN" dirty="0">
                  <a:solidFill>
                    <a:schemeClr val="tx1"/>
                  </a:solidFill>
                </a:endParaRPr>
              </a:p>
              <a:p>
                <a:pPr lvl="1"/>
                <a:r>
                  <a:rPr lang="zh-CN" altLang="en-US" dirty="0">
                    <a:solidFill>
                      <a:schemeClr val="tx1"/>
                    </a:solidFill>
                  </a:rPr>
                  <a:t>乔姆斯基范式</a:t>
                </a:r>
                <a:endParaRPr lang="en-AU" altLang="zh-CN" dirty="0">
                  <a:solidFill>
                    <a:schemeClr val="tx1"/>
                  </a:solidFill>
                </a:endParaRPr>
              </a:p>
              <a:p>
                <a:pPr lvl="1"/>
                <a:r>
                  <a:rPr lang="zh-CN" altLang="en-US" dirty="0">
                    <a:solidFill>
                      <a:schemeClr val="tx1"/>
                    </a:solidFill>
                  </a:rPr>
                  <a:t>格雷巴赫范式</a:t>
                </a:r>
                <a:endParaRPr lang="en-AU" altLang="zh-CN" dirty="0">
                  <a:solidFill>
                    <a:schemeClr val="tx1"/>
                  </a:solidFill>
                </a:endParaRPr>
              </a:p>
              <a:p>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035934" y="1187926"/>
                <a:ext cx="8229600" cy="4525963"/>
              </a:xfrm>
              <a:blipFill rotWithShape="1">
                <a:blip r:embed="rId1"/>
                <a:stretch>
                  <a:fillRect l="-3" t="-11" r="3" b="-1268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为什么要化简？</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典型问题</a:t>
                </a:r>
                <a:r>
                  <a:rPr lang="en-US" altLang="zh-CN" dirty="0"/>
                  <a:t>: </a:t>
                </a:r>
                <a:r>
                  <a:rPr lang="zh-CN" altLang="en-US" dirty="0"/>
                  <a:t>给定</a:t>
                </a:r>
                <a:r>
                  <a:rPr lang="en-US" altLang="zh-CN" dirty="0">
                    <a:latin typeface="Times New Roman" panose="02020603050405020304" pitchFamily="18" charset="0"/>
                    <a:cs typeface="Times New Roman" panose="02020603050405020304" pitchFamily="18" charset="0"/>
                  </a:rPr>
                  <a:t>CFG</a:t>
                </a:r>
                <a:r>
                  <a:rPr lang="en-US" altLang="zh-CN" dirty="0"/>
                  <a:t> </a:t>
                </a:r>
                <a14:m>
                  <m:oMath xmlns:m="http://schemas.openxmlformats.org/officeDocument/2006/math">
                    <m:r>
                      <a:rPr lang="en-US" altLang="zh-CN" i="1" dirty="0" smtClean="0">
                        <a:latin typeface="Cambria Math" panose="02040503050406030204" pitchFamily="18" charset="0"/>
                      </a:rPr>
                      <m:t>𝐺</m:t>
                    </m:r>
                  </m:oMath>
                </a14:m>
                <a:r>
                  <a:rPr lang="zh-CN" altLang="en-US" dirty="0"/>
                  <a:t>和串</a:t>
                </a:r>
                <a14:m>
                  <m:oMath xmlns:m="http://schemas.openxmlformats.org/officeDocument/2006/math">
                    <m:r>
                      <a:rPr lang="en-US" altLang="zh-CN" i="1" dirty="0" smtClean="0">
                        <a:latin typeface="Cambria Math" panose="02040503050406030204" pitchFamily="18" charset="0"/>
                      </a:rPr>
                      <m:t>𝑤</m:t>
                    </m:r>
                  </m:oMath>
                </a14:m>
                <a:r>
                  <a:rPr lang="en-US" altLang="zh-CN" dirty="0"/>
                  <a:t>, </a:t>
                </a:r>
                <a:r>
                  <a:rPr lang="zh-CN" altLang="en-US" dirty="0"/>
                  <a:t>判断 </a:t>
                </a:r>
                <a14:m>
                  <m:oMath xmlns:m="http://schemas.openxmlformats.org/officeDocument/2006/math">
                    <m:r>
                      <a:rPr lang="en-US" altLang="zh-CN" i="1" dirty="0" smtClean="0">
                        <a:latin typeface="Cambria Math" panose="02040503050406030204" pitchFamily="18" charset="0"/>
                      </a:rPr>
                      <m:t>𝑤</m:t>
                    </m:r>
                    <m:r>
                      <a:rPr lang="en-US" altLang="zh-CN" i="1" dirty="0" smtClean="0">
                        <a:latin typeface="Cambria Math" panose="02040503050406030204" pitchFamily="18" charset="0"/>
                      </a:rPr>
                      <m:t> ∈ </m:t>
                    </m:r>
                    <m:r>
                      <a:rPr lang="en-US" altLang="zh-CN" b="1" i="1" dirty="0" smtClean="0">
                        <a:latin typeface="Cambria Math" panose="02040503050406030204" pitchFamily="18" charset="0"/>
                      </a:rPr>
                      <m:t>𝑳</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𝐺</m:t>
                    </m:r>
                    <m:r>
                      <a:rPr lang="en-AU" altLang="zh-CN" b="0" i="1" dirty="0" smtClean="0">
                        <a:latin typeface="Cambria Math" panose="02040503050406030204" pitchFamily="18" charset="0"/>
                      </a:rPr>
                      <m:t>)</m:t>
                    </m:r>
                  </m:oMath>
                </a14:m>
                <a:r>
                  <a:rPr lang="en-US" altLang="zh-CN" dirty="0"/>
                  <a:t>?</a:t>
                </a:r>
                <a:endParaRPr lang="en-US" altLang="zh-CN" dirty="0"/>
              </a:p>
              <a:p>
                <a:r>
                  <a:rPr lang="zh-CN" altLang="en-US" dirty="0"/>
                  <a:t>编译器设计和自然语言处理的基本问题之一</a:t>
                </a:r>
                <a:endParaRPr lang="zh-CN" altLang="en-US" dirty="0"/>
              </a:p>
              <a:p>
                <a:r>
                  <a:rPr lang="zh-CN" altLang="en-US" dirty="0"/>
                  <a:t>但文法的形式非常自由</a:t>
                </a:r>
                <a:r>
                  <a:rPr lang="en-US" altLang="zh-CN" dirty="0"/>
                  <a:t>, </a:t>
                </a:r>
                <a:r>
                  <a:rPr lang="zh-CN" altLang="en-US" dirty="0"/>
                  <a:t>过于复杂不易于自动处理</a:t>
                </a:r>
                <a:endParaRPr lang="zh-CN" altLang="en-US" dirty="0"/>
              </a:p>
              <a:p>
                <a:r>
                  <a:rPr lang="zh-CN" altLang="en-US" dirty="0"/>
                  <a:t>为了便于分析和解决问题</a:t>
                </a:r>
                <a:r>
                  <a:rPr lang="en-AU" altLang="zh-CN" dirty="0"/>
                  <a:t>,</a:t>
                </a:r>
                <a:r>
                  <a:rPr lang="zh-CN" altLang="en-US" dirty="0"/>
                  <a:t>以不改变语言为前提</a:t>
                </a:r>
                <a:r>
                  <a:rPr lang="en-US" altLang="zh-CN" dirty="0"/>
                  <a:t>, </a:t>
                </a:r>
                <a:r>
                  <a:rPr lang="zh-CN" altLang="en-US" dirty="0"/>
                  <a:t>化简文法和限制文法的格式</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文法的化简</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消除无用符号</a:t>
                </a:r>
                <a:r>
                  <a:rPr lang="en-AU" altLang="zh-CN" dirty="0"/>
                  <a:t>(</a:t>
                </a:r>
                <a:r>
                  <a:rPr lang="en-AU" altLang="zh-CN" dirty="0">
                    <a:latin typeface="Times New Roman" panose="02020603050405020304" pitchFamily="18" charset="0"/>
                    <a:cs typeface="Times New Roman" panose="02020603050405020304" pitchFamily="18" charset="0"/>
                  </a:rPr>
                  <a:t>useless symbols</a:t>
                </a:r>
                <a:r>
                  <a:rPr lang="en-AU" altLang="zh-CN" dirty="0"/>
                  <a:t>)</a:t>
                </a:r>
                <a:r>
                  <a:rPr lang="en-US" altLang="zh-CN" dirty="0"/>
                  <a:t>: </a:t>
                </a:r>
                <a:r>
                  <a:rPr lang="zh-CN" altLang="en-US" dirty="0"/>
                  <a:t>对文法定义语言没有贡献的符号</a:t>
                </a:r>
                <a:endParaRPr lang="en-AU" altLang="zh-CN" dirty="0"/>
              </a:p>
              <a:p>
                <a:r>
                  <a:rPr lang="zh-CN" altLang="en-US" dirty="0"/>
                  <a:t>消除</a:t>
                </a:r>
                <a14:m>
                  <m:oMath xmlns:m="http://schemas.openxmlformats.org/officeDocument/2006/math">
                    <m:r>
                      <a:rPr lang="el-GR" i="1" dirty="0" smtClean="0">
                        <a:latin typeface="Cambria Math" panose="02040503050406030204" pitchFamily="18" charset="0"/>
                      </a:rPr>
                      <m:t>𝜀</m:t>
                    </m:r>
                    <m:r>
                      <a:rPr lang="en-AU" b="0" i="1" dirty="0" smtClean="0">
                        <a:latin typeface="Cambria Math" panose="02040503050406030204" pitchFamily="18" charset="0"/>
                      </a:rPr>
                      <m:t>−</m:t>
                    </m:r>
                  </m:oMath>
                </a14:m>
                <a:r>
                  <a:rPr lang="zh-CN" altLang="en-US" dirty="0"/>
                  <a:t>产生式</a:t>
                </a:r>
                <a:r>
                  <a:rPr lang="en-AU" altLang="zh-CN" dirty="0"/>
                  <a:t>(</a:t>
                </a:r>
                <a14:m>
                  <m:oMath xmlns:m="http://schemas.openxmlformats.org/officeDocument/2006/math">
                    <m:r>
                      <a:rPr lang="el-GR" i="1" dirty="0">
                        <a:latin typeface="Cambria Math" panose="02040503050406030204" pitchFamily="18" charset="0"/>
                      </a:rPr>
                      <m:t>𝜀</m:t>
                    </m:r>
                  </m:oMath>
                </a14:m>
                <a:r>
                  <a:rPr lang="en-AU" altLang="zh-CN" dirty="0"/>
                  <a:t>-</a:t>
                </a:r>
                <a:r>
                  <a:rPr lang="en-AU" altLang="zh-CN" dirty="0">
                    <a:latin typeface="Times New Roman" panose="02020603050405020304" pitchFamily="18" charset="0"/>
                    <a:cs typeface="Times New Roman" panose="02020603050405020304" pitchFamily="18" charset="0"/>
                  </a:rPr>
                  <a:t>productions</a:t>
                </a:r>
                <a:r>
                  <a:rPr lang="en-AU" altLang="zh-CN" dirty="0"/>
                  <a:t>)</a:t>
                </a:r>
                <a:r>
                  <a:rPr lang="en-US" altLang="zh-CN" dirty="0"/>
                  <a:t>: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r>
                      <a:rPr lang="el-GR" i="1" dirty="0" smtClean="0">
                        <a:latin typeface="Cambria Math" panose="02040503050406030204" pitchFamily="18" charset="0"/>
                      </a:rPr>
                      <m:t>𝜀</m:t>
                    </m:r>
                    <m:r>
                      <a:rPr lang="el-GR" i="1" dirty="0" smtClean="0">
                        <a:latin typeface="Cambria Math" panose="02040503050406030204" pitchFamily="18" charset="0"/>
                      </a:rPr>
                      <m:t> </m:t>
                    </m:r>
                  </m:oMath>
                </a14:m>
                <a:r>
                  <a:rPr lang="el-GR" dirty="0"/>
                  <a:t>(</a:t>
                </a:r>
                <a:r>
                  <a:rPr lang="zh-CN" altLang="en-US" dirty="0"/>
                  <a:t>得到语言</a:t>
                </a:r>
                <a14:m>
                  <m:oMath xmlns:m="http://schemas.openxmlformats.org/officeDocument/2006/math">
                    <m:r>
                      <a:rPr lang="en-AU" b="0" i="1" dirty="0" smtClean="0">
                        <a:latin typeface="Cambria Math" panose="02040503050406030204" pitchFamily="18" charset="0"/>
                      </a:rPr>
                      <m:t>𝐿</m:t>
                    </m:r>
                    <m:r>
                      <a:rPr lang="en-AU" b="0" i="1" dirty="0" smtClean="0">
                        <a:latin typeface="Cambria Math" panose="02040503050406030204" pitchFamily="18" charset="0"/>
                      </a:rPr>
                      <m:t>−{</m:t>
                    </m:r>
                    <m:r>
                      <a:rPr lang="el-GR" i="1" dirty="0" smtClean="0">
                        <a:latin typeface="Cambria Math" panose="02040503050406030204" pitchFamily="18" charset="0"/>
                      </a:rPr>
                      <m:t>𝜀</m:t>
                    </m:r>
                    <m:r>
                      <a:rPr lang="el-GR" i="1" dirty="0" smtClean="0">
                        <a:latin typeface="Cambria Math" panose="02040503050406030204" pitchFamily="18" charset="0"/>
                      </a:rPr>
                      <m:t>})</m:t>
                    </m:r>
                  </m:oMath>
                </a14:m>
                <a:endParaRPr lang="en-AU" dirty="0"/>
              </a:p>
              <a:p>
                <a:r>
                  <a:rPr lang="zh-CN" altLang="en-US" dirty="0"/>
                  <a:t>消除单元产生式</a:t>
                </a:r>
                <a:r>
                  <a:rPr lang="en-AU" altLang="zh-CN" dirty="0"/>
                  <a:t>(</a:t>
                </a:r>
                <a:r>
                  <a:rPr lang="en-AU" altLang="zh-CN" dirty="0">
                    <a:latin typeface="Times New Roman" panose="02020603050405020304" pitchFamily="18" charset="0"/>
                    <a:cs typeface="Times New Roman" panose="02020603050405020304" pitchFamily="18" charset="0"/>
                  </a:rPr>
                  <a:t>unit productions</a:t>
                </a:r>
                <a:r>
                  <a:rPr lang="en-AU" altLang="zh-CN" dirty="0"/>
                  <a:t>)</a:t>
                </a:r>
                <a:r>
                  <a:rPr lang="en-US" altLang="zh-CN" dirty="0"/>
                  <a:t>: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r>
                      <a:rPr lang="en-AU" i="1" dirty="0" smtClean="0">
                        <a:latin typeface="Cambria Math" panose="02040503050406030204" pitchFamily="18" charset="0"/>
                      </a:rPr>
                      <m:t>𝐵</m:t>
                    </m:r>
                  </m:oMath>
                </a14:m>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消除无用符号</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t>定义</a:t>
                </a:r>
                <a:r>
                  <a:rPr lang="en-AU" altLang="zh-CN" dirty="0"/>
                  <a:t>:</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𝑉</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𝑇</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m:t>
                    </m:r>
                  </m:oMath>
                </a14:m>
                <a:r>
                  <a:rPr lang="zh-CN" altLang="en-US" dirty="0"/>
                  <a:t>符号</a:t>
                </a:r>
                <a14:m>
                  <m:oMath xmlns:m="http://schemas.openxmlformats.org/officeDocument/2006/math">
                    <m:r>
                      <a:rPr lang="en-AU" altLang="zh-CN" i="1" dirty="0" smtClean="0">
                        <a:latin typeface="Cambria Math" panose="02040503050406030204" pitchFamily="18" charset="0"/>
                      </a:rPr>
                      <m:t>𝑋</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𝑉</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𝑇</m:t>
                    </m:r>
                    <m:r>
                      <a:rPr lang="en-AU" altLang="zh-CN" i="1" dirty="0" smtClean="0">
                        <a:latin typeface="Cambria Math" panose="02040503050406030204" pitchFamily="18" charset="0"/>
                      </a:rPr>
                      <m:t>):</m:t>
                    </m:r>
                  </m:oMath>
                </a14:m>
                <a:endParaRPr lang="en-AU" dirty="0"/>
              </a:p>
              <a:p>
                <a:pPr lvl="1"/>
                <a:r>
                  <a:rPr lang="zh-CN" altLang="en-US" dirty="0"/>
                  <a:t>如果</a:t>
                </a:r>
                <a14:m>
                  <m:oMath xmlns:m="http://schemas.openxmlformats.org/officeDocument/2006/math">
                    <m:r>
                      <a:rPr lang="en-US" altLang="zh-CN" i="1" dirty="0" smtClean="0">
                        <a:latin typeface="Cambria Math" panose="02040503050406030204" pitchFamily="18" charset="0"/>
                      </a:rPr>
                      <m:t>𝑆</m:t>
                    </m:r>
                    <m:groupChr>
                      <m:groupChrPr>
                        <m:chr m:val="⇒"/>
                        <m:vertJc m:val="bot"/>
                        <m:ctrlPr>
                          <a:rPr lang="en-US" altLang="zh-CN" i="1" dirty="0" smtClean="0">
                            <a:latin typeface="Cambria Math" panose="02040503050406030204" pitchFamily="18" charset="0"/>
                          </a:rPr>
                        </m:ctrlPr>
                      </m:groupChrPr>
                      <m:e>
                        <m:r>
                          <m:rPr>
                            <m:brk m:alnAt="2"/>
                          </m:rPr>
                          <a:rPr lang="en-AU" altLang="zh-CN" b="0" i="1" dirty="0" smtClean="0">
                            <a:latin typeface="Cambria Math" panose="02040503050406030204" pitchFamily="18" charset="0"/>
                          </a:rPr>
                          <m:t>∗</m:t>
                        </m:r>
                      </m:e>
                    </m:groupChr>
                    <m:r>
                      <a:rPr lang="zh-CN" altLang="en-US" i="1" dirty="0" smtClean="0">
                        <a:latin typeface="Cambria Math" panose="02040503050406030204" pitchFamily="18" charset="0"/>
                      </a:rPr>
                      <m:t>𝛼</m:t>
                    </m:r>
                    <m:r>
                      <a:rPr lang="en-AU" altLang="zh-CN" b="0" i="1" dirty="0" smtClean="0">
                        <a:latin typeface="Cambria Math" panose="02040503050406030204" pitchFamily="18" charset="0"/>
                      </a:rPr>
                      <m:t>𝑋</m:t>
                    </m:r>
                    <m:r>
                      <a:rPr lang="zh-CN" altLang="en-AU" b="0" i="1" dirty="0" smtClean="0">
                        <a:latin typeface="Cambria Math" panose="02040503050406030204" pitchFamily="18" charset="0"/>
                      </a:rPr>
                      <m:t>𝛽</m:t>
                    </m:r>
                  </m:oMath>
                </a14:m>
                <a:r>
                  <a:rPr lang="en-AU" dirty="0"/>
                  <a:t>,</a:t>
                </a:r>
                <a:r>
                  <a:rPr lang="zh-CN" altLang="en-US" dirty="0"/>
                  <a:t>称</a:t>
                </a:r>
                <a14:m>
                  <m:oMath xmlns:m="http://schemas.openxmlformats.org/officeDocument/2006/math">
                    <m:r>
                      <a:rPr lang="en-US" altLang="zh-CN" i="1" dirty="0" smtClean="0">
                        <a:latin typeface="Cambria Math" panose="02040503050406030204" pitchFamily="18" charset="0"/>
                      </a:rPr>
                      <m:t>𝑋</m:t>
                    </m:r>
                  </m:oMath>
                </a14:m>
                <a:r>
                  <a:rPr lang="zh-CN" altLang="en-US" dirty="0"/>
                  <a:t>是可达的</a:t>
                </a:r>
                <a:r>
                  <a:rPr lang="en-AU" altLang="zh-CN" dirty="0"/>
                  <a:t>(</a:t>
                </a:r>
                <a:r>
                  <a:rPr lang="en-AU" altLang="zh-CN" dirty="0">
                    <a:latin typeface="Times New Roman" panose="02020603050405020304" pitchFamily="18" charset="0"/>
                    <a:cs typeface="Times New Roman" panose="02020603050405020304" pitchFamily="18" charset="0"/>
                  </a:rPr>
                  <a:t>reachable</a:t>
                </a:r>
                <a:r>
                  <a:rPr lang="en-AU" altLang="zh-CN" dirty="0"/>
                  <a:t>)</a:t>
                </a:r>
                <a:endParaRPr lang="en-AU" altLang="zh-CN" dirty="0"/>
              </a:p>
              <a:p>
                <a:pPr lvl="1"/>
                <a:r>
                  <a:rPr lang="zh-CN" altLang="en-US" dirty="0"/>
                  <a:t>如果</a:t>
                </a:r>
                <a14:m>
                  <m:oMath xmlns:m="http://schemas.openxmlformats.org/officeDocument/2006/math">
                    <m:r>
                      <a:rPr lang="zh-CN" altLang="en-US" i="1" dirty="0">
                        <a:latin typeface="Cambria Math" panose="02040503050406030204" pitchFamily="18" charset="0"/>
                      </a:rPr>
                      <m:t>𝛼</m:t>
                    </m:r>
                    <m:r>
                      <a:rPr lang="en-AU" altLang="zh-CN" i="1" dirty="0">
                        <a:latin typeface="Cambria Math" panose="02040503050406030204" pitchFamily="18" charset="0"/>
                      </a:rPr>
                      <m:t>𝑋</m:t>
                    </m:r>
                    <m:r>
                      <a:rPr lang="zh-CN" altLang="en-AU" i="1" dirty="0">
                        <a:latin typeface="Cambria Math" panose="02040503050406030204" pitchFamily="18" charset="0"/>
                      </a:rPr>
                      <m:t>𝛽</m:t>
                    </m:r>
                    <m:groupChr>
                      <m:groupChrPr>
                        <m:chr m:val="⇒"/>
                        <m:vertJc m:val="bot"/>
                        <m:ctrlPr>
                          <a:rPr lang="en-US" altLang="zh-CN" i="1" dirty="0" smtClean="0">
                            <a:latin typeface="Cambria Math" panose="02040503050406030204" pitchFamily="18" charset="0"/>
                          </a:rPr>
                        </m:ctrlPr>
                      </m:groupChrPr>
                      <m:e>
                        <m:r>
                          <m:rPr>
                            <m:brk m:alnAt="2"/>
                          </m:rPr>
                          <a:rPr lang="en-AU" altLang="zh-CN" b="0" i="1" dirty="0" smtClean="0">
                            <a:latin typeface="Cambria Math" panose="02040503050406030204" pitchFamily="18" charset="0"/>
                          </a:rPr>
                          <m:t>∗</m:t>
                        </m:r>
                      </m:e>
                    </m:groupChr>
                    <m:r>
                      <a:rPr lang="en-AU" altLang="zh-CN" b="0" i="1" dirty="0" smtClean="0">
                        <a:latin typeface="Cambria Math" panose="02040503050406030204" pitchFamily="18" charset="0"/>
                      </a:rPr>
                      <m:t>𝑤</m:t>
                    </m:r>
                  </m:oMath>
                </a14:m>
                <a:r>
                  <a:rPr lang="en-AU" dirty="0"/>
                  <a:t>(</a:t>
                </a:r>
                <a14:m>
                  <m:oMath xmlns:m="http://schemas.openxmlformats.org/officeDocument/2006/math">
                    <m:r>
                      <a:rPr lang="en-AU" altLang="zh-CN" i="1" dirty="0">
                        <a:latin typeface="Cambria Math" panose="02040503050406030204" pitchFamily="18" charset="0"/>
                      </a:rPr>
                      <m:t>𝑤</m:t>
                    </m:r>
                    <m:r>
                      <a:rPr lang="en-AU" altLang="zh-CN" i="1" dirty="0" smtClean="0">
                        <a:latin typeface="Cambria Math" panose="02040503050406030204" pitchFamily="18" charset="0"/>
                        <a:ea typeface="Cambria Math" panose="02040503050406030204" pitchFamily="18" charset="0"/>
                      </a:rPr>
                      <m:t>∈</m:t>
                    </m:r>
                    <m:sSup>
                      <m:sSupPr>
                        <m:ctrlPr>
                          <a:rPr lang="en-AU" altLang="zh-CN" i="1" dirty="0" smtClean="0">
                            <a:latin typeface="Cambria Math" panose="02040503050406030204" pitchFamily="18" charset="0"/>
                            <a:ea typeface="Cambria Math" panose="02040503050406030204" pitchFamily="18" charset="0"/>
                          </a:rPr>
                        </m:ctrlPr>
                      </m:sSupPr>
                      <m:e>
                        <m:r>
                          <a:rPr lang="en-AU" altLang="zh-CN" b="0" i="1" dirty="0" smtClean="0">
                            <a:latin typeface="Cambria Math" panose="02040503050406030204" pitchFamily="18" charset="0"/>
                            <a:ea typeface="Cambria Math" panose="02040503050406030204" pitchFamily="18" charset="0"/>
                          </a:rPr>
                          <m:t>𝑇</m:t>
                        </m:r>
                      </m:e>
                      <m:sup>
                        <m:r>
                          <a:rPr lang="en-AU" altLang="zh-CN" b="0" i="1" dirty="0" smtClean="0">
                            <a:latin typeface="Cambria Math" panose="02040503050406030204" pitchFamily="18" charset="0"/>
                            <a:ea typeface="Cambria Math" panose="02040503050406030204" pitchFamily="18" charset="0"/>
                          </a:rPr>
                          <m:t>∗</m:t>
                        </m:r>
                      </m:sup>
                    </m:sSup>
                  </m:oMath>
                </a14:m>
                <a:r>
                  <a:rPr lang="en-AU" dirty="0"/>
                  <a:t>)</a:t>
                </a:r>
                <a:r>
                  <a:rPr lang="zh-CN" altLang="en-US" dirty="0"/>
                  <a:t>，称</a:t>
                </a:r>
                <a14:m>
                  <m:oMath xmlns:m="http://schemas.openxmlformats.org/officeDocument/2006/math">
                    <m:r>
                      <a:rPr lang="en-US" altLang="zh-CN" i="1" dirty="0" smtClean="0">
                        <a:latin typeface="Cambria Math" panose="02040503050406030204" pitchFamily="18" charset="0"/>
                      </a:rPr>
                      <m:t>𝑋</m:t>
                    </m:r>
                  </m:oMath>
                </a14:m>
                <a:r>
                  <a:rPr lang="zh-CN" altLang="en-US" dirty="0"/>
                  <a:t>是产生的</a:t>
                </a:r>
                <a:r>
                  <a:rPr lang="en-AU" altLang="zh-CN" dirty="0"/>
                  <a:t>(</a:t>
                </a:r>
                <a:r>
                  <a:rPr lang="en-AU" altLang="zh-CN" dirty="0">
                    <a:latin typeface="Times New Roman" panose="02020603050405020304" pitchFamily="18" charset="0"/>
                    <a:cs typeface="Times New Roman" panose="02020603050405020304" pitchFamily="18" charset="0"/>
                  </a:rPr>
                  <a:t>generating</a:t>
                </a:r>
                <a:r>
                  <a:rPr lang="en-AU" altLang="zh-CN" dirty="0"/>
                  <a:t>)</a:t>
                </a:r>
                <a:endParaRPr lang="en-AU" altLang="zh-CN" dirty="0"/>
              </a:p>
              <a:p>
                <a:pPr lvl="1"/>
                <a:r>
                  <a:rPr lang="zh-CN" altLang="en-US" dirty="0"/>
                  <a:t>如果</a:t>
                </a:r>
                <a14:m>
                  <m:oMath xmlns:m="http://schemas.openxmlformats.org/officeDocument/2006/math">
                    <m:r>
                      <a:rPr lang="en-AU" altLang="zh-CN" i="1" dirty="0" smtClean="0">
                        <a:latin typeface="Cambria Math" panose="02040503050406030204" pitchFamily="18" charset="0"/>
                      </a:rPr>
                      <m:t>𝑋</m:t>
                    </m:r>
                  </m:oMath>
                </a14:m>
                <a:r>
                  <a:rPr lang="zh-CN" altLang="en-US" dirty="0"/>
                  <a:t>同时是产生的和可达的，即</a:t>
                </a:r>
                <a:endParaRPr lang="en-AU" altLang="zh-CN" dirty="0"/>
              </a:p>
              <a:p>
                <a:pPr marL="457200" lvl="1" indent="0">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𝑆</m:t>
                      </m:r>
                      <m:groupChr>
                        <m:groupChrPr>
                          <m:chr m:val="⇒"/>
                          <m:vertJc m:val="bot"/>
                          <m:ctrlPr>
                            <a:rPr lang="en-US" altLang="zh-CN" i="1" dirty="0">
                              <a:latin typeface="Cambria Math" panose="02040503050406030204" pitchFamily="18" charset="0"/>
                            </a:rPr>
                          </m:ctrlPr>
                        </m:groupChrPr>
                        <m:e>
                          <m:r>
                            <m:rPr>
                              <m:brk m:alnAt="2"/>
                            </m:rPr>
                            <a:rPr lang="en-AU" altLang="zh-CN" i="1" dirty="0">
                              <a:latin typeface="Cambria Math" panose="02040503050406030204" pitchFamily="18" charset="0"/>
                            </a:rPr>
                            <m:t>∗</m:t>
                          </m:r>
                        </m:e>
                      </m:groupChr>
                      <m:r>
                        <a:rPr lang="zh-CN" altLang="en-US" i="1" dirty="0">
                          <a:latin typeface="Cambria Math" panose="02040503050406030204" pitchFamily="18" charset="0"/>
                        </a:rPr>
                        <m:t>𝛼</m:t>
                      </m:r>
                      <m:r>
                        <a:rPr lang="en-AU" altLang="zh-CN" i="1" dirty="0">
                          <a:latin typeface="Cambria Math" panose="02040503050406030204" pitchFamily="18" charset="0"/>
                        </a:rPr>
                        <m:t>𝑋</m:t>
                      </m:r>
                      <m:r>
                        <a:rPr lang="zh-CN" altLang="en-AU" i="1" dirty="0">
                          <a:latin typeface="Cambria Math" panose="02040503050406030204" pitchFamily="18" charset="0"/>
                        </a:rPr>
                        <m:t>𝛽</m:t>
                      </m:r>
                      <m:groupChr>
                        <m:groupChrPr>
                          <m:chr m:val="⇒"/>
                          <m:vertJc m:val="bot"/>
                          <m:ctrlPr>
                            <a:rPr lang="en-US" altLang="zh-CN" i="1" dirty="0">
                              <a:latin typeface="Cambria Math" panose="02040503050406030204" pitchFamily="18" charset="0"/>
                            </a:rPr>
                          </m:ctrlPr>
                        </m:groupChrPr>
                        <m:e>
                          <m:r>
                            <m:rPr>
                              <m:brk m:alnAt="2"/>
                            </m:rPr>
                            <a:rPr lang="en-AU" altLang="zh-CN" i="1" dirty="0">
                              <a:latin typeface="Cambria Math" panose="02040503050406030204" pitchFamily="18" charset="0"/>
                            </a:rPr>
                            <m:t>∗</m:t>
                          </m:r>
                        </m:e>
                      </m:groupChr>
                      <m:r>
                        <a:rPr lang="en-AU" altLang="zh-CN" i="1" dirty="0">
                          <a:latin typeface="Cambria Math" panose="02040503050406030204" pitchFamily="18" charset="0"/>
                        </a:rPr>
                        <m:t>𝑤</m:t>
                      </m:r>
                      <m:r>
                        <m:rPr>
                          <m:nor/>
                        </m:rPr>
                        <a:rPr lang="en-AU" dirty="0">
                          <a:latin typeface="Cambria Math" panose="02040503050406030204" pitchFamily="18" charset="0"/>
                        </a:rPr>
                        <m:t>(</m:t>
                      </m:r>
                      <m:r>
                        <a:rPr lang="en-AU" altLang="zh-CN" i="1" dirty="0">
                          <a:latin typeface="Cambria Math" panose="02040503050406030204" pitchFamily="18" charset="0"/>
                        </a:rPr>
                        <m:t>𝑤</m:t>
                      </m:r>
                      <m:r>
                        <a:rPr lang="en-AU" altLang="zh-CN" i="1" dirty="0">
                          <a:latin typeface="Cambria Math" panose="02040503050406030204" pitchFamily="18" charset="0"/>
                          <a:ea typeface="Cambria Math" panose="02040503050406030204" pitchFamily="18" charset="0"/>
                        </a:rPr>
                        <m:t>∈</m:t>
                      </m:r>
                      <m:sSup>
                        <m:sSupPr>
                          <m:ctrlPr>
                            <a:rPr lang="en-AU" altLang="zh-CN" i="1" dirty="0">
                              <a:latin typeface="Cambria Math" panose="02040503050406030204" pitchFamily="18" charset="0"/>
                              <a:ea typeface="Cambria Math" panose="02040503050406030204" pitchFamily="18" charset="0"/>
                            </a:rPr>
                          </m:ctrlPr>
                        </m:sSupPr>
                        <m:e>
                          <m:r>
                            <a:rPr lang="en-AU" altLang="zh-CN" i="1" dirty="0">
                              <a:latin typeface="Cambria Math" panose="02040503050406030204" pitchFamily="18" charset="0"/>
                              <a:ea typeface="Cambria Math" panose="02040503050406030204" pitchFamily="18" charset="0"/>
                            </a:rPr>
                            <m:t>𝑇</m:t>
                          </m:r>
                        </m:e>
                        <m:sup>
                          <m:r>
                            <a:rPr lang="en-AU" altLang="zh-CN" i="1" dirty="0">
                              <a:latin typeface="Cambria Math" panose="02040503050406030204" pitchFamily="18" charset="0"/>
                              <a:ea typeface="Cambria Math" panose="02040503050406030204" pitchFamily="18" charset="0"/>
                            </a:rPr>
                            <m:t>∗</m:t>
                          </m:r>
                        </m:sup>
                      </m:sSup>
                      <m:r>
                        <m:rPr>
                          <m:nor/>
                        </m:rPr>
                        <a:rPr lang="en-AU" dirty="0">
                          <a:latin typeface="Cambria Math" panose="02040503050406030204" pitchFamily="18" charset="0"/>
                        </a:rPr>
                        <m:t>)</m:t>
                      </m:r>
                    </m:oMath>
                  </m:oMathPara>
                </a14:m>
                <a:endParaRPr lang="en-AU" dirty="0"/>
              </a:p>
              <a:p>
                <a:pPr marL="457200" lvl="1" indent="0">
                  <a:buNone/>
                </a:pPr>
                <a:r>
                  <a:rPr lang="zh-CN" altLang="en-US" dirty="0"/>
                  <a:t>则称</a:t>
                </a:r>
                <a14:m>
                  <m:oMath xmlns:m="http://schemas.openxmlformats.org/officeDocument/2006/math">
                    <m:r>
                      <a:rPr lang="en-US" altLang="zh-CN" i="1" dirty="0" smtClean="0">
                        <a:latin typeface="Cambria Math" panose="02040503050406030204" pitchFamily="18" charset="0"/>
                      </a:rPr>
                      <m:t>𝑋</m:t>
                    </m:r>
                  </m:oMath>
                </a14:m>
                <a:r>
                  <a:rPr lang="zh-CN" altLang="en-US" dirty="0"/>
                  <a:t>是有用的，否则称</a:t>
                </a:r>
                <a14:m>
                  <m:oMath xmlns:m="http://schemas.openxmlformats.org/officeDocument/2006/math">
                    <m:r>
                      <a:rPr lang="en-US" altLang="zh-CN" i="1" dirty="0" smtClean="0">
                        <a:latin typeface="Cambria Math" panose="02040503050406030204" pitchFamily="18" charset="0"/>
                      </a:rPr>
                      <m:t>𝑋</m:t>
                    </m:r>
                  </m:oMath>
                </a14:m>
                <a:r>
                  <a:rPr lang="zh-CN" altLang="en-US" dirty="0"/>
                  <a:t>为无用符号。</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消除无用符号</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87681" y="1067080"/>
                <a:ext cx="8229600" cy="4525963"/>
              </a:xfrm>
            </p:spPr>
            <p:txBody>
              <a:bodyPr/>
              <a:lstStyle/>
              <a:p>
                <a:r>
                  <a:rPr lang="zh-CN" altLang="en-US" dirty="0"/>
                  <a:t>计算“产生的”符号集</a:t>
                </a:r>
                <a:endParaRPr lang="en-AU" altLang="zh-CN" dirty="0"/>
              </a:p>
              <a:p>
                <a:pPr lvl="1"/>
                <a:r>
                  <a:rPr lang="zh-CN" altLang="en-US" dirty="0"/>
                  <a:t>每个</a:t>
                </a:r>
                <a14:m>
                  <m:oMath xmlns:m="http://schemas.openxmlformats.org/officeDocument/2006/math">
                    <m:r>
                      <a:rPr lang="en-AU" altLang="zh-CN" i="1" dirty="0" smtClean="0">
                        <a:latin typeface="Cambria Math" panose="02040503050406030204" pitchFamily="18" charset="0"/>
                      </a:rPr>
                      <m:t>𝑇</m:t>
                    </m:r>
                  </m:oMath>
                </a14:m>
                <a:r>
                  <a:rPr lang="zh-CN" altLang="en-US" dirty="0"/>
                  <a:t>中的符号都是产生的</a:t>
                </a:r>
                <a:endParaRPr lang="en-AU" altLang="zh-CN" dirty="0"/>
              </a:p>
              <a:p>
                <a:pPr lvl="1"/>
                <a14:m>
                  <m:oMath xmlns:m="http://schemas.openxmlformats.org/officeDocument/2006/math">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 </m:t>
                    </m:r>
                    <m:r>
                      <a:rPr lang="el-GR" altLang="zh-CN" i="1" dirty="0" smtClean="0">
                        <a:latin typeface="Cambria Math" panose="02040503050406030204" pitchFamily="18" charset="0"/>
                      </a:rPr>
                      <m:t>𝛼</m:t>
                    </m:r>
                    <m:r>
                      <a:rPr lang="el-GR" altLang="zh-CN" i="1" dirty="0" smtClean="0">
                        <a:latin typeface="Cambria Math" panose="02040503050406030204" pitchFamily="18" charset="0"/>
                      </a:rPr>
                      <m:t> ∈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oMath>
                </a14:m>
                <a:r>
                  <a:rPr lang="zh-CN" altLang="en-US" dirty="0"/>
                  <a:t>且</a:t>
                </a:r>
                <a14:m>
                  <m:oMath xmlns:m="http://schemas.openxmlformats.org/officeDocument/2006/math">
                    <m:r>
                      <a:rPr lang="el-GR" altLang="zh-CN" i="1" dirty="0" smtClean="0">
                        <a:latin typeface="Cambria Math" panose="02040503050406030204" pitchFamily="18" charset="0"/>
                      </a:rPr>
                      <m:t>𝛼</m:t>
                    </m:r>
                  </m:oMath>
                </a14:m>
                <a:r>
                  <a:rPr lang="zh-CN" altLang="en-US" dirty="0"/>
                  <a:t>中符号都是产生的</a:t>
                </a:r>
                <a:r>
                  <a:rPr lang="en-US" altLang="zh-CN" dirty="0"/>
                  <a:t>, </a:t>
                </a:r>
                <a:r>
                  <a:rPr lang="zh-CN" altLang="en-US" dirty="0"/>
                  <a:t>则</a:t>
                </a:r>
                <a14:m>
                  <m:oMath xmlns:m="http://schemas.openxmlformats.org/officeDocument/2006/math">
                    <m:r>
                      <a:rPr lang="en-AU" altLang="zh-CN" i="1" dirty="0" smtClean="0">
                        <a:latin typeface="Cambria Math" panose="02040503050406030204" pitchFamily="18" charset="0"/>
                      </a:rPr>
                      <m:t>𝐴</m:t>
                    </m:r>
                  </m:oMath>
                </a14:m>
                <a:r>
                  <a:rPr lang="zh-CN" altLang="en-US" dirty="0"/>
                  <a:t>是产生的</a:t>
                </a:r>
                <a:endParaRPr lang="en-AU" altLang="zh-CN" dirty="0"/>
              </a:p>
              <a:p>
                <a:pPr lvl="1"/>
                <a:endParaRPr lang="en-AU" altLang="zh-CN" dirty="0"/>
              </a:p>
              <a:p>
                <a:r>
                  <a:rPr lang="zh-CN" altLang="en-US" dirty="0"/>
                  <a:t>计算“可达的”符号集</a:t>
                </a:r>
                <a:endParaRPr lang="en-AU" altLang="zh-CN" dirty="0"/>
              </a:p>
              <a:p>
                <a:pPr lvl="1"/>
                <a:r>
                  <a:rPr lang="zh-CN" altLang="en-US" dirty="0"/>
                  <a:t>符号</a:t>
                </a:r>
                <a14:m>
                  <m:oMath xmlns:m="http://schemas.openxmlformats.org/officeDocument/2006/math">
                    <m:r>
                      <a:rPr lang="en-AU" i="1" dirty="0" smtClean="0">
                        <a:latin typeface="Cambria Math" panose="02040503050406030204" pitchFamily="18" charset="0"/>
                      </a:rPr>
                      <m:t>𝑆</m:t>
                    </m:r>
                  </m:oMath>
                </a14:m>
                <a:r>
                  <a:rPr lang="zh-CN" altLang="en-US" dirty="0"/>
                  <a:t>是可达的</a:t>
                </a:r>
                <a:r>
                  <a:rPr lang="en-US" altLang="zh-CN" dirty="0"/>
                  <a:t>;</a:t>
                </a:r>
                <a:endParaRPr lang="en-US" altLang="zh-CN" dirty="0"/>
              </a:p>
              <a:p>
                <a:pPr lvl="1"/>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r>
                      <a:rPr lang="el-GR" i="1" dirty="0" smtClean="0">
                        <a:latin typeface="Cambria Math" panose="02040503050406030204" pitchFamily="18" charset="0"/>
                      </a:rPr>
                      <m:t>𝛼</m:t>
                    </m:r>
                    <m:r>
                      <a:rPr lang="el-GR" i="1" dirty="0" smtClean="0">
                        <a:latin typeface="Cambria Math" panose="02040503050406030204" pitchFamily="18" charset="0"/>
                      </a:rPr>
                      <m:t> ∈ </m:t>
                    </m:r>
                    <m:r>
                      <a:rPr lang="en-AU" i="1" dirty="0" smtClean="0">
                        <a:latin typeface="Cambria Math" panose="02040503050406030204" pitchFamily="18" charset="0"/>
                      </a:rPr>
                      <m:t>𝑃</m:t>
                    </m:r>
                    <m:r>
                      <a:rPr lang="en-AU" i="1" dirty="0" smtClean="0">
                        <a:latin typeface="Cambria Math" panose="02040503050406030204" pitchFamily="18" charset="0"/>
                      </a:rPr>
                      <m:t> </m:t>
                    </m:r>
                  </m:oMath>
                </a14:m>
                <a:r>
                  <a:rPr lang="zh-CN" altLang="en-US" dirty="0"/>
                  <a:t>且</a:t>
                </a:r>
                <a14:m>
                  <m:oMath xmlns:m="http://schemas.openxmlformats.org/officeDocument/2006/math">
                    <m:r>
                      <a:rPr lang="en-AU" i="1" dirty="0" smtClean="0">
                        <a:latin typeface="Cambria Math" panose="02040503050406030204" pitchFamily="18" charset="0"/>
                      </a:rPr>
                      <m:t>𝐴</m:t>
                    </m:r>
                  </m:oMath>
                </a14:m>
                <a:r>
                  <a:rPr lang="zh-CN" altLang="en-US" dirty="0"/>
                  <a:t>是可达的</a:t>
                </a:r>
                <a:r>
                  <a:rPr lang="en-US" altLang="zh-CN" dirty="0"/>
                  <a:t>, </a:t>
                </a:r>
                <a:r>
                  <a:rPr lang="zh-CN" altLang="en-US" dirty="0"/>
                  <a:t>则</a:t>
                </a:r>
                <a14:m>
                  <m:oMath xmlns:m="http://schemas.openxmlformats.org/officeDocument/2006/math">
                    <m:r>
                      <a:rPr lang="el-GR" i="1" dirty="0" smtClean="0">
                        <a:latin typeface="Cambria Math" panose="02040503050406030204" pitchFamily="18" charset="0"/>
                      </a:rPr>
                      <m:t>𝛼</m:t>
                    </m:r>
                  </m:oMath>
                </a14:m>
                <a:r>
                  <a:rPr lang="zh-CN" altLang="en-US" dirty="0"/>
                  <a:t>中符号都是可达的</a:t>
                </a:r>
                <a:endParaRPr lang="en-AU" altLang="zh-CN" dirty="0"/>
              </a:p>
              <a:p>
                <a:pPr marL="457200" lvl="1" indent="0">
                  <a:buNone/>
                </a:pPr>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87681" y="1067080"/>
                <a:ext cx="8229600" cy="4525963"/>
              </a:xfrm>
              <a:blipFill rotWithShape="1">
                <a:blip r:embed="rId1"/>
                <a:stretch>
                  <a:fillRect t="-6" b="-844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6" name="TextBox 5"/>
          <p:cNvSpPr txBox="1"/>
          <p:nvPr/>
        </p:nvSpPr>
        <p:spPr>
          <a:xfrm>
            <a:off x="207646" y="5513031"/>
            <a:ext cx="8509635" cy="461665"/>
          </a:xfrm>
          <a:prstGeom prst="rect">
            <a:avLst/>
          </a:prstGeom>
          <a:noFill/>
        </p:spPr>
        <p:txBody>
          <a:bodyPr wrap="square">
            <a:spAutoFit/>
          </a:bodyPr>
          <a:lstStyle/>
          <a:p>
            <a:pPr marL="457200" lvl="1" indent="0">
              <a:buNone/>
            </a:pPr>
            <a:r>
              <a:rPr lang="zh-CN" altLang="en-US" sz="2400" dirty="0">
                <a:latin typeface="楷体" panose="02010609060101010101" pitchFamily="49" charset="-122"/>
                <a:ea typeface="楷体" panose="02010609060101010101" pitchFamily="49" charset="-122"/>
              </a:rPr>
              <a:t>删除全部含有“非产生的”和“非可达的”符号的产生式。</a:t>
            </a:r>
            <a:endParaRPr lang="en-AU" sz="2400" dirty="0">
              <a:latin typeface="楷体" panose="02010609060101010101" pitchFamily="49" charset="-122"/>
              <a:ea typeface="楷体" panose="02010609060101010101"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消除无用符号</a:t>
            </a:r>
            <a:endParaRPr lang="en-AU" dirty="0"/>
          </a:p>
        </p:txBody>
      </p:sp>
      <p:sp>
        <p:nvSpPr>
          <p:cNvPr id="3" name="Content Placeholder 2"/>
          <p:cNvSpPr>
            <a:spLocks noGrp="1"/>
          </p:cNvSpPr>
          <p:nvPr>
            <p:ph idx="1"/>
          </p:nvPr>
        </p:nvSpPr>
        <p:spPr/>
        <p:txBody>
          <a:bodyPr/>
          <a:lstStyle/>
          <a:p>
            <a:r>
              <a:rPr lang="zh-CN" altLang="en-US" dirty="0"/>
              <a:t>定理</a:t>
            </a:r>
            <a:r>
              <a:rPr lang="en-AU" altLang="zh-CN" dirty="0"/>
              <a:t>:</a:t>
            </a:r>
            <a:r>
              <a:rPr lang="zh-CN" altLang="en-US" dirty="0"/>
              <a:t>每个非空的</a:t>
            </a:r>
            <a:r>
              <a:rPr lang="en-AU" altLang="zh-CN" dirty="0">
                <a:latin typeface="Times New Roman" panose="02020603050405020304" pitchFamily="18" charset="0"/>
                <a:cs typeface="Times New Roman" panose="02020603050405020304" pitchFamily="18" charset="0"/>
              </a:rPr>
              <a:t>CFL</a:t>
            </a:r>
            <a:r>
              <a:rPr lang="zh-CN" altLang="en-US" dirty="0"/>
              <a:t>都能被一个不带无用符号的</a:t>
            </a:r>
            <a:r>
              <a:rPr lang="en-AU" altLang="zh-CN" dirty="0">
                <a:latin typeface="Times New Roman" panose="02020603050405020304" pitchFamily="18" charset="0"/>
                <a:cs typeface="Times New Roman" panose="02020603050405020304" pitchFamily="18" charset="0"/>
              </a:rPr>
              <a:t>CFG</a:t>
            </a:r>
            <a:r>
              <a:rPr lang="zh-CN" altLang="en-US" dirty="0"/>
              <a:t>定义。</a:t>
            </a:r>
            <a:endParaRPr lang="en-AU" altLang="zh-CN"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消除无用符号</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49797" y="998316"/>
                <a:ext cx="8229600" cy="4525963"/>
              </a:xfrm>
            </p:spPr>
            <p:txBody>
              <a:bodyPr/>
              <a:lstStyle/>
              <a:p>
                <a:r>
                  <a:rPr lang="zh-CN" altLang="en-US" dirty="0"/>
                  <a:t>注意</a:t>
                </a:r>
                <a:r>
                  <a:rPr lang="en-AU" altLang="zh-CN" dirty="0"/>
                  <a:t>:</a:t>
                </a:r>
                <a:endParaRPr lang="en-AU" altLang="zh-CN" dirty="0"/>
              </a:p>
              <a:p>
                <a:pPr lvl="1"/>
                <a:r>
                  <a:rPr lang="zh-CN" altLang="en-US" dirty="0"/>
                  <a:t>先寻找并消除全部非“产生的”符号</a:t>
                </a:r>
                <a:endParaRPr lang="zh-CN" altLang="en-US" dirty="0"/>
              </a:p>
              <a:p>
                <a:pPr lvl="1"/>
                <a:r>
                  <a:rPr lang="zh-CN" altLang="en-US" dirty="0"/>
                  <a:t>再寻找并消除全部非“可达的”符号</a:t>
                </a:r>
                <a:endParaRPr lang="zh-CN" altLang="en-US" dirty="0"/>
              </a:p>
              <a:p>
                <a:pPr lvl="1"/>
                <a:r>
                  <a:rPr lang="zh-CN" altLang="en-US" dirty="0"/>
                  <a:t>否则可能消除不完整</a:t>
                </a:r>
                <a:endParaRPr lang="en-AU" altLang="zh-CN" dirty="0"/>
              </a:p>
              <a:p>
                <a:r>
                  <a:rPr lang="zh-CN" altLang="en-US" dirty="0"/>
                  <a:t>例</a:t>
                </a:r>
                <a:r>
                  <a:rPr lang="en-AU" altLang="zh-CN" dirty="0"/>
                  <a:t>:</a:t>
                </a:r>
                <a:r>
                  <a:rPr lang="zh-CN" altLang="en-US" dirty="0"/>
                  <a:t>消除如下文法无用符号</a:t>
                </a:r>
                <a:r>
                  <a:rPr lang="en-AU" altLang="zh-CN" dirty="0"/>
                  <a:t>:</a:t>
                </a:r>
                <a14:m>
                  <m:oMath xmlns:m="http://schemas.openxmlformats.org/officeDocument/2006/math">
                    <m:r>
                      <a:rPr lang="pt-BR" altLang="zh-CN" i="1" dirty="0" smtClean="0">
                        <a:latin typeface="Cambria Math" panose="02040503050406030204" pitchFamily="18" charset="0"/>
                      </a:rPr>
                      <m:t>𝑆</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𝐴𝐵</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𝑎</m:t>
                    </m:r>
                    <m:r>
                      <a:rPr lang="en-AU" altLang="zh-CN" b="0" i="0" dirty="0" smtClean="0">
                        <a:latin typeface="Cambria Math" panose="02040503050406030204" pitchFamily="18" charset="0"/>
                      </a:rPr>
                      <m:t>, </m:t>
                    </m:r>
                    <m:r>
                      <a:rPr lang="pt-BR" altLang="zh-CN" i="1" dirty="0" smtClean="0">
                        <a:latin typeface="Cambria Math" panose="02040503050406030204" pitchFamily="18" charset="0"/>
                      </a:rPr>
                      <m:t>𝐴</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𝑏</m:t>
                    </m:r>
                  </m:oMath>
                </a14:m>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49797" y="998316"/>
                <a:ext cx="8229600" cy="4525963"/>
              </a:xfrm>
              <a:blipFill rotWithShape="1">
                <a:blip r:embed="rId1"/>
                <a:stretch>
                  <a:fillRect l="-6" t="-2" r="6" b="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914400" y="671037"/>
                <a:ext cx="7315200" cy="2143125"/>
              </a:xfrm>
              <a:prstGeom prst="rect">
                <a:avLst/>
              </a:prstGeom>
              <a:noFill/>
            </p:spPr>
            <p:txBody>
              <a:bodyPr vert="horz" wrap="square" rtlCol="0" anchor="ctr" anchorCtr="0">
                <a:noAutofit/>
              </a:bodyPr>
              <a:lstStyle/>
              <a:p>
                <a:r>
                  <a:rPr lang="zh-CN" altLang="en-US" sz="2800" b="1" dirty="0"/>
                  <a:t>例</a:t>
                </a:r>
                <a:r>
                  <a:rPr lang="en-AU" altLang="zh-CN" sz="2800" b="1" dirty="0"/>
                  <a:t>:</a:t>
                </a:r>
                <a:r>
                  <a:rPr lang="zh-CN" altLang="en-US" sz="2800" b="1" dirty="0"/>
                  <a:t>消除如下文法无用符号</a:t>
                </a:r>
                <a:r>
                  <a:rPr lang="en-AU" altLang="zh-CN" sz="2800" b="1" dirty="0"/>
                  <a:t>:</a:t>
                </a:r>
                <a:endParaRPr lang="en-AU" altLang="zh-CN" sz="2800" b="1" dirty="0"/>
              </a:p>
              <a:p>
                <a:pPr marL="0" indent="0">
                  <a:buNone/>
                </a:pPr>
                <a14:m>
                  <m:oMathPara xmlns:m="http://schemas.openxmlformats.org/officeDocument/2006/math">
                    <m:oMathParaPr>
                      <m:jc m:val="centerGroup"/>
                    </m:oMathParaPr>
                    <m:oMath xmlns:m="http://schemas.openxmlformats.org/officeDocument/2006/math">
                      <m:r>
                        <a:rPr lang="pt-BR" altLang="zh-CN" sz="2800" b="1" i="1" dirty="0" smtClean="0">
                          <a:latin typeface="Cambria Math" panose="02040503050406030204" pitchFamily="18" charset="0"/>
                        </a:rPr>
                        <m:t>𝑺</m:t>
                      </m:r>
                      <m:r>
                        <a:rPr lang="pt-BR" altLang="zh-CN" sz="2800" b="1" i="1" dirty="0" smtClean="0">
                          <a:latin typeface="Cambria Math" panose="02040503050406030204" pitchFamily="18" charset="0"/>
                        </a:rPr>
                        <m:t> → </m:t>
                      </m:r>
                      <m:r>
                        <a:rPr lang="pt-BR" altLang="zh-CN" sz="2800" b="1" i="1" dirty="0" smtClean="0">
                          <a:latin typeface="Cambria Math" panose="02040503050406030204" pitchFamily="18" charset="0"/>
                        </a:rPr>
                        <m:t>𝑨𝑩</m:t>
                      </m:r>
                      <m:r>
                        <a:rPr lang="pt-BR" altLang="zh-CN" sz="2800" b="1" i="1" dirty="0" smtClean="0">
                          <a:latin typeface="Cambria Math" panose="02040503050406030204" pitchFamily="18" charset="0"/>
                        </a:rPr>
                        <m:t> | </m:t>
                      </m:r>
                      <m:r>
                        <a:rPr lang="pt-BR" altLang="zh-CN" sz="2800" b="1" i="1" dirty="0" smtClean="0">
                          <a:latin typeface="Cambria Math" panose="02040503050406030204" pitchFamily="18" charset="0"/>
                        </a:rPr>
                        <m:t>𝒂</m:t>
                      </m:r>
                      <m:r>
                        <a:rPr lang="en-AU" altLang="zh-CN" sz="2800" b="1" i="0" dirty="0" smtClean="0">
                          <a:latin typeface="Cambria Math" panose="02040503050406030204" pitchFamily="18" charset="0"/>
                        </a:rPr>
                        <m:t>, </m:t>
                      </m:r>
                      <m:r>
                        <a:rPr lang="pt-BR" altLang="zh-CN" sz="2800" b="1" i="1" dirty="0" smtClean="0">
                          <a:latin typeface="Cambria Math" panose="02040503050406030204" pitchFamily="18" charset="0"/>
                        </a:rPr>
                        <m:t>𝑨</m:t>
                      </m:r>
                      <m:r>
                        <a:rPr lang="pt-BR" altLang="zh-CN" sz="2800" b="1" i="1" dirty="0" smtClean="0">
                          <a:latin typeface="Cambria Math" panose="02040503050406030204" pitchFamily="18" charset="0"/>
                        </a:rPr>
                        <m:t> → </m:t>
                      </m:r>
                      <m:r>
                        <a:rPr lang="pt-BR" altLang="zh-CN" sz="2800" b="1" i="1" dirty="0" smtClean="0">
                          <a:latin typeface="Cambria Math" panose="02040503050406030204" pitchFamily="18" charset="0"/>
                        </a:rPr>
                        <m:t>𝒃</m:t>
                      </m:r>
                    </m:oMath>
                  </m:oMathPara>
                </a14:m>
                <a:endParaRPr lang="en-AU" altLang="zh-CN" sz="2800" b="1" dirty="0"/>
              </a:p>
              <a:p>
                <a:r>
                  <a:rPr lang="en-US" altLang="zh-CN" sz="2800" b="1" dirty="0">
                    <a:solidFill>
                      <a:srgbClr val="FF0000"/>
                    </a:solidFill>
                  </a:rPr>
                  <a:t>“</a:t>
                </a:r>
                <a:r>
                  <a:rPr lang="zh-CN" altLang="en-US" sz="2800" b="1" dirty="0">
                    <a:solidFill>
                      <a:srgbClr val="FF0000"/>
                    </a:solidFill>
                  </a:rPr>
                  <a:t>消除非产生的</a:t>
                </a:r>
                <a:r>
                  <a:rPr lang="en-US" altLang="zh-CN" sz="2800" b="1" dirty="0">
                    <a:solidFill>
                      <a:srgbClr val="FF0000"/>
                    </a:solidFill>
                  </a:rPr>
                  <a:t>”</a:t>
                </a:r>
                <a:r>
                  <a:rPr lang="zh-CN" altLang="en-US" sz="2800" b="1" dirty="0">
                    <a:solidFill>
                      <a:srgbClr val="FF0000"/>
                    </a:solidFill>
                  </a:rPr>
                  <a:t>得到</a:t>
                </a:r>
                <a:r>
                  <a:rPr lang="zh-CN" altLang="en-US" sz="2800" b="1" dirty="0">
                    <a:solidFill>
                      <a:srgbClr val="639EF4"/>
                    </a:solidFill>
                  </a:rPr>
                  <a:t> </a:t>
                </a:r>
                <a:r>
                  <a:rPr lang="en-US" altLang="zh-CN" sz="2800" b="1" dirty="0">
                    <a:solidFill>
                      <a:srgbClr val="639EF4"/>
                    </a:solidFill>
                  </a:rPr>
                  <a:t>[</a:t>
                </a:r>
                <a:r>
                  <a:rPr lang="zh-CN" altLang="en-US" sz="2800" b="1" dirty="0">
                    <a:solidFill>
                      <a:srgbClr val="639EF4"/>
                    </a:solidFill>
                  </a:rPr>
                  <a:t>填空</a:t>
                </a:r>
                <a:r>
                  <a:rPr lang="en-US" altLang="zh-CN" sz="2800" b="1" dirty="0">
                    <a:solidFill>
                      <a:srgbClr val="639EF4"/>
                    </a:solidFill>
                  </a:rPr>
                  <a:t>1]</a:t>
                </a:r>
                <a:r>
                  <a:rPr lang="en-US" altLang="zh-CN" sz="2800" b="1" dirty="0">
                    <a:solidFill>
                      <a:srgbClr val="000000"/>
                    </a:solidFill>
                  </a:rPr>
                  <a:t> </a:t>
                </a:r>
                <a:endParaRPr lang="en-US" altLang="zh-CN" sz="2800" b="1" dirty="0">
                  <a:solidFill>
                    <a:srgbClr val="000000"/>
                  </a:solidFill>
                </a:endParaRPr>
              </a:p>
              <a:p>
                <a:r>
                  <a:rPr lang="en-US" altLang="zh-CN" sz="2800" b="1" dirty="0">
                    <a:solidFill>
                      <a:srgbClr val="FF0000"/>
                    </a:solidFill>
                  </a:rPr>
                  <a:t>“</a:t>
                </a:r>
                <a:r>
                  <a:rPr lang="zh-CN" altLang="en-US" sz="2800" b="1" dirty="0">
                    <a:solidFill>
                      <a:srgbClr val="FF0000"/>
                    </a:solidFill>
                  </a:rPr>
                  <a:t>消除非可达的</a:t>
                </a:r>
                <a:r>
                  <a:rPr lang="en-US" altLang="zh-CN" sz="2800" b="1" dirty="0">
                    <a:solidFill>
                      <a:srgbClr val="FF0000"/>
                    </a:solidFill>
                  </a:rPr>
                  <a:t>”</a:t>
                </a:r>
                <a:r>
                  <a:rPr lang="zh-CN" altLang="en-US" sz="2800" b="1" dirty="0">
                    <a:solidFill>
                      <a:srgbClr val="FF0000"/>
                    </a:solidFill>
                  </a:rPr>
                  <a:t>得到</a:t>
                </a:r>
                <a:r>
                  <a:rPr lang="zh-CN" altLang="en-US" sz="2800" b="1" dirty="0">
                    <a:solidFill>
                      <a:srgbClr val="639EF4"/>
                    </a:solidFill>
                  </a:rPr>
                  <a:t> </a:t>
                </a:r>
                <a:r>
                  <a:rPr lang="en-US" altLang="zh-CN" sz="2800" b="1" dirty="0">
                    <a:solidFill>
                      <a:srgbClr val="639EF4"/>
                    </a:solidFill>
                  </a:rPr>
                  <a:t>[</a:t>
                </a:r>
                <a:r>
                  <a:rPr lang="zh-CN" altLang="en-US" sz="2800" b="1" dirty="0">
                    <a:solidFill>
                      <a:srgbClr val="639EF4"/>
                    </a:solidFill>
                  </a:rPr>
                  <a:t>填空</a:t>
                </a:r>
                <a:r>
                  <a:rPr lang="en-US" altLang="zh-CN" sz="2800" b="1" dirty="0">
                    <a:solidFill>
                      <a:srgbClr val="639EF4"/>
                    </a:solidFill>
                  </a:rPr>
                  <a:t>2]</a:t>
                </a:r>
                <a:r>
                  <a:rPr lang="en-US" altLang="zh-CN" sz="2800" b="1" dirty="0">
                    <a:solidFill>
                      <a:srgbClr val="000000"/>
                    </a:solidFill>
                  </a:rPr>
                  <a:t> </a:t>
                </a:r>
                <a:endParaRPr lang="en-AU" altLang="zh-CN" sz="2800" b="1" dirty="0">
                  <a:solidFill>
                    <a:srgbClr val="000000"/>
                  </a:solidFill>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914400" y="671037"/>
                <a:ext cx="7315200" cy="2143125"/>
              </a:xfrm>
              <a:prstGeom prst="rect">
                <a:avLst/>
              </a:prstGeom>
              <a:blipFill rotWithShape="1">
                <a:blip r:embed="rId3"/>
                <a:stretch>
                  <a:fillRect t="-22" b="22"/>
                </a:stretch>
              </a:blipFill>
            </p:spPr>
            <p:txBody>
              <a:bodyPr/>
              <a:lstStyle/>
              <a:p>
                <a:r>
                  <a:rPr lang="zh-CN" altLang="en-US">
                    <a:noFill/>
                  </a:rPr>
                  <a:t> </a:t>
                </a:r>
              </a:p>
            </p:txBody>
          </p:sp>
        </mc:Fallback>
      </mc:AlternateContent>
      <p:sp>
        <p:nvSpPr>
          <p:cNvPr id="8" name="矩形: 圆角 7"/>
          <p:cNvSpPr/>
          <p:nvPr>
            <p:custDataLst>
              <p:tags r:id="rId4"/>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3" name="组合 12"/>
          <p:cNvGrpSpPr/>
          <p:nvPr>
            <p:custDataLst>
              <p:tags r:id="rId5"/>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0"/>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2"/>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消除无用符号</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044616"/>
                <a:ext cx="8229600" cy="4525963"/>
              </a:xfrm>
            </p:spPr>
            <p:txBody>
              <a:bodyPr>
                <a:normAutofit lnSpcReduction="10000"/>
              </a:bodyPr>
              <a:lstStyle/>
              <a:p>
                <a:r>
                  <a:rPr lang="zh-CN" altLang="en-US" dirty="0"/>
                  <a:t>例</a:t>
                </a:r>
                <a:r>
                  <a:rPr lang="en-AU" altLang="zh-CN" dirty="0"/>
                  <a:t>:</a:t>
                </a:r>
                <a:r>
                  <a:rPr lang="zh-CN" altLang="en-US" dirty="0"/>
                  <a:t>消除如下文法无用符号</a:t>
                </a:r>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r>
                        <a:rPr lang="pt-BR" altLang="zh-CN" i="1" dirty="0" smtClean="0">
                          <a:latin typeface="Cambria Math" panose="02040503050406030204" pitchFamily="18" charset="0"/>
                        </a:rPr>
                        <m:t>𝑆</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𝐴𝐵</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𝑎</m:t>
                      </m:r>
                      <m:r>
                        <a:rPr lang="en-AU" altLang="zh-CN" b="0" i="0" dirty="0" smtClean="0">
                          <a:latin typeface="Cambria Math" panose="02040503050406030204" pitchFamily="18" charset="0"/>
                        </a:rPr>
                        <m:t>, </m:t>
                      </m:r>
                      <m:r>
                        <a:rPr lang="pt-BR" altLang="zh-CN" i="1" dirty="0" smtClean="0">
                          <a:latin typeface="Cambria Math" panose="02040503050406030204" pitchFamily="18" charset="0"/>
                        </a:rPr>
                        <m:t>𝐴</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𝑏</m:t>
                      </m:r>
                    </m:oMath>
                  </m:oMathPara>
                </a14:m>
                <a:endParaRPr lang="en-AU" altLang="zh-CN" dirty="0"/>
              </a:p>
              <a:p>
                <a:r>
                  <a:rPr lang="zh-CN" altLang="en-US" dirty="0">
                    <a:solidFill>
                      <a:srgbClr val="FF0000"/>
                    </a:solidFill>
                  </a:rPr>
                  <a:t>消除非产生的：</a:t>
                </a:r>
                <a:endParaRPr lang="en-AU" altLang="zh-CN" dirty="0">
                  <a:solidFill>
                    <a:srgbClr val="FF0000"/>
                  </a:solidFill>
                </a:endParaRPr>
              </a:p>
              <a:p>
                <a:pPr marL="0" indent="0">
                  <a:buNone/>
                </a:pPr>
                <a:r>
                  <a:rPr lang="zh-CN" altLang="en-US" dirty="0"/>
                  <a:t>“产生的”符号集为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oMath>
                </a14:m>
                <a:r>
                  <a:rPr lang="zh-CN" altLang="en-US" dirty="0"/>
                  <a:t>（</a:t>
                </a:r>
                <a14:m>
                  <m:oMath xmlns:m="http://schemas.openxmlformats.org/officeDocument/2006/math">
                    <m:r>
                      <a:rPr lang="en-AU" altLang="zh-CN" i="1" dirty="0" smtClean="0">
                        <a:latin typeface="Cambria Math" panose="02040503050406030204" pitchFamily="18" charset="0"/>
                      </a:rPr>
                      <m:t>𝑎</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𝑏</m:t>
                    </m:r>
                  </m:oMath>
                </a14:m>
                <a:r>
                  <a:rPr lang="zh-CN" altLang="en-US" dirty="0"/>
                  <a:t>是终结符；</a:t>
                </a:r>
                <a14:m>
                  <m:oMath xmlns:m="http://schemas.openxmlformats.org/officeDocument/2006/math">
                    <m:r>
                      <a:rPr lang="en-AU" altLang="zh-CN" i="1" dirty="0" smtClean="0">
                        <a:latin typeface="Cambria Math" panose="02040503050406030204" pitchFamily="18" charset="0"/>
                      </a:rPr>
                      <m:t>𝑆</m:t>
                    </m:r>
                  </m:oMath>
                </a14:m>
                <a:r>
                  <a:rPr lang="zh-CN" altLang="en-US" dirty="0"/>
                  <a:t>产生</a:t>
                </a:r>
                <a14:m>
                  <m:oMath xmlns:m="http://schemas.openxmlformats.org/officeDocument/2006/math">
                    <m:r>
                      <a:rPr lang="en-AU" altLang="zh-CN" i="1" dirty="0" smtClean="0">
                        <a:latin typeface="Cambria Math" panose="02040503050406030204" pitchFamily="18" charset="0"/>
                      </a:rPr>
                      <m:t>𝑎</m:t>
                    </m:r>
                  </m:oMath>
                </a14:m>
                <a:r>
                  <a:rPr lang="en-AU" altLang="zh-CN" dirty="0" err="1"/>
                  <a:t>,</a:t>
                </a:r>
                <a14:m>
                  <m:oMath xmlns:m="http://schemas.openxmlformats.org/officeDocument/2006/math">
                    <m:r>
                      <a:rPr lang="en-AU" altLang="zh-CN" i="1" dirty="0" smtClean="0">
                        <a:latin typeface="Cambria Math" panose="02040503050406030204" pitchFamily="18" charset="0"/>
                      </a:rPr>
                      <m:t>𝐴</m:t>
                    </m:r>
                  </m:oMath>
                </a14:m>
                <a:r>
                  <a:rPr lang="zh-CN" altLang="en-US" dirty="0"/>
                  <a:t>产生</a:t>
                </a:r>
                <a14:m>
                  <m:oMath xmlns:m="http://schemas.openxmlformats.org/officeDocument/2006/math">
                    <m:r>
                      <a:rPr lang="en-AU" altLang="zh-CN" i="1" dirty="0" smtClean="0">
                        <a:latin typeface="Cambria Math" panose="02040503050406030204" pitchFamily="18" charset="0"/>
                      </a:rPr>
                      <m:t>𝑏</m:t>
                    </m:r>
                  </m:oMath>
                </a14:m>
                <a:r>
                  <a:rPr lang="en-AU" altLang="zh-CN" dirty="0"/>
                  <a:t>);</a:t>
                </a:r>
                <a:endParaRPr lang="en-AU" altLang="zh-CN" dirty="0"/>
              </a:p>
              <a:p>
                <a:pPr marL="0" indent="0">
                  <a:buNone/>
                </a:pPr>
                <a:r>
                  <a:rPr lang="zh-CN" altLang="en-US" dirty="0"/>
                  <a:t>消除</a:t>
                </a:r>
                <a14:m>
                  <m:oMath xmlns:m="http://schemas.openxmlformats.org/officeDocument/2006/math">
                    <m:r>
                      <a:rPr lang="en-US" altLang="zh-CN" i="1" dirty="0" smtClean="0">
                        <a:latin typeface="Cambria Math" panose="02040503050406030204" pitchFamily="18" charset="0"/>
                      </a:rPr>
                      <m:t>𝐵</m:t>
                    </m:r>
                  </m:oMath>
                </a14:m>
                <a:r>
                  <a:rPr lang="en-AU" altLang="zh-CN" dirty="0"/>
                  <a:t>,</a:t>
                </a:r>
                <a:r>
                  <a:rPr lang="zh-CN" altLang="en-US" dirty="0"/>
                  <a:t>得到</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𝑎</m:t>
                    </m:r>
                  </m:oMath>
                </a14:m>
                <a:r>
                  <a:rPr lang="en-US" altLang="zh-CN" dirty="0"/>
                  <a:t>,</a:t>
                </a:r>
                <a14:m>
                  <m:oMath xmlns:m="http://schemas.openxmlformats.org/officeDocument/2006/math">
                    <m:r>
                      <m:rPr>
                        <m:sty m:val="p"/>
                      </m:rPr>
                      <a:rPr lang="en-AU" altLang="zh-CN" b="0" i="0" dirty="0" smtClean="0">
                        <a:latin typeface="Cambria Math" panose="02040503050406030204" pitchFamily="18" charset="0"/>
                        <a:ea typeface="Cambria Math" panose="02040503050406030204" pitchFamily="18" charset="0"/>
                      </a:rPr>
                      <m:t>A</m:t>
                    </m:r>
                    <m:r>
                      <a:rPr lang="en-US"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𝑏</m:t>
                    </m:r>
                  </m:oMath>
                </a14:m>
                <a:r>
                  <a:rPr lang="zh-CN" altLang="en-US" dirty="0"/>
                  <a:t>。</a:t>
                </a:r>
                <a:endParaRPr lang="en-AU" altLang="zh-CN" dirty="0"/>
              </a:p>
              <a:p>
                <a:r>
                  <a:rPr lang="zh-CN" altLang="en-US" dirty="0">
                    <a:solidFill>
                      <a:srgbClr val="FF0000"/>
                    </a:solidFill>
                  </a:rPr>
                  <a:t>消除非可达的：</a:t>
                </a:r>
                <a:endParaRPr lang="en-AU" altLang="zh-CN" dirty="0">
                  <a:solidFill>
                    <a:srgbClr val="FF0000"/>
                  </a:solidFill>
                </a:endParaRPr>
              </a:p>
              <a:p>
                <a:pPr marL="0" indent="0">
                  <a:buNone/>
                </a:pPr>
                <a:r>
                  <a:rPr lang="zh-CN" altLang="en-US" dirty="0"/>
                  <a:t>“可达的”符号集为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r>
                  <a:rPr lang="en-AU" altLang="zh-CN" dirty="0"/>
                  <a:t>(</a:t>
                </a:r>
                <a14:m>
                  <m:oMath xmlns:m="http://schemas.openxmlformats.org/officeDocument/2006/math">
                    <m:r>
                      <a:rPr lang="en-AU" altLang="zh-CN" i="1" dirty="0" smtClean="0">
                        <a:latin typeface="Cambria Math" panose="02040503050406030204" pitchFamily="18" charset="0"/>
                      </a:rPr>
                      <m:t>𝑆</m:t>
                    </m:r>
                  </m:oMath>
                </a14:m>
                <a:r>
                  <a:rPr lang="zh-CN" altLang="en-US" dirty="0"/>
                  <a:t>为开始符号，</a:t>
                </a:r>
                <a:r>
                  <a:rPr lang="en-AU" altLang="zh-CN" b="0" i="1" dirty="0">
                    <a:latin typeface="Times New Roman" panose="02020603050405020304" pitchFamily="18" charset="0"/>
                    <a:cs typeface="Times New Roman" panose="02020603050405020304" pitchFamily="18" charset="0"/>
                  </a:rPr>
                  <a:t>a</a:t>
                </a:r>
                <a:r>
                  <a:rPr lang="zh-CN" altLang="en-US" dirty="0"/>
                  <a:t>可以由</a:t>
                </a:r>
                <a:r>
                  <a:rPr lang="en-AU" altLang="zh-CN" dirty="0"/>
                  <a:t>S</a:t>
                </a:r>
                <a:r>
                  <a:rPr lang="zh-CN" altLang="en-US" dirty="0"/>
                  <a:t>到达</a:t>
                </a:r>
                <a:r>
                  <a:rPr lang="en-AU" altLang="zh-CN" dirty="0"/>
                  <a:t>)</a:t>
                </a:r>
                <a:r>
                  <a:rPr lang="zh-CN" altLang="en-US" dirty="0"/>
                  <a:t>；</a:t>
                </a:r>
                <a:endParaRPr lang="en-AU" altLang="zh-CN" dirty="0"/>
              </a:p>
              <a:p>
                <a:pPr marL="0" indent="0">
                  <a:buNone/>
                </a:pPr>
                <a:r>
                  <a:rPr lang="zh-CN" altLang="en-US" dirty="0"/>
                  <a:t>消除</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oMath>
                </a14:m>
                <a:r>
                  <a:rPr lang="zh-CN" altLang="en-US" dirty="0"/>
                  <a:t>，得到</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𝑎</m:t>
                    </m:r>
                  </m:oMath>
                </a14:m>
                <a:r>
                  <a:rPr lang="zh-CN" altLang="en-US" dirty="0"/>
                  <a:t>。</a:t>
                </a:r>
                <a:endParaRPr lang="en-US" altLang="zh-CN" dirty="0"/>
              </a:p>
              <a:p>
                <a:pPr marL="0" indent="0">
                  <a:buNone/>
                </a:pPr>
                <a:endParaRPr lang="en-AU" altLang="zh-CN" dirty="0"/>
              </a:p>
              <a:p>
                <a:pPr marL="0" indent="0">
                  <a:buNone/>
                </a:pPr>
                <a:endParaRPr lang="en-US"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044616"/>
                <a:ext cx="8229600" cy="4525963"/>
              </a:xfrm>
              <a:blipFill rotWithShape="1">
                <a:blip r:embed="rId1"/>
                <a:stretch>
                  <a:fillRect t="-1" b="-2813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消除无用符号</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044616"/>
                <a:ext cx="8229600" cy="4525963"/>
              </a:xfrm>
            </p:spPr>
            <p:txBody>
              <a:bodyPr>
                <a:normAutofit lnSpcReduction="10000"/>
              </a:bodyPr>
              <a:lstStyle/>
              <a:p>
                <a:r>
                  <a:rPr lang="zh-CN" altLang="en-US" dirty="0"/>
                  <a:t>例</a:t>
                </a:r>
                <a:r>
                  <a:rPr lang="en-AU" altLang="zh-CN" dirty="0"/>
                  <a:t>:</a:t>
                </a:r>
                <a:r>
                  <a:rPr lang="zh-CN" altLang="en-US" dirty="0"/>
                  <a:t>消除如下文法无用符号</a:t>
                </a:r>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r>
                        <a:rPr lang="pt-BR" altLang="zh-CN" i="1" dirty="0" smtClean="0">
                          <a:latin typeface="Cambria Math" panose="02040503050406030204" pitchFamily="18" charset="0"/>
                        </a:rPr>
                        <m:t>𝑆</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𝐴𝐵</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𝑎</m:t>
                      </m:r>
                      <m:r>
                        <a:rPr lang="en-AU" altLang="zh-CN" b="0" i="0" dirty="0" smtClean="0">
                          <a:latin typeface="Cambria Math" panose="02040503050406030204" pitchFamily="18" charset="0"/>
                        </a:rPr>
                        <m:t>, </m:t>
                      </m:r>
                      <m:r>
                        <a:rPr lang="pt-BR" altLang="zh-CN" i="1" dirty="0" smtClean="0">
                          <a:latin typeface="Cambria Math" panose="02040503050406030204" pitchFamily="18" charset="0"/>
                        </a:rPr>
                        <m:t>𝐴</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𝑏</m:t>
                      </m:r>
                    </m:oMath>
                  </m:oMathPara>
                </a14:m>
                <a:endParaRPr lang="en-AU" altLang="zh-CN" dirty="0"/>
              </a:p>
              <a:p>
                <a:r>
                  <a:rPr lang="zh-CN" altLang="en-US" dirty="0">
                    <a:solidFill>
                      <a:srgbClr val="FF0000"/>
                    </a:solidFill>
                  </a:rPr>
                  <a:t>消除非产生的：</a:t>
                </a:r>
                <a:endParaRPr lang="en-AU" altLang="zh-CN" dirty="0">
                  <a:solidFill>
                    <a:srgbClr val="FF0000"/>
                  </a:solidFill>
                </a:endParaRPr>
              </a:p>
              <a:p>
                <a:pPr marL="0" indent="0">
                  <a:buNone/>
                </a:pPr>
                <a:r>
                  <a:rPr lang="zh-CN" altLang="en-US" dirty="0"/>
                  <a:t>“产生的”符号集为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oMath>
                </a14:m>
                <a:r>
                  <a:rPr lang="zh-CN" altLang="en-US" dirty="0"/>
                  <a:t>（</a:t>
                </a:r>
                <a14:m>
                  <m:oMath xmlns:m="http://schemas.openxmlformats.org/officeDocument/2006/math">
                    <m:r>
                      <a:rPr lang="en-AU" altLang="zh-CN" i="1" dirty="0" smtClean="0">
                        <a:latin typeface="Cambria Math" panose="02040503050406030204" pitchFamily="18" charset="0"/>
                      </a:rPr>
                      <m:t>𝑎</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𝑏</m:t>
                    </m:r>
                  </m:oMath>
                </a14:m>
                <a:r>
                  <a:rPr lang="zh-CN" altLang="en-US" dirty="0"/>
                  <a:t>是终结符；</a:t>
                </a:r>
                <a14:m>
                  <m:oMath xmlns:m="http://schemas.openxmlformats.org/officeDocument/2006/math">
                    <m:r>
                      <a:rPr lang="en-AU" altLang="zh-CN" i="1" dirty="0" smtClean="0">
                        <a:latin typeface="Cambria Math" panose="02040503050406030204" pitchFamily="18" charset="0"/>
                      </a:rPr>
                      <m:t>𝑆</m:t>
                    </m:r>
                  </m:oMath>
                </a14:m>
                <a:r>
                  <a:rPr lang="zh-CN" altLang="en-US" dirty="0"/>
                  <a:t>产生</a:t>
                </a:r>
                <a14:m>
                  <m:oMath xmlns:m="http://schemas.openxmlformats.org/officeDocument/2006/math">
                    <m:r>
                      <a:rPr lang="en-AU" altLang="zh-CN" i="1" dirty="0" smtClean="0">
                        <a:latin typeface="Cambria Math" panose="02040503050406030204" pitchFamily="18" charset="0"/>
                      </a:rPr>
                      <m:t>𝑎</m:t>
                    </m:r>
                  </m:oMath>
                </a14:m>
                <a:r>
                  <a:rPr lang="en-AU" altLang="zh-CN" dirty="0" err="1"/>
                  <a:t>,</a:t>
                </a:r>
                <a14:m>
                  <m:oMath xmlns:m="http://schemas.openxmlformats.org/officeDocument/2006/math">
                    <m:r>
                      <a:rPr lang="en-AU" altLang="zh-CN" i="1" dirty="0" smtClean="0">
                        <a:latin typeface="Cambria Math" panose="02040503050406030204" pitchFamily="18" charset="0"/>
                      </a:rPr>
                      <m:t>𝐴</m:t>
                    </m:r>
                  </m:oMath>
                </a14:m>
                <a:r>
                  <a:rPr lang="zh-CN" altLang="en-US" dirty="0"/>
                  <a:t>产生</a:t>
                </a:r>
                <a14:m>
                  <m:oMath xmlns:m="http://schemas.openxmlformats.org/officeDocument/2006/math">
                    <m:r>
                      <a:rPr lang="en-AU" altLang="zh-CN" i="1" dirty="0" smtClean="0">
                        <a:latin typeface="Cambria Math" panose="02040503050406030204" pitchFamily="18" charset="0"/>
                      </a:rPr>
                      <m:t>𝑏</m:t>
                    </m:r>
                  </m:oMath>
                </a14:m>
                <a:r>
                  <a:rPr lang="en-AU" altLang="zh-CN" dirty="0"/>
                  <a:t>);</a:t>
                </a:r>
                <a:endParaRPr lang="en-AU" altLang="zh-CN" dirty="0"/>
              </a:p>
              <a:p>
                <a:pPr marL="0" indent="0">
                  <a:buNone/>
                </a:pPr>
                <a:r>
                  <a:rPr lang="zh-CN" altLang="en-US" dirty="0"/>
                  <a:t>消除</a:t>
                </a:r>
                <a14:m>
                  <m:oMath xmlns:m="http://schemas.openxmlformats.org/officeDocument/2006/math">
                    <m:r>
                      <a:rPr lang="en-US" altLang="zh-CN" i="1" dirty="0" smtClean="0">
                        <a:latin typeface="Cambria Math" panose="02040503050406030204" pitchFamily="18" charset="0"/>
                      </a:rPr>
                      <m:t>𝐵</m:t>
                    </m:r>
                  </m:oMath>
                </a14:m>
                <a:r>
                  <a:rPr lang="en-AU" altLang="zh-CN" dirty="0"/>
                  <a:t>,</a:t>
                </a:r>
                <a:r>
                  <a:rPr lang="zh-CN" altLang="en-US" dirty="0"/>
                  <a:t>得到</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𝑎</m:t>
                    </m:r>
                  </m:oMath>
                </a14:m>
                <a:r>
                  <a:rPr lang="en-US" altLang="zh-CN" dirty="0"/>
                  <a:t>,</a:t>
                </a:r>
                <a14:m>
                  <m:oMath xmlns:m="http://schemas.openxmlformats.org/officeDocument/2006/math">
                    <m:r>
                      <m:rPr>
                        <m:sty m:val="p"/>
                      </m:rPr>
                      <a:rPr lang="en-AU" altLang="zh-CN" b="0" i="0" dirty="0" smtClean="0">
                        <a:latin typeface="Cambria Math" panose="02040503050406030204" pitchFamily="18" charset="0"/>
                        <a:ea typeface="Cambria Math" panose="02040503050406030204" pitchFamily="18" charset="0"/>
                      </a:rPr>
                      <m:t>A</m:t>
                    </m:r>
                    <m:r>
                      <a:rPr lang="en-US"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𝑏</m:t>
                    </m:r>
                  </m:oMath>
                </a14:m>
                <a:r>
                  <a:rPr lang="zh-CN" altLang="en-US" dirty="0"/>
                  <a:t>。</a:t>
                </a:r>
                <a:endParaRPr lang="en-AU" altLang="zh-CN" dirty="0"/>
              </a:p>
              <a:p>
                <a:r>
                  <a:rPr lang="zh-CN" altLang="en-US" dirty="0">
                    <a:solidFill>
                      <a:srgbClr val="FF0000"/>
                    </a:solidFill>
                  </a:rPr>
                  <a:t>消除非可达的：</a:t>
                </a:r>
                <a:endParaRPr lang="en-AU" altLang="zh-CN" dirty="0">
                  <a:solidFill>
                    <a:srgbClr val="FF0000"/>
                  </a:solidFill>
                </a:endParaRPr>
              </a:p>
              <a:p>
                <a:pPr marL="0" indent="0">
                  <a:buNone/>
                </a:pPr>
                <a:r>
                  <a:rPr lang="zh-CN" altLang="en-US" dirty="0"/>
                  <a:t>“可达的”符号集为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oMath>
                </a14:m>
                <a:r>
                  <a:rPr lang="en-AU" altLang="zh-CN" dirty="0"/>
                  <a:t>(</a:t>
                </a:r>
                <a14:m>
                  <m:oMath xmlns:m="http://schemas.openxmlformats.org/officeDocument/2006/math">
                    <m:r>
                      <a:rPr lang="en-AU" altLang="zh-CN" i="1" dirty="0" smtClean="0">
                        <a:latin typeface="Cambria Math" panose="02040503050406030204" pitchFamily="18" charset="0"/>
                      </a:rPr>
                      <m:t>𝑆</m:t>
                    </m:r>
                  </m:oMath>
                </a14:m>
                <a:r>
                  <a:rPr lang="zh-CN" altLang="en-US" dirty="0"/>
                  <a:t>为开始符号，</a:t>
                </a:r>
                <a:r>
                  <a:rPr lang="en-AU" altLang="zh-CN" dirty="0"/>
                  <a:t>a</a:t>
                </a:r>
                <a:r>
                  <a:rPr lang="zh-CN" altLang="en-US" dirty="0"/>
                  <a:t>可以由</a:t>
                </a:r>
                <a:r>
                  <a:rPr lang="en-AU" altLang="zh-CN" dirty="0"/>
                  <a:t>S</a:t>
                </a:r>
                <a:r>
                  <a:rPr lang="zh-CN" altLang="en-US" dirty="0"/>
                  <a:t>到达</a:t>
                </a:r>
                <a:r>
                  <a:rPr lang="en-AU" altLang="zh-CN" dirty="0"/>
                  <a:t>)</a:t>
                </a:r>
                <a:r>
                  <a:rPr lang="zh-CN" altLang="en-US" dirty="0"/>
                  <a:t>；</a:t>
                </a:r>
                <a:endParaRPr lang="en-AU" altLang="zh-CN" dirty="0"/>
              </a:p>
              <a:p>
                <a:pPr marL="0" indent="0">
                  <a:buNone/>
                </a:pPr>
                <a:r>
                  <a:rPr lang="zh-CN" altLang="en-US" dirty="0"/>
                  <a:t>消除</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oMath>
                </a14:m>
                <a:r>
                  <a:rPr lang="zh-CN" altLang="en-US" dirty="0"/>
                  <a:t>，得到</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𝑎</m:t>
                    </m:r>
                  </m:oMath>
                </a14:m>
                <a:r>
                  <a:rPr lang="zh-CN" altLang="en-US" dirty="0"/>
                  <a:t>。</a:t>
                </a:r>
                <a:endParaRPr lang="en-US" altLang="zh-CN" dirty="0"/>
              </a:p>
              <a:p>
                <a:pPr marL="0" indent="0">
                  <a:buNone/>
                </a:pPr>
                <a:endParaRPr lang="en-AU" altLang="zh-CN" dirty="0"/>
              </a:p>
              <a:p>
                <a:pPr marL="0" indent="0">
                  <a:buNone/>
                </a:pPr>
                <a:endParaRPr lang="en-US"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044616"/>
                <a:ext cx="8229600" cy="4525963"/>
              </a:xfrm>
              <a:blipFill rotWithShape="1">
                <a:blip r:embed="rId1"/>
                <a:stretch>
                  <a:fillRect t="-1" b="-2813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TextBox 4"/>
          <p:cNvSpPr txBox="1"/>
          <p:nvPr/>
        </p:nvSpPr>
        <p:spPr>
          <a:xfrm>
            <a:off x="401231" y="5734511"/>
            <a:ext cx="8424666" cy="461665"/>
          </a:xfrm>
          <a:prstGeom prst="rect">
            <a:avLst/>
          </a:prstGeom>
          <a:noFill/>
        </p:spPr>
        <p:txBody>
          <a:bodyPr wrap="square" rtlCol="0">
            <a:spAutoFit/>
          </a:bodyPr>
          <a:lstStyle/>
          <a:p>
            <a:r>
              <a:rPr kumimoji="0" lang="zh-CN" altLang="en-US" sz="24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如果先消除非可达的，再消除非产生的，结果会是怎样的呢</a:t>
            </a:r>
            <a:r>
              <a:rPr kumimoji="0" lang="en-AU" altLang="zh-CN" sz="24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a:t>
            </a:r>
            <a:endParaRPr lang="en-AU" sz="2400" dirty="0">
              <a:solidFill>
                <a:srgbClr val="C00000"/>
              </a:solidFill>
              <a:latin typeface="楷体" panose="02010609060101010101" pitchFamily="49" charset="-122"/>
              <a:ea typeface="楷体" panose="02010609060101010101"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消除无用符号</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a:t>
                </a:r>
                <a:r>
                  <a:rPr lang="zh-CN" altLang="en-US" dirty="0"/>
                  <a:t>消除如下文法无用符号</a:t>
                </a:r>
                <a:r>
                  <a:rPr lang="en-AU" altLang="zh-CN" dirty="0"/>
                  <a:t>:</a:t>
                </a:r>
                <a14:m>
                  <m:oMath xmlns:m="http://schemas.openxmlformats.org/officeDocument/2006/math">
                    <m:r>
                      <a:rPr lang="pt-BR" altLang="zh-CN" i="1" dirty="0" smtClean="0">
                        <a:latin typeface="Cambria Math" panose="02040503050406030204" pitchFamily="18" charset="0"/>
                      </a:rPr>
                      <m:t>𝑆</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𝐴𝐵</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𝑎</m:t>
                    </m:r>
                    <m:r>
                      <a:rPr lang="en-AU" altLang="zh-CN" b="0" i="0" dirty="0" smtClean="0">
                        <a:latin typeface="Cambria Math" panose="02040503050406030204" pitchFamily="18" charset="0"/>
                      </a:rPr>
                      <m:t>, </m:t>
                    </m:r>
                    <m:r>
                      <a:rPr lang="pt-BR" altLang="zh-CN" i="1" dirty="0" smtClean="0">
                        <a:latin typeface="Cambria Math" panose="02040503050406030204" pitchFamily="18" charset="0"/>
                      </a:rPr>
                      <m:t>𝐴</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𝑏</m:t>
                    </m:r>
                  </m:oMath>
                </a14:m>
                <a:endParaRPr lang="en-AU" altLang="zh-CN" dirty="0"/>
              </a:p>
              <a:p>
                <a:pPr lvl="1"/>
                <a:r>
                  <a:rPr lang="zh-CN" altLang="en-US" dirty="0"/>
                  <a:t>（如果先）消除非可达的：“可达的”符号集为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r>
                      <a:rPr lang="en-AU" altLang="zh-CN" b="0" i="1" dirty="0" smtClean="0">
                        <a:latin typeface="Cambria Math" panose="02040503050406030204" pitchFamily="18" charset="0"/>
                      </a:rPr>
                      <m:t>𝐴</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𝐵</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𝑎</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𝑏</m:t>
                    </m:r>
                    <m:r>
                      <a:rPr lang="en-US" altLang="zh-CN" i="1" dirty="0" smtClean="0">
                        <a:latin typeface="Cambria Math" panose="02040503050406030204" pitchFamily="18" charset="0"/>
                      </a:rPr>
                      <m:t>}</m:t>
                    </m:r>
                  </m:oMath>
                </a14:m>
                <a:r>
                  <a:rPr lang="zh-CN" altLang="en-US" dirty="0"/>
                  <a:t>，消除</a:t>
                </a:r>
                <a14:m>
                  <m:oMath xmlns:m="http://schemas.openxmlformats.org/officeDocument/2006/math">
                    <m:r>
                      <a:rPr lang="en-US" altLang="zh-CN" i="1" dirty="0" smtClean="0">
                        <a:latin typeface="Cambria Math" panose="02040503050406030204" pitchFamily="18" charset="0"/>
                      </a:rPr>
                      <m:t>{}</m:t>
                    </m:r>
                  </m:oMath>
                </a14:m>
                <a:r>
                  <a:rPr lang="en-US" altLang="zh-CN" dirty="0"/>
                  <a:t> </a:t>
                </a:r>
                <a:r>
                  <a:rPr lang="zh-CN" altLang="en-US" dirty="0"/>
                  <a:t>（即无消除符号）</a:t>
                </a:r>
                <a:endParaRPr lang="en-US" altLang="zh-CN" dirty="0"/>
              </a:p>
              <a:p>
                <a:pPr lvl="1"/>
                <a:r>
                  <a:rPr lang="zh-CN" altLang="en-US" dirty="0"/>
                  <a:t>（再）消除非产生的：“产生的”符号集为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oMath>
                </a14:m>
                <a:r>
                  <a:rPr lang="zh-CN" altLang="en-US" dirty="0"/>
                  <a:t>，消除</a:t>
                </a:r>
                <a14:m>
                  <m:oMath xmlns:m="http://schemas.openxmlformats.org/officeDocument/2006/math">
                    <m:r>
                      <a:rPr lang="en-US" altLang="zh-CN" i="1" dirty="0" smtClean="0">
                        <a:latin typeface="Cambria Math" panose="02040503050406030204" pitchFamily="18" charset="0"/>
                      </a:rPr>
                      <m:t>𝐵</m:t>
                    </m:r>
                  </m:oMath>
                </a14:m>
                <a:r>
                  <a:rPr lang="zh-CN" altLang="en-US" dirty="0"/>
                  <a:t>，得到</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𝑎</m:t>
                    </m:r>
                  </m:oMath>
                </a14:m>
                <a:r>
                  <a:rPr lang="en-US" altLang="zh-CN" dirty="0"/>
                  <a:t>,</a:t>
                </a:r>
                <a14:m>
                  <m:oMath xmlns:m="http://schemas.openxmlformats.org/officeDocument/2006/math">
                    <m:r>
                      <m:rPr>
                        <m:sty m:val="p"/>
                      </m:rPr>
                      <a:rPr lang="en-AU" altLang="zh-CN" b="0" i="0" dirty="0" smtClean="0">
                        <a:latin typeface="Cambria Math" panose="02040503050406030204" pitchFamily="18" charset="0"/>
                        <a:ea typeface="Cambria Math" panose="02040503050406030204" pitchFamily="18" charset="0"/>
                      </a:rPr>
                      <m:t>A</m:t>
                    </m:r>
                    <m:r>
                      <a:rPr lang="en-US"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𝑏</m:t>
                    </m:r>
                  </m:oMath>
                </a14:m>
                <a:endParaRPr lang="en-US" altLang="zh-CN" dirty="0"/>
              </a:p>
              <a:p>
                <a:pPr lvl="1"/>
                <a:endParaRPr lang="en-AU" altLang="zh-CN" dirty="0"/>
              </a:p>
              <a:p>
                <a:endParaRPr lang="en-AU" altLang="zh-CN" dirty="0"/>
              </a:p>
              <a:p>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TextBox 4"/>
          <p:cNvSpPr txBox="1"/>
          <p:nvPr/>
        </p:nvSpPr>
        <p:spPr>
          <a:xfrm>
            <a:off x="1182134" y="5026967"/>
            <a:ext cx="6972300" cy="461665"/>
          </a:xfrm>
          <a:prstGeom prst="rect">
            <a:avLst/>
          </a:prstGeom>
          <a:noFill/>
        </p:spPr>
        <p:txBody>
          <a:bodyPr wrap="square" rtlCol="0">
            <a:spAutoFit/>
          </a:bodyPr>
          <a:lstStyle/>
          <a:p>
            <a:r>
              <a:rPr lang="zh-CN" altLang="en-US" sz="24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如果先消除非可达的，最终存在无用符号。</a:t>
            </a:r>
            <a:endParaRPr lang="en-US" altLang="zh-CN" sz="2400" b="1"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消除无用符号</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a:t>
                </a:r>
                <a:r>
                  <a:rPr lang="zh-CN" altLang="en-US" dirty="0"/>
                  <a:t>消除如下文法无用符号</a:t>
                </a:r>
                <a:r>
                  <a:rPr lang="en-AU" altLang="zh-CN" dirty="0"/>
                  <a:t>:</a:t>
                </a:r>
                <a14:m>
                  <m:oMath xmlns:m="http://schemas.openxmlformats.org/officeDocument/2006/math">
                    <m:r>
                      <a:rPr lang="pt-BR" altLang="zh-CN" i="1" dirty="0" smtClean="0">
                        <a:latin typeface="Cambria Math" panose="02040503050406030204" pitchFamily="18" charset="0"/>
                      </a:rPr>
                      <m:t>𝑆</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𝐴𝐵</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𝑎</m:t>
                    </m:r>
                    <m:r>
                      <a:rPr lang="en-AU" altLang="zh-CN" b="0" i="0" dirty="0" smtClean="0">
                        <a:latin typeface="Cambria Math" panose="02040503050406030204" pitchFamily="18" charset="0"/>
                      </a:rPr>
                      <m:t>, </m:t>
                    </m:r>
                    <m:r>
                      <a:rPr lang="pt-BR" altLang="zh-CN" i="1" dirty="0" smtClean="0">
                        <a:latin typeface="Cambria Math" panose="02040503050406030204" pitchFamily="18" charset="0"/>
                      </a:rPr>
                      <m:t>𝐴</m:t>
                    </m:r>
                    <m:r>
                      <a:rPr lang="pt-BR" altLang="zh-CN" i="1" dirty="0" smtClean="0">
                        <a:latin typeface="Cambria Math" panose="02040503050406030204" pitchFamily="18" charset="0"/>
                      </a:rPr>
                      <m:t> → </m:t>
                    </m:r>
                    <m:r>
                      <a:rPr lang="pt-BR" altLang="zh-CN" i="1" dirty="0" smtClean="0">
                        <a:latin typeface="Cambria Math" panose="02040503050406030204" pitchFamily="18" charset="0"/>
                      </a:rPr>
                      <m:t>𝑏</m:t>
                    </m:r>
                  </m:oMath>
                </a14:m>
                <a:endParaRPr lang="en-AU" altLang="zh-CN" dirty="0"/>
              </a:p>
              <a:p>
                <a:pPr lvl="1"/>
                <a:r>
                  <a:rPr lang="zh-CN" altLang="en-US" dirty="0"/>
                  <a:t>（如果先）消除非可达的：“可达的”符号集为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r>
                      <a:rPr lang="en-AU" altLang="zh-CN" b="0" i="1" dirty="0" smtClean="0">
                        <a:latin typeface="Cambria Math" panose="02040503050406030204" pitchFamily="18" charset="0"/>
                      </a:rPr>
                      <m:t>𝐴</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𝐵</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𝑎</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𝑏</m:t>
                    </m:r>
                    <m:r>
                      <a:rPr lang="en-US" altLang="zh-CN" i="1" dirty="0" smtClean="0">
                        <a:latin typeface="Cambria Math" panose="02040503050406030204" pitchFamily="18" charset="0"/>
                      </a:rPr>
                      <m:t>}</m:t>
                    </m:r>
                  </m:oMath>
                </a14:m>
                <a:r>
                  <a:rPr lang="zh-CN" altLang="en-US" dirty="0"/>
                  <a:t>，消除</a:t>
                </a:r>
                <a14:m>
                  <m:oMath xmlns:m="http://schemas.openxmlformats.org/officeDocument/2006/math">
                    <m:r>
                      <a:rPr lang="en-US" altLang="zh-CN" i="1" dirty="0" smtClean="0">
                        <a:latin typeface="Cambria Math" panose="02040503050406030204" pitchFamily="18" charset="0"/>
                      </a:rPr>
                      <m:t>{}</m:t>
                    </m:r>
                  </m:oMath>
                </a14:m>
                <a:r>
                  <a:rPr lang="en-US" altLang="zh-CN" dirty="0"/>
                  <a:t> </a:t>
                </a:r>
                <a:r>
                  <a:rPr lang="zh-CN" altLang="en-US" dirty="0"/>
                  <a:t>（即无消除符号）</a:t>
                </a:r>
                <a:endParaRPr lang="en-US" altLang="zh-CN" dirty="0"/>
              </a:p>
              <a:p>
                <a:pPr lvl="1"/>
                <a:r>
                  <a:rPr lang="zh-CN" altLang="en-US" dirty="0"/>
                  <a:t>（再）消除非产生的：“产生的”符号集为</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oMath>
                </a14:m>
                <a:r>
                  <a:rPr lang="zh-CN" altLang="en-US" dirty="0"/>
                  <a:t>，消除</a:t>
                </a:r>
                <a14:m>
                  <m:oMath xmlns:m="http://schemas.openxmlformats.org/officeDocument/2006/math">
                    <m:r>
                      <a:rPr lang="en-US" altLang="zh-CN" i="1" dirty="0" smtClean="0">
                        <a:latin typeface="Cambria Math" panose="02040503050406030204" pitchFamily="18" charset="0"/>
                      </a:rPr>
                      <m:t>𝐵</m:t>
                    </m:r>
                  </m:oMath>
                </a14:m>
                <a:r>
                  <a:rPr lang="zh-CN" altLang="en-US" dirty="0"/>
                  <a:t>，得到</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𝑎</m:t>
                    </m:r>
                  </m:oMath>
                </a14:m>
                <a:r>
                  <a:rPr lang="en-US" altLang="zh-CN" dirty="0"/>
                  <a:t>,</a:t>
                </a:r>
                <a14:m>
                  <m:oMath xmlns:m="http://schemas.openxmlformats.org/officeDocument/2006/math">
                    <m:r>
                      <m:rPr>
                        <m:sty m:val="p"/>
                      </m:rPr>
                      <a:rPr lang="en-AU" altLang="zh-CN" b="0" i="0" dirty="0" smtClean="0">
                        <a:latin typeface="Cambria Math" panose="02040503050406030204" pitchFamily="18" charset="0"/>
                        <a:ea typeface="Cambria Math" panose="02040503050406030204" pitchFamily="18" charset="0"/>
                      </a:rPr>
                      <m:t>A</m:t>
                    </m:r>
                    <m:r>
                      <a:rPr lang="en-US"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𝑏</m:t>
                    </m:r>
                  </m:oMath>
                </a14:m>
                <a:endParaRPr lang="en-US" altLang="zh-CN" dirty="0"/>
              </a:p>
              <a:p>
                <a:pPr lvl="1"/>
                <a:endParaRPr lang="en-AU" altLang="zh-CN" dirty="0"/>
              </a:p>
              <a:p>
                <a:endParaRPr lang="en-AU" altLang="zh-CN" dirty="0"/>
              </a:p>
              <a:p>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TextBox 4"/>
          <p:cNvSpPr txBox="1"/>
          <p:nvPr/>
        </p:nvSpPr>
        <p:spPr>
          <a:xfrm>
            <a:off x="1182134" y="5026967"/>
            <a:ext cx="6972300" cy="830997"/>
          </a:xfrm>
          <a:prstGeom prst="rect">
            <a:avLst/>
          </a:prstGeom>
          <a:noFill/>
        </p:spPr>
        <p:txBody>
          <a:bodyPr wrap="square" rtlCol="0">
            <a:spAutoFit/>
          </a:bodyPr>
          <a:lstStyle/>
          <a:p>
            <a:r>
              <a:rPr lang="zh-CN" altLang="en-US" sz="24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如果先消除非可达的，最终存在无用符号。</a:t>
            </a:r>
            <a:br>
              <a:rPr lang="en-US" altLang="zh-CN" sz="24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br>
            <a:r>
              <a:rPr lang="zh-CN" altLang="en-US" sz="24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？？这个过程循环一次呢</a:t>
            </a:r>
            <a:endParaRPr lang="en-US" altLang="zh-CN" sz="2400" b="1"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消除</a:t>
                </a:r>
                <a14:m>
                  <m:oMath xmlns:m="http://schemas.openxmlformats.org/officeDocument/2006/math">
                    <m:r>
                      <a:rPr lang="zh-CN" altLang="en-AU" i="1" dirty="0" smtClean="0">
                        <a:latin typeface="Cambria Math" panose="02040503050406030204" pitchFamily="18" charset="0"/>
                      </a:rPr>
                      <m:t>𝜺</m:t>
                    </m:r>
                  </m:oMath>
                </a14:m>
                <a:r>
                  <a:rPr lang="en-AU" altLang="zh-CN" dirty="0"/>
                  <a:t>-</a:t>
                </a:r>
                <a:r>
                  <a:rPr lang="zh-CN" altLang="en-US" dirty="0"/>
                  <a:t>产生式</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198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t>定义</a:t>
                </a:r>
                <a:r>
                  <a:rPr lang="en-AU" altLang="zh-CN" dirty="0"/>
                  <a:t>:</a:t>
                </a:r>
                <a:r>
                  <a:rPr lang="zh-CN" altLang="en-US" dirty="0"/>
                  <a:t>文法中形如</a:t>
                </a:r>
                <a14:m>
                  <m:oMath xmlns:m="http://schemas.openxmlformats.org/officeDocument/2006/math">
                    <m:r>
                      <a:rPr lang="pt-BR" altLang="zh-CN" i="1" dirty="0" smtClean="0">
                        <a:latin typeface="Cambria Math" panose="02040503050406030204" pitchFamily="18" charset="0"/>
                      </a:rPr>
                      <m:t>𝐴</m:t>
                    </m:r>
                    <m:r>
                      <a:rPr lang="pt-BR" altLang="zh-CN" i="1" dirty="0" smtClean="0">
                        <a:latin typeface="Cambria Math" panose="02040503050406030204" pitchFamily="18" charset="0"/>
                      </a:rPr>
                      <m:t>→ </m:t>
                    </m:r>
                    <m:r>
                      <a:rPr lang="zh-CN" altLang="pt-BR" i="1" dirty="0" smtClean="0">
                        <a:latin typeface="Cambria Math" panose="02040503050406030204" pitchFamily="18" charset="0"/>
                      </a:rPr>
                      <m:t>𝜀</m:t>
                    </m:r>
                  </m:oMath>
                </a14:m>
                <a:r>
                  <a:rPr lang="zh-CN" altLang="en-US" dirty="0"/>
                  <a:t>的产生式称为</a:t>
                </a:r>
                <a14:m>
                  <m:oMath xmlns:m="http://schemas.openxmlformats.org/officeDocument/2006/math">
                    <m:r>
                      <a:rPr lang="zh-CN" altLang="pt-BR" i="1" dirty="0" smtClean="0">
                        <a:latin typeface="Cambria Math" panose="02040503050406030204" pitchFamily="18" charset="0"/>
                      </a:rPr>
                      <m:t>𝜀</m:t>
                    </m:r>
                  </m:oMath>
                </a14:m>
                <a:r>
                  <a:rPr lang="en-US" altLang="zh-CN" dirty="0"/>
                  <a:t>-</a:t>
                </a:r>
                <a:r>
                  <a:rPr lang="zh-CN" altLang="en-US" dirty="0"/>
                  <a:t>产生式。如果变元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m:t>
                    </m:r>
                    <m:groupChr>
                      <m:groupChrPr>
                        <m:chr m:val="⇒"/>
                        <m:vertJc m:val="bot"/>
                        <m:ctrlPr>
                          <a:rPr lang="en-AU" i="1" dirty="0" smtClean="0">
                            <a:latin typeface="Cambria Math" panose="02040503050406030204" pitchFamily="18" charset="0"/>
                          </a:rPr>
                        </m:ctrlPr>
                      </m:groupChrPr>
                      <m:e>
                        <m:r>
                          <m:rPr>
                            <m:brk m:alnAt="2"/>
                          </m:rPr>
                          <a:rPr lang="en-AU" b="0" i="1" dirty="0" smtClean="0">
                            <a:latin typeface="Cambria Math" panose="02040503050406030204" pitchFamily="18" charset="0"/>
                          </a:rPr>
                          <m:t>∗</m:t>
                        </m:r>
                      </m:e>
                    </m:groupChr>
                    <m:r>
                      <a:rPr lang="en-AU" i="1" dirty="0" smtClean="0">
                        <a:latin typeface="Cambria Math" panose="02040503050406030204" pitchFamily="18" charset="0"/>
                      </a:rPr>
                      <m:t> </m:t>
                    </m:r>
                    <m:r>
                      <a:rPr lang="el-GR" i="1" dirty="0">
                        <a:latin typeface="Cambria Math" panose="02040503050406030204" pitchFamily="18" charset="0"/>
                      </a:rPr>
                      <m:t>𝜀</m:t>
                    </m:r>
                  </m:oMath>
                </a14:m>
                <a:r>
                  <a:rPr lang="el-GR" i="1" dirty="0"/>
                  <a:t>, </a:t>
                </a:r>
                <a:r>
                  <a:rPr lang="zh-CN" altLang="en-US" dirty="0"/>
                  <a:t>称</a:t>
                </a:r>
                <a14:m>
                  <m:oMath xmlns:m="http://schemas.openxmlformats.org/officeDocument/2006/math">
                    <m:r>
                      <a:rPr lang="en-AU" i="1" dirty="0" smtClean="0">
                        <a:latin typeface="Cambria Math" panose="02040503050406030204" pitchFamily="18" charset="0"/>
                      </a:rPr>
                      <m:t>𝐴</m:t>
                    </m:r>
                  </m:oMath>
                </a14:m>
                <a:r>
                  <a:rPr lang="zh-CN" altLang="en-US" dirty="0"/>
                  <a:t>是可空的。</a:t>
                </a:r>
                <a:endParaRPr lang="en-AU" altLang="zh-CN" dirty="0"/>
              </a:p>
              <a:p>
                <a:pPr lvl="1"/>
                <a:r>
                  <a:rPr lang="zh-CN" altLang="en-US" dirty="0"/>
                  <a:t> 𝜀</a:t>
                </a:r>
                <a:r>
                  <a:rPr lang="en-US" altLang="zh-CN" dirty="0"/>
                  <a:t>-</a:t>
                </a:r>
                <a:r>
                  <a:rPr lang="zh-CN" altLang="en-US" dirty="0"/>
                  <a:t>产生式在文法定义语言时，除产生空串外没有其他帮助</a:t>
                </a:r>
                <a:endParaRPr lang="en-AU" altLang="zh-CN" dirty="0"/>
              </a:p>
              <a:p>
                <a:pPr lvl="1"/>
                <a:r>
                  <a:rPr lang="zh-CN" altLang="en-US" dirty="0"/>
                  <a:t>对于</a:t>
                </a:r>
                <a:r>
                  <a:rPr lang="en-AU" altLang="zh-CN" dirty="0">
                    <a:latin typeface="Times New Roman" panose="02020603050405020304" pitchFamily="18" charset="0"/>
                    <a:cs typeface="Times New Roman" panose="02020603050405020304" pitchFamily="18" charset="0"/>
                  </a:rPr>
                  <a:t>CFL</a:t>
                </a:r>
                <a:r>
                  <a:rPr lang="en-AU" altLang="zh-CN" dirty="0"/>
                  <a:t> </a:t>
                </a:r>
                <a14:m>
                  <m:oMath xmlns:m="http://schemas.openxmlformats.org/officeDocument/2006/math">
                    <m:r>
                      <a:rPr lang="en-AU" altLang="zh-CN" i="1" dirty="0" smtClean="0">
                        <a:latin typeface="Cambria Math" panose="02040503050406030204" pitchFamily="18" charset="0"/>
                      </a:rPr>
                      <m:t>𝐿</m:t>
                    </m:r>
                  </m:oMath>
                </a14:m>
                <a:r>
                  <a:rPr lang="zh-CN" altLang="en-US" dirty="0"/>
                  <a:t>，消除其文法中全部的</a:t>
                </a:r>
                <a14:m>
                  <m:oMath xmlns:m="http://schemas.openxmlformats.org/officeDocument/2006/math">
                    <m:r>
                      <a:rPr lang="zh-CN" altLang="pt-BR" i="1" dirty="0">
                        <a:latin typeface="Cambria Math" panose="02040503050406030204" pitchFamily="18" charset="0"/>
                      </a:rPr>
                      <m:t>𝜀</m:t>
                    </m:r>
                  </m:oMath>
                </a14:m>
                <a:r>
                  <a:rPr lang="en-US" altLang="zh-CN" dirty="0"/>
                  <a:t>-</a:t>
                </a:r>
                <a:r>
                  <a:rPr lang="zh-CN" altLang="en-US" dirty="0"/>
                  <a:t>产生式后，得到语言</a:t>
                </a:r>
                <a14:m>
                  <m:oMath xmlns:m="http://schemas.openxmlformats.org/officeDocument/2006/math">
                    <m:r>
                      <a:rPr lang="en-AU" altLang="zh-CN" b="0" i="1" smtClean="0">
                        <a:latin typeface="Cambria Math" panose="02040503050406030204" pitchFamily="18" charset="0"/>
                      </a:rPr>
                      <m:t>𝐿</m:t>
                    </m:r>
                    <m:r>
                      <a:rPr lang="en-AU" altLang="zh-CN" b="0" i="1" smtClean="0">
                        <a:latin typeface="Cambria Math" panose="02040503050406030204" pitchFamily="18" charset="0"/>
                      </a:rPr>
                      <m:t>−{</m:t>
                    </m:r>
                    <m:r>
                      <a:rPr lang="zh-CN" altLang="pt-BR" i="1" dirty="0">
                        <a:latin typeface="Cambria Math" panose="02040503050406030204" pitchFamily="18" charset="0"/>
                      </a:rPr>
                      <m:t>𝜀</m:t>
                    </m:r>
                    <m:r>
                      <a:rPr lang="en-AU" altLang="zh-CN" b="0" i="1" smtClean="0">
                        <a:latin typeface="Cambria Math" panose="02040503050406030204" pitchFamily="18" charset="0"/>
                      </a:rPr>
                      <m:t>}</m:t>
                    </m:r>
                  </m:oMath>
                </a14:m>
                <a:br>
                  <a:rPr lang="zh-CN" altLang="en-US" dirty="0"/>
                </a:br>
                <a:endParaRPr lang="en-AU" altLang="zh-CN" dirty="0"/>
              </a:p>
              <a:p>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消除</a:t>
                </a:r>
                <a14:m>
                  <m:oMath xmlns:m="http://schemas.openxmlformats.org/officeDocument/2006/math">
                    <m:r>
                      <a:rPr lang="zh-CN" altLang="en-AU" i="1" dirty="0" smtClean="0">
                        <a:latin typeface="Cambria Math" panose="02040503050406030204" pitchFamily="18" charset="0"/>
                      </a:rPr>
                      <m:t>𝜺</m:t>
                    </m:r>
                  </m:oMath>
                </a14:m>
                <a:r>
                  <a:rPr lang="en-AU" altLang="zh-CN" dirty="0"/>
                  <a:t>-</a:t>
                </a:r>
                <a:r>
                  <a:rPr lang="zh-CN" altLang="en-US" dirty="0"/>
                  <a:t>产生式</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198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66018"/>
                <a:ext cx="8229600" cy="4525963"/>
              </a:xfrm>
            </p:spPr>
            <p:txBody>
              <a:bodyPr>
                <a:normAutofit fontScale="92500" lnSpcReduction="10000"/>
              </a:bodyPr>
              <a:lstStyle/>
              <a:p>
                <a:r>
                  <a:rPr lang="zh-CN" altLang="en-US" sz="3300" dirty="0"/>
                  <a:t>确定“可空变元”</a:t>
                </a:r>
                <a:endParaRPr lang="en-AU" altLang="zh-CN" sz="3300" dirty="0"/>
              </a:p>
              <a:p>
                <a:pPr lvl="1"/>
                <a:r>
                  <a:rPr lang="zh-CN" altLang="en-US" dirty="0"/>
                  <a:t>如果</a:t>
                </a:r>
                <a14:m>
                  <m:oMath xmlns:m="http://schemas.openxmlformats.org/officeDocument/2006/math">
                    <m:r>
                      <a:rPr lang="en-AU" altLang="zh-CN" i="1" dirty="0" smtClean="0">
                        <a:latin typeface="Cambria Math" panose="02040503050406030204" pitchFamily="18" charset="0"/>
                      </a:rPr>
                      <m:t>𝐴</m:t>
                    </m:r>
                    <m:r>
                      <a:rPr lang="en-AU" altLang="zh-CN" i="1" dirty="0" smtClean="0">
                        <a:latin typeface="Cambria Math" panose="02040503050406030204" pitchFamily="18" charset="0"/>
                      </a:rPr>
                      <m:t>→</m:t>
                    </m:r>
                    <m:r>
                      <a:rPr lang="el-GR" altLang="zh-CN" i="1" dirty="0" smtClean="0">
                        <a:latin typeface="Cambria Math" panose="02040503050406030204" pitchFamily="18" charset="0"/>
                      </a:rPr>
                      <m:t>𝜀</m:t>
                    </m:r>
                  </m:oMath>
                </a14:m>
                <a:r>
                  <a:rPr lang="el-GR" altLang="zh-CN" dirty="0"/>
                  <a:t>,</a:t>
                </a:r>
                <a:r>
                  <a:rPr lang="zh-CN" altLang="en-US" dirty="0"/>
                  <a:t>则</a:t>
                </a:r>
                <a14:m>
                  <m:oMath xmlns:m="http://schemas.openxmlformats.org/officeDocument/2006/math">
                    <m:r>
                      <a:rPr lang="en-AU" altLang="zh-CN" i="1" dirty="0" smtClean="0">
                        <a:latin typeface="Cambria Math" panose="02040503050406030204" pitchFamily="18" charset="0"/>
                      </a:rPr>
                      <m:t>𝐴</m:t>
                    </m:r>
                  </m:oMath>
                </a14:m>
                <a:r>
                  <a:rPr lang="zh-CN" altLang="en-US" dirty="0"/>
                  <a:t>是可空的</a:t>
                </a:r>
                <a:r>
                  <a:rPr lang="en-US" altLang="zh-CN" dirty="0"/>
                  <a:t>;</a:t>
                </a:r>
                <a:endParaRPr lang="en-US" altLang="zh-CN" dirty="0"/>
              </a:p>
              <a:p>
                <a:pPr lvl="1"/>
                <a:r>
                  <a:rPr lang="zh-CN" altLang="en-US" dirty="0"/>
                  <a:t>如果</a:t>
                </a:r>
                <a14:m>
                  <m:oMath xmlns:m="http://schemas.openxmlformats.org/officeDocument/2006/math">
                    <m:r>
                      <a:rPr lang="en-US" altLang="zh-CN" i="1" dirty="0" smtClean="0">
                        <a:latin typeface="Cambria Math" panose="02040503050406030204" pitchFamily="18" charset="0"/>
                      </a:rPr>
                      <m:t>𝐵</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𝛼</m:t>
                    </m:r>
                  </m:oMath>
                </a14:m>
                <a:r>
                  <a:rPr lang="zh-CN" altLang="en-US" dirty="0"/>
                  <a:t>且</a:t>
                </a:r>
                <a14:m>
                  <m:oMath xmlns:m="http://schemas.openxmlformats.org/officeDocument/2006/math">
                    <m:r>
                      <a:rPr lang="en-US" altLang="zh-CN" i="1" dirty="0" smtClean="0">
                        <a:latin typeface="Cambria Math" panose="02040503050406030204" pitchFamily="18" charset="0"/>
                      </a:rPr>
                      <m:t>𝛼</m:t>
                    </m:r>
                  </m:oMath>
                </a14:m>
                <a:r>
                  <a:rPr lang="zh-CN" altLang="en-US" dirty="0"/>
                  <a:t>中的每个符号都是可空的</a:t>
                </a:r>
                <a:r>
                  <a:rPr lang="en-US" altLang="zh-CN" dirty="0"/>
                  <a:t>,</a:t>
                </a:r>
                <a:r>
                  <a:rPr lang="zh-CN" altLang="en-US" dirty="0"/>
                  <a:t>则</a:t>
                </a:r>
                <a14:m>
                  <m:oMath xmlns:m="http://schemas.openxmlformats.org/officeDocument/2006/math">
                    <m:r>
                      <a:rPr lang="en-US" altLang="zh-CN" i="1" dirty="0" smtClean="0">
                        <a:latin typeface="Cambria Math" panose="02040503050406030204" pitchFamily="18" charset="0"/>
                      </a:rPr>
                      <m:t>𝐵</m:t>
                    </m:r>
                  </m:oMath>
                </a14:m>
                <a:r>
                  <a:rPr lang="zh-CN" altLang="en-US" dirty="0"/>
                  <a:t>是可空的。</a:t>
                </a:r>
                <a:endParaRPr lang="en-AU" altLang="zh-CN" dirty="0"/>
              </a:p>
              <a:p>
                <a:r>
                  <a:rPr lang="zh-CN" altLang="en-US" dirty="0"/>
                  <a:t>替换产生式</a:t>
                </a:r>
                <a:r>
                  <a:rPr lang="en-AU" altLang="zh-CN" dirty="0"/>
                  <a:t>:</a:t>
                </a:r>
                <a:r>
                  <a:rPr lang="zh-CN" altLang="en-US" dirty="0"/>
                  <a:t>将含有可空变元的一条产生式 </a:t>
                </a:r>
                <a14:m>
                  <m:oMath xmlns:m="http://schemas.openxmlformats.org/officeDocument/2006/math">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 </m:t>
                    </m:r>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𝑋</m:t>
                        </m:r>
                      </m:e>
                      <m:sub>
                        <m:r>
                          <a:rPr lang="en-AU" altLang="zh-CN" b="0" i="1" dirty="0" smtClean="0">
                            <a:latin typeface="Cambria Math" panose="02040503050406030204" pitchFamily="18" charset="0"/>
                          </a:rPr>
                          <m:t>1</m:t>
                        </m:r>
                      </m:sub>
                    </m:sSub>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b="0" i="1" dirty="0" smtClean="0">
                            <a:latin typeface="Cambria Math" panose="02040503050406030204" pitchFamily="18" charset="0"/>
                          </a:rPr>
                          <m:t>2</m:t>
                        </m:r>
                      </m:sub>
                    </m:sSub>
                    <m:r>
                      <a:rPr lang="en-AU" altLang="zh-CN" i="1" dirty="0" smtClean="0">
                        <a:latin typeface="Cambria Math" panose="02040503050406030204" pitchFamily="18" charset="0"/>
                        <a:ea typeface="Cambria Math" panose="02040503050406030204" pitchFamily="18" charset="0"/>
                      </a:rPr>
                      <m:t>⋯</m:t>
                    </m:r>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b="0" i="1" dirty="0" smtClean="0">
                            <a:latin typeface="Cambria Math" panose="02040503050406030204" pitchFamily="18" charset="0"/>
                          </a:rPr>
                          <m:t>𝑛</m:t>
                        </m:r>
                      </m:sub>
                    </m:sSub>
                  </m:oMath>
                </a14:m>
                <a:r>
                  <a:rPr lang="en-AU" altLang="zh-CN" dirty="0"/>
                  <a:t>,</a:t>
                </a:r>
                <a:r>
                  <a:rPr lang="zh-CN" altLang="en-US" dirty="0"/>
                  <a:t>用</a:t>
                </a:r>
                <a:r>
                  <a:rPr lang="zh-CN" altLang="en-US" dirty="0">
                    <a:solidFill>
                      <a:srgbClr val="FF0000"/>
                    </a:solidFill>
                  </a:rPr>
                  <a:t>一组</a:t>
                </a:r>
                <a:r>
                  <a:rPr lang="zh-CN" altLang="en-US" dirty="0"/>
                  <a:t>产生式</a:t>
                </a:r>
                <a14:m>
                  <m:oMath xmlns:m="http://schemas.openxmlformats.org/officeDocument/2006/math">
                    <m:r>
                      <a:rPr lang="en-AU" altLang="zh-CN" i="1" dirty="0">
                        <a:latin typeface="Cambria Math" panose="02040503050406030204" pitchFamily="18" charset="0"/>
                      </a:rPr>
                      <m:t>𝐴</m:t>
                    </m:r>
                    <m:r>
                      <a:rPr lang="en-AU" altLang="zh-CN" i="1" dirty="0">
                        <a:latin typeface="Cambria Math" panose="02040503050406030204" pitchFamily="18" charset="0"/>
                      </a:rPr>
                      <m:t> → </m:t>
                    </m:r>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𝑌</m:t>
                        </m:r>
                      </m:e>
                      <m:sub>
                        <m:r>
                          <a:rPr lang="en-AU" altLang="zh-CN" i="1" dirty="0">
                            <a:latin typeface="Cambria Math" panose="02040503050406030204" pitchFamily="18" charset="0"/>
                          </a:rPr>
                          <m:t>1</m:t>
                        </m:r>
                      </m:sub>
                    </m:sSub>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𝑌</m:t>
                        </m:r>
                      </m:e>
                      <m:sub>
                        <m:r>
                          <a:rPr lang="en-AU" altLang="zh-CN" i="1" dirty="0">
                            <a:latin typeface="Cambria Math" panose="02040503050406030204" pitchFamily="18" charset="0"/>
                          </a:rPr>
                          <m:t>2</m:t>
                        </m:r>
                      </m:sub>
                    </m:sSub>
                    <m:r>
                      <a:rPr lang="en-AU" altLang="zh-CN" i="1" dirty="0">
                        <a:latin typeface="Cambria Math" panose="02040503050406030204" pitchFamily="18" charset="0"/>
                        <a:ea typeface="Cambria Math" panose="02040503050406030204" pitchFamily="18" charset="0"/>
                      </a:rPr>
                      <m:t>⋯</m:t>
                    </m:r>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𝑌</m:t>
                        </m:r>
                      </m:e>
                      <m:sub>
                        <m:r>
                          <a:rPr lang="en-AU" altLang="zh-CN" i="1" dirty="0">
                            <a:latin typeface="Cambria Math" panose="02040503050406030204" pitchFamily="18" charset="0"/>
                          </a:rPr>
                          <m:t>𝑛</m:t>
                        </m:r>
                      </m:sub>
                    </m:sSub>
                  </m:oMath>
                </a14:m>
                <a:r>
                  <a:rPr lang="zh-CN" altLang="en-US" dirty="0"/>
                  <a:t>代替</a:t>
                </a:r>
                <a:r>
                  <a:rPr lang="en-US" altLang="zh-CN" dirty="0"/>
                  <a:t>, </a:t>
                </a:r>
                <a:r>
                  <a:rPr lang="zh-CN" altLang="en-US" dirty="0"/>
                  <a:t>其中</a:t>
                </a:r>
                <a:r>
                  <a:rPr lang="en-US" altLang="zh-CN" dirty="0"/>
                  <a:t>:</a:t>
                </a:r>
                <a:endParaRPr lang="en-US" altLang="zh-CN" dirty="0"/>
              </a:p>
              <a:p>
                <a:pPr lvl="1"/>
                <a:r>
                  <a:rPr lang="zh-CN" altLang="en-US" dirty="0"/>
                  <a:t>若</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𝑋</m:t>
                        </m:r>
                      </m:e>
                      <m:sub>
                        <m:r>
                          <a:rPr lang="en-AU" altLang="zh-CN" b="0" i="1" dirty="0" smtClean="0">
                            <a:latin typeface="Cambria Math" panose="02040503050406030204" pitchFamily="18" charset="0"/>
                          </a:rPr>
                          <m:t>𝑖</m:t>
                        </m:r>
                      </m:sub>
                    </m:sSub>
                  </m:oMath>
                </a14:m>
                <a:r>
                  <a:rPr lang="zh-CN" altLang="en-US" dirty="0"/>
                  <a:t>不是可空的</a:t>
                </a:r>
                <a:r>
                  <a:rPr lang="en-US" altLang="zh-CN" dirty="0"/>
                  <a:t>, </a:t>
                </a:r>
                <a14:m>
                  <m:oMath xmlns:m="http://schemas.openxmlformats.org/officeDocument/2006/math">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𝑌</m:t>
                        </m:r>
                      </m:e>
                      <m:sub>
                        <m:r>
                          <a:rPr lang="en-AU" altLang="zh-CN" i="1" dirty="0">
                            <a:latin typeface="Cambria Math" panose="02040503050406030204" pitchFamily="18" charset="0"/>
                          </a:rPr>
                          <m:t>𝑖</m:t>
                        </m:r>
                      </m:sub>
                    </m:sSub>
                  </m:oMath>
                </a14:m>
                <a:r>
                  <a:rPr lang="zh-CN" altLang="en-US" dirty="0"/>
                  <a:t>为</a:t>
                </a:r>
                <a14:m>
                  <m:oMath xmlns:m="http://schemas.openxmlformats.org/officeDocument/2006/math">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𝑖</m:t>
                        </m:r>
                      </m:sub>
                    </m:sSub>
                  </m:oMath>
                </a14:m>
                <a:r>
                  <a:rPr lang="en-AU" altLang="zh-CN" dirty="0"/>
                  <a:t>;</a:t>
                </a:r>
                <a:endParaRPr lang="en-AU" altLang="zh-CN" dirty="0"/>
              </a:p>
              <a:p>
                <a:pPr lvl="1"/>
                <a:r>
                  <a:rPr lang="zh-CN" altLang="en-US" dirty="0"/>
                  <a:t>若</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𝑋</m:t>
                        </m:r>
                      </m:e>
                      <m:sub>
                        <m:r>
                          <a:rPr lang="en-AU" altLang="zh-CN" b="0" i="1" dirty="0" smtClean="0">
                            <a:latin typeface="Cambria Math" panose="02040503050406030204" pitchFamily="18" charset="0"/>
                          </a:rPr>
                          <m:t>𝑖</m:t>
                        </m:r>
                      </m:sub>
                    </m:sSub>
                  </m:oMath>
                </a14:m>
                <a:r>
                  <a:rPr lang="zh-CN" altLang="en-US" dirty="0"/>
                  <a:t>是可空的</a:t>
                </a:r>
                <a:r>
                  <a:rPr lang="en-US" altLang="zh-CN" dirty="0"/>
                  <a:t>,</a:t>
                </a:r>
                <a:r>
                  <a:rPr lang="en-AU" altLang="zh-CN" dirty="0"/>
                  <a:t> </a:t>
                </a:r>
                <a14:m>
                  <m:oMath xmlns:m="http://schemas.openxmlformats.org/officeDocument/2006/math">
                    <m:sSub>
                      <m:sSubPr>
                        <m:ctrlPr>
                          <a:rPr lang="en-AU" altLang="zh-CN" i="1" dirty="0">
                            <a:latin typeface="Cambria Math" panose="02040503050406030204" pitchFamily="18" charset="0"/>
                          </a:rPr>
                        </m:ctrlPr>
                      </m:sSubPr>
                      <m:e>
                        <m:r>
                          <a:rPr lang="en-AU" altLang="zh-CN" b="0" i="1" dirty="0" smtClean="0">
                            <a:latin typeface="Cambria Math" panose="02040503050406030204" pitchFamily="18" charset="0"/>
                          </a:rPr>
                          <m:t>𝑌</m:t>
                        </m:r>
                      </m:e>
                      <m:sub>
                        <m:r>
                          <a:rPr lang="en-AU" altLang="zh-CN" i="1" dirty="0">
                            <a:latin typeface="Cambria Math" panose="02040503050406030204" pitchFamily="18" charset="0"/>
                          </a:rPr>
                          <m:t>𝑖</m:t>
                        </m:r>
                      </m:sub>
                    </m:sSub>
                  </m:oMath>
                </a14:m>
                <a:r>
                  <a:rPr lang="zh-CN" altLang="en-US" dirty="0"/>
                  <a:t>为</a:t>
                </a:r>
                <a14:m>
                  <m:oMath xmlns:m="http://schemas.openxmlformats.org/officeDocument/2006/math">
                    <m:sSub>
                      <m:sSubPr>
                        <m:ctrlPr>
                          <a:rPr lang="en-AU"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𝑖</m:t>
                        </m:r>
                      </m:sub>
                    </m:sSub>
                  </m:oMath>
                </a14:m>
                <a:r>
                  <a:rPr lang="zh-CN" altLang="en-US" dirty="0"/>
                  <a:t>或</a:t>
                </a:r>
                <a14:m>
                  <m:oMath xmlns:m="http://schemas.openxmlformats.org/officeDocument/2006/math">
                    <m:r>
                      <a:rPr lang="el-GR" altLang="zh-CN" i="1" dirty="0">
                        <a:latin typeface="Cambria Math" panose="02040503050406030204" pitchFamily="18" charset="0"/>
                      </a:rPr>
                      <m:t>𝜀</m:t>
                    </m:r>
                  </m:oMath>
                </a14:m>
                <a:r>
                  <a:rPr lang="el-GR" altLang="zh-CN" dirty="0"/>
                  <a:t>;</a:t>
                </a:r>
                <a:r>
                  <a:rPr lang="zh-CN" altLang="en-US" dirty="0"/>
                  <a:t>（即对于每个可空变元，它可以出现或不出现在替换后的产生式中）</a:t>
                </a:r>
                <a:endParaRPr lang="el-GR" altLang="zh-CN" dirty="0"/>
              </a:p>
              <a:p>
                <a:pPr lvl="1"/>
                <a:r>
                  <a:rPr lang="zh-CN" altLang="en-US" dirty="0"/>
                  <a:t>但</a:t>
                </a:r>
                <a14:m>
                  <m:oMath xmlns:m="http://schemas.openxmlformats.org/officeDocument/2006/math">
                    <m:sSub>
                      <m:sSubPr>
                        <m:ctrlPr>
                          <a:rPr lang="en-AU" altLang="zh-CN" i="1" dirty="0" smtClean="0">
                            <a:latin typeface="Cambria Math" panose="02040503050406030204" pitchFamily="18" charset="0"/>
                          </a:rPr>
                        </m:ctrlPr>
                      </m:sSubPr>
                      <m:e>
                        <m:r>
                          <a:rPr lang="en-AU" altLang="zh-CN" b="0" i="1" dirty="0" smtClean="0">
                            <a:latin typeface="Cambria Math" panose="02040503050406030204" pitchFamily="18" charset="0"/>
                          </a:rPr>
                          <m:t>𝑌</m:t>
                        </m:r>
                      </m:e>
                      <m:sub>
                        <m:r>
                          <a:rPr lang="en-AU" altLang="zh-CN" b="0" i="1" dirty="0" smtClean="0">
                            <a:latin typeface="Cambria Math" panose="02040503050406030204" pitchFamily="18" charset="0"/>
                          </a:rPr>
                          <m:t>𝑖</m:t>
                        </m:r>
                      </m:sub>
                    </m:sSub>
                  </m:oMath>
                </a14:m>
                <a:r>
                  <a:rPr lang="zh-CN" altLang="en-US" dirty="0"/>
                  <a:t>不能全为</a:t>
                </a:r>
                <a14:m>
                  <m:oMath xmlns:m="http://schemas.openxmlformats.org/officeDocument/2006/math">
                    <m:r>
                      <a:rPr lang="el-GR" altLang="zh-CN" i="1" dirty="0">
                        <a:latin typeface="Cambria Math" panose="02040503050406030204" pitchFamily="18" charset="0"/>
                      </a:rPr>
                      <m:t>𝜀</m:t>
                    </m:r>
                    <m:r>
                      <a:rPr lang="zh-CN" altLang="en-US" i="1" dirty="0" smtClean="0">
                        <a:latin typeface="Cambria Math" panose="02040503050406030204" pitchFamily="18" charset="0"/>
                      </a:rPr>
                      <m:t>。</m:t>
                    </m:r>
                  </m:oMath>
                </a14:m>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2"/>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消除</a:t>
                </a:r>
                <a14:m>
                  <m:oMath xmlns:m="http://schemas.openxmlformats.org/officeDocument/2006/math">
                    <m:r>
                      <a:rPr lang="zh-CN" altLang="en-AU" i="1" dirty="0" smtClean="0">
                        <a:latin typeface="Cambria Math" panose="02040503050406030204" pitchFamily="18" charset="0"/>
                      </a:rPr>
                      <m:t>𝜺</m:t>
                    </m:r>
                  </m:oMath>
                </a14:m>
                <a:r>
                  <a:rPr lang="en-AU" altLang="zh-CN" dirty="0"/>
                  <a:t>-</a:t>
                </a:r>
                <a:r>
                  <a:rPr lang="zh-CN" altLang="en-US" dirty="0"/>
                  <a:t>产生式</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198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定理</a:t>
                </a:r>
                <a:r>
                  <a:rPr lang="en-AU" altLang="zh-CN" dirty="0"/>
                  <a:t>:</a:t>
                </a:r>
                <a:r>
                  <a:rPr lang="zh-CN" altLang="en-US" dirty="0"/>
                  <a:t>任何</a:t>
                </a:r>
                <a:r>
                  <a:rPr lang="en-US" altLang="zh-CN" dirty="0">
                    <a:latin typeface="Times New Roman" panose="02020603050405020304" pitchFamily="18" charset="0"/>
                    <a:cs typeface="Times New Roman" panose="02020603050405020304" pitchFamily="18" charset="0"/>
                  </a:rPr>
                  <a:t>CFG</a:t>
                </a:r>
                <a:r>
                  <a:rPr lang="en-US" altLang="zh-CN" dirty="0"/>
                  <a:t> </a:t>
                </a:r>
                <a14:m>
                  <m:oMath xmlns:m="http://schemas.openxmlformats.org/officeDocument/2006/math">
                    <m:r>
                      <a:rPr lang="en-AU" altLang="zh-CN" b="0" i="1" smtClean="0">
                        <a:latin typeface="Cambria Math" panose="02040503050406030204" pitchFamily="18" charset="0"/>
                      </a:rPr>
                      <m:t>𝐺</m:t>
                    </m:r>
                  </m:oMath>
                </a14:m>
                <a:r>
                  <a:rPr lang="en-US" altLang="zh-CN" dirty="0"/>
                  <a:t>, </a:t>
                </a:r>
                <a:r>
                  <a:rPr lang="zh-CN" altLang="en-US" dirty="0"/>
                  <a:t>都存在一个不带无用符号和 </a:t>
                </a:r>
                <a14:m>
                  <m:oMath xmlns:m="http://schemas.openxmlformats.org/officeDocument/2006/math">
                    <m:r>
                      <a:rPr lang="en-US" altLang="zh-CN" i="1" dirty="0" smtClean="0">
                        <a:latin typeface="Cambria Math" panose="02040503050406030204" pitchFamily="18" charset="0"/>
                      </a:rPr>
                      <m:t>𝜀</m:t>
                    </m:r>
                    <m:r>
                      <a:rPr lang="en-US" altLang="zh-CN" i="1" dirty="0" smtClean="0">
                        <a:latin typeface="Cambria Math" panose="02040503050406030204" pitchFamily="18" charset="0"/>
                      </a:rPr>
                      <m:t>−</m:t>
                    </m:r>
                  </m:oMath>
                </a14:m>
                <a:r>
                  <a:rPr lang="zh-CN" altLang="en-US" dirty="0"/>
                  <a:t>产生式的</a:t>
                </a:r>
                <a:r>
                  <a:rPr lang="en-US" altLang="zh-CN" dirty="0">
                    <a:latin typeface="Times New Roman" panose="02020603050405020304" pitchFamily="18" charset="0"/>
                    <a:cs typeface="Times New Roman" panose="02020603050405020304" pitchFamily="18" charset="0"/>
                  </a:rPr>
                  <a:t>CFG</a:t>
                </a:r>
                <a:r>
                  <a:rPr lang="en-US" altLang="zh-CN" dirty="0"/>
                  <a:t> </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𝐺</m:t>
                        </m:r>
                      </m:e>
                      <m:sup>
                        <m:r>
                          <a:rPr lang="en-US" altLang="zh-CN" b="1" i="1" dirty="0" smtClean="0">
                            <a:latin typeface="Cambria Math" panose="02040503050406030204" pitchFamily="18" charset="0"/>
                          </a:rPr>
                          <m:t>′</m:t>
                        </m:r>
                      </m:sup>
                    </m:sSup>
                  </m:oMath>
                </a14:m>
                <a:r>
                  <a:rPr lang="en-US" altLang="zh-CN" dirty="0"/>
                  <a:t>, </a:t>
                </a:r>
                <a:r>
                  <a:rPr lang="zh-CN" altLang="en-US" dirty="0"/>
                  <a:t>使</a:t>
                </a:r>
                <a14:m>
                  <m:oMath xmlns:m="http://schemas.openxmlformats.org/officeDocument/2006/math">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𝐺</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𝐺</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𝜀</m:t>
                    </m:r>
                    <m:r>
                      <a:rPr lang="en-US" altLang="zh-CN" i="1" dirty="0" smtClean="0">
                        <a:latin typeface="Cambria Math" panose="02040503050406030204" pitchFamily="18" charset="0"/>
                      </a:rPr>
                      <m:t>}</m:t>
                    </m:r>
                  </m:oMath>
                </a14:m>
                <a:r>
                  <a:rPr lang="zh-CN" altLang="en-US" dirty="0"/>
                  <a:t>。</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800" b="1" dirty="0"/>
                  <a:t>例</a:t>
                </a:r>
                <a:r>
                  <a:rPr lang="en-AU" altLang="zh-CN" sz="2800" b="1" dirty="0"/>
                  <a:t>:</a:t>
                </a:r>
                <a:r>
                  <a:rPr lang="zh-CN" altLang="en-US" sz="2800" b="1" dirty="0"/>
                  <a:t>消除</a:t>
                </a:r>
                <a:r>
                  <a:rPr lang="en-AU" altLang="zh-CN" sz="2800" b="1" dirty="0">
                    <a:latin typeface="Times New Roman" panose="02020603050405020304" pitchFamily="18" charset="0"/>
                    <a:cs typeface="Times New Roman" panose="02020603050405020304" pitchFamily="18" charset="0"/>
                  </a:rPr>
                  <a:t>CFG</a:t>
                </a:r>
                <a:r>
                  <a:rPr lang="en-AU" altLang="zh-CN" sz="2800" b="1" dirty="0"/>
                  <a:t> </a:t>
                </a:r>
                <a14:m>
                  <m:oMath xmlns:m="http://schemas.openxmlformats.org/officeDocument/2006/math">
                    <m:r>
                      <a:rPr lang="en-AU" altLang="zh-CN" sz="2800" b="1" i="1" dirty="0" smtClean="0">
                        <a:latin typeface="Cambria Math" panose="02040503050406030204" pitchFamily="18" charset="0"/>
                      </a:rPr>
                      <m:t>𝑮</m:t>
                    </m:r>
                    <m:r>
                      <a:rPr lang="en-AU" altLang="zh-CN" sz="2800" b="1" i="1" dirty="0" smtClean="0">
                        <a:latin typeface="Cambria Math" panose="02040503050406030204" pitchFamily="18" charset="0"/>
                      </a:rPr>
                      <m:t> = ({</m:t>
                    </m:r>
                    <m:r>
                      <a:rPr lang="en-AU" altLang="zh-CN" sz="2800" b="1" i="1" dirty="0" smtClean="0">
                        <a:latin typeface="Cambria Math" panose="02040503050406030204" pitchFamily="18" charset="0"/>
                      </a:rPr>
                      <m:t>𝑺</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𝑨</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𝑩</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𝒂</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𝒃</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𝑷</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𝑺</m:t>
                    </m:r>
                    <m:r>
                      <a:rPr lang="en-AU" altLang="zh-CN" sz="2800" b="1" i="1" dirty="0" smtClean="0">
                        <a:latin typeface="Cambria Math" panose="02040503050406030204" pitchFamily="18" charset="0"/>
                      </a:rPr>
                      <m:t>) </m:t>
                    </m:r>
                  </m:oMath>
                </a14:m>
                <a:r>
                  <a:rPr lang="zh-CN" altLang="en-US" sz="2800" b="1" dirty="0"/>
                  <a:t>的</a:t>
                </a:r>
                <a14:m>
                  <m:oMath xmlns:m="http://schemas.openxmlformats.org/officeDocument/2006/math">
                    <m:r>
                      <a:rPr lang="el-GR" altLang="zh-CN" sz="2800" b="1" i="1" dirty="0" smtClean="0">
                        <a:latin typeface="Cambria Math" panose="02040503050406030204" pitchFamily="18" charset="0"/>
                      </a:rPr>
                      <m:t>𝜺</m:t>
                    </m:r>
                    <m:r>
                      <a:rPr lang="el-GR" altLang="zh-CN" sz="2800" b="1" i="1" dirty="0" smtClean="0">
                        <a:latin typeface="Cambria Math" panose="02040503050406030204" pitchFamily="18" charset="0"/>
                      </a:rPr>
                      <m:t>−</m:t>
                    </m:r>
                  </m:oMath>
                </a14:m>
                <a:r>
                  <a:rPr lang="zh-CN" altLang="en-US" sz="2800" b="1" dirty="0"/>
                  <a:t>产生式。</a:t>
                </a:r>
                <a14:m>
                  <m:oMath xmlns:m="http://schemas.openxmlformats.org/officeDocument/2006/math">
                    <m:r>
                      <a:rPr lang="en-AU" altLang="zh-CN" sz="2800" b="1" i="1" dirty="0" smtClean="0">
                        <a:latin typeface="Cambria Math" panose="02040503050406030204" pitchFamily="18" charset="0"/>
                      </a:rPr>
                      <m:t>𝑺</m:t>
                    </m:r>
                    <m:r>
                      <a:rPr lang="en-AU" altLang="zh-CN" sz="2800" b="1" i="1" dirty="0" smtClean="0">
                        <a:latin typeface="Cambria Math" panose="02040503050406030204" pitchFamily="18" charset="0"/>
                      </a:rPr>
                      <m:t> → </m:t>
                    </m:r>
                    <m:r>
                      <a:rPr lang="en-AU" altLang="zh-CN" sz="2800" b="1" i="1" dirty="0" smtClean="0">
                        <a:latin typeface="Cambria Math" panose="02040503050406030204" pitchFamily="18" charset="0"/>
                      </a:rPr>
                      <m:t>𝑨𝑩</m:t>
                    </m:r>
                    <m:r>
                      <a:rPr lang="zh-CN" altLang="en-US" sz="2800" b="1" i="1" dirty="0">
                        <a:latin typeface="Cambria Math" panose="02040503050406030204" pitchFamily="18" charset="0"/>
                      </a:rPr>
                      <m:t>，</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𝑨</m:t>
                    </m:r>
                    <m:r>
                      <a:rPr lang="en-AU" altLang="zh-CN" sz="2800" b="1" i="1" dirty="0" smtClean="0">
                        <a:latin typeface="Cambria Math" panose="02040503050406030204" pitchFamily="18" charset="0"/>
                      </a:rPr>
                      <m:t> → </m:t>
                    </m:r>
                    <m:r>
                      <a:rPr lang="en-AU" altLang="zh-CN" sz="2800" b="1" i="1" dirty="0" err="1">
                        <a:latin typeface="Cambria Math" panose="02040503050406030204" pitchFamily="18" charset="0"/>
                      </a:rPr>
                      <m:t>𝑨𝒂𝑨</m:t>
                    </m:r>
                    <m:r>
                      <a:rPr lang="en-AU" altLang="zh-CN" sz="2800" b="1" i="1" dirty="0">
                        <a:latin typeface="Cambria Math" panose="02040503050406030204" pitchFamily="18" charset="0"/>
                      </a:rPr>
                      <m:t> </m:t>
                    </m:r>
                    <m:d>
                      <m:dPr>
                        <m:begChr m:val="|"/>
                        <m:endChr m:val="|"/>
                        <m:ctrlPr>
                          <a:rPr lang="en-AU" altLang="zh-CN" sz="2800" b="1" i="1" dirty="0">
                            <a:latin typeface="Cambria Math" panose="02040503050406030204" pitchFamily="18" charset="0"/>
                          </a:rPr>
                        </m:ctrlPr>
                      </m:dPr>
                      <m:e>
                        <m:r>
                          <a:rPr lang="en-AU" altLang="zh-CN" sz="2800" b="1" i="1" dirty="0">
                            <a:latin typeface="Cambria Math" panose="02040503050406030204" pitchFamily="18" charset="0"/>
                          </a:rPr>
                          <m:t> </m:t>
                        </m:r>
                        <m:r>
                          <a:rPr lang="el-GR" altLang="zh-CN" sz="2800" b="1" i="1" dirty="0">
                            <a:latin typeface="Cambria Math" panose="02040503050406030204" pitchFamily="18" charset="0"/>
                          </a:rPr>
                          <m:t>𝜺</m:t>
                        </m:r>
                        <m:r>
                          <a:rPr lang="zh-CN" altLang="en-US" sz="2800" b="1" i="1" dirty="0" smtClean="0">
                            <a:latin typeface="Cambria Math" panose="02040503050406030204" pitchFamily="18" charset="0"/>
                          </a:rPr>
                          <m:t>，</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𝑩</m:t>
                        </m:r>
                        <m:r>
                          <a:rPr lang="en-AU" altLang="zh-CN" sz="2800" b="1" i="1" dirty="0" smtClean="0">
                            <a:latin typeface="Cambria Math" panose="02040503050406030204" pitchFamily="18" charset="0"/>
                          </a:rPr>
                          <m:t> → </m:t>
                        </m:r>
                        <m:r>
                          <a:rPr lang="en-AU" altLang="zh-CN" sz="2800" b="1" i="1" dirty="0" err="1">
                            <a:latin typeface="Cambria Math" panose="02040503050406030204" pitchFamily="18" charset="0"/>
                          </a:rPr>
                          <m:t>𝑩𝒃𝑩</m:t>
                        </m:r>
                        <m:r>
                          <a:rPr lang="en-AU" altLang="zh-CN" sz="2800" b="1" i="1" dirty="0">
                            <a:latin typeface="Cambria Math" panose="02040503050406030204" pitchFamily="18" charset="0"/>
                          </a:rPr>
                          <m:t> </m:t>
                        </m:r>
                      </m:e>
                    </m:d>
                    <m:r>
                      <a:rPr lang="el-GR" altLang="zh-CN" sz="2800" b="1" i="1" dirty="0">
                        <a:latin typeface="Cambria Math" panose="02040503050406030204" pitchFamily="18" charset="0"/>
                      </a:rPr>
                      <m:t>𝜺</m:t>
                    </m:r>
                  </m:oMath>
                </a14:m>
                <a:endParaRPr lang="en-AU" altLang="zh-CN" sz="2800" b="1" dirty="0"/>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914400" y="635000"/>
                <a:ext cx="7315200" cy="2143125"/>
              </a:xfrm>
              <a:prstGeom prst="rect">
                <a:avLst/>
              </a:prstGeom>
              <a:blipFill rotWithShape="1">
                <a:blip r:embed="rId3"/>
                <a:stretch>
                  <a:fillRect/>
                </a:stretch>
              </a:blipFill>
            </p:spPr>
            <p:txBody>
              <a:bodyPr/>
              <a:lstStyle/>
              <a:p>
                <a:r>
                  <a:rPr lang="zh-CN" altLang="en-US">
                    <a:noFill/>
                  </a:rPr>
                  <a:t> </a:t>
                </a:r>
              </a:p>
            </p:txBody>
          </p:sp>
        </mc:Fallback>
      </mc:AlternateContent>
      <p:sp>
        <p:nvSpPr>
          <p:cNvPr id="8" name="矩形: 圆角 7"/>
          <p:cNvSpPr/>
          <p:nvPr>
            <p:custDataLst>
              <p:tags r:id="rId4"/>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3" name="组合 12"/>
          <p:cNvGrpSpPr/>
          <p:nvPr>
            <p:custDataLst>
              <p:tags r:id="rId5"/>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0"/>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2"/>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消除</a:t>
                </a:r>
                <a14:m>
                  <m:oMath xmlns:m="http://schemas.openxmlformats.org/officeDocument/2006/math">
                    <m:r>
                      <a:rPr lang="zh-CN" altLang="en-AU" i="1" dirty="0" smtClean="0">
                        <a:latin typeface="Cambria Math" panose="02040503050406030204" pitchFamily="18" charset="0"/>
                      </a:rPr>
                      <m:t>𝜺</m:t>
                    </m:r>
                  </m:oMath>
                </a14:m>
                <a:r>
                  <a:rPr lang="en-AU" altLang="zh-CN" dirty="0"/>
                  <a:t>-</a:t>
                </a:r>
                <a:r>
                  <a:rPr lang="zh-CN" altLang="en-US" dirty="0"/>
                  <a:t>产生式</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198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61372" y="1187926"/>
                <a:ext cx="8229600" cy="4525963"/>
              </a:xfrm>
            </p:spPr>
            <p:txBody>
              <a:bodyPr>
                <a:normAutofit/>
              </a:bodyPr>
              <a:lstStyle/>
              <a:p>
                <a:r>
                  <a:rPr lang="zh-CN" altLang="en-US" dirty="0"/>
                  <a:t>例</a:t>
                </a:r>
                <a:r>
                  <a:rPr lang="en-AU" altLang="zh-CN" dirty="0"/>
                  <a:t>:</a:t>
                </a:r>
                <a:r>
                  <a:rPr lang="zh-CN" altLang="en-US" dirty="0"/>
                  <a:t>消除</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𝑎</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𝑏</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m:t>
                    </m:r>
                  </m:oMath>
                </a14:m>
                <a:r>
                  <a:rPr lang="zh-CN" altLang="en-US" dirty="0"/>
                  <a:t>的</a:t>
                </a:r>
                <a14:m>
                  <m:oMath xmlns:m="http://schemas.openxmlformats.org/officeDocument/2006/math">
                    <m:r>
                      <a:rPr lang="el-GR" altLang="zh-CN" i="1" dirty="0" smtClean="0">
                        <a:latin typeface="Cambria Math" panose="02040503050406030204" pitchFamily="18" charset="0"/>
                      </a:rPr>
                      <m:t>𝜀</m:t>
                    </m:r>
                    <m:r>
                      <a:rPr lang="el-GR" altLang="zh-CN" i="1" dirty="0" smtClean="0">
                        <a:latin typeface="Cambria Math" panose="02040503050406030204" pitchFamily="18" charset="0"/>
                      </a:rPr>
                      <m:t>−</m:t>
                    </m:r>
                  </m:oMath>
                </a14:m>
                <a:r>
                  <a:rPr lang="zh-CN" altLang="en-US" dirty="0"/>
                  <a:t>产生式。</a:t>
                </a:r>
                <a14:m>
                  <m:oMath xmlns:m="http://schemas.openxmlformats.org/officeDocument/2006/math">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𝐴𝐵</m:t>
                    </m:r>
                    <m:r>
                      <a:rPr lang="zh-CN" altLang="en-US" i="1" dirty="0">
                        <a:latin typeface="Cambria Math" panose="02040503050406030204" pitchFamily="18" charset="0"/>
                      </a:rPr>
                      <m:t>，</m:t>
                    </m:r>
                    <m:r>
                      <a:rPr lang="en-AU" altLang="zh-CN" b="0" i="1" dirty="0" smtClean="0">
                        <a:latin typeface="Cambria Math" panose="02040503050406030204" pitchFamily="18" charset="0"/>
                      </a:rPr>
                      <m:t> </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 </m:t>
                    </m:r>
                    <m:r>
                      <a:rPr lang="en-AU" altLang="zh-CN" i="1" dirty="0" err="1">
                        <a:latin typeface="Cambria Math" panose="02040503050406030204" pitchFamily="18" charset="0"/>
                      </a:rPr>
                      <m:t>𝐴𝑎𝐴</m:t>
                    </m:r>
                    <m:r>
                      <a:rPr lang="en-AU" altLang="zh-CN" i="1" dirty="0">
                        <a:latin typeface="Cambria Math" panose="02040503050406030204" pitchFamily="18" charset="0"/>
                      </a:rPr>
                      <m:t> </m:t>
                    </m:r>
                    <m:d>
                      <m:dPr>
                        <m:begChr m:val="|"/>
                        <m:endChr m:val="|"/>
                        <m:ctrlPr>
                          <a:rPr lang="en-AU" altLang="zh-CN" i="1" dirty="0">
                            <a:latin typeface="Cambria Math" panose="02040503050406030204" pitchFamily="18" charset="0"/>
                          </a:rPr>
                        </m:ctrlPr>
                      </m:dPr>
                      <m:e>
                        <m:r>
                          <a:rPr lang="en-AU" altLang="zh-CN" i="1" dirty="0">
                            <a:latin typeface="Cambria Math" panose="02040503050406030204" pitchFamily="18" charset="0"/>
                          </a:rPr>
                          <m:t> </m:t>
                        </m:r>
                        <m:r>
                          <a:rPr lang="el-GR" altLang="zh-CN" i="1" dirty="0">
                            <a:latin typeface="Cambria Math" panose="02040503050406030204" pitchFamily="18" charset="0"/>
                          </a:rPr>
                          <m:t>𝜀</m:t>
                        </m:r>
                        <m:r>
                          <a:rPr lang="zh-CN" altLang="en-US" i="1" dirty="0" smtClean="0">
                            <a:latin typeface="Cambria Math" panose="02040503050406030204" pitchFamily="18" charset="0"/>
                          </a:rPr>
                          <m:t>，</m:t>
                        </m:r>
                        <m:r>
                          <a:rPr lang="en-AU" altLang="zh-CN" b="0"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 </m:t>
                        </m:r>
                        <m:r>
                          <a:rPr lang="en-AU" altLang="zh-CN" i="1" dirty="0" err="1">
                            <a:latin typeface="Cambria Math" panose="02040503050406030204" pitchFamily="18" charset="0"/>
                          </a:rPr>
                          <m:t>𝐵𝑏𝐵</m:t>
                        </m:r>
                        <m:r>
                          <a:rPr lang="en-AU" altLang="zh-CN" i="1" dirty="0">
                            <a:latin typeface="Cambria Math" panose="02040503050406030204" pitchFamily="18" charset="0"/>
                          </a:rPr>
                          <m:t> </m:t>
                        </m:r>
                      </m:e>
                    </m:d>
                    <m:r>
                      <a:rPr lang="el-GR" altLang="zh-CN" i="1" dirty="0">
                        <a:latin typeface="Cambria Math" panose="02040503050406030204" pitchFamily="18" charset="0"/>
                      </a:rPr>
                      <m:t>𝜀</m:t>
                    </m:r>
                  </m:oMath>
                </a14:m>
                <a:endParaRPr lang="en-AU" altLang="zh-CN" dirty="0"/>
              </a:p>
              <a:p>
                <a:pPr marL="0" indent="0">
                  <a:buNone/>
                </a:pPr>
                <a:r>
                  <a:rPr lang="en-AU" altLang="zh-CN" sz="2400" dirty="0"/>
                  <a:t>(1)</a:t>
                </a:r>
                <a:r>
                  <a:rPr lang="zh-CN" altLang="en-US" sz="2400" dirty="0"/>
                  <a:t>先确定全部可空的变元：</a:t>
                </a:r>
                <a14:m>
                  <m:oMath xmlns:m="http://schemas.openxmlformats.org/officeDocument/2006/math">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𝑆</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𝐴</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𝐵</m:t>
                    </m:r>
                    <m:r>
                      <a:rPr lang="en-US" altLang="zh-CN" sz="2400" i="1" dirty="0" smtClean="0">
                        <a:latin typeface="Cambria Math" panose="02040503050406030204" pitchFamily="18" charset="0"/>
                      </a:rPr>
                      <m:t>}</m:t>
                    </m:r>
                  </m:oMath>
                </a14:m>
                <a:r>
                  <a:rPr lang="en-US" altLang="zh-CN" sz="2400" dirty="0"/>
                  <a:t> (</a:t>
                </a:r>
                <a14:m>
                  <m:oMath xmlns:m="http://schemas.openxmlformats.org/officeDocument/2006/math">
                    <m:r>
                      <a:rPr lang="en-US" altLang="zh-CN" sz="2400" i="1" dirty="0" smtClean="0">
                        <a:latin typeface="Cambria Math" panose="02040503050406030204" pitchFamily="18" charset="0"/>
                      </a:rPr>
                      <m:t>𝐴</m:t>
                    </m:r>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rPr>
                      <m:t>𝐵</m:t>
                    </m:r>
                  </m:oMath>
                </a14:m>
                <a:r>
                  <a:rPr lang="zh-CN" altLang="en-US" sz="2400" dirty="0"/>
                  <a:t>产生</a:t>
                </a:r>
                <a14:m>
                  <m:oMath xmlns:m="http://schemas.openxmlformats.org/officeDocument/2006/math">
                    <m:r>
                      <a:rPr lang="el-GR" altLang="zh-CN" sz="2400" i="1" dirty="0">
                        <a:latin typeface="Cambria Math" panose="02040503050406030204" pitchFamily="18" charset="0"/>
                      </a:rPr>
                      <m:t>𝜀</m:t>
                    </m:r>
                  </m:oMath>
                </a14:m>
                <a:r>
                  <a:rPr lang="en-AU" altLang="zh-CN" sz="2400" dirty="0"/>
                  <a:t>;</a:t>
                </a:r>
                <a14:m>
                  <m:oMath xmlns:m="http://schemas.openxmlformats.org/officeDocument/2006/math">
                    <m:r>
                      <a:rPr lang="en-AU" altLang="zh-CN" sz="2400" i="1" dirty="0">
                        <a:latin typeface="Cambria Math" panose="02040503050406030204" pitchFamily="18" charset="0"/>
                      </a:rPr>
                      <m:t>𝑆</m:t>
                    </m:r>
                    <m:r>
                      <a:rPr lang="en-AU" altLang="zh-CN" sz="2400" i="1" dirty="0">
                        <a:latin typeface="Cambria Math" panose="02040503050406030204" pitchFamily="18" charset="0"/>
                      </a:rPr>
                      <m:t> → </m:t>
                    </m:r>
                    <m:r>
                      <a:rPr lang="en-AU" altLang="zh-CN" sz="2400" i="1" dirty="0">
                        <a:latin typeface="Cambria Math" panose="02040503050406030204" pitchFamily="18" charset="0"/>
                      </a:rPr>
                      <m:t>𝐴𝐵</m:t>
                    </m:r>
                  </m:oMath>
                </a14:m>
                <a:r>
                  <a:rPr lang="zh-CN" altLang="en-US" sz="2400" dirty="0"/>
                  <a:t>的右部变元只有</a:t>
                </a:r>
                <a14:m>
                  <m:oMath xmlns:m="http://schemas.openxmlformats.org/officeDocument/2006/math">
                    <m:r>
                      <a:rPr lang="en-AU" altLang="zh-CN" sz="2400" i="1" dirty="0" smtClean="0">
                        <a:latin typeface="Cambria Math" panose="02040503050406030204" pitchFamily="18" charset="0"/>
                      </a:rPr>
                      <m:t>𝐴</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𝐵</m:t>
                    </m:r>
                  </m:oMath>
                </a14:m>
                <a:r>
                  <a:rPr lang="en-US" altLang="zh-CN" sz="2400" dirty="0"/>
                  <a:t>)</a:t>
                </a:r>
                <a:endParaRPr lang="en-US" altLang="zh-CN" sz="2400" dirty="0"/>
              </a:p>
              <a:p>
                <a:pPr marL="0" indent="0">
                  <a:buNone/>
                </a:pPr>
                <a:r>
                  <a:rPr lang="en-AU" altLang="zh-CN" sz="2400" dirty="0"/>
                  <a:t>(2)</a:t>
                </a:r>
                <a:r>
                  <a:rPr lang="zh-CN" altLang="en-US" sz="2400" dirty="0"/>
                  <a:t>再替换全部带有可空符号的产生式</a:t>
                </a:r>
                <a:r>
                  <a:rPr lang="en-AU" altLang="zh-CN" sz="2400" dirty="0"/>
                  <a:t>(</a:t>
                </a:r>
                <a:r>
                  <a:rPr lang="zh-CN" altLang="en-US" sz="2400" dirty="0"/>
                  <a:t>注意，每个可空变元有出现或不出现在新产生式中的两种情况</a:t>
                </a:r>
                <a:r>
                  <a:rPr lang="en-AU" altLang="zh-CN" sz="2400" dirty="0"/>
                  <a:t>)</a:t>
                </a:r>
                <a:r>
                  <a:rPr lang="zh-CN" altLang="en-US" sz="2400" dirty="0"/>
                  <a:t>：</a:t>
                </a:r>
                <a:endParaRPr lang="zh-CN" altLang="en-US" sz="2400" dirty="0"/>
              </a:p>
              <a:p>
                <a:pPr marL="0" indent="0">
                  <a:buNone/>
                </a:pPr>
                <a14:m>
                  <m:oMath xmlns:m="http://schemas.openxmlformats.org/officeDocument/2006/math">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𝐴𝐵</m:t>
                    </m:r>
                  </m:oMath>
                </a14:m>
                <a:r>
                  <a:rPr lang="zh-CN" altLang="en-US" sz="2400" dirty="0"/>
                  <a:t>通过替换可空符号得到</a:t>
                </a:r>
                <a14:m>
                  <m:oMath xmlns:m="http://schemas.openxmlformats.org/officeDocument/2006/math">
                    <m:r>
                      <a:rPr lang="en-US" altLang="zh-CN" sz="2400" i="1" dirty="0" smtClean="0">
                        <a:latin typeface="Cambria Math" panose="02040503050406030204" pitchFamily="18" charset="0"/>
                      </a:rPr>
                      <m:t>𝑆</m:t>
                    </m:r>
                    <m:r>
                      <a:rPr lang="en-AU" altLang="zh-CN" sz="2400" i="1" dirty="0">
                        <a:latin typeface="Cambria Math" panose="02040503050406030204" pitchFamily="18" charset="0"/>
                      </a:rPr>
                      <m:t>→</m:t>
                    </m:r>
                    <m:r>
                      <a:rPr lang="en-US" altLang="zh-CN" sz="2400" i="1" dirty="0" smtClean="0">
                        <a:latin typeface="Cambria Math" panose="02040503050406030204" pitchFamily="18" charset="0"/>
                      </a:rPr>
                      <m:t>𝐴𝐵</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𝐴</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𝐵</m:t>
                    </m:r>
                  </m:oMath>
                </a14:m>
                <a:endParaRPr lang="en-US" altLang="zh-CN" sz="2400" dirty="0"/>
              </a:p>
              <a:p>
                <a:pPr marL="0" indent="0">
                  <a:buNone/>
                </a:pPr>
                <a14:m>
                  <m:oMath xmlns:m="http://schemas.openxmlformats.org/officeDocument/2006/math">
                    <m:r>
                      <a:rPr lang="en-US" altLang="zh-CN" sz="2400" i="1" dirty="0" smtClean="0">
                        <a:latin typeface="Cambria Math" panose="02040503050406030204" pitchFamily="18" charset="0"/>
                      </a:rPr>
                      <m:t>𝐴</m:t>
                    </m:r>
                    <m:r>
                      <a:rPr lang="en-AU" altLang="zh-CN" sz="2400" i="1" dirty="0">
                        <a:latin typeface="Cambria Math" panose="02040503050406030204" pitchFamily="18" charset="0"/>
                      </a:rPr>
                      <m:t>→</m:t>
                    </m:r>
                    <m:r>
                      <a:rPr lang="en-US" altLang="zh-CN" sz="2400" i="1" dirty="0" smtClean="0">
                        <a:latin typeface="Cambria Math" panose="02040503050406030204" pitchFamily="18" charset="0"/>
                      </a:rPr>
                      <m:t>𝐴𝑎𝐴</m:t>
                    </m:r>
                    <m:r>
                      <a:rPr lang="en-AU" altLang="zh-CN" sz="2400" b="0" i="1" dirty="0" smtClean="0">
                        <a:latin typeface="Cambria Math" panose="02040503050406030204" pitchFamily="18" charset="0"/>
                      </a:rPr>
                      <m:t>|</m:t>
                    </m:r>
                    <m:r>
                      <a:rPr lang="el-GR" altLang="zh-CN" sz="2400" i="1" dirty="0">
                        <a:latin typeface="Cambria Math" panose="02040503050406030204" pitchFamily="18" charset="0"/>
                      </a:rPr>
                      <m:t>𝜀</m:t>
                    </m:r>
                  </m:oMath>
                </a14:m>
                <a:r>
                  <a:rPr lang="zh-CN" altLang="en-US" sz="2400" dirty="0"/>
                  <a:t>通过替换可空符号得到</a:t>
                </a:r>
                <a14:m>
                  <m:oMath xmlns:m="http://schemas.openxmlformats.org/officeDocument/2006/math">
                    <m:r>
                      <a:rPr lang="en-US" altLang="zh-CN" sz="2400" i="1" dirty="0" smtClean="0">
                        <a:latin typeface="Cambria Math" panose="02040503050406030204" pitchFamily="18" charset="0"/>
                      </a:rPr>
                      <m:t>𝐴</m:t>
                    </m:r>
                    <m:r>
                      <a:rPr lang="en-AU" altLang="zh-CN" sz="2400" i="1" dirty="0">
                        <a:latin typeface="Cambria Math" panose="02040503050406030204" pitchFamily="18" charset="0"/>
                      </a:rPr>
                      <m:t>→</m:t>
                    </m:r>
                    <m:r>
                      <a:rPr lang="en-US" altLang="zh-CN" sz="2400" i="1" dirty="0" smtClean="0">
                        <a:latin typeface="Cambria Math" panose="02040503050406030204" pitchFamily="18" charset="0"/>
                      </a:rPr>
                      <m:t>𝐴𝑎𝐴</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𝐴𝑎</m:t>
                    </m:r>
                    <m:r>
                      <a:rPr lang="en-US" altLang="zh-CN" sz="2400" i="1" dirty="0" smtClean="0">
                        <a:latin typeface="Cambria Math" panose="02040503050406030204" pitchFamily="18" charset="0"/>
                      </a:rPr>
                      <m:t> | </m:t>
                    </m:r>
                    <m:r>
                      <a:rPr lang="en-US" altLang="zh-CN" sz="2400" i="1" dirty="0" err="1" smtClean="0">
                        <a:latin typeface="Cambria Math" panose="02040503050406030204" pitchFamily="18" charset="0"/>
                      </a:rPr>
                      <m:t>𝑎𝐴</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𝑎</m:t>
                    </m:r>
                  </m:oMath>
                </a14:m>
                <a:endParaRPr lang="en-US" altLang="zh-CN" sz="2400" dirty="0"/>
              </a:p>
              <a:p>
                <a:pPr marL="0" indent="0">
                  <a:buNone/>
                </a:pPr>
                <a14:m>
                  <m:oMath xmlns:m="http://schemas.openxmlformats.org/officeDocument/2006/math">
                    <m:r>
                      <a:rPr lang="en-US" altLang="zh-CN" sz="2400" i="1" dirty="0" smtClean="0">
                        <a:latin typeface="Cambria Math" panose="02040503050406030204" pitchFamily="18" charset="0"/>
                      </a:rPr>
                      <m:t>𝐵</m:t>
                    </m:r>
                    <m:r>
                      <a:rPr lang="en-AU" altLang="zh-CN" sz="2400" i="1" dirty="0" smtClean="0">
                        <a:latin typeface="Cambria Math" panose="02040503050406030204" pitchFamily="18" charset="0"/>
                      </a:rPr>
                      <m:t> </m:t>
                    </m:r>
                    <m:r>
                      <a:rPr lang="en-AU" altLang="zh-CN" sz="2400" i="1" dirty="0">
                        <a:latin typeface="Cambria Math" panose="02040503050406030204" pitchFamily="18" charset="0"/>
                      </a:rPr>
                      <m:t>→ </m:t>
                    </m:r>
                    <m:r>
                      <a:rPr lang="en-US" altLang="zh-CN" sz="2400" i="1" dirty="0" smtClean="0">
                        <a:latin typeface="Cambria Math" panose="02040503050406030204" pitchFamily="18" charset="0"/>
                      </a:rPr>
                      <m:t>𝐵𝑏𝐵</m:t>
                    </m:r>
                    <m:r>
                      <a:rPr lang="en-AU" altLang="zh-CN" sz="2400" b="0" i="0" dirty="0" smtClean="0">
                        <a:latin typeface="Cambria Math" panose="02040503050406030204" pitchFamily="18" charset="0"/>
                      </a:rPr>
                      <m:t>|</m:t>
                    </m:r>
                    <m:r>
                      <a:rPr lang="el-GR" altLang="zh-CN" sz="2400" i="1" dirty="0">
                        <a:latin typeface="Cambria Math" panose="02040503050406030204" pitchFamily="18" charset="0"/>
                      </a:rPr>
                      <m:t>𝜀</m:t>
                    </m:r>
                  </m:oMath>
                </a14:m>
                <a:r>
                  <a:rPr lang="zh-CN" altLang="en-US" sz="2400" dirty="0"/>
                  <a:t>通过替换可空符号得到</a:t>
                </a:r>
                <a14:m>
                  <m:oMath xmlns:m="http://schemas.openxmlformats.org/officeDocument/2006/math">
                    <m:r>
                      <a:rPr lang="en-US" altLang="zh-CN" sz="2400" i="1" dirty="0" smtClean="0">
                        <a:latin typeface="Cambria Math" panose="02040503050406030204" pitchFamily="18" charset="0"/>
                      </a:rPr>
                      <m:t>𝐵</m:t>
                    </m:r>
                    <m:r>
                      <a:rPr lang="en-AU" altLang="zh-CN" sz="2400" i="1" dirty="0">
                        <a:latin typeface="Cambria Math" panose="02040503050406030204" pitchFamily="18" charset="0"/>
                      </a:rPr>
                      <m:t>→</m:t>
                    </m:r>
                    <m:r>
                      <a:rPr lang="en-US" altLang="zh-CN" sz="2400" i="1" dirty="0" smtClean="0">
                        <a:latin typeface="Cambria Math" panose="02040503050406030204" pitchFamily="18" charset="0"/>
                      </a:rPr>
                      <m:t>𝐵𝑏𝐵</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𝐵𝑏</m:t>
                    </m:r>
                    <m:r>
                      <a:rPr lang="en-US" altLang="zh-CN" sz="2400" i="1" dirty="0" smtClean="0">
                        <a:latin typeface="Cambria Math" panose="02040503050406030204" pitchFamily="18" charset="0"/>
                      </a:rPr>
                      <m:t> | </m:t>
                    </m:r>
                    <m:r>
                      <a:rPr lang="en-US" altLang="zh-CN" sz="2400" i="1" dirty="0" err="1" smtClean="0">
                        <a:latin typeface="Cambria Math" panose="02040503050406030204" pitchFamily="18" charset="0"/>
                      </a:rPr>
                      <m:t>𝑏𝐵</m:t>
                    </m:r>
                    <m:r>
                      <a:rPr lang="en-US" altLang="zh-CN" sz="2400" i="1" dirty="0" smtClean="0">
                        <a:latin typeface="Cambria Math" panose="02040503050406030204" pitchFamily="18" charset="0"/>
                      </a:rPr>
                      <m:t> | </m:t>
                    </m:r>
                    <m:r>
                      <a:rPr lang="en-US" altLang="zh-CN" sz="2400" i="1" dirty="0" smtClean="0">
                        <a:latin typeface="Cambria Math" panose="02040503050406030204" pitchFamily="18" charset="0"/>
                      </a:rPr>
                      <m:t>𝑏</m:t>
                    </m:r>
                  </m:oMath>
                </a14:m>
                <a:endParaRPr lang="en-US" altLang="zh-CN" sz="2400"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61372" y="1187926"/>
                <a:ext cx="8229600" cy="4525963"/>
              </a:xfrm>
              <a:blipFill rotWithShape="1">
                <a:blip r:embed="rId2"/>
                <a:stretch>
                  <a:fillRect t="-1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消除单元产生式</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87926"/>
                <a:ext cx="8229600" cy="4525963"/>
              </a:xfrm>
            </p:spPr>
            <p:txBody>
              <a:bodyPr/>
              <a:lstStyle/>
              <a:p>
                <a:r>
                  <a:rPr lang="zh-CN" altLang="en-US" dirty="0"/>
                  <a:t>确定单元对</a:t>
                </a:r>
                <a:r>
                  <a:rPr lang="en-AU" altLang="zh-CN" dirty="0"/>
                  <a:t>: </a:t>
                </a:r>
                <a:r>
                  <a:rPr lang="zh-CN" altLang="en-US" dirty="0"/>
                  <a:t>如果有 </a:t>
                </a:r>
                <a14:m>
                  <m:oMath xmlns:m="http://schemas.openxmlformats.org/officeDocument/2006/math">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groupChr>
                      <m:groupChrPr>
                        <m:chr m:val="⇒"/>
                        <m:vertJc m:val="bot"/>
                        <m:ctrlPr>
                          <a:rPr lang="en-AU" altLang="zh-CN" i="1" dirty="0" smtClean="0">
                            <a:latin typeface="Cambria Math" panose="02040503050406030204" pitchFamily="18" charset="0"/>
                          </a:rPr>
                        </m:ctrlPr>
                      </m:groupChrPr>
                      <m:e>
                        <m:r>
                          <m:rPr>
                            <m:brk m:alnAt="2"/>
                          </m:rPr>
                          <a:rPr lang="en-AU" altLang="zh-CN" b="0" i="1" dirty="0" smtClean="0">
                            <a:latin typeface="Cambria Math" panose="02040503050406030204" pitchFamily="18" charset="0"/>
                          </a:rPr>
                          <m:t>∗</m:t>
                        </m:r>
                      </m:e>
                    </m:groupChr>
                    <m:r>
                      <a:rPr lang="en-AU" altLang="zh-CN" i="1" dirty="0" smtClean="0">
                        <a:latin typeface="Cambria Math" panose="02040503050406030204" pitchFamily="18" charset="0"/>
                      </a:rPr>
                      <m:t>𝐵</m:t>
                    </m:r>
                  </m:oMath>
                </a14:m>
                <a:r>
                  <a:rPr lang="en-AU" altLang="zh-CN" dirty="0"/>
                  <a:t>, </a:t>
                </a:r>
                <a:r>
                  <a:rPr lang="zh-CN" altLang="en-US" dirty="0"/>
                  <a:t>则称</a:t>
                </a:r>
                <a14:m>
                  <m:oMath xmlns:m="http://schemas.openxmlformats.org/officeDocument/2006/math">
                    <m:r>
                      <a:rPr lang="en-US" altLang="zh-CN" i="1" dirty="0" smtClean="0">
                        <a:latin typeface="Cambria Math" panose="02040503050406030204" pitchFamily="18" charset="0"/>
                      </a:rPr>
                      <m:t>[</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m:t>
                    </m:r>
                  </m:oMath>
                </a14:m>
                <a:r>
                  <a:rPr lang="zh-CN" altLang="en-US" dirty="0"/>
                  <a:t>为单元对。</a:t>
                </a:r>
                <a:endParaRPr lang="en-AU" altLang="zh-CN" dirty="0"/>
              </a:p>
              <a:p>
                <a:pPr lvl="1"/>
                <a:r>
                  <a:rPr lang="zh-CN" altLang="en-US" dirty="0"/>
                  <a:t>（</a:t>
                </a:r>
                <a:r>
                  <a:rPr lang="en-AU" altLang="zh-CN" dirty="0"/>
                  <a:t>1</a:t>
                </a:r>
                <a:r>
                  <a:rPr lang="zh-CN" altLang="en-US" dirty="0"/>
                  <a:t>）</a:t>
                </a:r>
                <a14:m>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oMath>
                </a14:m>
                <a:r>
                  <a:rPr lang="en-US" altLang="zh-CN" dirty="0"/>
                  <a:t>, </a:t>
                </a:r>
                <a:r>
                  <a:rPr lang="zh-CN" altLang="en-US" dirty="0"/>
                  <a:t>则</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m:t>
                    </m:r>
                  </m:oMath>
                </a14:m>
                <a:r>
                  <a:rPr lang="zh-CN" altLang="en-US" dirty="0"/>
                  <a:t>是单元对</a:t>
                </a:r>
                <a:r>
                  <a:rPr lang="en-US" altLang="zh-CN" dirty="0"/>
                  <a:t>;</a:t>
                </a:r>
                <a:endParaRPr lang="en-AU" altLang="zh-CN" dirty="0"/>
              </a:p>
              <a:p>
                <a:pPr lvl="1"/>
                <a:r>
                  <a:rPr lang="zh-CN" altLang="en-US" dirty="0"/>
                  <a:t>（</a:t>
                </a:r>
                <a:r>
                  <a:rPr lang="en-AU" altLang="zh-CN" dirty="0"/>
                  <a:t>2</a:t>
                </a:r>
                <a:r>
                  <a:rPr lang="zh-CN" altLang="en-US" dirty="0"/>
                  <a:t>）若</a:t>
                </a:r>
                <a14:m>
                  <m:oMath xmlns:m="http://schemas.openxmlformats.org/officeDocument/2006/math">
                    <m:r>
                      <a:rPr lang="en-US" altLang="zh-CN" i="1" dirty="0" smtClean="0">
                        <a:latin typeface="Cambria Math" panose="02040503050406030204" pitchFamily="18" charset="0"/>
                      </a:rPr>
                      <m:t>[</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m:t>
                    </m:r>
                  </m:oMath>
                </a14:m>
                <a:r>
                  <a:rPr lang="zh-CN" altLang="en-US" dirty="0"/>
                  <a:t>和</a:t>
                </a:r>
                <a14:m>
                  <m:oMath xmlns:m="http://schemas.openxmlformats.org/officeDocument/2006/math">
                    <m:r>
                      <a:rPr lang="en-US" altLang="zh-CN" i="1" dirty="0" smtClean="0">
                        <a:latin typeface="Cambria Math" panose="02040503050406030204" pitchFamily="18" charset="0"/>
                      </a:rPr>
                      <m:t>[</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𝐶</m:t>
                    </m:r>
                    <m:r>
                      <a:rPr lang="en-AU" altLang="zh-CN" i="1" dirty="0" smtClean="0">
                        <a:latin typeface="Cambria Math" panose="02040503050406030204" pitchFamily="18" charset="0"/>
                      </a:rPr>
                      <m:t>]</m:t>
                    </m:r>
                  </m:oMath>
                </a14:m>
                <a:r>
                  <a:rPr lang="zh-CN" altLang="en-US" dirty="0"/>
                  <a:t>都是单元对</a:t>
                </a:r>
                <a:r>
                  <a:rPr lang="en-US" altLang="zh-CN" dirty="0"/>
                  <a:t>, </a:t>
                </a:r>
                <a:r>
                  <a:rPr lang="zh-CN" altLang="en-US" dirty="0"/>
                  <a:t>则</a:t>
                </a:r>
                <a14:m>
                  <m:oMath xmlns:m="http://schemas.openxmlformats.org/officeDocument/2006/math">
                    <m:r>
                      <a:rPr lang="en-US" altLang="zh-CN" i="1" dirty="0" smtClean="0">
                        <a:latin typeface="Cambria Math" panose="02040503050406030204" pitchFamily="18" charset="0"/>
                      </a:rPr>
                      <m:t>[</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𝐶</m:t>
                    </m:r>
                    <m:r>
                      <a:rPr lang="en-AU" altLang="zh-CN" i="1" dirty="0" smtClean="0">
                        <a:latin typeface="Cambria Math" panose="02040503050406030204" pitchFamily="18" charset="0"/>
                      </a:rPr>
                      <m:t>]</m:t>
                    </m:r>
                  </m:oMath>
                </a14:m>
                <a:r>
                  <a:rPr lang="zh-CN" altLang="en-US" dirty="0"/>
                  <a:t>是单元对</a:t>
                </a:r>
                <a:endParaRPr lang="en-AU" dirty="0"/>
              </a:p>
              <a:p>
                <a:r>
                  <a:rPr lang="zh-CN" altLang="en-US" dirty="0"/>
                  <a:t>消除单元产生式</a:t>
                </a:r>
                <a:endParaRPr lang="en-AU" altLang="zh-CN" dirty="0"/>
              </a:p>
              <a:p>
                <a:pPr lvl="1"/>
                <a:r>
                  <a:rPr lang="zh-CN" altLang="en-US" dirty="0"/>
                  <a:t>删除全部形为</a:t>
                </a:r>
                <a14:m>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𝐵</m:t>
                    </m:r>
                  </m:oMath>
                </a14:m>
                <a:r>
                  <a:rPr lang="zh-CN" altLang="en-US" dirty="0"/>
                  <a:t>的单元产生式</a:t>
                </a:r>
                <a:r>
                  <a:rPr lang="en-US" altLang="zh-CN" dirty="0"/>
                  <a:t>;</a:t>
                </a:r>
                <a:endParaRPr lang="en-US" altLang="zh-CN" dirty="0"/>
              </a:p>
              <a:p>
                <a:pPr lvl="1"/>
                <a:r>
                  <a:rPr lang="zh-CN" altLang="en-US" dirty="0"/>
                  <a:t>对每个单元对</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m:t>
                    </m:r>
                  </m:oMath>
                </a14:m>
                <a:r>
                  <a:rPr lang="en-US" altLang="zh-CN" dirty="0"/>
                  <a:t>,</a:t>
                </a:r>
                <a:r>
                  <a:rPr lang="zh-CN" altLang="en-US" dirty="0"/>
                  <a:t>将</a:t>
                </a:r>
                <a14:m>
                  <m:oMath xmlns:m="http://schemas.openxmlformats.org/officeDocument/2006/math">
                    <m:r>
                      <a:rPr lang="en-US" altLang="zh-CN" i="1" dirty="0" smtClean="0">
                        <a:latin typeface="Cambria Math" panose="02040503050406030204" pitchFamily="18" charset="0"/>
                      </a:rPr>
                      <m:t>𝐵</m:t>
                    </m:r>
                  </m:oMath>
                </a14:m>
                <a:r>
                  <a:rPr lang="zh-CN" altLang="en-US" dirty="0"/>
                  <a:t>的产生式复制给</a:t>
                </a:r>
                <a14:m>
                  <m:oMath xmlns:m="http://schemas.openxmlformats.org/officeDocument/2006/math">
                    <m:r>
                      <a:rPr lang="en-US" altLang="zh-CN" i="1" dirty="0" smtClean="0">
                        <a:latin typeface="Cambria Math" panose="02040503050406030204" pitchFamily="18" charset="0"/>
                      </a:rPr>
                      <m:t>𝐴</m:t>
                    </m:r>
                  </m:oMath>
                </a14:m>
                <a:r>
                  <a:rPr lang="zh-CN" altLang="en-US"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87926"/>
                <a:ext cx="8229600" cy="4525963"/>
              </a:xfrm>
              <a:blipFill rotWithShape="1">
                <a:blip r:embed="rId1"/>
                <a:stretch>
                  <a:fillRect t="-11" r="-280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消除单元产生式</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t>定理</a:t>
                </a:r>
                <a:r>
                  <a:rPr lang="en-AU" altLang="zh-CN" dirty="0"/>
                  <a:t>:</a:t>
                </a:r>
                <a:r>
                  <a:rPr lang="zh-CN" altLang="en-US" dirty="0"/>
                  <a:t>每个不带</a:t>
                </a:r>
                <a14:m>
                  <m:oMath xmlns:m="http://schemas.openxmlformats.org/officeDocument/2006/math">
                    <m:r>
                      <a:rPr lang="en-US" altLang="zh-CN" i="1" dirty="0" smtClean="0">
                        <a:latin typeface="Cambria Math" panose="02040503050406030204" pitchFamily="18" charset="0"/>
                      </a:rPr>
                      <m:t>𝜀</m:t>
                    </m:r>
                  </m:oMath>
                </a14:m>
                <a:r>
                  <a:rPr lang="zh-CN" altLang="en-US" dirty="0"/>
                  <a:t>的</a:t>
                </a:r>
                <a:r>
                  <a:rPr lang="en-US" altLang="zh-CN" dirty="0">
                    <a:latin typeface="Times New Roman" panose="02020603050405020304" pitchFamily="18" charset="0"/>
                    <a:cs typeface="Times New Roman" panose="02020603050405020304" pitchFamily="18" charset="0"/>
                  </a:rPr>
                  <a:t>CFL</a:t>
                </a:r>
                <a:r>
                  <a:rPr lang="zh-CN" altLang="en-US" dirty="0"/>
                  <a:t>都可由一个不带无用符号</a:t>
                </a:r>
                <a:r>
                  <a:rPr lang="en-US" altLang="zh-CN" dirty="0"/>
                  <a:t>, </a:t>
                </a:r>
                <a14:m>
                  <m:oMath xmlns:m="http://schemas.openxmlformats.org/officeDocument/2006/math">
                    <m:r>
                      <a:rPr lang="en-US" altLang="zh-CN" i="1" dirty="0" smtClean="0">
                        <a:latin typeface="Cambria Math" panose="02040503050406030204" pitchFamily="18" charset="0"/>
                      </a:rPr>
                      <m:t>𝜀</m:t>
                    </m:r>
                    <m:r>
                      <a:rPr lang="en-US" altLang="zh-CN" i="1" dirty="0" smtClean="0">
                        <a:latin typeface="Cambria Math" panose="02040503050406030204" pitchFamily="18" charset="0"/>
                      </a:rPr>
                      <m:t>−</m:t>
                    </m:r>
                  </m:oMath>
                </a14:m>
                <a:r>
                  <a:rPr lang="zh-CN" altLang="en-US" dirty="0"/>
                  <a:t>产生式和单元产生式的文法来定义。</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800" b="1" dirty="0"/>
                  <a:t>例</a:t>
                </a:r>
                <a:r>
                  <a:rPr lang="en-AU" altLang="zh-CN" sz="2800" b="1" dirty="0"/>
                  <a:t>:</a:t>
                </a:r>
                <a:r>
                  <a:rPr lang="zh-CN" altLang="en-US" sz="2800" b="1" dirty="0"/>
                  <a:t>给定</a:t>
                </a:r>
                <a:r>
                  <a:rPr lang="en-AU" altLang="zh-CN" sz="2800" b="1" dirty="0">
                    <a:latin typeface="Times New Roman" panose="02020603050405020304" pitchFamily="18" charset="0"/>
                    <a:cs typeface="Times New Roman" panose="02020603050405020304" pitchFamily="18" charset="0"/>
                  </a:rPr>
                  <a:t>CFG</a:t>
                </a:r>
                <a:r>
                  <a:rPr lang="en-AU" altLang="zh-CN" sz="2800" b="1" dirty="0"/>
                  <a:t> </a:t>
                </a:r>
                <a14:m>
                  <m:oMath xmlns:m="http://schemas.openxmlformats.org/officeDocument/2006/math">
                    <m:r>
                      <a:rPr lang="en-AU" altLang="zh-CN" sz="2800" b="1" i="1" dirty="0" smtClean="0">
                        <a:latin typeface="Cambria Math" panose="02040503050406030204" pitchFamily="18" charset="0"/>
                      </a:rPr>
                      <m:t>𝑮</m:t>
                    </m:r>
                    <m:r>
                      <a:rPr lang="en-AU" altLang="zh-CN" sz="2800" b="1" i="1" dirty="0" smtClean="0">
                        <a:latin typeface="Cambria Math" panose="02040503050406030204" pitchFamily="18" charset="0"/>
                      </a:rPr>
                      <m:t> = ({</m:t>
                    </m:r>
                    <m:r>
                      <a:rPr lang="en-AU" altLang="zh-CN" sz="2800" b="1" i="1" dirty="0" smtClean="0">
                        <a:latin typeface="Cambria Math" panose="02040503050406030204" pitchFamily="18" charset="0"/>
                      </a:rPr>
                      <m:t>𝑺</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𝑨</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𝑩</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𝟎</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𝟏</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𝑷</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𝑺</m:t>
                    </m:r>
                    <m:r>
                      <a:rPr lang="en-AU" altLang="zh-CN" sz="2800" b="1" i="1" dirty="0" smtClean="0">
                        <a:latin typeface="Cambria Math" panose="02040503050406030204" pitchFamily="18" charset="0"/>
                      </a:rPr>
                      <m:t>)</m:t>
                    </m:r>
                  </m:oMath>
                </a14:m>
                <a:r>
                  <a:rPr lang="zh-CN" altLang="en-AU" sz="2800" b="1" dirty="0"/>
                  <a:t>，</a:t>
                </a:r>
                <a:r>
                  <a:rPr lang="zh-CN" altLang="en-US" sz="2800" b="1" dirty="0"/>
                  <a:t>其中</a:t>
                </a:r>
                <a14:m>
                  <m:oMath xmlns:m="http://schemas.openxmlformats.org/officeDocument/2006/math">
                    <m:r>
                      <a:rPr lang="en-AU" altLang="zh-CN" sz="2800" b="1" i="1" dirty="0" smtClean="0">
                        <a:latin typeface="Cambria Math" panose="02040503050406030204" pitchFamily="18" charset="0"/>
                      </a:rPr>
                      <m:t>𝑷</m:t>
                    </m:r>
                  </m:oMath>
                </a14:m>
                <a:r>
                  <a:rPr lang="zh-CN" altLang="en-US" sz="2800" b="1" dirty="0"/>
                  <a:t>为</a:t>
                </a:r>
                <a14:m>
                  <m:oMath xmlns:m="http://schemas.openxmlformats.org/officeDocument/2006/math">
                    <m:r>
                      <a:rPr lang="en-AU" altLang="zh-CN" sz="2800" b="1" i="1" dirty="0" smtClean="0">
                        <a:latin typeface="Cambria Math" panose="02040503050406030204" pitchFamily="18" charset="0"/>
                      </a:rPr>
                      <m:t>𝑺</m:t>
                    </m:r>
                    <m:r>
                      <a:rPr lang="en-AU" altLang="zh-CN" sz="2800" b="1" i="1" dirty="0" smtClean="0">
                        <a:latin typeface="Cambria Math" panose="02040503050406030204" pitchFamily="18" charset="0"/>
                        <a:ea typeface="Cambria Math" panose="02040503050406030204" pitchFamily="18" charset="0"/>
                      </a:rPr>
                      <m:t>→</m:t>
                    </m:r>
                    <m:r>
                      <a:rPr lang="en-AU" altLang="zh-CN" sz="2800" b="1" i="1" dirty="0" smtClean="0">
                        <a:latin typeface="Cambria Math" panose="02040503050406030204" pitchFamily="18" charset="0"/>
                      </a:rPr>
                      <m:t>𝑨</m:t>
                    </m:r>
                    <m:r>
                      <a:rPr lang="en-AU" altLang="zh-CN" sz="2800" b="1" i="1" dirty="0" smtClean="0">
                        <a:latin typeface="Cambria Math" panose="02040503050406030204" pitchFamily="18" charset="0"/>
                      </a:rPr>
                      <m:t> </m:t>
                    </m:r>
                    <m:d>
                      <m:dPr>
                        <m:begChr m:val="|"/>
                        <m:endChr m:val="|"/>
                        <m:ctrlPr>
                          <a:rPr lang="en-AU" altLang="zh-CN" sz="2800" b="1" i="1" dirty="0" smtClean="0">
                            <a:latin typeface="Cambria Math" panose="02040503050406030204" pitchFamily="18" charset="0"/>
                          </a:rPr>
                        </m:ctrlPr>
                      </m:dPr>
                      <m:e>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𝑩</m:t>
                        </m:r>
                        <m:r>
                          <a:rPr lang="en-AU" altLang="zh-CN" sz="2800" b="1" i="1" dirty="0" smtClean="0">
                            <a:latin typeface="Cambria Math" panose="02040503050406030204" pitchFamily="18" charset="0"/>
                          </a:rPr>
                          <m:t> </m:t>
                        </m:r>
                      </m:e>
                    </m:d>
                    <m:r>
                      <a:rPr lang="en-AU" altLang="zh-CN" sz="2800" b="1" i="1" dirty="0" smtClean="0">
                        <a:latin typeface="Cambria Math" panose="02040503050406030204" pitchFamily="18" charset="0"/>
                      </a:rPr>
                      <m:t>𝟎</m:t>
                    </m:r>
                    <m:r>
                      <a:rPr lang="en-AU" altLang="zh-CN" sz="2800" b="1" i="1" dirty="0" smtClean="0">
                        <a:latin typeface="Cambria Math" panose="02040503050406030204" pitchFamily="18" charset="0"/>
                      </a:rPr>
                      <m:t>𝑺</m:t>
                    </m:r>
                    <m:r>
                      <a:rPr lang="en-AU" altLang="zh-CN" sz="2800" b="1" i="1" dirty="0" smtClean="0">
                        <a:latin typeface="Cambria Math" panose="02040503050406030204" pitchFamily="18" charset="0"/>
                      </a:rPr>
                      <m:t>𝟏</m:t>
                    </m:r>
                    <m:r>
                      <a:rPr lang="en-AU" altLang="zh-CN" sz="2800" b="1" i="1" dirty="0" smtClean="0">
                        <a:latin typeface="Cambria Math" panose="02040503050406030204" pitchFamily="18" charset="0"/>
                      </a:rPr>
                      <m:t>	,  </m:t>
                    </m:r>
                    <m:r>
                      <a:rPr lang="en-AU" altLang="zh-CN" sz="2800" b="1" i="1" dirty="0" smtClean="0">
                        <a:latin typeface="Cambria Math" panose="02040503050406030204" pitchFamily="18" charset="0"/>
                      </a:rPr>
                      <m:t>𝑨</m:t>
                    </m:r>
                    <m:r>
                      <a:rPr lang="en-AU" altLang="zh-CN" sz="2800" b="1" i="1" dirty="0">
                        <a:latin typeface="Cambria Math" panose="02040503050406030204" pitchFamily="18" charset="0"/>
                        <a:ea typeface="Cambria Math" panose="02040503050406030204" pitchFamily="18" charset="0"/>
                      </a:rPr>
                      <m:t>→</m:t>
                    </m:r>
                    <m:r>
                      <a:rPr lang="en-AU" altLang="zh-CN" sz="2800" b="1" i="1" dirty="0" smtClean="0">
                        <a:latin typeface="Cambria Math" panose="02040503050406030204" pitchFamily="18" charset="0"/>
                      </a:rPr>
                      <m:t>𝟎</m:t>
                    </m:r>
                    <m:r>
                      <a:rPr lang="en-AU" altLang="zh-CN" sz="2800" b="1" i="1" dirty="0" smtClean="0">
                        <a:latin typeface="Cambria Math" panose="02040503050406030204" pitchFamily="18" charset="0"/>
                      </a:rPr>
                      <m:t>𝑨</m:t>
                    </m:r>
                    <m:r>
                      <a:rPr lang="en-AU" altLang="zh-CN" sz="2800" b="1" i="1" dirty="0" smtClean="0">
                        <a:latin typeface="Cambria Math" panose="02040503050406030204" pitchFamily="18" charset="0"/>
                      </a:rPr>
                      <m:t> | </m:t>
                    </m:r>
                    <m:r>
                      <a:rPr lang="en-AU" altLang="zh-CN" sz="2800" b="1" i="1" dirty="0" smtClean="0">
                        <a:latin typeface="Cambria Math" panose="02040503050406030204" pitchFamily="18" charset="0"/>
                      </a:rPr>
                      <m:t>𝟎</m:t>
                    </m:r>
                    <m:r>
                      <a:rPr lang="en-AU" altLang="zh-CN" sz="2800" b="1" i="1" dirty="0" smtClean="0">
                        <a:latin typeface="Cambria Math" panose="02040503050406030204" pitchFamily="18" charset="0"/>
                      </a:rPr>
                      <m:t>,		</m:t>
                    </m:r>
                    <m:r>
                      <a:rPr lang="en-AU" altLang="zh-CN" sz="2800" b="1" i="1" dirty="0" smtClean="0">
                        <a:latin typeface="Cambria Math" panose="02040503050406030204" pitchFamily="18" charset="0"/>
                      </a:rPr>
                      <m:t>𝑩</m:t>
                    </m:r>
                    <m:r>
                      <a:rPr lang="en-AU" altLang="zh-CN" sz="2800" b="1" i="1" dirty="0">
                        <a:latin typeface="Cambria Math" panose="02040503050406030204" pitchFamily="18" charset="0"/>
                        <a:ea typeface="Cambria Math" panose="02040503050406030204" pitchFamily="18" charset="0"/>
                      </a:rPr>
                      <m:t>→</m:t>
                    </m:r>
                    <m:r>
                      <a:rPr lang="en-AU" altLang="zh-CN" sz="2800" b="1" i="1" dirty="0" smtClean="0">
                        <a:latin typeface="Cambria Math" panose="02040503050406030204" pitchFamily="18" charset="0"/>
                      </a:rPr>
                      <m:t>𝟏</m:t>
                    </m:r>
                    <m:r>
                      <a:rPr lang="en-AU" altLang="zh-CN" sz="2800" b="1" i="1" dirty="0" smtClean="0">
                        <a:latin typeface="Cambria Math" panose="02040503050406030204" pitchFamily="18" charset="0"/>
                      </a:rPr>
                      <m:t>𝑩</m:t>
                    </m:r>
                    <m:r>
                      <a:rPr lang="en-AU" altLang="zh-CN" sz="2800" b="1" i="1" dirty="0" smtClean="0">
                        <a:latin typeface="Cambria Math" panose="02040503050406030204" pitchFamily="18" charset="0"/>
                      </a:rPr>
                      <m:t> | </m:t>
                    </m:r>
                    <m:r>
                      <a:rPr lang="en-AU" altLang="zh-CN" sz="2800" b="1" i="1" dirty="0" smtClean="0">
                        <a:latin typeface="Cambria Math" panose="02040503050406030204" pitchFamily="18" charset="0"/>
                      </a:rPr>
                      <m:t>𝟏</m:t>
                    </m:r>
                  </m:oMath>
                </a14:m>
                <a:r>
                  <a:rPr lang="zh-CN" altLang="en-US" sz="2800" b="1" dirty="0"/>
                  <a:t>。</a:t>
                </a:r>
                <a:endParaRPr lang="en-AU" altLang="zh-CN" sz="2800" b="1" dirty="0"/>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914400" y="635000"/>
                <a:ext cx="7315200" cy="2143125"/>
              </a:xfrm>
              <a:prstGeom prst="rect">
                <a:avLst/>
              </a:prstGeom>
              <a:blipFill rotWithShape="1">
                <a:blip r:embed="rId3"/>
                <a:stretch>
                  <a:fillRect/>
                </a:stretch>
              </a:blipFill>
            </p:spPr>
            <p:txBody>
              <a:bodyPr/>
              <a:lstStyle/>
              <a:p>
                <a:r>
                  <a:rPr lang="zh-CN" altLang="en-US">
                    <a:noFill/>
                  </a:rPr>
                  <a:t> </a:t>
                </a:r>
              </a:p>
            </p:txBody>
          </p:sp>
        </mc:Fallback>
      </mc:AlternateContent>
      <p:sp>
        <p:nvSpPr>
          <p:cNvPr id="8" name="矩形: 圆角 7"/>
          <p:cNvSpPr/>
          <p:nvPr>
            <p:custDataLst>
              <p:tags r:id="rId4"/>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3" name="组合 12"/>
          <p:cNvGrpSpPr/>
          <p:nvPr>
            <p:custDataLst>
              <p:tags r:id="rId5"/>
            </p:custDataLst>
          </p:nvPr>
        </p:nvGrpSpPr>
        <p:grpSpPr>
          <a:xfrm>
            <a:off x="0" y="0"/>
            <a:ext cx="9144000" cy="635000"/>
            <a:chOff x="0" y="0"/>
            <a:chExt cx="9144000" cy="635000"/>
          </a:xfrm>
        </p:grpSpPr>
        <p:sp>
          <p:nvSpPr>
            <p:cNvPr id="9"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TipText"/>
            <p:cNvSpPr txBox="1"/>
            <p:nvPr>
              <p:custDataLst>
                <p:tags r:id="rId9"/>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0"/>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2"/>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消除单元产生式</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029236"/>
                <a:ext cx="8229600" cy="4525963"/>
              </a:xfrm>
            </p:spPr>
            <p:txBody>
              <a:bodyPr>
                <a:normAutofit/>
              </a:bodyPr>
              <a:lstStyle/>
              <a:p>
                <a:r>
                  <a:rPr lang="zh-CN" altLang="en-US" dirty="0"/>
                  <a:t>例</a:t>
                </a:r>
                <a:r>
                  <a:rPr lang="en-AU" altLang="zh-CN" dirty="0"/>
                  <a:t>:</a:t>
                </a:r>
                <a:r>
                  <a:rPr lang="zh-CN" altLang="en-US" dirty="0"/>
                  <a:t>给定</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0</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1</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oMath>
                </a14:m>
                <a:r>
                  <a:rPr lang="zh-CN" altLang="en-AU" dirty="0"/>
                  <a:t>，</a:t>
                </a:r>
                <a:r>
                  <a:rPr lang="zh-CN" altLang="en-US" dirty="0"/>
                  <a:t>其中</a:t>
                </a:r>
                <a14:m>
                  <m:oMath xmlns:m="http://schemas.openxmlformats.org/officeDocument/2006/math">
                    <m:r>
                      <a:rPr lang="en-AU" altLang="zh-CN" i="1" dirty="0" smtClean="0">
                        <a:latin typeface="Cambria Math" panose="02040503050406030204" pitchFamily="18" charset="0"/>
                      </a:rPr>
                      <m:t>𝑃</m:t>
                    </m:r>
                  </m:oMath>
                </a14:m>
                <a:r>
                  <a:rPr lang="zh-CN" altLang="en-US" dirty="0"/>
                  <a:t>为</a:t>
                </a:r>
                <a14:m>
                  <m:oMath xmlns:m="http://schemas.openxmlformats.org/officeDocument/2006/math">
                    <m:r>
                      <a:rPr lang="en-AU" altLang="zh-CN" i="1" dirty="0" smtClean="0">
                        <a:latin typeface="Cambria Math" panose="02040503050406030204" pitchFamily="18" charset="0"/>
                      </a:rPr>
                      <m:t>𝑆</m:t>
                    </m:r>
                    <m:r>
                      <a:rPr lang="en-AU" altLang="zh-CN" i="1" dirty="0" smtClean="0">
                        <a:latin typeface="Cambria Math" panose="02040503050406030204" pitchFamily="18" charset="0"/>
                        <a:ea typeface="Cambria Math" panose="02040503050406030204" pitchFamily="18" charset="0"/>
                      </a:rPr>
                      <m:t>→</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d>
                      <m:dPr>
                        <m:begChr m:val="|"/>
                        <m:endChr m:val="|"/>
                        <m:ctrlPr>
                          <a:rPr lang="en-AU" altLang="zh-CN" i="1" dirty="0" smtClean="0">
                            <a:latin typeface="Cambria Math" panose="02040503050406030204" pitchFamily="18" charset="0"/>
                          </a:rPr>
                        </m:ctrlPr>
                      </m:dPr>
                      <m:e>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m:t>
                        </m:r>
                      </m:e>
                    </m:d>
                    <m:r>
                      <a:rPr lang="en-AU" altLang="zh-CN" i="1" dirty="0" smtClean="0">
                        <a:latin typeface="Cambria Math" panose="02040503050406030204" pitchFamily="18" charset="0"/>
                      </a:rPr>
                      <m:t>0</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1</m:t>
                    </m:r>
                    <m:r>
                      <a:rPr lang="en-AU" altLang="zh-CN" i="1" dirty="0" smtClean="0">
                        <a:latin typeface="Cambria Math" panose="02040503050406030204" pitchFamily="18" charset="0"/>
                      </a:rPr>
                      <m:t>	,  </m:t>
                    </m:r>
                    <m:r>
                      <a:rPr lang="en-AU" altLang="zh-CN" b="0" i="1" dirty="0" smtClean="0">
                        <a:latin typeface="Cambria Math" panose="02040503050406030204" pitchFamily="18" charset="0"/>
                      </a:rPr>
                      <m:t>𝐴</m:t>
                    </m:r>
                    <m:r>
                      <a:rPr lang="en-AU" altLang="zh-CN" i="1" dirty="0">
                        <a:latin typeface="Cambria Math" panose="02040503050406030204" pitchFamily="18" charset="0"/>
                        <a:ea typeface="Cambria Math" panose="02040503050406030204" pitchFamily="18" charset="0"/>
                      </a:rPr>
                      <m:t>→</m:t>
                    </m:r>
                    <m:r>
                      <a:rPr lang="en-AU" altLang="zh-CN" i="1" dirty="0" smtClean="0">
                        <a:latin typeface="Cambria Math" panose="02040503050406030204" pitchFamily="18" charset="0"/>
                      </a:rPr>
                      <m:t>0</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0</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a:latin typeface="Cambria Math" panose="02040503050406030204" pitchFamily="18" charset="0"/>
                        <a:ea typeface="Cambria Math" panose="02040503050406030204" pitchFamily="18" charset="0"/>
                      </a:rPr>
                      <m:t>→</m:t>
                    </m:r>
                    <m:r>
                      <a:rPr lang="en-AU" altLang="zh-CN" i="1" dirty="0" smtClean="0">
                        <a:latin typeface="Cambria Math" panose="02040503050406030204" pitchFamily="18" charset="0"/>
                      </a:rPr>
                      <m:t>1</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1</m:t>
                    </m:r>
                  </m:oMath>
                </a14:m>
                <a:r>
                  <a:rPr lang="zh-CN" altLang="en-US" dirty="0"/>
                  <a:t>。</a:t>
                </a:r>
                <a:endParaRPr lang="en-AU" altLang="zh-CN" dirty="0"/>
              </a:p>
              <a:p>
                <a:pPr marL="0" indent="0">
                  <a:buNone/>
                </a:pP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029236"/>
                <a:ext cx="8229600" cy="4525963"/>
              </a:xfrm>
              <a:blipFill rotWithShape="1">
                <a:blip r:embed="rId1"/>
                <a:stretch>
                  <a:fillRect t="-12" b="5"/>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6" name="TextBox 5"/>
              <p:cNvSpPr txBox="1"/>
              <p:nvPr/>
            </p:nvSpPr>
            <p:spPr>
              <a:xfrm>
                <a:off x="3344192" y="5243632"/>
                <a:ext cx="4572000" cy="1200329"/>
              </a:xfrm>
              <a:prstGeom prst="rect">
                <a:avLst/>
              </a:prstGeom>
              <a:solidFill>
                <a:schemeClr val="accent6">
                  <a:lumMod val="20000"/>
                  <a:lumOff val="80000"/>
                </a:schemeClr>
              </a:solidFill>
            </p:spPr>
            <p:txBody>
              <a:bodyPr wrap="square">
                <a:spAutoFit/>
              </a:bodyPr>
              <a:lstStyle/>
              <a:p>
                <a:r>
                  <a:rPr lang="zh-CN" altLang="en-US" dirty="0">
                    <a:latin typeface="楷体" panose="02010609060101010101" pitchFamily="49" charset="-122"/>
                    <a:ea typeface="楷体" panose="02010609060101010101" pitchFamily="49" charset="-122"/>
                  </a:rPr>
                  <a:t>！注意：在代入过程中，用</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𝑆</m:t>
                    </m:r>
                  </m:oMath>
                </a14:m>
                <a:r>
                  <a:rPr lang="zh-CN" altLang="en-US" dirty="0">
                    <a:latin typeface="楷体" panose="02010609060101010101" pitchFamily="49" charset="-122"/>
                    <a:ea typeface="楷体" panose="02010609060101010101" pitchFamily="49" charset="-122"/>
                  </a:rPr>
                  <a:t>仅替换</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𝐴</m:t>
                    </m:r>
                    <m:r>
                      <a:rPr lang="zh-CN" altLang="en-US" i="1" dirty="0">
                        <a:latin typeface="Cambria Math" panose="02040503050406030204" pitchFamily="18" charset="0"/>
                        <a:ea typeface="楷体" panose="02010609060101010101" pitchFamily="49" charset="-122"/>
                      </a:rPr>
                      <m:t>、</m:t>
                    </m:r>
                    <m:r>
                      <a:rPr lang="en-US" altLang="zh-CN" i="1" dirty="0">
                        <a:latin typeface="Cambria Math" panose="02040503050406030204" pitchFamily="18" charset="0"/>
                        <a:ea typeface="楷体" panose="02010609060101010101" pitchFamily="49" charset="-122"/>
                      </a:rPr>
                      <m:t>𝐵</m:t>
                    </m:r>
                    <m:r>
                      <a:rPr lang="zh-CN" altLang="en-US" i="1" dirty="0">
                        <a:latin typeface="Cambria Math" panose="02040503050406030204" pitchFamily="18" charset="0"/>
                        <a:ea typeface="楷体" panose="02010609060101010101" pitchFamily="49" charset="-122"/>
                      </a:rPr>
                      <m:t>作</m:t>
                    </m:r>
                  </m:oMath>
                </a14:m>
                <a:r>
                  <a:rPr lang="zh-CN" altLang="en-US" dirty="0">
                    <a:latin typeface="楷体" panose="02010609060101010101" pitchFamily="49" charset="-122"/>
                    <a:ea typeface="楷体" panose="02010609060101010101" pitchFamily="49" charset="-122"/>
                  </a:rPr>
                  <a:t>为左部的变元，右部部分保持不变。如果同时替换右部的</a:t>
                </a:r>
                <a14:m>
                  <m:oMath xmlns:m="http://schemas.openxmlformats.org/officeDocument/2006/math">
                    <m:r>
                      <a:rPr lang="en-US" altLang="zh-CN" i="1" dirty="0" smtClean="0">
                        <a:latin typeface="Cambria Math" panose="02040503050406030204" pitchFamily="18" charset="0"/>
                        <a:ea typeface="楷体" panose="02010609060101010101" pitchFamily="49" charset="-122"/>
                      </a:rPr>
                      <m:t>𝐴</m:t>
                    </m:r>
                    <m:r>
                      <a:rPr lang="zh-CN" altLang="en-US" i="1" dirty="0">
                        <a:latin typeface="Cambria Math" panose="02040503050406030204" pitchFamily="18" charset="0"/>
                        <a:ea typeface="楷体" panose="02010609060101010101" pitchFamily="49" charset="-122"/>
                      </a:rPr>
                      <m:t>、</m:t>
                    </m:r>
                    <m:r>
                      <a:rPr lang="en-US" altLang="zh-CN" i="1" dirty="0">
                        <a:latin typeface="Cambria Math" panose="02040503050406030204" pitchFamily="18" charset="0"/>
                        <a:ea typeface="楷体" panose="02010609060101010101" pitchFamily="49" charset="-122"/>
                      </a:rPr>
                      <m:t>𝐵</m:t>
                    </m:r>
                  </m:oMath>
                </a14:m>
                <a:r>
                  <a:rPr lang="zh-CN" altLang="en-US" dirty="0">
                    <a:latin typeface="楷体" panose="02010609060101010101" pitchFamily="49" charset="-122"/>
                    <a:ea typeface="楷体" panose="02010609060101010101" pitchFamily="49" charset="-122"/>
                  </a:rPr>
                  <a:t>，将引入新的字符串，改变文法的表示能力。</a:t>
                </a:r>
                <a:endParaRPr lang="zh-CN" altLang="en-US" dirty="0">
                  <a:latin typeface="楷体" panose="02010609060101010101" pitchFamily="49" charset="-122"/>
                  <a:ea typeface="楷体" panose="02010609060101010101" pitchFamily="49" charset="-122"/>
                </a:endParaRPr>
              </a:p>
            </p:txBody>
          </p:sp>
        </mc:Choice>
        <mc:Fallback>
          <p:sp>
            <p:nvSpPr>
              <p:cNvPr id="6" name="TextBox 5"/>
              <p:cNvSpPr txBox="1">
                <a:spLocks noRot="1" noChangeAspect="1" noMove="1" noResize="1" noEditPoints="1" noAdjustHandles="1" noChangeArrowheads="1" noChangeShapeType="1" noTextEdit="1"/>
              </p:cNvSpPr>
              <p:nvPr/>
            </p:nvSpPr>
            <p:spPr>
              <a:xfrm>
                <a:off x="3344192" y="5243632"/>
                <a:ext cx="4572000" cy="1200329"/>
              </a:xfrm>
              <a:prstGeom prst="rect">
                <a:avLst/>
              </a:prstGeom>
              <a:blipFill rotWithShape="1">
                <a:blip r:embed="rId2"/>
                <a:stretch>
                  <a:fillRect l="-6" t="-36" r="6" b="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1018781" y="2150994"/>
                <a:ext cx="7001583" cy="3046988"/>
              </a:xfrm>
              <a:prstGeom prst="rect">
                <a:avLst/>
              </a:prstGeom>
              <a:noFill/>
            </p:spPr>
            <p:txBody>
              <a:bodyPr wrap="square">
                <a:spAutoFit/>
              </a:bodyPr>
              <a:lstStyle/>
              <a:p>
                <a:pPr marL="0" indent="0">
                  <a:buNone/>
                </a:pPr>
                <a:r>
                  <a:rPr lang="zh-CN" altLang="en-US" sz="2400" dirty="0">
                    <a:latin typeface="楷体" panose="02010609060101010101" pitchFamily="49" charset="-122"/>
                    <a:ea typeface="楷体" panose="02010609060101010101" pitchFamily="49" charset="-122"/>
                  </a:rPr>
                  <a:t>先确定单元产生式：</a:t>
                </a:r>
                <a14:m>
                  <m:oMath xmlns:m="http://schemas.openxmlformats.org/officeDocument/2006/math">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ea typeface="Cambria Math" panose="02040503050406030204" pitchFamily="18" charset="0"/>
                      </a:rPr>
                      <m:t> → </m:t>
                    </m:r>
                    <m:r>
                      <a:rPr lang="en-AU" altLang="zh-CN" sz="2400" i="1" dirty="0" smtClean="0">
                        <a:latin typeface="Cambria Math" panose="02040503050406030204" pitchFamily="18" charset="0"/>
                      </a:rPr>
                      <m:t>𝐴</m:t>
                    </m:r>
                    <m:r>
                      <a:rPr lang="zh-CN" altLang="en-AU" sz="2400" i="1" dirty="0" smtClean="0">
                        <a:latin typeface="Cambria Math" panose="02040503050406030204" pitchFamily="18" charset="0"/>
                      </a:rPr>
                      <m:t>，</m:t>
                    </m:r>
                    <m:r>
                      <a:rPr lang="en-AU" altLang="zh-CN" sz="2400" i="1" dirty="0" smtClean="0">
                        <a:latin typeface="Cambria Math" panose="02040503050406030204" pitchFamily="18" charset="0"/>
                      </a:rPr>
                      <m:t>𝑆</m:t>
                    </m:r>
                    <m:r>
                      <a:rPr lang="en-AU" altLang="zh-CN" sz="2400" i="1" dirty="0">
                        <a:latin typeface="Cambria Math" panose="02040503050406030204" pitchFamily="18" charset="0"/>
                        <a:ea typeface="Cambria Math" panose="02040503050406030204" pitchFamily="18" charset="0"/>
                      </a:rPr>
                      <m:t> → </m:t>
                    </m:r>
                    <m:r>
                      <a:rPr lang="en-AU" altLang="zh-CN" sz="2400" i="1" dirty="0" smtClean="0">
                        <a:latin typeface="Cambria Math" panose="02040503050406030204" pitchFamily="18" charset="0"/>
                      </a:rPr>
                      <m:t>𝐵</m:t>
                    </m:r>
                  </m:oMath>
                </a14:m>
                <a:endParaRPr lang="en-AU" altLang="zh-CN"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再代入非单元产生式：</a:t>
                </a:r>
                <a:endParaRPr lang="zh-CN" altLang="en-US"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a:t>
                </a:r>
                <a:r>
                  <a:rPr lang="en-AU"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）非单元产生式： </a:t>
                </a:r>
                <a14:m>
                  <m:oMath xmlns:m="http://schemas.openxmlformats.org/officeDocument/2006/math">
                    <m:r>
                      <a:rPr lang="en-AU" altLang="zh-CN" sz="2400" i="1" dirty="0" smtClean="0">
                        <a:latin typeface="Cambria Math" panose="02040503050406030204" pitchFamily="18" charset="0"/>
                      </a:rPr>
                      <m:t>𝑆</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0</m:t>
                    </m:r>
                    <m:r>
                      <a:rPr lang="en-AU" altLang="zh-CN" sz="2400" i="1" dirty="0" smtClean="0">
                        <a:latin typeface="Cambria Math" panose="02040503050406030204" pitchFamily="18" charset="0"/>
                      </a:rPr>
                      <m:t>𝑆</m:t>
                    </m:r>
                    <m:r>
                      <a:rPr lang="en-AU" altLang="zh-CN" sz="2400" i="1" dirty="0" smtClean="0">
                        <a:latin typeface="Cambria Math" panose="02040503050406030204" pitchFamily="18" charset="0"/>
                      </a:rPr>
                      <m:t>1</m:t>
                    </m:r>
                    <m:r>
                      <a:rPr lang="zh-CN" altLang="en-AU" sz="2400" i="1" dirty="0" smtClean="0">
                        <a:latin typeface="Cambria Math" panose="02040503050406030204" pitchFamily="18" charset="0"/>
                      </a:rPr>
                      <m:t>，</m:t>
                    </m:r>
                    <m:r>
                      <a:rPr lang="zh-CN" altLang="en-AU" sz="2400" i="1" dirty="0" smtClean="0">
                        <a:latin typeface="Cambria Math" panose="02040503050406030204" pitchFamily="18" charset="0"/>
                      </a:rPr>
                      <m:t> </m:t>
                    </m:r>
                    <m:r>
                      <a:rPr lang="en-AU" altLang="zh-CN" sz="2400" i="1" dirty="0" smtClean="0">
                        <a:latin typeface="Cambria Math" panose="02040503050406030204" pitchFamily="18" charset="0"/>
                      </a:rPr>
                      <m:t>𝐴</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0</m:t>
                    </m:r>
                    <m:r>
                      <a:rPr lang="en-AU" altLang="zh-CN" sz="2400" i="1" dirty="0" smtClean="0">
                        <a:latin typeface="Cambria Math" panose="02040503050406030204" pitchFamily="18" charset="0"/>
                      </a:rPr>
                      <m:t>𝐴</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0</m:t>
                    </m:r>
                    <m:r>
                      <a:rPr lang="zh-CN" altLang="en-AU" sz="2400" i="1" dirty="0" smtClean="0">
                        <a:latin typeface="Cambria Math" panose="02040503050406030204" pitchFamily="18" charset="0"/>
                      </a:rPr>
                      <m:t>，</m:t>
                    </m:r>
                    <m:r>
                      <a:rPr lang="en-AU" altLang="zh-CN" sz="2400" i="1" dirty="0" smtClean="0">
                        <a:latin typeface="Cambria Math" panose="02040503050406030204" pitchFamily="18" charset="0"/>
                      </a:rPr>
                      <m:t>𝐵</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1</m:t>
                    </m:r>
                    <m:r>
                      <a:rPr lang="en-AU" altLang="zh-CN" sz="2400" i="1" dirty="0" smtClean="0">
                        <a:latin typeface="Cambria Math" panose="02040503050406030204" pitchFamily="18" charset="0"/>
                      </a:rPr>
                      <m:t>𝐵</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1</m:t>
                    </m:r>
                  </m:oMath>
                </a14:m>
                <a:endParaRPr lang="en-AU" altLang="zh-CN"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a:t>
                </a:r>
                <a:r>
                  <a:rPr lang="en-AU"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）非单元产生式： </a:t>
                </a:r>
                <a14:m>
                  <m:oMath xmlns:m="http://schemas.openxmlformats.org/officeDocument/2006/math">
                    <m:r>
                      <a:rPr lang="en-AU" altLang="zh-CN" sz="2400" i="1" dirty="0" smtClean="0">
                        <a:latin typeface="Cambria Math" panose="02040503050406030204" pitchFamily="18" charset="0"/>
                      </a:rPr>
                      <m:t>𝐴</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0</m:t>
                    </m:r>
                    <m:r>
                      <a:rPr lang="en-AU" altLang="zh-CN" sz="2400" i="1" dirty="0" smtClean="0">
                        <a:latin typeface="Cambria Math" panose="02040503050406030204" pitchFamily="18" charset="0"/>
                      </a:rPr>
                      <m:t>𝐴</m:t>
                    </m:r>
                    <m:r>
                      <a:rPr lang="en-AU" altLang="zh-CN" sz="2400" i="1" dirty="0" smtClean="0">
                        <a:latin typeface="Cambria Math" panose="02040503050406030204" pitchFamily="18" charset="0"/>
                      </a:rPr>
                      <m:t>|</m:t>
                    </m:r>
                    <m:r>
                      <a:rPr lang="en-AU" altLang="zh-CN" sz="2400" i="1" dirty="0" smtClean="0">
                        <a:latin typeface="Cambria Math" panose="02040503050406030204" pitchFamily="18" charset="0"/>
                      </a:rPr>
                      <m:t>0</m:t>
                    </m:r>
                    <m:r>
                      <a:rPr lang="en-AU" altLang="zh-CN" sz="2400" i="1" dirty="0" smtClean="0">
                        <a:latin typeface="Cambria Math" panose="02040503050406030204" pitchFamily="18" charset="0"/>
                      </a:rPr>
                      <m:t> </m:t>
                    </m:r>
                  </m:oMath>
                </a14:m>
                <a:r>
                  <a:rPr lang="zh-CN" altLang="en-US" sz="2400" dirty="0">
                    <a:latin typeface="楷体" panose="02010609060101010101" pitchFamily="49" charset="-122"/>
                    <a:ea typeface="楷体" panose="02010609060101010101" pitchFamily="49" charset="-122"/>
                  </a:rPr>
                  <a:t>通过代入</a:t>
                </a:r>
                <a14:m>
                  <m:oMath xmlns:m="http://schemas.openxmlformats.org/officeDocument/2006/math">
                    <m:r>
                      <a:rPr lang="en-AU" altLang="zh-CN" sz="2400" i="1" dirty="0" smtClean="0">
                        <a:latin typeface="Cambria Math" panose="02040503050406030204" pitchFamily="18" charset="0"/>
                      </a:rPr>
                      <m:t>𝑆</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𝐴</m:t>
                    </m:r>
                  </m:oMath>
                </a14:m>
                <a:r>
                  <a:rPr lang="zh-CN" altLang="en-US" sz="2400" dirty="0">
                    <a:latin typeface="楷体" panose="02010609060101010101" pitchFamily="49" charset="-122"/>
                    <a:ea typeface="楷体" panose="02010609060101010101" pitchFamily="49" charset="-122"/>
                  </a:rPr>
                  <a:t>得到 </a:t>
                </a:r>
                <a14:m>
                  <m:oMath xmlns:m="http://schemas.openxmlformats.org/officeDocument/2006/math">
                    <m:r>
                      <a:rPr lang="en-AU" altLang="zh-CN" sz="2400" i="1" dirty="0" smtClean="0">
                        <a:latin typeface="Cambria Math" panose="02040503050406030204" pitchFamily="18" charset="0"/>
                      </a:rPr>
                      <m:t>𝑆</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0</m:t>
                    </m:r>
                    <m:r>
                      <a:rPr lang="en-AU" altLang="zh-CN" sz="2400" i="1" dirty="0" smtClean="0">
                        <a:latin typeface="Cambria Math" panose="02040503050406030204" pitchFamily="18" charset="0"/>
                      </a:rPr>
                      <m:t>𝐴</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0</m:t>
                    </m:r>
                  </m:oMath>
                </a14:m>
                <a:endParaRPr lang="en-AU" altLang="zh-CN"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a:t>
                </a:r>
                <a:r>
                  <a:rPr lang="en-AU"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）非单元产生式： </a:t>
                </a:r>
                <a14:m>
                  <m:oMath xmlns:m="http://schemas.openxmlformats.org/officeDocument/2006/math">
                    <m:r>
                      <a:rPr lang="en-AU" altLang="zh-CN" sz="2400" i="1" dirty="0" smtClean="0">
                        <a:latin typeface="Cambria Math" panose="02040503050406030204" pitchFamily="18" charset="0"/>
                      </a:rPr>
                      <m:t>𝐵</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1</m:t>
                    </m:r>
                    <m:r>
                      <a:rPr lang="en-AU" altLang="zh-CN" sz="2400" i="1" dirty="0" smtClean="0">
                        <a:latin typeface="Cambria Math" panose="02040503050406030204" pitchFamily="18" charset="0"/>
                      </a:rPr>
                      <m:t>𝐵</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1</m:t>
                    </m:r>
                    <m:r>
                      <a:rPr lang="en-AU" altLang="zh-CN" sz="2400" i="1" dirty="0" smtClean="0">
                        <a:latin typeface="Cambria Math" panose="02040503050406030204" pitchFamily="18" charset="0"/>
                      </a:rPr>
                      <m:t> </m:t>
                    </m:r>
                  </m:oMath>
                </a14:m>
                <a:r>
                  <a:rPr lang="zh-CN" altLang="en-US" sz="2400" dirty="0">
                    <a:latin typeface="楷体" panose="02010609060101010101" pitchFamily="49" charset="-122"/>
                    <a:ea typeface="楷体" panose="02010609060101010101" pitchFamily="49" charset="-122"/>
                  </a:rPr>
                  <a:t>通过代入 </a:t>
                </a:r>
                <a14:m>
                  <m:oMath xmlns:m="http://schemas.openxmlformats.org/officeDocument/2006/math">
                    <m:r>
                      <a:rPr lang="en-AU" altLang="zh-CN" sz="2400" i="1" dirty="0" smtClean="0">
                        <a:latin typeface="Cambria Math" panose="02040503050406030204" pitchFamily="18" charset="0"/>
                      </a:rPr>
                      <m:t>𝑆</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𝐵</m:t>
                    </m:r>
                  </m:oMath>
                </a14:m>
                <a:r>
                  <a:rPr lang="en-AU"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得到</a:t>
                </a:r>
                <a14:m>
                  <m:oMath xmlns:m="http://schemas.openxmlformats.org/officeDocument/2006/math">
                    <m:r>
                      <a:rPr lang="en-AU" altLang="zh-CN" sz="2400" i="1" dirty="0" smtClean="0">
                        <a:latin typeface="Cambria Math" panose="02040503050406030204" pitchFamily="18" charset="0"/>
                      </a:rPr>
                      <m:t>𝑆</m:t>
                    </m:r>
                    <m:r>
                      <a:rPr lang="en-AU" altLang="zh-CN" sz="2400" i="1" dirty="0">
                        <a:latin typeface="Cambria Math" panose="02040503050406030204" pitchFamily="18" charset="0"/>
                        <a:ea typeface="Cambria Math" panose="02040503050406030204" pitchFamily="18" charset="0"/>
                      </a:rPr>
                      <m:t>→</m:t>
                    </m:r>
                    <m:r>
                      <a:rPr lang="en-AU" altLang="zh-CN" sz="2400" i="1" dirty="0" smtClean="0">
                        <a:latin typeface="Cambria Math" panose="02040503050406030204" pitchFamily="18" charset="0"/>
                      </a:rPr>
                      <m:t>1</m:t>
                    </m:r>
                    <m:r>
                      <a:rPr lang="en-AU" altLang="zh-CN" sz="2400" i="1" dirty="0" smtClean="0">
                        <a:latin typeface="Cambria Math" panose="02040503050406030204" pitchFamily="18" charset="0"/>
                      </a:rPr>
                      <m:t>𝐵</m:t>
                    </m:r>
                    <m:r>
                      <a:rPr lang="en-AU" altLang="zh-CN" sz="2400" i="1" dirty="0" smtClean="0">
                        <a:latin typeface="Cambria Math" panose="02040503050406030204" pitchFamily="18" charset="0"/>
                      </a:rPr>
                      <m:t> | </m:t>
                    </m:r>
                    <m:r>
                      <a:rPr lang="en-AU" altLang="zh-CN" sz="2400" i="1" dirty="0" smtClean="0">
                        <a:latin typeface="Cambria Math" panose="02040503050406030204" pitchFamily="18" charset="0"/>
                      </a:rPr>
                      <m:t>1</m:t>
                    </m:r>
                  </m:oMath>
                </a14:m>
                <a:endParaRPr lang="en-AU" altLang="zh-CN" sz="2400" dirty="0">
                  <a:latin typeface="楷体" panose="02010609060101010101" pitchFamily="49" charset="-122"/>
                  <a:ea typeface="楷体" panose="02010609060101010101" pitchFamily="49" charset="-122"/>
                </a:endParaRPr>
              </a:p>
            </p:txBody>
          </p:sp>
        </mc:Choice>
        <mc:Fallback>
          <p:sp>
            <p:nvSpPr>
              <p:cNvPr id="8" name="TextBox 7"/>
              <p:cNvSpPr txBox="1">
                <a:spLocks noRot="1" noChangeAspect="1" noMove="1" noResize="1" noEditPoints="1" noAdjustHandles="1" noChangeArrowheads="1" noChangeShapeType="1" noTextEdit="1"/>
              </p:cNvSpPr>
              <p:nvPr/>
            </p:nvSpPr>
            <p:spPr>
              <a:xfrm>
                <a:off x="1018781" y="2150994"/>
                <a:ext cx="7001583" cy="3046988"/>
              </a:xfrm>
              <a:prstGeom prst="rect">
                <a:avLst/>
              </a:prstGeom>
              <a:blipFill rotWithShape="1">
                <a:blip r:embed="rId3"/>
                <a:stretch>
                  <a:fillRect l="-3" t="-8" r="4" b="17"/>
                </a:stretch>
              </a:blipFill>
            </p:spPr>
            <p:txBody>
              <a:bodyPr/>
              <a:lstStyle/>
              <a:p>
                <a:r>
                  <a:rPr lang="zh-CN" altLang="en-US">
                    <a:noFill/>
                  </a:rPr>
                  <a:t> </a:t>
                </a:r>
              </a:p>
            </p:txBody>
          </p:sp>
        </mc:Fallback>
      </mc:AlternateContent>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文法化简的可靠顺序</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文法简化步骤的顺序是重要的</a:t>
                </a:r>
                <a:r>
                  <a:rPr lang="en-US" altLang="zh-CN" dirty="0"/>
                  <a:t>, </a:t>
                </a:r>
                <a:r>
                  <a:rPr lang="zh-CN" altLang="en-US" dirty="0"/>
                  <a:t>一个可靠的顺序是</a:t>
                </a:r>
                <a:endParaRPr lang="zh-CN" altLang="en-US" dirty="0"/>
              </a:p>
              <a:p>
                <a:pPr lvl="1"/>
                <a:r>
                  <a:rPr lang="zh-CN" altLang="en-US" dirty="0"/>
                  <a:t>消除</a:t>
                </a:r>
                <a14:m>
                  <m:oMath xmlns:m="http://schemas.openxmlformats.org/officeDocument/2006/math">
                    <m:r>
                      <a:rPr lang="en-US" altLang="zh-CN" i="1" dirty="0" smtClean="0">
                        <a:latin typeface="Cambria Math" panose="02040503050406030204" pitchFamily="18" charset="0"/>
                      </a:rPr>
                      <m:t>𝜀</m:t>
                    </m:r>
                    <m:r>
                      <a:rPr lang="en-US" altLang="zh-CN" i="1" dirty="0" smtClean="0">
                        <a:latin typeface="Cambria Math" panose="02040503050406030204" pitchFamily="18" charset="0"/>
                      </a:rPr>
                      <m:t>−</m:t>
                    </m:r>
                  </m:oMath>
                </a14:m>
                <a:r>
                  <a:rPr lang="zh-CN" altLang="en-US" dirty="0"/>
                  <a:t>产生式</a:t>
                </a:r>
                <a:endParaRPr lang="zh-CN" altLang="en-US" dirty="0"/>
              </a:p>
              <a:p>
                <a:pPr lvl="1"/>
                <a:r>
                  <a:rPr lang="zh-CN" altLang="en-US" dirty="0"/>
                  <a:t>消除单元产生式</a:t>
                </a:r>
                <a:endParaRPr lang="zh-CN" altLang="en-US" dirty="0"/>
              </a:p>
              <a:p>
                <a:pPr lvl="1"/>
                <a:r>
                  <a:rPr lang="zh-CN" altLang="en-US" dirty="0"/>
                  <a:t>消除非产生的无用符号</a:t>
                </a:r>
                <a:endParaRPr lang="zh-CN" altLang="en-US" dirty="0"/>
              </a:p>
              <a:p>
                <a:pPr lvl="1"/>
                <a:r>
                  <a:rPr lang="zh-CN" altLang="en-US" dirty="0"/>
                  <a:t>消除非可达的无用符号</a:t>
                </a:r>
                <a:endParaRPr lang="zh-CN" altLang="en-US"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zh-CN" altLang="en-US" sz="4400" b="1" dirty="0">
                <a:cs typeface="Times New Roman" panose="02020603050405020304" pitchFamily="18" charset="0"/>
              </a:rPr>
              <a:t>乔姆斯基范式和格雷巴赫范式</a:t>
            </a:r>
            <a:endParaRPr lang="en-AU" dirty="0"/>
          </a:p>
        </p:txBody>
      </p:sp>
      <p:sp>
        <p:nvSpPr>
          <p:cNvPr id="3" name="Content Placeholder 2"/>
          <p:cNvSpPr>
            <a:spLocks noGrp="1"/>
          </p:cNvSpPr>
          <p:nvPr>
            <p:ph idx="1"/>
          </p:nvPr>
        </p:nvSpPr>
        <p:spPr/>
        <p:txBody>
          <a:bodyPr/>
          <a:lstStyle/>
          <a:p>
            <a:r>
              <a:rPr lang="zh-CN" altLang="en-US" dirty="0"/>
              <a:t>文法的格式多种多样，是否存在规范化的表示形式？</a:t>
            </a:r>
            <a:endParaRPr lang="en-AU" altLang="zh-CN" dirty="0"/>
          </a:p>
          <a:p>
            <a:r>
              <a:rPr lang="zh-CN" altLang="en-US" dirty="0"/>
              <a:t>乔姆斯基范式</a:t>
            </a:r>
            <a:r>
              <a:rPr lang="en-US" altLang="zh-CN" dirty="0"/>
              <a:t>(</a:t>
            </a:r>
            <a:r>
              <a:rPr lang="en-AU" dirty="0">
                <a:latin typeface="Times New Roman" panose="02020603050405020304" pitchFamily="18" charset="0"/>
                <a:cs typeface="Times New Roman" panose="02020603050405020304" pitchFamily="18" charset="0"/>
              </a:rPr>
              <a:t>Chomsky Normal Form, CNF</a:t>
            </a:r>
            <a:r>
              <a:rPr lang="en-AU" dirty="0"/>
              <a:t>)</a:t>
            </a:r>
            <a:r>
              <a:rPr lang="zh-CN" altLang="en-US" dirty="0"/>
              <a:t>和格雷巴赫范式</a:t>
            </a:r>
            <a:r>
              <a:rPr lang="en-US" altLang="zh-CN" dirty="0"/>
              <a:t>(</a:t>
            </a:r>
            <a:r>
              <a:rPr lang="en-AU" dirty="0" err="1">
                <a:latin typeface="Times New Roman" panose="02020603050405020304" pitchFamily="18" charset="0"/>
                <a:cs typeface="Times New Roman" panose="02020603050405020304" pitchFamily="18" charset="0"/>
              </a:rPr>
              <a:t>Greibach</a:t>
            </a:r>
            <a:r>
              <a:rPr lang="en-AU" dirty="0">
                <a:latin typeface="Times New Roman" panose="02020603050405020304" pitchFamily="18" charset="0"/>
                <a:cs typeface="Times New Roman" panose="02020603050405020304" pitchFamily="18" charset="0"/>
              </a:rPr>
              <a:t> Normal Form, GNF</a:t>
            </a:r>
            <a:r>
              <a:rPr lang="en-AU" dirty="0"/>
              <a:t>)</a:t>
            </a:r>
            <a:r>
              <a:rPr lang="zh-CN" altLang="en-US" dirty="0"/>
              <a:t>对文法的格式分别进行了规范化。</a:t>
            </a:r>
            <a:endParaRPr lang="zh-CN" altLang="en-US" dirty="0"/>
          </a:p>
          <a:p>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乔姆斯基范式 </a:t>
            </a:r>
            <a:r>
              <a:rPr lang="en-US" altLang="zh-CN" dirty="0">
                <a:latin typeface="Times New Roman" panose="02020603050405020304" pitchFamily="18" charset="0"/>
                <a:cs typeface="Times New Roman" panose="02020603050405020304" pitchFamily="18" charset="0"/>
              </a:rPr>
              <a:t>CNF</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t>定理</a:t>
                </a:r>
                <a:r>
                  <a:rPr lang="en-AU" altLang="zh-CN" dirty="0"/>
                  <a:t>: </a:t>
                </a:r>
                <a:r>
                  <a:rPr lang="zh-CN" altLang="en-US" dirty="0"/>
                  <a:t>每个不带</a:t>
                </a:r>
                <a14:m>
                  <m:oMath xmlns:m="http://schemas.openxmlformats.org/officeDocument/2006/math">
                    <m:r>
                      <a:rPr lang="en-US" altLang="zh-CN" i="1" dirty="0" smtClean="0">
                        <a:latin typeface="Cambria Math" panose="02040503050406030204" pitchFamily="18" charset="0"/>
                      </a:rPr>
                      <m:t>𝜀</m:t>
                    </m:r>
                  </m:oMath>
                </a14:m>
                <a:r>
                  <a:rPr lang="zh-CN" altLang="en-US" dirty="0"/>
                  <a:t>的</a:t>
                </a:r>
                <a:r>
                  <a:rPr lang="en-US" altLang="zh-CN" dirty="0">
                    <a:latin typeface="Times New Roman" panose="02020603050405020304" pitchFamily="18" charset="0"/>
                    <a:cs typeface="Times New Roman" panose="02020603050405020304" pitchFamily="18" charset="0"/>
                  </a:rPr>
                  <a:t>CFL</a:t>
                </a:r>
                <a:r>
                  <a:rPr lang="zh-CN" altLang="en-US" dirty="0"/>
                  <a:t>都可以由这样的</a:t>
                </a:r>
                <a:r>
                  <a:rPr lang="en-US" altLang="zh-CN" dirty="0">
                    <a:latin typeface="Times New Roman" panose="02020603050405020304" pitchFamily="18" charset="0"/>
                    <a:cs typeface="Times New Roman" panose="02020603050405020304" pitchFamily="18" charset="0"/>
                  </a:rPr>
                  <a:t>CFG</a:t>
                </a:r>
                <a:r>
                  <a:rPr lang="en-US" altLang="zh-CN" dirty="0"/>
                  <a:t> </a:t>
                </a:r>
                <a14:m>
                  <m:oMath xmlns:m="http://schemas.openxmlformats.org/officeDocument/2006/math">
                    <m:r>
                      <a:rPr lang="en-US" altLang="zh-CN" i="1" dirty="0" smtClean="0">
                        <a:latin typeface="Cambria Math" panose="02040503050406030204" pitchFamily="18" charset="0"/>
                      </a:rPr>
                      <m:t>𝐺</m:t>
                    </m:r>
                  </m:oMath>
                </a14:m>
                <a:r>
                  <a:rPr lang="en-US" altLang="zh-CN" dirty="0"/>
                  <a:t> </a:t>
                </a:r>
                <a:r>
                  <a:rPr lang="zh-CN" altLang="en-US" dirty="0"/>
                  <a:t>定义</a:t>
                </a:r>
                <a:r>
                  <a:rPr lang="en-US" altLang="zh-CN" dirty="0"/>
                  <a:t>, </a:t>
                </a:r>
                <a14:m>
                  <m:oMath xmlns:m="http://schemas.openxmlformats.org/officeDocument/2006/math">
                    <m:r>
                      <a:rPr lang="en-US" altLang="zh-CN" i="1" dirty="0" smtClean="0">
                        <a:latin typeface="Cambria Math" panose="02040503050406030204" pitchFamily="18" charset="0"/>
                      </a:rPr>
                      <m:t>𝐺</m:t>
                    </m:r>
                  </m:oMath>
                </a14:m>
                <a:r>
                  <a:rPr lang="zh-CN" altLang="en-US" dirty="0"/>
                  <a:t>中每个产生式的形式都为</a:t>
                </a:r>
                <a:endParaRPr lang="en-AU" altLang="zh-CN" dirty="0"/>
              </a:p>
              <a:p>
                <a:pPr marL="0" indent="0" algn="ctr">
                  <a:buNone/>
                </a:pPr>
                <a:r>
                  <a:rPr lang="en-AU" dirty="0"/>
                  <a:t> </a:t>
                </a:r>
                <a14:m>
                  <m:oMath xmlns:m="http://schemas.openxmlformats.org/officeDocument/2006/math">
                    <m:r>
                      <a:rPr lang="pt-BR" i="1" dirty="0" smtClean="0">
                        <a:latin typeface="Cambria Math" panose="02040503050406030204" pitchFamily="18" charset="0"/>
                      </a:rPr>
                      <m:t>𝐴</m:t>
                    </m:r>
                    <m:r>
                      <a:rPr lang="pt-BR" i="1" dirty="0" smtClean="0">
                        <a:latin typeface="Cambria Math" panose="02040503050406030204" pitchFamily="18" charset="0"/>
                      </a:rPr>
                      <m:t> → </m:t>
                    </m:r>
                    <m:r>
                      <a:rPr lang="pt-BR" i="1" dirty="0" smtClean="0">
                        <a:latin typeface="Cambria Math" panose="02040503050406030204" pitchFamily="18" charset="0"/>
                      </a:rPr>
                      <m:t>𝐵𝐶</m:t>
                    </m:r>
                    <m:r>
                      <a:rPr lang="pt-BR" i="1" dirty="0" smtClean="0">
                        <a:latin typeface="Cambria Math" panose="02040503050406030204" pitchFamily="18" charset="0"/>
                      </a:rPr>
                      <m:t> </m:t>
                    </m:r>
                  </m:oMath>
                </a14:m>
                <a:r>
                  <a:rPr lang="pt-BR" dirty="0"/>
                  <a:t>或</a:t>
                </a:r>
                <a14:m>
                  <m:oMath xmlns:m="http://schemas.openxmlformats.org/officeDocument/2006/math">
                    <m:r>
                      <a:rPr lang="pt-BR" i="1" dirty="0" smtClean="0">
                        <a:latin typeface="Cambria Math" panose="02040503050406030204" pitchFamily="18" charset="0"/>
                      </a:rPr>
                      <m:t> </m:t>
                    </m:r>
                    <m:r>
                      <a:rPr lang="pt-BR" i="1" dirty="0" smtClean="0">
                        <a:latin typeface="Cambria Math" panose="02040503050406030204" pitchFamily="18" charset="0"/>
                      </a:rPr>
                      <m:t>𝐴</m:t>
                    </m:r>
                    <m:r>
                      <a:rPr lang="pt-BR" i="1" dirty="0" smtClean="0">
                        <a:latin typeface="Cambria Math" panose="02040503050406030204" pitchFamily="18" charset="0"/>
                      </a:rPr>
                      <m:t> → </m:t>
                    </m:r>
                    <m:r>
                      <a:rPr lang="pt-BR" i="1" dirty="0" smtClean="0">
                        <a:latin typeface="Cambria Math" panose="02040503050406030204" pitchFamily="18" charset="0"/>
                      </a:rPr>
                      <m:t>𝑎</m:t>
                    </m:r>
                  </m:oMath>
                </a14:m>
                <a:endParaRPr lang="en-AU" dirty="0"/>
              </a:p>
              <a:p>
                <a:pPr marL="0" indent="0">
                  <a:buNone/>
                </a:pPr>
                <a:r>
                  <a:rPr lang="zh-CN" altLang="en-US" dirty="0"/>
                  <a:t>这里的</a:t>
                </a:r>
                <a14:m>
                  <m:oMath xmlns:m="http://schemas.openxmlformats.org/officeDocument/2006/math">
                    <m:r>
                      <a:rPr lang="en-AU" i="1" dirty="0" smtClean="0">
                        <a:latin typeface="Cambria Math" panose="02040503050406030204" pitchFamily="18" charset="0"/>
                      </a:rPr>
                      <m:t>𝐴</m:t>
                    </m:r>
                  </m:oMath>
                </a14:m>
                <a:r>
                  <a:rPr lang="en-AU" dirty="0"/>
                  <a:t>,</a:t>
                </a:r>
                <a14:m>
                  <m:oMath xmlns:m="http://schemas.openxmlformats.org/officeDocument/2006/math">
                    <m:r>
                      <a:rPr lang="en-AU" i="1" dirty="0" smtClean="0">
                        <a:latin typeface="Cambria Math" panose="02040503050406030204" pitchFamily="18" charset="0"/>
                      </a:rPr>
                      <m:t>𝐵</m:t>
                    </m:r>
                  </m:oMath>
                </a14:m>
                <a:r>
                  <a:rPr lang="zh-CN" altLang="en-US" dirty="0"/>
                  <a:t>和</a:t>
                </a:r>
                <a14:m>
                  <m:oMath xmlns:m="http://schemas.openxmlformats.org/officeDocument/2006/math">
                    <m:r>
                      <a:rPr lang="en-AU" i="1" dirty="0" smtClean="0">
                        <a:latin typeface="Cambria Math" panose="02040503050406030204" pitchFamily="18" charset="0"/>
                      </a:rPr>
                      <m:t>𝐶</m:t>
                    </m:r>
                  </m:oMath>
                </a14:m>
                <a:r>
                  <a:rPr lang="zh-CN" altLang="en-US" dirty="0"/>
                  <a:t>是变元</a:t>
                </a:r>
                <a:r>
                  <a:rPr lang="en-US" altLang="zh-CN" dirty="0"/>
                  <a:t>,</a:t>
                </a:r>
                <a14:m>
                  <m:oMath xmlns:m="http://schemas.openxmlformats.org/officeDocument/2006/math">
                    <m:r>
                      <a:rPr lang="en-AU" i="1" dirty="0" smtClean="0">
                        <a:latin typeface="Cambria Math" panose="02040503050406030204" pitchFamily="18" charset="0"/>
                      </a:rPr>
                      <m:t>𝑎</m:t>
                    </m:r>
                  </m:oMath>
                </a14:m>
                <a:r>
                  <a:rPr lang="zh-CN" altLang="en-US" dirty="0"/>
                  <a:t>是终结符。</a:t>
                </a:r>
                <a:endParaRPr lang="en-AU" altLang="zh-CN"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CFG</a:t>
            </a:r>
            <a:r>
              <a:rPr lang="zh-CN" altLang="en-US" dirty="0"/>
              <a:t>转为</a:t>
            </a:r>
            <a:r>
              <a:rPr lang="en-AU" altLang="zh-CN" dirty="0">
                <a:latin typeface="Times New Roman" panose="02020603050405020304" pitchFamily="18" charset="0"/>
                <a:cs typeface="Times New Roman" panose="02020603050405020304" pitchFamily="18" charset="0"/>
              </a:rPr>
              <a:t>CNF</a:t>
            </a:r>
            <a:r>
              <a:rPr lang="zh-CN" altLang="en-US" dirty="0"/>
              <a:t>的方法</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011336"/>
                <a:ext cx="8229600" cy="4525963"/>
              </a:xfrm>
            </p:spPr>
            <p:txBody>
              <a:bodyPr>
                <a:normAutofit lnSpcReduction="10000"/>
              </a:bodyPr>
              <a:lstStyle/>
              <a:p>
                <a:r>
                  <a:rPr lang="zh-CN" altLang="en-US" dirty="0"/>
                  <a:t>设文法不带无用符号，</a:t>
                </a:r>
                <a14:m>
                  <m:oMath xmlns:m="http://schemas.openxmlformats.org/officeDocument/2006/math">
                    <m:r>
                      <a:rPr lang="zh-CN" altLang="en-US" i="1" smtClean="0">
                        <a:latin typeface="Cambria Math" panose="02040503050406030204" pitchFamily="18" charset="0"/>
                      </a:rPr>
                      <m:t>𝜀</m:t>
                    </m:r>
                  </m:oMath>
                </a14:m>
                <a:r>
                  <a:rPr lang="en-AU" altLang="zh-CN" dirty="0"/>
                  <a:t>-</a:t>
                </a:r>
                <a:r>
                  <a:rPr lang="zh-CN" altLang="en-US" dirty="0"/>
                  <a:t>产生式和单元产生式（任何文法都可以化简成这种形式）。</a:t>
                </a:r>
                <a:endParaRPr lang="en-AU" altLang="zh-CN" dirty="0"/>
              </a:p>
              <a:p>
                <a:r>
                  <a:rPr lang="zh-CN" altLang="en-US" dirty="0"/>
                  <a:t>考虑文法每个形式为</a:t>
                </a:r>
                <a14:m>
                  <m:oMath xmlns:m="http://schemas.openxmlformats.org/officeDocument/2006/math">
                    <m:r>
                      <a:rPr lang="en-US" altLang="zh-CN" i="1" dirty="0">
                        <a:latin typeface="Cambria Math" panose="02040503050406030204" pitchFamily="18" charset="0"/>
                      </a:rPr>
                      <m:t>𝐴</m:t>
                    </m:r>
                    <m:r>
                      <a:rPr lang="en-US" altLang="zh-CN" i="1" dirty="0">
                        <a:latin typeface="Cambria Math" panose="02040503050406030204" pitchFamily="18" charset="0"/>
                      </a:rPr>
                      <m:t> → </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1</m:t>
                        </m:r>
                      </m:sub>
                    </m:sSub>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2</m:t>
                        </m:r>
                      </m:sub>
                    </m:sSub>
                    <m:r>
                      <a:rPr lang="en-AU"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𝑚</m:t>
                        </m:r>
                      </m:sub>
                    </m:sSub>
                  </m:oMath>
                </a14:m>
                <a:r>
                  <a:rPr lang="en-US" altLang="zh-CN" dirty="0"/>
                  <a:t>(</a:t>
                </a:r>
                <a14:m>
                  <m:oMath xmlns:m="http://schemas.openxmlformats.org/officeDocument/2006/math">
                    <m:r>
                      <a:rPr lang="en-US" altLang="zh-CN" i="1" dirty="0">
                        <a:latin typeface="Cambria Math" panose="02040503050406030204" pitchFamily="18" charset="0"/>
                      </a:rPr>
                      <m:t>𝑚</m:t>
                    </m:r>
                    <m:r>
                      <a:rPr lang="en-US" altLang="zh-CN" i="1" dirty="0">
                        <a:latin typeface="Cambria Math" panose="02040503050406030204" pitchFamily="18" charset="0"/>
                      </a:rPr>
                      <m:t> ≥ </m:t>
                    </m:r>
                    <m:r>
                      <a:rPr lang="en-US" altLang="zh-CN" i="1" dirty="0">
                        <a:latin typeface="Cambria Math" panose="02040503050406030204" pitchFamily="18" charset="0"/>
                      </a:rPr>
                      <m:t>2</m:t>
                    </m:r>
                  </m:oMath>
                </a14:m>
                <a:r>
                  <a:rPr lang="en-US" altLang="zh-CN" dirty="0"/>
                  <a:t>)</a:t>
                </a:r>
                <a:r>
                  <a:rPr lang="zh-CN" altLang="en-US" dirty="0"/>
                  <a:t>的产生式，若</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b="0" i="1" dirty="0" smtClean="0">
                            <a:latin typeface="Cambria Math" panose="02040503050406030204" pitchFamily="18" charset="0"/>
                          </a:rPr>
                          <m:t>𝑖</m:t>
                        </m:r>
                      </m:sub>
                    </m:sSub>
                  </m:oMath>
                </a14:m>
                <a:r>
                  <a:rPr lang="zh-CN" altLang="en-US" dirty="0"/>
                  <a:t>为终结符</a:t>
                </a:r>
                <a14:m>
                  <m:oMath xmlns:m="http://schemas.openxmlformats.org/officeDocument/2006/math">
                    <m:r>
                      <a:rPr lang="en-AU" altLang="zh-CN" b="0" i="1" smtClean="0">
                        <a:latin typeface="Cambria Math" panose="02040503050406030204" pitchFamily="18" charset="0"/>
                      </a:rPr>
                      <m:t>𝑎</m:t>
                    </m:r>
                  </m:oMath>
                </a14:m>
                <a:r>
                  <a:rPr lang="zh-CN" altLang="en-US" dirty="0"/>
                  <a:t>，则引进新变元</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𝐶</m:t>
                        </m:r>
                      </m:e>
                      <m:sub>
                        <m:r>
                          <a:rPr lang="en-AU" altLang="zh-CN" i="1">
                            <a:latin typeface="Cambria Math" panose="02040503050406030204" pitchFamily="18" charset="0"/>
                          </a:rPr>
                          <m:t>𝑎</m:t>
                        </m:r>
                      </m:sub>
                    </m:sSub>
                  </m:oMath>
                </a14:m>
                <a:r>
                  <a:rPr lang="zh-CN" altLang="en-US" dirty="0"/>
                  <a:t>替换</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𝑖</m:t>
                        </m:r>
                      </m:sub>
                    </m:sSub>
                  </m:oMath>
                </a14:m>
                <a:r>
                  <a:rPr lang="zh-CN" altLang="en-US" dirty="0"/>
                  <a:t>并增加新产生式</a:t>
                </a:r>
                <a14:m>
                  <m:oMath xmlns:m="http://schemas.openxmlformats.org/officeDocument/2006/math">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𝐶</m:t>
                        </m:r>
                      </m:e>
                      <m:sub>
                        <m:r>
                          <a:rPr lang="en-AU" altLang="zh-CN" b="0" i="1" dirty="0" smtClean="0">
                            <a:latin typeface="Cambria Math" panose="02040503050406030204" pitchFamily="18" charset="0"/>
                          </a:rPr>
                          <m:t>𝑎</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oMath>
                </a14:m>
                <a:r>
                  <a:rPr lang="zh-CN" altLang="en-US" dirty="0"/>
                  <a:t>。</a:t>
                </a:r>
                <a:endParaRPr lang="en-US" altLang="zh-CN" dirty="0"/>
              </a:p>
              <a:p>
                <a:r>
                  <a:rPr lang="zh-CN" altLang="en-US" dirty="0"/>
                  <a:t>所有产生式的形式变为</a:t>
                </a:r>
                <a14:m>
                  <m:oMath xmlns:m="http://schemas.openxmlformats.org/officeDocument/2006/math">
                    <m:r>
                      <a:rPr lang="en-US" altLang="zh-CN" i="1" dirty="0">
                        <a:latin typeface="Cambria Math" panose="02040503050406030204" pitchFamily="18" charset="0"/>
                      </a:rPr>
                      <m:t>𝐴</m:t>
                    </m:r>
                    <m:r>
                      <a:rPr lang="en-US" altLang="zh-CN" i="1" dirty="0">
                        <a:latin typeface="Cambria Math" panose="02040503050406030204" pitchFamily="18" charset="0"/>
                      </a:rPr>
                      <m:t> → </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i="1" dirty="0">
                            <a:latin typeface="Cambria Math" panose="02040503050406030204" pitchFamily="18" charset="0"/>
                          </a:rPr>
                          <m:t>1</m:t>
                        </m:r>
                      </m:sub>
                    </m:sSub>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i="1" dirty="0">
                            <a:latin typeface="Cambria Math" panose="02040503050406030204" pitchFamily="18" charset="0"/>
                          </a:rPr>
                          <m:t>2</m:t>
                        </m:r>
                      </m:sub>
                    </m:sSub>
                    <m:r>
                      <a:rPr lang="en-AU"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i="1" dirty="0">
                            <a:latin typeface="Cambria Math" panose="02040503050406030204" pitchFamily="18" charset="0"/>
                          </a:rPr>
                          <m:t>𝑚</m:t>
                        </m:r>
                      </m:sub>
                    </m:sSub>
                    <m:r>
                      <a:rPr lang="en-US" altLang="zh-CN" i="1" dirty="0">
                        <a:latin typeface="Cambria Math" panose="02040503050406030204" pitchFamily="18" charset="0"/>
                      </a:rPr>
                      <m:t>(</m:t>
                    </m:r>
                    <m:r>
                      <a:rPr lang="en-US" altLang="zh-CN" i="1" dirty="0">
                        <a:latin typeface="Cambria Math" panose="02040503050406030204" pitchFamily="18" charset="0"/>
                      </a:rPr>
                      <m:t>𝑚</m:t>
                    </m:r>
                    <m:r>
                      <a:rPr lang="en-US" altLang="zh-CN" i="1" dirty="0">
                        <a:latin typeface="Cambria Math" panose="02040503050406030204" pitchFamily="18" charset="0"/>
                      </a:rPr>
                      <m:t> ≥ </m:t>
                    </m:r>
                    <m:r>
                      <a:rPr lang="en-US" altLang="zh-CN" i="1" dirty="0">
                        <a:latin typeface="Cambria Math" panose="02040503050406030204" pitchFamily="18" charset="0"/>
                      </a:rPr>
                      <m:t>2</m:t>
                    </m:r>
                    <m:r>
                      <a:rPr lang="en-US" altLang="zh-CN" i="1" dirty="0">
                        <a:latin typeface="Cambria Math" panose="02040503050406030204" pitchFamily="18" charset="0"/>
                      </a:rPr>
                      <m:t>)</m:t>
                    </m:r>
                  </m:oMath>
                </a14:m>
                <a:r>
                  <a:rPr lang="zh-CN" altLang="en-US" dirty="0"/>
                  <a:t>和</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b="0" i="1" dirty="0" smtClean="0">
                            <a:latin typeface="Cambria Math" panose="02040503050406030204" pitchFamily="18" charset="0"/>
                          </a:rPr>
                          <m:t>𝑖</m:t>
                        </m:r>
                      </m:sub>
                    </m:sSub>
                    <m:r>
                      <a:rPr lang="en-AU" altLang="zh-CN" b="0" i="1" dirty="0" smtClean="0">
                        <a:latin typeface="Cambria Math" panose="02040503050406030204" pitchFamily="18" charset="0"/>
                      </a:rPr>
                      <m:t>(</m:t>
                    </m:r>
                    <m:r>
                      <a:rPr lang="zh-CN" altLang="en-US" i="1" dirty="0">
                        <a:latin typeface="Cambria Math" panose="02040503050406030204" pitchFamily="18" charset="0"/>
                      </a:rPr>
                      <m:t>即</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𝐶</m:t>
                        </m:r>
                      </m:e>
                      <m:sub>
                        <m:r>
                          <a:rPr lang="en-AU" altLang="zh-CN" i="1" dirty="0">
                            <a:latin typeface="Cambria Math" panose="02040503050406030204" pitchFamily="18" charset="0"/>
                          </a:rPr>
                          <m:t>𝑎</m:t>
                        </m:r>
                      </m:sub>
                    </m:sSub>
                    <m:r>
                      <a:rPr lang="en-AU" altLang="zh-CN" b="0" i="1" dirty="0" smtClean="0">
                        <a:latin typeface="Cambria Math" panose="02040503050406030204" pitchFamily="18" charset="0"/>
                      </a:rPr>
                      <m:t>)</m:t>
                    </m:r>
                    <m:r>
                      <a:rPr lang="en-US" altLang="zh-CN" i="1" dirty="0">
                        <a:latin typeface="Cambria Math" panose="02040503050406030204" pitchFamily="18" charset="0"/>
                      </a:rPr>
                      <m:t>→</m:t>
                    </m:r>
                    <m:r>
                      <a:rPr lang="en-AU" altLang="zh-CN" b="0" i="1" dirty="0" smtClean="0">
                        <a:latin typeface="Cambria Math" panose="02040503050406030204" pitchFamily="18" charset="0"/>
                      </a:rPr>
                      <m:t>𝑎</m:t>
                    </m:r>
                  </m:oMath>
                </a14:m>
                <a:r>
                  <a:rPr lang="zh-CN" altLang="en-US" dirty="0"/>
                  <a:t>。</a:t>
                </a:r>
                <a:endParaRPr lang="en-US" altLang="zh-CN" dirty="0"/>
              </a:p>
              <a:p>
                <a:r>
                  <a:rPr lang="zh-CN" altLang="en-US" dirty="0"/>
                  <a:t>对于</a:t>
                </a:r>
                <a14:m>
                  <m:oMath xmlns:m="http://schemas.openxmlformats.org/officeDocument/2006/math">
                    <m:r>
                      <a:rPr lang="en-US" altLang="zh-CN" i="1" dirty="0">
                        <a:latin typeface="Cambria Math" panose="02040503050406030204" pitchFamily="18" charset="0"/>
                      </a:rPr>
                      <m:t>𝐴</m:t>
                    </m:r>
                    <m:r>
                      <a:rPr lang="en-US" altLang="zh-CN" i="1" dirty="0">
                        <a:latin typeface="Cambria Math" panose="02040503050406030204" pitchFamily="18" charset="0"/>
                      </a:rPr>
                      <m:t> → </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i="1" dirty="0">
                            <a:latin typeface="Cambria Math" panose="02040503050406030204" pitchFamily="18" charset="0"/>
                          </a:rPr>
                          <m:t>1</m:t>
                        </m:r>
                      </m:sub>
                    </m:sSub>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i="1" dirty="0">
                            <a:latin typeface="Cambria Math" panose="02040503050406030204" pitchFamily="18" charset="0"/>
                          </a:rPr>
                          <m:t>2</m:t>
                        </m:r>
                      </m:sub>
                    </m:sSub>
                    <m:r>
                      <a:rPr lang="en-AU"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i="1" dirty="0">
                            <a:latin typeface="Cambria Math" panose="02040503050406030204" pitchFamily="18" charset="0"/>
                          </a:rPr>
                          <m:t>𝑚</m:t>
                        </m:r>
                      </m:sub>
                    </m:sSub>
                    <m:r>
                      <a:rPr lang="en-US" altLang="zh-CN" i="1" dirty="0">
                        <a:latin typeface="Cambria Math" panose="02040503050406030204" pitchFamily="18" charset="0"/>
                      </a:rPr>
                      <m:t>(</m:t>
                    </m:r>
                    <m:r>
                      <a:rPr lang="en-US" altLang="zh-CN" i="1" dirty="0">
                        <a:latin typeface="Cambria Math" panose="02040503050406030204" pitchFamily="18" charset="0"/>
                      </a:rPr>
                      <m:t>𝑚</m:t>
                    </m:r>
                    <m:r>
                      <a:rPr lang="en-US" altLang="zh-CN" i="1" dirty="0">
                        <a:latin typeface="Cambria Math" panose="02040503050406030204" pitchFamily="18" charset="0"/>
                      </a:rPr>
                      <m:t> ≥ </m:t>
                    </m:r>
                    <m:r>
                      <a:rPr lang="en-US" altLang="zh-CN" i="1" dirty="0">
                        <a:latin typeface="Cambria Math" panose="02040503050406030204" pitchFamily="18" charset="0"/>
                      </a:rPr>
                      <m:t>2</m:t>
                    </m:r>
                    <m:r>
                      <a:rPr lang="en-US" altLang="zh-CN" i="1" dirty="0">
                        <a:latin typeface="Cambria Math" panose="02040503050406030204" pitchFamily="18" charset="0"/>
                      </a:rPr>
                      <m:t>)</m:t>
                    </m:r>
                  </m:oMath>
                </a14:m>
                <a:r>
                  <a:rPr lang="zh-CN" altLang="en-US" dirty="0"/>
                  <a:t>，引入新变元</a:t>
                </a:r>
                <a14:m>
                  <m:oMath xmlns:m="http://schemas.openxmlformats.org/officeDocument/2006/math">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𝐷</m:t>
                        </m:r>
                      </m:e>
                      <m:sub>
                        <m:r>
                          <a:rPr lang="en-AU"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𝐷</m:t>
                        </m:r>
                      </m:e>
                      <m:sub>
                        <m:r>
                          <a:rPr lang="en-AU" altLang="zh-CN" b="0" i="1" dirty="0" smtClean="0">
                            <a:latin typeface="Cambria Math" panose="02040503050406030204" pitchFamily="18" charset="0"/>
                          </a:rPr>
                          <m:t>2</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𝐷</m:t>
                        </m:r>
                      </m:e>
                      <m:sub>
                        <m:r>
                          <a:rPr lang="en-AU" altLang="zh-CN" b="0" i="1" dirty="0" smtClean="0">
                            <a:latin typeface="Cambria Math" panose="02040503050406030204" pitchFamily="18" charset="0"/>
                          </a:rPr>
                          <m:t>𝑚</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2</m:t>
                        </m:r>
                      </m:sub>
                    </m:sSub>
                  </m:oMath>
                </a14:m>
                <a:r>
                  <a:rPr lang="en-US" altLang="zh-CN" dirty="0"/>
                  <a:t>, </a:t>
                </a:r>
                <a:r>
                  <a:rPr lang="zh-CN" altLang="en-US" dirty="0"/>
                  <a:t>将其替换为一组级联产生式</a:t>
                </a:r>
                <a:endParaRPr lang="zh-CN" altLang="en-US" dirty="0"/>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i="1" dirty="0">
                              <a:latin typeface="Cambria Math" panose="02040503050406030204" pitchFamily="18" charset="0"/>
                            </a:rPr>
                            <m:t>1</m:t>
                          </m:r>
                        </m:sub>
                      </m:sSub>
                      <m:sSub>
                        <m:sSubPr>
                          <m:ctrlPr>
                            <a:rPr lang="en-US" altLang="zh-CN" i="1" dirty="0">
                              <a:latin typeface="Cambria Math" panose="02040503050406030204" pitchFamily="18" charset="0"/>
                            </a:rPr>
                          </m:ctrlPr>
                        </m:sSubPr>
                        <m:e>
                          <m:r>
                            <a:rPr lang="en-AU" altLang="zh-CN" b="0" i="1" dirty="0" smtClean="0">
                              <a:latin typeface="Cambria Math" panose="02040503050406030204" pitchFamily="18" charset="0"/>
                            </a:rPr>
                            <m:t>𝐷</m:t>
                          </m:r>
                        </m:e>
                        <m:sub>
                          <m:r>
                            <a:rPr lang="en-AU" altLang="zh-CN" i="1" dirty="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b="0" i="1" dirty="0" smtClean="0">
                              <a:latin typeface="Cambria Math" panose="02040503050406030204" pitchFamily="18" charset="0"/>
                            </a:rPr>
                            <m:t> </m:t>
                          </m:r>
                          <m:r>
                            <a:rPr lang="en-AU" altLang="zh-CN" b="0" i="1" dirty="0" smtClean="0">
                              <a:latin typeface="Cambria Math" panose="02040503050406030204" pitchFamily="18" charset="0"/>
                            </a:rPr>
                            <m:t>𝐷</m:t>
                          </m:r>
                        </m:e>
                        <m:sub>
                          <m:r>
                            <a:rPr lang="en-AU" altLang="zh-CN" i="1" dirty="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b="0" i="1" dirty="0" smtClean="0">
                              <a:latin typeface="Cambria Math" panose="02040503050406030204" pitchFamily="18" charset="0"/>
                            </a:rPr>
                            <m:t>2</m:t>
                          </m:r>
                        </m:sub>
                      </m:sSub>
                      <m:sSub>
                        <m:sSubPr>
                          <m:ctrlPr>
                            <a:rPr lang="en-US" altLang="zh-CN" i="1" dirty="0">
                              <a:latin typeface="Cambria Math" panose="02040503050406030204" pitchFamily="18" charset="0"/>
                            </a:rPr>
                          </m:ctrlPr>
                        </m:sSubPr>
                        <m:e>
                          <m:r>
                            <a:rPr lang="en-AU" altLang="zh-CN" b="0" i="1" dirty="0" smtClean="0">
                              <a:latin typeface="Cambria Math" panose="02040503050406030204" pitchFamily="18" charset="0"/>
                            </a:rPr>
                            <m:t>𝐷</m:t>
                          </m:r>
                        </m:e>
                        <m:sub>
                          <m:r>
                            <a:rPr lang="en-AU" altLang="zh-CN" b="0" i="1" dirty="0" smtClean="0">
                              <a:latin typeface="Cambria Math" panose="02040503050406030204" pitchFamily="18" charset="0"/>
                            </a:rPr>
                            <m:t>2</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AU" altLang="zh-CN" b="0" i="1" dirty="0" smtClean="0">
                              <a:latin typeface="Cambria Math" panose="02040503050406030204" pitchFamily="18" charset="0"/>
                            </a:rPr>
                            <m:t>𝐷</m:t>
                          </m:r>
                        </m:e>
                        <m:sub>
                          <m:r>
                            <a:rPr lang="en-AU" altLang="zh-CN" b="0" i="1" dirty="0" smtClean="0">
                              <a:latin typeface="Cambria Math" panose="02040503050406030204" pitchFamily="18" charset="0"/>
                            </a:rPr>
                            <m:t>𝑚</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2</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b="0" i="1" dirty="0" smtClean="0">
                              <a:latin typeface="Cambria Math" panose="02040503050406030204" pitchFamily="18" charset="0"/>
                            </a:rPr>
                            <m:t>𝑚</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1</m:t>
                          </m:r>
                        </m:sub>
                      </m:sSub>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𝐵</m:t>
                          </m:r>
                        </m:e>
                        <m:sub>
                          <m:r>
                            <a:rPr lang="en-AU" altLang="zh-CN" b="0" i="1" dirty="0" smtClean="0">
                              <a:latin typeface="Cambria Math" panose="02040503050406030204" pitchFamily="18" charset="0"/>
                            </a:rPr>
                            <m:t>𝑚</m:t>
                          </m:r>
                        </m:sub>
                      </m:sSub>
                    </m:oMath>
                  </m:oMathPara>
                </a14:m>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011336"/>
                <a:ext cx="8229600" cy="4525963"/>
              </a:xfrm>
              <a:blipFill rotWithShape="1">
                <a:blip r:embed="rId1"/>
                <a:stretch>
                  <a:fillRect t="-9" b="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5" name="TextBox 4"/>
              <p:cNvSpPr txBox="1"/>
              <p:nvPr/>
            </p:nvSpPr>
            <p:spPr>
              <a:xfrm>
                <a:off x="685800" y="5348785"/>
                <a:ext cx="7341963" cy="1200329"/>
              </a:xfrm>
              <a:prstGeom prst="rect">
                <a:avLst/>
              </a:prstGeom>
              <a:solidFill>
                <a:schemeClr val="accent3">
                  <a:lumMod val="20000"/>
                  <a:lumOff val="80000"/>
                </a:schemeClr>
              </a:solidFill>
            </p:spPr>
            <p:txBody>
              <a:bodyPr wrap="square" rtlCol="0">
                <a:spAutoFit/>
              </a:bodyPr>
              <a:lstStyle/>
              <a:p>
                <a:r>
                  <a:rPr lang="zh-CN" altLang="en-US" sz="2400" dirty="0">
                    <a:latin typeface="楷体" panose="02010609060101010101" pitchFamily="49" charset="-122"/>
                    <a:ea typeface="楷体" panose="02010609060101010101" pitchFamily="49" charset="-122"/>
                  </a:rPr>
                  <a:t>即先把</a:t>
                </a:r>
                <a14:m>
                  <m:oMath xmlns:m="http://schemas.openxmlformats.org/officeDocument/2006/math">
                    <m:sSub>
                      <m:sSubPr>
                        <m:ctrlPr>
                          <a:rPr lang="en-US" altLang="zh-CN" sz="2400" i="1" dirty="0" smtClean="0">
                            <a:latin typeface="Cambria Math" panose="02040503050406030204" pitchFamily="18" charset="0"/>
                          </a:rPr>
                        </m:ctrlPr>
                      </m:sSubPr>
                      <m:e>
                        <m:r>
                          <a:rPr lang="en-AU" altLang="zh-CN" sz="2400" b="0" i="1" dirty="0" smtClean="0">
                            <a:latin typeface="Cambria Math" panose="02040503050406030204" pitchFamily="18" charset="0"/>
                          </a:rPr>
                          <m:t>𝐵</m:t>
                        </m:r>
                      </m:e>
                      <m:sub>
                        <m:r>
                          <a:rPr lang="en-AU" altLang="zh-CN" sz="2400" b="0" i="1" dirty="0" smtClean="0">
                            <a:latin typeface="Cambria Math" panose="02040503050406030204" pitchFamily="18" charset="0"/>
                          </a:rPr>
                          <m:t>1</m:t>
                        </m:r>
                      </m:sub>
                    </m:sSub>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𝐵</m:t>
                        </m:r>
                      </m:e>
                      <m:sub>
                        <m:r>
                          <a:rPr lang="en-AU" altLang="zh-CN" sz="2400" b="0" i="1" dirty="0" smtClean="0">
                            <a:latin typeface="Cambria Math" panose="02040503050406030204" pitchFamily="18" charset="0"/>
                          </a:rPr>
                          <m:t>2</m:t>
                        </m:r>
                      </m:sub>
                    </m:sSub>
                    <m:r>
                      <a:rPr lang="en-AU" altLang="zh-CN" sz="2400" i="1" dirty="0" smtClean="0">
                        <a:latin typeface="Cambria Math" panose="02040503050406030204" pitchFamily="18" charset="0"/>
                        <a:ea typeface="Cambria Math" panose="02040503050406030204" pitchFamily="18" charset="0"/>
                      </a:rPr>
                      <m:t>⋯</m:t>
                    </m:r>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𝐵</m:t>
                        </m:r>
                      </m:e>
                      <m:sub>
                        <m:r>
                          <a:rPr lang="en-AU" altLang="zh-CN" sz="2400" b="0" i="1" dirty="0" smtClean="0">
                            <a:latin typeface="Cambria Math" panose="02040503050406030204" pitchFamily="18" charset="0"/>
                          </a:rPr>
                          <m:t>𝑚</m:t>
                        </m:r>
                      </m:sub>
                    </m:sSub>
                  </m:oMath>
                </a14:m>
                <a:r>
                  <a:rPr lang="zh-CN" altLang="en-US" sz="2400" dirty="0">
                    <a:latin typeface="楷体" panose="02010609060101010101" pitchFamily="49" charset="-122"/>
                    <a:ea typeface="楷体" panose="02010609060101010101" pitchFamily="49" charset="-122"/>
                  </a:rPr>
                  <a:t>划分为两部分</a:t>
                </a:r>
                <a:r>
                  <a:rPr lang="en-AU"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 </a:t>
                </a:r>
                <a14:m>
                  <m:oMath xmlns:m="http://schemas.openxmlformats.org/officeDocument/2006/math">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𝐵</m:t>
                        </m:r>
                      </m:e>
                      <m:sub>
                        <m:r>
                          <a:rPr lang="en-AU" altLang="zh-CN" sz="2400" i="1" dirty="0">
                            <a:latin typeface="Cambria Math" panose="02040503050406030204" pitchFamily="18" charset="0"/>
                          </a:rPr>
                          <m:t>1</m:t>
                        </m:r>
                      </m:sub>
                    </m:sSub>
                  </m:oMath>
                </a14:m>
                <a:r>
                  <a:rPr lang="zh-CN" altLang="en-US" sz="2400" dirty="0">
                    <a:latin typeface="楷体" panose="02010609060101010101" pitchFamily="49" charset="-122"/>
                    <a:ea typeface="楷体" panose="02010609060101010101" pitchFamily="49" charset="-122"/>
                  </a:rPr>
                  <a:t>和</a:t>
                </a:r>
                <a14:m>
                  <m:oMath xmlns:m="http://schemas.openxmlformats.org/officeDocument/2006/math">
                    <m:sSub>
                      <m:sSubPr>
                        <m:ctrlPr>
                          <a:rPr lang="en-US" altLang="zh-CN" sz="2400" i="1" dirty="0">
                            <a:latin typeface="Cambria Math" panose="02040503050406030204" pitchFamily="18" charset="0"/>
                          </a:rPr>
                        </m:ctrlPr>
                      </m:sSubPr>
                      <m:e>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𝐷</m:t>
                            </m:r>
                          </m:e>
                          <m:sub>
                            <m:r>
                              <a:rPr lang="en-AU" altLang="zh-CN" sz="2400" i="1" dirty="0">
                                <a:latin typeface="Cambria Math" panose="02040503050406030204" pitchFamily="18" charset="0"/>
                              </a:rPr>
                              <m:t>1</m:t>
                            </m:r>
                          </m:sub>
                        </m:sSub>
                        <m:r>
                          <a:rPr lang="en-AU" altLang="zh-CN" sz="2400" b="0" i="1" dirty="0" smtClean="0">
                            <a:latin typeface="Cambria Math" panose="02040503050406030204" pitchFamily="18" charset="0"/>
                          </a:rPr>
                          <m:t>: </m:t>
                        </m:r>
                        <m:r>
                          <a:rPr lang="en-AU" altLang="zh-CN" sz="2400" i="1" dirty="0">
                            <a:latin typeface="Cambria Math" panose="02040503050406030204" pitchFamily="18" charset="0"/>
                          </a:rPr>
                          <m:t>𝐵</m:t>
                        </m:r>
                      </m:e>
                      <m:sub>
                        <m:r>
                          <a:rPr lang="en-AU" altLang="zh-CN" sz="2400" i="1" dirty="0">
                            <a:latin typeface="Cambria Math" panose="02040503050406030204" pitchFamily="18" charset="0"/>
                          </a:rPr>
                          <m:t>2</m:t>
                        </m:r>
                      </m:sub>
                    </m:sSub>
                    <m:r>
                      <a:rPr lang="en-AU" altLang="zh-CN" sz="2400" i="1" dirty="0">
                        <a:latin typeface="Cambria Math" panose="02040503050406030204" pitchFamily="18" charset="0"/>
                        <a:ea typeface="Cambria Math" panose="02040503050406030204" pitchFamily="18" charset="0"/>
                      </a:rPr>
                      <m:t>⋯</m:t>
                    </m:r>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𝐵</m:t>
                        </m:r>
                      </m:e>
                      <m:sub>
                        <m:r>
                          <a:rPr lang="en-AU" altLang="zh-CN" sz="2400" i="1" dirty="0">
                            <a:latin typeface="Cambria Math" panose="02040503050406030204" pitchFamily="18" charset="0"/>
                          </a:rPr>
                          <m:t>𝑚</m:t>
                        </m:r>
                      </m:sub>
                    </m:sSub>
                  </m:oMath>
                </a14:m>
                <a:r>
                  <a:rPr lang="en-AU"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然后</a:t>
                </a:r>
                <a14:m>
                  <m:oMath xmlns:m="http://schemas.openxmlformats.org/officeDocument/2006/math">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𝐷</m:t>
                        </m:r>
                      </m:e>
                      <m:sub>
                        <m:r>
                          <a:rPr lang="en-AU" altLang="zh-CN" sz="2400" i="1" dirty="0">
                            <a:latin typeface="Cambria Math" panose="02040503050406030204" pitchFamily="18" charset="0"/>
                          </a:rPr>
                          <m:t>1</m:t>
                        </m:r>
                      </m:sub>
                    </m:sSub>
                  </m:oMath>
                </a14:m>
                <a:r>
                  <a:rPr lang="zh-CN" altLang="en-US" sz="2400" dirty="0">
                    <a:latin typeface="楷体" panose="02010609060101010101" pitchFamily="49" charset="-122"/>
                    <a:ea typeface="楷体" panose="02010609060101010101" pitchFamily="49" charset="-122"/>
                  </a:rPr>
                  <a:t>又可以划分为两部分</a:t>
                </a:r>
                <a14:m>
                  <m:oMath xmlns:m="http://schemas.openxmlformats.org/officeDocument/2006/math">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𝐵</m:t>
                        </m:r>
                      </m:e>
                      <m:sub>
                        <m:r>
                          <a:rPr lang="en-AU" altLang="zh-CN" sz="2400" b="0" i="1" dirty="0" smtClean="0">
                            <a:latin typeface="Cambria Math" panose="02040503050406030204" pitchFamily="18" charset="0"/>
                          </a:rPr>
                          <m:t>2</m:t>
                        </m:r>
                      </m:sub>
                    </m:sSub>
                  </m:oMath>
                </a14:m>
                <a:r>
                  <a:rPr lang="zh-CN" altLang="en-US" sz="2400" dirty="0">
                    <a:latin typeface="楷体" panose="02010609060101010101" pitchFamily="49" charset="-122"/>
                    <a:ea typeface="楷体" panose="02010609060101010101" pitchFamily="49" charset="-122"/>
                  </a:rPr>
                  <a:t>和</a:t>
                </a:r>
                <a14:m>
                  <m:oMath xmlns:m="http://schemas.openxmlformats.org/officeDocument/2006/math">
                    <m:sSub>
                      <m:sSubPr>
                        <m:ctrlPr>
                          <a:rPr lang="en-US" altLang="zh-CN" sz="2400" i="1" dirty="0">
                            <a:latin typeface="Cambria Math" panose="02040503050406030204" pitchFamily="18" charset="0"/>
                          </a:rPr>
                        </m:ctrlPr>
                      </m:sSubPr>
                      <m:e>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𝐷</m:t>
                            </m:r>
                          </m:e>
                          <m:sub>
                            <m:r>
                              <a:rPr lang="en-AU" altLang="zh-CN" sz="2400" b="0" i="1" dirty="0" smtClean="0">
                                <a:latin typeface="Cambria Math" panose="02040503050406030204" pitchFamily="18" charset="0"/>
                              </a:rPr>
                              <m:t>2</m:t>
                            </m:r>
                          </m:sub>
                        </m:sSub>
                        <m:r>
                          <a:rPr lang="en-AU" altLang="zh-CN" sz="2400" i="1" dirty="0">
                            <a:latin typeface="Cambria Math" panose="02040503050406030204" pitchFamily="18" charset="0"/>
                          </a:rPr>
                          <m:t>: </m:t>
                        </m:r>
                        <m:r>
                          <a:rPr lang="en-AU" altLang="zh-CN" sz="2400" i="1" dirty="0">
                            <a:latin typeface="Cambria Math" panose="02040503050406030204" pitchFamily="18" charset="0"/>
                          </a:rPr>
                          <m:t>𝐵</m:t>
                        </m:r>
                      </m:e>
                      <m:sub>
                        <m:r>
                          <a:rPr lang="en-AU" altLang="zh-CN" sz="2400" b="0" i="1" dirty="0" smtClean="0">
                            <a:latin typeface="Cambria Math" panose="02040503050406030204" pitchFamily="18" charset="0"/>
                          </a:rPr>
                          <m:t>3</m:t>
                        </m:r>
                      </m:sub>
                    </m:sSub>
                    <m:r>
                      <a:rPr lang="en-AU" altLang="zh-CN" sz="2400" i="1" dirty="0">
                        <a:latin typeface="Cambria Math" panose="02040503050406030204" pitchFamily="18" charset="0"/>
                        <a:ea typeface="Cambria Math" panose="02040503050406030204" pitchFamily="18" charset="0"/>
                      </a:rPr>
                      <m:t>⋯</m:t>
                    </m:r>
                    <m:sSub>
                      <m:sSubPr>
                        <m:ctrlPr>
                          <a:rPr lang="en-US" altLang="zh-CN" sz="2400" i="1" dirty="0">
                            <a:latin typeface="Cambria Math" panose="02040503050406030204" pitchFamily="18" charset="0"/>
                          </a:rPr>
                        </m:ctrlPr>
                      </m:sSubPr>
                      <m:e>
                        <m:r>
                          <a:rPr lang="en-AU" altLang="zh-CN" sz="2400" i="1" dirty="0">
                            <a:latin typeface="Cambria Math" panose="02040503050406030204" pitchFamily="18" charset="0"/>
                          </a:rPr>
                          <m:t>𝐵</m:t>
                        </m:r>
                      </m:e>
                      <m:sub>
                        <m:r>
                          <a:rPr lang="en-AU" altLang="zh-CN" sz="2400" i="1" dirty="0">
                            <a:latin typeface="Cambria Math" panose="02040503050406030204" pitchFamily="18" charset="0"/>
                          </a:rPr>
                          <m:t>𝑚</m:t>
                        </m:r>
                      </m:sub>
                    </m:sSub>
                  </m:oMath>
                </a14:m>
                <a:r>
                  <a:rPr lang="zh-CN" altLang="en-US" sz="2400" dirty="0">
                    <a:latin typeface="楷体" panose="02010609060101010101" pitchFamily="49" charset="-122"/>
                    <a:ea typeface="楷体" panose="02010609060101010101" pitchFamily="49" charset="-122"/>
                  </a:rPr>
                  <a:t>，依次类推。</a:t>
                </a:r>
                <a:endParaRPr lang="en-US" altLang="zh-CN" sz="2400" dirty="0">
                  <a:latin typeface="楷体" panose="02010609060101010101" pitchFamily="49" charset="-122"/>
                  <a:ea typeface="楷体" panose="02010609060101010101" pitchFamily="49" charset="-122"/>
                </a:endParaRPr>
              </a:p>
              <a:p>
                <a:r>
                  <a:rPr lang="zh-CN" altLang="en-US" sz="2400" dirty="0">
                    <a:solidFill>
                      <a:srgbClr val="FF0000"/>
                    </a:solidFill>
                  </a:rPr>
                  <a:t>利用</a:t>
                </a:r>
                <a:r>
                  <a:rPr lang="en-AU" altLang="zh-CN" sz="2400" dirty="0">
                    <a:solidFill>
                      <a:srgbClr val="FF0000"/>
                    </a:solidFill>
                    <a:latin typeface="Times New Roman" panose="02020603050405020304" pitchFamily="18" charset="0"/>
                    <a:cs typeface="Times New Roman" panose="02020603050405020304" pitchFamily="18" charset="0"/>
                  </a:rPr>
                  <a:t>CNF</a:t>
                </a:r>
                <a:r>
                  <a:rPr lang="zh-CN" altLang="en-US" sz="2400" dirty="0">
                    <a:solidFill>
                      <a:srgbClr val="FF0000"/>
                    </a:solidFill>
                  </a:rPr>
                  <a:t>派生长度为</a:t>
                </a:r>
                <a14:m>
                  <m:oMath xmlns:m="http://schemas.openxmlformats.org/officeDocument/2006/math">
                    <m:r>
                      <a:rPr lang="en-AU" altLang="zh-CN" sz="2400" i="1" dirty="0">
                        <a:solidFill>
                          <a:srgbClr val="FF0000"/>
                        </a:solidFill>
                        <a:latin typeface="Cambria Math" panose="02040503050406030204" pitchFamily="18" charset="0"/>
                      </a:rPr>
                      <m:t>𝑛</m:t>
                    </m:r>
                  </m:oMath>
                </a14:m>
                <a:r>
                  <a:rPr lang="zh-CN" altLang="en-US" sz="2400" dirty="0">
                    <a:solidFill>
                      <a:srgbClr val="FF0000"/>
                    </a:solidFill>
                  </a:rPr>
                  <a:t>的串，刚好需要</a:t>
                </a:r>
                <a14:m>
                  <m:oMath xmlns:m="http://schemas.openxmlformats.org/officeDocument/2006/math">
                    <m:r>
                      <a:rPr lang="en-AU" altLang="zh-CN" sz="2400" i="1" dirty="0">
                        <a:solidFill>
                          <a:srgbClr val="FF0000"/>
                        </a:solidFill>
                        <a:latin typeface="Cambria Math" panose="02040503050406030204" pitchFamily="18" charset="0"/>
                      </a:rPr>
                      <m:t>2</m:t>
                    </m:r>
                    <m:r>
                      <a:rPr lang="en-AU" altLang="zh-CN" sz="2400" i="1" dirty="0">
                        <a:solidFill>
                          <a:srgbClr val="FF0000"/>
                        </a:solidFill>
                        <a:latin typeface="Cambria Math" panose="02040503050406030204" pitchFamily="18" charset="0"/>
                      </a:rPr>
                      <m:t>𝑛</m:t>
                    </m:r>
                    <m:r>
                      <a:rPr lang="en-AU" altLang="zh-CN" sz="2400" i="1" dirty="0">
                        <a:solidFill>
                          <a:srgbClr val="FF0000"/>
                        </a:solidFill>
                        <a:latin typeface="Cambria Math" panose="02040503050406030204" pitchFamily="18" charset="0"/>
                      </a:rPr>
                      <m:t>−</m:t>
                    </m:r>
                    <m:r>
                      <a:rPr lang="en-AU" altLang="zh-CN" sz="2400" i="1" dirty="0">
                        <a:solidFill>
                          <a:srgbClr val="FF0000"/>
                        </a:solidFill>
                        <a:latin typeface="Cambria Math" panose="02040503050406030204" pitchFamily="18" charset="0"/>
                      </a:rPr>
                      <m:t>1</m:t>
                    </m:r>
                  </m:oMath>
                </a14:m>
                <a:r>
                  <a:rPr lang="zh-CN" altLang="en-US" sz="2400" dirty="0">
                    <a:solidFill>
                      <a:srgbClr val="FF0000"/>
                    </a:solidFill>
                  </a:rPr>
                  <a:t>步。</a:t>
                </a:r>
                <a:endParaRPr lang="en-AU" altLang="zh-CN" sz="2400" dirty="0">
                  <a:solidFill>
                    <a:srgbClr val="FF0000"/>
                  </a:solidFill>
                </a:endParaRPr>
              </a:p>
            </p:txBody>
          </p:sp>
        </mc:Choice>
        <mc:Fallback>
          <p:sp>
            <p:nvSpPr>
              <p:cNvPr id="5" name="TextBox 4"/>
              <p:cNvSpPr txBox="1">
                <a:spLocks noRot="1" noChangeAspect="1" noMove="1" noResize="1" noEditPoints="1" noAdjustHandles="1" noChangeArrowheads="1" noChangeShapeType="1" noTextEdit="1"/>
              </p:cNvSpPr>
              <p:nvPr/>
            </p:nvSpPr>
            <p:spPr>
              <a:xfrm>
                <a:off x="685800" y="5348785"/>
                <a:ext cx="7341963" cy="1200329"/>
              </a:xfrm>
              <a:prstGeom prst="rect">
                <a:avLst/>
              </a:prstGeom>
              <a:blipFill rotWithShape="1">
                <a:blip r:embed="rId2"/>
                <a:stretch>
                  <a:fillRect t="-15" r="-2689" b="30"/>
                </a:stretch>
              </a:blipFill>
            </p:spPr>
            <p:txBody>
              <a:bodyPr/>
              <a:lstStyle/>
              <a:p>
                <a:r>
                  <a:rPr lang="zh-CN" altLang="en-US">
                    <a:noFill/>
                  </a:rPr>
                  <a:t> </a:t>
                </a:r>
              </a:p>
            </p:txBody>
          </p:sp>
        </mc:Fallback>
      </mc:AlternateContent>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CFG</a:t>
            </a:r>
            <a:r>
              <a:rPr lang="zh-CN" altLang="en-US" dirty="0"/>
              <a:t>转为</a:t>
            </a:r>
            <a:r>
              <a:rPr lang="en-AU" altLang="zh-CN" dirty="0">
                <a:latin typeface="Times New Roman" panose="02020603050405020304" pitchFamily="18" charset="0"/>
                <a:cs typeface="Times New Roman" panose="02020603050405020304" pitchFamily="18" charset="0"/>
              </a:rPr>
              <a:t>CNF</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166018"/>
                <a:ext cx="8229600" cy="4525963"/>
              </a:xfrm>
            </p:spPr>
            <p:txBody>
              <a:bodyPr>
                <a:normAutofit fontScale="85000" lnSpcReduction="10000"/>
              </a:bodyPr>
              <a:lstStyle/>
              <a:p>
                <a:r>
                  <a:rPr lang="zh-CN" altLang="en-US" dirty="0"/>
                  <a:t>例</a:t>
                </a:r>
                <a:r>
                  <a:rPr lang="en-AU" altLang="zh-CN" dirty="0"/>
                  <a:t>:</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𝑎</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𝑏</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oMath>
                </a14:m>
                <a:r>
                  <a:rPr lang="en-AU" altLang="zh-CN" dirty="0"/>
                  <a:t>, </a:t>
                </a:r>
                <a:r>
                  <a:rPr lang="zh-CN" altLang="en-US" dirty="0"/>
                  <a:t>产生式集合 </a:t>
                </a:r>
                <a14:m>
                  <m:oMath xmlns:m="http://schemas.openxmlformats.org/officeDocument/2006/math">
                    <m:r>
                      <a:rPr lang="en-AU" altLang="zh-CN" i="1" dirty="0" smtClean="0">
                        <a:latin typeface="Cambria Math" panose="02040503050406030204" pitchFamily="18" charset="0"/>
                      </a:rPr>
                      <m:t>𝑃</m:t>
                    </m:r>
                  </m:oMath>
                </a14:m>
                <a:r>
                  <a:rPr lang="zh-CN" altLang="en-US" dirty="0"/>
                  <a:t>为</a:t>
                </a:r>
                <a:r>
                  <a:rPr lang="en-US" altLang="zh-CN" dirty="0"/>
                  <a:t>:</a:t>
                </a:r>
                <a:endParaRPr lang="en-AU" altLang="zh-C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r>
                        <a:rPr lang="en-US" altLang="zh-CN" i="1" dirty="0" err="1">
                          <a:latin typeface="Cambria Math" panose="02040503050406030204" pitchFamily="18" charset="0"/>
                        </a:rPr>
                        <m:t>𝑏𝐴</m:t>
                      </m:r>
                      <m:r>
                        <a:rPr lang="en-US" altLang="zh-CN" i="1" dirty="0">
                          <a:latin typeface="Cambria Math" panose="02040503050406030204" pitchFamily="18" charset="0"/>
                        </a:rPr>
                        <m:t>|</m:t>
                      </m:r>
                      <m:r>
                        <a:rPr lang="en-US" altLang="zh-CN" i="1" dirty="0" err="1">
                          <a:latin typeface="Cambria Math" panose="02040503050406030204" pitchFamily="18" charset="0"/>
                        </a:rPr>
                        <m:t>𝑎𝐵</m:t>
                      </m:r>
                      <m:r>
                        <a:rPr lang="en-AU" altLang="zh-CN" b="0" i="0" dirty="0" smtClean="0">
                          <a:latin typeface="Cambria Math" panose="02040503050406030204" pitchFamily="18" charset="0"/>
                        </a:rPr>
                        <m: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r>
                        <a:rPr lang="en-US" altLang="zh-CN" i="1" dirty="0" err="1">
                          <a:latin typeface="Cambria Math" panose="02040503050406030204" pitchFamily="18" charset="0"/>
                        </a:rPr>
                        <m:t>𝑏𝐴𝐴</m:t>
                      </m:r>
                      <m:r>
                        <a:rPr lang="en-US" altLang="zh-CN" i="1" dirty="0">
                          <a:latin typeface="Cambria Math" panose="02040503050406030204" pitchFamily="18" charset="0"/>
                        </a:rPr>
                        <m:t> | </m:t>
                      </m:r>
                      <m:r>
                        <a:rPr lang="en-US" altLang="zh-CN" i="1" dirty="0" err="1">
                          <a:latin typeface="Cambria Math" panose="02040503050406030204" pitchFamily="18" charset="0"/>
                        </a:rPr>
                        <m:t>𝑎𝑆</m:t>
                      </m:r>
                      <m:r>
                        <a:rPr lang="en-US" altLang="zh-CN" i="1" dirty="0">
                          <a:latin typeface="Cambria Math" panose="02040503050406030204" pitchFamily="18" charset="0"/>
                        </a:rPr>
                        <m:t> | </m:t>
                      </m:r>
                      <m:r>
                        <a:rPr lang="en-US" altLang="zh-CN" i="1" dirty="0">
                          <a:latin typeface="Cambria Math" panose="02040503050406030204" pitchFamily="18" charset="0"/>
                        </a:rPr>
                        <m:t>𝑎</m:t>
                      </m:r>
                      <m:r>
                        <a:rPr lang="en-AU" altLang="zh-CN" b="0" i="0" dirty="0" smtClean="0">
                          <a:latin typeface="Cambria Math" panose="02040503050406030204" pitchFamily="18" charset="0"/>
                        </a:rPr>
                        <m:t>, </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m:t>
                      </m:r>
                      <m:r>
                        <a:rPr lang="en-US" altLang="zh-CN" i="1" dirty="0" err="1">
                          <a:latin typeface="Cambria Math" panose="02040503050406030204" pitchFamily="18" charset="0"/>
                        </a:rPr>
                        <m:t>𝑎𝐵𝐵</m:t>
                      </m:r>
                      <m:r>
                        <a:rPr lang="en-US" altLang="zh-CN" i="1" dirty="0">
                          <a:latin typeface="Cambria Math" panose="02040503050406030204" pitchFamily="18" charset="0"/>
                        </a:rPr>
                        <m:t> | </m:t>
                      </m:r>
                      <m:r>
                        <a:rPr lang="en-US" altLang="zh-CN" i="1" dirty="0" err="1">
                          <a:latin typeface="Cambria Math" panose="02040503050406030204" pitchFamily="18" charset="0"/>
                        </a:rPr>
                        <m:t>𝑏𝑆</m:t>
                      </m:r>
                      <m:r>
                        <a:rPr lang="en-US" altLang="zh-CN" i="1" dirty="0">
                          <a:latin typeface="Cambria Math" panose="02040503050406030204" pitchFamily="18" charset="0"/>
                        </a:rPr>
                        <m:t> | </m:t>
                      </m:r>
                      <m:r>
                        <a:rPr lang="en-US" altLang="zh-CN" i="1" dirty="0">
                          <a:latin typeface="Cambria Math" panose="02040503050406030204" pitchFamily="18" charset="0"/>
                        </a:rPr>
                        <m:t>𝑏</m:t>
                      </m:r>
                    </m:oMath>
                  </m:oMathPara>
                </a14:m>
                <a:endParaRPr lang="en-AU" dirty="0"/>
              </a:p>
              <a:p>
                <a:pPr marL="0" indent="0">
                  <a:buNone/>
                </a:pPr>
                <a:r>
                  <a:rPr lang="zh-CN" altLang="en-US" dirty="0"/>
                  <a:t>设计等价的</a:t>
                </a:r>
                <a:r>
                  <a:rPr lang="en-AU" altLang="zh-CN" dirty="0">
                    <a:latin typeface="Times New Roman" panose="02020603050405020304" pitchFamily="18" charset="0"/>
                    <a:cs typeface="Times New Roman" panose="02020603050405020304" pitchFamily="18" charset="0"/>
                  </a:rPr>
                  <a:t>CNF</a:t>
                </a:r>
                <a:r>
                  <a:rPr lang="zh-CN" altLang="en-US" dirty="0"/>
                  <a:t>文法</a:t>
                </a:r>
                <a:r>
                  <a:rPr lang="en-AU" altLang="zh-CN" dirty="0"/>
                  <a:t>:</a:t>
                </a:r>
                <a:endParaRPr lang="en-AU" altLang="zh-CN" dirty="0"/>
              </a:p>
              <a:p>
                <a:pPr marL="0" indent="0">
                  <a:buNone/>
                </a:pPr>
                <a:r>
                  <a:rPr lang="zh-CN" altLang="en-US" dirty="0"/>
                  <a:t>替换终结符</a:t>
                </a:r>
                <a:r>
                  <a:rPr lang="en-AU" altLang="zh-CN" dirty="0"/>
                  <a:t>:</a:t>
                </a:r>
                <a:r>
                  <a:rPr lang="en-US" altLang="zh-CN" dirty="0"/>
                  <a:t> </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dirty="0" smtClean="0">
                              <a:solidFill>
                                <a:srgbClr val="00B050"/>
                              </a:solidFill>
                              <a:latin typeface="Cambria Math" panose="02040503050406030204" pitchFamily="18" charset="0"/>
                            </a:rPr>
                          </m:ctrlPr>
                        </m:sSubPr>
                        <m:e>
                          <m:r>
                            <a:rPr lang="en-AU" altLang="zh-CN" i="1" dirty="0">
                              <a:solidFill>
                                <a:srgbClr val="00B050"/>
                              </a:solidFill>
                              <a:latin typeface="Cambria Math" panose="02040503050406030204" pitchFamily="18" charset="0"/>
                            </a:rPr>
                            <m:t>𝐶</m:t>
                          </m:r>
                        </m:e>
                        <m:sub>
                          <m:r>
                            <a:rPr lang="en-AU" altLang="zh-CN" i="1" dirty="0">
                              <a:solidFill>
                                <a:srgbClr val="00B050"/>
                              </a:solidFill>
                              <a:latin typeface="Cambria Math" panose="02040503050406030204" pitchFamily="18" charset="0"/>
                            </a:rPr>
                            <m:t>𝑏</m:t>
                          </m:r>
                        </m:sub>
                      </m:sSub>
                      <m:r>
                        <a:rPr lang="en-US" altLang="zh-CN" i="1" dirty="0">
                          <a:solidFill>
                            <a:srgbClr val="00B050"/>
                          </a:solidFill>
                          <a:latin typeface="Cambria Math" panose="02040503050406030204" pitchFamily="18" charset="0"/>
                        </a:rPr>
                        <m:t>→</m:t>
                      </m:r>
                      <m:r>
                        <a:rPr lang="en-AU" altLang="zh-CN" b="0" i="1" dirty="0" smtClean="0">
                          <a:solidFill>
                            <a:srgbClr val="00B050"/>
                          </a:solidFill>
                          <a:latin typeface="Cambria Math" panose="02040503050406030204" pitchFamily="18" charset="0"/>
                        </a:rPr>
                        <m:t>𝑏</m:t>
                      </m:r>
                      <m:r>
                        <a:rPr lang="en-AU" altLang="zh-CN" b="0" i="1" dirty="0" smtClean="0">
                          <a:solidFill>
                            <a:srgbClr val="00B050"/>
                          </a:solidFill>
                          <a:latin typeface="Cambria Math" panose="02040503050406030204" pitchFamily="18" charset="0"/>
                        </a:rPr>
                        <m:t>,</m:t>
                      </m:r>
                      <m:sSub>
                        <m:sSubPr>
                          <m:ctrlPr>
                            <a:rPr lang="en-US" altLang="zh-CN" i="1" dirty="0">
                              <a:solidFill>
                                <a:srgbClr val="00B050"/>
                              </a:solidFill>
                              <a:latin typeface="Cambria Math" panose="02040503050406030204" pitchFamily="18" charset="0"/>
                            </a:rPr>
                          </m:ctrlPr>
                        </m:sSubPr>
                        <m:e>
                          <m:r>
                            <a:rPr lang="en-AU" altLang="zh-CN" i="1" dirty="0">
                              <a:solidFill>
                                <a:srgbClr val="00B050"/>
                              </a:solidFill>
                              <a:latin typeface="Cambria Math" panose="02040503050406030204" pitchFamily="18" charset="0"/>
                            </a:rPr>
                            <m:t>𝐶</m:t>
                          </m:r>
                        </m:e>
                        <m:sub>
                          <m:r>
                            <a:rPr lang="en-AU" altLang="zh-CN" b="0" i="1" dirty="0" smtClean="0">
                              <a:solidFill>
                                <a:srgbClr val="00B050"/>
                              </a:solidFill>
                              <a:latin typeface="Cambria Math" panose="02040503050406030204" pitchFamily="18" charset="0"/>
                            </a:rPr>
                            <m:t>𝑎</m:t>
                          </m:r>
                        </m:sub>
                      </m:sSub>
                      <m:r>
                        <a:rPr lang="en-US" altLang="zh-CN" i="1" dirty="0">
                          <a:solidFill>
                            <a:srgbClr val="00B050"/>
                          </a:solidFill>
                          <a:latin typeface="Cambria Math" panose="02040503050406030204" pitchFamily="18" charset="0"/>
                        </a:rPr>
                        <m:t>→</m:t>
                      </m:r>
                      <m:r>
                        <a:rPr lang="en-AU" altLang="zh-CN" b="0" i="1" dirty="0" smtClean="0">
                          <a:solidFill>
                            <a:srgbClr val="00B050"/>
                          </a:solidFill>
                          <a:latin typeface="Cambria Math" panose="02040503050406030204" pitchFamily="18" charset="0"/>
                        </a:rPr>
                        <m:t>𝑎</m:t>
                      </m:r>
                    </m:oMath>
                  </m:oMathPara>
                </a14:m>
                <a:endParaRPr lang="en-US" altLang="zh-CN" dirty="0"/>
              </a:p>
              <a:p>
                <a:pPr marL="0" indent="0">
                  <a:buNone/>
                </a:pP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r>
                      <a:rPr lang="en-US" altLang="zh-CN" i="1" dirty="0" smtClean="0">
                        <a:solidFill>
                          <a:schemeClr val="tx1"/>
                        </a:solidFill>
                        <a:latin typeface="Cambria Math" panose="02040503050406030204" pitchFamily="18" charset="0"/>
                      </a:rPr>
                      <m:t>𝑏</m:t>
                    </m:r>
                    <m:r>
                      <a:rPr lang="en-US" altLang="zh-CN" i="1" dirty="0" err="1">
                        <a:latin typeface="Cambria Math" panose="02040503050406030204" pitchFamily="18" charset="0"/>
                      </a:rPr>
                      <m:t>𝐴</m:t>
                    </m:r>
                    <m:r>
                      <a:rPr lang="en-US" altLang="zh-CN" i="1" dirty="0">
                        <a:latin typeface="Cambria Math" panose="02040503050406030204" pitchFamily="18" charset="0"/>
                      </a:rPr>
                      <m:t>|</m:t>
                    </m:r>
                    <m:r>
                      <a:rPr lang="en-US" altLang="zh-CN" i="1" dirty="0" smtClean="0">
                        <a:solidFill>
                          <a:schemeClr val="tx1"/>
                        </a:solidFill>
                        <a:latin typeface="Cambria Math" panose="02040503050406030204" pitchFamily="18" charset="0"/>
                      </a:rPr>
                      <m:t>𝑎</m:t>
                    </m:r>
                    <m:r>
                      <a:rPr lang="en-US" altLang="zh-CN" i="1" dirty="0" err="1">
                        <a:latin typeface="Cambria Math" panose="02040503050406030204" pitchFamily="18" charset="0"/>
                      </a:rPr>
                      <m:t>𝐵</m:t>
                    </m:r>
                  </m:oMath>
                </a14:m>
                <a:r>
                  <a:rPr lang="en-AU" altLang="zh-CN" dirty="0"/>
                  <a:t> </a:t>
                </a:r>
                <a:r>
                  <a:rPr lang="en-AU" altLang="zh-CN" b="1" dirty="0">
                    <a:solidFill>
                      <a:srgbClr val="FF0000"/>
                    </a:solidFill>
                  </a:rPr>
                  <a:t>-&gt;</a:t>
                </a:r>
                <a:r>
                  <a:rPr lang="en-US" altLang="zh-CN" dirty="0"/>
                  <a:t> </a:t>
                </a:r>
                <a14:m>
                  <m:oMath xmlns:m="http://schemas.openxmlformats.org/officeDocument/2006/math">
                    <m:r>
                      <a:rPr lang="en-US" altLang="zh-CN" i="1" dirty="0">
                        <a:latin typeface="Cambria Math" panose="02040503050406030204" pitchFamily="18" charset="0"/>
                      </a:rPr>
                      <m:t>𝑆</m:t>
                    </m:r>
                    <m:r>
                      <a:rPr lang="en-US" altLang="zh-CN" i="1" dirty="0">
                        <a:latin typeface="Cambria Math" panose="02040503050406030204" pitchFamily="18" charset="0"/>
                      </a:rPr>
                      <m:t>→</m:t>
                    </m:r>
                    <m:sSub>
                      <m:sSubPr>
                        <m:ctrlPr>
                          <a:rPr lang="en-US" altLang="zh-CN" i="1" dirty="0" smtClean="0">
                            <a:solidFill>
                              <a:srgbClr val="00B050"/>
                            </a:solidFill>
                            <a:latin typeface="Cambria Math" panose="02040503050406030204" pitchFamily="18" charset="0"/>
                          </a:rPr>
                        </m:ctrlPr>
                      </m:sSubPr>
                      <m:e>
                        <m:r>
                          <a:rPr lang="en-AU" altLang="zh-CN" b="0" i="1" dirty="0" smtClean="0">
                            <a:solidFill>
                              <a:srgbClr val="00B050"/>
                            </a:solidFill>
                            <a:latin typeface="Cambria Math" panose="02040503050406030204" pitchFamily="18" charset="0"/>
                          </a:rPr>
                          <m:t>𝐶</m:t>
                        </m:r>
                      </m:e>
                      <m:sub>
                        <m:r>
                          <a:rPr lang="en-AU" altLang="zh-CN" b="0" i="1" dirty="0" smtClean="0">
                            <a:solidFill>
                              <a:srgbClr val="00B050"/>
                            </a:solidFill>
                            <a:latin typeface="Cambria Math" panose="02040503050406030204" pitchFamily="18" charset="0"/>
                          </a:rPr>
                          <m:t>𝑏</m:t>
                        </m:r>
                      </m:sub>
                    </m:sSub>
                    <m:r>
                      <a:rPr lang="en-AU" altLang="zh-CN" b="0" i="1" dirty="0" smtClean="0">
                        <a:latin typeface="Cambria Math" panose="02040503050406030204" pitchFamily="18" charset="0"/>
                      </a:rPr>
                      <m:t>𝐴</m:t>
                    </m:r>
                    <m:r>
                      <a:rPr lang="en-US" altLang="zh-CN" i="1" dirty="0">
                        <a:latin typeface="Cambria Math" panose="02040503050406030204" pitchFamily="18" charset="0"/>
                      </a:rPr>
                      <m:t>|</m:t>
                    </m:r>
                    <m:sSub>
                      <m:sSubPr>
                        <m:ctrlPr>
                          <a:rPr lang="en-US" altLang="zh-CN" i="1" dirty="0" smtClean="0">
                            <a:solidFill>
                              <a:srgbClr val="00B050"/>
                            </a:solidFill>
                            <a:latin typeface="Cambria Math" panose="02040503050406030204" pitchFamily="18" charset="0"/>
                          </a:rPr>
                        </m:ctrlPr>
                      </m:sSubPr>
                      <m:e>
                        <m:r>
                          <a:rPr lang="en-AU" altLang="zh-CN" i="1" dirty="0">
                            <a:solidFill>
                              <a:srgbClr val="00B050"/>
                            </a:solidFill>
                            <a:latin typeface="Cambria Math" panose="02040503050406030204" pitchFamily="18" charset="0"/>
                          </a:rPr>
                          <m:t>𝐶</m:t>
                        </m:r>
                      </m:e>
                      <m:sub>
                        <m:r>
                          <a:rPr lang="en-AU" altLang="zh-CN" b="0" i="1" dirty="0" smtClean="0">
                            <a:solidFill>
                              <a:srgbClr val="00B050"/>
                            </a:solidFill>
                            <a:latin typeface="Cambria Math" panose="02040503050406030204" pitchFamily="18" charset="0"/>
                          </a:rPr>
                          <m:t>𝑎</m:t>
                        </m:r>
                      </m:sub>
                    </m:sSub>
                    <m:r>
                      <a:rPr lang="en-US" altLang="zh-CN" i="1" dirty="0" err="1">
                        <a:latin typeface="Cambria Math" panose="02040503050406030204" pitchFamily="18" charset="0"/>
                      </a:rPr>
                      <m:t>𝐵</m:t>
                    </m:r>
                  </m:oMath>
                </a14:m>
                <a:endParaRPr lang="en-AU" altLang="zh-CN" i="1" dirty="0">
                  <a:latin typeface="Cambria Math" panose="02040503050406030204" pitchFamily="18" charset="0"/>
                </a:endParaRPr>
              </a:p>
              <a:p>
                <a:pPr marL="0" indent="0">
                  <a:buNone/>
                </a:pPr>
                <a14:m>
                  <m:oMath xmlns:m="http://schemas.openxmlformats.org/officeDocument/2006/math">
                    <m:r>
                      <a:rPr lang="en-AU" altLang="zh-CN" i="1" dirty="0" smtClean="0">
                        <a:latin typeface="Cambria Math" panose="02040503050406030204" pitchFamily="18" charset="0"/>
                      </a:rPr>
                      <m:t>𝐴</m:t>
                    </m:r>
                    <m:r>
                      <a:rPr lang="en-US" altLang="zh-CN" i="1" dirty="0">
                        <a:latin typeface="Cambria Math" panose="02040503050406030204" pitchFamily="18" charset="0"/>
                      </a:rPr>
                      <m:t>→</m:t>
                    </m:r>
                    <m:r>
                      <a:rPr lang="en-AU" altLang="zh-CN" i="1" dirty="0" smtClean="0">
                        <a:latin typeface="Cambria Math" panose="02040503050406030204" pitchFamily="18" charset="0"/>
                      </a:rPr>
                      <m:t>𝑏𝐴𝐴</m:t>
                    </m:r>
                    <m:r>
                      <a:rPr lang="en-AU" altLang="zh-CN" i="1" dirty="0" smtClean="0">
                        <a:latin typeface="Cambria Math" panose="02040503050406030204" pitchFamily="18" charset="0"/>
                      </a:rPr>
                      <m:t> </m:t>
                    </m:r>
                    <m:d>
                      <m:dPr>
                        <m:begChr m:val="|"/>
                        <m:endChr m:val="|"/>
                        <m:ctrlPr>
                          <a:rPr lang="en-AU" altLang="zh-CN" i="1" dirty="0" smtClean="0">
                            <a:latin typeface="Cambria Math" panose="02040503050406030204" pitchFamily="18" charset="0"/>
                          </a:rPr>
                        </m:ctrlPr>
                      </m:dPr>
                      <m:e>
                        <m:r>
                          <a:rPr lang="en-AU" altLang="zh-CN" i="1" dirty="0" smtClean="0">
                            <a:latin typeface="Cambria Math" panose="02040503050406030204" pitchFamily="18" charset="0"/>
                          </a:rPr>
                          <m:t> </m:t>
                        </m:r>
                        <m:r>
                          <a:rPr lang="en-AU" altLang="zh-CN" i="1" dirty="0" err="1" smtClean="0">
                            <a:latin typeface="Cambria Math" panose="02040503050406030204" pitchFamily="18" charset="0"/>
                          </a:rPr>
                          <m:t>𝑎𝑆</m:t>
                        </m:r>
                        <m:r>
                          <a:rPr lang="en-AU" altLang="zh-CN" i="1" dirty="0" smtClean="0">
                            <a:latin typeface="Cambria Math" panose="02040503050406030204" pitchFamily="18" charset="0"/>
                          </a:rPr>
                          <m:t> </m:t>
                        </m:r>
                      </m:e>
                    </m:d>
                    <m:r>
                      <a:rPr lang="en-AU" altLang="zh-CN" i="1" dirty="0" err="1" smtClean="0">
                        <a:latin typeface="Cambria Math" panose="02040503050406030204" pitchFamily="18" charset="0"/>
                      </a:rPr>
                      <m:t>𝑎</m:t>
                    </m:r>
                  </m:oMath>
                </a14:m>
                <a:r>
                  <a:rPr lang="en-AU" altLang="zh-CN" b="1" dirty="0">
                    <a:solidFill>
                      <a:srgbClr val="FF0000"/>
                    </a:solidFill>
                  </a:rPr>
                  <a:t> -&gt; </a:t>
                </a:r>
                <a14:m>
                  <m:oMath xmlns:m="http://schemas.openxmlformats.org/officeDocument/2006/math">
                    <m:r>
                      <a:rPr lang="en-AU" altLang="zh-CN" i="1" dirty="0">
                        <a:latin typeface="Cambria Math" panose="02040503050406030204" pitchFamily="18" charset="0"/>
                      </a:rPr>
                      <m:t>𝐴</m:t>
                    </m:r>
                    <m:r>
                      <a:rPr lang="en-US" altLang="zh-CN" i="1" dirty="0">
                        <a:latin typeface="Cambria Math" panose="02040503050406030204" pitchFamily="18" charset="0"/>
                      </a:rPr>
                      <m:t>→</m:t>
                    </m:r>
                    <m:sSub>
                      <m:sSubPr>
                        <m:ctrlPr>
                          <a:rPr lang="en-US" altLang="zh-CN" i="1" dirty="0" smtClean="0">
                            <a:solidFill>
                              <a:srgbClr val="00B050"/>
                            </a:solidFill>
                            <a:latin typeface="Cambria Math" panose="02040503050406030204" pitchFamily="18" charset="0"/>
                          </a:rPr>
                        </m:ctrlPr>
                      </m:sSubPr>
                      <m:e>
                        <m:r>
                          <a:rPr lang="en-AU" altLang="zh-CN" i="1" dirty="0">
                            <a:solidFill>
                              <a:srgbClr val="00B050"/>
                            </a:solidFill>
                            <a:latin typeface="Cambria Math" panose="02040503050406030204" pitchFamily="18" charset="0"/>
                          </a:rPr>
                          <m:t>𝐶</m:t>
                        </m:r>
                      </m:e>
                      <m:sub>
                        <m:r>
                          <a:rPr lang="en-AU" altLang="zh-CN" i="1" dirty="0">
                            <a:solidFill>
                              <a:srgbClr val="00B050"/>
                            </a:solidFill>
                            <a:latin typeface="Cambria Math" panose="02040503050406030204" pitchFamily="18" charset="0"/>
                          </a:rPr>
                          <m:t>𝑏</m:t>
                        </m:r>
                      </m:sub>
                    </m:sSub>
                    <m:r>
                      <a:rPr lang="en-AU" altLang="zh-CN" b="0" i="1" dirty="0" smtClean="0">
                        <a:latin typeface="Cambria Math" panose="02040503050406030204" pitchFamily="18" charset="0"/>
                      </a:rPr>
                      <m:t>𝐴𝐴</m:t>
                    </m:r>
                    <m:d>
                      <m:dPr>
                        <m:begChr m:val="|"/>
                        <m:endChr m:val="|"/>
                        <m:ctrlPr>
                          <a:rPr lang="en-AU" altLang="zh-CN" i="1" dirty="0">
                            <a:latin typeface="Cambria Math" panose="02040503050406030204" pitchFamily="18" charset="0"/>
                          </a:rPr>
                        </m:ctrlPr>
                      </m:dPr>
                      <m:e>
                        <m:sSub>
                          <m:sSubPr>
                            <m:ctrlPr>
                              <a:rPr lang="en-US" altLang="zh-CN" i="1" dirty="0" smtClean="0">
                                <a:solidFill>
                                  <a:srgbClr val="00B050"/>
                                </a:solidFill>
                                <a:latin typeface="Cambria Math" panose="02040503050406030204" pitchFamily="18" charset="0"/>
                              </a:rPr>
                            </m:ctrlPr>
                          </m:sSubPr>
                          <m:e>
                            <m:r>
                              <a:rPr lang="en-AU" altLang="zh-CN" i="1" dirty="0">
                                <a:solidFill>
                                  <a:srgbClr val="00B050"/>
                                </a:solidFill>
                                <a:latin typeface="Cambria Math" panose="02040503050406030204" pitchFamily="18" charset="0"/>
                              </a:rPr>
                              <m:t>𝐶</m:t>
                            </m:r>
                          </m:e>
                          <m:sub>
                            <m:r>
                              <a:rPr lang="en-AU" altLang="zh-CN" b="0" i="1" dirty="0" smtClean="0">
                                <a:solidFill>
                                  <a:srgbClr val="00B050"/>
                                </a:solidFill>
                                <a:latin typeface="Cambria Math" panose="02040503050406030204" pitchFamily="18" charset="0"/>
                              </a:rPr>
                              <m:t>𝑎</m:t>
                            </m:r>
                          </m:sub>
                        </m:sSub>
                        <m:r>
                          <a:rPr lang="en-AU" altLang="zh-CN" b="0" i="1" dirty="0" smtClean="0">
                            <a:latin typeface="Cambria Math" panose="02040503050406030204" pitchFamily="18" charset="0"/>
                          </a:rPr>
                          <m:t>𝑆</m:t>
                        </m:r>
                      </m:e>
                    </m:d>
                    <m:r>
                      <a:rPr lang="en-AU" altLang="zh-CN" i="1" dirty="0" err="1">
                        <a:latin typeface="Cambria Math" panose="02040503050406030204" pitchFamily="18" charset="0"/>
                      </a:rPr>
                      <m:t>𝑎</m:t>
                    </m:r>
                  </m:oMath>
                </a14:m>
                <a:r>
                  <a:rPr lang="en-AU" altLang="zh-CN" b="1" dirty="0">
                    <a:solidFill>
                      <a:srgbClr val="FF0000"/>
                    </a:solidFill>
                  </a:rPr>
                  <a:t> </a:t>
                </a:r>
                <a:endParaRPr lang="en-AU" altLang="zh-CN" b="1" dirty="0">
                  <a:solidFill>
                    <a:srgbClr val="FF0000"/>
                  </a:solidFill>
                </a:endParaRPr>
              </a:p>
              <a:p>
                <a:pPr marL="0" indent="0">
                  <a:buNone/>
                </a:pPr>
                <a14:m>
                  <m:oMath xmlns:m="http://schemas.openxmlformats.org/officeDocument/2006/math">
                    <m:r>
                      <a:rPr lang="en-AU" altLang="zh-CN" b="0" i="1" dirty="0" smtClean="0">
                        <a:latin typeface="Cambria Math" panose="02040503050406030204" pitchFamily="18" charset="0"/>
                      </a:rPr>
                      <m:t>𝐵</m:t>
                    </m:r>
                    <m:r>
                      <a:rPr lang="en-US" altLang="zh-CN" i="1" dirty="0">
                        <a:latin typeface="Cambria Math" panose="02040503050406030204" pitchFamily="18" charset="0"/>
                      </a:rPr>
                      <m:t>→</m:t>
                    </m:r>
                    <m:r>
                      <a:rPr lang="en-AU" altLang="zh-CN" b="0" i="1" dirty="0" smtClean="0">
                        <a:latin typeface="Cambria Math" panose="02040503050406030204" pitchFamily="18" charset="0"/>
                      </a:rPr>
                      <m:t>𝑎𝐵𝐵</m:t>
                    </m:r>
                    <m:d>
                      <m:dPr>
                        <m:begChr m:val="|"/>
                        <m:endChr m:val="|"/>
                        <m:ctrlPr>
                          <a:rPr lang="en-AU" altLang="zh-CN" i="1" dirty="0" smtClean="0">
                            <a:latin typeface="Cambria Math" panose="02040503050406030204" pitchFamily="18" charset="0"/>
                          </a:rPr>
                        </m:ctrlPr>
                      </m:dPr>
                      <m:e>
                        <m:r>
                          <a:rPr lang="en-AU" altLang="zh-CN" i="1" dirty="0" smtClean="0">
                            <a:latin typeface="Cambria Math" panose="02040503050406030204" pitchFamily="18" charset="0"/>
                          </a:rPr>
                          <m:t> </m:t>
                        </m:r>
                        <m:r>
                          <a:rPr lang="en-AU" altLang="zh-CN" b="0" i="1" dirty="0" smtClean="0">
                            <a:latin typeface="Cambria Math" panose="02040503050406030204" pitchFamily="18" charset="0"/>
                          </a:rPr>
                          <m:t>𝑏</m:t>
                        </m:r>
                        <m:r>
                          <a:rPr lang="en-AU" altLang="zh-CN" i="1" dirty="0" err="1" smtClean="0">
                            <a:latin typeface="Cambria Math" panose="02040503050406030204" pitchFamily="18" charset="0"/>
                          </a:rPr>
                          <m:t>𝑆</m:t>
                        </m:r>
                        <m:r>
                          <a:rPr lang="en-AU" altLang="zh-CN" i="1" dirty="0" smtClean="0">
                            <a:latin typeface="Cambria Math" panose="02040503050406030204" pitchFamily="18" charset="0"/>
                          </a:rPr>
                          <m:t> </m:t>
                        </m:r>
                      </m:e>
                    </m:d>
                    <m:r>
                      <a:rPr lang="en-AU" altLang="zh-CN" b="0" i="1" dirty="0" smtClean="0">
                        <a:latin typeface="Cambria Math" panose="02040503050406030204" pitchFamily="18" charset="0"/>
                      </a:rPr>
                      <m:t>𝑏</m:t>
                    </m:r>
                  </m:oMath>
                </a14:m>
                <a:r>
                  <a:rPr lang="en-AU" altLang="zh-CN" b="1" dirty="0">
                    <a:solidFill>
                      <a:srgbClr val="FF0000"/>
                    </a:solidFill>
                  </a:rPr>
                  <a:t> -&gt; </a:t>
                </a:r>
                <a14:m>
                  <m:oMath xmlns:m="http://schemas.openxmlformats.org/officeDocument/2006/math">
                    <m:r>
                      <a:rPr lang="en-AU" altLang="zh-CN" b="0" i="1" dirty="0" smtClean="0">
                        <a:latin typeface="Cambria Math" panose="02040503050406030204" pitchFamily="18" charset="0"/>
                      </a:rPr>
                      <m:t>𝐵</m:t>
                    </m:r>
                    <m:r>
                      <a:rPr lang="en-US" altLang="zh-CN" i="1" dirty="0">
                        <a:latin typeface="Cambria Math" panose="02040503050406030204" pitchFamily="18" charset="0"/>
                      </a:rPr>
                      <m:t>→</m:t>
                    </m:r>
                    <m:sSub>
                      <m:sSubPr>
                        <m:ctrlPr>
                          <a:rPr lang="en-US" altLang="zh-CN" i="1" dirty="0">
                            <a:solidFill>
                              <a:srgbClr val="00B050"/>
                            </a:solidFill>
                            <a:latin typeface="Cambria Math" panose="02040503050406030204" pitchFamily="18" charset="0"/>
                          </a:rPr>
                        </m:ctrlPr>
                      </m:sSubPr>
                      <m:e>
                        <m:r>
                          <a:rPr lang="en-AU" altLang="zh-CN" i="1" dirty="0">
                            <a:solidFill>
                              <a:srgbClr val="00B050"/>
                            </a:solidFill>
                            <a:latin typeface="Cambria Math" panose="02040503050406030204" pitchFamily="18" charset="0"/>
                          </a:rPr>
                          <m:t>𝐶</m:t>
                        </m:r>
                      </m:e>
                      <m:sub>
                        <m:r>
                          <a:rPr lang="en-AU" altLang="zh-CN" b="0" i="1" dirty="0" smtClean="0">
                            <a:solidFill>
                              <a:srgbClr val="00B050"/>
                            </a:solidFill>
                            <a:latin typeface="Cambria Math" panose="02040503050406030204" pitchFamily="18" charset="0"/>
                          </a:rPr>
                          <m:t>𝑎</m:t>
                        </m:r>
                      </m:sub>
                    </m:sSub>
                    <m:r>
                      <a:rPr lang="en-AU" altLang="zh-CN" b="0" i="1" dirty="0" smtClean="0">
                        <a:latin typeface="Cambria Math" panose="02040503050406030204" pitchFamily="18" charset="0"/>
                      </a:rPr>
                      <m:t>𝐵𝐵</m:t>
                    </m:r>
                    <m:d>
                      <m:dPr>
                        <m:begChr m:val="|"/>
                        <m:endChr m:val="|"/>
                        <m:ctrlPr>
                          <a:rPr lang="en-AU" altLang="zh-CN" i="1" dirty="0">
                            <a:latin typeface="Cambria Math" panose="02040503050406030204" pitchFamily="18" charset="0"/>
                          </a:rPr>
                        </m:ctrlPr>
                      </m:dPr>
                      <m:e>
                        <m:sSub>
                          <m:sSubPr>
                            <m:ctrlPr>
                              <a:rPr lang="en-US" altLang="zh-CN" i="1" dirty="0" smtClean="0">
                                <a:solidFill>
                                  <a:srgbClr val="00B050"/>
                                </a:solidFill>
                                <a:latin typeface="Cambria Math" panose="02040503050406030204" pitchFamily="18" charset="0"/>
                              </a:rPr>
                            </m:ctrlPr>
                          </m:sSubPr>
                          <m:e>
                            <m:r>
                              <a:rPr lang="en-AU" altLang="zh-CN" i="1" dirty="0">
                                <a:solidFill>
                                  <a:srgbClr val="00B050"/>
                                </a:solidFill>
                                <a:latin typeface="Cambria Math" panose="02040503050406030204" pitchFamily="18" charset="0"/>
                              </a:rPr>
                              <m:t>𝐶</m:t>
                            </m:r>
                          </m:e>
                          <m:sub>
                            <m:r>
                              <a:rPr lang="en-AU" altLang="zh-CN" b="0" i="1" dirty="0" smtClean="0">
                                <a:solidFill>
                                  <a:srgbClr val="00B050"/>
                                </a:solidFill>
                                <a:latin typeface="Cambria Math" panose="02040503050406030204" pitchFamily="18" charset="0"/>
                              </a:rPr>
                              <m:t>𝑏</m:t>
                            </m:r>
                          </m:sub>
                        </m:sSub>
                        <m:r>
                          <a:rPr lang="en-AU" altLang="zh-CN" b="0" i="1" dirty="0" smtClean="0">
                            <a:latin typeface="Cambria Math" panose="02040503050406030204" pitchFamily="18" charset="0"/>
                          </a:rPr>
                          <m:t>𝑆</m:t>
                        </m:r>
                      </m:e>
                    </m:d>
                    <m:r>
                      <a:rPr lang="en-AU" altLang="zh-CN" b="0" i="1" dirty="0" smtClean="0">
                        <a:latin typeface="Cambria Math" panose="02040503050406030204" pitchFamily="18" charset="0"/>
                      </a:rPr>
                      <m:t>𝑏</m:t>
                    </m:r>
                  </m:oMath>
                </a14:m>
                <a:endParaRPr lang="en-AU" altLang="zh-CN" b="1" dirty="0">
                  <a:solidFill>
                    <a:srgbClr val="FF0000"/>
                  </a:solidFill>
                </a:endParaRPr>
              </a:p>
              <a:p>
                <a:pPr marL="0" indent="0">
                  <a:buNone/>
                </a:pPr>
                <a:r>
                  <a:rPr lang="zh-CN" altLang="en-US" b="1" dirty="0"/>
                  <a:t>对仅包含变元、长度大于</a:t>
                </a:r>
                <a:r>
                  <a:rPr lang="en-US" altLang="zh-CN" b="1" dirty="0"/>
                  <a:t>2</a:t>
                </a:r>
                <a:r>
                  <a:rPr lang="zh-CN" altLang="en-US" b="1" dirty="0"/>
                  <a:t>的产生式进行转换：</a:t>
                </a:r>
                <a:endParaRPr lang="en-AU" altLang="zh-CN" b="1" dirty="0"/>
              </a:p>
              <a:p>
                <a:pPr marL="0" indent="0">
                  <a:buNone/>
                </a:pPr>
                <a14:m>
                  <m:oMath xmlns:m="http://schemas.openxmlformats.org/officeDocument/2006/math">
                    <m:r>
                      <a:rPr lang="en-AU" altLang="zh-CN" i="1" dirty="0" smtClean="0">
                        <a:latin typeface="Cambria Math" panose="02040503050406030204" pitchFamily="18" charset="0"/>
                      </a:rPr>
                      <m:t>𝐴</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𝐶</m:t>
                        </m:r>
                      </m:e>
                      <m:sub>
                        <m:r>
                          <a:rPr lang="en-AU" altLang="zh-CN" i="1" dirty="0">
                            <a:latin typeface="Cambria Math" panose="02040503050406030204" pitchFamily="18" charset="0"/>
                          </a:rPr>
                          <m:t>𝑏</m:t>
                        </m:r>
                      </m:sub>
                    </m:sSub>
                    <m:r>
                      <a:rPr lang="en-AU" altLang="zh-CN" b="0" i="1" dirty="0" smtClean="0">
                        <a:latin typeface="Cambria Math" panose="02040503050406030204" pitchFamily="18" charset="0"/>
                      </a:rPr>
                      <m:t>𝐴𝐴</m:t>
                    </m:r>
                  </m:oMath>
                </a14:m>
                <a:r>
                  <a:rPr lang="en-AU" altLang="zh-CN" b="1" dirty="0">
                    <a:solidFill>
                      <a:srgbClr val="FF0000"/>
                    </a:solidFill>
                  </a:rPr>
                  <a:t>  -&gt; </a:t>
                </a:r>
                <a14:m>
                  <m:oMath xmlns:m="http://schemas.openxmlformats.org/officeDocument/2006/math">
                    <m:r>
                      <a:rPr lang="en-AU" altLang="zh-CN" i="1" dirty="0">
                        <a:latin typeface="Cambria Math" panose="02040503050406030204" pitchFamily="18" charset="0"/>
                      </a:rPr>
                      <m:t>𝐴</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𝐶</m:t>
                        </m:r>
                      </m:e>
                      <m:sub>
                        <m:r>
                          <a:rPr lang="en-AU" altLang="zh-CN" i="1" dirty="0">
                            <a:latin typeface="Cambria Math" panose="02040503050406030204" pitchFamily="18" charset="0"/>
                          </a:rPr>
                          <m:t>𝑏</m:t>
                        </m:r>
                      </m:sub>
                    </m:sSub>
                    <m:sSub>
                      <m:sSubPr>
                        <m:ctrlPr>
                          <a:rPr lang="en-US" altLang="zh-CN" i="1" dirty="0">
                            <a:latin typeface="Cambria Math" panose="02040503050406030204" pitchFamily="18" charset="0"/>
                          </a:rPr>
                        </m:ctrlPr>
                      </m:sSubPr>
                      <m:e>
                        <m:r>
                          <a:rPr lang="en-AU" altLang="zh-CN" b="0" i="1" dirty="0" smtClean="0">
                            <a:latin typeface="Cambria Math" panose="02040503050406030204" pitchFamily="18" charset="0"/>
                          </a:rPr>
                          <m:t>𝐷</m:t>
                        </m:r>
                      </m:e>
                      <m:sub>
                        <m:r>
                          <a:rPr lang="en-AU" altLang="zh-CN" b="0" i="1" dirty="0" smtClean="0">
                            <a:latin typeface="Cambria Math" panose="02040503050406030204" pitchFamily="18" charset="0"/>
                          </a:rPr>
                          <m:t>1</m:t>
                        </m:r>
                      </m:sub>
                    </m:sSub>
                    <m:r>
                      <a:rPr lang="en-AU" altLang="zh-CN" b="1" i="0"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𝐷</m:t>
                        </m:r>
                      </m:e>
                      <m:sub>
                        <m:r>
                          <a:rPr lang="en-AU" altLang="zh-CN" i="1" dirty="0">
                            <a:latin typeface="Cambria Math" panose="02040503050406030204" pitchFamily="18" charset="0"/>
                          </a:rPr>
                          <m:t>1</m:t>
                        </m:r>
                      </m:sub>
                    </m:sSub>
                    <m:r>
                      <a:rPr lang="en-US" altLang="zh-CN" i="1" dirty="0">
                        <a:latin typeface="Cambria Math" panose="02040503050406030204" pitchFamily="18" charset="0"/>
                      </a:rPr>
                      <m:t>→</m:t>
                    </m:r>
                    <m:r>
                      <a:rPr lang="en-AU" altLang="zh-CN" b="0" i="1" dirty="0" smtClean="0">
                        <a:latin typeface="Cambria Math" panose="02040503050406030204" pitchFamily="18" charset="0"/>
                      </a:rPr>
                      <m:t>𝐴𝐴</m:t>
                    </m:r>
                  </m:oMath>
                </a14:m>
                <a:endParaRPr lang="en-AU" altLang="zh-CN" b="1" dirty="0"/>
              </a:p>
              <a:p>
                <a:pPr marL="0" indent="0">
                  <a:buNone/>
                </a:pPr>
                <a14:m>
                  <m:oMath xmlns:m="http://schemas.openxmlformats.org/officeDocument/2006/math">
                    <m:r>
                      <a:rPr lang="en-AU" altLang="zh-CN" b="0" i="1" dirty="0" smtClean="0">
                        <a:latin typeface="Cambria Math" panose="02040503050406030204" pitchFamily="18" charset="0"/>
                      </a:rPr>
                      <m:t>𝐵</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r>
                          <a:rPr lang="en-AU" altLang="zh-CN" i="1" dirty="0">
                            <a:latin typeface="Cambria Math" panose="02040503050406030204" pitchFamily="18" charset="0"/>
                          </a:rPr>
                          <m:t>𝐶</m:t>
                        </m:r>
                      </m:e>
                      <m:sub>
                        <m:r>
                          <a:rPr lang="en-AU" altLang="zh-CN" b="0" i="1" dirty="0" smtClean="0">
                            <a:latin typeface="Cambria Math" panose="02040503050406030204" pitchFamily="18" charset="0"/>
                          </a:rPr>
                          <m:t>𝑎</m:t>
                        </m:r>
                      </m:sub>
                    </m:sSub>
                    <m:r>
                      <a:rPr lang="en-AU" altLang="zh-CN" b="0" i="1" dirty="0" smtClean="0">
                        <a:latin typeface="Cambria Math" panose="02040503050406030204" pitchFamily="18" charset="0"/>
                      </a:rPr>
                      <m:t>𝐵𝐵</m:t>
                    </m:r>
                  </m:oMath>
                </a14:m>
                <a:r>
                  <a:rPr lang="en-AU" altLang="zh-CN" b="1" dirty="0">
                    <a:solidFill>
                      <a:srgbClr val="FF0000"/>
                    </a:solidFill>
                  </a:rPr>
                  <a:t> -&gt; </a:t>
                </a:r>
                <a14:m>
                  <m:oMath xmlns:m="http://schemas.openxmlformats.org/officeDocument/2006/math">
                    <m:r>
                      <a:rPr lang="en-AU" altLang="zh-CN" i="1" dirty="0">
                        <a:latin typeface="Cambria Math" panose="02040503050406030204" pitchFamily="18" charset="0"/>
                      </a:rPr>
                      <m:t>𝐵</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r>
                          <a:rPr lang="en-AU" altLang="zh-CN" i="1" dirty="0">
                            <a:latin typeface="Cambria Math" panose="02040503050406030204" pitchFamily="18" charset="0"/>
                          </a:rPr>
                          <m:t>𝐶</m:t>
                        </m:r>
                      </m:e>
                      <m:sub>
                        <m:r>
                          <a:rPr lang="en-AU" altLang="zh-CN" i="1" dirty="0">
                            <a:latin typeface="Cambria Math" panose="02040503050406030204" pitchFamily="18" charset="0"/>
                          </a:rPr>
                          <m:t>𝑎</m:t>
                        </m:r>
                      </m:sub>
                    </m:sSub>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𝐷</m:t>
                        </m:r>
                      </m:e>
                      <m:sub>
                        <m:r>
                          <a:rPr lang="en-AU" altLang="zh-CN" i="1" dirty="0">
                            <a:latin typeface="Cambria Math" panose="02040503050406030204" pitchFamily="18" charset="0"/>
                          </a:rPr>
                          <m:t>2</m:t>
                        </m:r>
                      </m:sub>
                    </m:sSub>
                    <m:r>
                      <a:rPr lang="en-AU"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𝐷</m:t>
                        </m:r>
                      </m:e>
                      <m:sub>
                        <m:r>
                          <a:rPr lang="en-AU" altLang="zh-CN" i="1" dirty="0">
                            <a:latin typeface="Cambria Math" panose="02040503050406030204" pitchFamily="18" charset="0"/>
                          </a:rPr>
                          <m:t>2</m:t>
                        </m:r>
                      </m:sub>
                    </m:sSub>
                    <m:r>
                      <a:rPr lang="en-US" altLang="zh-CN" i="1" dirty="0">
                        <a:latin typeface="Cambria Math" panose="02040503050406030204" pitchFamily="18" charset="0"/>
                      </a:rPr>
                      <m:t>→</m:t>
                    </m:r>
                    <m:r>
                      <a:rPr lang="en-AU" altLang="zh-CN" i="1" dirty="0">
                        <a:latin typeface="Cambria Math" panose="02040503050406030204" pitchFamily="18" charset="0"/>
                      </a:rPr>
                      <m:t>𝐵𝐵</m:t>
                    </m:r>
                  </m:oMath>
                </a14:m>
                <a:r>
                  <a:rPr lang="en-AU" altLang="zh-CN" dirty="0"/>
                  <a:t> </a:t>
                </a:r>
                <a:endParaRPr lang="en-AU" altLang="zh-CN" dirty="0"/>
              </a:p>
              <a:p>
                <a:pPr marL="0" indent="0">
                  <a:buNone/>
                </a:pPr>
                <a:endParaRPr lang="en-AU" altLang="zh-CN"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166018"/>
                <a:ext cx="8229600" cy="4525963"/>
              </a:xfrm>
              <a:blipFill rotWithShape="1">
                <a:blip r:embed="rId1"/>
                <a:stretch>
                  <a:fillRect t="-3" b="-1162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Times New Roman" panose="02020603050405020304" pitchFamily="18" charset="0"/>
                <a:cs typeface="Times New Roman" panose="02020603050405020304" pitchFamily="18" charset="0"/>
              </a:rPr>
              <a:t>CFG</a:t>
            </a:r>
            <a:r>
              <a:rPr lang="zh-CN" altLang="en-US" dirty="0"/>
              <a:t>转为</a:t>
            </a:r>
            <a:r>
              <a:rPr lang="en-AU" altLang="zh-CN" dirty="0">
                <a:latin typeface="Times New Roman" panose="02020603050405020304" pitchFamily="18" charset="0"/>
                <a:cs typeface="Times New Roman" panose="02020603050405020304" pitchFamily="18" charset="0"/>
              </a:rPr>
              <a:t>CNF</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166018"/>
                <a:ext cx="8229600" cy="4525963"/>
              </a:xfrm>
            </p:spPr>
            <p:txBody>
              <a:bodyPr>
                <a:normAutofit/>
              </a:bodyPr>
              <a:lstStyle/>
              <a:p>
                <a:r>
                  <a:rPr lang="zh-CN" altLang="en-US" dirty="0"/>
                  <a:t>例</a:t>
                </a:r>
                <a:r>
                  <a:rPr lang="en-AU" altLang="zh-CN" dirty="0"/>
                  <a:t>:</a:t>
                </a:r>
                <a:r>
                  <a:rPr lang="en-AU" altLang="zh-CN" dirty="0">
                    <a:latin typeface="Times New Roman" panose="02020603050405020304" pitchFamily="18" charset="0"/>
                    <a:cs typeface="Times New Roman" panose="02020603050405020304" pitchFamily="18" charset="0"/>
                  </a:rPr>
                  <a:t>CFG</a:t>
                </a:r>
                <a:r>
                  <a:rPr lang="en-AU" altLang="zh-CN" dirty="0"/>
                  <a:t> </a:t>
                </a:r>
                <a14:m>
                  <m:oMath xmlns:m="http://schemas.openxmlformats.org/officeDocument/2006/math">
                    <m:r>
                      <a:rPr lang="en-AU" altLang="zh-CN" i="1" dirty="0" smtClean="0">
                        <a:latin typeface="Cambria Math" panose="02040503050406030204" pitchFamily="18" charset="0"/>
                      </a:rPr>
                      <m:t>𝐺</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𝐴</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𝑎</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𝑏</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𝑃</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𝑆</m:t>
                    </m:r>
                    <m:r>
                      <a:rPr lang="en-AU" altLang="zh-CN" i="1" dirty="0" smtClean="0">
                        <a:latin typeface="Cambria Math" panose="02040503050406030204" pitchFamily="18" charset="0"/>
                      </a:rPr>
                      <m:t>)</m:t>
                    </m:r>
                  </m:oMath>
                </a14:m>
                <a:r>
                  <a:rPr lang="en-AU" altLang="zh-CN" dirty="0"/>
                  <a:t>, </a:t>
                </a:r>
                <a:r>
                  <a:rPr lang="zh-CN" altLang="en-US" dirty="0"/>
                  <a:t>产生式集合 </a:t>
                </a:r>
                <a14:m>
                  <m:oMath xmlns:m="http://schemas.openxmlformats.org/officeDocument/2006/math">
                    <m:r>
                      <a:rPr lang="en-AU" altLang="zh-CN" i="1" dirty="0" smtClean="0">
                        <a:latin typeface="Cambria Math" panose="02040503050406030204" pitchFamily="18" charset="0"/>
                      </a:rPr>
                      <m:t>𝑃</m:t>
                    </m:r>
                  </m:oMath>
                </a14:m>
                <a:r>
                  <a:rPr lang="zh-CN" altLang="en-US" dirty="0"/>
                  <a:t>为</a:t>
                </a:r>
                <a:r>
                  <a:rPr lang="en-US" altLang="zh-CN" dirty="0"/>
                  <a:t>:</a:t>
                </a:r>
                <a:endParaRPr lang="en-AU" altLang="zh-C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r>
                        <a:rPr lang="en-US" altLang="zh-CN" i="1" dirty="0" err="1">
                          <a:latin typeface="Cambria Math" panose="02040503050406030204" pitchFamily="18" charset="0"/>
                        </a:rPr>
                        <m:t>𝑏𝐴</m:t>
                      </m:r>
                      <m:r>
                        <a:rPr lang="en-US" altLang="zh-CN" i="1" dirty="0">
                          <a:latin typeface="Cambria Math" panose="02040503050406030204" pitchFamily="18" charset="0"/>
                        </a:rPr>
                        <m:t>|</m:t>
                      </m:r>
                      <m:r>
                        <a:rPr lang="en-US" altLang="zh-CN" i="1" dirty="0" err="1">
                          <a:latin typeface="Cambria Math" panose="02040503050406030204" pitchFamily="18" charset="0"/>
                        </a:rPr>
                        <m:t>𝑎𝐵</m:t>
                      </m:r>
                      <m:r>
                        <a:rPr lang="en-AU" altLang="zh-CN" b="0" i="0" dirty="0" smtClean="0">
                          <a:latin typeface="Cambria Math" panose="02040503050406030204" pitchFamily="18" charset="0"/>
                        </a:rPr>
                        <m: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r>
                        <a:rPr lang="en-US" altLang="zh-CN" i="1" dirty="0" err="1">
                          <a:latin typeface="Cambria Math" panose="02040503050406030204" pitchFamily="18" charset="0"/>
                        </a:rPr>
                        <m:t>𝑏𝐴𝐴</m:t>
                      </m:r>
                      <m:r>
                        <a:rPr lang="en-US" altLang="zh-CN" i="1" dirty="0">
                          <a:latin typeface="Cambria Math" panose="02040503050406030204" pitchFamily="18" charset="0"/>
                        </a:rPr>
                        <m:t> | </m:t>
                      </m:r>
                      <m:r>
                        <a:rPr lang="en-US" altLang="zh-CN" i="1" dirty="0" err="1">
                          <a:latin typeface="Cambria Math" panose="02040503050406030204" pitchFamily="18" charset="0"/>
                        </a:rPr>
                        <m:t>𝑎𝑆</m:t>
                      </m:r>
                      <m:r>
                        <a:rPr lang="en-US" altLang="zh-CN" i="1" dirty="0">
                          <a:latin typeface="Cambria Math" panose="02040503050406030204" pitchFamily="18" charset="0"/>
                        </a:rPr>
                        <m:t> | </m:t>
                      </m:r>
                      <m:r>
                        <a:rPr lang="en-US" altLang="zh-CN" i="1" dirty="0">
                          <a:latin typeface="Cambria Math" panose="02040503050406030204" pitchFamily="18" charset="0"/>
                        </a:rPr>
                        <m:t>𝑎</m:t>
                      </m:r>
                      <m:r>
                        <a:rPr lang="en-AU" altLang="zh-CN" b="0" i="0" dirty="0" smtClean="0">
                          <a:latin typeface="Cambria Math" panose="02040503050406030204" pitchFamily="18" charset="0"/>
                        </a:rPr>
                        <m:t>, </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m:t>
                      </m:r>
                      <m:r>
                        <a:rPr lang="en-US" altLang="zh-CN" i="1" dirty="0" err="1">
                          <a:latin typeface="Cambria Math" panose="02040503050406030204" pitchFamily="18" charset="0"/>
                        </a:rPr>
                        <m:t>𝑎𝐵𝐵</m:t>
                      </m:r>
                      <m:r>
                        <a:rPr lang="en-US" altLang="zh-CN" i="1" dirty="0">
                          <a:latin typeface="Cambria Math" panose="02040503050406030204" pitchFamily="18" charset="0"/>
                        </a:rPr>
                        <m:t> | </m:t>
                      </m:r>
                      <m:r>
                        <a:rPr lang="en-US" altLang="zh-CN" i="1" dirty="0" err="1">
                          <a:latin typeface="Cambria Math" panose="02040503050406030204" pitchFamily="18" charset="0"/>
                        </a:rPr>
                        <m:t>𝑏𝑆</m:t>
                      </m:r>
                      <m:r>
                        <a:rPr lang="en-US" altLang="zh-CN" i="1" dirty="0">
                          <a:latin typeface="Cambria Math" panose="02040503050406030204" pitchFamily="18" charset="0"/>
                        </a:rPr>
                        <m:t> | </m:t>
                      </m:r>
                      <m:r>
                        <a:rPr lang="en-US" altLang="zh-CN" i="1" dirty="0">
                          <a:latin typeface="Cambria Math" panose="02040503050406030204" pitchFamily="18" charset="0"/>
                        </a:rPr>
                        <m:t>𝑏</m:t>
                      </m:r>
                    </m:oMath>
                  </m:oMathPara>
                </a14:m>
                <a:endParaRPr lang="en-AU" dirty="0"/>
              </a:p>
              <a:p>
                <a:pPr marL="0" indent="0">
                  <a:buNone/>
                </a:pPr>
                <a:r>
                  <a:rPr lang="zh-CN" altLang="en-US" dirty="0"/>
                  <a:t>等价的</a:t>
                </a:r>
                <a:r>
                  <a:rPr lang="en-AU" altLang="zh-CN" dirty="0">
                    <a:latin typeface="Times New Roman" panose="02020603050405020304" pitchFamily="18" charset="0"/>
                    <a:cs typeface="Times New Roman" panose="02020603050405020304" pitchFamily="18" charset="0"/>
                  </a:rPr>
                  <a:t>CNF</a:t>
                </a:r>
                <a:r>
                  <a:rPr lang="zh-CN" altLang="en-US" dirty="0"/>
                  <a:t>结果</a:t>
                </a:r>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𝑆</m:t>
                      </m:r>
                      <m:r>
                        <a:rPr lang="en-US" altLang="zh-CN" i="1" dirty="0">
                          <a:latin typeface="Cambria Math" panose="02040503050406030204" pitchFamily="18" charset="0"/>
                        </a:rPr>
                        <m:t>→</m:t>
                      </m:r>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𝐶</m:t>
                          </m:r>
                        </m:e>
                        <m:sub>
                          <m:r>
                            <a:rPr lang="en-AU" altLang="zh-CN" b="0" i="1" dirty="0" smtClean="0">
                              <a:latin typeface="Cambria Math" panose="02040503050406030204" pitchFamily="18" charset="0"/>
                            </a:rPr>
                            <m:t>𝑏</m:t>
                          </m:r>
                        </m:sub>
                      </m:sSub>
                      <m:r>
                        <a:rPr lang="en-AU" altLang="zh-CN" b="0" i="1" dirty="0" smtClean="0">
                          <a:latin typeface="Cambria Math" panose="02040503050406030204" pitchFamily="18" charset="0"/>
                        </a:rPr>
                        <m:t>𝐴</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𝐶</m:t>
                          </m:r>
                        </m:e>
                        <m:sub>
                          <m:r>
                            <a:rPr lang="en-AU" altLang="zh-CN" b="0" i="1" dirty="0" smtClean="0">
                              <a:latin typeface="Cambria Math" panose="02040503050406030204" pitchFamily="18" charset="0"/>
                            </a:rPr>
                            <m:t>𝑎</m:t>
                          </m:r>
                        </m:sub>
                      </m:sSub>
                      <m:r>
                        <a:rPr lang="en-US" altLang="zh-CN" i="1" dirty="0" err="1">
                          <a:latin typeface="Cambria Math" panose="02040503050406030204" pitchFamily="18" charset="0"/>
                        </a:rPr>
                        <m:t>𝐵</m:t>
                      </m:r>
                    </m:oMath>
                  </m:oMathPara>
                </a14:m>
                <a:endParaRPr lang="en-US" altLang="zh-CN" i="1" dirty="0">
                  <a:latin typeface="Cambria Math" panose="02040503050406030204" pitchFamily="18" charset="0"/>
                </a:endParaRPr>
              </a:p>
              <a:p>
                <a:pPr marL="0" indent="0">
                  <a:buNone/>
                </a:pPr>
                <a:r>
                  <a:rPr lang="en-AU" altLang="zh-CN" dirty="0"/>
                  <a:t>			 </a:t>
                </a:r>
                <a14:m>
                  <m:oMath xmlns:m="http://schemas.openxmlformats.org/officeDocument/2006/math">
                    <m:r>
                      <a:rPr lang="en-AU" altLang="zh-CN" i="1" dirty="0">
                        <a:latin typeface="Cambria Math" panose="02040503050406030204" pitchFamily="18" charset="0"/>
                      </a:rPr>
                      <m:t>𝐴</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𝐶</m:t>
                        </m:r>
                      </m:e>
                      <m:sub>
                        <m:r>
                          <a:rPr lang="en-AU" altLang="zh-CN" i="1" dirty="0">
                            <a:latin typeface="Cambria Math" panose="02040503050406030204" pitchFamily="18" charset="0"/>
                          </a:rPr>
                          <m:t>𝑏</m:t>
                        </m:r>
                      </m:sub>
                    </m:sSub>
                    <m:sSub>
                      <m:sSubPr>
                        <m:ctrlPr>
                          <a:rPr lang="en-US" altLang="zh-CN" i="1" dirty="0">
                            <a:latin typeface="Cambria Math" panose="02040503050406030204" pitchFamily="18" charset="0"/>
                          </a:rPr>
                        </m:ctrlPr>
                      </m:sSubPr>
                      <m:e>
                        <m:r>
                          <a:rPr lang="en-AU" altLang="zh-CN" b="0" i="1" dirty="0" smtClean="0">
                            <a:latin typeface="Cambria Math" panose="02040503050406030204" pitchFamily="18" charset="0"/>
                          </a:rPr>
                          <m:t>𝐷</m:t>
                        </m:r>
                      </m:e>
                      <m:sub>
                        <m:r>
                          <a:rPr lang="en-AU" altLang="zh-CN" b="0" i="1" dirty="0" smtClean="0">
                            <a:latin typeface="Cambria Math" panose="02040503050406030204" pitchFamily="18" charset="0"/>
                          </a:rPr>
                          <m:t>1</m:t>
                        </m:r>
                      </m:sub>
                    </m:sSub>
                    <m:d>
                      <m:dPr>
                        <m:begChr m:val="|"/>
                        <m:endChr m:val="|"/>
                        <m:ctrlPr>
                          <a:rPr lang="en-AU"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𝐶</m:t>
                            </m:r>
                          </m:e>
                          <m:sub>
                            <m:r>
                              <a:rPr lang="en-AU" altLang="zh-CN" b="0" i="1" dirty="0" smtClean="0">
                                <a:latin typeface="Cambria Math" panose="02040503050406030204" pitchFamily="18" charset="0"/>
                              </a:rPr>
                              <m:t>𝑎</m:t>
                            </m:r>
                          </m:sub>
                        </m:sSub>
                        <m:r>
                          <a:rPr lang="en-AU" altLang="zh-CN" b="0" i="1" dirty="0" smtClean="0">
                            <a:latin typeface="Cambria Math" panose="02040503050406030204" pitchFamily="18" charset="0"/>
                          </a:rPr>
                          <m:t>𝑆</m:t>
                        </m:r>
                      </m:e>
                    </m:d>
                    <m:r>
                      <a:rPr lang="en-AU" altLang="zh-CN" i="1" dirty="0" err="1">
                        <a:latin typeface="Cambria Math" panose="02040503050406030204" pitchFamily="18" charset="0"/>
                      </a:rPr>
                      <m:t>𝑎</m:t>
                    </m:r>
                  </m:oMath>
                </a14:m>
                <a:r>
                  <a:rPr lang="en-AU" altLang="zh-CN" b="1" dirty="0">
                    <a:solidFill>
                      <a:srgbClr val="FF0000"/>
                    </a:solidFill>
                  </a:rPr>
                  <a:t> </a:t>
                </a:r>
                <a:endParaRPr lang="en-AU" altLang="zh-CN" i="1" dirty="0">
                  <a:latin typeface="Cambria Math" panose="02040503050406030204" pitchFamily="18" charset="0"/>
                </a:endParaRPr>
              </a:p>
              <a:p>
                <a:pPr marL="0" indent="0">
                  <a:buNone/>
                </a:pPr>
                <a:r>
                  <a:rPr lang="en-AU" altLang="zh-CN" b="0" dirty="0"/>
                  <a:t> 			 </a:t>
                </a:r>
                <a14:m>
                  <m:oMath xmlns:m="http://schemas.openxmlformats.org/officeDocument/2006/math">
                    <m:r>
                      <a:rPr lang="en-AU" altLang="zh-CN" b="0" i="1" dirty="0" smtClean="0">
                        <a:latin typeface="Cambria Math" panose="02040503050406030204" pitchFamily="18" charset="0"/>
                      </a:rPr>
                      <m:t>𝐵</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r>
                          <a:rPr lang="en-AU" altLang="zh-CN" i="1" dirty="0">
                            <a:latin typeface="Cambria Math" panose="02040503050406030204" pitchFamily="18" charset="0"/>
                          </a:rPr>
                          <m:t>𝐶</m:t>
                        </m:r>
                      </m:e>
                      <m:sub>
                        <m:r>
                          <a:rPr lang="en-AU" altLang="zh-CN" b="0" i="1" dirty="0" smtClean="0">
                            <a:latin typeface="Cambria Math" panose="02040503050406030204" pitchFamily="18" charset="0"/>
                          </a:rPr>
                          <m:t>𝑎</m:t>
                        </m:r>
                      </m:sub>
                    </m:sSub>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𝐷</m:t>
                        </m:r>
                      </m:e>
                      <m:sub>
                        <m:r>
                          <a:rPr lang="en-AU" altLang="zh-CN" b="0" i="1" dirty="0" smtClean="0">
                            <a:latin typeface="Cambria Math" panose="02040503050406030204" pitchFamily="18" charset="0"/>
                          </a:rPr>
                          <m:t>2</m:t>
                        </m:r>
                      </m:sub>
                    </m:sSub>
                    <m:d>
                      <m:dPr>
                        <m:begChr m:val="|"/>
                        <m:endChr m:val="|"/>
                        <m:ctrlPr>
                          <a:rPr lang="en-AU"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𝐶</m:t>
                            </m:r>
                          </m:e>
                          <m:sub>
                            <m:r>
                              <a:rPr lang="en-AU" altLang="zh-CN" b="0" i="1" dirty="0" smtClean="0">
                                <a:latin typeface="Cambria Math" panose="02040503050406030204" pitchFamily="18" charset="0"/>
                              </a:rPr>
                              <m:t>𝑏</m:t>
                            </m:r>
                          </m:sub>
                        </m:sSub>
                        <m:r>
                          <a:rPr lang="en-AU" altLang="zh-CN" b="0" i="1" dirty="0" smtClean="0">
                            <a:latin typeface="Cambria Math" panose="02040503050406030204" pitchFamily="18" charset="0"/>
                          </a:rPr>
                          <m:t>𝑆</m:t>
                        </m:r>
                      </m:e>
                    </m:d>
                    <m:r>
                      <a:rPr lang="en-AU" altLang="zh-CN" b="0" i="1" dirty="0" smtClean="0">
                        <a:latin typeface="Cambria Math" panose="02040503050406030204" pitchFamily="18" charset="0"/>
                      </a:rPr>
                      <m:t>𝑏</m:t>
                    </m:r>
                  </m:oMath>
                </a14:m>
                <a:endParaRPr lang="en-AU" altLang="zh-CN" b="0" i="1" dirty="0">
                  <a:latin typeface="Cambria Math" panose="02040503050406030204" pitchFamily="18" charset="0"/>
                </a:endParaRPr>
              </a:p>
              <a:p>
                <a:pPr marL="0" indent="0">
                  <a:buNone/>
                </a:pPr>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𝐷</m:t>
                        </m:r>
                      </m:e>
                      <m:sub>
                        <m:r>
                          <a:rPr lang="en-AU" altLang="zh-CN" i="1" dirty="0">
                            <a:latin typeface="Cambria Math" panose="02040503050406030204" pitchFamily="18" charset="0"/>
                          </a:rPr>
                          <m:t>1</m:t>
                        </m:r>
                      </m:sub>
                    </m:sSub>
                    <m:r>
                      <a:rPr lang="en-US" altLang="zh-CN" i="1" dirty="0">
                        <a:latin typeface="Cambria Math" panose="02040503050406030204" pitchFamily="18" charset="0"/>
                      </a:rPr>
                      <m:t>→</m:t>
                    </m:r>
                    <m:r>
                      <a:rPr lang="en-AU" altLang="zh-CN" b="0" i="1" dirty="0" smtClean="0">
                        <a:latin typeface="Cambria Math" panose="02040503050406030204" pitchFamily="18" charset="0"/>
                      </a:rPr>
                      <m:t>𝐴𝐴</m:t>
                    </m:r>
                    <m:r>
                      <a:rPr lang="en-AU"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𝐷</m:t>
                        </m:r>
                      </m:e>
                      <m:sub>
                        <m:r>
                          <a:rPr lang="en-AU" altLang="zh-CN" i="1" dirty="0">
                            <a:latin typeface="Cambria Math" panose="02040503050406030204" pitchFamily="18" charset="0"/>
                          </a:rPr>
                          <m:t>2</m:t>
                        </m:r>
                      </m:sub>
                    </m:sSub>
                    <m:r>
                      <a:rPr lang="en-US" altLang="zh-CN" i="1" dirty="0">
                        <a:latin typeface="Cambria Math" panose="02040503050406030204" pitchFamily="18" charset="0"/>
                      </a:rPr>
                      <m:t>→</m:t>
                    </m:r>
                    <m:r>
                      <a:rPr lang="en-AU" altLang="zh-CN" i="1" dirty="0">
                        <a:latin typeface="Cambria Math" panose="02040503050406030204" pitchFamily="18" charset="0"/>
                      </a:rPr>
                      <m:t>𝐵𝐵</m:t>
                    </m:r>
                  </m:oMath>
                </a14:m>
                <a:endParaRPr lang="en-US" altLang="zh-CN" i="1" dirty="0">
                  <a:latin typeface="Cambria Math" panose="02040503050406030204" pitchFamily="18" charset="0"/>
                </a:endParaRPr>
              </a:p>
              <a:p>
                <a:pPr marL="0" indent="0">
                  <a:buNone/>
                </a:pP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en-AU" altLang="zh-CN" i="1" dirty="0">
                            <a:latin typeface="Cambria Math" panose="02040503050406030204" pitchFamily="18" charset="0"/>
                          </a:rPr>
                          <m:t>𝐶</m:t>
                        </m:r>
                      </m:e>
                      <m:sub>
                        <m:r>
                          <a:rPr lang="en-AU" altLang="zh-CN" i="1" dirty="0">
                            <a:latin typeface="Cambria Math" panose="02040503050406030204" pitchFamily="18" charset="0"/>
                          </a:rPr>
                          <m:t>𝑏</m:t>
                        </m:r>
                      </m:sub>
                    </m:sSub>
                    <m:r>
                      <a:rPr lang="en-US" altLang="zh-CN" i="1" dirty="0">
                        <a:latin typeface="Cambria Math" panose="02040503050406030204" pitchFamily="18" charset="0"/>
                      </a:rPr>
                      <m:t>→</m:t>
                    </m:r>
                    <m:r>
                      <a:rPr lang="en-AU" altLang="zh-CN" b="0" i="1" dirty="0" smtClean="0">
                        <a:latin typeface="Cambria Math" panose="02040503050406030204" pitchFamily="18" charset="0"/>
                      </a:rPr>
                      <m:t>𝑏</m:t>
                    </m:r>
                    <m:r>
                      <a:rPr lang="en-AU"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𝐶</m:t>
                        </m:r>
                      </m:e>
                      <m:sub>
                        <m:r>
                          <a:rPr lang="en-AU" altLang="zh-CN" b="0" i="1" dirty="0" smtClean="0">
                            <a:latin typeface="Cambria Math" panose="02040503050406030204" pitchFamily="18" charset="0"/>
                          </a:rPr>
                          <m:t>𝑎</m:t>
                        </m:r>
                      </m:sub>
                    </m:sSub>
                    <m:r>
                      <a:rPr lang="en-US" altLang="zh-CN" i="1" dirty="0">
                        <a:latin typeface="Cambria Math" panose="02040503050406030204" pitchFamily="18" charset="0"/>
                      </a:rPr>
                      <m:t>→</m:t>
                    </m:r>
                    <m:r>
                      <a:rPr lang="en-AU" altLang="zh-CN" b="0" i="1" dirty="0" smtClean="0">
                        <a:latin typeface="Cambria Math" panose="02040503050406030204" pitchFamily="18" charset="0"/>
                      </a:rPr>
                      <m:t>𝑎</m:t>
                    </m:r>
                  </m:oMath>
                </a14:m>
                <a:endParaRPr lang="en-AU" altLang="zh-CN" b="0" i="1" dirty="0">
                  <a:latin typeface="Cambria Math" panose="02040503050406030204" pitchFamily="18" charset="0"/>
                </a:endParaRPr>
              </a:p>
              <a:p>
                <a:pPr marL="0" indent="0">
                  <a:buNone/>
                </a:pPr>
                <a:endParaRPr lang="en-AU" altLang="zh-CN" dirty="0"/>
              </a:p>
              <a:p>
                <a:pPr marL="0" indent="0">
                  <a:buNone/>
                </a:pPr>
                <a:endParaRPr lang="en-AU" altLang="zh-CN"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166018"/>
                <a:ext cx="8229600" cy="4525963"/>
              </a:xfrm>
              <a:blipFill rotWithShape="1">
                <a:blip r:embed="rId1"/>
                <a:stretch>
                  <a:fillRect t="-3" b="-2920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格雷巴赫范式 </a:t>
            </a:r>
            <a:r>
              <a:rPr lang="en-AU" altLang="zh-CN" dirty="0">
                <a:latin typeface="Times New Roman" panose="02020603050405020304" pitchFamily="18" charset="0"/>
                <a:cs typeface="Times New Roman" panose="02020603050405020304" pitchFamily="18" charset="0"/>
              </a:rPr>
              <a:t>GNF</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altLang="zh-CN" dirty="0"/>
                  <a:t>GNF</a:t>
                </a:r>
                <a:r>
                  <a:rPr lang="zh-CN" altLang="en-US" dirty="0"/>
                  <a:t>定理</a:t>
                </a:r>
                <a:r>
                  <a:rPr lang="en-AU" altLang="zh-CN" dirty="0"/>
                  <a:t>:</a:t>
                </a:r>
                <a:r>
                  <a:rPr lang="zh-CN" altLang="en-US" dirty="0"/>
                  <a:t>每个不带</a:t>
                </a:r>
                <a14:m>
                  <m:oMath xmlns:m="http://schemas.openxmlformats.org/officeDocument/2006/math">
                    <m:r>
                      <a:rPr lang="en-US" altLang="zh-CN" i="1" dirty="0" smtClean="0">
                        <a:latin typeface="Cambria Math" panose="02040503050406030204" pitchFamily="18" charset="0"/>
                      </a:rPr>
                      <m:t>𝜀</m:t>
                    </m:r>
                  </m:oMath>
                </a14:m>
                <a:r>
                  <a:rPr lang="zh-CN" altLang="en-US" dirty="0"/>
                  <a:t>的</a:t>
                </a:r>
                <a:r>
                  <a:rPr lang="en-US" altLang="zh-CN" dirty="0">
                    <a:latin typeface="Times New Roman" panose="02020603050405020304" pitchFamily="18" charset="0"/>
                    <a:cs typeface="Times New Roman" panose="02020603050405020304" pitchFamily="18" charset="0"/>
                  </a:rPr>
                  <a:t>CFL</a:t>
                </a:r>
                <a:r>
                  <a:rPr lang="zh-CN" altLang="en-US" dirty="0"/>
                  <a:t>都可以由这样的</a:t>
                </a:r>
                <a:r>
                  <a:rPr lang="en-US" altLang="zh-CN" dirty="0">
                    <a:latin typeface="Times New Roman" panose="02020603050405020304" pitchFamily="18" charset="0"/>
                    <a:cs typeface="Times New Roman" panose="02020603050405020304" pitchFamily="18" charset="0"/>
                  </a:rPr>
                  <a:t>CFG </a:t>
                </a:r>
                <a14:m>
                  <m:oMath xmlns:m="http://schemas.openxmlformats.org/officeDocument/2006/math">
                    <m:r>
                      <a:rPr lang="en-US" altLang="zh-CN" i="1" dirty="0" smtClean="0">
                        <a:latin typeface="Cambria Math" panose="02040503050406030204" pitchFamily="18" charset="0"/>
                      </a:rPr>
                      <m:t>𝐺</m:t>
                    </m:r>
                  </m:oMath>
                </a14:m>
                <a:r>
                  <a:rPr lang="zh-CN" altLang="en-US" dirty="0"/>
                  <a:t>定义</a:t>
                </a:r>
                <a:r>
                  <a:rPr lang="en-US" altLang="zh-CN" dirty="0"/>
                  <a:t>,</a:t>
                </a:r>
                <a14:m>
                  <m:oMath xmlns:m="http://schemas.openxmlformats.org/officeDocument/2006/math">
                    <m:r>
                      <a:rPr lang="en-US" altLang="zh-CN" i="1" dirty="0" smtClean="0">
                        <a:latin typeface="Cambria Math" panose="02040503050406030204" pitchFamily="18" charset="0"/>
                      </a:rPr>
                      <m:t>𝐺</m:t>
                    </m:r>
                  </m:oMath>
                </a14:m>
                <a:r>
                  <a:rPr lang="zh-CN" altLang="en-US" dirty="0"/>
                  <a:t>中每个产生式的形式都为</a:t>
                </a:r>
                <a:endParaRPr lang="zh-CN" altLang="en-US" dirty="0"/>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𝛼</m:t>
                      </m:r>
                    </m:oMath>
                  </m:oMathPara>
                </a14:m>
                <a:endParaRPr lang="en-US" altLang="zh-CN" dirty="0"/>
              </a:p>
              <a:p>
                <a:pPr marL="0" indent="0">
                  <a:buNone/>
                </a:pPr>
                <a:r>
                  <a:rPr lang="zh-CN" altLang="en-US" dirty="0"/>
                  <a:t>其中</a:t>
                </a:r>
                <a14:m>
                  <m:oMath xmlns:m="http://schemas.openxmlformats.org/officeDocument/2006/math">
                    <m:r>
                      <a:rPr lang="en-US" altLang="zh-CN" i="1" dirty="0" smtClean="0">
                        <a:latin typeface="Cambria Math" panose="02040503050406030204" pitchFamily="18" charset="0"/>
                      </a:rPr>
                      <m:t>𝐴</m:t>
                    </m:r>
                  </m:oMath>
                </a14:m>
                <a:r>
                  <a:rPr lang="zh-CN" altLang="en-US" dirty="0"/>
                  <a:t>是变元</a:t>
                </a:r>
                <a:r>
                  <a:rPr lang="en-US" altLang="zh-CN" dirty="0"/>
                  <a:t>, </a:t>
                </a:r>
                <a14:m>
                  <m:oMath xmlns:m="http://schemas.openxmlformats.org/officeDocument/2006/math">
                    <m:r>
                      <a:rPr lang="en-US" altLang="zh-CN" i="1" dirty="0" smtClean="0">
                        <a:latin typeface="Cambria Math" panose="02040503050406030204" pitchFamily="18" charset="0"/>
                      </a:rPr>
                      <m:t>𝑎</m:t>
                    </m:r>
                  </m:oMath>
                </a14:m>
                <a:r>
                  <a:rPr lang="zh-CN" altLang="en-US" dirty="0"/>
                  <a:t>是终结符</a:t>
                </a:r>
                <a:r>
                  <a:rPr lang="en-US" altLang="zh-CN" dirty="0"/>
                  <a:t>, </a:t>
                </a:r>
                <a14:m>
                  <m:oMath xmlns:m="http://schemas.openxmlformats.org/officeDocument/2006/math">
                    <m:r>
                      <a:rPr lang="en-US" altLang="zh-CN" i="1" dirty="0" smtClean="0">
                        <a:latin typeface="Cambria Math" panose="02040503050406030204" pitchFamily="18" charset="0"/>
                      </a:rPr>
                      <m:t>𝛼</m:t>
                    </m:r>
                  </m:oMath>
                </a14:m>
                <a:r>
                  <a:rPr lang="zh-CN" altLang="en-US" dirty="0"/>
                  <a:t>是零或多个变元的串。</a:t>
                </a:r>
                <a:endParaRPr lang="en-AU" altLang="zh-CN" dirty="0"/>
              </a:p>
              <a:p>
                <a:r>
                  <a:rPr lang="en-US" altLang="zh-CN" dirty="0">
                    <a:latin typeface="Times New Roman" panose="02020603050405020304" pitchFamily="18" charset="0"/>
                    <a:cs typeface="Times New Roman" panose="02020603050405020304" pitchFamily="18" charset="0"/>
                  </a:rPr>
                  <a:t>GNF </a:t>
                </a:r>
                <a:r>
                  <a:rPr lang="zh-CN" altLang="en-US" dirty="0"/>
                  <a:t>每个产生式都会引入一个终结符。</a:t>
                </a:r>
                <a:endParaRPr lang="zh-CN" altLang="en-US" dirty="0"/>
              </a:p>
              <a:p>
                <a:r>
                  <a:rPr lang="zh-CN" altLang="en-US" dirty="0"/>
                  <a:t>长度为</a:t>
                </a:r>
                <a14:m>
                  <m:oMath xmlns:m="http://schemas.openxmlformats.org/officeDocument/2006/math">
                    <m:r>
                      <a:rPr lang="en-US" altLang="zh-CN" i="1" dirty="0" smtClean="0">
                        <a:latin typeface="Cambria Math" panose="02040503050406030204" pitchFamily="18" charset="0"/>
                      </a:rPr>
                      <m:t>𝑛</m:t>
                    </m:r>
                  </m:oMath>
                </a14:m>
                <a:r>
                  <a:rPr lang="zh-CN" altLang="en-US" dirty="0"/>
                  <a:t>的串的派生恰好是</a:t>
                </a:r>
                <a14:m>
                  <m:oMath xmlns:m="http://schemas.openxmlformats.org/officeDocument/2006/math">
                    <m:r>
                      <a:rPr lang="en-US" altLang="zh-CN" i="1" dirty="0" smtClean="0">
                        <a:latin typeface="Cambria Math" panose="02040503050406030204" pitchFamily="18" charset="0"/>
                      </a:rPr>
                      <m:t>𝑛</m:t>
                    </m:r>
                  </m:oMath>
                </a14:m>
                <a:r>
                  <a:rPr lang="zh-CN" altLang="en-US" dirty="0"/>
                  <a:t>步。</a:t>
                </a:r>
                <a:endParaRPr lang="en-US" altLang="zh-CN" dirty="0"/>
              </a:p>
              <a:p>
                <a:pPr marL="0" indent="0">
                  <a:buNone/>
                </a:pPr>
                <a:r>
                  <a:rPr lang="zh-CN" altLang="en-US" dirty="0">
                    <a:solidFill>
                      <a:srgbClr val="FF0000"/>
                    </a:solidFill>
                    <a:latin typeface="Times New Roman" panose="02020603050405020304" pitchFamily="18" charset="0"/>
                    <a:cs typeface="Times New Roman" panose="02020603050405020304" pitchFamily="18" charset="0"/>
                  </a:rPr>
                  <a:t>？？如何将一个</a:t>
                </a:r>
                <a:r>
                  <a:rPr lang="en-US" altLang="zh-CN" dirty="0">
                    <a:solidFill>
                      <a:srgbClr val="FF0000"/>
                    </a:solidFill>
                    <a:latin typeface="Times New Roman" panose="02020603050405020304" pitchFamily="18" charset="0"/>
                    <a:cs typeface="Times New Roman" panose="02020603050405020304" pitchFamily="18" charset="0"/>
                  </a:rPr>
                  <a:t>CFG</a:t>
                </a:r>
                <a:r>
                  <a:rPr lang="zh-CN" altLang="en-US" dirty="0">
                    <a:solidFill>
                      <a:srgbClr val="FF0000"/>
                    </a:solidFill>
                    <a:latin typeface="Times New Roman" panose="02020603050405020304" pitchFamily="18" charset="0"/>
                    <a:cs typeface="Times New Roman" panose="02020603050405020304" pitchFamily="18" charset="0"/>
                  </a:rPr>
                  <a:t>转为</a:t>
                </a:r>
                <a:r>
                  <a:rPr lang="en-US" altLang="zh-CN" dirty="0">
                    <a:solidFill>
                      <a:srgbClr val="FF0000"/>
                    </a:solidFill>
                    <a:latin typeface="Times New Roman" panose="02020603050405020304" pitchFamily="18" charset="0"/>
                    <a:cs typeface="Times New Roman" panose="02020603050405020304" pitchFamily="18" charset="0"/>
                  </a:rPr>
                  <a:t>GNF</a:t>
                </a:r>
                <a:r>
                  <a:rPr lang="zh-CN" altLang="en-US" dirty="0">
                    <a:solidFill>
                      <a:srgbClr val="FF0000"/>
                    </a:solidFill>
                    <a:latin typeface="Times New Roman" panose="02020603050405020304" pitchFamily="18" charset="0"/>
                    <a:cs typeface="Times New Roman" panose="02020603050405020304" pitchFamily="18" charset="0"/>
                  </a:rPr>
                  <a:t>范式</a:t>
                </a:r>
                <a:endParaRPr lang="en-AU" dirty="0">
                  <a:solidFill>
                    <a:srgbClr val="FF0000"/>
                  </a:solidFill>
                  <a:latin typeface="Times New Roman" panose="02020603050405020304" pitchFamily="18" charset="0"/>
                  <a:cs typeface="Times New Roman" panose="0202060305040502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r="-123"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ltLang="zh-CN" dirty="0">
                <a:latin typeface="Times New Roman" panose="02020603050405020304" pitchFamily="18" charset="0"/>
                <a:cs typeface="Times New Roman" panose="02020603050405020304" pitchFamily="18" charset="0"/>
              </a:rPr>
              <a:t>CFG</a:t>
            </a:r>
            <a:r>
              <a:rPr lang="zh-CN" altLang="en-US" dirty="0"/>
              <a:t>转为</a:t>
            </a:r>
            <a:r>
              <a:rPr lang="en-AU" altLang="zh-CN" dirty="0">
                <a:latin typeface="Times New Roman" panose="02020603050405020304" pitchFamily="18" charset="0"/>
                <a:cs typeface="Times New Roman" panose="02020603050405020304" pitchFamily="18" charset="0"/>
              </a:rPr>
              <a:t>GNF</a:t>
            </a:r>
            <a:endParaRPr lang="en-AU"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考虑文法每个形式为</a:t>
                </a:r>
                <a14:m>
                  <m:oMath xmlns:m="http://schemas.openxmlformats.org/officeDocument/2006/math">
                    <m:r>
                      <a:rPr lang="en-US" altLang="zh-CN" i="1" dirty="0">
                        <a:latin typeface="Cambria Math" panose="02040503050406030204" pitchFamily="18" charset="0"/>
                      </a:rPr>
                      <m:t>𝐴</m:t>
                    </m:r>
                    <m:r>
                      <a:rPr lang="en-US" altLang="zh-CN" i="1" dirty="0">
                        <a:latin typeface="Cambria Math" panose="02040503050406030204" pitchFamily="18" charset="0"/>
                      </a:rPr>
                      <m:t> → </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1</m:t>
                        </m:r>
                      </m:sub>
                    </m:sSub>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2</m:t>
                        </m:r>
                      </m:sub>
                    </m:sSub>
                    <m:r>
                      <a:rPr lang="en-AU"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𝑚</m:t>
                        </m:r>
                      </m:sub>
                    </m:sSub>
                  </m:oMath>
                </a14:m>
                <a:r>
                  <a:rPr lang="zh-CN" altLang="en-US" dirty="0"/>
                  <a:t>的产生式，若</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b="0" i="1" dirty="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2</m:t>
                    </m:r>
                    <m:r>
                      <a:rPr lang="en-US" altLang="zh-CN" b="0" i="1" dirty="0" smtClean="0">
                        <a:latin typeface="Cambria Math" panose="02040503050406030204" pitchFamily="18" charset="0"/>
                      </a:rPr>
                      <m:t>)</m:t>
                    </m:r>
                  </m:oMath>
                </a14:m>
                <a:r>
                  <a:rPr lang="zh-CN" altLang="en-US" dirty="0"/>
                  <a:t>为终结符</a:t>
                </a:r>
                <a14:m>
                  <m:oMath xmlns:m="http://schemas.openxmlformats.org/officeDocument/2006/math">
                    <m:r>
                      <a:rPr lang="en-AU" altLang="zh-CN" b="0" i="1">
                        <a:latin typeface="Cambria Math" panose="02040503050406030204" pitchFamily="18" charset="0"/>
                      </a:rPr>
                      <m:t>𝑎</m:t>
                    </m:r>
                  </m:oMath>
                </a14:m>
                <a:r>
                  <a:rPr lang="zh-CN" altLang="en-US" dirty="0"/>
                  <a:t>，则引进新变元</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𝐶</m:t>
                        </m:r>
                      </m:e>
                      <m:sub>
                        <m:r>
                          <a:rPr lang="en-AU" altLang="zh-CN" i="1">
                            <a:latin typeface="Cambria Math" panose="02040503050406030204" pitchFamily="18" charset="0"/>
                          </a:rPr>
                          <m:t>𝑎</m:t>
                        </m:r>
                      </m:sub>
                    </m:sSub>
                  </m:oMath>
                </a14:m>
                <a:r>
                  <a:rPr lang="zh-CN" altLang="en-US" dirty="0"/>
                  <a:t>替换</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𝑖</m:t>
                        </m:r>
                      </m:sub>
                    </m:sSub>
                  </m:oMath>
                </a14:m>
                <a:r>
                  <a:rPr lang="zh-CN" altLang="en-US" dirty="0"/>
                  <a:t>并增加新产生式</a:t>
                </a:r>
                <a14:m>
                  <m:oMath xmlns:m="http://schemas.openxmlformats.org/officeDocument/2006/math">
                    <m:sSub>
                      <m:sSubPr>
                        <m:ctrlPr>
                          <a:rPr lang="en-US" altLang="zh-CN" i="1" dirty="0">
                            <a:latin typeface="Cambria Math" panose="02040503050406030204" pitchFamily="18" charset="0"/>
                          </a:rPr>
                        </m:ctrlPr>
                      </m:sSubPr>
                      <m:e>
                        <m:r>
                          <a:rPr lang="en-AU" altLang="zh-CN" b="0" i="1" dirty="0">
                            <a:latin typeface="Cambria Math" panose="02040503050406030204" pitchFamily="18" charset="0"/>
                          </a:rPr>
                          <m:t>𝐶</m:t>
                        </m:r>
                      </m:e>
                      <m:sub>
                        <m:r>
                          <a:rPr lang="en-AU" altLang="zh-CN" b="0" i="1" dirty="0">
                            <a:latin typeface="Cambria Math" panose="02040503050406030204" pitchFamily="18" charset="0"/>
                          </a:rPr>
                          <m:t>𝑎</m:t>
                        </m:r>
                      </m:sub>
                    </m:sSub>
                    <m:r>
                      <a:rPr lang="en-US" altLang="zh-CN" i="1" dirty="0">
                        <a:latin typeface="Cambria Math" panose="02040503050406030204" pitchFamily="18" charset="0"/>
                      </a:rPr>
                      <m:t>→</m:t>
                    </m:r>
                    <m:r>
                      <a:rPr lang="en-US" altLang="zh-CN" i="1" dirty="0">
                        <a:latin typeface="Cambria Math" panose="02040503050406030204" pitchFamily="18" charset="0"/>
                      </a:rPr>
                      <m:t>𝑎</m:t>
                    </m:r>
                  </m:oMath>
                </a14:m>
                <a:r>
                  <a:rPr lang="zh-CN" altLang="en-US" dirty="0"/>
                  <a:t>。仅需处理</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1</m:t>
                        </m:r>
                      </m:sub>
                    </m:sSub>
                    <m:r>
                      <a:rPr lang="zh-CN" altLang="en-US" i="1" dirty="0">
                        <a:latin typeface="Cambria Math" panose="02040503050406030204" pitchFamily="18" charset="0"/>
                      </a:rPr>
                      <m:t>。</m:t>
                    </m:r>
                  </m:oMath>
                </a14:m>
                <a:endParaRPr lang="en-US" altLang="zh-CN" dirty="0"/>
              </a:p>
              <a:p>
                <a:r>
                  <a:rPr lang="zh-CN" altLang="en-US" dirty="0"/>
                  <a:t>存在以下两种情况：</a:t>
                </a:r>
                <a:endParaRPr lang="en-US" altLang="zh-CN" dirty="0"/>
              </a:p>
              <a:p>
                <a:pPr marL="0" indent="0">
                  <a:buNone/>
                </a:pPr>
                <a:r>
                  <a:rPr lang="en-US" altLang="zh-CN" dirty="0"/>
                  <a:t>	1</a:t>
                </a:r>
                <a:r>
                  <a:rPr lang="zh-CN" altLang="en-US" dirty="0"/>
                  <a:t>）</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1</m:t>
                        </m:r>
                      </m:sub>
                    </m:sSub>
                  </m:oMath>
                </a14:m>
                <a:r>
                  <a:rPr lang="zh-CN" altLang="en-US" dirty="0"/>
                  <a:t>可以转换成</a:t>
                </a:r>
                <a:r>
                  <a:rPr lang="en-US" altLang="zh-CN" dirty="0"/>
                  <a:t>GNF</a:t>
                </a:r>
                <a:r>
                  <a:rPr lang="zh-CN" altLang="en-US" dirty="0"/>
                  <a:t>，</a:t>
                </a:r>
                <a:r>
                  <a:rPr lang="en-US" altLang="zh-CN" dirty="0"/>
                  <a:t>GNF</a:t>
                </a:r>
                <a:r>
                  <a:rPr lang="zh-CN" altLang="en-US" dirty="0"/>
                  <a:t>转换完毕</a:t>
                </a:r>
                <a:endParaRPr lang="en-US" altLang="zh-CN" dirty="0"/>
              </a:p>
              <a:p>
                <a:pPr marL="0" indent="0">
                  <a:buNone/>
                </a:pPr>
                <a:r>
                  <a:rPr lang="en-US" altLang="zh-CN" dirty="0"/>
                  <a:t>	2</a:t>
                </a:r>
                <a:r>
                  <a:rPr lang="zh-CN" altLang="en-US" dirty="0"/>
                  <a:t>）</a:t>
                </a:r>
                <a14:m>
                  <m:oMath xmlns:m="http://schemas.openxmlformats.org/officeDocument/2006/math">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1</m:t>
                        </m:r>
                      </m:sub>
                    </m:sSub>
                  </m:oMath>
                </a14:m>
                <a:r>
                  <a:rPr lang="zh-CN" altLang="en-US" dirty="0"/>
                  <a:t>不能转换成</a:t>
                </a:r>
                <a:r>
                  <a:rPr lang="en-US" altLang="zh-CN" dirty="0"/>
                  <a:t>GNF</a:t>
                </a:r>
                <a:r>
                  <a:rPr lang="zh-CN" altLang="en-US" dirty="0"/>
                  <a:t>，存在左递归</a:t>
                </a:r>
                <a:endParaRPr lang="en-US" altLang="zh-CN" dirty="0"/>
              </a:p>
              <a:p>
                <a:endParaRPr lang="en-AU" dirty="0">
                  <a:solidFill>
                    <a:srgbClr val="FF0000"/>
                  </a:solidFill>
                  <a:latin typeface="Times New Roman" panose="02020603050405020304" pitchFamily="18" charset="0"/>
                  <a:cs typeface="Times New Roman" panose="0202060305040502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格雷巴赫范式 </a:t>
            </a:r>
            <a:r>
              <a:rPr lang="en-AU" altLang="zh-CN" dirty="0">
                <a:latin typeface="Times New Roman" panose="02020603050405020304" pitchFamily="18" charset="0"/>
                <a:cs typeface="Times New Roman" panose="02020603050405020304" pitchFamily="18" charset="0"/>
              </a:rPr>
              <a:t>GNF</a:t>
            </a:r>
            <a:endParaRPr lang="en-AU"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48254"/>
            <a:ext cx="8229600" cy="4525963"/>
          </a:xfrm>
        </p:spPr>
        <p:txBody>
          <a:bodyPr/>
          <a:lstStyle/>
          <a:p>
            <a:r>
              <a:rPr lang="en-US" altLang="zh-CN" dirty="0"/>
              <a:t>GNF</a:t>
            </a:r>
            <a:r>
              <a:rPr lang="zh-CN" altLang="en-US" dirty="0"/>
              <a:t>定理证明</a:t>
            </a:r>
            <a:r>
              <a:rPr lang="en-AU" altLang="zh-CN" dirty="0"/>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每个不带</a:t>
            </a:r>
            <a:r>
              <a:rPr lang="en-US" altLang="zh-CN" i="1" dirty="0">
                <a:latin typeface="Times New Roman" panose="02020603050405020304" pitchFamily="18" charset="0"/>
                <a:cs typeface="Times New Roman" panose="02020603050405020304" pitchFamily="18" charset="0"/>
                <a:sym typeface="Symbol" panose="05050102010706020507"/>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CFL</a:t>
            </a:r>
            <a:r>
              <a:rPr lang="zh-CN" altLang="en-US" dirty="0">
                <a:latin typeface="Times New Roman" panose="02020603050405020304" pitchFamily="18" charset="0"/>
                <a:ea typeface="宋体" panose="02010600030101010101" pitchFamily="2" charset="-122"/>
                <a:cs typeface="Times New Roman" panose="02020603050405020304" pitchFamily="18" charset="0"/>
              </a:rPr>
              <a:t>都可由</a:t>
            </a:r>
            <a:r>
              <a:rPr lang="en-US" altLang="zh-CN" dirty="0">
                <a:latin typeface="Times New Roman" panose="02020603050405020304" pitchFamily="18" charset="0"/>
                <a:ea typeface="宋体" panose="02010600030101010101" pitchFamily="2" charset="-122"/>
                <a:cs typeface="Times New Roman" panose="02020603050405020304" pitchFamily="18" charset="0"/>
              </a:rPr>
              <a:t>GNF</a:t>
            </a:r>
            <a:r>
              <a:rPr lang="zh-CN" altLang="en-US" dirty="0">
                <a:latin typeface="Times New Roman" panose="02020603050405020304" pitchFamily="18" charset="0"/>
                <a:ea typeface="宋体" panose="02010600030101010101" pitchFamily="2" charset="-122"/>
                <a:cs typeface="Times New Roman" panose="02020603050405020304" pitchFamily="18" charset="0"/>
              </a:rPr>
              <a:t>范式产生</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证明：</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设文法不带无用符号，</a:t>
            </a:r>
            <a:r>
              <a:rPr lang="en-US" altLang="zh-CN" i="1" dirty="0">
                <a:latin typeface="Times New Roman" panose="02020603050405020304" pitchFamily="18" charset="0"/>
                <a:cs typeface="Times New Roman" panose="02020603050405020304" pitchFamily="18" charset="0"/>
                <a:sym typeface="Symbol" panose="05050102010706020507"/>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产生式和单元产生式（任何文法都可以化简成这种形式）。则考虑文法每个形式为</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pt-BR" altLang="zh-CN"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pt-BR" altLang="zh-CN"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pt-BR" altLang="zh-CN" i="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的产生式，若</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i="1" baseline="-2500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i</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是终结符</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，则引进变元</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替换</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dirty="0">
                <a:latin typeface="Times New Roman" panose="02020603050405020304" pitchFamily="18" charset="0"/>
                <a:ea typeface="宋体" panose="02010600030101010101" pitchFamily="2" charset="-122"/>
                <a:cs typeface="Times New Roman" panose="02020603050405020304" pitchFamily="18" charset="0"/>
              </a:rPr>
              <a:t>并新增产生式</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i="1" baseline="-25000"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err="1">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，则所有产生式转换成形式为</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err="1">
                <a:latin typeface="Times New Roman" panose="02020603050405020304" pitchFamily="18" charset="0"/>
                <a:ea typeface="宋体" panose="02010600030101010101" pitchFamily="2" charset="-122"/>
                <a:cs typeface="Times New Roman" panose="02020603050405020304" pitchFamily="18" charset="0"/>
              </a:rPr>
              <a:t>m</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m</a:t>
            </a:r>
            <a:r>
              <a:rPr lang="pt-BR"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2</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是变元。对产生式</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2</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，进行重新编号，可以写成</a:t>
            </a:r>
            <a:r>
              <a:rPr lang="en-US" altLang="zh-CN" i="1" dirty="0" err="1">
                <a:latin typeface="Times New Roman" panose="02020603050405020304" pitchFamily="18" charset="0"/>
                <a:ea typeface="宋体" panose="02010600030101010101" pitchFamily="2" charset="-122"/>
              </a:rPr>
              <a:t>A</a:t>
            </a:r>
            <a:r>
              <a:rPr lang="en-US" altLang="zh-CN" i="1" baseline="-30000" dirty="0" err="1">
                <a:latin typeface="Times New Roman" panose="02020603050405020304" pitchFamily="18" charset="0"/>
                <a:ea typeface="宋体" panose="02010600030101010101" pitchFamily="2" charset="-122"/>
              </a:rPr>
              <a:t>i</a:t>
            </a:r>
            <a:r>
              <a:rPr lang="en-US" altLang="zh-CN"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ea typeface="宋体" panose="02010600030101010101" pitchFamily="2" charset="-122"/>
              </a:rPr>
              <a:t>A</a:t>
            </a:r>
            <a:r>
              <a:rPr lang="en-US" altLang="zh-CN" i="1" baseline="-30000" dirty="0" err="1">
                <a:latin typeface="Times New Roman" panose="02020603050405020304" pitchFamily="18" charset="0"/>
                <a:ea typeface="宋体" panose="02010600030101010101" pitchFamily="2" charset="-122"/>
              </a:rPr>
              <a:t>j</a:t>
            </a:r>
            <a:r>
              <a:rPr lang="en-US" altLang="zh-CN" i="1" dirty="0">
                <a:latin typeface="Times New Roman" panose="02020603050405020304" pitchFamily="18" charset="0"/>
                <a:ea typeface="宋体" panose="02010600030101010101" pitchFamily="2" charset="-122"/>
              </a:rPr>
              <a:t>α</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形式，其中，</a:t>
            </a:r>
            <a:r>
              <a:rPr lang="en-US" altLang="zh-CN" i="1" dirty="0" err="1">
                <a:latin typeface="Times New Roman" panose="02020603050405020304" pitchFamily="18" charset="0"/>
                <a:ea typeface="宋体" panose="02010600030101010101" pitchFamily="2" charset="-122"/>
              </a:rPr>
              <a:t>A</a:t>
            </a:r>
            <a:r>
              <a:rPr lang="en-US" altLang="zh-CN" i="1" baseline="-30000" dirty="0" err="1">
                <a:latin typeface="Times New Roman" panose="02020603050405020304" pitchFamily="18" charset="0"/>
                <a:ea typeface="宋体" panose="02010600030101010101" pitchFamily="2" charset="-122"/>
              </a:rPr>
              <a:t>j</a:t>
            </a:r>
            <a:r>
              <a:rPr lang="en-US" altLang="zh-CN" dirty="0" err="1">
                <a:latin typeface="Times New Roman" panose="02020603050405020304" pitchFamily="18" charset="0"/>
                <a:ea typeface="宋体" panose="02010600030101010101" pitchFamily="2" charset="-122"/>
                <a:sym typeface="Symbol" panose="05050102010706020507" pitchFamily="18" charset="2"/>
              </a:rPr>
              <a:t></a:t>
            </a:r>
            <a:r>
              <a:rPr lang="en-US" altLang="zh-CN" i="1" dirty="0" err="1">
                <a:latin typeface="Times New Roman" panose="02020603050405020304" pitchFamily="18" charset="0"/>
                <a:ea typeface="宋体" panose="02010600030101010101" pitchFamily="2" charset="-122"/>
              </a:rPr>
              <a:t>a</a:t>
            </a:r>
            <a:r>
              <a:rPr lang="en-US" altLang="zh-CN" i="1" dirty="0">
                <a:latin typeface="Times New Roman" panose="02020603050405020304" pitchFamily="18" charset="0"/>
                <a:ea typeface="宋体" panose="02010600030101010101" pitchFamily="2" charset="-122"/>
              </a:rPr>
              <a:t>α | a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记为</a:t>
            </a:r>
            <a:r>
              <a:rPr lang="zh-CN" altLang="en-US" i="1" dirty="0">
                <a:latin typeface="Times New Roman" panose="02020603050405020304" pitchFamily="18" charset="0"/>
                <a:ea typeface="宋体" panose="02010600030101010101" pitchFamily="2" charset="-122"/>
                <a:sym typeface="Symbol" panose="05050102010706020507"/>
              </a:rPr>
              <a:t></a:t>
            </a:r>
            <a:r>
              <a:rPr lang="en-US" altLang="zh-CN" dirty="0">
                <a:latin typeface="Times New Roman" panose="02020603050405020304" pitchFamily="18" charset="0"/>
                <a:ea typeface="宋体" panose="02010600030101010101" pitchFamily="2" charset="-122"/>
                <a:sym typeface="Symbol" panose="05050102010706020507"/>
              </a:rPr>
              <a:t>)</a:t>
            </a:r>
            <a:r>
              <a:rPr lang="zh-CN" altLang="en-US" dirty="0">
                <a:latin typeface="Times New Roman" panose="02020603050405020304" pitchFamily="18" charset="0"/>
                <a:ea typeface="宋体" panose="02010600030101010101" pitchFamily="2" charset="-122"/>
              </a:rPr>
              <a:t>形式。</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时，出现左递归，引入新的变元</a:t>
            </a:r>
            <a:r>
              <a:rPr lang="en-US" altLang="zh-CN" i="1"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ea typeface="宋体" panose="02010600030101010101" pitchFamily="2" charset="-122"/>
              </a:rPr>
              <a:t>Aα | </a:t>
            </a:r>
            <a:r>
              <a:rPr lang="zh-CN" altLang="en-US" i="1" dirty="0">
                <a:latin typeface="Times New Roman" panose="02020603050405020304" pitchFamily="18" charset="0"/>
                <a:ea typeface="宋体" panose="02010600030101010101" pitchFamily="2" charset="-122"/>
                <a:sym typeface="Symbol" panose="05050102010706020507"/>
              </a:rPr>
              <a:t></a:t>
            </a:r>
            <a:r>
              <a:rPr lang="zh-CN" altLang="en-US" dirty="0">
                <a:latin typeface="Times New Roman" panose="02020603050405020304" pitchFamily="18" charset="0"/>
                <a:ea typeface="宋体" panose="02010600030101010101" pitchFamily="2" charset="-122"/>
                <a:sym typeface="Symbol" panose="05050102010706020507"/>
              </a:rPr>
              <a:t>可以写成</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i="1" dirty="0">
                <a:latin typeface="Times New Roman" panose="02020603050405020304" pitchFamily="18" charset="0"/>
                <a:ea typeface="宋体" panose="02010600030101010101" pitchFamily="2" charset="-122"/>
                <a:sym typeface="Symbol" panose="05050102010706020507"/>
              </a:rPr>
              <a:t></a:t>
            </a:r>
            <a:r>
              <a:rPr lang="en-US" altLang="zh-CN" i="1" dirty="0">
                <a:latin typeface="Times New Roman" panose="02020603050405020304" pitchFamily="18" charset="0"/>
                <a:ea typeface="宋体" panose="02010600030101010101" pitchFamily="2" charset="-122"/>
                <a:sym typeface="Symbol" panose="05050102010706020507"/>
              </a:rPr>
              <a:t>B|</a:t>
            </a:r>
            <a:r>
              <a:rPr lang="zh-CN" altLang="en-US" i="1" dirty="0">
                <a:latin typeface="Times New Roman" panose="02020603050405020304" pitchFamily="18" charset="0"/>
                <a:ea typeface="宋体" panose="02010600030101010101" pitchFamily="2" charset="-122"/>
                <a:sym typeface="Symbol" panose="05050102010706020507"/>
              </a:rPr>
              <a:t></a:t>
            </a:r>
            <a:r>
              <a:rPr lang="zh-CN" altLang="en-US" dirty="0">
                <a:latin typeface="Times New Roman" panose="02020603050405020304" pitchFamily="18" charset="0"/>
                <a:ea typeface="宋体" panose="02010600030101010101" pitchFamily="2" charset="-122"/>
                <a:sym typeface="Symbol" panose="05050102010706020507"/>
              </a:rPr>
              <a:t>，</a:t>
            </a:r>
            <a:r>
              <a:rPr lang="en-US" altLang="zh-CN" i="1" dirty="0">
                <a:latin typeface="Times New Roman" panose="02020603050405020304" pitchFamily="18" charset="0"/>
                <a:ea typeface="宋体" panose="02010600030101010101" pitchFamily="2" charset="-122"/>
                <a:sym typeface="Symbol" panose="05050102010706020507"/>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ea typeface="宋体" panose="02010600030101010101" pitchFamily="2" charset="-122"/>
              </a:rPr>
              <a:t>α</a:t>
            </a:r>
            <a:r>
              <a:rPr lang="en-US" altLang="zh-CN" i="1" dirty="0">
                <a:latin typeface="Times New Roman" panose="02020603050405020304" pitchFamily="18" charset="0"/>
                <a:ea typeface="宋体" panose="02010600030101010101" pitchFamily="2" charset="-122"/>
                <a:sym typeface="Symbol" panose="05050102010706020507"/>
              </a:rPr>
              <a:t>B|</a:t>
            </a:r>
            <a:r>
              <a:rPr lang="en-US" altLang="zh-CN" i="1" dirty="0">
                <a:latin typeface="Times New Roman" panose="02020603050405020304" pitchFamily="18" charset="0"/>
                <a:ea typeface="宋体" panose="02010600030101010101" pitchFamily="2" charset="-122"/>
              </a:rPr>
              <a:t>α</a:t>
            </a:r>
            <a:r>
              <a:rPr lang="zh-CN" altLang="en-US" dirty="0">
                <a:latin typeface="Times New Roman" panose="02020603050405020304" pitchFamily="18" charset="0"/>
                <a:ea typeface="宋体" panose="02010600030101010101" pitchFamily="2" charset="-122"/>
                <a:sym typeface="Symbol" panose="05050102010706020507"/>
              </a:rPr>
              <a:t>；</a:t>
            </a:r>
            <a:r>
              <a:rPr lang="en-US" altLang="zh-CN" i="1"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时，直接将</a:t>
            </a:r>
            <a:r>
              <a:rPr lang="en-US" altLang="zh-CN" i="1" dirty="0" err="1">
                <a:latin typeface="Times New Roman" panose="02020603050405020304" pitchFamily="18" charset="0"/>
                <a:ea typeface="宋体" panose="02010600030101010101" pitchFamily="2" charset="-122"/>
              </a:rPr>
              <a:t>A</a:t>
            </a:r>
            <a:r>
              <a:rPr lang="en-US" altLang="zh-CN" i="1" baseline="-30000" dirty="0" err="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代入。</a:t>
            </a:r>
            <a:endParaRPr lang="en-US" altLang="zh-CN" dirty="0">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格雷巴赫范式 </a:t>
            </a:r>
            <a:r>
              <a:rPr lang="en-AU" altLang="zh-CN" dirty="0">
                <a:latin typeface="Times New Roman" panose="02020603050405020304" pitchFamily="18" charset="0"/>
                <a:cs typeface="Times New Roman" panose="02020603050405020304" pitchFamily="18" charset="0"/>
              </a:rPr>
              <a:t>GNF</a:t>
            </a:r>
            <a:endParaRPr lang="en-AU"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48254"/>
            <a:ext cx="8229600" cy="4525963"/>
          </a:xfrm>
        </p:spPr>
        <p:txBody>
          <a:bodyPr/>
          <a:lstStyle/>
          <a:p>
            <a:r>
              <a:rPr lang="en-US" altLang="zh-CN" dirty="0"/>
              <a:t>GNF</a:t>
            </a:r>
            <a:r>
              <a:rPr lang="zh-CN" altLang="en-US" dirty="0"/>
              <a:t>定理证明</a:t>
            </a:r>
            <a:r>
              <a:rPr lang="en-AU" altLang="zh-CN" dirty="0"/>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每个不带</a:t>
            </a:r>
            <a:r>
              <a:rPr lang="en-US" altLang="zh-CN" i="1" dirty="0">
                <a:latin typeface="Times New Roman" panose="02020603050405020304" pitchFamily="18" charset="0"/>
                <a:cs typeface="Times New Roman" panose="02020603050405020304" pitchFamily="18" charset="0"/>
                <a:sym typeface="Symbol" panose="05050102010706020507"/>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CFL</a:t>
            </a:r>
            <a:r>
              <a:rPr lang="zh-CN" altLang="en-US" dirty="0">
                <a:latin typeface="Times New Roman" panose="02020603050405020304" pitchFamily="18" charset="0"/>
                <a:ea typeface="宋体" panose="02010600030101010101" pitchFamily="2" charset="-122"/>
                <a:cs typeface="Times New Roman" panose="02020603050405020304" pitchFamily="18" charset="0"/>
              </a:rPr>
              <a:t>都可由</a:t>
            </a:r>
            <a:r>
              <a:rPr lang="en-US" altLang="zh-CN" dirty="0">
                <a:latin typeface="Times New Roman" panose="02020603050405020304" pitchFamily="18" charset="0"/>
                <a:ea typeface="宋体" panose="02010600030101010101" pitchFamily="2" charset="-122"/>
                <a:cs typeface="Times New Roman" panose="02020603050405020304" pitchFamily="18" charset="0"/>
              </a:rPr>
              <a:t>GNF</a:t>
            </a:r>
            <a:r>
              <a:rPr lang="zh-CN" altLang="en-US" dirty="0">
                <a:latin typeface="Times New Roman" panose="02020603050405020304" pitchFamily="18" charset="0"/>
                <a:ea typeface="宋体" panose="02010600030101010101" pitchFamily="2" charset="-122"/>
                <a:cs typeface="Times New Roman" panose="02020603050405020304" pitchFamily="18" charset="0"/>
              </a:rPr>
              <a:t>范式产生</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dirty="0">
                <a:latin typeface="Times New Roman" panose="02020603050405020304" pitchFamily="18" charset="0"/>
                <a:cs typeface="Times New Roman" panose="02020603050405020304" pitchFamily="18" charset="0"/>
              </a:rPr>
              <a:t>证明：</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设文法不带无用符号，</a:t>
            </a:r>
            <a:r>
              <a:rPr lang="en-US" altLang="zh-CN" i="1" dirty="0">
                <a:latin typeface="Times New Roman" panose="02020603050405020304" pitchFamily="18" charset="0"/>
                <a:cs typeface="Times New Roman" panose="02020603050405020304" pitchFamily="18" charset="0"/>
                <a:sym typeface="Symbol" panose="05050102010706020507"/>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产生式和单元产生式（任何文法都可以化简成这种形式）。则考虑文法每个形式为</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pt-BR" altLang="zh-CN"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pt-BR" altLang="zh-CN"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pt-BR" altLang="zh-CN" i="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的产生式，若</a:t>
            </a:r>
            <a:r>
              <a:rPr lang="pt-BR"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i="1" baseline="-2500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i</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是终结符</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，则引进变元</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替换</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dirty="0">
                <a:latin typeface="Times New Roman" panose="02020603050405020304" pitchFamily="18" charset="0"/>
                <a:ea typeface="宋体" panose="02010600030101010101" pitchFamily="2" charset="-122"/>
                <a:cs typeface="Times New Roman" panose="02020603050405020304" pitchFamily="18" charset="0"/>
              </a:rPr>
              <a:t>并新增产生式</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i="1" baseline="-25000"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err="1">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，则所有产生式转换成形式为</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err="1">
                <a:latin typeface="Times New Roman" panose="02020603050405020304" pitchFamily="18" charset="0"/>
                <a:ea typeface="宋体" panose="02010600030101010101" pitchFamily="2" charset="-122"/>
                <a:cs typeface="Times New Roman" panose="02020603050405020304" pitchFamily="18" charset="0"/>
              </a:rPr>
              <a:t>m</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m</a:t>
            </a:r>
            <a:r>
              <a:rPr lang="pt-BR"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2</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是变元。对产生式</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i="1" baseline="-2500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pt-BR"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2</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，进行重新编号，可以写成</a:t>
            </a:r>
            <a:r>
              <a:rPr lang="en-US" altLang="zh-CN" i="1" dirty="0" err="1">
                <a:latin typeface="Times New Roman" panose="02020603050405020304" pitchFamily="18" charset="0"/>
                <a:ea typeface="宋体" panose="02010600030101010101" pitchFamily="2" charset="-122"/>
              </a:rPr>
              <a:t>A</a:t>
            </a:r>
            <a:r>
              <a:rPr lang="en-US" altLang="zh-CN" i="1" baseline="-30000" dirty="0" err="1">
                <a:latin typeface="Times New Roman" panose="02020603050405020304" pitchFamily="18" charset="0"/>
                <a:ea typeface="宋体" panose="02010600030101010101" pitchFamily="2" charset="-122"/>
              </a:rPr>
              <a:t>i</a:t>
            </a:r>
            <a:r>
              <a:rPr lang="en-US" altLang="zh-CN"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ea typeface="宋体" panose="02010600030101010101" pitchFamily="2" charset="-122"/>
              </a:rPr>
              <a:t>A</a:t>
            </a:r>
            <a:r>
              <a:rPr lang="en-US" altLang="zh-CN" i="1" baseline="-30000" dirty="0" err="1">
                <a:latin typeface="Times New Roman" panose="02020603050405020304" pitchFamily="18" charset="0"/>
                <a:ea typeface="宋体" panose="02010600030101010101" pitchFamily="2" charset="-122"/>
              </a:rPr>
              <a:t>j</a:t>
            </a:r>
            <a:r>
              <a:rPr lang="en-US" altLang="zh-CN" i="1" dirty="0">
                <a:latin typeface="Times New Roman" panose="02020603050405020304" pitchFamily="18" charset="0"/>
                <a:ea typeface="宋体" panose="02010600030101010101" pitchFamily="2" charset="-122"/>
              </a:rPr>
              <a:t>α</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j</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形式，其中，</a:t>
            </a:r>
            <a:r>
              <a:rPr lang="en-US" altLang="zh-CN" i="1" dirty="0" err="1">
                <a:latin typeface="Times New Roman" panose="02020603050405020304" pitchFamily="18" charset="0"/>
                <a:ea typeface="宋体" panose="02010600030101010101" pitchFamily="2" charset="-122"/>
              </a:rPr>
              <a:t>A</a:t>
            </a:r>
            <a:r>
              <a:rPr lang="en-US" altLang="zh-CN" i="1" baseline="-30000" dirty="0" err="1">
                <a:latin typeface="Times New Roman" panose="02020603050405020304" pitchFamily="18" charset="0"/>
                <a:ea typeface="宋体" panose="02010600030101010101" pitchFamily="2" charset="-122"/>
              </a:rPr>
              <a:t>j</a:t>
            </a:r>
            <a:r>
              <a:rPr lang="en-US" altLang="zh-CN" dirty="0" err="1">
                <a:latin typeface="Times New Roman" panose="02020603050405020304" pitchFamily="18" charset="0"/>
                <a:ea typeface="宋体" panose="02010600030101010101" pitchFamily="2" charset="-122"/>
                <a:sym typeface="Symbol" panose="05050102010706020507" pitchFamily="18" charset="2"/>
              </a:rPr>
              <a:t></a:t>
            </a:r>
            <a:r>
              <a:rPr lang="en-US" altLang="zh-CN" i="1" dirty="0" err="1">
                <a:latin typeface="Times New Roman" panose="02020603050405020304" pitchFamily="18" charset="0"/>
                <a:ea typeface="宋体" panose="02010600030101010101" pitchFamily="2" charset="-122"/>
              </a:rPr>
              <a:t>a</a:t>
            </a:r>
            <a:r>
              <a:rPr lang="en-US" altLang="zh-CN" i="1" dirty="0">
                <a:latin typeface="Times New Roman" panose="02020603050405020304" pitchFamily="18" charset="0"/>
                <a:ea typeface="宋体" panose="02010600030101010101" pitchFamily="2" charset="-122"/>
              </a:rPr>
              <a:t>α | a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记为</a:t>
            </a:r>
            <a:r>
              <a:rPr lang="zh-CN" altLang="en-US" i="1" dirty="0">
                <a:latin typeface="Times New Roman" panose="02020603050405020304" pitchFamily="18" charset="0"/>
                <a:ea typeface="宋体" panose="02010600030101010101" pitchFamily="2" charset="-122"/>
                <a:sym typeface="Symbol" panose="05050102010706020507"/>
              </a:rPr>
              <a:t></a:t>
            </a:r>
            <a:r>
              <a:rPr lang="en-US" altLang="zh-CN" dirty="0">
                <a:latin typeface="Times New Roman" panose="02020603050405020304" pitchFamily="18" charset="0"/>
                <a:ea typeface="宋体" panose="02010600030101010101" pitchFamily="2" charset="-122"/>
                <a:sym typeface="Symbol" panose="05050102010706020507"/>
              </a:rPr>
              <a:t>)</a:t>
            </a:r>
            <a:r>
              <a:rPr lang="zh-CN" altLang="en-US" dirty="0">
                <a:latin typeface="Times New Roman" panose="02020603050405020304" pitchFamily="18" charset="0"/>
                <a:ea typeface="宋体" panose="02010600030101010101" pitchFamily="2" charset="-122"/>
              </a:rPr>
              <a:t>形式。</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时，出现左递归，引入新的变元</a:t>
            </a:r>
            <a:r>
              <a:rPr lang="en-US" altLang="zh-CN" i="1"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ea typeface="宋体" panose="02010600030101010101" pitchFamily="2" charset="-122"/>
              </a:rPr>
              <a:t>Aα | </a:t>
            </a:r>
            <a:r>
              <a:rPr lang="zh-CN" altLang="en-US" i="1" dirty="0">
                <a:latin typeface="Times New Roman" panose="02020603050405020304" pitchFamily="18" charset="0"/>
                <a:ea typeface="宋体" panose="02010600030101010101" pitchFamily="2" charset="-122"/>
                <a:sym typeface="Symbol" panose="05050102010706020507"/>
              </a:rPr>
              <a:t></a:t>
            </a:r>
            <a:r>
              <a:rPr lang="zh-CN" altLang="en-US" dirty="0">
                <a:latin typeface="Times New Roman" panose="02020603050405020304" pitchFamily="18" charset="0"/>
                <a:ea typeface="宋体" panose="02010600030101010101" pitchFamily="2" charset="-122"/>
                <a:sym typeface="Symbol" panose="05050102010706020507"/>
              </a:rPr>
              <a:t>可以写成</a:t>
            </a:r>
            <a:r>
              <a:rPr lang="en-US" altLang="zh-CN" i="1" dirty="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i="1" dirty="0">
                <a:latin typeface="Times New Roman" panose="02020603050405020304" pitchFamily="18" charset="0"/>
                <a:ea typeface="宋体" panose="02010600030101010101" pitchFamily="2" charset="-122"/>
                <a:sym typeface="Symbol" panose="05050102010706020507"/>
              </a:rPr>
              <a:t></a:t>
            </a:r>
            <a:r>
              <a:rPr lang="en-US" altLang="zh-CN" i="1" dirty="0">
                <a:latin typeface="Times New Roman" panose="02020603050405020304" pitchFamily="18" charset="0"/>
                <a:ea typeface="宋体" panose="02010600030101010101" pitchFamily="2" charset="-122"/>
                <a:sym typeface="Symbol" panose="05050102010706020507"/>
              </a:rPr>
              <a:t>B|</a:t>
            </a:r>
            <a:r>
              <a:rPr lang="zh-CN" altLang="en-US" i="1" dirty="0">
                <a:latin typeface="Times New Roman" panose="02020603050405020304" pitchFamily="18" charset="0"/>
                <a:ea typeface="宋体" panose="02010600030101010101" pitchFamily="2" charset="-122"/>
                <a:sym typeface="Symbol" panose="05050102010706020507"/>
              </a:rPr>
              <a:t> </a:t>
            </a:r>
            <a:r>
              <a:rPr lang="zh-CN" altLang="en-US" dirty="0">
                <a:latin typeface="Times New Roman" panose="02020603050405020304" pitchFamily="18" charset="0"/>
                <a:ea typeface="宋体" panose="02010600030101010101" pitchFamily="2" charset="-122"/>
                <a:sym typeface="Symbol" panose="05050102010706020507"/>
              </a:rPr>
              <a:t>，</a:t>
            </a:r>
            <a:r>
              <a:rPr lang="en-US" altLang="zh-CN" i="1" dirty="0">
                <a:latin typeface="Times New Roman" panose="02020603050405020304" pitchFamily="18" charset="0"/>
                <a:ea typeface="宋体" panose="02010600030101010101" pitchFamily="2" charset="-122"/>
                <a:sym typeface="Symbol" panose="05050102010706020507"/>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ea typeface="宋体" panose="02010600030101010101" pitchFamily="2" charset="-122"/>
              </a:rPr>
              <a:t>α</a:t>
            </a:r>
            <a:r>
              <a:rPr lang="en-US" altLang="zh-CN" i="1" dirty="0">
                <a:latin typeface="Times New Roman" panose="02020603050405020304" pitchFamily="18" charset="0"/>
                <a:ea typeface="宋体" panose="02010600030101010101" pitchFamily="2" charset="-122"/>
                <a:sym typeface="Symbol" panose="05050102010706020507"/>
              </a:rPr>
              <a:t>B|</a:t>
            </a:r>
            <a:r>
              <a:rPr lang="en-US" altLang="zh-CN" i="1" dirty="0">
                <a:latin typeface="Times New Roman" panose="02020603050405020304" pitchFamily="18" charset="0"/>
                <a:ea typeface="宋体" panose="02010600030101010101" pitchFamily="2" charset="-122"/>
              </a:rPr>
              <a:t>α</a:t>
            </a:r>
            <a:r>
              <a:rPr lang="zh-CN" altLang="en-US" dirty="0">
                <a:latin typeface="Times New Roman" panose="02020603050405020304" pitchFamily="18" charset="0"/>
                <a:ea typeface="宋体" panose="02010600030101010101" pitchFamily="2" charset="-122"/>
                <a:sym typeface="Symbol" panose="05050102010706020507"/>
              </a:rPr>
              <a:t>；</a:t>
            </a:r>
            <a:r>
              <a:rPr lang="en-US" altLang="zh-CN" i="1"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a:t>
            </a:r>
            <a:r>
              <a:rPr lang="en-US" altLang="zh-CN" i="1" dirty="0">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时，直接将</a:t>
            </a:r>
            <a:r>
              <a:rPr lang="en-US" altLang="zh-CN" i="1" dirty="0" err="1">
                <a:latin typeface="Times New Roman" panose="02020603050405020304" pitchFamily="18" charset="0"/>
                <a:ea typeface="宋体" panose="02010600030101010101" pitchFamily="2" charset="-122"/>
              </a:rPr>
              <a:t>A</a:t>
            </a:r>
            <a:r>
              <a:rPr lang="en-US" altLang="zh-CN" i="1" baseline="-30000" dirty="0" err="1">
                <a:latin typeface="Times New Roman" panose="02020603050405020304" pitchFamily="18" charset="0"/>
                <a:ea typeface="宋体" panose="02010600030101010101" pitchFamily="2" charset="-122"/>
              </a:rPr>
              <a:t>j</a:t>
            </a:r>
            <a:r>
              <a:rPr lang="zh-CN" altLang="en-US" dirty="0">
                <a:latin typeface="Times New Roman" panose="02020603050405020304" pitchFamily="18" charset="0"/>
                <a:ea typeface="宋体" panose="02010600030101010101" pitchFamily="2" charset="-122"/>
              </a:rPr>
              <a:t>代入。</a:t>
            </a:r>
            <a:endParaRPr lang="en-US" altLang="zh-CN" dirty="0">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矩形 4"/>
          <p:cNvSpPr/>
          <p:nvPr/>
        </p:nvSpPr>
        <p:spPr>
          <a:xfrm>
            <a:off x="1371600" y="3048000"/>
            <a:ext cx="6858000" cy="2677656"/>
          </a:xfrm>
          <a:prstGeom prst="rect">
            <a:avLst/>
          </a:prstGeom>
          <a:solidFill>
            <a:srgbClr val="FFC000"/>
          </a:solidFill>
        </p:spPr>
        <p:txBody>
          <a:bodyPr wrap="square">
            <a:spAutoFit/>
          </a:bodyPr>
          <a:lstStyle/>
          <a:p>
            <a:r>
              <a:rPr lang="zh-CN" altLang="en-US" sz="2800" b="1" dirty="0">
                <a:solidFill>
                  <a:srgbClr val="FF0000"/>
                </a:solidFill>
                <a:latin typeface="黑体" panose="02010609060101010101" pitchFamily="49" charset="-122"/>
                <a:ea typeface="黑体" panose="02010609060101010101" pitchFamily="49" charset="-122"/>
              </a:rPr>
              <a:t>总结：</a:t>
            </a:r>
            <a:r>
              <a:rPr lang="zh-CN" altLang="en-US" sz="2800" b="1" dirty="0">
                <a:latin typeface="黑体" panose="02010609060101010101" pitchFamily="49" charset="-122"/>
                <a:ea typeface="黑体" panose="02010609060101010101" pitchFamily="49" charset="-122"/>
              </a:rPr>
              <a:t>先“替换”非首终结符，再“代入”</a:t>
            </a:r>
            <a:endParaRPr lang="en-US" altLang="zh-CN" sz="2800" b="1" dirty="0">
              <a:latin typeface="黑体" panose="02010609060101010101" pitchFamily="49" charset="-122"/>
              <a:ea typeface="黑体" panose="02010609060101010101" pitchFamily="49" charset="-122"/>
            </a:endParaRPr>
          </a:p>
          <a:p>
            <a:r>
              <a:rPr lang="zh-CN" altLang="en-US" sz="2800" b="1" dirty="0">
                <a:solidFill>
                  <a:srgbClr val="FF0000"/>
                </a:solidFill>
                <a:latin typeface="黑体" panose="02010609060101010101" pitchFamily="49" charset="-122"/>
                <a:ea typeface="黑体" panose="02010609060101010101" pitchFamily="49" charset="-122"/>
              </a:rPr>
              <a:t>消除直接左递归：</a:t>
            </a:r>
            <a:endParaRPr lang="en-US" altLang="zh-CN" sz="2800" b="1" dirty="0">
              <a:solidFill>
                <a:srgbClr val="FF0000"/>
              </a:solidFill>
              <a:latin typeface="黑体" panose="02010609060101010101" pitchFamily="49" charset="-122"/>
              <a:ea typeface="黑体" panose="02010609060101010101" pitchFamily="49" charset="-122"/>
            </a:endParaRPr>
          </a:p>
          <a:p>
            <a:pPr marL="0" lvl="0" indent="0">
              <a:buNone/>
              <a:defRPr/>
            </a:pPr>
            <a:r>
              <a:rPr lang="en-US" altLang="zh-CN" sz="2800" b="1" i="1" dirty="0">
                <a:latin typeface="Times New Roman" panose="02020603050405020304" pitchFamily="18" charset="0"/>
                <a:ea typeface="宋体" panose="02010600030101010101" pitchFamily="2" charset="-122"/>
              </a:rPr>
              <a:t>A</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rPr>
              <a:t>Aα </a:t>
            </a:r>
            <a:r>
              <a:rPr lang="en-US" altLang="zh-CN"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ea typeface="宋体" panose="02010600030101010101" pitchFamily="2" charset="-122"/>
              </a:rPr>
              <a:t> </a:t>
            </a:r>
            <a:r>
              <a:rPr lang="zh-CN" altLang="en-US" sz="2800" b="1" i="1" dirty="0">
                <a:latin typeface="Times New Roman" panose="02020603050405020304" pitchFamily="18" charset="0"/>
                <a:ea typeface="宋体" panose="02010600030101010101" pitchFamily="2" charset="-122"/>
                <a:sym typeface="Symbol" panose="05050102010706020507"/>
              </a:rPr>
              <a:t>   </a:t>
            </a:r>
            <a:r>
              <a:rPr lang="en-US" altLang="zh-CN" sz="2800" b="1" i="1" dirty="0">
                <a:latin typeface="Times New Roman" panose="02020603050405020304" pitchFamily="18" charset="0"/>
                <a:ea typeface="宋体" panose="02010600030101010101" pitchFamily="2" charset="-122"/>
                <a:sym typeface="Symbol" panose="05050102010706020507"/>
              </a:rPr>
              <a:t>...... </a:t>
            </a:r>
            <a:r>
              <a:rPr lang="en-US" altLang="zh-CN" sz="2800" b="1" dirty="0">
                <a:latin typeface="Times New Roman" panose="02020603050405020304" pitchFamily="18" charset="0"/>
                <a:ea typeface="宋体" panose="02010600030101010101" pitchFamily="2" charset="-122"/>
                <a:sym typeface="Wingdings" panose="05000000000000000000" pitchFamily="2" charset="2"/>
              </a:rPr>
              <a:t></a:t>
            </a:r>
            <a:r>
              <a:rPr lang="zh-CN" altLang="en-US" sz="2800" b="1" i="1" dirty="0">
                <a:latin typeface="Times New Roman" panose="02020603050405020304" pitchFamily="18" charset="0"/>
                <a:ea typeface="宋体" panose="02010600030101010101" pitchFamily="2" charset="-122"/>
                <a:sym typeface="Symbol" panose="05050102010706020507"/>
              </a:rPr>
              <a:t></a:t>
            </a:r>
            <a:r>
              <a:rPr lang="en-US" altLang="zh-CN" sz="2800" b="1" i="1" dirty="0">
                <a:latin typeface="Times New Roman" panose="02020603050405020304" pitchFamily="18" charset="0"/>
                <a:ea typeface="宋体" panose="02010600030101010101" pitchFamily="2" charset="-122"/>
              </a:rPr>
              <a:t>α</a:t>
            </a:r>
            <a:r>
              <a:rPr lang="en-US" altLang="zh-CN" sz="2800" b="1" i="1" baseline="30000" dirty="0">
                <a:latin typeface="Times New Roman" panose="02020603050405020304" pitchFamily="18" charset="0"/>
                <a:ea typeface="宋体" panose="02010600030101010101" pitchFamily="2" charset="-122"/>
              </a:rPr>
              <a:t>n</a:t>
            </a:r>
            <a:endParaRPr lang="en-US" altLang="zh-CN" sz="2800" b="1" i="1" baseline="30000" dirty="0">
              <a:latin typeface="Times New Roman" panose="02020603050405020304" pitchFamily="18" charset="0"/>
              <a:ea typeface="宋体" panose="02010600030101010101" pitchFamily="2" charset="-122"/>
            </a:endParaRPr>
          </a:p>
          <a:p>
            <a:pPr marL="0" lvl="0" indent="0">
              <a:buNone/>
              <a:defRPr/>
            </a:pPr>
            <a:r>
              <a:rPr lang="en-US" altLang="zh-CN" sz="2800" b="1" dirty="0">
                <a:latin typeface="Times New Roman" panose="02020603050405020304" pitchFamily="18" charset="0"/>
                <a:ea typeface="宋体" panose="02010600030101010101" pitchFamily="2" charset="-122"/>
                <a:sym typeface="Symbol" panose="05050102010706020507"/>
              </a:rPr>
              <a:t>                </a:t>
            </a:r>
            <a:endParaRPr lang="en-US" altLang="zh-CN" sz="2800" b="1" dirty="0">
              <a:latin typeface="Times New Roman" panose="02020603050405020304" pitchFamily="18" charset="0"/>
              <a:ea typeface="宋体" panose="02010600030101010101" pitchFamily="2" charset="-122"/>
            </a:endParaRPr>
          </a:p>
          <a:p>
            <a:pPr lvl="0">
              <a:defRPr/>
            </a:pPr>
            <a:r>
              <a:rPr lang="en-US" sz="28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b="1" i="1" dirty="0">
                <a:latin typeface="Times New Roman" panose="02020603050405020304" pitchFamily="18" charset="0"/>
                <a:ea typeface="宋体" panose="02010600030101010101" pitchFamily="2" charset="-122"/>
                <a:sym typeface="Symbol" panose="05050102010706020507"/>
              </a:rPr>
              <a:t></a:t>
            </a:r>
            <a:r>
              <a:rPr lang="en-US" altLang="zh-CN" sz="2800" b="1" i="1" dirty="0">
                <a:latin typeface="Times New Roman" panose="02020603050405020304" pitchFamily="18" charset="0"/>
                <a:ea typeface="宋体" panose="02010600030101010101" pitchFamily="2" charset="-122"/>
                <a:sym typeface="Symbol" panose="05050102010706020507"/>
              </a:rPr>
              <a:t>B</a:t>
            </a:r>
            <a:r>
              <a:rPr lang="en-US" altLang="zh-CN" sz="2800" b="1" dirty="0">
                <a:latin typeface="Times New Roman" panose="02020603050405020304" pitchFamily="18" charset="0"/>
                <a:ea typeface="宋体" panose="02010600030101010101" pitchFamily="2" charset="-122"/>
                <a:sym typeface="Symbol" panose="05050102010706020507"/>
              </a:rPr>
              <a:t>|</a:t>
            </a:r>
            <a:r>
              <a:rPr lang="zh-CN" altLang="en-US" sz="2800" b="1" i="1" dirty="0">
                <a:latin typeface="Times New Roman" panose="02020603050405020304" pitchFamily="18" charset="0"/>
                <a:sym typeface="Symbol" panose="05050102010706020507"/>
              </a:rPr>
              <a:t></a:t>
            </a:r>
            <a:r>
              <a:rPr lang="zh-CN" altLang="en-US" sz="2800" b="1" dirty="0">
                <a:latin typeface="Times New Roman" panose="02020603050405020304" pitchFamily="18" charset="0"/>
                <a:sym typeface="Symbol" panose="05050102010706020507"/>
              </a:rPr>
              <a:t>，</a:t>
            </a:r>
            <a:r>
              <a:rPr lang="en-US" altLang="zh-CN" sz="2800" b="1" i="1" dirty="0">
                <a:latin typeface="Times New Roman" panose="02020603050405020304" pitchFamily="18" charset="0"/>
                <a:ea typeface="宋体" panose="02010600030101010101" pitchFamily="2" charset="-122"/>
                <a:sym typeface="Symbol" panose="05050102010706020507"/>
              </a:rPr>
              <a:t>B</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rPr>
              <a:t>αB|α </a:t>
            </a:r>
            <a:r>
              <a:rPr lang="en-US" altLang="zh-CN"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ea typeface="宋体" panose="02010600030101010101" pitchFamily="2" charset="-122"/>
              </a:rPr>
              <a:t>α</a:t>
            </a:r>
            <a:r>
              <a:rPr lang="en-US" altLang="zh-CN" sz="2800" b="1" i="1" baseline="30000" dirty="0">
                <a:latin typeface="Times New Roman" panose="02020603050405020304" pitchFamily="18" charset="0"/>
                <a:ea typeface="宋体" panose="02010600030101010101" pitchFamily="2" charset="-122"/>
              </a:rPr>
              <a:t>n</a:t>
            </a:r>
            <a:r>
              <a:rPr lang="en-US" altLang="zh-CN" sz="2800" b="1" dirty="0">
                <a:latin typeface="Times New Roman" panose="02020603050405020304" pitchFamily="18" charset="0"/>
                <a:ea typeface="宋体" panose="02010600030101010101" pitchFamily="2" charset="-122"/>
              </a:rPr>
              <a:t>)</a:t>
            </a:r>
            <a:endParaRPr lang="en-US" altLang="zh-CN" sz="2800" b="1" dirty="0">
              <a:latin typeface="Times New Roman" panose="02020603050405020304" pitchFamily="18" charset="0"/>
              <a:ea typeface="宋体" panose="02010600030101010101" pitchFamily="2" charset="-122"/>
            </a:endParaRPr>
          </a:p>
          <a:p>
            <a:pPr marL="0" lvl="0" indent="0">
              <a:buNone/>
              <a:defRPr/>
            </a:pPr>
            <a:endParaRPr 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ltLang="zh-CN" dirty="0">
                <a:latin typeface="Times New Roman" panose="02020603050405020304" pitchFamily="18" charset="0"/>
                <a:cs typeface="Times New Roman" panose="02020603050405020304" pitchFamily="18" charset="0"/>
              </a:rPr>
              <a:t>CFG</a:t>
            </a:r>
            <a:r>
              <a:rPr lang="zh-CN" altLang="en-US" dirty="0"/>
              <a:t>转为</a:t>
            </a:r>
            <a:r>
              <a:rPr lang="en-AU" altLang="zh-CN" dirty="0">
                <a:latin typeface="Times New Roman" panose="02020603050405020304" pitchFamily="18" charset="0"/>
                <a:cs typeface="Times New Roman" panose="02020603050405020304" pitchFamily="18" charset="0"/>
              </a:rPr>
              <a:t>GNF</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1415005"/>
                <a:ext cx="8229600" cy="4525963"/>
              </a:xfrm>
            </p:spPr>
            <p:txBody>
              <a:bodyPr/>
              <a:lstStyle/>
              <a:p>
                <a:r>
                  <a:rPr lang="zh-CN" altLang="en-US" dirty="0"/>
                  <a:t>例</a:t>
                </a:r>
                <a:r>
                  <a:rPr lang="en-AU" altLang="zh-CN" dirty="0"/>
                  <a:t>:</a:t>
                </a:r>
                <a:r>
                  <a:rPr lang="zh-CN" altLang="en-US" dirty="0"/>
                  <a:t>将以下文法转换为</a:t>
                </a:r>
                <a:r>
                  <a:rPr lang="en-AU" altLang="zh-CN" dirty="0">
                    <a:latin typeface="Times New Roman" panose="02020603050405020304" pitchFamily="18" charset="0"/>
                    <a:cs typeface="Times New Roman" panose="02020603050405020304" pitchFamily="18" charset="0"/>
                  </a:rPr>
                  <a:t>GNF</a:t>
                </a:r>
                <a:r>
                  <a:rPr lang="zh-CN" altLang="en-US" dirty="0"/>
                  <a:t>。</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𝑆</m:t>
                      </m:r>
                      <m:r>
                        <a:rPr lang="en-AU" i="1" dirty="0" smtClean="0">
                          <a:latin typeface="Cambria Math" panose="02040503050406030204" pitchFamily="18" charset="0"/>
                        </a:rPr>
                        <m:t> →</m:t>
                      </m:r>
                      <m:r>
                        <a:rPr lang="en-AU" i="1" dirty="0" smtClean="0">
                          <a:latin typeface="Cambria Math" panose="02040503050406030204" pitchFamily="18" charset="0"/>
                        </a:rPr>
                        <m:t>01</m:t>
                      </m:r>
                      <m:r>
                        <a:rPr lang="en-AU" b="0" i="1" dirty="0" smtClean="0">
                          <a:latin typeface="Cambria Math" panose="02040503050406030204" pitchFamily="18" charset="0"/>
                        </a:rPr>
                        <m:t>𝑆</m:t>
                      </m:r>
                      <m:r>
                        <a:rPr lang="en-AU" b="0" i="1" dirty="0" smtClean="0">
                          <a:latin typeface="Cambria Math" panose="02040503050406030204" pitchFamily="18" charset="0"/>
                        </a:rPr>
                        <m:t>1</m:t>
                      </m:r>
                      <m:r>
                        <a:rPr lang="en-AU" b="0" i="1" dirty="0" smtClean="0">
                          <a:latin typeface="Cambria Math" panose="02040503050406030204" pitchFamily="18" charset="0"/>
                        </a:rPr>
                        <m:t>|</m:t>
                      </m:r>
                      <m:r>
                        <a:rPr lang="en-AU" b="0" i="1" dirty="0" smtClean="0">
                          <a:latin typeface="Cambria Math" panose="02040503050406030204" pitchFamily="18" charset="0"/>
                        </a:rPr>
                        <m:t>00</m:t>
                      </m:r>
                    </m:oMath>
                  </m:oMathPara>
                </a14:m>
                <a:endParaRPr lang="en-AU" dirty="0"/>
              </a:p>
              <a:p>
                <a:pPr marL="0" indent="0">
                  <a:buNone/>
                </a:pPr>
                <a:r>
                  <a:rPr lang="zh-CN" altLang="en-US" dirty="0"/>
                  <a:t>构造等价的</a:t>
                </a:r>
                <a:r>
                  <a:rPr lang="en-AU" dirty="0">
                    <a:latin typeface="Times New Roman" panose="02020603050405020304" pitchFamily="18" charset="0"/>
                    <a:cs typeface="Times New Roman" panose="02020603050405020304" pitchFamily="18" charset="0"/>
                  </a:rPr>
                  <a:t>GNF</a:t>
                </a:r>
                <a:r>
                  <a:rPr lang="zh-CN" altLang="en-US" dirty="0"/>
                  <a:t>文法为：</a:t>
                </a:r>
                <a:endParaRPr lang="zh-CN" altLang="en-US" dirty="0"/>
              </a:p>
              <a:p>
                <a:pPr marL="0" indent="0">
                  <a:buNone/>
                </a:pPr>
                <a:r>
                  <a:rPr lang="zh-CN" altLang="en-US" dirty="0"/>
                  <a:t>引入变元</a:t>
                </a:r>
                <a14:m>
                  <m:oMath xmlns:m="http://schemas.openxmlformats.org/officeDocument/2006/math">
                    <m:r>
                      <a:rPr lang="en-AU" altLang="zh-CN" b="0" i="1" smtClean="0">
                        <a:latin typeface="Cambria Math" panose="02040503050406030204" pitchFamily="18" charset="0"/>
                      </a:rPr>
                      <m:t>𝐴</m:t>
                    </m:r>
                  </m:oMath>
                </a14:m>
                <a:r>
                  <a:rPr lang="zh-CN" altLang="en-US" dirty="0"/>
                  <a:t>和</a:t>
                </a:r>
                <a14:m>
                  <m:oMath xmlns:m="http://schemas.openxmlformats.org/officeDocument/2006/math">
                    <m:r>
                      <a:rPr lang="en-US" altLang="zh-CN" b="0" i="1" smtClean="0">
                        <a:latin typeface="Cambria Math" panose="02040503050406030204" pitchFamily="18" charset="0"/>
                      </a:rPr>
                      <m:t>𝐵</m:t>
                    </m:r>
                  </m:oMath>
                </a14:m>
                <a:r>
                  <a:rPr lang="zh-CN" altLang="en-US" dirty="0"/>
                  <a:t>，增加产生式</a:t>
                </a:r>
                <a14:m>
                  <m:oMath xmlns:m="http://schemas.openxmlformats.org/officeDocument/2006/math">
                    <m:r>
                      <a:rPr lang="en-AU" altLang="zh-CN" i="1">
                        <a:latin typeface="Cambria Math" panose="02040503050406030204" pitchFamily="18" charset="0"/>
                      </a:rPr>
                      <m:t>𝐴</m:t>
                    </m:r>
                    <m:r>
                      <a:rPr lang="en-AU" i="1" dirty="0">
                        <a:latin typeface="Cambria Math" panose="02040503050406030204" pitchFamily="18" charset="0"/>
                      </a:rPr>
                      <m:t>→</m:t>
                    </m:r>
                    <m:r>
                      <a:rPr lang="en-US" b="0" i="1" dirty="0" smtClean="0">
                        <a:latin typeface="Cambria Math" panose="02040503050406030204" pitchFamily="18" charset="0"/>
                      </a:rPr>
                      <m:t>1</m:t>
                    </m:r>
                  </m:oMath>
                </a14:m>
                <a:r>
                  <a:rPr lang="zh-CN" altLang="en-US" dirty="0"/>
                  <a:t>和</a:t>
                </a:r>
                <a14:m>
                  <m:oMath xmlns:m="http://schemas.openxmlformats.org/officeDocument/2006/math">
                    <m:r>
                      <a:rPr lang="en-US" altLang="zh-CN" b="0" i="1" dirty="0">
                        <a:latin typeface="Cambria Math" panose="02040503050406030204" pitchFamily="18" charset="0"/>
                      </a:rPr>
                      <m:t>𝐵</m:t>
                    </m:r>
                    <m:r>
                      <a:rPr lang="en-AU" altLang="zh-CN" i="1" dirty="0">
                        <a:latin typeface="Cambria Math" panose="02040503050406030204" pitchFamily="18" charset="0"/>
                      </a:rPr>
                      <m:t>→</m:t>
                    </m:r>
                    <m:r>
                      <a:rPr lang="en-US" altLang="zh-CN" b="0" i="1" dirty="0" smtClean="0">
                        <a:latin typeface="Cambria Math" panose="02040503050406030204" pitchFamily="18" charset="0"/>
                      </a:rPr>
                      <m:t>0</m:t>
                    </m:r>
                    <m:r>
                      <a:rPr lang="en-US" altLang="zh-CN" b="0" i="1" dirty="0">
                        <a:latin typeface="Cambria Math" panose="02040503050406030204" pitchFamily="18" charset="0"/>
                      </a:rPr>
                      <m:t> </m:t>
                    </m:r>
                  </m:oMath>
                </a14:m>
                <a:r>
                  <a:rPr lang="zh-CN" altLang="en-US" dirty="0"/>
                  <a:t>，则</a:t>
                </a:r>
                <a:endParaRPr lang="en-AU" i="1" dirty="0">
                  <a:latin typeface="Cambria Math" panose="02040503050406030204" pitchFamily="18" charset="0"/>
                </a:endParaRPr>
              </a:p>
              <a:p>
                <a:pPr marL="0" indent="0">
                  <a:buNone/>
                </a:pPr>
                <a14:m>
                  <m:oMath xmlns:m="http://schemas.openxmlformats.org/officeDocument/2006/math">
                    <m:r>
                      <a:rPr lang="en-AU" i="1" dirty="0" smtClean="0">
                        <a:latin typeface="Cambria Math" panose="02040503050406030204" pitchFamily="18" charset="0"/>
                      </a:rPr>
                      <m:t>𝑆</m:t>
                    </m:r>
                    <m:r>
                      <a:rPr lang="en-AU" i="1" dirty="0" smtClean="0">
                        <a:latin typeface="Cambria Math" panose="02040503050406030204" pitchFamily="18" charset="0"/>
                      </a:rPr>
                      <m:t> →</m:t>
                    </m:r>
                    <m:r>
                      <a:rPr lang="en-AU" i="1" dirty="0" smtClean="0">
                        <a:latin typeface="Cambria Math" panose="02040503050406030204" pitchFamily="18" charset="0"/>
                      </a:rPr>
                      <m:t>01</m:t>
                    </m:r>
                    <m:r>
                      <a:rPr lang="en-AU" b="0" i="1" dirty="0" smtClean="0">
                        <a:latin typeface="Cambria Math" panose="02040503050406030204" pitchFamily="18" charset="0"/>
                      </a:rPr>
                      <m:t>𝑆</m:t>
                    </m:r>
                    <m:r>
                      <a:rPr lang="en-AU" b="0" i="1" dirty="0" smtClean="0">
                        <a:latin typeface="Cambria Math" panose="02040503050406030204" pitchFamily="18" charset="0"/>
                      </a:rPr>
                      <m:t>1</m:t>
                    </m:r>
                    <m:r>
                      <a:rPr lang="en-AU" b="0" i="1" dirty="0" smtClean="0">
                        <a:latin typeface="Cambria Math" panose="02040503050406030204" pitchFamily="18" charset="0"/>
                      </a:rPr>
                      <m:t>|</m:t>
                    </m:r>
                    <m:r>
                      <a:rPr lang="en-AU" b="0" i="1" dirty="0" smtClean="0">
                        <a:latin typeface="Cambria Math" panose="02040503050406030204" pitchFamily="18" charset="0"/>
                      </a:rPr>
                      <m:t>00</m:t>
                    </m:r>
                  </m:oMath>
                </a14:m>
                <a:r>
                  <a:rPr lang="en-AU" altLang="zh-CN" b="1" dirty="0">
                    <a:solidFill>
                      <a:srgbClr val="FF0000"/>
                    </a:solidFill>
                  </a:rPr>
                  <a:t> -&gt;</a:t>
                </a:r>
                <a:r>
                  <a:rPr lang="en-AU" dirty="0"/>
                  <a:t> </a:t>
                </a:r>
                <a14:m>
                  <m:oMath xmlns:m="http://schemas.openxmlformats.org/officeDocument/2006/math">
                    <m:r>
                      <a:rPr lang="en-AU" i="1" dirty="0">
                        <a:latin typeface="Cambria Math" panose="02040503050406030204" pitchFamily="18" charset="0"/>
                      </a:rPr>
                      <m:t>𝑆</m:t>
                    </m:r>
                    <m:r>
                      <a:rPr lang="en-AU" i="1" dirty="0">
                        <a:latin typeface="Cambria Math" panose="02040503050406030204" pitchFamily="18" charset="0"/>
                      </a:rPr>
                      <m:t> →</m:t>
                    </m:r>
                    <m:r>
                      <a:rPr lang="en-AU" i="1" dirty="0">
                        <a:latin typeface="Cambria Math" panose="02040503050406030204" pitchFamily="18" charset="0"/>
                      </a:rPr>
                      <m:t>0</m:t>
                    </m:r>
                    <m:r>
                      <a:rPr lang="en-AU" b="0" i="1" dirty="0" smtClean="0">
                        <a:latin typeface="Cambria Math" panose="02040503050406030204" pitchFamily="18" charset="0"/>
                      </a:rPr>
                      <m:t>𝐴</m:t>
                    </m:r>
                    <m:r>
                      <a:rPr lang="en-AU" i="1" dirty="0">
                        <a:latin typeface="Cambria Math" panose="02040503050406030204" pitchFamily="18" charset="0"/>
                      </a:rPr>
                      <m:t>𝑆</m:t>
                    </m:r>
                    <m:r>
                      <a:rPr lang="en-AU" b="0" i="1" dirty="0" smtClean="0">
                        <a:latin typeface="Cambria Math" panose="02040503050406030204" pitchFamily="18" charset="0"/>
                      </a:rPr>
                      <m:t>𝐴</m:t>
                    </m:r>
                    <m:r>
                      <a:rPr lang="en-AU" i="1" dirty="0">
                        <a:latin typeface="Cambria Math" panose="02040503050406030204" pitchFamily="18" charset="0"/>
                      </a:rPr>
                      <m:t>|</m:t>
                    </m:r>
                    <m:r>
                      <a:rPr lang="en-AU" i="1" dirty="0">
                        <a:latin typeface="Cambria Math" panose="02040503050406030204" pitchFamily="18" charset="0"/>
                      </a:rPr>
                      <m:t>0</m:t>
                    </m:r>
                    <m:r>
                      <a:rPr lang="en-US" b="0" i="1" dirty="0" smtClean="0">
                        <a:latin typeface="Cambria Math" panose="02040503050406030204" pitchFamily="18" charset="0"/>
                      </a:rPr>
                      <m:t>𝐵</m:t>
                    </m:r>
                  </m:oMath>
                </a14:m>
                <a:r>
                  <a:rPr lang="en-AU" altLang="zh-CN" b="1" dirty="0">
                    <a:solidFill>
                      <a:srgbClr val="FF0000"/>
                    </a:solidFill>
                  </a:rPr>
                  <a:t> </a:t>
                </a:r>
                <a:endParaRPr lang="en-AU"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85800" y="1415005"/>
                <a:ext cx="8229600" cy="4525963"/>
              </a:xfrm>
              <a:blipFill rotWithShape="1">
                <a:blip r:embed="rId1"/>
                <a:stretch>
                  <a:fillRect t="-5" b="1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ltLang="zh-CN" dirty="0">
                <a:latin typeface="Times New Roman" panose="02020603050405020304" pitchFamily="18" charset="0"/>
                <a:cs typeface="Times New Roman" panose="02020603050405020304" pitchFamily="18" charset="0"/>
              </a:rPr>
              <a:t>CFG</a:t>
            </a:r>
            <a:r>
              <a:rPr lang="zh-CN" altLang="en-US" dirty="0"/>
              <a:t>转为</a:t>
            </a:r>
            <a:r>
              <a:rPr lang="en-AU" altLang="zh-CN" dirty="0">
                <a:latin typeface="Times New Roman" panose="02020603050405020304" pitchFamily="18" charset="0"/>
                <a:cs typeface="Times New Roman" panose="02020603050405020304" pitchFamily="18" charset="0"/>
              </a:rPr>
              <a:t>GNF</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87926"/>
                <a:ext cx="8229600" cy="4525963"/>
              </a:xfrm>
            </p:spPr>
            <p:txBody>
              <a:bodyPr/>
              <a:lstStyle/>
              <a:p>
                <a:r>
                  <a:rPr lang="zh-CN" altLang="en-US" dirty="0"/>
                  <a:t>例</a:t>
                </a:r>
                <a:r>
                  <a:rPr lang="en-AU" altLang="zh-CN" dirty="0"/>
                  <a:t>:</a:t>
                </a:r>
                <a:r>
                  <a:rPr lang="zh-CN" altLang="en-US" dirty="0"/>
                  <a:t>将以下文法转换为</a:t>
                </a:r>
                <a:r>
                  <a:rPr lang="en-AU" altLang="zh-CN" dirty="0">
                    <a:latin typeface="Times New Roman" panose="02020603050405020304" pitchFamily="18" charset="0"/>
                    <a:cs typeface="Times New Roman" panose="02020603050405020304" pitchFamily="18" charset="0"/>
                  </a:rPr>
                  <a:t>GNF</a:t>
                </a:r>
                <a:r>
                  <a:rPr lang="zh-CN" altLang="en-US" dirty="0"/>
                  <a:t>。</a:t>
                </a:r>
                <a:endParaRPr lang="en-AU" altLang="zh-CN" dirty="0"/>
              </a:p>
              <a:p>
                <a:pPr marL="457200" lvl="1" indent="0">
                  <a:buNone/>
                </a:pPr>
                <a:r>
                  <a:rPr lang="en-AU" dirty="0"/>
                  <a:t>			</a:t>
                </a:r>
                <a14:m>
                  <m:oMath xmlns:m="http://schemas.openxmlformats.org/officeDocument/2006/math">
                    <m:r>
                      <a:rPr lang="en-AU" i="1" dirty="0" smtClean="0">
                        <a:latin typeface="Cambria Math" panose="02040503050406030204" pitchFamily="18" charset="0"/>
                      </a:rPr>
                      <m:t>𝑆</m:t>
                    </m:r>
                    <m:r>
                      <a:rPr lang="en-AU" i="1" dirty="0" smtClean="0">
                        <a:latin typeface="Cambria Math" panose="02040503050406030204" pitchFamily="18" charset="0"/>
                      </a:rPr>
                      <m:t> → </m:t>
                    </m:r>
                    <m:r>
                      <a:rPr lang="en-AU" i="1" dirty="0" smtClean="0">
                        <a:latin typeface="Cambria Math" panose="02040503050406030204" pitchFamily="18" charset="0"/>
                      </a:rPr>
                      <m:t>𝐴𝐵</m:t>
                    </m:r>
                  </m:oMath>
                </a14:m>
                <a:endParaRPr lang="en-US" i="1" dirty="0">
                  <a:latin typeface="Cambria Math" panose="02040503050406030204" pitchFamily="18" charset="0"/>
                </a:endParaRPr>
              </a:p>
              <a:p>
                <a:pPr marL="457200" lvl="1" indent="0">
                  <a:buNone/>
                </a:pPr>
                <a:r>
                  <a:rPr lang="en-AU" dirty="0"/>
                  <a:t>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r>
                      <a:rPr lang="en-AU" i="1" dirty="0" err="1" smtClean="0">
                        <a:latin typeface="Cambria Math" panose="02040503050406030204" pitchFamily="18" charset="0"/>
                      </a:rPr>
                      <m:t>𝑎𝐴</m:t>
                    </m:r>
                    <m:r>
                      <a:rPr lang="en-AU" i="1" dirty="0" smtClean="0">
                        <a:latin typeface="Cambria Math" panose="02040503050406030204" pitchFamily="18" charset="0"/>
                      </a:rPr>
                      <m:t> </m:t>
                    </m:r>
                    <m:d>
                      <m:dPr>
                        <m:begChr m:val="|"/>
                        <m:endChr m:val="|"/>
                        <m:ctrlPr>
                          <a:rPr lang="en-AU" i="1" dirty="0" smtClean="0">
                            <a:latin typeface="Cambria Math" panose="02040503050406030204" pitchFamily="18" charset="0"/>
                          </a:rPr>
                        </m:ctrlPr>
                      </m:dPr>
                      <m:e>
                        <m:r>
                          <a:rPr lang="en-AU" i="1" dirty="0" smtClean="0">
                            <a:latin typeface="Cambria Math" panose="02040503050406030204" pitchFamily="18" charset="0"/>
                          </a:rPr>
                          <m:t> </m:t>
                        </m:r>
                        <m:r>
                          <a:rPr lang="en-AU" i="1" dirty="0" err="1" smtClean="0">
                            <a:latin typeface="Cambria Math" panose="02040503050406030204" pitchFamily="18" charset="0"/>
                          </a:rPr>
                          <m:t>𝑏𝐵</m:t>
                        </m:r>
                        <m:r>
                          <a:rPr lang="en-AU" i="1" dirty="0" smtClean="0">
                            <a:latin typeface="Cambria Math" panose="02040503050406030204" pitchFamily="18" charset="0"/>
                          </a:rPr>
                          <m:t> </m:t>
                        </m:r>
                      </m:e>
                    </m:d>
                    <m:r>
                      <a:rPr lang="en-AU" i="1" dirty="0" smtClean="0">
                        <a:latin typeface="Cambria Math" panose="02040503050406030204" pitchFamily="18" charset="0"/>
                      </a:rPr>
                      <m:t>𝑏</m:t>
                    </m:r>
                  </m:oMath>
                </a14:m>
                <a:endParaRPr lang="en-US" i="1" dirty="0">
                  <a:latin typeface="Cambria Math" panose="02040503050406030204" pitchFamily="18" charset="0"/>
                </a:endParaRPr>
              </a:p>
              <a:p>
                <a:pPr marL="457200" lvl="1" indent="0">
                  <a:buNone/>
                </a:pPr>
                <a:r>
                  <a:rPr lang="en-AU" dirty="0"/>
                  <a:t>			</a:t>
                </a:r>
                <a14:m>
                  <m:oMath xmlns:m="http://schemas.openxmlformats.org/officeDocument/2006/math">
                    <m:r>
                      <a:rPr lang="en-AU" i="1" dirty="0" smtClean="0">
                        <a:latin typeface="Cambria Math" panose="02040503050406030204" pitchFamily="18" charset="0"/>
                      </a:rPr>
                      <m:t>𝐵</m:t>
                    </m:r>
                    <m:r>
                      <a:rPr lang="en-AU" i="1" dirty="0" smtClean="0">
                        <a:latin typeface="Cambria Math" panose="02040503050406030204" pitchFamily="18" charset="0"/>
                      </a:rPr>
                      <m:t> → </m:t>
                    </m:r>
                    <m:r>
                      <a:rPr lang="en-AU" i="1" dirty="0" smtClean="0">
                        <a:latin typeface="Cambria Math" panose="02040503050406030204" pitchFamily="18" charset="0"/>
                      </a:rPr>
                      <m:t>𝑏</m:t>
                    </m:r>
                  </m:oMath>
                </a14:m>
                <a:endParaRPr lang="en-AU" dirty="0"/>
              </a:p>
              <a:p>
                <a:pPr marL="0" indent="0">
                  <a:buNone/>
                </a:pPr>
                <a:r>
                  <a:rPr lang="zh-CN" altLang="en-US" dirty="0"/>
                  <a:t>构造等价的</a:t>
                </a:r>
                <a:r>
                  <a:rPr lang="en-AU" dirty="0">
                    <a:latin typeface="Times New Roman" panose="02020603050405020304" pitchFamily="18" charset="0"/>
                    <a:cs typeface="Times New Roman" panose="02020603050405020304" pitchFamily="18" charset="0"/>
                  </a:rPr>
                  <a:t>GNF</a:t>
                </a:r>
                <a:r>
                  <a:rPr lang="zh-CN" altLang="en-US" dirty="0"/>
                  <a:t>文法为：</a:t>
                </a:r>
                <a:endParaRPr lang="zh-CN" altLang="en-US" dirty="0"/>
              </a:p>
              <a:p>
                <a:pPr marL="0" indent="0">
                  <a:buNone/>
                </a:pPr>
                <a:r>
                  <a:rPr lang="zh-CN" altLang="en-US" dirty="0"/>
                  <a:t>对</a:t>
                </a:r>
                <a14:m>
                  <m:oMath xmlns:m="http://schemas.openxmlformats.org/officeDocument/2006/math">
                    <m:r>
                      <a:rPr lang="en-AU" i="1" dirty="0" smtClean="0">
                        <a:latin typeface="Cambria Math" panose="02040503050406030204" pitchFamily="18" charset="0"/>
                      </a:rPr>
                      <m:t>𝑆</m:t>
                    </m:r>
                    <m:r>
                      <a:rPr lang="en-AU" i="1" dirty="0" smtClean="0">
                        <a:latin typeface="Cambria Math" panose="02040503050406030204" pitchFamily="18" charset="0"/>
                        <a:ea typeface="Cambria Math" panose="02040503050406030204" pitchFamily="18" charset="0"/>
                      </a:rPr>
                      <m:t>→</m:t>
                    </m:r>
                    <m:r>
                      <a:rPr lang="en-AU" i="1" dirty="0" smtClean="0">
                        <a:latin typeface="Cambria Math" panose="02040503050406030204" pitchFamily="18" charset="0"/>
                      </a:rPr>
                      <m:t>𝐴𝐵</m:t>
                    </m:r>
                  </m:oMath>
                </a14:m>
                <a:r>
                  <a:rPr lang="zh-CN" altLang="en-US" dirty="0"/>
                  <a:t>进行代入：</a:t>
                </a:r>
                <a:endParaRPr lang="en-AU" altLang="zh-CN" i="1" dirty="0">
                  <a:latin typeface="Cambria Math" panose="02040503050406030204" pitchFamily="18" charset="0"/>
                </a:endParaRPr>
              </a:p>
              <a:p>
                <a:pPr marL="0" indent="0">
                  <a:buNone/>
                </a:pPr>
                <a:r>
                  <a:rPr lang="en-AU" i="1" dirty="0">
                    <a:latin typeface="Cambria Math" panose="02040503050406030204" pitchFamily="18" charset="0"/>
                  </a:rPr>
                  <a:t>			</a:t>
                </a:r>
                <a14:m>
                  <m:oMath xmlns:m="http://schemas.openxmlformats.org/officeDocument/2006/math">
                    <m:r>
                      <a:rPr lang="en-AU" i="1" dirty="0" smtClean="0">
                        <a:latin typeface="Cambria Math" panose="02040503050406030204" pitchFamily="18" charset="0"/>
                      </a:rPr>
                      <m:t>𝑆</m:t>
                    </m:r>
                    <m:r>
                      <a:rPr lang="en-AU" i="1" dirty="0">
                        <a:latin typeface="Cambria Math" panose="02040503050406030204" pitchFamily="18" charset="0"/>
                        <a:ea typeface="Cambria Math" panose="02040503050406030204" pitchFamily="18" charset="0"/>
                      </a:rPr>
                      <m:t>→</m:t>
                    </m:r>
                    <m:r>
                      <a:rPr lang="en-AU" i="1" dirty="0" smtClean="0">
                        <a:latin typeface="Cambria Math" panose="02040503050406030204" pitchFamily="18" charset="0"/>
                      </a:rPr>
                      <m:t>𝑎𝐴𝐵</m:t>
                    </m:r>
                    <m:r>
                      <a:rPr lang="en-AU" i="1" dirty="0" smtClean="0">
                        <a:latin typeface="Cambria Math" panose="02040503050406030204" pitchFamily="18" charset="0"/>
                      </a:rPr>
                      <m:t> </m:t>
                    </m:r>
                    <m:d>
                      <m:dPr>
                        <m:begChr m:val="|"/>
                        <m:endChr m:val="|"/>
                        <m:ctrlPr>
                          <a:rPr lang="en-AU" i="1" dirty="0" smtClean="0">
                            <a:latin typeface="Cambria Math" panose="02040503050406030204" pitchFamily="18" charset="0"/>
                          </a:rPr>
                        </m:ctrlPr>
                      </m:dPr>
                      <m:e>
                        <m:r>
                          <a:rPr lang="en-AU" i="1" dirty="0" smtClean="0">
                            <a:latin typeface="Cambria Math" panose="02040503050406030204" pitchFamily="18" charset="0"/>
                          </a:rPr>
                          <m:t> </m:t>
                        </m:r>
                        <m:r>
                          <a:rPr lang="en-AU" i="1" dirty="0" err="1" smtClean="0">
                            <a:latin typeface="Cambria Math" panose="02040503050406030204" pitchFamily="18" charset="0"/>
                          </a:rPr>
                          <m:t>𝑏𝐵𝐵</m:t>
                        </m:r>
                        <m:r>
                          <a:rPr lang="en-AU" i="1" dirty="0" smtClean="0">
                            <a:latin typeface="Cambria Math" panose="02040503050406030204" pitchFamily="18" charset="0"/>
                          </a:rPr>
                          <m:t> </m:t>
                        </m:r>
                      </m:e>
                    </m:d>
                    <m:r>
                      <a:rPr lang="en-AU" i="1" dirty="0" err="1" smtClean="0">
                        <a:latin typeface="Cambria Math" panose="02040503050406030204" pitchFamily="18" charset="0"/>
                      </a:rPr>
                      <m:t>𝑏𝐵</m:t>
                    </m:r>
                  </m:oMath>
                </a14:m>
                <a:endParaRPr lang="en-US" i="1" dirty="0">
                  <a:latin typeface="Cambria Math" panose="02040503050406030204" pitchFamily="18" charset="0"/>
                </a:endParaRPr>
              </a:p>
              <a:p>
                <a:pPr marL="0" indent="0">
                  <a:buNone/>
                </a:pPr>
                <a:r>
                  <a:rPr lang="en-AU" dirty="0"/>
                  <a:t>			</a:t>
                </a:r>
                <a14:m>
                  <m:oMath xmlns:m="http://schemas.openxmlformats.org/officeDocument/2006/math">
                    <m:r>
                      <a:rPr lang="en-AU" i="1" dirty="0" err="1" smtClean="0">
                        <a:latin typeface="Cambria Math" panose="02040503050406030204" pitchFamily="18" charset="0"/>
                      </a:rPr>
                      <m:t>𝐴</m:t>
                    </m:r>
                    <m:r>
                      <a:rPr lang="en-AU" i="1" dirty="0">
                        <a:latin typeface="Cambria Math" panose="02040503050406030204" pitchFamily="18" charset="0"/>
                        <a:ea typeface="Cambria Math" panose="02040503050406030204" pitchFamily="18" charset="0"/>
                      </a:rPr>
                      <m:t>→</m:t>
                    </m:r>
                    <m:r>
                      <a:rPr lang="en-AU" i="1" dirty="0" smtClean="0">
                        <a:latin typeface="Cambria Math" panose="02040503050406030204" pitchFamily="18" charset="0"/>
                      </a:rPr>
                      <m:t>𝑎</m:t>
                    </m:r>
                    <m:r>
                      <a:rPr lang="en-AU" i="1" dirty="0" err="1" smtClean="0">
                        <a:latin typeface="Cambria Math" panose="02040503050406030204" pitchFamily="18" charset="0"/>
                      </a:rPr>
                      <m:t>𝐴</m:t>
                    </m:r>
                    <m:r>
                      <a:rPr lang="en-AU" i="1" dirty="0" smtClean="0">
                        <a:latin typeface="Cambria Math" panose="02040503050406030204" pitchFamily="18" charset="0"/>
                      </a:rPr>
                      <m:t> </m:t>
                    </m:r>
                    <m:d>
                      <m:dPr>
                        <m:begChr m:val="|"/>
                        <m:endChr m:val="|"/>
                        <m:ctrlPr>
                          <a:rPr lang="en-AU" i="1" dirty="0" smtClean="0">
                            <a:latin typeface="Cambria Math" panose="02040503050406030204" pitchFamily="18" charset="0"/>
                          </a:rPr>
                        </m:ctrlPr>
                      </m:dPr>
                      <m:e>
                        <m:r>
                          <a:rPr lang="en-AU" i="1" dirty="0" smtClean="0">
                            <a:latin typeface="Cambria Math" panose="02040503050406030204" pitchFamily="18" charset="0"/>
                          </a:rPr>
                          <m:t> </m:t>
                        </m:r>
                        <m:r>
                          <a:rPr lang="en-AU" i="1" dirty="0" err="1" smtClean="0">
                            <a:latin typeface="Cambria Math" panose="02040503050406030204" pitchFamily="18" charset="0"/>
                          </a:rPr>
                          <m:t>𝑏𝐵</m:t>
                        </m:r>
                        <m:r>
                          <a:rPr lang="en-AU" i="1" dirty="0" smtClean="0">
                            <a:latin typeface="Cambria Math" panose="02040503050406030204" pitchFamily="18" charset="0"/>
                          </a:rPr>
                          <m:t> </m:t>
                        </m:r>
                      </m:e>
                    </m:d>
                    <m:r>
                      <a:rPr lang="en-AU" i="1" dirty="0" smtClean="0">
                        <a:latin typeface="Cambria Math" panose="02040503050406030204" pitchFamily="18" charset="0"/>
                      </a:rPr>
                      <m:t>𝑏</m:t>
                    </m:r>
                  </m:oMath>
                </a14:m>
                <a:endParaRPr lang="en-US" i="1" dirty="0">
                  <a:latin typeface="Cambria Math" panose="02040503050406030204" pitchFamily="18" charset="0"/>
                </a:endParaRPr>
              </a:p>
              <a:p>
                <a:pPr marL="0" indent="0">
                  <a:buNone/>
                </a:pPr>
                <a:r>
                  <a:rPr lang="en-AU" dirty="0"/>
                  <a:t>			</a:t>
                </a:r>
                <a14:m>
                  <m:oMath xmlns:m="http://schemas.openxmlformats.org/officeDocument/2006/math">
                    <m:r>
                      <a:rPr lang="en-AU" i="1" dirty="0" err="1" smtClean="0">
                        <a:latin typeface="Cambria Math" panose="02040503050406030204" pitchFamily="18" charset="0"/>
                      </a:rPr>
                      <m:t>𝐵</m:t>
                    </m:r>
                    <m:r>
                      <a:rPr lang="en-AU" i="1" dirty="0">
                        <a:latin typeface="Cambria Math" panose="02040503050406030204" pitchFamily="18" charset="0"/>
                        <a:ea typeface="Cambria Math" panose="02040503050406030204" pitchFamily="18" charset="0"/>
                      </a:rPr>
                      <m:t>→</m:t>
                    </m:r>
                    <m:r>
                      <a:rPr lang="en-AU" i="1" dirty="0" err="1" smtClean="0">
                        <a:latin typeface="Cambria Math" panose="02040503050406030204" pitchFamily="18" charset="0"/>
                      </a:rPr>
                      <m:t>𝑏</m:t>
                    </m:r>
                  </m:oMath>
                </a14:m>
                <a:endParaRPr lang="en-AU"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87926"/>
                <a:ext cx="8229600" cy="4525963"/>
              </a:xfrm>
              <a:blipFill rotWithShape="1">
                <a:blip r:embed="rId1"/>
                <a:stretch>
                  <a:fillRect t="-11" b="-1220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ltLang="zh-CN" dirty="0">
                <a:latin typeface="Times New Roman" panose="02020603050405020304" pitchFamily="18" charset="0"/>
                <a:cs typeface="Times New Roman" panose="02020603050405020304" pitchFamily="18" charset="0"/>
              </a:rPr>
              <a:t>CFG</a:t>
            </a:r>
            <a:r>
              <a:rPr lang="zh-CN" altLang="en-US" dirty="0"/>
              <a:t>转为</a:t>
            </a:r>
            <a:r>
              <a:rPr lang="en-AU" altLang="zh-CN" dirty="0">
                <a:latin typeface="Times New Roman" panose="02020603050405020304" pitchFamily="18" charset="0"/>
                <a:cs typeface="Times New Roman" panose="02020603050405020304" pitchFamily="18" charset="0"/>
              </a:rPr>
              <a:t>GNF</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87926"/>
                <a:ext cx="8229600" cy="4525963"/>
              </a:xfrm>
            </p:spPr>
            <p:txBody>
              <a:bodyPr/>
              <a:lstStyle/>
              <a:p>
                <a:r>
                  <a:rPr lang="zh-CN" altLang="en-US" dirty="0"/>
                  <a:t>例</a:t>
                </a:r>
                <a:r>
                  <a:rPr lang="en-AU" altLang="zh-CN" dirty="0"/>
                  <a:t>:</a:t>
                </a:r>
                <a:r>
                  <a:rPr lang="zh-CN" altLang="en-US" dirty="0"/>
                  <a:t>将以下文法转换为</a:t>
                </a:r>
                <a:r>
                  <a:rPr lang="en-AU" altLang="zh-CN" dirty="0">
                    <a:latin typeface="Times New Roman" panose="02020603050405020304" pitchFamily="18" charset="0"/>
                    <a:cs typeface="Times New Roman" panose="02020603050405020304" pitchFamily="18" charset="0"/>
                  </a:rPr>
                  <a:t>GNF</a:t>
                </a:r>
                <a:r>
                  <a:rPr lang="zh-CN" altLang="en-US" dirty="0"/>
                  <a:t>。</a:t>
                </a:r>
                <a:endParaRPr lang="en-AU" altLang="zh-CN" dirty="0"/>
              </a:p>
              <a:p>
                <a:pPr marL="457200" lvl="1" indent="0">
                  <a:buNone/>
                </a:pPr>
                <a:r>
                  <a:rPr lang="en-AU" dirty="0"/>
                  <a:t>			</a:t>
                </a:r>
                <a14:m>
                  <m:oMath xmlns:m="http://schemas.openxmlformats.org/officeDocument/2006/math">
                    <m:r>
                      <a:rPr lang="en-US" b="0" i="1" dirty="0" smtClean="0">
                        <a:latin typeface="Cambria Math" panose="02040503050406030204" pitchFamily="18" charset="0"/>
                      </a:rPr>
                      <m:t>𝑆</m:t>
                    </m:r>
                    <m:r>
                      <a:rPr lang="en-AU" i="1" dirty="0" smtClean="0">
                        <a:latin typeface="Cambria Math" panose="02040503050406030204" pitchFamily="18" charset="0"/>
                      </a:rPr>
                      <m:t> → </m:t>
                    </m:r>
                    <m:r>
                      <a:rPr lang="en-AU" i="1" dirty="0" smtClean="0">
                        <a:latin typeface="Cambria Math" panose="02040503050406030204" pitchFamily="18" charset="0"/>
                      </a:rPr>
                      <m:t>𝐴𝑎</m:t>
                    </m:r>
                    <m:r>
                      <a:rPr lang="en-US" b="0" i="1" dirty="0" smtClean="0">
                        <a:latin typeface="Cambria Math" panose="02040503050406030204" pitchFamily="18" charset="0"/>
                      </a:rPr>
                      <m:t>|</m:t>
                    </m:r>
                    <m:r>
                      <a:rPr lang="en-US" b="0" i="1" dirty="0" smtClean="0">
                        <a:latin typeface="Cambria Math" panose="02040503050406030204" pitchFamily="18" charset="0"/>
                      </a:rPr>
                      <m:t>𝑏</m:t>
                    </m:r>
                  </m:oMath>
                </a14:m>
                <a:endParaRPr lang="en-US" i="1" dirty="0">
                  <a:latin typeface="Cambria Math" panose="02040503050406030204" pitchFamily="18" charset="0"/>
                </a:endParaRPr>
              </a:p>
              <a:p>
                <a:pPr marL="457200" lvl="1" indent="0">
                  <a:buNone/>
                </a:pPr>
                <a:r>
                  <a:rPr lang="en-AU" dirty="0"/>
                  <a:t>			</a:t>
                </a:r>
                <a14:m>
                  <m:oMath xmlns:m="http://schemas.openxmlformats.org/officeDocument/2006/math">
                    <m:r>
                      <a:rPr lang="en-AU" i="1" dirty="0" smtClean="0">
                        <a:latin typeface="Cambria Math" panose="02040503050406030204" pitchFamily="18" charset="0"/>
                      </a:rPr>
                      <m:t>𝐴</m:t>
                    </m:r>
                    <m:r>
                      <a:rPr lang="en-AU" i="1" dirty="0" smtClean="0">
                        <a:latin typeface="Cambria Math" panose="02040503050406030204" pitchFamily="18" charset="0"/>
                      </a:rPr>
                      <m:t> → </m:t>
                    </m:r>
                    <m:r>
                      <a:rPr lang="en-AU" i="1" dirty="0" err="1" smtClean="0">
                        <a:latin typeface="Cambria Math" panose="02040503050406030204" pitchFamily="18" charset="0"/>
                      </a:rPr>
                      <m:t>𝐴</m:t>
                    </m:r>
                    <m:r>
                      <a:rPr lang="en-US" b="0" i="1" dirty="0" smtClean="0">
                        <a:latin typeface="Cambria Math" panose="02040503050406030204" pitchFamily="18" charset="0"/>
                      </a:rPr>
                      <m:t>𝑐</m:t>
                    </m:r>
                    <m:r>
                      <a:rPr lang="en-US" b="0" i="1" dirty="0" smtClean="0">
                        <a:latin typeface="Cambria Math" panose="02040503050406030204" pitchFamily="18" charset="0"/>
                      </a:rPr>
                      <m:t>|</m:t>
                    </m:r>
                    <m:r>
                      <a:rPr lang="en-US" altLang="zh-CN" i="1" dirty="0">
                        <a:latin typeface="Cambria Math" panose="02040503050406030204" pitchFamily="18" charset="0"/>
                      </a:rPr>
                      <m:t>𝑑</m:t>
                    </m:r>
                    <m:r>
                      <a:rPr lang="en-US" altLang="zh-CN" b="0" i="1" dirty="0" smtClean="0">
                        <a:latin typeface="Cambria Math" panose="02040503050406030204" pitchFamily="18" charset="0"/>
                      </a:rPr>
                      <m:t>𝑆</m:t>
                    </m:r>
                  </m:oMath>
                </a14:m>
                <a:endParaRPr lang="en-AU" dirty="0"/>
              </a:p>
              <a:p>
                <a:pPr marL="0" indent="0">
                  <a:buNone/>
                </a:pPr>
                <a:r>
                  <a:rPr lang="zh-CN" altLang="en-US" dirty="0"/>
                  <a:t>构造等价的</a:t>
                </a:r>
                <a:r>
                  <a:rPr lang="en-AU" dirty="0">
                    <a:latin typeface="Times New Roman" panose="02020603050405020304" pitchFamily="18" charset="0"/>
                    <a:cs typeface="Times New Roman" panose="02020603050405020304" pitchFamily="18" charset="0"/>
                  </a:rPr>
                  <a:t>GNF</a:t>
                </a:r>
                <a:r>
                  <a:rPr lang="zh-CN" altLang="en-US" dirty="0"/>
                  <a:t>文法为：</a:t>
                </a:r>
                <a:endParaRPr lang="zh-CN" altLang="en-US" dirty="0"/>
              </a:p>
              <a:p>
                <a:pPr marL="0" indent="0">
                  <a:buNone/>
                </a:pPr>
                <a:r>
                  <a:rPr lang="zh-CN" altLang="en-US" dirty="0"/>
                  <a:t>对</a:t>
                </a:r>
                <a14:m>
                  <m:oMath xmlns:m="http://schemas.openxmlformats.org/officeDocument/2006/math">
                    <m:r>
                      <a:rPr lang="en-US" altLang="zh-CN" b="0" i="1" dirty="0">
                        <a:latin typeface="Cambria Math" panose="02040503050406030204" pitchFamily="18" charset="0"/>
                      </a:rPr>
                      <m:t>𝐴</m:t>
                    </m:r>
                    <m:r>
                      <a:rPr lang="en-AU"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rPr>
                      <m:t>𝐴</m:t>
                    </m:r>
                    <m:r>
                      <a:rPr lang="en-US" b="0" i="1" dirty="0" smtClean="0">
                        <a:latin typeface="Cambria Math" panose="02040503050406030204" pitchFamily="18" charset="0"/>
                      </a:rPr>
                      <m:t>𝑐</m:t>
                    </m:r>
                    <m:r>
                      <a:rPr lang="en-US" b="0" i="1" dirty="0" smtClean="0">
                        <a:latin typeface="Cambria Math" panose="02040503050406030204" pitchFamily="18" charset="0"/>
                      </a:rPr>
                      <m:t>|</m:t>
                    </m:r>
                    <m:r>
                      <a:rPr lang="en-US" b="0" i="1" dirty="0" smtClean="0">
                        <a:latin typeface="Cambria Math" panose="02040503050406030204" pitchFamily="18" charset="0"/>
                      </a:rPr>
                      <m:t>𝑑𝑆</m:t>
                    </m:r>
                  </m:oMath>
                </a14:m>
                <a:r>
                  <a:rPr lang="zh-CN" altLang="en-US" dirty="0"/>
                  <a:t>左递归转换成右递归：</a:t>
                </a:r>
                <a:endParaRPr lang="en-AU" altLang="zh-CN" i="1" dirty="0">
                  <a:latin typeface="Cambria Math" panose="02040503050406030204" pitchFamily="18" charset="0"/>
                </a:endParaRPr>
              </a:p>
              <a:p>
                <a:pPr marL="0" indent="0">
                  <a:buNone/>
                </a:pPr>
                <a:r>
                  <a:rPr lang="en-AU" i="1" dirty="0">
                    <a:latin typeface="Cambria Math" panose="02040503050406030204" pitchFamily="18" charset="0"/>
                  </a:rPr>
                  <a:t>			</a:t>
                </a:r>
                <a14:m>
                  <m:oMath xmlns:m="http://schemas.openxmlformats.org/officeDocument/2006/math">
                    <m:r>
                      <a:rPr lang="en-US" altLang="zh-CN" b="0" i="1" dirty="0">
                        <a:latin typeface="Cambria Math" panose="02040503050406030204" pitchFamily="18" charset="0"/>
                      </a:rPr>
                      <m:t>𝐴</m:t>
                    </m:r>
                    <m:r>
                      <a:rPr lang="en-AU" i="1" dirty="0">
                        <a:latin typeface="Cambria Math" panose="02040503050406030204" pitchFamily="18" charset="0"/>
                        <a:ea typeface="Cambria Math" panose="02040503050406030204" pitchFamily="18" charset="0"/>
                      </a:rPr>
                      <m:t>→</m:t>
                    </m:r>
                    <m:r>
                      <a:rPr lang="en-US" altLang="zh-CN" b="0" i="1" dirty="0">
                        <a:latin typeface="Cambria Math" panose="02040503050406030204" pitchFamily="18" charset="0"/>
                      </a:rPr>
                      <m:t>𝑑</m:t>
                    </m:r>
                    <m:r>
                      <a:rPr lang="en-US" altLang="zh-CN" b="0" i="1" dirty="0" smtClean="0">
                        <a:latin typeface="Cambria Math" panose="02040503050406030204" pitchFamily="18" charset="0"/>
                      </a:rPr>
                      <m:t>𝑆</m:t>
                    </m:r>
                    <m:r>
                      <a:rPr lang="en-AU" i="1" dirty="0" smtClean="0">
                        <a:latin typeface="Cambria Math" panose="02040503050406030204" pitchFamily="18" charset="0"/>
                      </a:rPr>
                      <m:t>𝐵</m:t>
                    </m:r>
                  </m:oMath>
                </a14:m>
                <a:r>
                  <a:rPr lang="en-US" altLang="en-AU" b="0" dirty="0" smtClean="0">
                    <a:latin typeface="Cambria Math" panose="02040503050406030204" pitchFamily="18" charset="0"/>
                  </a:rPr>
                  <a:t>|</a:t>
                </a:r>
                <a:r>
                  <a:rPr lang="en-US" altLang="en-AU" b="0" i="1" dirty="0" smtClean="0">
                    <a:latin typeface="Cambria Math" panose="02040503050406030204" pitchFamily="18" charset="0"/>
                  </a:rPr>
                  <a:t>dS</a:t>
                </a:r>
                <a:endParaRPr lang="en-US" i="1" dirty="0">
                  <a:latin typeface="Cambria Math" panose="02040503050406030204" pitchFamily="18" charset="0"/>
                </a:endParaRPr>
              </a:p>
              <a:p>
                <a:pPr marL="0" indent="0">
                  <a:buNone/>
                </a:pPr>
                <a:r>
                  <a:rPr lang="en-AU" dirty="0"/>
                  <a:t>			</a:t>
                </a:r>
                <a14:m>
                  <m:oMath xmlns:m="http://schemas.openxmlformats.org/officeDocument/2006/math">
                    <m:r>
                      <a:rPr lang="en-US" altLang="zh-CN" b="0" i="1" dirty="0">
                        <a:latin typeface="Cambria Math" panose="02040503050406030204" pitchFamily="18" charset="0"/>
                        <a:ea typeface="Cambria Math" panose="02040503050406030204" pitchFamily="18" charset="0"/>
                      </a:rPr>
                      <m:t>𝐵</m:t>
                    </m:r>
                    <m:r>
                      <a:rPr lang="en-AU" i="1" dirty="0">
                        <a:latin typeface="Cambria Math" panose="02040503050406030204" pitchFamily="18" charset="0"/>
                        <a:ea typeface="Cambria Math" panose="02040503050406030204" pitchFamily="18" charset="0"/>
                      </a:rPr>
                      <m:t>→</m:t>
                    </m:r>
                    <m:r>
                      <a:rPr lang="en-US" altLang="zh-CN" b="0" i="1" dirty="0">
                        <a:latin typeface="Cambria Math" panose="02040503050406030204" pitchFamily="18" charset="0"/>
                      </a:rPr>
                      <m:t>𝑐</m:t>
                    </m:r>
                    <m:r>
                      <a:rPr lang="en-US" altLang="zh-CN" b="0" i="1" dirty="0" err="1">
                        <a:latin typeface="Cambria Math" panose="02040503050406030204" pitchFamily="18" charset="0"/>
                      </a:rPr>
                      <m:t>𝐵</m:t>
                    </m:r>
                    <m:r>
                      <a:rPr lang="en-US" altLang="zh-CN" b="0" i="1" dirty="0" err="1" smtClean="0">
                        <a:latin typeface="Cambria Math" panose="02040503050406030204" pitchFamily="18" charset="0"/>
                      </a:rPr>
                      <m:t>|</m:t>
                    </m:r>
                    <m:r>
                      <a:rPr lang="en-US" altLang="zh-CN" b="0" i="1" dirty="0" err="1">
                        <a:latin typeface="Cambria Math" panose="02040503050406030204" pitchFamily="18" charset="0"/>
                      </a:rPr>
                      <m:t>𝑐</m:t>
                    </m:r>
                  </m:oMath>
                </a14:m>
                <a:endParaRPr lang="en-US" i="1" dirty="0">
                  <a:latin typeface="Cambria Math" panose="02040503050406030204" pitchFamily="18" charset="0"/>
                </a:endParaRPr>
              </a:p>
              <a:p>
                <a:pPr marL="0" indent="0">
                  <a:buNone/>
                </a:pPr>
                <a:r>
                  <a:rPr lang="zh-CN" altLang="en-US" dirty="0"/>
                  <a:t>对</a:t>
                </a:r>
                <a14:m>
                  <m:oMath xmlns:m="http://schemas.openxmlformats.org/officeDocument/2006/math">
                    <m:r>
                      <a:rPr lang="en-US" altLang="zh-CN" b="0" i="1" dirty="0" smtClean="0">
                        <a:latin typeface="Cambria Math" panose="02040503050406030204" pitchFamily="18" charset="0"/>
                      </a:rPr>
                      <m:t>𝑆</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𝐴𝑎</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oMath>
                </a14:m>
                <a:r>
                  <a:rPr lang="zh-CN" altLang="en-US" dirty="0"/>
                  <a:t>进行代入替换：</a:t>
                </a:r>
                <a:endParaRPr lang="en-US" altLang="zh-CN" dirty="0"/>
              </a:p>
              <a:p>
                <a:pPr marL="0" indent="0">
                  <a:buNone/>
                </a:pPr>
                <a:r>
                  <a:rPr lang="en-AU" dirty="0"/>
                  <a:t>			</a:t>
                </a:r>
                <a14:m>
                  <m:oMath xmlns:m="http://schemas.openxmlformats.org/officeDocument/2006/math">
                    <m:r>
                      <a:rPr lang="en-US" altLang="zh-CN" b="0" i="1" dirty="0">
                        <a:latin typeface="Cambria Math" panose="02040503050406030204" pitchFamily="18" charset="0"/>
                      </a:rPr>
                      <m:t>𝑆</m:t>
                    </m:r>
                    <m:r>
                      <a:rPr lang="en-AU" altLang="zh-CN" i="1" dirty="0">
                        <a:latin typeface="Cambria Math" panose="02040503050406030204" pitchFamily="18" charset="0"/>
                        <a:ea typeface="Cambria Math" panose="02040503050406030204" pitchFamily="18" charset="0"/>
                      </a:rPr>
                      <m:t>→</m:t>
                    </m:r>
                    <m:r>
                      <a:rPr lang="en-US" altLang="zh-CN" b="0" i="1" dirty="0">
                        <a:latin typeface="Cambria Math" panose="02040503050406030204" pitchFamily="18" charset="0"/>
                      </a:rPr>
                      <m:t>𝑑</m:t>
                    </m:r>
                    <m:r>
                      <a:rPr lang="en-US" altLang="zh-CN" b="0" i="1" dirty="0" smtClean="0">
                        <a:latin typeface="Cambria Math" panose="02040503050406030204" pitchFamily="18" charset="0"/>
                      </a:rPr>
                      <m:t>𝑆</m:t>
                    </m:r>
                    <m:r>
                      <a:rPr lang="en-AU" altLang="zh-CN" i="1" dirty="0" smtClean="0">
                        <a:latin typeface="Cambria Math" panose="02040503050406030204" pitchFamily="18" charset="0"/>
                      </a:rPr>
                      <m:t>𝐵</m:t>
                    </m:r>
                    <m:r>
                      <a:rPr lang="en-US" altLang="zh-CN" b="0" i="1" dirty="0">
                        <a:latin typeface="Cambria Math" panose="02040503050406030204" pitchFamily="18" charset="0"/>
                      </a:rPr>
                      <m:t>𝐶</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𝑑𝑆𝐶</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oMath>
                </a14:m>
                <a:endParaRPr lang="en-US" altLang="zh-CN" b="1" dirty="0"/>
              </a:p>
              <a:p>
                <a:pPr marL="0" indent="0">
                  <a:buNone/>
                </a:pPr>
                <a:r>
                  <a:rPr lang="en-AU" dirty="0"/>
                  <a:t>			</a:t>
                </a:r>
                <a14:m>
                  <m:oMath xmlns:m="http://schemas.openxmlformats.org/officeDocument/2006/math">
                    <m:r>
                      <a:rPr lang="en-US" altLang="zh-CN" b="0" i="1" dirty="0" smtClean="0">
                        <a:latin typeface="Cambria Math" panose="02040503050406030204" pitchFamily="18" charset="0"/>
                      </a:rPr>
                      <m:t>𝐶</m:t>
                    </m:r>
                    <m:r>
                      <a:rPr lang="en-AU"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𝑎</m:t>
                    </m:r>
                  </m:oMath>
                </a14:m>
                <a:endParaRPr lang="en-US" altLang="zh-CN" b="0" i="1" dirty="0"/>
              </a:p>
              <a:p>
                <a:pPr marL="0" indent="0">
                  <a:buNone/>
                </a:pPr>
                <a:endParaRPr lang="en-AU"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87926"/>
                <a:ext cx="8229600" cy="4525963"/>
              </a:xfrm>
              <a:blipFill rotWithShape="1">
                <a:blip r:embed="rId1"/>
                <a:stretch>
                  <a:fillRect t="-11" b="-3481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矩形 4"/>
          <p:cNvSpPr/>
          <p:nvPr>
            <p:custDataLst>
              <p:tags r:id="rId2"/>
            </p:custDataLst>
          </p:nvPr>
        </p:nvSpPr>
        <p:spPr>
          <a:xfrm>
            <a:off x="6092825" y="3316605"/>
            <a:ext cx="2860040" cy="1371600"/>
          </a:xfrm>
          <a:prstGeom prst="rect">
            <a:avLst/>
          </a:prstGeom>
          <a:solidFill>
            <a:srgbClr val="FFC000"/>
          </a:solidFill>
        </p:spPr>
        <p:txBody>
          <a:bodyPr wrap="square">
            <a:noAutofit/>
          </a:bodyPr>
          <a:p>
            <a:r>
              <a:rPr lang="zh-CN" altLang="en-US" sz="2000" b="1" dirty="0">
                <a:solidFill>
                  <a:srgbClr val="FF0000"/>
                </a:solidFill>
                <a:latin typeface="黑体" panose="02010609060101010101" pitchFamily="49" charset="-122"/>
                <a:ea typeface="黑体" panose="02010609060101010101" pitchFamily="49" charset="-122"/>
              </a:rPr>
              <a:t>左递归转换成右递归：</a:t>
            </a:r>
            <a:endParaRPr lang="en-US" altLang="zh-CN" sz="2000" b="1" dirty="0">
              <a:solidFill>
                <a:srgbClr val="FF0000"/>
              </a:solidFill>
              <a:latin typeface="黑体" panose="02010609060101010101" pitchFamily="49" charset="-122"/>
              <a:ea typeface="黑体" panose="02010609060101010101" pitchFamily="49" charset="-122"/>
            </a:endParaRPr>
          </a:p>
          <a:p>
            <a:pPr marL="0" lvl="0" indent="0">
              <a:buNone/>
              <a:defRPr/>
            </a:pPr>
            <a:r>
              <a:rPr lang="en-US" altLang="zh-CN" sz="2000" b="1" i="1" dirty="0">
                <a:latin typeface="Times New Roman" panose="02020603050405020304" pitchFamily="18" charset="0"/>
                <a:ea typeface="宋体" panose="02010600030101010101" pitchFamily="2" charset="-122"/>
              </a:rPr>
              <a:t>A</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b="1" i="1" dirty="0">
                <a:latin typeface="Times New Roman" panose="02020603050405020304" pitchFamily="18" charset="0"/>
                <a:ea typeface="宋体" panose="02010600030101010101" pitchFamily="2" charset="-122"/>
              </a:rPr>
              <a:t>Aα </a:t>
            </a:r>
            <a:r>
              <a:rPr lang="en-US" altLang="zh-CN" sz="2000" b="1" dirty="0">
                <a:latin typeface="Times New Roman" panose="02020603050405020304" pitchFamily="18" charset="0"/>
                <a:ea typeface="宋体" panose="02010600030101010101" pitchFamily="2" charset="-122"/>
              </a:rPr>
              <a:t>|</a:t>
            </a:r>
            <a:r>
              <a:rPr lang="en-US" altLang="zh-CN" sz="2000" b="1" i="1" dirty="0">
                <a:latin typeface="Times New Roman" panose="02020603050405020304" pitchFamily="18" charset="0"/>
                <a:ea typeface="宋体" panose="02010600030101010101" pitchFamily="2" charset="-122"/>
              </a:rPr>
              <a:t> </a:t>
            </a:r>
            <a:r>
              <a:rPr lang="zh-CN" altLang="en-US" sz="2000" b="1" i="1" dirty="0">
                <a:latin typeface="Times New Roman" panose="02020603050405020304" pitchFamily="18" charset="0"/>
                <a:ea typeface="宋体" panose="02010600030101010101" pitchFamily="2" charset="-122"/>
                <a:sym typeface="Symbol" panose="05050102010706020507"/>
              </a:rPr>
              <a:t>   </a:t>
            </a:r>
            <a:r>
              <a:rPr lang="en-US" altLang="zh-CN" sz="2000" b="1" i="1" dirty="0">
                <a:latin typeface="Times New Roman" panose="02020603050405020304" pitchFamily="18" charset="0"/>
                <a:ea typeface="宋体" panose="02010600030101010101" pitchFamily="2" charset="-122"/>
                <a:sym typeface="Symbol" panose="05050102010706020507"/>
              </a:rPr>
              <a:t>...... </a:t>
            </a:r>
            <a:r>
              <a:rPr lang="en-US" altLang="zh-CN" sz="2000" b="1" dirty="0">
                <a:latin typeface="Times New Roman" panose="02020603050405020304" pitchFamily="18" charset="0"/>
                <a:ea typeface="宋体" panose="02010600030101010101" pitchFamily="2" charset="-122"/>
                <a:sym typeface="Wingdings" panose="05000000000000000000" pitchFamily="2" charset="2"/>
              </a:rPr>
              <a:t></a:t>
            </a:r>
            <a:r>
              <a:rPr lang="zh-CN" altLang="en-US" sz="2000" b="1" i="1" dirty="0">
                <a:latin typeface="Times New Roman" panose="02020603050405020304" pitchFamily="18" charset="0"/>
                <a:ea typeface="宋体" panose="02010600030101010101" pitchFamily="2" charset="-122"/>
                <a:sym typeface="Symbol" panose="05050102010706020507"/>
              </a:rPr>
              <a:t></a:t>
            </a:r>
            <a:r>
              <a:rPr lang="en-US" altLang="zh-CN" sz="2000" b="1" i="1" dirty="0">
                <a:latin typeface="Times New Roman" panose="02020603050405020304" pitchFamily="18" charset="0"/>
                <a:ea typeface="宋体" panose="02010600030101010101" pitchFamily="2" charset="-122"/>
              </a:rPr>
              <a:t>α</a:t>
            </a:r>
            <a:r>
              <a:rPr lang="en-US" altLang="zh-CN" sz="2000" b="1" i="1" baseline="30000" dirty="0">
                <a:latin typeface="Times New Roman" panose="02020603050405020304" pitchFamily="18" charset="0"/>
                <a:ea typeface="宋体" panose="02010600030101010101" pitchFamily="2" charset="-122"/>
              </a:rPr>
              <a:t>n</a:t>
            </a:r>
            <a:endParaRPr lang="en-US" altLang="zh-CN" sz="2000" b="1" i="1" baseline="30000" dirty="0">
              <a:latin typeface="Times New Roman" panose="02020603050405020304" pitchFamily="18" charset="0"/>
              <a:ea typeface="宋体" panose="02010600030101010101" pitchFamily="2" charset="-122"/>
            </a:endParaRPr>
          </a:p>
          <a:p>
            <a:pPr marL="0" lvl="0" indent="0">
              <a:buNone/>
              <a:defRPr/>
            </a:pPr>
            <a:r>
              <a:rPr lang="en-US" altLang="zh-CN" sz="2000" b="1" dirty="0">
                <a:latin typeface="Times New Roman" panose="02020603050405020304" pitchFamily="18" charset="0"/>
                <a:ea typeface="宋体" panose="02010600030101010101" pitchFamily="2" charset="-122"/>
                <a:sym typeface="Symbol" panose="05050102010706020507"/>
              </a:rPr>
              <a:t>                </a:t>
            </a:r>
            <a:endParaRPr lang="en-US" altLang="zh-CN" sz="2000" b="1" dirty="0">
              <a:latin typeface="Times New Roman" panose="02020603050405020304" pitchFamily="18" charset="0"/>
              <a:ea typeface="宋体" panose="02010600030101010101" pitchFamily="2" charset="-122"/>
            </a:endParaRPr>
          </a:p>
          <a:p>
            <a:pPr lvl="0">
              <a:defRPr/>
            </a:pPr>
            <a:r>
              <a:rPr lang="en-US"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000" b="1" i="1" dirty="0">
                <a:latin typeface="Times New Roman" panose="02020603050405020304" pitchFamily="18" charset="0"/>
                <a:ea typeface="宋体" panose="02010600030101010101" pitchFamily="2" charset="-122"/>
                <a:sym typeface="Symbol" panose="05050102010706020507"/>
              </a:rPr>
              <a:t></a:t>
            </a:r>
            <a:r>
              <a:rPr lang="en-US" altLang="zh-CN" sz="2000" b="1" i="1" dirty="0">
                <a:latin typeface="Times New Roman" panose="02020603050405020304" pitchFamily="18" charset="0"/>
                <a:ea typeface="宋体" panose="02010600030101010101" pitchFamily="2" charset="-122"/>
                <a:sym typeface="Symbol" panose="05050102010706020507"/>
              </a:rPr>
              <a:t>B</a:t>
            </a:r>
            <a:r>
              <a:rPr lang="en-US" altLang="zh-CN" sz="2000" b="1" dirty="0">
                <a:latin typeface="Times New Roman" panose="02020603050405020304" pitchFamily="18" charset="0"/>
                <a:ea typeface="宋体" panose="02010600030101010101" pitchFamily="2" charset="-122"/>
                <a:sym typeface="Symbol" panose="05050102010706020507"/>
              </a:rPr>
              <a:t>|</a:t>
            </a:r>
            <a:r>
              <a:rPr lang="zh-CN" altLang="en-US" sz="2000" b="1" i="1" dirty="0">
                <a:latin typeface="Times New Roman" panose="02020603050405020304" pitchFamily="18" charset="0"/>
                <a:sym typeface="Symbol" panose="05050102010706020507"/>
              </a:rPr>
              <a:t></a:t>
            </a:r>
            <a:r>
              <a:rPr lang="zh-CN" altLang="en-US" sz="2000" b="1" dirty="0">
                <a:latin typeface="Times New Roman" panose="02020603050405020304" pitchFamily="18" charset="0"/>
                <a:sym typeface="Symbol" panose="05050102010706020507"/>
              </a:rPr>
              <a:t>，</a:t>
            </a:r>
            <a:r>
              <a:rPr lang="en-US" altLang="zh-CN" sz="2000" b="1" i="1" dirty="0">
                <a:latin typeface="Times New Roman" panose="02020603050405020304" pitchFamily="18" charset="0"/>
                <a:ea typeface="宋体" panose="02010600030101010101" pitchFamily="2" charset="-122"/>
                <a:sym typeface="Symbol" panose="05050102010706020507"/>
              </a:rPr>
              <a:t>B</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000" b="1" i="1" dirty="0">
                <a:latin typeface="Times New Roman" panose="02020603050405020304" pitchFamily="18" charset="0"/>
                <a:ea typeface="宋体" panose="02010600030101010101" pitchFamily="2" charset="-122"/>
              </a:rPr>
              <a:t>αB|α </a:t>
            </a:r>
            <a:r>
              <a:rPr lang="en-US" altLang="zh-CN" sz="2000" b="1" dirty="0">
                <a:latin typeface="Times New Roman" panose="02020603050405020304" pitchFamily="18" charset="0"/>
                <a:ea typeface="宋体" panose="02010600030101010101" pitchFamily="2" charset="-122"/>
              </a:rPr>
              <a:t>(</a:t>
            </a:r>
            <a:r>
              <a:rPr lang="en-US" altLang="zh-CN" sz="2000" b="1" i="1" dirty="0">
                <a:latin typeface="Times New Roman" panose="02020603050405020304" pitchFamily="18" charset="0"/>
                <a:ea typeface="宋体" panose="02010600030101010101" pitchFamily="2" charset="-122"/>
              </a:rPr>
              <a:t>α</a:t>
            </a:r>
            <a:r>
              <a:rPr lang="en-US" altLang="zh-CN" sz="2000" b="1" i="1" baseline="30000" dirty="0">
                <a:latin typeface="Times New Roman" panose="02020603050405020304" pitchFamily="18" charset="0"/>
                <a:ea typeface="宋体" panose="02010600030101010101" pitchFamily="2" charset="-122"/>
              </a:rPr>
              <a:t>n</a:t>
            </a:r>
            <a:r>
              <a:rPr lang="en-US" altLang="zh-CN" sz="2000" b="1" dirty="0">
                <a:latin typeface="Times New Roman" panose="02020603050405020304" pitchFamily="18" charset="0"/>
                <a:ea typeface="宋体" panose="02010600030101010101" pitchFamily="2" charset="-122"/>
              </a:rPr>
              <a:t>)</a:t>
            </a:r>
            <a:endParaRPr 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小结</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CFG</a:t>
                </a:r>
                <a:r>
                  <a:rPr lang="zh-CN" altLang="en-US" dirty="0"/>
                  <a:t>，派生，最左派生与最右派生，句型，句子</a:t>
                </a:r>
                <a:endParaRPr lang="zh-CN" altLang="en-US" dirty="0"/>
              </a:p>
              <a:p>
                <a:r>
                  <a:rPr lang="zh-CN" altLang="en-US" dirty="0"/>
                  <a:t>语法分析树，派生与语法树的等价性，二义性文法与文法的固有二义性</a:t>
                </a:r>
                <a:endParaRPr lang="zh-CN" altLang="en-US" dirty="0"/>
              </a:p>
              <a:p>
                <a:r>
                  <a:rPr lang="en-US" altLang="zh-CN" dirty="0">
                    <a:latin typeface="Times New Roman" panose="02020603050405020304" pitchFamily="18" charset="0"/>
                    <a:cs typeface="Times New Roman" panose="02020603050405020304" pitchFamily="18" charset="0"/>
                  </a:rPr>
                  <a:t>CFG</a:t>
                </a:r>
                <a:r>
                  <a:rPr lang="zh-CN" altLang="en-US" dirty="0"/>
                  <a:t>的化简</a:t>
                </a:r>
                <a:endParaRPr lang="zh-CN" altLang="en-US" dirty="0"/>
              </a:p>
              <a:p>
                <a:pPr lvl="1"/>
                <a:r>
                  <a:rPr lang="zh-CN" altLang="en-US" dirty="0"/>
                  <a:t>无用符号、</a:t>
                </a:r>
                <a14:m>
                  <m:oMath xmlns:m="http://schemas.openxmlformats.org/officeDocument/2006/math">
                    <m:r>
                      <a:rPr lang="zh-CN" altLang="en-US" i="1" smtClean="0">
                        <a:latin typeface="Cambria Math" panose="02040503050406030204" pitchFamily="18" charset="0"/>
                      </a:rPr>
                      <m:t>𝜀</m:t>
                    </m:r>
                    <m:r>
                      <a:rPr lang="en-AU" altLang="zh-CN" b="0" i="1" smtClean="0">
                        <a:latin typeface="Cambria Math" panose="02040503050406030204" pitchFamily="18" charset="0"/>
                      </a:rPr>
                      <m:t>−</m:t>
                    </m:r>
                  </m:oMath>
                </a14:m>
                <a:r>
                  <a:rPr lang="zh-CN" altLang="en-US" dirty="0"/>
                  <a:t>产生式和单元产生式的消除</a:t>
                </a:r>
                <a:endParaRPr lang="zh-CN" altLang="en-US" dirty="0"/>
              </a:p>
              <a:p>
                <a:r>
                  <a:rPr lang="en-US" altLang="zh-CN" dirty="0">
                    <a:latin typeface="Times New Roman" panose="02020603050405020304" pitchFamily="18" charset="0"/>
                    <a:cs typeface="Times New Roman" panose="02020603050405020304" pitchFamily="18" charset="0"/>
                  </a:rPr>
                  <a:t>CFG</a:t>
                </a:r>
                <a:r>
                  <a:rPr lang="zh-CN" altLang="en-US" dirty="0"/>
                  <a:t>的范式</a:t>
                </a:r>
                <a:endParaRPr lang="zh-CN" altLang="en-US" dirty="0"/>
              </a:p>
              <a:p>
                <a:pPr lvl="1"/>
                <a:r>
                  <a:rPr lang="en-US" altLang="zh-CN" dirty="0">
                    <a:latin typeface="Times New Roman" panose="02020603050405020304" pitchFamily="18" charset="0"/>
                    <a:cs typeface="Times New Roman" panose="02020603050405020304" pitchFamily="18" charset="0"/>
                  </a:rPr>
                  <a:t>CNF</a:t>
                </a:r>
                <a:r>
                  <a:rPr lang="zh-CN" altLang="en-US" dirty="0"/>
                  <a:t>和</a:t>
                </a:r>
                <a:r>
                  <a:rPr lang="en-US" altLang="zh-CN" dirty="0">
                    <a:latin typeface="Times New Roman" panose="02020603050405020304" pitchFamily="18" charset="0"/>
                    <a:cs typeface="Times New Roman" panose="02020603050405020304" pitchFamily="18" charset="0"/>
                  </a:rPr>
                  <a:t>GNF</a:t>
                </a:r>
                <a:endParaRPr lang="en-US" altLang="zh-CN" dirty="0">
                  <a:latin typeface="Times New Roman" panose="02020603050405020304" pitchFamily="18" charset="0"/>
                  <a:cs typeface="Times New Roman" panose="02020603050405020304" pitchFamily="18" charset="0"/>
                </a:endParaRPr>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Bullet"/>
  <p:tag name="RAINPROBLEMTYPE" val="MultipleChoice"/>
  <p:tag name="RAINBULLET" val="Wrong"/>
</p:tagLst>
</file>

<file path=ppt/tags/tag6.xml><?xml version="1.0" encoding="utf-8"?>
<p:tagLst xmlns:p="http://schemas.openxmlformats.org/presentationml/2006/main">
  <p:tag name="RAINPROBLEM" val="ProblemBullet"/>
  <p:tag name="RAINPROBLEMTYPE" val="MultipleChoice"/>
  <p:tag name="RAINBULLET" val="Correct"/>
</p:tagLst>
</file>

<file path=ppt/tags/tag7.xml><?xml version="1.0" encoding="utf-8"?>
<p:tagLst xmlns:p="http://schemas.openxmlformats.org/presentationml/2006/main">
  <p:tag name="RAINPROBLEM" val="ProblemSubmit"/>
  <p:tag name="RAINPROBLEMTYPE" val="MultipleChoice"/>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 val="ProblemSetting"/>
  <p:tag name="RAINPROBLEMTYPE" val="MultipleChoice"/>
</p:tagLst>
</file>

<file path=ppt/tags/tag14.xml><?xml version="1.0" encoding="utf-8"?>
<p:tagLst xmlns:p="http://schemas.openxmlformats.org/presentationml/2006/main">
  <p:tag name="RAINPROBLEM" val="MultipleChoice"/>
  <p:tag name="PROBLEMSCORE" val="1.0"/>
</p:tagLst>
</file>

<file path=ppt/tags/tag15.xml><?xml version="1.0" encoding="utf-8"?>
<p:tagLst xmlns:p="http://schemas.openxmlformats.org/presentationml/2006/main">
  <p:tag name="RAINPROBLEM" val="ProblemBody"/>
</p:tagLst>
</file>

<file path=ppt/tags/tag16.xml><?xml version="1.0" encoding="utf-8"?>
<p:tagLst xmlns:p="http://schemas.openxmlformats.org/presentationml/2006/main">
  <p:tag name="RAINPROBLEM" val="ProblemBody"/>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 val="MultipleChoice"/>
  <p:tag name="PROBLEMSCORE" val="1.0"/>
</p:tagLst>
</file>

<file path=ppt/tags/tag23.xml><?xml version="1.0" encoding="utf-8"?>
<p:tagLst xmlns:p="http://schemas.openxmlformats.org/presentationml/2006/main">
  <p:tag name="RAINPROBLEM" val="ProblemBody"/>
</p:tagLst>
</file>

<file path=ppt/tags/tag24.xml><?xml version="1.0" encoding="utf-8"?>
<p:tagLst xmlns:p="http://schemas.openxmlformats.org/presentationml/2006/main">
  <p:tag name="RAINPROBLEM" val="ProblemItem"/>
</p:tagLst>
</file>

<file path=ppt/tags/tag25.xml><?xml version="1.0" encoding="utf-8"?>
<p:tagLst xmlns:p="http://schemas.openxmlformats.org/presentationml/2006/main">
  <p:tag name="RAINPROBLEM" val="ProblemItem"/>
</p:tagLst>
</file>

<file path=ppt/tags/tag26.xml><?xml version="1.0" encoding="utf-8"?>
<p:tagLst xmlns:p="http://schemas.openxmlformats.org/presentationml/2006/main">
  <p:tag name="RAINPROBLEM" val="ProblemBullet"/>
  <p:tag name="RAINPROBLEMTYPE" val="MultipleChoice"/>
  <p:tag name="RAINBULLET" val="Correct"/>
</p:tagLst>
</file>

<file path=ppt/tags/tag27.xml><?xml version="1.0" encoding="utf-8"?>
<p:tagLst xmlns:p="http://schemas.openxmlformats.org/presentationml/2006/main">
  <p:tag name="RAINPROBLEM" val="ProblemBullet"/>
  <p:tag name="RAINPROBLEMTYPE" val="MultipleChoice"/>
  <p:tag name="RAINBULLET" val="Wrong"/>
</p:tagLst>
</file>

<file path=ppt/tags/tag28.xml><?xml version="1.0" encoding="utf-8"?>
<p:tagLst xmlns:p="http://schemas.openxmlformats.org/presentationml/2006/main">
  <p:tag name="RAINPROBLEM" val="ProblemSubmit"/>
  <p:tag name="RAINPROBLEMTYPE" val="MultipleChoice"/>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 val="ProblemSetting"/>
  <p:tag name="RAINPROBLEMTYPE" val="MultipleChoice"/>
</p:tagLst>
</file>

<file path=ppt/tags/tag35.xml><?xml version="1.0" encoding="utf-8"?>
<p:tagLst xmlns:p="http://schemas.openxmlformats.org/presentationml/2006/main">
  <p:tag name="RAINPROBLEM" val="MultipleChoice"/>
  <p:tag name="PROBLEMSCORE" val="1.0"/>
</p:tagLst>
</file>

<file path=ppt/tags/tag36.xml><?xml version="1.0" encoding="utf-8"?>
<p:tagLst xmlns:p="http://schemas.openxmlformats.org/presentationml/2006/main">
  <p:tag name="RAINPROBLEM" val="ProblemBody"/>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 val="ProblemSetting"/>
  <p:tag name="RAINPROBLEMTYPE" val="MultipleChoice"/>
</p:tagLst>
</file>

<file path=ppt/tags/tag43.xml><?xml version="1.0" encoding="utf-8"?>
<p:tagLst xmlns:p="http://schemas.openxmlformats.org/presentationml/2006/main">
  <p:tag name="RAINPROBLEM" val="MultipleChoice"/>
  <p:tag name="PROBLEMSCORE" val="1.0"/>
</p:tagLst>
</file>

<file path=ppt/tags/tag44.xml><?xml version="1.0" encoding="utf-8"?>
<p:tagLst xmlns:p="http://schemas.openxmlformats.org/presentationml/2006/main">
  <p:tag name="RAINPROBLEM" val="ProblemBody"/>
</p:tagLst>
</file>

<file path=ppt/tags/tag45.xml><?xml version="1.0" encoding="utf-8"?>
<p:tagLst xmlns:p="http://schemas.openxmlformats.org/presentationml/2006/main">
  <p:tag name="RAINPROBLEM" val="ProblemBody"/>
</p:tagLst>
</file>

<file path=ppt/tags/tag46.xml><?xml version="1.0" encoding="utf-8"?>
<p:tagLst xmlns:p="http://schemas.openxmlformats.org/presentationml/2006/main">
  <p:tag name="RAINPROBLEM" val="ProblemSubmit"/>
  <p:tag name="RAINPROBLEMTYPE" val="FillBlank"/>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 val="ProblemSetting"/>
  <p:tag name="RAINPROBLEMTYPE" val="FillBlank"/>
</p:tagLst>
</file>

<file path=ppt/tags/tag53.xml><?xml version="1.0" encoding="utf-8"?>
<p:tagLst xmlns:p="http://schemas.openxmlformats.org/presentationml/2006/main">
  <p:tag name="RAINPROBLEM" val="FillBlank"/>
  <p:tag name="PROBLEMBLANKKEYWORD" val="填空"/>
  <p:tag name="PROBLEMSCORE" val="2.0"/>
  <p:tag name="PROBLEMBLANK" val="[{&quot;Num&quot;:1,&quot;Score&quot;:1.0,&quot;Answers&quot;:[&quot;𝑆→𝑎,A→𝑏&quot;],&quot;CaseSensitive&quot;:false,&quot;FuzzyMatch&quot;:false},{&quot;Num&quot;:2,&quot;Score&quot;:1.0,&quot;Answers&quot;:[&quot;𝑆→𝑎&quot;],&quot;CaseSensitive&quot;:false,&quot;FuzzyMatch&quot;:false}]"/>
</p:tagLst>
</file>

<file path=ppt/tags/tag54.xml><?xml version="1.0" encoding="utf-8"?>
<p:tagLst xmlns:p="http://schemas.openxmlformats.org/presentationml/2006/main">
  <p:tag name="RAINPROBLEM" val="ProblemBody"/>
</p:tagLst>
</file>

<file path=ppt/tags/tag55.xml><?xml version="1.0" encoding="utf-8"?>
<p:tagLst xmlns:p="http://schemas.openxmlformats.org/presentationml/2006/main">
  <p:tag name="RAINPROBLEM" val="ProblemBody"/>
</p:tagLst>
</file>

<file path=ppt/tags/tag56.xml><?xml version="1.0" encoding="utf-8"?>
<p:tagLst xmlns:p="http://schemas.openxmlformats.org/presentationml/2006/main">
  <p:tag name="RAINPROBLEM" val="ProblemSubmit"/>
  <p:tag name="RAINPROBLEMTYPE" val="ShortAnsw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 val="ProblemSetting"/>
  <p:tag name="RAINPROBLEMTYPE" val="ShortAnswer"/>
</p:tagLst>
</file>

<file path=ppt/tags/tag63.xml><?xml version="1.0" encoding="utf-8"?>
<p:tagLst xmlns:p="http://schemas.openxmlformats.org/presentationml/2006/main">
  <p:tag name="RAINPROBLEM" val="ShortAnswer"/>
  <p:tag name="PROBLEMSCORE" val="10.0"/>
  <p:tag name="PROBLEMVOICEALLOWED" val="False"/>
</p:tagLst>
</file>

<file path=ppt/tags/tag64.xml><?xml version="1.0" encoding="utf-8"?>
<p:tagLst xmlns:p="http://schemas.openxmlformats.org/presentationml/2006/main">
  <p:tag name="RAINPROBLEM" val="ProblemBody"/>
</p:tagLst>
</file>

<file path=ppt/tags/tag65.xml><?xml version="1.0" encoding="utf-8"?>
<p:tagLst xmlns:p="http://schemas.openxmlformats.org/presentationml/2006/main">
  <p:tag name="RAINPROBLEM" val="ProblemBody"/>
</p:tagLst>
</file>

<file path=ppt/tags/tag66.xml><?xml version="1.0" encoding="utf-8"?>
<p:tagLst xmlns:p="http://schemas.openxmlformats.org/presentationml/2006/main">
  <p:tag name="RAINPROBLEM" val="ProblemSubmit"/>
  <p:tag name="RAINPROBLEMTYPE" val="ShortAnsw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TYPE" val="ProblemTypeMarker"/>
</p:tagLst>
</file>

<file path=ppt/tags/tag71.xml><?xml version="1.0" encoding="utf-8"?>
<p:tagLst xmlns:p="http://schemas.openxmlformats.org/presentationml/2006/main">
  <p:tag name="RAINPROBLEMTYPE" val="ProblemTypeMarker"/>
</p:tagLst>
</file>

<file path=ppt/tags/tag72.xml><?xml version="1.0" encoding="utf-8"?>
<p:tagLst xmlns:p="http://schemas.openxmlformats.org/presentationml/2006/main">
  <p:tag name="RAINPROBLEM" val="ProblemSetting"/>
  <p:tag name="RAINPROBLEMTYPE" val="ShortAnswer"/>
</p:tagLst>
</file>

<file path=ppt/tags/tag73.xml><?xml version="1.0" encoding="utf-8"?>
<p:tagLst xmlns:p="http://schemas.openxmlformats.org/presentationml/2006/main">
  <p:tag name="RAINPROBLEM" val="ShortAnswer"/>
  <p:tag name="PROBLEMSCORE" val="10.0"/>
  <p:tag name="PROBLEMVOICEALLOWED" val="False"/>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PP_MARK_KEY" val="a10c9d11-e5fa-476d-b6a2-06012fdc53c1"/>
  <p:tag name="COMMONDATA" val="eyJoZGlkIjoiYTc2ZGZiNzZiNDVlOGViOWVmM2JhOTY0NGJkNjUyYz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14991</Words>
  <Application>WPS 演示</Application>
  <PresentationFormat>全屏显示(4:3)</PresentationFormat>
  <Paragraphs>1276</Paragraphs>
  <Slides>97</Slides>
  <Notes>51</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97</vt:i4>
      </vt:variant>
    </vt:vector>
  </HeadingPairs>
  <TitlesOfParts>
    <vt:vector size="114" baseType="lpstr">
      <vt:lpstr>Arial</vt:lpstr>
      <vt:lpstr>宋体</vt:lpstr>
      <vt:lpstr>Wingdings</vt:lpstr>
      <vt:lpstr>黑体</vt:lpstr>
      <vt:lpstr>Cambria Math</vt:lpstr>
      <vt:lpstr>楷体</vt:lpstr>
      <vt:lpstr>Times New Roman</vt:lpstr>
      <vt:lpstr>微软雅黑</vt:lpstr>
      <vt:lpstr>Calibri</vt:lpstr>
      <vt:lpstr>等线</vt:lpstr>
      <vt:lpstr>Arial Unicode MS</vt:lpstr>
      <vt:lpstr>Symbol</vt:lpstr>
      <vt:lpstr>Symbol</vt:lpstr>
      <vt:lpstr>BatangChe</vt:lpstr>
      <vt:lpstr>Segoe Print</vt:lpstr>
      <vt:lpstr>Office 主题</vt:lpstr>
      <vt:lpstr>1_Office 主题</vt:lpstr>
      <vt:lpstr>课程回顾</vt:lpstr>
      <vt:lpstr>上下文无关文法</vt:lpstr>
      <vt:lpstr>主要内容</vt:lpstr>
      <vt:lpstr>主要内容</vt:lpstr>
      <vt:lpstr>上下文无关文法</vt:lpstr>
      <vt:lpstr>文法示例：自然语言的文法</vt:lpstr>
      <vt:lpstr>自然语言的文法</vt:lpstr>
      <vt:lpstr>回文与回文语言</vt:lpstr>
      <vt:lpstr>PowerPoint 演示文稿</vt:lpstr>
      <vt:lpstr>PowerPoint 演示文稿</vt:lpstr>
      <vt:lpstr>回文与回文语言</vt:lpstr>
      <vt:lpstr>回文与回文语言</vt:lpstr>
      <vt:lpstr>回文与回文语言</vt:lpstr>
      <vt:lpstr>回文与回文语言</vt:lpstr>
      <vt:lpstr>上下文无关法的形式定义</vt:lpstr>
      <vt:lpstr>上下文无关法的形式定义</vt:lpstr>
      <vt:lpstr>上下文无关法的形式定义</vt:lpstr>
      <vt:lpstr>上下文无关法的形式定义</vt:lpstr>
      <vt:lpstr>字符使用的一般约定</vt:lpstr>
      <vt:lpstr>文法示例</vt:lpstr>
      <vt:lpstr>文法示例</vt:lpstr>
      <vt:lpstr>PowerPoint 演示文稿</vt:lpstr>
      <vt:lpstr>PowerPoint 演示文稿</vt:lpstr>
      <vt:lpstr>文法示例</vt:lpstr>
      <vt:lpstr>主要内容</vt:lpstr>
      <vt:lpstr>归约和派生</vt:lpstr>
      <vt:lpstr>派生和归约的形式定义</vt:lpstr>
      <vt:lpstr>派生和归约的形式定义</vt:lpstr>
      <vt:lpstr>归约和派生</vt:lpstr>
      <vt:lpstr>归约和派生</vt:lpstr>
      <vt:lpstr>归约和派生</vt:lpstr>
      <vt:lpstr>归约和派生</vt:lpstr>
      <vt:lpstr>归约和派生</vt:lpstr>
      <vt:lpstr>归约和派生</vt:lpstr>
      <vt:lpstr>归约和派生</vt:lpstr>
      <vt:lpstr>派生和归约的形式定义</vt:lpstr>
      <vt:lpstr>主要内容</vt:lpstr>
      <vt:lpstr>最左派生和最右派生</vt:lpstr>
      <vt:lpstr>最左派生和最右派生</vt:lpstr>
      <vt:lpstr>最左派生和最右派生</vt:lpstr>
      <vt:lpstr>主要内容</vt:lpstr>
      <vt:lpstr>文法的语言</vt:lpstr>
      <vt:lpstr>上下文无关语言</vt:lpstr>
      <vt:lpstr>文法的等价性</vt:lpstr>
      <vt:lpstr>句型</vt:lpstr>
      <vt:lpstr>示例</vt:lpstr>
      <vt:lpstr>主要内容</vt:lpstr>
      <vt:lpstr>语法分析树</vt:lpstr>
      <vt:lpstr>语法分析树的形式定义</vt:lpstr>
      <vt:lpstr>语法分析树的形式定义</vt:lpstr>
      <vt:lpstr>语法分析树和派生的等价性</vt:lpstr>
      <vt:lpstr>证明（充分性）</vt:lpstr>
      <vt:lpstr>证明（充分性）</vt:lpstr>
      <vt:lpstr>证明（必要性）</vt:lpstr>
      <vt:lpstr>证明（必要性）</vt:lpstr>
      <vt:lpstr>唯一最左（右）派生</vt:lpstr>
      <vt:lpstr>主要内容</vt:lpstr>
      <vt:lpstr>文法的歧义性</vt:lpstr>
      <vt:lpstr>文法的歧义性</vt:lpstr>
      <vt:lpstr>文法歧义性的消除</vt:lpstr>
      <vt:lpstr>语言的固有歧义性</vt:lpstr>
      <vt:lpstr>上下文无关文法(课程回顾)</vt:lpstr>
      <vt:lpstr>主要内容</vt:lpstr>
      <vt:lpstr>为什么要化简？</vt:lpstr>
      <vt:lpstr>文法的化简</vt:lpstr>
      <vt:lpstr>消除无用符号</vt:lpstr>
      <vt:lpstr>消除无用符号</vt:lpstr>
      <vt:lpstr>消除无用符号</vt:lpstr>
      <vt:lpstr>消除无用符号</vt:lpstr>
      <vt:lpstr>PowerPoint 演示文稿</vt:lpstr>
      <vt:lpstr>消除无用符号</vt:lpstr>
      <vt:lpstr>消除无用符号</vt:lpstr>
      <vt:lpstr>消除无用符号</vt:lpstr>
      <vt:lpstr>消除无用符号</vt:lpstr>
      <vt:lpstr>消除-产生式</vt:lpstr>
      <vt:lpstr>消除-产生式</vt:lpstr>
      <vt:lpstr>消除-产生式</vt:lpstr>
      <vt:lpstr>PowerPoint 演示文稿</vt:lpstr>
      <vt:lpstr>消除-产生式</vt:lpstr>
      <vt:lpstr>消除单元产生式</vt:lpstr>
      <vt:lpstr>消除单元产生式</vt:lpstr>
      <vt:lpstr>PowerPoint 演示文稿</vt:lpstr>
      <vt:lpstr>消除单元产生式</vt:lpstr>
      <vt:lpstr>文法化简的可靠顺序</vt:lpstr>
      <vt:lpstr>乔姆斯基范式和格雷巴赫范式</vt:lpstr>
      <vt:lpstr>乔姆斯基范式 CNF</vt:lpstr>
      <vt:lpstr>CFG转为CNF的方法</vt:lpstr>
      <vt:lpstr>CFG转为CNF</vt:lpstr>
      <vt:lpstr>CFG转为CNF</vt:lpstr>
      <vt:lpstr>格雷巴赫范式 GNF</vt:lpstr>
      <vt:lpstr>CFG转为GNF</vt:lpstr>
      <vt:lpstr>格雷巴赫范式 GNF</vt:lpstr>
      <vt:lpstr>格雷巴赫范式 GNF</vt:lpstr>
      <vt:lpstr>CFG转为GNF</vt:lpstr>
      <vt:lpstr>CFG转为GNF</vt:lpstr>
      <vt:lpstr>CFG转为GNF</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Yifeng</dc:creator>
  <cp:lastModifiedBy>汤步洲-哈工大（深圳）</cp:lastModifiedBy>
  <cp:revision>529</cp:revision>
  <dcterms:created xsi:type="dcterms:W3CDTF">2021-06-01T10:46:00Z</dcterms:created>
  <dcterms:modified xsi:type="dcterms:W3CDTF">2023-03-22T14:40:50Z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31EEB9F2DFED4180B505C37AEBC992EC</vt:lpwstr>
  </property>
  <property fmtid="{D5CDD505-2E9C-101B-9397-08002B2CF9AE}" pid="3" name="KSOProductBuildVer">
    <vt:lpwstr>2052-11.1.0.13703</vt:lpwstr>
  </property>
</Properties>
</file>