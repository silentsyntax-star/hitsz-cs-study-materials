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notesSlides/notesSlide17.xml" ContentType="application/vnd.openxmlformats-officedocument.presentationml.notesSlide+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notesSlides/notesSlide18.xml" ContentType="application/vnd.openxmlformats-officedocument.presentationml.notesSlide+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notesSlides/notesSlide19.xml" ContentType="application/vnd.openxmlformats-officedocument.presentationml.notesSlide+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5"/>
  </p:notesMasterIdLst>
  <p:sldIdLst>
    <p:sldId id="298" r:id="rId2"/>
    <p:sldId id="337" r:id="rId3"/>
    <p:sldId id="359" r:id="rId4"/>
    <p:sldId id="360" r:id="rId5"/>
    <p:sldId id="288" r:id="rId6"/>
    <p:sldId id="397" r:id="rId7"/>
    <p:sldId id="361" r:id="rId8"/>
    <p:sldId id="368" r:id="rId9"/>
    <p:sldId id="369" r:id="rId10"/>
    <p:sldId id="363" r:id="rId11"/>
    <p:sldId id="365" r:id="rId12"/>
    <p:sldId id="366" r:id="rId13"/>
    <p:sldId id="374" r:id="rId14"/>
    <p:sldId id="375" r:id="rId15"/>
    <p:sldId id="370" r:id="rId16"/>
    <p:sldId id="371" r:id="rId17"/>
    <p:sldId id="373" r:id="rId18"/>
    <p:sldId id="376" r:id="rId19"/>
    <p:sldId id="377" r:id="rId20"/>
    <p:sldId id="378" r:id="rId21"/>
    <p:sldId id="379" r:id="rId22"/>
    <p:sldId id="380" r:id="rId23"/>
    <p:sldId id="381" r:id="rId24"/>
    <p:sldId id="383" r:id="rId25"/>
    <p:sldId id="382" r:id="rId26"/>
    <p:sldId id="384" r:id="rId27"/>
    <p:sldId id="385" r:id="rId28"/>
    <p:sldId id="386" r:id="rId29"/>
    <p:sldId id="387" r:id="rId30"/>
    <p:sldId id="388" r:id="rId31"/>
    <p:sldId id="389" r:id="rId32"/>
    <p:sldId id="390" r:id="rId33"/>
    <p:sldId id="372" r:id="rId34"/>
    <p:sldId id="391" r:id="rId35"/>
    <p:sldId id="392" r:id="rId36"/>
    <p:sldId id="393" r:id="rId37"/>
    <p:sldId id="394" r:id="rId38"/>
    <p:sldId id="395" r:id="rId39"/>
    <p:sldId id="396" r:id="rId40"/>
    <p:sldId id="398" r:id="rId41"/>
    <p:sldId id="399" r:id="rId42"/>
    <p:sldId id="400" r:id="rId43"/>
    <p:sldId id="401" r:id="rId44"/>
    <p:sldId id="402" r:id="rId45"/>
    <p:sldId id="417" r:id="rId46"/>
    <p:sldId id="418" r:id="rId47"/>
    <p:sldId id="403" r:id="rId48"/>
    <p:sldId id="404" r:id="rId49"/>
    <p:sldId id="419" r:id="rId50"/>
    <p:sldId id="405" r:id="rId51"/>
    <p:sldId id="420" r:id="rId52"/>
    <p:sldId id="406" r:id="rId53"/>
    <p:sldId id="421" r:id="rId54"/>
    <p:sldId id="408" r:id="rId55"/>
    <p:sldId id="422" r:id="rId56"/>
    <p:sldId id="409" r:id="rId57"/>
    <p:sldId id="423" r:id="rId58"/>
    <p:sldId id="410" r:id="rId59"/>
    <p:sldId id="424" r:id="rId60"/>
    <p:sldId id="411" r:id="rId61"/>
    <p:sldId id="425" r:id="rId62"/>
    <p:sldId id="412" r:id="rId63"/>
    <p:sldId id="426" r:id="rId64"/>
    <p:sldId id="413" r:id="rId65"/>
    <p:sldId id="442" r:id="rId66"/>
    <p:sldId id="428" r:id="rId67"/>
    <p:sldId id="427" r:id="rId68"/>
    <p:sldId id="430" r:id="rId69"/>
    <p:sldId id="429" r:id="rId70"/>
    <p:sldId id="431" r:id="rId71"/>
    <p:sldId id="432" r:id="rId72"/>
    <p:sldId id="433" r:id="rId73"/>
    <p:sldId id="434" r:id="rId74"/>
    <p:sldId id="435" r:id="rId75"/>
    <p:sldId id="436" r:id="rId76"/>
    <p:sldId id="437" r:id="rId77"/>
    <p:sldId id="438" r:id="rId78"/>
    <p:sldId id="439" r:id="rId79"/>
    <p:sldId id="440" r:id="rId80"/>
    <p:sldId id="441" r:id="rId81"/>
    <p:sldId id="443" r:id="rId82"/>
    <p:sldId id="444" r:id="rId83"/>
    <p:sldId id="445" r:id="rId84"/>
    <p:sldId id="446" r:id="rId85"/>
    <p:sldId id="447" r:id="rId86"/>
    <p:sldId id="448" r:id="rId87"/>
    <p:sldId id="449" r:id="rId88"/>
    <p:sldId id="450" r:id="rId89"/>
    <p:sldId id="451" r:id="rId90"/>
    <p:sldId id="452" r:id="rId91"/>
    <p:sldId id="453" r:id="rId92"/>
    <p:sldId id="454" r:id="rId93"/>
    <p:sldId id="455" r:id="rId94"/>
    <p:sldId id="458" r:id="rId95"/>
    <p:sldId id="459" r:id="rId96"/>
    <p:sldId id="460" r:id="rId97"/>
    <p:sldId id="456" r:id="rId98"/>
    <p:sldId id="457" r:id="rId99"/>
    <p:sldId id="461" r:id="rId100"/>
    <p:sldId id="462" r:id="rId101"/>
    <p:sldId id="463" r:id="rId102"/>
    <p:sldId id="464" r:id="rId103"/>
    <p:sldId id="465" r:id="rId104"/>
    <p:sldId id="466" r:id="rId105"/>
    <p:sldId id="469" r:id="rId106"/>
    <p:sldId id="467" r:id="rId107"/>
    <p:sldId id="472" r:id="rId108"/>
    <p:sldId id="468" r:id="rId109"/>
    <p:sldId id="470" r:id="rId110"/>
    <p:sldId id="471" r:id="rId111"/>
    <p:sldId id="473" r:id="rId112"/>
    <p:sldId id="474" r:id="rId113"/>
    <p:sldId id="475" r:id="rId114"/>
    <p:sldId id="476" r:id="rId115"/>
    <p:sldId id="477" r:id="rId116"/>
    <p:sldId id="478" r:id="rId117"/>
    <p:sldId id="479" r:id="rId118"/>
    <p:sldId id="480" r:id="rId119"/>
    <p:sldId id="481" r:id="rId120"/>
    <p:sldId id="482" r:id="rId121"/>
    <p:sldId id="483" r:id="rId122"/>
    <p:sldId id="484" r:id="rId123"/>
    <p:sldId id="486" r:id="rId124"/>
    <p:sldId id="487" r:id="rId125"/>
    <p:sldId id="488" r:id="rId126"/>
    <p:sldId id="489" r:id="rId127"/>
    <p:sldId id="490" r:id="rId128"/>
    <p:sldId id="491" r:id="rId129"/>
    <p:sldId id="492" r:id="rId130"/>
    <p:sldId id="493" r:id="rId131"/>
    <p:sldId id="494" r:id="rId132"/>
    <p:sldId id="495" r:id="rId133"/>
    <p:sldId id="496" r:id="rId134"/>
    <p:sldId id="497" r:id="rId135"/>
    <p:sldId id="498" r:id="rId136"/>
    <p:sldId id="499" r:id="rId137"/>
    <p:sldId id="500" r:id="rId138"/>
    <p:sldId id="501" r:id="rId139"/>
    <p:sldId id="502" r:id="rId140"/>
    <p:sldId id="503" r:id="rId141"/>
    <p:sldId id="504" r:id="rId142"/>
    <p:sldId id="505" r:id="rId143"/>
    <p:sldId id="506" r:id="rId144"/>
    <p:sldId id="507" r:id="rId145"/>
    <p:sldId id="508" r:id="rId146"/>
    <p:sldId id="510" r:id="rId147"/>
    <p:sldId id="528" r:id="rId148"/>
    <p:sldId id="511" r:id="rId149"/>
    <p:sldId id="512" r:id="rId150"/>
    <p:sldId id="513" r:id="rId151"/>
    <p:sldId id="514" r:id="rId152"/>
    <p:sldId id="515" r:id="rId153"/>
    <p:sldId id="516" r:id="rId154"/>
    <p:sldId id="517" r:id="rId155"/>
    <p:sldId id="518" r:id="rId156"/>
    <p:sldId id="519" r:id="rId157"/>
    <p:sldId id="520" r:id="rId158"/>
    <p:sldId id="521" r:id="rId159"/>
    <p:sldId id="522" r:id="rId160"/>
    <p:sldId id="523" r:id="rId161"/>
    <p:sldId id="524" r:id="rId162"/>
    <p:sldId id="526" r:id="rId163"/>
    <p:sldId id="527" r:id="rId164"/>
  </p:sldIdLst>
  <p:sldSz cx="9144000" cy="6858000" type="screen4x3"/>
  <p:notesSz cx="6858000" cy="9144000"/>
  <p:custDataLst>
    <p:tags r:id="rId16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3333FF"/>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14" autoAdjust="0"/>
    <p:restoredTop sz="80392" autoAdjust="0"/>
  </p:normalViewPr>
  <p:slideViewPr>
    <p:cSldViewPr showGuides="1">
      <p:cViewPr varScale="1">
        <p:scale>
          <a:sx n="84" d="100"/>
          <a:sy n="84" d="100"/>
        </p:scale>
        <p:origin x="1368" y="30"/>
      </p:cViewPr>
      <p:guideLst>
        <p:guide orient="horz" pos="2194"/>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5046"/>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notesMaster" Target="notesMasters/notesMaster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vl1pPr>
          </a:lstStyle>
          <a:p>
            <a:pPr>
              <a:defRPr/>
            </a:pPr>
            <a:endParaRPr lang="en-US" altLang="zh-CN"/>
          </a:p>
        </p:txBody>
      </p:sp>
      <p:sp>
        <p:nvSpPr>
          <p:cNvPr id="2765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vl1pPr>
          </a:lstStyle>
          <a:p>
            <a:pPr>
              <a:defRPr/>
            </a:pPr>
            <a:endParaRPr lang="en-US" altLang="zh-CN"/>
          </a:p>
        </p:txBody>
      </p:sp>
      <p:sp>
        <p:nvSpPr>
          <p:cNvPr id="440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3"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vl1pPr>
          </a:lstStyle>
          <a:p>
            <a:pPr>
              <a:defRPr/>
            </a:pPr>
            <a:endParaRPr lang="en-US" altLang="zh-CN"/>
          </a:p>
        </p:txBody>
      </p:sp>
      <p:sp>
        <p:nvSpPr>
          <p:cNvPr id="27655"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vl1pPr>
          </a:lstStyle>
          <a:p>
            <a:pPr>
              <a:defRPr/>
            </a:pPr>
            <a:fld id="{AD0B409A-9510-4679-9C86-74CCD54373DF}"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0B409A-9510-4679-9C86-74CCD54373DF}" type="slidenum">
              <a:rPr lang="en-US" altLang="zh-CN" smtClean="0"/>
              <a:t>3</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0B409A-9510-4679-9C86-74CCD54373DF}" type="slidenum">
              <a:rPr lang="en-US" altLang="zh-CN" smtClean="0"/>
              <a:t>4</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0B409A-9510-4679-9C86-74CCD54373DF}" type="slidenum">
              <a:rPr lang="en-US" altLang="zh-CN" smtClean="0"/>
              <a:t>7</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接下来我们给出</a:t>
            </a:r>
            <a:r>
              <a:rPr lang="en-AU" altLang="zh-CN" dirty="0"/>
              <a:t>DFA</a:t>
            </a:r>
            <a:r>
              <a:rPr lang="zh-CN" altLang="en-US" dirty="0"/>
              <a:t>和</a:t>
            </a:r>
            <a:r>
              <a:rPr lang="en-AU" altLang="zh-CN" dirty="0"/>
              <a:t>NFA</a:t>
            </a:r>
            <a:r>
              <a:rPr lang="zh-CN" altLang="en-US" dirty="0"/>
              <a:t>的等价性证明。</a:t>
            </a:r>
            <a:endParaRPr lang="en-AU" altLang="zh-CN" dirty="0"/>
          </a:p>
          <a:p>
            <a:endParaRPr lang="en-AU" dirty="0"/>
          </a:p>
          <a:p>
            <a:r>
              <a:rPr lang="zh-CN" altLang="en-US" dirty="0"/>
              <a:t>那么大家想，一个</a:t>
            </a:r>
            <a:r>
              <a:rPr lang="en-AU" altLang="zh-CN" dirty="0"/>
              <a:t>DFA</a:t>
            </a:r>
            <a:r>
              <a:rPr lang="zh-CN" altLang="en-US" dirty="0"/>
              <a:t>，显然，肯定能被一个</a:t>
            </a:r>
            <a:r>
              <a:rPr lang="en-AU" altLang="zh-CN" dirty="0"/>
              <a:t>NFA</a:t>
            </a:r>
            <a:r>
              <a:rPr lang="zh-CN" altLang="en-US" dirty="0"/>
              <a:t>表示。</a:t>
            </a:r>
            <a:endParaRPr lang="en-AU" altLang="zh-CN" dirty="0"/>
          </a:p>
          <a:p>
            <a:endParaRPr lang="en-AU" dirty="0"/>
          </a:p>
          <a:p>
            <a:r>
              <a:rPr lang="zh-CN" altLang="en-US" dirty="0"/>
              <a:t>一个</a:t>
            </a:r>
            <a:r>
              <a:rPr lang="en-AU" altLang="zh-CN" dirty="0"/>
              <a:t>DFA</a:t>
            </a:r>
            <a:r>
              <a:rPr lang="zh-CN" altLang="en-US" dirty="0"/>
              <a:t>识别的语言，可以由一个</a:t>
            </a:r>
            <a:r>
              <a:rPr lang="en-AU" altLang="zh-CN" dirty="0"/>
              <a:t>NFA</a:t>
            </a:r>
            <a:r>
              <a:rPr lang="zh-CN" altLang="en-US" dirty="0"/>
              <a:t>识别。</a:t>
            </a:r>
            <a:endParaRPr lang="en-AU" altLang="zh-CN" dirty="0"/>
          </a:p>
          <a:p>
            <a:endParaRPr lang="en-AU" dirty="0"/>
          </a:p>
          <a:p>
            <a:r>
              <a:rPr lang="zh-CN" altLang="en-US" dirty="0"/>
              <a:t>但是，如果一个</a:t>
            </a:r>
            <a:r>
              <a:rPr lang="en-AU" altLang="zh-CN" dirty="0"/>
              <a:t>NFA</a:t>
            </a:r>
            <a:r>
              <a:rPr lang="zh-CN" altLang="en-US" dirty="0"/>
              <a:t>所能识别的语言，是否能被一个</a:t>
            </a:r>
            <a:r>
              <a:rPr lang="en-AU" altLang="zh-CN" dirty="0"/>
              <a:t>DFA</a:t>
            </a:r>
            <a:r>
              <a:rPr lang="zh-CN" altLang="en-US" dirty="0"/>
              <a:t>识别。我们由如下定理：</a:t>
            </a:r>
            <a:endParaRPr lang="en-AU" altLang="zh-CN" dirty="0"/>
          </a:p>
          <a:p>
            <a:endParaRPr lang="en-AU" dirty="0"/>
          </a:p>
          <a:p>
            <a:r>
              <a:rPr lang="zh-CN" altLang="en-US" dirty="0"/>
              <a:t>也就是，通过</a:t>
            </a:r>
            <a:r>
              <a:rPr lang="en-AU" altLang="zh-CN" dirty="0"/>
              <a:t>NFA</a:t>
            </a:r>
            <a:r>
              <a:rPr lang="zh-CN" altLang="en-US" dirty="0"/>
              <a:t>五元组的形式，来构造一个</a:t>
            </a:r>
            <a:r>
              <a:rPr lang="en-AU" altLang="zh-CN" dirty="0"/>
              <a:t>DFA</a:t>
            </a:r>
            <a:r>
              <a:rPr lang="zh-CN" altLang="en-US" dirty="0"/>
              <a:t>的五元组，最后证明它们是等价的。</a:t>
            </a:r>
            <a:endParaRPr lang="en-AU" altLang="zh-CN" dirty="0"/>
          </a:p>
          <a:p>
            <a:endParaRPr lang="en-AU" dirty="0"/>
          </a:p>
          <a:p>
            <a:r>
              <a:rPr lang="zh-CN" altLang="en-US" dirty="0"/>
              <a:t>这里我们使用子集构造法。</a:t>
            </a:r>
            <a:r>
              <a:rPr lang="en-AU" altLang="zh-CN" dirty="0"/>
              <a:t>DFA</a:t>
            </a:r>
            <a:r>
              <a:rPr lang="zh-CN" altLang="en-US" dirty="0"/>
              <a:t>的初始状态为</a:t>
            </a:r>
            <a:r>
              <a:rPr lang="en-AU" altLang="zh-CN" dirty="0"/>
              <a:t>{q0},q0</a:t>
            </a:r>
            <a:r>
              <a:rPr lang="zh-CN" altLang="en-US" dirty="0"/>
              <a:t>的集合。</a:t>
            </a:r>
            <a:endParaRPr lang="en-AU" altLang="zh-CN" dirty="0"/>
          </a:p>
          <a:p>
            <a:endParaRPr lang="en-AU" dirty="0"/>
          </a:p>
          <a:p>
            <a:endParaRPr lang="en-AU" dirty="0"/>
          </a:p>
          <a:p>
            <a:endParaRPr lang="en-AU" dirty="0"/>
          </a:p>
          <a:p>
            <a:r>
              <a:rPr lang="en-AU" dirty="0"/>
              <a:t>QD</a:t>
            </a:r>
            <a:r>
              <a:rPr lang="zh-CN" altLang="en-US" dirty="0"/>
              <a:t>也就是</a:t>
            </a:r>
            <a:r>
              <a:rPr lang="en-AU" altLang="zh-CN" dirty="0"/>
              <a:t>QN</a:t>
            </a:r>
            <a:r>
              <a:rPr lang="zh-CN" altLang="en-US" dirty="0"/>
              <a:t>的幂集，也就是</a:t>
            </a:r>
            <a:r>
              <a:rPr lang="en-AU" altLang="zh-CN" dirty="0"/>
              <a:t>QN</a:t>
            </a:r>
            <a:r>
              <a:rPr lang="zh-CN" altLang="en-US" dirty="0"/>
              <a:t>的子集。</a:t>
            </a:r>
            <a:endParaRPr lang="en-AU" altLang="zh-CN" dirty="0"/>
          </a:p>
          <a:p>
            <a:endParaRPr lang="en-AU" dirty="0"/>
          </a:p>
          <a:p>
            <a:endParaRPr lang="en-AU" dirty="0"/>
          </a:p>
          <a:p>
            <a:r>
              <a:rPr lang="en-AU" dirty="0"/>
              <a:t>DFA</a:t>
            </a:r>
            <a:r>
              <a:rPr lang="zh-CN" altLang="en-US" dirty="0"/>
              <a:t>的状态集为</a:t>
            </a:r>
            <a:r>
              <a:rPr lang="en-AU" altLang="zh-CN" dirty="0"/>
              <a:t>NFA</a:t>
            </a:r>
            <a:r>
              <a:rPr lang="zh-CN" altLang="en-US" dirty="0"/>
              <a:t>的状态集的所有子集。</a:t>
            </a:r>
            <a:endParaRPr lang="en-AU" altLang="zh-CN" dirty="0"/>
          </a:p>
          <a:p>
            <a:endParaRPr lang="en-AU" dirty="0"/>
          </a:p>
          <a:p>
            <a:r>
              <a:rPr lang="en-US" altLang="zh-CN" dirty="0"/>
              <a:t>DFA</a:t>
            </a:r>
            <a:r>
              <a:rPr lang="zh-CN" altLang="en-US" dirty="0"/>
              <a:t>里面每个状态用</a:t>
            </a:r>
            <a:r>
              <a:rPr lang="en-US" altLang="zh-CN" dirty="0"/>
              <a:t>{}</a:t>
            </a:r>
            <a:r>
              <a:rPr lang="zh-CN" altLang="en-US" dirty="0"/>
              <a:t>括号表示，因为</a:t>
            </a:r>
            <a:r>
              <a:rPr lang="en-US" altLang="zh-CN" dirty="0"/>
              <a:t>DFA</a:t>
            </a:r>
            <a:r>
              <a:rPr lang="zh-CN" altLang="en-US" dirty="0"/>
              <a:t>的每个状态可能是</a:t>
            </a:r>
            <a:r>
              <a:rPr lang="en-AU" altLang="zh-CN" dirty="0"/>
              <a:t>NFA</a:t>
            </a:r>
            <a:r>
              <a:rPr lang="zh-CN" altLang="en-US" dirty="0"/>
              <a:t>中多个状态的集合。</a:t>
            </a:r>
            <a:endParaRPr lang="en-AU" altLang="zh-CN" dirty="0"/>
          </a:p>
          <a:p>
            <a:endParaRPr lang="en-AU" dirty="0"/>
          </a:p>
          <a:p>
            <a:r>
              <a:rPr lang="zh-CN" altLang="en-US" dirty="0"/>
              <a:t>因为我们知道，在</a:t>
            </a:r>
            <a:r>
              <a:rPr lang="en-AU" altLang="zh-CN" dirty="0"/>
              <a:t>NFA</a:t>
            </a:r>
            <a:r>
              <a:rPr lang="zh-CN" altLang="en-US" dirty="0"/>
              <a:t>中，是可以同时存在多个状态的，我们通过以括号的方式，可以把</a:t>
            </a:r>
            <a:r>
              <a:rPr lang="en-AU" altLang="zh-CN" dirty="0"/>
              <a:t>NFA</a:t>
            </a:r>
            <a:r>
              <a:rPr lang="zh-CN" altLang="en-US" dirty="0"/>
              <a:t>的多个状态的信息囊括起来表示。</a:t>
            </a:r>
            <a:endParaRPr lang="en-AU" altLang="zh-CN" dirty="0"/>
          </a:p>
          <a:p>
            <a:endParaRPr lang="en-AU" dirty="0"/>
          </a:p>
          <a:p>
            <a:r>
              <a:rPr lang="zh-CN" altLang="en-US" dirty="0"/>
              <a:t>因此，</a:t>
            </a:r>
            <a:r>
              <a:rPr lang="en-AU" altLang="zh-CN" dirty="0"/>
              <a:t>DFA</a:t>
            </a:r>
            <a:r>
              <a:rPr lang="zh-CN" altLang="en-US" dirty="0"/>
              <a:t>中的每一个状态，对应于</a:t>
            </a:r>
            <a:r>
              <a:rPr lang="en-AU" altLang="zh-CN" dirty="0"/>
              <a:t>NFA</a:t>
            </a:r>
            <a:r>
              <a:rPr lang="zh-CN" altLang="en-US" dirty="0"/>
              <a:t>中状态集的某个子集。</a:t>
            </a:r>
            <a:endParaRPr lang="en-AU" altLang="zh-CN" dirty="0"/>
          </a:p>
          <a:p>
            <a:endParaRPr lang="en-AU" dirty="0"/>
          </a:p>
        </p:txBody>
      </p:sp>
      <p:sp>
        <p:nvSpPr>
          <p:cNvPr id="4" name="Slide Number Placeholder 3"/>
          <p:cNvSpPr>
            <a:spLocks noGrp="1"/>
          </p:cNvSpPr>
          <p:nvPr>
            <p:ph type="sldNum" sz="quarter" idx="5"/>
          </p:nvPr>
        </p:nvSpPr>
        <p:spPr/>
        <p:txBody>
          <a:bodyPr/>
          <a:lstStyle/>
          <a:p>
            <a:pPr>
              <a:defRPr/>
            </a:pPr>
            <a:fld id="{AD0B409A-9510-4679-9C86-74CCD54373DF}" type="slidenum">
              <a:rPr lang="en-US" altLang="zh-CN" smtClean="0"/>
              <a:t>16</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接下来我们给出</a:t>
            </a:r>
            <a:r>
              <a:rPr lang="en-AU" altLang="zh-CN" dirty="0"/>
              <a:t>DFA</a:t>
            </a:r>
            <a:r>
              <a:rPr lang="zh-CN" altLang="en-US" dirty="0"/>
              <a:t>和</a:t>
            </a:r>
            <a:r>
              <a:rPr lang="en-AU" altLang="zh-CN" dirty="0"/>
              <a:t>NFA</a:t>
            </a:r>
            <a:r>
              <a:rPr lang="zh-CN" altLang="en-US" dirty="0"/>
              <a:t>的等价性证明。</a:t>
            </a:r>
            <a:endParaRPr lang="en-AU" altLang="zh-CN" dirty="0"/>
          </a:p>
          <a:p>
            <a:endParaRPr lang="en-AU" dirty="0"/>
          </a:p>
          <a:p>
            <a:r>
              <a:rPr lang="zh-CN" altLang="en-US" dirty="0"/>
              <a:t>那么大家想，一个</a:t>
            </a:r>
            <a:r>
              <a:rPr lang="en-AU" altLang="zh-CN" dirty="0"/>
              <a:t>DFA</a:t>
            </a:r>
            <a:r>
              <a:rPr lang="zh-CN" altLang="en-US" dirty="0"/>
              <a:t>，显然，肯定能被一个</a:t>
            </a:r>
            <a:r>
              <a:rPr lang="en-AU" altLang="zh-CN" dirty="0"/>
              <a:t>NFA</a:t>
            </a:r>
            <a:r>
              <a:rPr lang="zh-CN" altLang="en-US" dirty="0"/>
              <a:t>表示。</a:t>
            </a:r>
            <a:endParaRPr lang="en-AU" altLang="zh-CN" dirty="0"/>
          </a:p>
          <a:p>
            <a:endParaRPr lang="en-AU" dirty="0"/>
          </a:p>
          <a:p>
            <a:r>
              <a:rPr lang="zh-CN" altLang="en-US" dirty="0"/>
              <a:t>一个</a:t>
            </a:r>
            <a:r>
              <a:rPr lang="en-AU" altLang="zh-CN" dirty="0"/>
              <a:t>DFA</a:t>
            </a:r>
            <a:r>
              <a:rPr lang="zh-CN" altLang="en-US" dirty="0"/>
              <a:t>识别的语言，可以由一个</a:t>
            </a:r>
            <a:r>
              <a:rPr lang="en-AU" altLang="zh-CN" dirty="0"/>
              <a:t>NFA</a:t>
            </a:r>
            <a:r>
              <a:rPr lang="zh-CN" altLang="en-US" dirty="0"/>
              <a:t>识别。</a:t>
            </a:r>
            <a:endParaRPr lang="en-AU" altLang="zh-CN" dirty="0"/>
          </a:p>
          <a:p>
            <a:endParaRPr lang="en-AU" dirty="0"/>
          </a:p>
          <a:p>
            <a:r>
              <a:rPr lang="zh-CN" altLang="en-US" dirty="0"/>
              <a:t>但是，如果一个</a:t>
            </a:r>
            <a:r>
              <a:rPr lang="en-AU" altLang="zh-CN" dirty="0"/>
              <a:t>NFA</a:t>
            </a:r>
            <a:r>
              <a:rPr lang="zh-CN" altLang="en-US" dirty="0"/>
              <a:t>所能识别的语言，是否能被一个</a:t>
            </a:r>
            <a:r>
              <a:rPr lang="en-AU" altLang="zh-CN" dirty="0"/>
              <a:t>DFA</a:t>
            </a:r>
            <a:r>
              <a:rPr lang="zh-CN" altLang="en-US" dirty="0"/>
              <a:t>识别。我们由如下定理：</a:t>
            </a:r>
            <a:endParaRPr lang="en-AU" altLang="zh-CN" dirty="0"/>
          </a:p>
          <a:p>
            <a:endParaRPr lang="en-AU" dirty="0"/>
          </a:p>
          <a:p>
            <a:r>
              <a:rPr lang="zh-CN" altLang="en-US" dirty="0"/>
              <a:t>也就是，通过</a:t>
            </a:r>
            <a:r>
              <a:rPr lang="en-AU" altLang="zh-CN" dirty="0"/>
              <a:t>NFA</a:t>
            </a:r>
            <a:r>
              <a:rPr lang="zh-CN" altLang="en-US" dirty="0"/>
              <a:t>五元组的形式，来构造一个</a:t>
            </a:r>
            <a:r>
              <a:rPr lang="en-AU" altLang="zh-CN" dirty="0"/>
              <a:t>DFA</a:t>
            </a:r>
            <a:r>
              <a:rPr lang="zh-CN" altLang="en-US" dirty="0"/>
              <a:t>的五元组，最后证明它们是等价的。</a:t>
            </a:r>
            <a:endParaRPr lang="en-AU" altLang="zh-CN" dirty="0"/>
          </a:p>
          <a:p>
            <a:endParaRPr lang="en-AU" dirty="0"/>
          </a:p>
          <a:p>
            <a:r>
              <a:rPr lang="zh-CN" altLang="en-US" dirty="0"/>
              <a:t>这里我们使用子集构造法。</a:t>
            </a:r>
            <a:r>
              <a:rPr lang="en-AU" altLang="zh-CN" dirty="0"/>
              <a:t>DFA</a:t>
            </a:r>
            <a:r>
              <a:rPr lang="zh-CN" altLang="en-US" dirty="0"/>
              <a:t>的初始状态为</a:t>
            </a:r>
            <a:r>
              <a:rPr lang="en-AU" altLang="zh-CN" dirty="0"/>
              <a:t>{q0},q0</a:t>
            </a:r>
            <a:r>
              <a:rPr lang="zh-CN" altLang="en-US" dirty="0"/>
              <a:t>的集合。</a:t>
            </a:r>
            <a:endParaRPr lang="en-AU" altLang="zh-CN" dirty="0"/>
          </a:p>
          <a:p>
            <a:endParaRPr lang="en-AU" dirty="0"/>
          </a:p>
          <a:p>
            <a:endParaRPr lang="en-AU" dirty="0"/>
          </a:p>
          <a:p>
            <a:endParaRPr lang="en-AU" dirty="0"/>
          </a:p>
          <a:p>
            <a:r>
              <a:rPr lang="en-AU" dirty="0"/>
              <a:t>QD</a:t>
            </a:r>
            <a:r>
              <a:rPr lang="zh-CN" altLang="en-US" dirty="0"/>
              <a:t>也就是</a:t>
            </a:r>
            <a:r>
              <a:rPr lang="en-AU" altLang="zh-CN" dirty="0"/>
              <a:t>QN</a:t>
            </a:r>
            <a:r>
              <a:rPr lang="zh-CN" altLang="en-US" dirty="0"/>
              <a:t>的幂集，也就是</a:t>
            </a:r>
            <a:r>
              <a:rPr lang="en-AU" altLang="zh-CN" dirty="0"/>
              <a:t>QN</a:t>
            </a:r>
            <a:r>
              <a:rPr lang="zh-CN" altLang="en-US" dirty="0"/>
              <a:t>的子集。</a:t>
            </a:r>
            <a:endParaRPr lang="en-AU" altLang="zh-CN" dirty="0"/>
          </a:p>
          <a:p>
            <a:endParaRPr lang="en-AU" dirty="0"/>
          </a:p>
          <a:p>
            <a:endParaRPr lang="en-AU" dirty="0"/>
          </a:p>
          <a:p>
            <a:r>
              <a:rPr lang="en-AU" dirty="0"/>
              <a:t>DFA</a:t>
            </a:r>
            <a:r>
              <a:rPr lang="zh-CN" altLang="en-US" dirty="0"/>
              <a:t>的状态集为</a:t>
            </a:r>
            <a:r>
              <a:rPr lang="en-AU" altLang="zh-CN" dirty="0"/>
              <a:t>NFA</a:t>
            </a:r>
            <a:r>
              <a:rPr lang="zh-CN" altLang="en-US" dirty="0"/>
              <a:t>的状态集的所有子集。</a:t>
            </a:r>
            <a:endParaRPr lang="en-AU" altLang="zh-CN" dirty="0"/>
          </a:p>
          <a:p>
            <a:endParaRPr lang="en-AU" dirty="0"/>
          </a:p>
          <a:p>
            <a:r>
              <a:rPr lang="en-US" altLang="zh-CN" dirty="0"/>
              <a:t>DFA</a:t>
            </a:r>
            <a:r>
              <a:rPr lang="zh-CN" altLang="en-US" dirty="0"/>
              <a:t>里面每个状态用</a:t>
            </a:r>
            <a:r>
              <a:rPr lang="en-US" altLang="zh-CN" dirty="0"/>
              <a:t>{}</a:t>
            </a:r>
            <a:r>
              <a:rPr lang="zh-CN" altLang="en-US" dirty="0"/>
              <a:t>括号表示，因为</a:t>
            </a:r>
            <a:r>
              <a:rPr lang="en-US" altLang="zh-CN" dirty="0"/>
              <a:t>DFA</a:t>
            </a:r>
            <a:r>
              <a:rPr lang="zh-CN" altLang="en-US" dirty="0"/>
              <a:t>的每个状态可能是</a:t>
            </a:r>
            <a:r>
              <a:rPr lang="en-AU" altLang="zh-CN" dirty="0"/>
              <a:t>NFA</a:t>
            </a:r>
            <a:r>
              <a:rPr lang="zh-CN" altLang="en-US" dirty="0"/>
              <a:t>中多个状态的集合。</a:t>
            </a:r>
            <a:endParaRPr lang="en-AU" altLang="zh-CN" dirty="0"/>
          </a:p>
          <a:p>
            <a:endParaRPr lang="en-AU" dirty="0"/>
          </a:p>
          <a:p>
            <a:r>
              <a:rPr lang="zh-CN" altLang="en-US" dirty="0"/>
              <a:t>因为我们知道，在</a:t>
            </a:r>
            <a:r>
              <a:rPr lang="en-AU" altLang="zh-CN" dirty="0"/>
              <a:t>NFA</a:t>
            </a:r>
            <a:r>
              <a:rPr lang="zh-CN" altLang="en-US" dirty="0"/>
              <a:t>中，是可以同时存在多个状态的，我们通过以括号的方式，可以把</a:t>
            </a:r>
            <a:r>
              <a:rPr lang="en-AU" altLang="zh-CN" dirty="0"/>
              <a:t>NFA</a:t>
            </a:r>
            <a:r>
              <a:rPr lang="zh-CN" altLang="en-US" dirty="0"/>
              <a:t>的多个状态的信息囊括起来表示。</a:t>
            </a:r>
            <a:endParaRPr lang="en-AU" altLang="zh-CN" dirty="0"/>
          </a:p>
          <a:p>
            <a:endParaRPr lang="en-AU" dirty="0"/>
          </a:p>
          <a:p>
            <a:r>
              <a:rPr lang="zh-CN" altLang="en-US" dirty="0"/>
              <a:t>因此，</a:t>
            </a:r>
            <a:r>
              <a:rPr lang="en-AU" altLang="zh-CN" dirty="0"/>
              <a:t>DFA</a:t>
            </a:r>
            <a:r>
              <a:rPr lang="zh-CN" altLang="en-US" dirty="0"/>
              <a:t>中的每一个状态，对应于</a:t>
            </a:r>
            <a:r>
              <a:rPr lang="en-AU" altLang="zh-CN" dirty="0"/>
              <a:t>NFA</a:t>
            </a:r>
            <a:r>
              <a:rPr lang="zh-CN" altLang="en-US" dirty="0"/>
              <a:t>中状态集的某个子集。</a:t>
            </a:r>
            <a:endParaRPr lang="en-AU" altLang="zh-CN" dirty="0"/>
          </a:p>
          <a:p>
            <a:endParaRPr lang="en-AU" dirty="0"/>
          </a:p>
        </p:txBody>
      </p:sp>
      <p:sp>
        <p:nvSpPr>
          <p:cNvPr id="4" name="Slide Number Placeholder 3"/>
          <p:cNvSpPr>
            <a:spLocks noGrp="1"/>
          </p:cNvSpPr>
          <p:nvPr>
            <p:ph type="sldNum" sz="quarter" idx="5"/>
          </p:nvPr>
        </p:nvSpPr>
        <p:spPr/>
        <p:txBody>
          <a:bodyPr/>
          <a:lstStyle/>
          <a:p>
            <a:pPr>
              <a:defRPr/>
            </a:pPr>
            <a:fld id="{AD0B409A-9510-4679-9C86-74CCD54373DF}" type="slidenum">
              <a:rPr lang="en-US" altLang="zh-CN" smtClean="0"/>
              <a:t>17</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delta</a:t>
            </a:r>
          </a:p>
        </p:txBody>
      </p:sp>
      <p:sp>
        <p:nvSpPr>
          <p:cNvPr id="4" name="Slide Number Placeholder 3"/>
          <p:cNvSpPr>
            <a:spLocks noGrp="1"/>
          </p:cNvSpPr>
          <p:nvPr>
            <p:ph type="sldNum" sz="quarter" idx="5"/>
          </p:nvPr>
        </p:nvSpPr>
        <p:spPr/>
        <p:txBody>
          <a:bodyPr/>
          <a:lstStyle/>
          <a:p>
            <a:pPr>
              <a:defRPr/>
            </a:pPr>
            <a:fld id="{B1753CD8-C123-4A94-885F-23A3E3911552}" type="slidenum">
              <a:rPr lang="en-US" altLang="zh-CN" smtClean="0"/>
              <a:t>18</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err="1"/>
              <a:t>i</a:t>
            </a:r>
            <a:r>
              <a:rPr lang="zh-CN" altLang="en-US" dirty="0"/>
              <a:t>等于</a:t>
            </a:r>
            <a:r>
              <a:rPr lang="en-US" altLang="zh-CN" dirty="0"/>
              <a:t>j</a:t>
            </a:r>
            <a:r>
              <a:rPr lang="zh-CN" altLang="en-US" dirty="0"/>
              <a:t>时，如果状态</a:t>
            </a:r>
            <a:r>
              <a:rPr lang="en-AU" altLang="zh-CN" dirty="0" err="1"/>
              <a:t>i</a:t>
            </a:r>
            <a:r>
              <a:rPr lang="zh-CN" altLang="en-US" dirty="0"/>
              <a:t>有到自身的转移，则正则表达式</a:t>
            </a:r>
            <a:r>
              <a:rPr lang="en-AU" altLang="zh-CN" dirty="0"/>
              <a:t>R</a:t>
            </a:r>
            <a:r>
              <a:rPr lang="zh-CN" altLang="en-US" dirty="0"/>
              <a:t>为由符号</a:t>
            </a:r>
            <a:r>
              <a:rPr lang="en-AU" altLang="zh-CN" dirty="0"/>
              <a:t>a</a:t>
            </a:r>
            <a:r>
              <a:rPr lang="zh-CN" altLang="en-US" dirty="0"/>
              <a:t>构成</a:t>
            </a:r>
            <a:endParaRPr lang="en-AU" altLang="zh-CN" dirty="0"/>
          </a:p>
          <a:p>
            <a:endParaRPr lang="en-AU" dirty="0"/>
          </a:p>
          <a:p>
            <a:r>
              <a:rPr lang="zh-CN" altLang="en-US" dirty="0"/>
              <a:t>如果没有到时自身的状态转移，则是个空串。</a:t>
            </a:r>
            <a:endParaRPr lang="en-AU" altLang="zh-CN" dirty="0"/>
          </a:p>
          <a:p>
            <a:endParaRPr lang="en-AU" dirty="0"/>
          </a:p>
          <a:p>
            <a:r>
              <a:rPr lang="zh-CN" altLang="en-US" dirty="0"/>
              <a:t>这里的</a:t>
            </a:r>
            <a:r>
              <a:rPr lang="en-AU" altLang="zh-CN" dirty="0" err="1"/>
              <a:t>epsilo</a:t>
            </a:r>
            <a:r>
              <a:rPr lang="en-US" altLang="zh-CN" dirty="0"/>
              <a:t>n</a:t>
            </a:r>
            <a:r>
              <a:rPr lang="zh-CN" altLang="en-US" dirty="0"/>
              <a:t>是表示正则表达式。</a:t>
            </a:r>
            <a:endParaRPr lang="en-AU" dirty="0"/>
          </a:p>
        </p:txBody>
      </p:sp>
      <p:sp>
        <p:nvSpPr>
          <p:cNvPr id="4" name="Slide Number Placeholder 3"/>
          <p:cNvSpPr>
            <a:spLocks noGrp="1"/>
          </p:cNvSpPr>
          <p:nvPr>
            <p:ph type="sldNum" sz="quarter" idx="5"/>
          </p:nvPr>
        </p:nvSpPr>
        <p:spPr/>
        <p:txBody>
          <a:bodyPr/>
          <a:lstStyle/>
          <a:p>
            <a:pPr>
              <a:defRPr/>
            </a:pPr>
            <a:fld id="{B1753CD8-C123-4A94-885F-23A3E3911552}" type="slidenum">
              <a:rPr lang="en-US" altLang="zh-CN" smtClean="0"/>
              <a:t>19</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err="1"/>
              <a:t>i</a:t>
            </a:r>
            <a:r>
              <a:rPr lang="zh-CN" altLang="en-US" dirty="0"/>
              <a:t>等于</a:t>
            </a:r>
            <a:r>
              <a:rPr lang="en-US" altLang="zh-CN" dirty="0"/>
              <a:t>j</a:t>
            </a:r>
            <a:r>
              <a:rPr lang="zh-CN" altLang="en-US" dirty="0"/>
              <a:t>时，如果状态</a:t>
            </a:r>
            <a:r>
              <a:rPr lang="en-AU" altLang="zh-CN" dirty="0" err="1"/>
              <a:t>i</a:t>
            </a:r>
            <a:r>
              <a:rPr lang="zh-CN" altLang="en-US" dirty="0"/>
              <a:t>有到自身的转移，则正则表达式</a:t>
            </a:r>
            <a:r>
              <a:rPr lang="en-AU" altLang="zh-CN" dirty="0"/>
              <a:t>R</a:t>
            </a:r>
            <a:r>
              <a:rPr lang="zh-CN" altLang="en-US" dirty="0"/>
              <a:t>为由符号</a:t>
            </a:r>
            <a:r>
              <a:rPr lang="en-AU" altLang="zh-CN" dirty="0"/>
              <a:t>a</a:t>
            </a:r>
            <a:r>
              <a:rPr lang="zh-CN" altLang="en-US" dirty="0"/>
              <a:t>构成</a:t>
            </a:r>
            <a:r>
              <a:rPr lang="en-AU" altLang="zh-CN" dirty="0"/>
              <a:t>, </a:t>
            </a:r>
            <a:r>
              <a:rPr lang="zh-CN" altLang="en-US"/>
              <a:t>加上空串。</a:t>
            </a:r>
            <a:endParaRPr lang="en-AU" altLang="zh-CN" dirty="0"/>
          </a:p>
          <a:p>
            <a:endParaRPr lang="en-AU" dirty="0"/>
          </a:p>
          <a:p>
            <a:r>
              <a:rPr lang="zh-CN" altLang="en-US" dirty="0"/>
              <a:t>如果没有到时自身的状态转移，则是个空串。</a:t>
            </a:r>
            <a:endParaRPr lang="en-AU" altLang="zh-CN" dirty="0"/>
          </a:p>
          <a:p>
            <a:endParaRPr lang="en-AU" dirty="0"/>
          </a:p>
          <a:p>
            <a:r>
              <a:rPr lang="zh-CN" altLang="en-US" dirty="0"/>
              <a:t>这里的</a:t>
            </a:r>
            <a:r>
              <a:rPr lang="en-AU" altLang="zh-CN" dirty="0" err="1"/>
              <a:t>epsilo</a:t>
            </a:r>
            <a:r>
              <a:rPr lang="en-US" altLang="zh-CN" dirty="0"/>
              <a:t>n</a:t>
            </a:r>
            <a:r>
              <a:rPr lang="zh-CN" altLang="en-US" dirty="0"/>
              <a:t>是表示正则表达式。</a:t>
            </a:r>
            <a:endParaRPr lang="en-AU" dirty="0"/>
          </a:p>
        </p:txBody>
      </p:sp>
      <p:sp>
        <p:nvSpPr>
          <p:cNvPr id="4" name="Slide Number Placeholder 3"/>
          <p:cNvSpPr>
            <a:spLocks noGrp="1"/>
          </p:cNvSpPr>
          <p:nvPr>
            <p:ph type="sldNum" sz="quarter" idx="5"/>
          </p:nvPr>
        </p:nvSpPr>
        <p:spPr/>
        <p:txBody>
          <a:bodyPr/>
          <a:lstStyle/>
          <a:p>
            <a:pPr>
              <a:defRPr/>
            </a:pPr>
            <a:fld id="{B1753CD8-C123-4A94-885F-23A3E3911552}" type="slidenum">
              <a:rPr lang="en-US" altLang="zh-CN" smtClean="0"/>
              <a:t>20</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p:sp>
      <p:sp>
        <p:nvSpPr>
          <p:cNvPr id="26627" name="备注占位符 2"/>
          <p:cNvSpPr>
            <a:spLocks noGrp="1"/>
          </p:cNvSpPr>
          <p:nvPr>
            <p:ph type="body" idx="1"/>
          </p:nvPr>
        </p:nvSpPr>
        <p:spPr>
          <a:noFill/>
        </p:spPr>
        <p:txBody>
          <a:bodyPr/>
          <a:lstStyle/>
          <a:p>
            <a:r>
              <a:rPr lang="en-US" altLang="en-US"/>
              <a:t>“=&gt;”</a:t>
            </a:r>
            <a:r>
              <a:rPr lang="zh-CN" altLang="en-US"/>
              <a:t>表示转换成</a:t>
            </a:r>
            <a:endParaRPr lang="en-US" altLang="en-US"/>
          </a:p>
        </p:txBody>
      </p:sp>
      <p:sp>
        <p:nvSpPr>
          <p:cNvPr id="26628" name="灯片编号占位符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5843A86A-B04A-48C8-B750-E8D50FA21A44}" type="slidenum">
              <a:rPr kumimoji="0" lang="en-US" altLang="zh-CN" smtClean="0"/>
              <a:t>23</a:t>
            </a:fld>
            <a:endParaRPr kumimoji="0"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接下来我们给出</a:t>
            </a:r>
            <a:r>
              <a:rPr lang="en-AU" altLang="zh-CN" dirty="0"/>
              <a:t>DFA</a:t>
            </a:r>
            <a:r>
              <a:rPr lang="zh-CN" altLang="en-US" dirty="0"/>
              <a:t>和</a:t>
            </a:r>
            <a:r>
              <a:rPr lang="en-AU" altLang="zh-CN" dirty="0"/>
              <a:t>NFA</a:t>
            </a:r>
            <a:r>
              <a:rPr lang="zh-CN" altLang="en-US" dirty="0"/>
              <a:t>的等价性证明。</a:t>
            </a:r>
            <a:endParaRPr lang="en-AU" altLang="zh-CN" dirty="0"/>
          </a:p>
          <a:p>
            <a:endParaRPr lang="en-AU" dirty="0"/>
          </a:p>
          <a:p>
            <a:r>
              <a:rPr lang="zh-CN" altLang="en-US" dirty="0"/>
              <a:t>那么大家想，一个</a:t>
            </a:r>
            <a:r>
              <a:rPr lang="en-AU" altLang="zh-CN" dirty="0"/>
              <a:t>DFA</a:t>
            </a:r>
            <a:r>
              <a:rPr lang="zh-CN" altLang="en-US" dirty="0"/>
              <a:t>，显然，肯定能被一个</a:t>
            </a:r>
            <a:r>
              <a:rPr lang="en-AU" altLang="zh-CN" dirty="0"/>
              <a:t>NFA</a:t>
            </a:r>
            <a:r>
              <a:rPr lang="zh-CN" altLang="en-US" dirty="0"/>
              <a:t>表示。</a:t>
            </a:r>
            <a:endParaRPr lang="en-AU" altLang="zh-CN" dirty="0"/>
          </a:p>
          <a:p>
            <a:endParaRPr lang="en-AU" dirty="0"/>
          </a:p>
          <a:p>
            <a:r>
              <a:rPr lang="zh-CN" altLang="en-US" dirty="0"/>
              <a:t>一个</a:t>
            </a:r>
            <a:r>
              <a:rPr lang="en-AU" altLang="zh-CN" dirty="0"/>
              <a:t>DFA</a:t>
            </a:r>
            <a:r>
              <a:rPr lang="zh-CN" altLang="en-US" dirty="0"/>
              <a:t>识别的语言，可以由一个</a:t>
            </a:r>
            <a:r>
              <a:rPr lang="en-AU" altLang="zh-CN" dirty="0"/>
              <a:t>NFA</a:t>
            </a:r>
            <a:r>
              <a:rPr lang="zh-CN" altLang="en-US" dirty="0"/>
              <a:t>识别。</a:t>
            </a:r>
            <a:endParaRPr lang="en-AU" altLang="zh-CN" dirty="0"/>
          </a:p>
          <a:p>
            <a:endParaRPr lang="en-AU" dirty="0"/>
          </a:p>
          <a:p>
            <a:r>
              <a:rPr lang="zh-CN" altLang="en-US" dirty="0"/>
              <a:t>但是，如果一个</a:t>
            </a:r>
            <a:r>
              <a:rPr lang="en-AU" altLang="zh-CN" dirty="0"/>
              <a:t>NFA</a:t>
            </a:r>
            <a:r>
              <a:rPr lang="zh-CN" altLang="en-US" dirty="0"/>
              <a:t>所能识别的语言，是否能被一个</a:t>
            </a:r>
            <a:r>
              <a:rPr lang="en-AU" altLang="zh-CN" dirty="0"/>
              <a:t>DFA</a:t>
            </a:r>
            <a:r>
              <a:rPr lang="zh-CN" altLang="en-US" dirty="0"/>
              <a:t>识别。我们由如下定理：</a:t>
            </a:r>
            <a:endParaRPr lang="en-AU" altLang="zh-CN" dirty="0"/>
          </a:p>
          <a:p>
            <a:endParaRPr lang="en-AU" dirty="0"/>
          </a:p>
          <a:p>
            <a:r>
              <a:rPr lang="zh-CN" altLang="en-US" dirty="0"/>
              <a:t>也就是，通过</a:t>
            </a:r>
            <a:r>
              <a:rPr lang="en-AU" altLang="zh-CN" dirty="0"/>
              <a:t>NFA</a:t>
            </a:r>
            <a:r>
              <a:rPr lang="zh-CN" altLang="en-US" dirty="0"/>
              <a:t>五元组的形式，来构造一个</a:t>
            </a:r>
            <a:r>
              <a:rPr lang="en-AU" altLang="zh-CN" dirty="0"/>
              <a:t>DFA</a:t>
            </a:r>
            <a:r>
              <a:rPr lang="zh-CN" altLang="en-US" dirty="0"/>
              <a:t>的五元组，最后证明它们是等价的。</a:t>
            </a:r>
            <a:endParaRPr lang="en-AU" altLang="zh-CN" dirty="0"/>
          </a:p>
          <a:p>
            <a:endParaRPr lang="en-AU" dirty="0"/>
          </a:p>
          <a:p>
            <a:r>
              <a:rPr lang="zh-CN" altLang="en-US" dirty="0"/>
              <a:t>这里我们使用子集构造法。</a:t>
            </a:r>
            <a:r>
              <a:rPr lang="en-AU" altLang="zh-CN" dirty="0"/>
              <a:t>DFA</a:t>
            </a:r>
            <a:r>
              <a:rPr lang="zh-CN" altLang="en-US" dirty="0"/>
              <a:t>的初始状态为</a:t>
            </a:r>
            <a:r>
              <a:rPr lang="en-AU" altLang="zh-CN" dirty="0"/>
              <a:t>{q0},q0</a:t>
            </a:r>
            <a:r>
              <a:rPr lang="zh-CN" altLang="en-US" dirty="0"/>
              <a:t>的集合。</a:t>
            </a:r>
            <a:endParaRPr lang="en-AU" altLang="zh-CN" dirty="0"/>
          </a:p>
          <a:p>
            <a:endParaRPr lang="en-AU" dirty="0"/>
          </a:p>
          <a:p>
            <a:endParaRPr lang="en-AU" dirty="0"/>
          </a:p>
          <a:p>
            <a:endParaRPr lang="en-AU" dirty="0"/>
          </a:p>
          <a:p>
            <a:r>
              <a:rPr lang="en-AU" dirty="0"/>
              <a:t>QD</a:t>
            </a:r>
            <a:r>
              <a:rPr lang="zh-CN" altLang="en-US" dirty="0"/>
              <a:t>也就是</a:t>
            </a:r>
            <a:r>
              <a:rPr lang="en-AU" altLang="zh-CN" dirty="0"/>
              <a:t>QN</a:t>
            </a:r>
            <a:r>
              <a:rPr lang="zh-CN" altLang="en-US" dirty="0"/>
              <a:t>的幂集，也就是</a:t>
            </a:r>
            <a:r>
              <a:rPr lang="en-AU" altLang="zh-CN" dirty="0"/>
              <a:t>QN</a:t>
            </a:r>
            <a:r>
              <a:rPr lang="zh-CN" altLang="en-US" dirty="0"/>
              <a:t>的子集。</a:t>
            </a:r>
            <a:endParaRPr lang="en-AU" altLang="zh-CN" dirty="0"/>
          </a:p>
          <a:p>
            <a:endParaRPr lang="en-AU" dirty="0"/>
          </a:p>
          <a:p>
            <a:endParaRPr lang="en-AU" dirty="0"/>
          </a:p>
          <a:p>
            <a:r>
              <a:rPr lang="en-AU" dirty="0"/>
              <a:t>DFA</a:t>
            </a:r>
            <a:r>
              <a:rPr lang="zh-CN" altLang="en-US" dirty="0"/>
              <a:t>的状态集为</a:t>
            </a:r>
            <a:r>
              <a:rPr lang="en-AU" altLang="zh-CN" dirty="0"/>
              <a:t>NFA</a:t>
            </a:r>
            <a:r>
              <a:rPr lang="zh-CN" altLang="en-US" dirty="0"/>
              <a:t>的状态集的所有子集。</a:t>
            </a:r>
            <a:endParaRPr lang="en-AU" altLang="zh-CN" dirty="0"/>
          </a:p>
          <a:p>
            <a:endParaRPr lang="en-AU" dirty="0"/>
          </a:p>
          <a:p>
            <a:r>
              <a:rPr lang="en-US" altLang="zh-CN" dirty="0"/>
              <a:t>DFA</a:t>
            </a:r>
            <a:r>
              <a:rPr lang="zh-CN" altLang="en-US" dirty="0"/>
              <a:t>里面每个状态用</a:t>
            </a:r>
            <a:r>
              <a:rPr lang="en-US" altLang="zh-CN" dirty="0"/>
              <a:t>{}</a:t>
            </a:r>
            <a:r>
              <a:rPr lang="zh-CN" altLang="en-US" dirty="0"/>
              <a:t>括号表示，因为</a:t>
            </a:r>
            <a:r>
              <a:rPr lang="en-US" altLang="zh-CN" dirty="0"/>
              <a:t>DFA</a:t>
            </a:r>
            <a:r>
              <a:rPr lang="zh-CN" altLang="en-US" dirty="0"/>
              <a:t>的每个状态可能是</a:t>
            </a:r>
            <a:r>
              <a:rPr lang="en-AU" altLang="zh-CN" dirty="0"/>
              <a:t>NFA</a:t>
            </a:r>
            <a:r>
              <a:rPr lang="zh-CN" altLang="en-US" dirty="0"/>
              <a:t>中多个状态的集合。</a:t>
            </a:r>
            <a:endParaRPr lang="en-AU" altLang="zh-CN" dirty="0"/>
          </a:p>
          <a:p>
            <a:endParaRPr lang="en-AU" dirty="0"/>
          </a:p>
          <a:p>
            <a:r>
              <a:rPr lang="zh-CN" altLang="en-US" dirty="0"/>
              <a:t>因为我们知道，在</a:t>
            </a:r>
            <a:r>
              <a:rPr lang="en-AU" altLang="zh-CN" dirty="0"/>
              <a:t>NFA</a:t>
            </a:r>
            <a:r>
              <a:rPr lang="zh-CN" altLang="en-US" dirty="0"/>
              <a:t>中，是可以同时存在多个状态的，我们通过以括号的方式，可以把</a:t>
            </a:r>
            <a:r>
              <a:rPr lang="en-AU" altLang="zh-CN" dirty="0"/>
              <a:t>NFA</a:t>
            </a:r>
            <a:r>
              <a:rPr lang="zh-CN" altLang="en-US" dirty="0"/>
              <a:t>的多个状态的信息囊括起来表示。</a:t>
            </a:r>
            <a:endParaRPr lang="en-AU" altLang="zh-CN" dirty="0"/>
          </a:p>
          <a:p>
            <a:endParaRPr lang="en-AU" dirty="0"/>
          </a:p>
          <a:p>
            <a:r>
              <a:rPr lang="zh-CN" altLang="en-US" dirty="0"/>
              <a:t>因此，</a:t>
            </a:r>
            <a:r>
              <a:rPr lang="en-AU" altLang="zh-CN" dirty="0"/>
              <a:t>DFA</a:t>
            </a:r>
            <a:r>
              <a:rPr lang="zh-CN" altLang="en-US" dirty="0"/>
              <a:t>中的每一个状态，对应于</a:t>
            </a:r>
            <a:r>
              <a:rPr lang="en-AU" altLang="zh-CN" dirty="0"/>
              <a:t>NFA</a:t>
            </a:r>
            <a:r>
              <a:rPr lang="zh-CN" altLang="en-US" dirty="0"/>
              <a:t>中状态集的某个子集。</a:t>
            </a:r>
            <a:endParaRPr lang="en-AU" altLang="zh-CN" dirty="0"/>
          </a:p>
          <a:p>
            <a:endParaRPr lang="en-AU" dirty="0"/>
          </a:p>
        </p:txBody>
      </p:sp>
      <p:sp>
        <p:nvSpPr>
          <p:cNvPr id="4" name="Slide Number Placeholder 3"/>
          <p:cNvSpPr>
            <a:spLocks noGrp="1"/>
          </p:cNvSpPr>
          <p:nvPr>
            <p:ph type="sldNum" sz="quarter" idx="5"/>
          </p:nvPr>
        </p:nvSpPr>
        <p:spPr/>
        <p:txBody>
          <a:bodyPr/>
          <a:lstStyle/>
          <a:p>
            <a:pPr>
              <a:defRPr/>
            </a:pPr>
            <a:fld id="{AD0B409A-9510-4679-9C86-74CCD54373DF}" type="slidenum">
              <a:rPr lang="en-US" altLang="zh-CN" smtClean="0"/>
              <a:t>24</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sz="1200" b="0" i="0" dirty="0">
                <a:solidFill>
                  <a:srgbClr val="000000"/>
                </a:solidFill>
                <a:effectLst/>
                <a:latin typeface="楷体" panose="02010609060101010101" pitchFamily="49" charset="-122"/>
                <a:ea typeface="等线" panose="02010600030101010101" charset="-122"/>
                <a:cs typeface="Times New Roman" panose="02020603050405020304" pitchFamily="18" charset="0"/>
              </a:rPr>
              <a:t>从 </a:t>
            </a:r>
            <a:r>
              <a:rPr lang="en-AU" sz="1200" b="0" i="0" dirty="0">
                <a:solidFill>
                  <a:srgbClr val="000000"/>
                </a:solidFill>
                <a:effectLst/>
                <a:latin typeface="LMRoman12-Regular-Identity-H"/>
                <a:ea typeface="等线" panose="02010600030101010101" charset="-122"/>
                <a:cs typeface="Times New Roman" panose="02020603050405020304" pitchFamily="18" charset="0"/>
              </a:rPr>
              <a:t>DFA </a:t>
            </a:r>
            <a:r>
              <a:rPr lang="zh-CN" sz="1200" b="0" i="0" dirty="0">
                <a:solidFill>
                  <a:srgbClr val="000000"/>
                </a:solidFill>
                <a:effectLst/>
                <a:latin typeface="楷体" panose="02010609060101010101" pitchFamily="49" charset="-122"/>
                <a:ea typeface="等线" panose="02010600030101010101" charset="-122"/>
                <a:cs typeface="Times New Roman" panose="02020603050405020304" pitchFamily="18" charset="0"/>
              </a:rPr>
              <a:t>中逐个删除状态。因此每个消除的状态会把它的边消除掉，所以我们要补上和这些边等价的一条边，这个我们用一个正则表达式来表示。这样，始终保持每消除一个节点后，仍保持等价。然后，消除掉所有节点之后，我们得到一条边，只有一条正则表达式。</a:t>
            </a:r>
            <a:endParaRPr lang="en-AU" sz="1200" dirty="0">
              <a:effectLst/>
              <a:latin typeface="Calibri" panose="020F0502020204030204" charset="0"/>
              <a:ea typeface="等线" panose="02010600030101010101" charset="-122"/>
              <a:cs typeface="Times New Roman" panose="02020603050405020304" pitchFamily="18" charset="0"/>
            </a:endParaRPr>
          </a:p>
          <a:p>
            <a:endParaRPr lang="en-AU" dirty="0"/>
          </a:p>
          <a:p>
            <a:endParaRPr lang="en-AU" dirty="0"/>
          </a:p>
        </p:txBody>
      </p:sp>
      <p:sp>
        <p:nvSpPr>
          <p:cNvPr id="4" name="Slide Number Placeholder 3"/>
          <p:cNvSpPr>
            <a:spLocks noGrp="1"/>
          </p:cNvSpPr>
          <p:nvPr>
            <p:ph type="sldNum" sz="quarter" idx="5"/>
          </p:nvPr>
        </p:nvSpPr>
        <p:spPr/>
        <p:txBody>
          <a:bodyPr/>
          <a:lstStyle/>
          <a:p>
            <a:pPr>
              <a:defRPr/>
            </a:pPr>
            <a:fld id="{B1753CD8-C123-4A94-885F-23A3E3911552}" type="slidenum">
              <a:rPr lang="en-US" altLang="zh-CN" smtClean="0"/>
              <a:t>25</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zh-CN" sz="1800" b="0" i="0" dirty="0">
                <a:solidFill>
                  <a:srgbClr val="000000"/>
                </a:solidFill>
                <a:effectLst/>
                <a:latin typeface="楷体" panose="02010609060101010101" pitchFamily="49" charset="-122"/>
                <a:ea typeface="等线" panose="02010600030101010101" charset="-122"/>
                <a:cs typeface="Times New Roman" panose="02020603050405020304" pitchFamily="18" charset="0"/>
              </a:rPr>
              <a:t>我们知道正则表达式有三种运算，连接，加，和闭包。我们接下来看下着几种运算和</a:t>
            </a:r>
            <a:r>
              <a:rPr lang="en-AU" sz="1800" b="0" i="0" dirty="0">
                <a:solidFill>
                  <a:srgbClr val="000000"/>
                </a:solidFill>
                <a:effectLst/>
                <a:latin typeface="楷体" panose="02010609060101010101" pitchFamily="49" charset="-122"/>
                <a:ea typeface="等线" panose="02010600030101010101" charset="-122"/>
                <a:cs typeface="Times New Roman" panose="02020603050405020304" pitchFamily="18" charset="0"/>
              </a:rPr>
              <a:t>DFA</a:t>
            </a:r>
            <a:r>
              <a:rPr lang="zh-CN" sz="1800" b="0" i="0" dirty="0">
                <a:solidFill>
                  <a:srgbClr val="000000"/>
                </a:solidFill>
                <a:effectLst/>
                <a:latin typeface="楷体" panose="02010609060101010101" pitchFamily="49" charset="-122"/>
                <a:ea typeface="等线" panose="02010600030101010101" charset="-122"/>
                <a:cs typeface="Times New Roman" panose="02020603050405020304" pitchFamily="18" charset="0"/>
              </a:rPr>
              <a:t>中路径的关系。</a:t>
            </a:r>
            <a:endParaRPr lang="en-AU" altLang="zh-CN" sz="1800" b="0" i="0" dirty="0">
              <a:solidFill>
                <a:srgbClr val="000000"/>
              </a:solidFill>
              <a:effectLst/>
              <a:latin typeface="楷体" panose="02010609060101010101" pitchFamily="49" charset="-122"/>
              <a:ea typeface="等线" panose="02010600030101010101" charset="-122"/>
              <a:cs typeface="Times New Roman" panose="02020603050405020304" pitchFamily="18" charset="0"/>
            </a:endParaRPr>
          </a:p>
          <a:p>
            <a:pPr marL="0" marR="0">
              <a:lnSpc>
                <a:spcPct val="107000"/>
              </a:lnSpc>
              <a:spcBef>
                <a:spcPts val="0"/>
              </a:spcBef>
              <a:spcAft>
                <a:spcPts val="800"/>
              </a:spcAft>
            </a:pPr>
            <a:endParaRPr lang="en-AU" sz="1800" b="0" i="0" dirty="0">
              <a:solidFill>
                <a:srgbClr val="000000"/>
              </a:solidFill>
              <a:effectLst/>
              <a:latin typeface="楷体" panose="02010609060101010101" pitchFamily="49" charset="-122"/>
              <a:ea typeface="等线" panose="02010600030101010101" charset="-122"/>
              <a:cs typeface="Times New Roman" panose="02020603050405020304" pitchFamily="18" charset="0"/>
            </a:endParaRPr>
          </a:p>
          <a:p>
            <a:pPr marL="0" marR="0">
              <a:lnSpc>
                <a:spcPct val="107000"/>
              </a:lnSpc>
              <a:spcBef>
                <a:spcPts val="0"/>
              </a:spcBef>
              <a:spcAft>
                <a:spcPts val="800"/>
              </a:spcAft>
            </a:pPr>
            <a:r>
              <a:rPr lang="zh-CN" altLang="en-US" sz="1800" dirty="0">
                <a:effectLst/>
                <a:latin typeface="Calibri" panose="020F0502020204030204" charset="0"/>
                <a:ea typeface="等线" panose="02010600030101010101" charset="-122"/>
                <a:cs typeface="Times New Roman" panose="02020603050405020304" pitchFamily="18" charset="0"/>
              </a:rPr>
              <a:t>第一种，删除一个节点后，我们补上一条边，用</a:t>
            </a:r>
            <a:r>
              <a:rPr lang="en-AU" altLang="zh-CN" sz="1800" dirty="0">
                <a:effectLst/>
                <a:latin typeface="Calibri" panose="020F0502020204030204" charset="0"/>
                <a:ea typeface="等线" panose="02010600030101010101" charset="-122"/>
                <a:cs typeface="Times New Roman" panose="02020603050405020304" pitchFamily="18" charset="0"/>
              </a:rPr>
              <a:t>ab</a:t>
            </a:r>
            <a:r>
              <a:rPr lang="zh-CN" altLang="en-US" sz="1800" dirty="0">
                <a:effectLst/>
                <a:latin typeface="Calibri" panose="020F0502020204030204" charset="0"/>
                <a:ea typeface="等线" panose="02010600030101010101" charset="-122"/>
                <a:cs typeface="Times New Roman" panose="02020603050405020304" pitchFamily="18" charset="0"/>
              </a:rPr>
              <a:t>这条正则表达式去表示。</a:t>
            </a:r>
            <a:endParaRPr lang="en-AU" altLang="zh-CN" sz="1800" dirty="0">
              <a:effectLst/>
              <a:latin typeface="Calibri" panose="020F0502020204030204" charset="0"/>
              <a:ea typeface="等线" panose="02010600030101010101" charset="-122"/>
              <a:cs typeface="Times New Roman" panose="02020603050405020304" pitchFamily="18" charset="0"/>
            </a:endParaRPr>
          </a:p>
          <a:p>
            <a:pPr marL="0" marR="0">
              <a:lnSpc>
                <a:spcPct val="107000"/>
              </a:lnSpc>
              <a:spcBef>
                <a:spcPts val="0"/>
              </a:spcBef>
              <a:spcAft>
                <a:spcPts val="800"/>
              </a:spcAft>
            </a:pPr>
            <a:endParaRPr lang="en-AU" sz="1800" dirty="0">
              <a:effectLst/>
              <a:latin typeface="Calibri" panose="020F0502020204030204" charset="0"/>
              <a:ea typeface="等线" panose="02010600030101010101" charset="-122"/>
              <a:cs typeface="Times New Roman" panose="02020603050405020304" pitchFamily="18" charset="0"/>
            </a:endParaRPr>
          </a:p>
          <a:p>
            <a:pPr marL="0" marR="0">
              <a:lnSpc>
                <a:spcPct val="107000"/>
              </a:lnSpc>
              <a:spcBef>
                <a:spcPts val="0"/>
              </a:spcBef>
              <a:spcAft>
                <a:spcPts val="800"/>
              </a:spcAft>
            </a:pPr>
            <a:r>
              <a:rPr lang="zh-CN" altLang="en-US" sz="1800" dirty="0">
                <a:effectLst/>
                <a:latin typeface="Calibri" panose="020F0502020204030204" charset="0"/>
                <a:ea typeface="等线" panose="02010600030101010101" charset="-122"/>
                <a:cs typeface="Times New Roman" panose="02020603050405020304" pitchFamily="18" charset="0"/>
              </a:rPr>
              <a:t>第二种，如果我们删除了了一些节点之后，两个节点之间形成了两条边。一条是原来的字符，比如</a:t>
            </a:r>
            <a:r>
              <a:rPr lang="en-AU" altLang="zh-CN" sz="1800" dirty="0">
                <a:effectLst/>
                <a:latin typeface="Calibri" panose="020F0502020204030204" charset="0"/>
                <a:ea typeface="等线" panose="02010600030101010101" charset="-122"/>
                <a:cs typeface="Times New Roman" panose="02020603050405020304" pitchFamily="18" charset="0"/>
              </a:rPr>
              <a:t>b</a:t>
            </a:r>
            <a:r>
              <a:rPr lang="zh-CN" altLang="en-US" sz="1800" dirty="0">
                <a:effectLst/>
                <a:latin typeface="Calibri" panose="020F0502020204030204" charset="0"/>
                <a:ea typeface="等线" panose="02010600030101010101" charset="-122"/>
                <a:cs typeface="Times New Roman" panose="02020603050405020304" pitchFamily="18" charset="0"/>
              </a:rPr>
              <a:t>，另一条边是正则表达式</a:t>
            </a:r>
            <a:r>
              <a:rPr lang="en-AU" altLang="zh-CN" sz="1800" dirty="0">
                <a:effectLst/>
                <a:latin typeface="Calibri" panose="020F0502020204030204" charset="0"/>
                <a:ea typeface="等线" panose="02010600030101010101" charset="-122"/>
                <a:cs typeface="Times New Roman" panose="02020603050405020304" pitchFamily="18" charset="0"/>
              </a:rPr>
              <a:t>a</a:t>
            </a:r>
            <a:r>
              <a:rPr lang="zh-CN" altLang="en-US" sz="1800" dirty="0">
                <a:effectLst/>
                <a:latin typeface="Calibri" panose="020F0502020204030204" charset="0"/>
                <a:ea typeface="等线" panose="02010600030101010101" charset="-122"/>
                <a:cs typeface="Times New Roman" panose="02020603050405020304" pitchFamily="18" charset="0"/>
              </a:rPr>
              <a:t>表示。我们可以讲两条边合在一起，变成一条边。</a:t>
            </a:r>
            <a:endParaRPr lang="en-AU" altLang="zh-CN" sz="1800" dirty="0">
              <a:effectLst/>
              <a:latin typeface="Calibri" panose="020F0502020204030204" charset="0"/>
              <a:ea typeface="等线" panose="02010600030101010101" charset="-122"/>
              <a:cs typeface="Times New Roman" panose="02020603050405020304" pitchFamily="18" charset="0"/>
            </a:endParaRPr>
          </a:p>
          <a:p>
            <a:pPr marL="0" marR="0">
              <a:lnSpc>
                <a:spcPct val="107000"/>
              </a:lnSpc>
              <a:spcBef>
                <a:spcPts val="0"/>
              </a:spcBef>
              <a:spcAft>
                <a:spcPts val="800"/>
              </a:spcAft>
            </a:pPr>
            <a:endParaRPr lang="en-AU" sz="1800" dirty="0">
              <a:effectLst/>
              <a:latin typeface="Calibri" panose="020F0502020204030204" charset="0"/>
              <a:ea typeface="等线" panose="02010600030101010101" charset="-122"/>
              <a:cs typeface="Times New Roman" panose="02020603050405020304" pitchFamily="18" charset="0"/>
            </a:endParaRPr>
          </a:p>
          <a:p>
            <a:pPr marL="0" marR="0">
              <a:lnSpc>
                <a:spcPct val="107000"/>
              </a:lnSpc>
              <a:spcBef>
                <a:spcPts val="0"/>
              </a:spcBef>
              <a:spcAft>
                <a:spcPts val="800"/>
              </a:spcAft>
            </a:pPr>
            <a:r>
              <a:rPr lang="zh-CN" altLang="en-US" sz="1800" dirty="0">
                <a:effectLst/>
                <a:latin typeface="Calibri" panose="020F0502020204030204" charset="0"/>
                <a:ea typeface="等线" panose="02010600030101010101" charset="-122"/>
                <a:cs typeface="Times New Roman" panose="02020603050405020304" pitchFamily="18" charset="0"/>
              </a:rPr>
              <a:t>第三种，当我们消除的节点有</a:t>
            </a:r>
            <a:r>
              <a:rPr lang="en-AU" altLang="zh-CN" sz="1800" dirty="0">
                <a:effectLst/>
                <a:latin typeface="Calibri" panose="020F0502020204030204" charset="0"/>
                <a:ea typeface="等线" panose="02010600030101010101" charset="-122"/>
                <a:cs typeface="Times New Roman" panose="02020603050405020304" pitchFamily="18" charset="0"/>
              </a:rPr>
              <a:t>loop</a:t>
            </a:r>
            <a:r>
              <a:rPr lang="zh-CN" altLang="en-US" sz="1800" dirty="0">
                <a:effectLst/>
                <a:latin typeface="Calibri" panose="020F0502020204030204" charset="0"/>
                <a:ea typeface="等线" panose="02010600030101010101" charset="-122"/>
                <a:cs typeface="Times New Roman" panose="02020603050405020304" pitchFamily="18" charset="0"/>
              </a:rPr>
              <a:t>循环的话，我们消掉的路径集合就是</a:t>
            </a:r>
            <a:r>
              <a:rPr lang="en-AU" altLang="zh-CN" sz="1800" dirty="0">
                <a:effectLst/>
                <a:latin typeface="Calibri" panose="020F0502020204030204" charset="0"/>
                <a:ea typeface="等线" panose="02010600030101010101" charset="-122"/>
                <a:cs typeface="Times New Roman" panose="02020603050405020304" pitchFamily="18" charset="0"/>
              </a:rPr>
              <a:t>ac*b</a:t>
            </a:r>
            <a:r>
              <a:rPr lang="zh-CN" altLang="en-US" sz="1800" dirty="0">
                <a:effectLst/>
                <a:latin typeface="Calibri" panose="020F0502020204030204" charset="0"/>
                <a:ea typeface="等线" panose="02010600030101010101" charset="-122"/>
                <a:cs typeface="Times New Roman" panose="02020603050405020304" pitchFamily="18" charset="0"/>
              </a:rPr>
              <a:t>。带有克林闭包。</a:t>
            </a:r>
            <a:endParaRPr lang="en-AU" sz="1800" dirty="0">
              <a:effectLst/>
              <a:latin typeface="Calibri" panose="020F0502020204030204" charset="0"/>
              <a:ea typeface="等线" panose="02010600030101010101" charset="-122"/>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a:defRPr/>
            </a:pPr>
            <a:fld id="{B1753CD8-C123-4A94-885F-23A3E3911552}" type="slidenum">
              <a:rPr lang="en-US" altLang="zh-CN" smtClean="0"/>
              <a:t>26</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zh-CN" altLang="en-US" dirty="0"/>
                  <a:t>第一步，先定义变元。如果</a:t>
                </a:r>
                <a:r>
                  <a:rPr lang="en-AU" altLang="zh-CN" dirty="0"/>
                  <a:t>PDA</a:t>
                </a:r>
                <a:r>
                  <a:rPr lang="zh-CN" altLang="en-US" dirty="0"/>
                  <a:t>中，从状态</a:t>
                </a:r>
                <a:r>
                  <a:rPr lang="en-AU" altLang="zh-CN" dirty="0"/>
                  <a:t>q</a:t>
                </a:r>
                <a:r>
                  <a:rPr lang="zh-CN" altLang="en-US" dirty="0"/>
                  <a:t>变化到状态</a:t>
                </a:r>
                <a:r>
                  <a:rPr lang="en-AU" altLang="zh-CN" dirty="0"/>
                  <a:t>p</a:t>
                </a:r>
                <a:r>
                  <a:rPr lang="zh-CN" altLang="en-US" dirty="0"/>
                  <a:t>，且栈中弹出的符号串为</a:t>
                </a:r>
                <a:r>
                  <a:rPr lang="en-AU" altLang="zh-CN" dirty="0"/>
                  <a:t>X</a:t>
                </a:r>
                <a:r>
                  <a:rPr lang="zh-CN" altLang="en-US" dirty="0"/>
                  <a:t>，则定义一个变元</a:t>
                </a:r>
                <a:r>
                  <a:rPr lang="en-AU" altLang="zh-CN" dirty="0"/>
                  <a:t>[</a:t>
                </a:r>
                <a:r>
                  <a:rPr lang="en-AU" altLang="zh-CN" dirty="0" err="1"/>
                  <a:t>qXp</a:t>
                </a:r>
                <a:r>
                  <a:rPr lang="en-AU" altLang="zh-CN" dirty="0"/>
                  <a:t>]</a:t>
                </a:r>
                <a:r>
                  <a:rPr lang="zh-CN" altLang="en-US" dirty="0"/>
                  <a:t>。这个过程会消耗一些输入带上的符号串，也就是该变元能派生出的符号串。</a:t>
                </a:r>
                <a:endParaRPr lang="en-AU" altLang="zh-CN" dirty="0"/>
              </a:p>
              <a:p>
                <a:endParaRPr lang="en-AU" dirty="0"/>
              </a:p>
              <a:p>
                <a:r>
                  <a:rPr lang="zh-CN" altLang="en-US" dirty="0"/>
                  <a:t>第二步，对所有</a:t>
                </a:r>
                <a:r>
                  <a:rPr lang="en-US" altLang="zh-CN" dirty="0"/>
                  <a:t>p</a:t>
                </a:r>
                <a:r>
                  <a:rPr lang="zh-CN" altLang="en-US" dirty="0"/>
                  <a:t>属于</a:t>
                </a:r>
                <a:r>
                  <a:rPr lang="en-AU" altLang="zh-CN" dirty="0"/>
                  <a:t>Q</a:t>
                </a:r>
                <a:r>
                  <a:rPr lang="zh-CN" altLang="en-US" dirty="0"/>
                  <a:t>，构造一条产生式</a:t>
                </a:r>
                <a:r>
                  <a:rPr lang="en-AU" altLang="zh-CN" dirty="0"/>
                  <a:t>S-&gt;[q0Z0p]</a:t>
                </a:r>
              </a:p>
              <a:p>
                <a:endParaRPr lang="en-AU" dirty="0"/>
              </a:p>
              <a:p>
                <a:endParaRPr lang="en-AU" dirty="0"/>
              </a:p>
              <a:p>
                <a:r>
                  <a:rPr lang="zh-CN" altLang="en-US" dirty="0"/>
                  <a:t>第三步，如果</a:t>
                </a:r>
                <a14:m>
                  <m:oMath xmlns:m="http://schemas.openxmlformats.org/officeDocument/2006/math">
                    <m:r>
                      <a:rPr lang="zh-CN" altLang="en-US" sz="1200" i="1" dirty="0" smtClean="0">
                        <a:latin typeface="Cambria Math" panose="02040503050406030204" pitchFamily="18" charset="0"/>
                      </a:rPr>
                      <m:t>∀</m:t>
                    </m:r>
                    <m:r>
                      <a:rPr lang="en-US" altLang="zh-CN" sz="1200" i="1" dirty="0" smtClean="0">
                        <a:latin typeface="Cambria Math" panose="02040503050406030204" pitchFamily="18" charset="0"/>
                      </a:rPr>
                      <m:t>(</m:t>
                    </m:r>
                    <m:r>
                      <a:rPr lang="en-AU" sz="1200" i="1" dirty="0" smtClean="0">
                        <a:latin typeface="Cambria Math" panose="02040503050406030204" pitchFamily="18" charset="0"/>
                      </a:rPr>
                      <m:t>𝑝</m:t>
                    </m:r>
                    <m:r>
                      <a:rPr lang="en-AU" sz="1200" i="1" dirty="0" smtClean="0">
                        <a:latin typeface="Cambria Math" panose="02040503050406030204" pitchFamily="18" charset="0"/>
                      </a:rPr>
                      <m:t>,</m:t>
                    </m:r>
                    <m:sSub>
                      <m:sSubPr>
                        <m:ctrlPr>
                          <a:rPr lang="en-AU" altLang="zh-CN" sz="1200" i="1" dirty="0">
                            <a:latin typeface="Cambria Math" panose="02040503050406030204" pitchFamily="18" charset="0"/>
                            <a:ea typeface="Cambria Math" panose="02040503050406030204" pitchFamily="18" charset="0"/>
                          </a:rPr>
                        </m:ctrlPr>
                      </m:sSubPr>
                      <m:e>
                        <m:r>
                          <a:rPr lang="en-AU" altLang="zh-CN" sz="1200" i="1" dirty="0">
                            <a:latin typeface="Cambria Math" panose="02040503050406030204" pitchFamily="18" charset="0"/>
                            <a:ea typeface="Cambria Math" panose="02040503050406030204" pitchFamily="18" charset="0"/>
                          </a:rPr>
                          <m:t>𝑌</m:t>
                        </m:r>
                      </m:e>
                      <m:sub>
                        <m:r>
                          <a:rPr lang="en-AU" altLang="zh-CN" sz="1200" i="1" dirty="0">
                            <a:latin typeface="Cambria Math" panose="02040503050406030204" pitchFamily="18" charset="0"/>
                            <a:ea typeface="Cambria Math" panose="02040503050406030204" pitchFamily="18" charset="0"/>
                          </a:rPr>
                          <m:t>1</m:t>
                        </m:r>
                      </m:sub>
                    </m:sSub>
                    <m:sSub>
                      <m:sSubPr>
                        <m:ctrlPr>
                          <a:rPr lang="en-AU" altLang="zh-CN" sz="1200" i="1" dirty="0">
                            <a:latin typeface="Cambria Math" panose="02040503050406030204" pitchFamily="18" charset="0"/>
                            <a:ea typeface="Cambria Math" panose="02040503050406030204" pitchFamily="18" charset="0"/>
                          </a:rPr>
                        </m:ctrlPr>
                      </m:sSubPr>
                      <m:e>
                        <m:r>
                          <a:rPr lang="en-AU" altLang="zh-CN" sz="1200" i="1" dirty="0">
                            <a:latin typeface="Cambria Math" panose="02040503050406030204" pitchFamily="18" charset="0"/>
                            <a:ea typeface="Cambria Math" panose="02040503050406030204" pitchFamily="18" charset="0"/>
                          </a:rPr>
                          <m:t>𝑌</m:t>
                        </m:r>
                      </m:e>
                      <m:sub>
                        <m:r>
                          <a:rPr lang="en-AU" altLang="zh-CN" sz="1200" i="1" dirty="0">
                            <a:latin typeface="Cambria Math" panose="02040503050406030204" pitchFamily="18" charset="0"/>
                            <a:ea typeface="Cambria Math" panose="02040503050406030204" pitchFamily="18" charset="0"/>
                          </a:rPr>
                          <m:t>2</m:t>
                        </m:r>
                      </m:sub>
                    </m:sSub>
                    <m:sSub>
                      <m:sSubPr>
                        <m:ctrlPr>
                          <a:rPr lang="en-AU" altLang="zh-CN" sz="1200" i="1" dirty="0">
                            <a:latin typeface="Cambria Math" panose="02040503050406030204" pitchFamily="18" charset="0"/>
                            <a:ea typeface="Cambria Math" panose="02040503050406030204" pitchFamily="18" charset="0"/>
                          </a:rPr>
                        </m:ctrlPr>
                      </m:sSubPr>
                      <m:e>
                        <m:r>
                          <a:rPr lang="en-AU" altLang="zh-CN" sz="1200" i="1" dirty="0">
                            <a:latin typeface="Cambria Math" panose="02040503050406030204" pitchFamily="18" charset="0"/>
                            <a:ea typeface="Cambria Math" panose="02040503050406030204" pitchFamily="18" charset="0"/>
                          </a:rPr>
                          <m:t>…</m:t>
                        </m:r>
                        <m:r>
                          <a:rPr lang="en-AU" altLang="zh-CN" sz="1200" i="1" dirty="0">
                            <a:latin typeface="Cambria Math" panose="02040503050406030204" pitchFamily="18" charset="0"/>
                            <a:ea typeface="Cambria Math" panose="02040503050406030204" pitchFamily="18" charset="0"/>
                          </a:rPr>
                          <m:t>𝑌</m:t>
                        </m:r>
                      </m:e>
                      <m:sub>
                        <m:r>
                          <a:rPr lang="en-AU" altLang="zh-CN" sz="1200" b="0" i="1" dirty="0" smtClean="0">
                            <a:latin typeface="Cambria Math" panose="02040503050406030204" pitchFamily="18" charset="0"/>
                            <a:ea typeface="Cambria Math" panose="02040503050406030204" pitchFamily="18" charset="0"/>
                          </a:rPr>
                          <m:t>𝑛</m:t>
                        </m:r>
                      </m:sub>
                    </m:sSub>
                    <m:r>
                      <a:rPr lang="en-AU" sz="1200" i="1" dirty="0" smtClean="0">
                        <a:latin typeface="Cambria Math" panose="02040503050406030204" pitchFamily="18" charset="0"/>
                      </a:rPr>
                      <m:t>) ∈ </m:t>
                    </m:r>
                    <m:r>
                      <a:rPr lang="el-GR" sz="1200" i="1" dirty="0" smtClean="0">
                        <a:latin typeface="Cambria Math" panose="02040503050406030204" pitchFamily="18" charset="0"/>
                      </a:rPr>
                      <m:t>𝛿</m:t>
                    </m:r>
                    <m:r>
                      <a:rPr lang="el-GR" sz="1200" i="1" dirty="0" smtClean="0">
                        <a:latin typeface="Cambria Math" panose="02040503050406030204" pitchFamily="18" charset="0"/>
                      </a:rPr>
                      <m:t>(</m:t>
                    </m:r>
                    <m:r>
                      <a:rPr lang="en-AU" sz="1200" i="1" dirty="0" smtClean="0">
                        <a:latin typeface="Cambria Math" panose="02040503050406030204" pitchFamily="18" charset="0"/>
                      </a:rPr>
                      <m:t>𝑞</m:t>
                    </m:r>
                    <m:r>
                      <a:rPr lang="en-AU" sz="1200" i="1" dirty="0" smtClean="0">
                        <a:latin typeface="Cambria Math" panose="02040503050406030204" pitchFamily="18" charset="0"/>
                      </a:rPr>
                      <m:t>, </m:t>
                    </m:r>
                    <m:r>
                      <a:rPr lang="en-AU" sz="1200" i="1" dirty="0" smtClean="0">
                        <a:latin typeface="Cambria Math" panose="02040503050406030204" pitchFamily="18" charset="0"/>
                      </a:rPr>
                      <m:t>𝑎</m:t>
                    </m:r>
                    <m:r>
                      <a:rPr lang="en-AU" sz="1200" i="1" dirty="0" smtClean="0">
                        <a:latin typeface="Cambria Math" panose="02040503050406030204" pitchFamily="18" charset="0"/>
                      </a:rPr>
                      <m:t>, </m:t>
                    </m:r>
                    <m:r>
                      <a:rPr lang="en-AU" sz="1200" i="1" dirty="0" smtClean="0">
                        <a:latin typeface="Cambria Math" panose="02040503050406030204" pitchFamily="18" charset="0"/>
                      </a:rPr>
                      <m:t>𝑋</m:t>
                    </m:r>
                    <m:r>
                      <a:rPr lang="en-AU" sz="1200" i="1" dirty="0" smtClean="0">
                        <a:latin typeface="Cambria Math" panose="02040503050406030204" pitchFamily="18" charset="0"/>
                      </a:rPr>
                      <m:t>), </m:t>
                    </m:r>
                  </m:oMath>
                </a14:m>
                <a:r>
                  <a:rPr lang="zh-CN" altLang="en-US" dirty="0"/>
                  <a:t>则</a:t>
                </a:r>
                <a:endParaRPr lang="en-AU" dirty="0"/>
              </a:p>
            </p:txBody>
          </p:sp>
        </mc:Choice>
        <mc:Fallback xmlns="">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5"/>
          </p:nvPr>
        </p:nvSpPr>
        <p:spPr/>
        <p:txBody>
          <a:bodyPr/>
          <a:lstStyle/>
          <a:p>
            <a:fld id="{FA67A903-3A42-486D-A3BC-854A05CABB63}" type="slidenum">
              <a:rPr lang="en-AU" smtClean="0"/>
              <a:t>37</a:t>
            </a:fld>
            <a:endParaRPr lang="en-A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zh-CN" altLang="en-US" dirty="0"/>
                  <a:t>第一步，先定义变元。如果</a:t>
                </a:r>
                <a:r>
                  <a:rPr lang="en-AU" altLang="zh-CN" dirty="0"/>
                  <a:t>PDA</a:t>
                </a:r>
                <a:r>
                  <a:rPr lang="zh-CN" altLang="en-US" dirty="0"/>
                  <a:t>中，从状态</a:t>
                </a:r>
                <a:r>
                  <a:rPr lang="en-AU" altLang="zh-CN" dirty="0"/>
                  <a:t>q</a:t>
                </a:r>
                <a:r>
                  <a:rPr lang="zh-CN" altLang="en-US" dirty="0"/>
                  <a:t>变化到状态</a:t>
                </a:r>
                <a:r>
                  <a:rPr lang="en-AU" altLang="zh-CN" dirty="0"/>
                  <a:t>p</a:t>
                </a:r>
                <a:r>
                  <a:rPr lang="zh-CN" altLang="en-US" dirty="0"/>
                  <a:t>，且栈中弹出的符号串为</a:t>
                </a:r>
                <a:r>
                  <a:rPr lang="en-AU" altLang="zh-CN" dirty="0"/>
                  <a:t>X</a:t>
                </a:r>
                <a:r>
                  <a:rPr lang="zh-CN" altLang="en-US" dirty="0"/>
                  <a:t>，则定义一个变元</a:t>
                </a:r>
                <a:r>
                  <a:rPr lang="en-AU" altLang="zh-CN" dirty="0"/>
                  <a:t>[</a:t>
                </a:r>
                <a:r>
                  <a:rPr lang="en-AU" altLang="zh-CN" dirty="0" err="1"/>
                  <a:t>qXp</a:t>
                </a:r>
                <a:r>
                  <a:rPr lang="en-AU" altLang="zh-CN" dirty="0"/>
                  <a:t>]</a:t>
                </a:r>
                <a:r>
                  <a:rPr lang="zh-CN" altLang="en-US" dirty="0"/>
                  <a:t>。这个过程会消耗一些输入带上的符号串，也就是该变元能派生出的符号串。</a:t>
                </a:r>
                <a:endParaRPr lang="en-AU" altLang="zh-CN" dirty="0"/>
              </a:p>
              <a:p>
                <a:endParaRPr lang="en-AU" dirty="0"/>
              </a:p>
              <a:p>
                <a:r>
                  <a:rPr lang="zh-CN" altLang="en-US" dirty="0"/>
                  <a:t>第二步，对所有</a:t>
                </a:r>
                <a:r>
                  <a:rPr lang="en-US" altLang="zh-CN" dirty="0"/>
                  <a:t>p</a:t>
                </a:r>
                <a:r>
                  <a:rPr lang="zh-CN" altLang="en-US" dirty="0"/>
                  <a:t>属于</a:t>
                </a:r>
                <a:r>
                  <a:rPr lang="en-AU" altLang="zh-CN" dirty="0"/>
                  <a:t>Q</a:t>
                </a:r>
                <a:r>
                  <a:rPr lang="zh-CN" altLang="en-US" dirty="0"/>
                  <a:t>，构造一条产生式</a:t>
                </a:r>
                <a:r>
                  <a:rPr lang="en-AU" altLang="zh-CN" dirty="0"/>
                  <a:t>S-&gt;[q0Z0p]</a:t>
                </a:r>
              </a:p>
              <a:p>
                <a:endParaRPr lang="en-AU" dirty="0"/>
              </a:p>
              <a:p>
                <a:endParaRPr lang="en-AU" dirty="0"/>
              </a:p>
              <a:p>
                <a:r>
                  <a:rPr lang="zh-CN" altLang="en-US" dirty="0"/>
                  <a:t>第三步，如果</a:t>
                </a:r>
                <a14:m>
                  <m:oMath xmlns:m="http://schemas.openxmlformats.org/officeDocument/2006/math">
                    <m:r>
                      <a:rPr lang="zh-CN" altLang="en-US" sz="1200" i="1" dirty="0" smtClean="0">
                        <a:latin typeface="Cambria Math" panose="02040503050406030204" pitchFamily="18" charset="0"/>
                      </a:rPr>
                      <m:t>∀</m:t>
                    </m:r>
                    <m:r>
                      <a:rPr lang="en-US" altLang="zh-CN" sz="1200" i="1" dirty="0" smtClean="0">
                        <a:latin typeface="Cambria Math" panose="02040503050406030204" pitchFamily="18" charset="0"/>
                      </a:rPr>
                      <m:t>(</m:t>
                    </m:r>
                    <m:r>
                      <a:rPr lang="en-AU" sz="1200" i="1" dirty="0" smtClean="0">
                        <a:latin typeface="Cambria Math" panose="02040503050406030204" pitchFamily="18" charset="0"/>
                      </a:rPr>
                      <m:t>𝑝</m:t>
                    </m:r>
                    <m:r>
                      <a:rPr lang="en-AU" sz="1200" i="1" dirty="0" smtClean="0">
                        <a:latin typeface="Cambria Math" panose="02040503050406030204" pitchFamily="18" charset="0"/>
                      </a:rPr>
                      <m:t>,</m:t>
                    </m:r>
                    <m:sSub>
                      <m:sSubPr>
                        <m:ctrlPr>
                          <a:rPr lang="en-AU" altLang="zh-CN" sz="1200" i="1" dirty="0">
                            <a:latin typeface="Cambria Math" panose="02040503050406030204" pitchFamily="18" charset="0"/>
                            <a:ea typeface="Cambria Math" panose="02040503050406030204" pitchFamily="18" charset="0"/>
                          </a:rPr>
                        </m:ctrlPr>
                      </m:sSubPr>
                      <m:e>
                        <m:r>
                          <a:rPr lang="en-AU" altLang="zh-CN" sz="1200" i="1" dirty="0">
                            <a:latin typeface="Cambria Math" panose="02040503050406030204" pitchFamily="18" charset="0"/>
                            <a:ea typeface="Cambria Math" panose="02040503050406030204" pitchFamily="18" charset="0"/>
                          </a:rPr>
                          <m:t>𝑌</m:t>
                        </m:r>
                      </m:e>
                      <m:sub>
                        <m:r>
                          <a:rPr lang="en-AU" altLang="zh-CN" sz="1200" i="1" dirty="0">
                            <a:latin typeface="Cambria Math" panose="02040503050406030204" pitchFamily="18" charset="0"/>
                            <a:ea typeface="Cambria Math" panose="02040503050406030204" pitchFamily="18" charset="0"/>
                          </a:rPr>
                          <m:t>1</m:t>
                        </m:r>
                      </m:sub>
                    </m:sSub>
                    <m:sSub>
                      <m:sSubPr>
                        <m:ctrlPr>
                          <a:rPr lang="en-AU" altLang="zh-CN" sz="1200" i="1" dirty="0">
                            <a:latin typeface="Cambria Math" panose="02040503050406030204" pitchFamily="18" charset="0"/>
                            <a:ea typeface="Cambria Math" panose="02040503050406030204" pitchFamily="18" charset="0"/>
                          </a:rPr>
                        </m:ctrlPr>
                      </m:sSubPr>
                      <m:e>
                        <m:r>
                          <a:rPr lang="en-AU" altLang="zh-CN" sz="1200" i="1" dirty="0">
                            <a:latin typeface="Cambria Math" panose="02040503050406030204" pitchFamily="18" charset="0"/>
                            <a:ea typeface="Cambria Math" panose="02040503050406030204" pitchFamily="18" charset="0"/>
                          </a:rPr>
                          <m:t>𝑌</m:t>
                        </m:r>
                      </m:e>
                      <m:sub>
                        <m:r>
                          <a:rPr lang="en-AU" altLang="zh-CN" sz="1200" i="1" dirty="0">
                            <a:latin typeface="Cambria Math" panose="02040503050406030204" pitchFamily="18" charset="0"/>
                            <a:ea typeface="Cambria Math" panose="02040503050406030204" pitchFamily="18" charset="0"/>
                          </a:rPr>
                          <m:t>2</m:t>
                        </m:r>
                      </m:sub>
                    </m:sSub>
                    <m:sSub>
                      <m:sSubPr>
                        <m:ctrlPr>
                          <a:rPr lang="en-AU" altLang="zh-CN" sz="1200" i="1" dirty="0">
                            <a:latin typeface="Cambria Math" panose="02040503050406030204" pitchFamily="18" charset="0"/>
                            <a:ea typeface="Cambria Math" panose="02040503050406030204" pitchFamily="18" charset="0"/>
                          </a:rPr>
                        </m:ctrlPr>
                      </m:sSubPr>
                      <m:e>
                        <m:r>
                          <a:rPr lang="en-AU" altLang="zh-CN" sz="1200" i="1" dirty="0">
                            <a:latin typeface="Cambria Math" panose="02040503050406030204" pitchFamily="18" charset="0"/>
                            <a:ea typeface="Cambria Math" panose="02040503050406030204" pitchFamily="18" charset="0"/>
                          </a:rPr>
                          <m:t>…</m:t>
                        </m:r>
                        <m:r>
                          <a:rPr lang="en-AU" altLang="zh-CN" sz="1200" i="1" dirty="0">
                            <a:latin typeface="Cambria Math" panose="02040503050406030204" pitchFamily="18" charset="0"/>
                            <a:ea typeface="Cambria Math" panose="02040503050406030204" pitchFamily="18" charset="0"/>
                          </a:rPr>
                          <m:t>𝑌</m:t>
                        </m:r>
                      </m:e>
                      <m:sub>
                        <m:r>
                          <a:rPr lang="en-AU" altLang="zh-CN" sz="1200" b="0" i="1" dirty="0" smtClean="0">
                            <a:latin typeface="Cambria Math" panose="02040503050406030204" pitchFamily="18" charset="0"/>
                            <a:ea typeface="Cambria Math" panose="02040503050406030204" pitchFamily="18" charset="0"/>
                          </a:rPr>
                          <m:t>𝑛</m:t>
                        </m:r>
                      </m:sub>
                    </m:sSub>
                    <m:r>
                      <a:rPr lang="en-AU" sz="1200" i="1" dirty="0" smtClean="0">
                        <a:latin typeface="Cambria Math" panose="02040503050406030204" pitchFamily="18" charset="0"/>
                      </a:rPr>
                      <m:t>) ∈ </m:t>
                    </m:r>
                    <m:r>
                      <a:rPr lang="el-GR" sz="1200" i="1" dirty="0" smtClean="0">
                        <a:latin typeface="Cambria Math" panose="02040503050406030204" pitchFamily="18" charset="0"/>
                      </a:rPr>
                      <m:t>𝛿</m:t>
                    </m:r>
                    <m:r>
                      <a:rPr lang="el-GR" sz="1200" i="1" dirty="0" smtClean="0">
                        <a:latin typeface="Cambria Math" panose="02040503050406030204" pitchFamily="18" charset="0"/>
                      </a:rPr>
                      <m:t>(</m:t>
                    </m:r>
                    <m:r>
                      <a:rPr lang="en-AU" sz="1200" i="1" dirty="0" smtClean="0">
                        <a:latin typeface="Cambria Math" panose="02040503050406030204" pitchFamily="18" charset="0"/>
                      </a:rPr>
                      <m:t>𝑞</m:t>
                    </m:r>
                    <m:r>
                      <a:rPr lang="en-AU" sz="1200" i="1" dirty="0" smtClean="0">
                        <a:latin typeface="Cambria Math" panose="02040503050406030204" pitchFamily="18" charset="0"/>
                      </a:rPr>
                      <m:t>, </m:t>
                    </m:r>
                    <m:r>
                      <a:rPr lang="en-AU" sz="1200" i="1" dirty="0" smtClean="0">
                        <a:latin typeface="Cambria Math" panose="02040503050406030204" pitchFamily="18" charset="0"/>
                      </a:rPr>
                      <m:t>𝑎</m:t>
                    </m:r>
                    <m:r>
                      <a:rPr lang="en-AU" sz="1200" i="1" dirty="0" smtClean="0">
                        <a:latin typeface="Cambria Math" panose="02040503050406030204" pitchFamily="18" charset="0"/>
                      </a:rPr>
                      <m:t>, </m:t>
                    </m:r>
                    <m:r>
                      <a:rPr lang="en-AU" sz="1200" i="1" dirty="0" smtClean="0">
                        <a:latin typeface="Cambria Math" panose="02040503050406030204" pitchFamily="18" charset="0"/>
                      </a:rPr>
                      <m:t>𝑋</m:t>
                    </m:r>
                    <m:r>
                      <a:rPr lang="en-AU" sz="1200" i="1" dirty="0" smtClean="0">
                        <a:latin typeface="Cambria Math" panose="02040503050406030204" pitchFamily="18" charset="0"/>
                      </a:rPr>
                      <m:t>), </m:t>
                    </m:r>
                  </m:oMath>
                </a14:m>
                <a:r>
                  <a:rPr lang="zh-CN" altLang="en-US" dirty="0"/>
                  <a:t>则</a:t>
                </a:r>
                <a:endParaRPr lang="en-AU" dirty="0"/>
              </a:p>
            </p:txBody>
          </p:sp>
        </mc:Choice>
        <mc:Fallback xmlns="">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5"/>
          </p:nvPr>
        </p:nvSpPr>
        <p:spPr/>
        <p:txBody>
          <a:bodyPr/>
          <a:lstStyle/>
          <a:p>
            <a:fld id="{FA67A903-3A42-486D-A3BC-854A05CABB63}" type="slidenum">
              <a:rPr lang="en-AU" smtClean="0"/>
              <a:t>38</a:t>
            </a:fld>
            <a:endParaRPr lang="en-AU"/>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zh-CN" altLang="en-US" dirty="0"/>
                  <a:t>为了从栈中完全的弹出某个符号，需要消耗输入带上的某个符号串。所以从栈中弹出一个符号和输入带上消耗掉的符号串之间是一种对应关系。如果将栈中的符号看成是一个变元的话，那么可以看成从这个变元，可以派生出来消耗掉的符号串。我们利用这样的方式，去构造文法。</a:t>
                </a:r>
                <a:endParaRPr lang="en-AU" altLang="zh-CN" dirty="0"/>
              </a:p>
              <a:p>
                <a:endParaRPr lang="en-AU" altLang="zh-CN" dirty="0"/>
              </a:p>
              <a:p>
                <a:r>
                  <a:rPr lang="zh-CN" altLang="en-US" dirty="0"/>
                  <a:t>文法的变元对应了</a:t>
                </a:r>
                <a:r>
                  <a:rPr lang="en-US" altLang="zh-CN" dirty="0"/>
                  <a:t>PDA</a:t>
                </a:r>
                <a:r>
                  <a:rPr lang="zh-CN" altLang="en-US" dirty="0"/>
                  <a:t>的栈符号。由于如果弹出栈符号之前和之后的状态不一样，可能会导致消耗的符号串不一样，因此联合之前和之后的状态定义变元。</a:t>
                </a:r>
                <a:endParaRPr lang="en-AU" altLang="zh-CN" dirty="0"/>
              </a:p>
              <a:p>
                <a:endParaRPr lang="en-AU" altLang="zh-CN" dirty="0"/>
              </a:p>
              <a:p>
                <a:r>
                  <a:rPr lang="zh-CN" altLang="en-US" dirty="0"/>
                  <a:t>第一步，先定义变元。如果</a:t>
                </a:r>
                <a:r>
                  <a:rPr lang="en-AU" altLang="zh-CN" dirty="0"/>
                  <a:t>PDA</a:t>
                </a:r>
                <a:r>
                  <a:rPr lang="zh-CN" altLang="en-US" dirty="0"/>
                  <a:t>中，从状态</a:t>
                </a:r>
                <a:r>
                  <a:rPr lang="en-AU" altLang="zh-CN" dirty="0"/>
                  <a:t>q</a:t>
                </a:r>
                <a:r>
                  <a:rPr lang="zh-CN" altLang="en-US" dirty="0"/>
                  <a:t>变化到状态</a:t>
                </a:r>
                <a:r>
                  <a:rPr lang="en-AU" altLang="zh-CN" dirty="0"/>
                  <a:t>p</a:t>
                </a:r>
                <a:r>
                  <a:rPr lang="zh-CN" altLang="en-US" dirty="0"/>
                  <a:t>，且栈中弹出的符号串为</a:t>
                </a:r>
                <a:r>
                  <a:rPr lang="en-AU" altLang="zh-CN" dirty="0"/>
                  <a:t>X</a:t>
                </a:r>
                <a:r>
                  <a:rPr lang="zh-CN" altLang="en-US" dirty="0"/>
                  <a:t>，则定义一个变元</a:t>
                </a:r>
                <a:r>
                  <a:rPr lang="en-AU" altLang="zh-CN" dirty="0"/>
                  <a:t>[</a:t>
                </a:r>
                <a:r>
                  <a:rPr lang="en-AU" altLang="zh-CN" dirty="0" err="1"/>
                  <a:t>qXp</a:t>
                </a:r>
                <a:r>
                  <a:rPr lang="en-AU" altLang="zh-CN" dirty="0"/>
                  <a:t>]</a:t>
                </a:r>
                <a:r>
                  <a:rPr lang="zh-CN" altLang="en-US" dirty="0"/>
                  <a:t>。这个过程会消耗一些输入带上的符号串，也就是该变元能派生出的符号串。</a:t>
                </a:r>
                <a:endParaRPr lang="en-AU" altLang="zh-CN" dirty="0"/>
              </a:p>
              <a:p>
                <a:endParaRPr lang="en-AU" dirty="0"/>
              </a:p>
              <a:p>
                <a:r>
                  <a:rPr lang="zh-CN" altLang="en-US" dirty="0"/>
                  <a:t>第二步，对所有</a:t>
                </a:r>
                <a:r>
                  <a:rPr lang="en-US" altLang="zh-CN" dirty="0"/>
                  <a:t>p</a:t>
                </a:r>
                <a:r>
                  <a:rPr lang="zh-CN" altLang="en-US" dirty="0"/>
                  <a:t>属于</a:t>
                </a:r>
                <a:r>
                  <a:rPr lang="en-AU" altLang="zh-CN" dirty="0"/>
                  <a:t>Q</a:t>
                </a:r>
                <a:r>
                  <a:rPr lang="zh-CN" altLang="en-US" dirty="0"/>
                  <a:t>，构造一条产生式</a:t>
                </a:r>
                <a:r>
                  <a:rPr lang="en-AU" altLang="zh-CN" dirty="0"/>
                  <a:t>S-&gt;[q0Z0p]</a:t>
                </a:r>
              </a:p>
              <a:p>
                <a:endParaRPr lang="en-AU" dirty="0"/>
              </a:p>
              <a:p>
                <a:endParaRPr lang="en-AU" dirty="0"/>
              </a:p>
              <a:p>
                <a:r>
                  <a:rPr lang="zh-CN" altLang="en-US" dirty="0"/>
                  <a:t>为了弹出某个栈符号</a:t>
                </a:r>
                <a:r>
                  <a:rPr lang="en-US" altLang="zh-CN" dirty="0"/>
                  <a:t>X</a:t>
                </a:r>
                <a:r>
                  <a:rPr lang="zh-CN" altLang="en-US" dirty="0"/>
                  <a:t>，第一步是利用某个动作将</a:t>
                </a:r>
                <a:r>
                  <a:rPr lang="en-US" altLang="zh-CN" dirty="0"/>
                  <a:t>X</a:t>
                </a:r>
                <a:r>
                  <a:rPr lang="zh-CN" altLang="en-US" dirty="0"/>
                  <a:t>替换为其他栈符号串，然后再一步一步的弹出这些栈符号。可以利用这一个动作去定义一组产生式。将栈符号串所对应的变元作为要弹出的变元的定义。有了变元之后，我们定义产生式，根据</a:t>
                </a:r>
                <a:r>
                  <a:rPr lang="en-US" altLang="zh-CN" dirty="0"/>
                  <a:t>PDA</a:t>
                </a:r>
                <a:r>
                  <a:rPr lang="zh-CN" altLang="en-US" dirty="0"/>
                  <a:t>的动作。如果</a:t>
                </a:r>
                <a:r>
                  <a:rPr lang="en-AU" altLang="zh-CN" dirty="0" err="1"/>
                  <a:t>q,a,X</a:t>
                </a:r>
                <a:r>
                  <a:rPr lang="en-AU" altLang="zh-CN" dirty="0"/>
                  <a:t>,</a:t>
                </a:r>
                <a:r>
                  <a:rPr lang="zh-CN" altLang="en-US" dirty="0"/>
                  <a:t>我们要将</a:t>
                </a:r>
                <a:r>
                  <a:rPr lang="en-US" altLang="zh-CN" dirty="0"/>
                  <a:t>X</a:t>
                </a:r>
                <a:r>
                  <a:rPr lang="zh-CN" altLang="en-US" dirty="0"/>
                  <a:t>弹出，第一步是将</a:t>
                </a:r>
                <a:r>
                  <a:rPr lang="en-US" altLang="zh-CN" dirty="0"/>
                  <a:t>X</a:t>
                </a:r>
                <a:r>
                  <a:rPr lang="zh-CN" altLang="en-US" dirty="0"/>
                  <a:t>替换为</a:t>
                </a:r>
                <a:r>
                  <a:rPr lang="en-AU" altLang="zh-CN" dirty="0"/>
                  <a:t>Y1</a:t>
                </a:r>
                <a:r>
                  <a:rPr lang="zh-CN" altLang="en-US" dirty="0"/>
                  <a:t>，。。。</a:t>
                </a:r>
                <a:r>
                  <a:rPr lang="en-AU" altLang="zh-CN" dirty="0"/>
                  <a:t>,</a:t>
                </a:r>
                <a:r>
                  <a:rPr lang="en-AU" altLang="zh-CN" dirty="0" err="1"/>
                  <a:t>Yn</a:t>
                </a:r>
                <a:r>
                  <a:rPr lang="zh-CN" altLang="en-US" dirty="0"/>
                  <a:t>。我们利用这个动作定义一组产生式。</a:t>
                </a:r>
                <a:endParaRPr lang="en-AU" altLang="zh-CN" dirty="0"/>
              </a:p>
              <a:p>
                <a:endParaRPr lang="en-AU" dirty="0"/>
              </a:p>
              <a:p>
                <a:r>
                  <a:rPr lang="zh-CN" altLang="en-US" dirty="0"/>
                  <a:t>第一步先派生出一个字符</a:t>
                </a:r>
                <a:r>
                  <a:rPr lang="en-US" altLang="zh-CN" dirty="0"/>
                  <a:t>a</a:t>
                </a:r>
                <a:r>
                  <a:rPr lang="zh-CN" altLang="en-US" dirty="0"/>
                  <a:t>，然后剩下的字符串交给变元</a:t>
                </a:r>
                <a:r>
                  <a:rPr lang="en-AU" altLang="zh-CN" dirty="0"/>
                  <a:t>Y1, Y2, </a:t>
                </a:r>
                <a:r>
                  <a:rPr lang="zh-CN" altLang="en-US" dirty="0"/>
                  <a:t>。。。</a:t>
                </a:r>
                <a:r>
                  <a:rPr lang="en-AU" altLang="zh-CN" dirty="0" err="1"/>
                  <a:t>Yn</a:t>
                </a:r>
                <a:r>
                  <a:rPr lang="en-AU" altLang="zh-CN" dirty="0"/>
                  <a:t>,</a:t>
                </a:r>
                <a:r>
                  <a:rPr lang="zh-CN" altLang="en-US" dirty="0"/>
                  <a:t>由它们去派生。由于弹出</a:t>
                </a:r>
                <a:r>
                  <a:rPr lang="en-US" altLang="zh-CN" dirty="0"/>
                  <a:t>Y1</a:t>
                </a:r>
                <a:r>
                  <a:rPr lang="zh-CN" altLang="en-US" dirty="0"/>
                  <a:t>之后到达的那个状态我们并不确定，所以我们用</a:t>
                </a:r>
                <a:r>
                  <a:rPr lang="en-AU" altLang="zh-CN" dirty="0"/>
                  <a:t>r1</a:t>
                </a:r>
                <a:r>
                  <a:rPr lang="zh-CN" altLang="en-US" dirty="0"/>
                  <a:t>表示。弹完</a:t>
                </a:r>
                <a:r>
                  <a:rPr lang="en-AU" altLang="zh-CN" dirty="0"/>
                  <a:t>Y1</a:t>
                </a:r>
                <a:r>
                  <a:rPr lang="zh-CN" altLang="en-US" dirty="0"/>
                  <a:t>之后，处于的状态为</a:t>
                </a:r>
                <a:r>
                  <a:rPr lang="en-AU" altLang="zh-CN" dirty="0"/>
                  <a:t>r1</a:t>
                </a:r>
                <a:r>
                  <a:rPr lang="zh-CN" altLang="en-US" dirty="0"/>
                  <a:t>，开始弹</a:t>
                </a:r>
                <a:r>
                  <a:rPr lang="en-AU" altLang="zh-CN" dirty="0"/>
                  <a:t>Y2</a:t>
                </a:r>
                <a:r>
                  <a:rPr lang="zh-CN" altLang="en-US" dirty="0"/>
                  <a:t>，到达的状态不确定，我们定义为</a:t>
                </a:r>
                <a:r>
                  <a:rPr lang="en-AU" altLang="zh-CN" dirty="0"/>
                  <a:t>r2</a:t>
                </a:r>
                <a:r>
                  <a:rPr lang="zh-CN" altLang="en-US" dirty="0"/>
                  <a:t>。</a:t>
                </a:r>
                <a:endParaRPr lang="en-AU"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第三步，如果</a:t>
                </a:r>
                <a14:m>
                  <m:oMath xmlns:m="http://schemas.openxmlformats.org/officeDocument/2006/math">
                    <m:r>
                      <a:rPr lang="zh-CN" altLang="en-US" sz="1200" i="1" dirty="0" smtClean="0">
                        <a:latin typeface="Cambria Math" panose="02040503050406030204" pitchFamily="18" charset="0"/>
                      </a:rPr>
                      <m:t>∀</m:t>
                    </m:r>
                    <m:r>
                      <a:rPr lang="en-US" altLang="zh-CN" sz="1200" i="1" dirty="0" smtClean="0">
                        <a:latin typeface="Cambria Math" panose="02040503050406030204" pitchFamily="18" charset="0"/>
                      </a:rPr>
                      <m:t>(</m:t>
                    </m:r>
                    <m:r>
                      <a:rPr lang="en-AU" sz="1200" i="1" dirty="0" smtClean="0">
                        <a:latin typeface="Cambria Math" panose="02040503050406030204" pitchFamily="18" charset="0"/>
                      </a:rPr>
                      <m:t>𝑝</m:t>
                    </m:r>
                    <m:r>
                      <a:rPr lang="en-AU" sz="1200" i="1" dirty="0" smtClean="0">
                        <a:latin typeface="Cambria Math" panose="02040503050406030204" pitchFamily="18" charset="0"/>
                      </a:rPr>
                      <m:t>,</m:t>
                    </m:r>
                    <m:sSub>
                      <m:sSubPr>
                        <m:ctrlPr>
                          <a:rPr lang="en-AU" altLang="zh-CN" sz="1200" i="1" dirty="0">
                            <a:latin typeface="Cambria Math" panose="02040503050406030204" pitchFamily="18" charset="0"/>
                            <a:ea typeface="Cambria Math" panose="02040503050406030204" pitchFamily="18" charset="0"/>
                          </a:rPr>
                        </m:ctrlPr>
                      </m:sSubPr>
                      <m:e>
                        <m:r>
                          <a:rPr lang="en-AU" altLang="zh-CN" sz="1200" i="1" dirty="0">
                            <a:latin typeface="Cambria Math" panose="02040503050406030204" pitchFamily="18" charset="0"/>
                            <a:ea typeface="Cambria Math" panose="02040503050406030204" pitchFamily="18" charset="0"/>
                          </a:rPr>
                          <m:t>𝑌</m:t>
                        </m:r>
                      </m:e>
                      <m:sub>
                        <m:r>
                          <a:rPr lang="en-AU" altLang="zh-CN" sz="1200" i="1" dirty="0">
                            <a:latin typeface="Cambria Math" panose="02040503050406030204" pitchFamily="18" charset="0"/>
                            <a:ea typeface="Cambria Math" panose="02040503050406030204" pitchFamily="18" charset="0"/>
                          </a:rPr>
                          <m:t>1</m:t>
                        </m:r>
                      </m:sub>
                    </m:sSub>
                    <m:sSub>
                      <m:sSubPr>
                        <m:ctrlPr>
                          <a:rPr lang="en-AU" altLang="zh-CN" sz="1200" i="1" dirty="0">
                            <a:latin typeface="Cambria Math" panose="02040503050406030204" pitchFamily="18" charset="0"/>
                            <a:ea typeface="Cambria Math" panose="02040503050406030204" pitchFamily="18" charset="0"/>
                          </a:rPr>
                        </m:ctrlPr>
                      </m:sSubPr>
                      <m:e>
                        <m:r>
                          <a:rPr lang="en-AU" altLang="zh-CN" sz="1200" i="1" dirty="0">
                            <a:latin typeface="Cambria Math" panose="02040503050406030204" pitchFamily="18" charset="0"/>
                            <a:ea typeface="Cambria Math" panose="02040503050406030204" pitchFamily="18" charset="0"/>
                          </a:rPr>
                          <m:t>𝑌</m:t>
                        </m:r>
                      </m:e>
                      <m:sub>
                        <m:r>
                          <a:rPr lang="en-AU" altLang="zh-CN" sz="1200" i="1" dirty="0">
                            <a:latin typeface="Cambria Math" panose="02040503050406030204" pitchFamily="18" charset="0"/>
                            <a:ea typeface="Cambria Math" panose="02040503050406030204" pitchFamily="18" charset="0"/>
                          </a:rPr>
                          <m:t>2</m:t>
                        </m:r>
                      </m:sub>
                    </m:sSub>
                    <m:sSub>
                      <m:sSubPr>
                        <m:ctrlPr>
                          <a:rPr lang="en-AU" altLang="zh-CN" sz="1200" i="1" dirty="0">
                            <a:latin typeface="Cambria Math" panose="02040503050406030204" pitchFamily="18" charset="0"/>
                            <a:ea typeface="Cambria Math" panose="02040503050406030204" pitchFamily="18" charset="0"/>
                          </a:rPr>
                        </m:ctrlPr>
                      </m:sSubPr>
                      <m:e>
                        <m:r>
                          <a:rPr lang="en-AU" altLang="zh-CN" sz="1200" i="1" dirty="0">
                            <a:latin typeface="Cambria Math" panose="02040503050406030204" pitchFamily="18" charset="0"/>
                            <a:ea typeface="Cambria Math" panose="02040503050406030204" pitchFamily="18" charset="0"/>
                          </a:rPr>
                          <m:t>…</m:t>
                        </m:r>
                        <m:r>
                          <a:rPr lang="en-AU" altLang="zh-CN" sz="1200" i="1" dirty="0">
                            <a:latin typeface="Cambria Math" panose="02040503050406030204" pitchFamily="18" charset="0"/>
                            <a:ea typeface="Cambria Math" panose="02040503050406030204" pitchFamily="18" charset="0"/>
                          </a:rPr>
                          <m:t>𝑌</m:t>
                        </m:r>
                      </m:e>
                      <m:sub>
                        <m:r>
                          <a:rPr lang="en-AU" altLang="zh-CN" sz="1200" b="0" i="1" dirty="0" smtClean="0">
                            <a:latin typeface="Cambria Math" panose="02040503050406030204" pitchFamily="18" charset="0"/>
                            <a:ea typeface="Cambria Math" panose="02040503050406030204" pitchFamily="18" charset="0"/>
                          </a:rPr>
                          <m:t>𝑛</m:t>
                        </m:r>
                      </m:sub>
                    </m:sSub>
                    <m:r>
                      <a:rPr lang="en-AU" sz="1200" i="1" dirty="0" smtClean="0">
                        <a:latin typeface="Cambria Math" panose="02040503050406030204" pitchFamily="18" charset="0"/>
                      </a:rPr>
                      <m:t>) ∈ </m:t>
                    </m:r>
                    <m:r>
                      <a:rPr lang="el-GR" sz="1200" i="1" dirty="0" smtClean="0">
                        <a:latin typeface="Cambria Math" panose="02040503050406030204" pitchFamily="18" charset="0"/>
                      </a:rPr>
                      <m:t>𝛿</m:t>
                    </m:r>
                    <m:r>
                      <a:rPr lang="el-GR" sz="1200" i="1" dirty="0" smtClean="0">
                        <a:latin typeface="Cambria Math" panose="02040503050406030204" pitchFamily="18" charset="0"/>
                      </a:rPr>
                      <m:t>(</m:t>
                    </m:r>
                    <m:r>
                      <a:rPr lang="en-AU" sz="1200" i="1" dirty="0" smtClean="0">
                        <a:latin typeface="Cambria Math" panose="02040503050406030204" pitchFamily="18" charset="0"/>
                      </a:rPr>
                      <m:t>𝑞</m:t>
                    </m:r>
                    <m:r>
                      <a:rPr lang="en-AU" sz="1200" i="1" dirty="0" smtClean="0">
                        <a:latin typeface="Cambria Math" panose="02040503050406030204" pitchFamily="18" charset="0"/>
                      </a:rPr>
                      <m:t>, </m:t>
                    </m:r>
                    <m:r>
                      <a:rPr lang="en-AU" sz="1200" i="1" dirty="0" smtClean="0">
                        <a:latin typeface="Cambria Math" panose="02040503050406030204" pitchFamily="18" charset="0"/>
                      </a:rPr>
                      <m:t>𝑎</m:t>
                    </m:r>
                    <m:r>
                      <a:rPr lang="en-AU" sz="1200" i="1" dirty="0" smtClean="0">
                        <a:latin typeface="Cambria Math" panose="02040503050406030204" pitchFamily="18" charset="0"/>
                      </a:rPr>
                      <m:t>, </m:t>
                    </m:r>
                    <m:r>
                      <a:rPr lang="en-AU" sz="1200" i="1" dirty="0" smtClean="0">
                        <a:latin typeface="Cambria Math" panose="02040503050406030204" pitchFamily="18" charset="0"/>
                      </a:rPr>
                      <m:t>𝑋</m:t>
                    </m:r>
                    <m:r>
                      <a:rPr lang="en-AU" sz="1200" i="1" dirty="0" smtClean="0">
                        <a:latin typeface="Cambria Math" panose="02040503050406030204" pitchFamily="18" charset="0"/>
                      </a:rPr>
                      <m:t>), </m:t>
                    </m:r>
                  </m:oMath>
                </a14:m>
                <a:endParaRPr lang="en-AU"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AU"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则</a:t>
                </a:r>
                <a:r>
                  <a:rPr lang="en-US" sz="1200" dirty="0"/>
                  <a:t>Stack top symbol X is popped and replaced with a sequence of k variables. </a:t>
                </a:r>
              </a:p>
              <a:p>
                <a:endParaRPr lang="en-AU" dirty="0"/>
              </a:p>
            </p:txBody>
          </p:sp>
        </mc:Choice>
        <mc:Fallback xmlns="">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b="-60586"/>
                </a:stretch>
              </a:blipFill>
            </p:spPr>
            <p:txBody>
              <a:bodyPr/>
              <a:lstStyle/>
              <a:p>
                <a:r>
                  <a:rPr lang="zh-CN" altLang="en-US">
                    <a:noFill/>
                  </a:rPr>
                  <a:t> </a:t>
                </a:r>
              </a:p>
            </p:txBody>
          </p:sp>
        </mc:Fallback>
      </mc:AlternateContent>
      <p:sp>
        <p:nvSpPr>
          <p:cNvPr id="4" name="Slide Number Placeholder 3"/>
          <p:cNvSpPr>
            <a:spLocks noGrp="1"/>
          </p:cNvSpPr>
          <p:nvPr>
            <p:ph type="sldNum" sz="quarter" idx="5"/>
          </p:nvPr>
        </p:nvSpPr>
        <p:spPr/>
        <p:txBody>
          <a:bodyPr/>
          <a:lstStyle/>
          <a:p>
            <a:fld id="{FA67A903-3A42-486D-A3BC-854A05CABB63}" type="slidenum">
              <a:rPr lang="en-AU" smtClean="0"/>
              <a:t>39</a:t>
            </a:fld>
            <a:endParaRPr lang="en-A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Sigma</a:t>
            </a:r>
            <a:r>
              <a:rPr lang="zh-CN" altLang="en-US" dirty="0"/>
              <a:t>是输入的符号串所在的字母表。</a:t>
            </a:r>
            <a:endParaRPr lang="en-AU" altLang="zh-CN" dirty="0"/>
          </a:p>
          <a:p>
            <a:endParaRPr lang="en-AU" dirty="0"/>
          </a:p>
          <a:p>
            <a:r>
              <a:rPr lang="zh-CN" altLang="en-US" dirty="0"/>
              <a:t>而</a:t>
            </a:r>
            <a:r>
              <a:rPr lang="en-US" altLang="zh-CN" dirty="0"/>
              <a:t>gamma</a:t>
            </a:r>
            <a:r>
              <a:rPr lang="zh-CN" altLang="en-US" dirty="0"/>
              <a:t>表示的是整个带上的符号串所在的字母表，注意带上除了输入的符号串外，还有特殊符号，比如空格符号。</a:t>
            </a:r>
            <a:endParaRPr lang="en-AU" altLang="zh-CN" dirty="0"/>
          </a:p>
          <a:p>
            <a:endParaRPr lang="en-AU" dirty="0"/>
          </a:p>
          <a:p>
            <a:r>
              <a:rPr lang="en-AU" dirty="0"/>
              <a:t>Delta</a:t>
            </a:r>
            <a:r>
              <a:rPr lang="zh-CN" altLang="en-US" dirty="0"/>
              <a:t>：根据当前的状态和读入的符号进行状态的转移，同时修改读写头下的单元格，并且将读写头向左或向右移动一个单元格。</a:t>
            </a:r>
            <a:endParaRPr lang="en-AU" altLang="zh-CN" dirty="0"/>
          </a:p>
          <a:p>
            <a:endParaRPr lang="en-AU" dirty="0"/>
          </a:p>
          <a:p>
            <a:pPr marL="228600" indent="-228600">
              <a:buAutoNum type="arabicPeriod"/>
            </a:pPr>
            <a:r>
              <a:rPr lang="zh-CN" altLang="en-US" dirty="0"/>
              <a:t>一个新状态</a:t>
            </a:r>
            <a:endParaRPr lang="en-AU" altLang="zh-CN" dirty="0"/>
          </a:p>
          <a:p>
            <a:pPr marL="228600" indent="-228600">
              <a:buAutoNum type="arabicPeriod"/>
            </a:pPr>
            <a:r>
              <a:rPr lang="zh-CN" altLang="en-US" dirty="0"/>
              <a:t>一个新的</a:t>
            </a:r>
            <a:r>
              <a:rPr lang="en-AU" altLang="zh-CN" dirty="0"/>
              <a:t>tape symbol</a:t>
            </a:r>
          </a:p>
          <a:p>
            <a:pPr marL="228600" indent="-228600">
              <a:buAutoNum type="arabicPeriod"/>
            </a:pPr>
            <a:r>
              <a:rPr lang="zh-CN" altLang="en-US" dirty="0"/>
              <a:t>向左或者向右移动</a:t>
            </a:r>
            <a:endParaRPr lang="en-AU" dirty="0"/>
          </a:p>
          <a:p>
            <a:endParaRPr lang="en-AU" dirty="0"/>
          </a:p>
          <a:p>
            <a:r>
              <a:rPr lang="en-AU" dirty="0"/>
              <a:t>B</a:t>
            </a:r>
            <a:r>
              <a:rPr lang="zh-CN" altLang="en-US" dirty="0"/>
              <a:t>是在有穷带符号集中</a:t>
            </a:r>
            <a:r>
              <a:rPr lang="en-US" altLang="zh-CN" dirty="0"/>
              <a:t>gamma</a:t>
            </a:r>
            <a:r>
              <a:rPr lang="zh-CN" altLang="en-US" dirty="0"/>
              <a:t>中，不在输入符号集</a:t>
            </a:r>
            <a:r>
              <a:rPr lang="en-US" altLang="zh-CN" dirty="0"/>
              <a:t>sigma</a:t>
            </a:r>
            <a:r>
              <a:rPr lang="zh-CN" altLang="en-US" dirty="0"/>
              <a:t>中的一个特殊符号，我们称为空格符号。</a:t>
            </a:r>
            <a:endParaRPr lang="en-AU" altLang="zh-CN" dirty="0"/>
          </a:p>
          <a:p>
            <a:endParaRPr lang="en-AU" dirty="0"/>
          </a:p>
          <a:p>
            <a:r>
              <a:rPr lang="zh-CN" altLang="en-US" dirty="0"/>
              <a:t>最初的时候，输入带上，除了输入的符号外，其他的无穷多个单元格放置的都是空格符号，用来指示输入数据的边界，因为输入带是无穷的。</a:t>
            </a:r>
            <a:endParaRPr lang="en-AU" altLang="zh-CN" dirty="0"/>
          </a:p>
          <a:p>
            <a:endParaRPr lang="en-AU" dirty="0"/>
          </a:p>
          <a:p>
            <a:r>
              <a:rPr lang="en-AU" dirty="0"/>
              <a:t>Tape</a:t>
            </a:r>
            <a:r>
              <a:rPr lang="zh-CN" altLang="en-US" dirty="0"/>
              <a:t>相当于内存，有穷控制器相当于</a:t>
            </a:r>
            <a:r>
              <a:rPr lang="en-AU" altLang="zh-CN" dirty="0"/>
              <a:t>CPU</a:t>
            </a:r>
            <a:r>
              <a:rPr lang="zh-CN" altLang="en-US" dirty="0"/>
              <a:t>和程序计数器。</a:t>
            </a:r>
            <a:endParaRPr lang="en-AU" altLang="zh-CN" dirty="0"/>
          </a:p>
          <a:p>
            <a:endParaRPr lang="en-AU" dirty="0"/>
          </a:p>
          <a:p>
            <a:endParaRPr lang="en-AU" dirty="0"/>
          </a:p>
          <a:p>
            <a:endParaRPr lang="en-AU" dirty="0"/>
          </a:p>
          <a:p>
            <a:r>
              <a:rPr lang="zh-CN" altLang="en-US" dirty="0"/>
              <a:t>初始的时候，</a:t>
            </a:r>
            <a:r>
              <a:rPr lang="en-AU" altLang="zh-CN" dirty="0"/>
              <a:t>tape head</a:t>
            </a:r>
            <a:r>
              <a:rPr lang="zh-CN" altLang="en-US" dirty="0"/>
              <a:t>指向最左边的第一个输入符号，</a:t>
            </a:r>
            <a:r>
              <a:rPr lang="en-AU" altLang="zh-CN" dirty="0"/>
              <a:t>leftmost input symbol</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42</a:t>
            </a:fld>
            <a:endParaRPr lang="en-AU"/>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D0B409A-9510-4679-9C86-74CCD54373DF}" type="slidenum">
              <a:rPr lang="en-US" altLang="zh-CN" smtClean="0"/>
              <a:t>153</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D0B409A-9510-4679-9C86-74CCD54373DF}" type="slidenum">
              <a:rPr lang="en-US" altLang="zh-CN" smtClean="0"/>
              <a:t>155</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D0B409A-9510-4679-9C86-74CCD54373DF}" type="slidenum">
              <a:rPr lang="en-US" altLang="zh-CN" smtClean="0"/>
              <a:t>158</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D0B409A-9510-4679-9C86-74CCD54373DF}" type="slidenum">
              <a:rPr lang="en-US" altLang="zh-CN" smtClean="0"/>
              <a:t>161</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auto"/>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p:txBody>
          <a:bodyPr/>
          <a:lstStyle/>
          <a:p>
            <a:pPr fontAlgn="auto"/>
            <a:fld id="{530820CF-B880-4189-942D-D702A7CBA730}" type="datetimeFigureOut">
              <a:rPr lang="zh-CN" altLang="en-US" strike="noStrike" noProof="1" smtClean="0">
                <a:latin typeface="+mn-lt"/>
                <a:ea typeface="+mn-ea"/>
                <a:cs typeface="+mn-cs"/>
              </a:rPr>
              <a:t>2024/4/23</a:t>
            </a:fld>
            <a:endParaRPr lang="zh-CN" altLang="en-US" strike="noStrike" noProof="1"/>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A60C455B-B212-44F5-BDE5-4E865130930B}" type="slidenum">
              <a:rPr lang="en-US" altLang="zh-CN" smtClean="0"/>
              <a:t>‹#›</a:t>
            </a:fld>
            <a:endParaRPr lang="en-US" altLang="zh-CN"/>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7" name="矩形 6"/>
          <p:cNvSpPr/>
          <p:nvPr/>
        </p:nvSpPr>
        <p:spPr>
          <a:xfrm>
            <a:off x="0" y="0"/>
            <a:ext cx="9144000" cy="692696"/>
          </a:xfrm>
          <a:prstGeom prst="rect">
            <a:avLst/>
          </a:prstGeom>
          <a:gradFill>
            <a:gsLst>
              <a:gs pos="0">
                <a:schemeClr val="bg1">
                  <a:lumMod val="50000"/>
                </a:schemeClr>
              </a:gs>
              <a:gs pos="100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fontAlgn="auto"/>
            <a:endParaRPr lang="zh-CN" altLang="en-US" strike="noStrike" noProof="1"/>
          </a:p>
        </p:txBody>
      </p:sp>
      <p:sp>
        <p:nvSpPr>
          <p:cNvPr id="8" name="平行四边形 49"/>
          <p:cNvSpPr/>
          <p:nvPr/>
        </p:nvSpPr>
        <p:spPr>
          <a:xfrm>
            <a:off x="-30162" y="-14287"/>
            <a:ext cx="2536825" cy="706438"/>
          </a:xfrm>
          <a:custGeom>
            <a:avLst/>
            <a:gdLst>
              <a:gd name="connsiteX0" fmla="*/ 0 w 1547664"/>
              <a:gd name="connsiteY0" fmla="*/ 692696 h 692696"/>
              <a:gd name="connsiteX1" fmla="*/ 173174 w 1547664"/>
              <a:gd name="connsiteY1" fmla="*/ 0 h 692696"/>
              <a:gd name="connsiteX2" fmla="*/ 1547664 w 1547664"/>
              <a:gd name="connsiteY2" fmla="*/ 0 h 692696"/>
              <a:gd name="connsiteX3" fmla="*/ 1374490 w 1547664"/>
              <a:gd name="connsiteY3" fmla="*/ 692696 h 692696"/>
              <a:gd name="connsiteX4" fmla="*/ 0 w 1547664"/>
              <a:gd name="connsiteY4" fmla="*/ 692696 h 692696"/>
              <a:gd name="connsiteX0-1" fmla="*/ 61228 w 1608892"/>
              <a:gd name="connsiteY0-2" fmla="*/ 722676 h 722676"/>
              <a:gd name="connsiteX1-3" fmla="*/ 234402 w 1608892"/>
              <a:gd name="connsiteY1-4" fmla="*/ 29980 h 722676"/>
              <a:gd name="connsiteX2-5" fmla="*/ 1267 w 1608892"/>
              <a:gd name="connsiteY2-6" fmla="*/ 0 h 722676"/>
              <a:gd name="connsiteX3-7" fmla="*/ 1608892 w 1608892"/>
              <a:gd name="connsiteY3-8" fmla="*/ 29980 h 722676"/>
              <a:gd name="connsiteX4-9" fmla="*/ 1435718 w 1608892"/>
              <a:gd name="connsiteY4-10" fmla="*/ 722676 h 722676"/>
              <a:gd name="connsiteX5" fmla="*/ 61228 w 1608892"/>
              <a:gd name="connsiteY5" fmla="*/ 722676 h 722676"/>
              <a:gd name="connsiteX0-11" fmla="*/ 63273 w 1610937"/>
              <a:gd name="connsiteY0-12" fmla="*/ 722676 h 722676"/>
              <a:gd name="connsiteX1-13" fmla="*/ 56565 w 1610937"/>
              <a:gd name="connsiteY1-14" fmla="*/ 44970 h 722676"/>
              <a:gd name="connsiteX2-15" fmla="*/ 3312 w 1610937"/>
              <a:gd name="connsiteY2-16" fmla="*/ 0 h 722676"/>
              <a:gd name="connsiteX3-17" fmla="*/ 1610937 w 1610937"/>
              <a:gd name="connsiteY3-18" fmla="*/ 29980 h 722676"/>
              <a:gd name="connsiteX4-19" fmla="*/ 1437763 w 1610937"/>
              <a:gd name="connsiteY4-20" fmla="*/ 722676 h 722676"/>
              <a:gd name="connsiteX5-21" fmla="*/ 63273 w 1610937"/>
              <a:gd name="connsiteY5-22" fmla="*/ 722676 h 722676"/>
              <a:gd name="connsiteX0-23" fmla="*/ 63273 w 2075632"/>
              <a:gd name="connsiteY0-24" fmla="*/ 722676 h 722676"/>
              <a:gd name="connsiteX1-25" fmla="*/ 56565 w 2075632"/>
              <a:gd name="connsiteY1-26" fmla="*/ 44970 h 722676"/>
              <a:gd name="connsiteX2-27" fmla="*/ 3312 w 2075632"/>
              <a:gd name="connsiteY2-28" fmla="*/ 0 h 722676"/>
              <a:gd name="connsiteX3-29" fmla="*/ 2075632 w 2075632"/>
              <a:gd name="connsiteY3-30" fmla="*/ 29980 h 722676"/>
              <a:gd name="connsiteX4-31" fmla="*/ 1437763 w 2075632"/>
              <a:gd name="connsiteY4-32" fmla="*/ 722676 h 722676"/>
              <a:gd name="connsiteX5-33" fmla="*/ 63273 w 2075632"/>
              <a:gd name="connsiteY5-34" fmla="*/ 722676 h 722676"/>
              <a:gd name="connsiteX0-35" fmla="*/ 6708 w 2019067"/>
              <a:gd name="connsiteY0-36" fmla="*/ 771160 h 771160"/>
              <a:gd name="connsiteX1-37" fmla="*/ 0 w 2019067"/>
              <a:gd name="connsiteY1-38" fmla="*/ 93454 h 771160"/>
              <a:gd name="connsiteX2-39" fmla="*/ 2019067 w 2019067"/>
              <a:gd name="connsiteY2-40" fmla="*/ 78464 h 771160"/>
              <a:gd name="connsiteX3-41" fmla="*/ 1381198 w 2019067"/>
              <a:gd name="connsiteY3-42" fmla="*/ 771160 h 771160"/>
              <a:gd name="connsiteX4-43" fmla="*/ 6708 w 2019067"/>
              <a:gd name="connsiteY4-44" fmla="*/ 771160 h 771160"/>
              <a:gd name="connsiteX0-45" fmla="*/ 6708 w 2019067"/>
              <a:gd name="connsiteY0-46" fmla="*/ 740785 h 740785"/>
              <a:gd name="connsiteX1-47" fmla="*/ 0 w 2019067"/>
              <a:gd name="connsiteY1-48" fmla="*/ 63079 h 740785"/>
              <a:gd name="connsiteX2-49" fmla="*/ 2019067 w 2019067"/>
              <a:gd name="connsiteY2-50" fmla="*/ 48089 h 740785"/>
              <a:gd name="connsiteX3-51" fmla="*/ 1381198 w 2019067"/>
              <a:gd name="connsiteY3-52" fmla="*/ 740785 h 740785"/>
              <a:gd name="connsiteX4-53" fmla="*/ 6708 w 2019067"/>
              <a:gd name="connsiteY4-54" fmla="*/ 740785 h 740785"/>
              <a:gd name="connsiteX0-55" fmla="*/ 6708 w 2019067"/>
              <a:gd name="connsiteY0-56" fmla="*/ 692696 h 692696"/>
              <a:gd name="connsiteX1-57" fmla="*/ 0 w 2019067"/>
              <a:gd name="connsiteY1-58" fmla="*/ 14990 h 692696"/>
              <a:gd name="connsiteX2-59" fmla="*/ 2019067 w 2019067"/>
              <a:gd name="connsiteY2-60" fmla="*/ 0 h 692696"/>
              <a:gd name="connsiteX3-61" fmla="*/ 1381198 w 2019067"/>
              <a:gd name="connsiteY3-62" fmla="*/ 692696 h 692696"/>
              <a:gd name="connsiteX4-63" fmla="*/ 6708 w 2019067"/>
              <a:gd name="connsiteY4-64" fmla="*/ 692696 h 692696"/>
              <a:gd name="connsiteX0-65" fmla="*/ 21698 w 2034057"/>
              <a:gd name="connsiteY0-66" fmla="*/ 707686 h 707686"/>
              <a:gd name="connsiteX1-67" fmla="*/ 0 w 2034057"/>
              <a:gd name="connsiteY1-68" fmla="*/ 0 h 707686"/>
              <a:gd name="connsiteX2-69" fmla="*/ 2034057 w 2034057"/>
              <a:gd name="connsiteY2-70" fmla="*/ 14990 h 707686"/>
              <a:gd name="connsiteX3-71" fmla="*/ 1396188 w 2034057"/>
              <a:gd name="connsiteY3-72" fmla="*/ 707686 h 707686"/>
              <a:gd name="connsiteX4-73" fmla="*/ 21698 w 2034057"/>
              <a:gd name="connsiteY4-74" fmla="*/ 707686 h 707686"/>
              <a:gd name="connsiteX0-75" fmla="*/ 0 w 2042339"/>
              <a:gd name="connsiteY0-76" fmla="*/ 707686 h 707686"/>
              <a:gd name="connsiteX1-77" fmla="*/ 8282 w 2042339"/>
              <a:gd name="connsiteY1-78" fmla="*/ 0 h 707686"/>
              <a:gd name="connsiteX2-79" fmla="*/ 2042339 w 2042339"/>
              <a:gd name="connsiteY2-80" fmla="*/ 14990 h 707686"/>
              <a:gd name="connsiteX3-81" fmla="*/ 1404470 w 2042339"/>
              <a:gd name="connsiteY3-82" fmla="*/ 707686 h 707686"/>
              <a:gd name="connsiteX4-83" fmla="*/ 0 w 2042339"/>
              <a:gd name="connsiteY4-84" fmla="*/ 707686 h 707686"/>
              <a:gd name="connsiteX0-85" fmla="*/ 0 w 2042339"/>
              <a:gd name="connsiteY0-86" fmla="*/ 707686 h 707686"/>
              <a:gd name="connsiteX1-87" fmla="*/ 8282 w 2042339"/>
              <a:gd name="connsiteY1-88" fmla="*/ 0 h 707686"/>
              <a:gd name="connsiteX2-89" fmla="*/ 2042339 w 2042339"/>
              <a:gd name="connsiteY2-90" fmla="*/ 14990 h 707686"/>
              <a:gd name="connsiteX3-91" fmla="*/ 1659303 w 2042339"/>
              <a:gd name="connsiteY3-92" fmla="*/ 707686 h 707686"/>
              <a:gd name="connsiteX4-93" fmla="*/ 0 w 2042339"/>
              <a:gd name="connsiteY4-94" fmla="*/ 707686 h 707686"/>
              <a:gd name="connsiteX0-95" fmla="*/ 0 w 2297172"/>
              <a:gd name="connsiteY0-96" fmla="*/ 707686 h 707686"/>
              <a:gd name="connsiteX1-97" fmla="*/ 8282 w 2297172"/>
              <a:gd name="connsiteY1-98" fmla="*/ 0 h 707686"/>
              <a:gd name="connsiteX2-99" fmla="*/ 2297172 w 2297172"/>
              <a:gd name="connsiteY2-100" fmla="*/ 0 h 707686"/>
              <a:gd name="connsiteX3-101" fmla="*/ 1659303 w 2297172"/>
              <a:gd name="connsiteY3-102" fmla="*/ 707686 h 707686"/>
              <a:gd name="connsiteX4-103" fmla="*/ 0 w 2297172"/>
              <a:gd name="connsiteY4-104" fmla="*/ 707686 h 707686"/>
              <a:gd name="connsiteX0-105" fmla="*/ 0 w 2537015"/>
              <a:gd name="connsiteY0-106" fmla="*/ 707686 h 707686"/>
              <a:gd name="connsiteX1-107" fmla="*/ 8282 w 2537015"/>
              <a:gd name="connsiteY1-108" fmla="*/ 0 h 707686"/>
              <a:gd name="connsiteX2-109" fmla="*/ 2537015 w 2537015"/>
              <a:gd name="connsiteY2-110" fmla="*/ 0 h 707686"/>
              <a:gd name="connsiteX3-111" fmla="*/ 1659303 w 2537015"/>
              <a:gd name="connsiteY3-112" fmla="*/ 707686 h 707686"/>
              <a:gd name="connsiteX4-113" fmla="*/ 0 w 2537015"/>
              <a:gd name="connsiteY4-114" fmla="*/ 707686 h 707686"/>
              <a:gd name="connsiteX0-115" fmla="*/ 0 w 2537015"/>
              <a:gd name="connsiteY0-116" fmla="*/ 707686 h 707686"/>
              <a:gd name="connsiteX1-117" fmla="*/ 8282 w 2537015"/>
              <a:gd name="connsiteY1-118" fmla="*/ 0 h 707686"/>
              <a:gd name="connsiteX2-119" fmla="*/ 2537015 w 2537015"/>
              <a:gd name="connsiteY2-120" fmla="*/ 0 h 707686"/>
              <a:gd name="connsiteX3-121" fmla="*/ 1869165 w 2537015"/>
              <a:gd name="connsiteY3-122" fmla="*/ 707686 h 707686"/>
              <a:gd name="connsiteX4-123" fmla="*/ 0 w 2537015"/>
              <a:gd name="connsiteY4-124" fmla="*/ 707686 h 7076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37015" h="707686">
                <a:moveTo>
                  <a:pt x="0" y="707686"/>
                </a:moveTo>
                <a:cubicBezTo>
                  <a:pt x="2761" y="471791"/>
                  <a:pt x="5521" y="235895"/>
                  <a:pt x="8282" y="0"/>
                </a:cubicBezTo>
                <a:lnTo>
                  <a:pt x="2537015" y="0"/>
                </a:lnTo>
                <a:lnTo>
                  <a:pt x="1869165" y="707686"/>
                </a:lnTo>
                <a:lnTo>
                  <a:pt x="0" y="707686"/>
                </a:lnTo>
                <a:close/>
              </a:path>
            </a:pathLst>
          </a:custGeom>
          <a:solidFill>
            <a:srgbClr val="F6941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p>
        </p:txBody>
      </p:sp>
      <p:cxnSp>
        <p:nvCxnSpPr>
          <p:cNvPr id="9" name="直接连接符 8"/>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lstStyle>
            <a:lvl1pPr>
              <a:defRPr b="1">
                <a:latin typeface="黑体" panose="02010609060101010101" pitchFamily="49" charset="-122"/>
                <a:ea typeface="黑体" panose="02010609060101010101" pitchFamily="49" charset="-122"/>
              </a:defRPr>
            </a:lvl1pPr>
          </a:lstStyle>
          <a:p>
            <a:pPr fontAlgn="auto"/>
            <a:r>
              <a:rPr lang="zh-CN" altLang="en-US" strike="noStrike" noProof="1"/>
              <a:t>单击此处编辑母版标题样式</a:t>
            </a:r>
          </a:p>
        </p:txBody>
      </p:sp>
      <p:sp>
        <p:nvSpPr>
          <p:cNvPr id="3" name="内容占位符 2"/>
          <p:cNvSpPr>
            <a:spLocks noGrp="1"/>
          </p:cNvSpPr>
          <p:nvPr>
            <p:ph idx="1"/>
          </p:nvPr>
        </p:nvSpPr>
        <p:spPr/>
        <p:txBody>
          <a:bodyPr/>
          <a:lstStyle>
            <a:lvl1pPr>
              <a:defRPr sz="2800" b="1">
                <a:latin typeface="黑体" panose="02010609060101010101" pitchFamily="49" charset="-122"/>
                <a:ea typeface="黑体" panose="02010609060101010101" pitchFamily="49" charset="-122"/>
              </a:defRPr>
            </a:lvl1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pPr>
              <a:defRPr/>
            </a:pPr>
            <a:fld id="{E03C2985-DA0A-423A-A02E-2E38F06C445F}" type="datetime1">
              <a:rPr lang="zh-CN" altLang="en-US" smtClean="0"/>
              <a:t>2024/4/23</a:t>
            </a:fld>
            <a:endParaRPr lang="en-US" altLang="zh-CN"/>
          </a:p>
        </p:txBody>
      </p:sp>
      <p:sp>
        <p:nvSpPr>
          <p:cNvPr id="5" name="页脚占位符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pPr>
              <a:defRPr/>
            </a:pPr>
            <a:endParaRPr lang="en-US" altLang="zh-CN"/>
          </a:p>
        </p:txBody>
      </p:sp>
      <p:sp>
        <p:nvSpPr>
          <p:cNvPr id="6" name="灯片编号占位符 5"/>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pPr>
              <a:defRPr/>
            </a:pPr>
            <a:fld id="{A60C455B-B212-44F5-BDE5-4E865130930B}" type="slidenum">
              <a:rPr lang="en-US" altLang="zh-CN" smtClean="0"/>
              <a:t>‹#›</a:t>
            </a:fld>
            <a:endParaRPr lang="en-US" altLang="zh-CN"/>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auto"/>
            <a:r>
              <a:rPr lang="zh-CN" altLang="en-US" strike="noStrike" noProof="1"/>
              <a:t>单击此处编辑母版文本样式</a:t>
            </a:r>
          </a:p>
        </p:txBody>
      </p:sp>
      <p:sp>
        <p:nvSpPr>
          <p:cNvPr id="4" name="日期占位符 3"/>
          <p:cNvSpPr>
            <a:spLocks noGrp="1"/>
          </p:cNvSpPr>
          <p:nvPr>
            <p:ph type="dt" sz="half" idx="10"/>
          </p:nvPr>
        </p:nvSpPr>
        <p:spPr/>
        <p:txBody>
          <a:bodyPr/>
          <a:lstStyle/>
          <a:p>
            <a:pPr>
              <a:defRPr/>
            </a:pPr>
            <a:fld id="{6FB7352C-3D72-49DD-AA22-11A40F7EDD3F}" type="datetime1">
              <a:rPr lang="zh-CN" altLang="en-US" smtClean="0"/>
              <a:t>2024/4/23</a:t>
            </a:fld>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A60C455B-B212-44F5-BDE5-4E865130930B}" type="slidenum">
              <a:rPr lang="en-US" altLang="zh-CN" smtClean="0"/>
              <a:t>‹#›</a:t>
            </a:fld>
            <a:endParaRPr lang="en-US" altLang="zh-CN"/>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日期占位符 4"/>
          <p:cNvSpPr>
            <a:spLocks noGrp="1"/>
          </p:cNvSpPr>
          <p:nvPr>
            <p:ph type="dt" sz="half" idx="10"/>
          </p:nvPr>
        </p:nvSpPr>
        <p:spPr/>
        <p:txBody>
          <a:bodyPr/>
          <a:lstStyle/>
          <a:p>
            <a:pPr>
              <a:defRPr/>
            </a:pPr>
            <a:fld id="{D41953FA-5DB8-4030-80BD-DF448571A828}" type="datetime1">
              <a:rPr lang="zh-CN" altLang="en-US" smtClean="0"/>
              <a:t>2024/4/23</a:t>
            </a:fld>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A60C455B-B212-44F5-BDE5-4E865130930B}" type="slidenum">
              <a:rPr lang="en-US" altLang="zh-CN" smtClean="0"/>
              <a:t>‹#›</a:t>
            </a:fld>
            <a:endParaRPr lang="en-US" altLang="zh-CN"/>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7" name="日期占位符 6"/>
          <p:cNvSpPr>
            <a:spLocks noGrp="1"/>
          </p:cNvSpPr>
          <p:nvPr>
            <p:ph type="dt" sz="half" idx="10"/>
          </p:nvPr>
        </p:nvSpPr>
        <p:spPr/>
        <p:txBody>
          <a:bodyPr/>
          <a:lstStyle/>
          <a:p>
            <a:pPr>
              <a:defRPr/>
            </a:pPr>
            <a:fld id="{B7D03E33-E1A8-40A9-B401-87A197CE39D6}" type="datetime1">
              <a:rPr lang="zh-CN" altLang="en-US" smtClean="0"/>
              <a:t>2024/4/23</a:t>
            </a:fld>
            <a:endParaRPr lang="en-US" altLang="zh-CN"/>
          </a:p>
        </p:txBody>
      </p:sp>
      <p:sp>
        <p:nvSpPr>
          <p:cNvPr id="8" name="页脚占位符 7"/>
          <p:cNvSpPr>
            <a:spLocks noGrp="1"/>
          </p:cNvSpPr>
          <p:nvPr>
            <p:ph type="ftr" sz="quarter" idx="11"/>
          </p:nvPr>
        </p:nvSpPr>
        <p:spPr/>
        <p:txBody>
          <a:bodyPr/>
          <a:lstStyle/>
          <a:p>
            <a:pPr>
              <a:defRPr/>
            </a:pPr>
            <a:endParaRPr lang="en-US" altLang="zh-CN"/>
          </a:p>
        </p:txBody>
      </p:sp>
      <p:sp>
        <p:nvSpPr>
          <p:cNvPr id="9" name="灯片编号占位符 8"/>
          <p:cNvSpPr>
            <a:spLocks noGrp="1"/>
          </p:cNvSpPr>
          <p:nvPr>
            <p:ph type="sldNum" sz="quarter" idx="12"/>
          </p:nvPr>
        </p:nvSpPr>
        <p:spPr/>
        <p:txBody>
          <a:bodyPr/>
          <a:lstStyle/>
          <a:p>
            <a:pPr>
              <a:defRPr/>
            </a:pPr>
            <a:fld id="{A60C455B-B212-44F5-BDE5-4E865130930B}" type="slidenum">
              <a:rPr lang="en-US" altLang="zh-CN" smtClean="0"/>
              <a:t>‹#›</a:t>
            </a:fld>
            <a:endParaRPr lang="en-US" altLang="zh-CN"/>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7" name="矩形 6"/>
          <p:cNvSpPr/>
          <p:nvPr/>
        </p:nvSpPr>
        <p:spPr>
          <a:xfrm>
            <a:off x="0" y="0"/>
            <a:ext cx="9144000" cy="692696"/>
          </a:xfrm>
          <a:prstGeom prst="rect">
            <a:avLst/>
          </a:prstGeom>
          <a:gradFill>
            <a:gsLst>
              <a:gs pos="0">
                <a:schemeClr val="bg1">
                  <a:lumMod val="50000"/>
                </a:schemeClr>
              </a:gs>
              <a:gs pos="100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fontAlgn="auto"/>
            <a:endParaRPr lang="zh-CN" altLang="en-US" strike="noStrike" noProof="1"/>
          </a:p>
        </p:txBody>
      </p:sp>
      <p:sp>
        <p:nvSpPr>
          <p:cNvPr id="6" name="平行四边形 49"/>
          <p:cNvSpPr/>
          <p:nvPr/>
        </p:nvSpPr>
        <p:spPr>
          <a:xfrm>
            <a:off x="-30162" y="-14287"/>
            <a:ext cx="2536825" cy="706438"/>
          </a:xfrm>
          <a:custGeom>
            <a:avLst/>
            <a:gdLst>
              <a:gd name="connsiteX0" fmla="*/ 0 w 1547664"/>
              <a:gd name="connsiteY0" fmla="*/ 692696 h 692696"/>
              <a:gd name="connsiteX1" fmla="*/ 173174 w 1547664"/>
              <a:gd name="connsiteY1" fmla="*/ 0 h 692696"/>
              <a:gd name="connsiteX2" fmla="*/ 1547664 w 1547664"/>
              <a:gd name="connsiteY2" fmla="*/ 0 h 692696"/>
              <a:gd name="connsiteX3" fmla="*/ 1374490 w 1547664"/>
              <a:gd name="connsiteY3" fmla="*/ 692696 h 692696"/>
              <a:gd name="connsiteX4" fmla="*/ 0 w 1547664"/>
              <a:gd name="connsiteY4" fmla="*/ 692696 h 692696"/>
              <a:gd name="connsiteX0-1" fmla="*/ 61228 w 1608892"/>
              <a:gd name="connsiteY0-2" fmla="*/ 722676 h 722676"/>
              <a:gd name="connsiteX1-3" fmla="*/ 234402 w 1608892"/>
              <a:gd name="connsiteY1-4" fmla="*/ 29980 h 722676"/>
              <a:gd name="connsiteX2-5" fmla="*/ 1267 w 1608892"/>
              <a:gd name="connsiteY2-6" fmla="*/ 0 h 722676"/>
              <a:gd name="connsiteX3-7" fmla="*/ 1608892 w 1608892"/>
              <a:gd name="connsiteY3-8" fmla="*/ 29980 h 722676"/>
              <a:gd name="connsiteX4-9" fmla="*/ 1435718 w 1608892"/>
              <a:gd name="connsiteY4-10" fmla="*/ 722676 h 722676"/>
              <a:gd name="connsiteX5" fmla="*/ 61228 w 1608892"/>
              <a:gd name="connsiteY5" fmla="*/ 722676 h 722676"/>
              <a:gd name="connsiteX0-11" fmla="*/ 63273 w 1610937"/>
              <a:gd name="connsiteY0-12" fmla="*/ 722676 h 722676"/>
              <a:gd name="connsiteX1-13" fmla="*/ 56565 w 1610937"/>
              <a:gd name="connsiteY1-14" fmla="*/ 44970 h 722676"/>
              <a:gd name="connsiteX2-15" fmla="*/ 3312 w 1610937"/>
              <a:gd name="connsiteY2-16" fmla="*/ 0 h 722676"/>
              <a:gd name="connsiteX3-17" fmla="*/ 1610937 w 1610937"/>
              <a:gd name="connsiteY3-18" fmla="*/ 29980 h 722676"/>
              <a:gd name="connsiteX4-19" fmla="*/ 1437763 w 1610937"/>
              <a:gd name="connsiteY4-20" fmla="*/ 722676 h 722676"/>
              <a:gd name="connsiteX5-21" fmla="*/ 63273 w 1610937"/>
              <a:gd name="connsiteY5-22" fmla="*/ 722676 h 722676"/>
              <a:gd name="connsiteX0-23" fmla="*/ 63273 w 2075632"/>
              <a:gd name="connsiteY0-24" fmla="*/ 722676 h 722676"/>
              <a:gd name="connsiteX1-25" fmla="*/ 56565 w 2075632"/>
              <a:gd name="connsiteY1-26" fmla="*/ 44970 h 722676"/>
              <a:gd name="connsiteX2-27" fmla="*/ 3312 w 2075632"/>
              <a:gd name="connsiteY2-28" fmla="*/ 0 h 722676"/>
              <a:gd name="connsiteX3-29" fmla="*/ 2075632 w 2075632"/>
              <a:gd name="connsiteY3-30" fmla="*/ 29980 h 722676"/>
              <a:gd name="connsiteX4-31" fmla="*/ 1437763 w 2075632"/>
              <a:gd name="connsiteY4-32" fmla="*/ 722676 h 722676"/>
              <a:gd name="connsiteX5-33" fmla="*/ 63273 w 2075632"/>
              <a:gd name="connsiteY5-34" fmla="*/ 722676 h 722676"/>
              <a:gd name="connsiteX0-35" fmla="*/ 6708 w 2019067"/>
              <a:gd name="connsiteY0-36" fmla="*/ 771160 h 771160"/>
              <a:gd name="connsiteX1-37" fmla="*/ 0 w 2019067"/>
              <a:gd name="connsiteY1-38" fmla="*/ 93454 h 771160"/>
              <a:gd name="connsiteX2-39" fmla="*/ 2019067 w 2019067"/>
              <a:gd name="connsiteY2-40" fmla="*/ 78464 h 771160"/>
              <a:gd name="connsiteX3-41" fmla="*/ 1381198 w 2019067"/>
              <a:gd name="connsiteY3-42" fmla="*/ 771160 h 771160"/>
              <a:gd name="connsiteX4-43" fmla="*/ 6708 w 2019067"/>
              <a:gd name="connsiteY4-44" fmla="*/ 771160 h 771160"/>
              <a:gd name="connsiteX0-45" fmla="*/ 6708 w 2019067"/>
              <a:gd name="connsiteY0-46" fmla="*/ 740785 h 740785"/>
              <a:gd name="connsiteX1-47" fmla="*/ 0 w 2019067"/>
              <a:gd name="connsiteY1-48" fmla="*/ 63079 h 740785"/>
              <a:gd name="connsiteX2-49" fmla="*/ 2019067 w 2019067"/>
              <a:gd name="connsiteY2-50" fmla="*/ 48089 h 740785"/>
              <a:gd name="connsiteX3-51" fmla="*/ 1381198 w 2019067"/>
              <a:gd name="connsiteY3-52" fmla="*/ 740785 h 740785"/>
              <a:gd name="connsiteX4-53" fmla="*/ 6708 w 2019067"/>
              <a:gd name="connsiteY4-54" fmla="*/ 740785 h 740785"/>
              <a:gd name="connsiteX0-55" fmla="*/ 6708 w 2019067"/>
              <a:gd name="connsiteY0-56" fmla="*/ 692696 h 692696"/>
              <a:gd name="connsiteX1-57" fmla="*/ 0 w 2019067"/>
              <a:gd name="connsiteY1-58" fmla="*/ 14990 h 692696"/>
              <a:gd name="connsiteX2-59" fmla="*/ 2019067 w 2019067"/>
              <a:gd name="connsiteY2-60" fmla="*/ 0 h 692696"/>
              <a:gd name="connsiteX3-61" fmla="*/ 1381198 w 2019067"/>
              <a:gd name="connsiteY3-62" fmla="*/ 692696 h 692696"/>
              <a:gd name="connsiteX4-63" fmla="*/ 6708 w 2019067"/>
              <a:gd name="connsiteY4-64" fmla="*/ 692696 h 692696"/>
              <a:gd name="connsiteX0-65" fmla="*/ 21698 w 2034057"/>
              <a:gd name="connsiteY0-66" fmla="*/ 707686 h 707686"/>
              <a:gd name="connsiteX1-67" fmla="*/ 0 w 2034057"/>
              <a:gd name="connsiteY1-68" fmla="*/ 0 h 707686"/>
              <a:gd name="connsiteX2-69" fmla="*/ 2034057 w 2034057"/>
              <a:gd name="connsiteY2-70" fmla="*/ 14990 h 707686"/>
              <a:gd name="connsiteX3-71" fmla="*/ 1396188 w 2034057"/>
              <a:gd name="connsiteY3-72" fmla="*/ 707686 h 707686"/>
              <a:gd name="connsiteX4-73" fmla="*/ 21698 w 2034057"/>
              <a:gd name="connsiteY4-74" fmla="*/ 707686 h 707686"/>
              <a:gd name="connsiteX0-75" fmla="*/ 0 w 2042339"/>
              <a:gd name="connsiteY0-76" fmla="*/ 707686 h 707686"/>
              <a:gd name="connsiteX1-77" fmla="*/ 8282 w 2042339"/>
              <a:gd name="connsiteY1-78" fmla="*/ 0 h 707686"/>
              <a:gd name="connsiteX2-79" fmla="*/ 2042339 w 2042339"/>
              <a:gd name="connsiteY2-80" fmla="*/ 14990 h 707686"/>
              <a:gd name="connsiteX3-81" fmla="*/ 1404470 w 2042339"/>
              <a:gd name="connsiteY3-82" fmla="*/ 707686 h 707686"/>
              <a:gd name="connsiteX4-83" fmla="*/ 0 w 2042339"/>
              <a:gd name="connsiteY4-84" fmla="*/ 707686 h 707686"/>
              <a:gd name="connsiteX0-85" fmla="*/ 0 w 2042339"/>
              <a:gd name="connsiteY0-86" fmla="*/ 707686 h 707686"/>
              <a:gd name="connsiteX1-87" fmla="*/ 8282 w 2042339"/>
              <a:gd name="connsiteY1-88" fmla="*/ 0 h 707686"/>
              <a:gd name="connsiteX2-89" fmla="*/ 2042339 w 2042339"/>
              <a:gd name="connsiteY2-90" fmla="*/ 14990 h 707686"/>
              <a:gd name="connsiteX3-91" fmla="*/ 1659303 w 2042339"/>
              <a:gd name="connsiteY3-92" fmla="*/ 707686 h 707686"/>
              <a:gd name="connsiteX4-93" fmla="*/ 0 w 2042339"/>
              <a:gd name="connsiteY4-94" fmla="*/ 707686 h 707686"/>
              <a:gd name="connsiteX0-95" fmla="*/ 0 w 2297172"/>
              <a:gd name="connsiteY0-96" fmla="*/ 707686 h 707686"/>
              <a:gd name="connsiteX1-97" fmla="*/ 8282 w 2297172"/>
              <a:gd name="connsiteY1-98" fmla="*/ 0 h 707686"/>
              <a:gd name="connsiteX2-99" fmla="*/ 2297172 w 2297172"/>
              <a:gd name="connsiteY2-100" fmla="*/ 0 h 707686"/>
              <a:gd name="connsiteX3-101" fmla="*/ 1659303 w 2297172"/>
              <a:gd name="connsiteY3-102" fmla="*/ 707686 h 707686"/>
              <a:gd name="connsiteX4-103" fmla="*/ 0 w 2297172"/>
              <a:gd name="connsiteY4-104" fmla="*/ 707686 h 707686"/>
              <a:gd name="connsiteX0-105" fmla="*/ 0 w 2537015"/>
              <a:gd name="connsiteY0-106" fmla="*/ 707686 h 707686"/>
              <a:gd name="connsiteX1-107" fmla="*/ 8282 w 2537015"/>
              <a:gd name="connsiteY1-108" fmla="*/ 0 h 707686"/>
              <a:gd name="connsiteX2-109" fmla="*/ 2537015 w 2537015"/>
              <a:gd name="connsiteY2-110" fmla="*/ 0 h 707686"/>
              <a:gd name="connsiteX3-111" fmla="*/ 1659303 w 2537015"/>
              <a:gd name="connsiteY3-112" fmla="*/ 707686 h 707686"/>
              <a:gd name="connsiteX4-113" fmla="*/ 0 w 2537015"/>
              <a:gd name="connsiteY4-114" fmla="*/ 707686 h 707686"/>
              <a:gd name="connsiteX0-115" fmla="*/ 0 w 2537015"/>
              <a:gd name="connsiteY0-116" fmla="*/ 707686 h 707686"/>
              <a:gd name="connsiteX1-117" fmla="*/ 8282 w 2537015"/>
              <a:gd name="connsiteY1-118" fmla="*/ 0 h 707686"/>
              <a:gd name="connsiteX2-119" fmla="*/ 2537015 w 2537015"/>
              <a:gd name="connsiteY2-120" fmla="*/ 0 h 707686"/>
              <a:gd name="connsiteX3-121" fmla="*/ 1869165 w 2537015"/>
              <a:gd name="connsiteY3-122" fmla="*/ 707686 h 707686"/>
              <a:gd name="connsiteX4-123" fmla="*/ 0 w 2537015"/>
              <a:gd name="connsiteY4-124" fmla="*/ 707686 h 7076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37015" h="707686">
                <a:moveTo>
                  <a:pt x="0" y="707686"/>
                </a:moveTo>
                <a:cubicBezTo>
                  <a:pt x="2761" y="471791"/>
                  <a:pt x="5521" y="235895"/>
                  <a:pt x="8282" y="0"/>
                </a:cubicBezTo>
                <a:lnTo>
                  <a:pt x="2537015" y="0"/>
                </a:lnTo>
                <a:lnTo>
                  <a:pt x="1869165" y="707686"/>
                </a:lnTo>
                <a:lnTo>
                  <a:pt x="0" y="707686"/>
                </a:lnTo>
                <a:close/>
              </a:path>
            </a:pathLst>
          </a:custGeom>
          <a:solidFill>
            <a:srgbClr val="F6941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p>
        </p:txBody>
      </p:sp>
      <p:cxnSp>
        <p:nvCxnSpPr>
          <p:cNvPr id="8" name="直接连接符 7"/>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3589040" y="0"/>
            <a:ext cx="5554960" cy="692696"/>
          </a:xfrm>
        </p:spPr>
        <p:txBody>
          <a:bodyPr>
            <a:noAutofit/>
          </a:bodyPr>
          <a:lstStyle>
            <a:lvl1pPr algn="r">
              <a:defRPr sz="360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defRPr>
            </a:lvl1pPr>
          </a:lstStyle>
          <a:p>
            <a:pPr fontAlgn="auto"/>
            <a:r>
              <a:rPr lang="zh-CN" altLang="en-US" strike="noStrike" noProof="1"/>
              <a:t>单击此处编辑母版标题样式</a:t>
            </a:r>
          </a:p>
        </p:txBody>
      </p:sp>
      <p:sp>
        <p:nvSpPr>
          <p:cNvPr id="3" name="日期占位符 2"/>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pPr>
              <a:defRPr/>
            </a:pPr>
            <a:fld id="{702554A5-A581-4AB9-AEA0-FA3C5F0DF619}" type="datetime1">
              <a:rPr lang="zh-CN" altLang="en-US" smtClean="0"/>
              <a:t>2024/4/23</a:t>
            </a:fld>
            <a:endParaRPr lang="en-US" altLang="zh-CN"/>
          </a:p>
        </p:txBody>
      </p:sp>
      <p:sp>
        <p:nvSpPr>
          <p:cNvPr id="4" name="页脚占位符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pPr>
              <a:defRPr/>
            </a:pPr>
            <a:endParaRPr lang="en-US" altLang="zh-CN"/>
          </a:p>
        </p:txBody>
      </p:sp>
      <p:sp>
        <p:nvSpPr>
          <p:cNvPr id="5" name="灯片编号占位符 4"/>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pPr>
              <a:defRPr/>
            </a:pPr>
            <a:fld id="{A60C455B-B212-44F5-BDE5-4E865130930B}" type="slidenum">
              <a:rPr lang="en-US" altLang="zh-CN" smtClean="0"/>
              <a:t>‹#›</a:t>
            </a:fld>
            <a:endParaRPr lang="en-US" altLang="zh-CN"/>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pattFill prst="smGrid">
          <a:fgClr>
            <a:srgbClr val="F2F2F2"/>
          </a:fgClr>
          <a:bgClr>
            <a:schemeClr val="bg1"/>
          </a:bgClr>
        </a:pattFill>
        <a:effectLst/>
      </p:bgPr>
    </p:bg>
    <p:spTree>
      <p:nvGrpSpPr>
        <p:cNvPr id="1" name=""/>
        <p:cNvGrpSpPr/>
        <p:nvPr/>
      </p:nvGrpSpPr>
      <p:grpSpPr>
        <a:xfrm>
          <a:off x="0" y="0"/>
          <a:ext cx="0" cy="0"/>
          <a:chOff x="0" y="0"/>
          <a:chExt cx="0" cy="0"/>
        </a:xfrm>
      </p:grpSpPr>
      <p:cxnSp>
        <p:nvCxnSpPr>
          <p:cNvPr id="7" name="直接连接符 6"/>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日期占位符 1"/>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pPr>
              <a:defRPr/>
            </a:pPr>
            <a:fld id="{9891A0AF-8D07-42A7-B1EB-C2BD93C0D5E5}" type="datetime1">
              <a:rPr lang="zh-CN" altLang="en-US" smtClean="0"/>
              <a:t>2024/4/23</a:t>
            </a:fld>
            <a:endParaRPr lang="en-US" altLang="zh-CN"/>
          </a:p>
        </p:txBody>
      </p:sp>
      <p:sp>
        <p:nvSpPr>
          <p:cNvPr id="3" name="页脚占位符 2"/>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pPr>
              <a:defRPr/>
            </a:pPr>
            <a:endParaRPr lang="en-US" altLang="zh-CN"/>
          </a:p>
        </p:txBody>
      </p:sp>
      <p:sp>
        <p:nvSpPr>
          <p:cNvPr id="4" name="灯片编号占位符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pPr>
              <a:defRPr/>
            </a:pPr>
            <a:fld id="{A60C455B-B212-44F5-BDE5-4E865130930B}" type="slidenum">
              <a:rPr lang="en-US" altLang="zh-CN" smtClean="0"/>
              <a:t>‹#›</a:t>
            </a:fld>
            <a:endParaRPr lang="en-US" altLang="zh-CN"/>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auto"/>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a:defRPr/>
            </a:pPr>
            <a:fld id="{89A53FDE-4960-4598-8A19-D798676052A7}" type="datetime1">
              <a:rPr lang="zh-CN" altLang="en-US" smtClean="0"/>
              <a:t>2024/4/23</a:t>
            </a:fld>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A60C455B-B212-44F5-BDE5-4E865130930B}" type="slidenum">
              <a:rPr lang="en-US" altLang="zh-CN" smtClean="0"/>
              <a:t>‹#›</a:t>
            </a:fld>
            <a:endParaRPr lang="en-US" altLang="zh-CN"/>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auto"/>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fontAlgn="auto"/>
            <a:endParaRPr lang="zh-CN" altLang="en-US" strike="noStrike" noProof="1"/>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a:defRPr/>
            </a:pPr>
            <a:fld id="{64EC92D9-5065-4D74-9A70-DE43FE41D507}" type="datetime1">
              <a:rPr lang="zh-CN" altLang="en-US" smtClean="0"/>
              <a:t>2024/4/23</a:t>
            </a:fld>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A60C455B-B212-44F5-BDE5-4E865130930B}" type="slidenum">
              <a:rPr lang="en-US" altLang="zh-CN" smtClean="0"/>
              <a:t>‹#›</a:t>
            </a:fld>
            <a:endParaRPr lang="en-US" altLang="zh-CN"/>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a:defRPr/>
            </a:pPr>
            <a:fld id="{78D7EF7E-B2EB-447F-B03C-8795FC4C954A}" type="datetime1">
              <a:rPr lang="zh-CN" altLang="en-US" smtClean="0"/>
              <a:t>2024/4/23</a:t>
            </a:fld>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A60C455B-B212-44F5-BDE5-4E865130930B}" type="slidenum">
              <a:rPr lang="en-US" altLang="zh-CN" smtClean="0"/>
              <a:t>‹#›</a:t>
            </a:fld>
            <a:endParaRPr lang="en-US" altLang="zh-CN"/>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a:defRPr/>
            </a:pPr>
            <a:fld id="{FC685964-C6AF-40EC-BE1A-7FA689D160D4}" type="datetime1">
              <a:rPr lang="zh-CN" altLang="en-US" smtClean="0"/>
              <a:t>2024/4/23</a:t>
            </a:fld>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A60C455B-B212-44F5-BDE5-4E865130930B}" type="slidenum">
              <a:rPr lang="en-US" altLang="zh-CN" smtClean="0"/>
              <a:t>‹#›</a:t>
            </a:fld>
            <a:endParaRPr lang="en-US" altLang="zh-CN"/>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vert="horz" lIns="91440" tIns="45720" rIns="91440" bIns="45720" anchor="ctr" anchorCtr="0"/>
          <a:lstStyle/>
          <a:p>
            <a:pPr lvl="0"/>
            <a:r>
              <a:rPr lang="zh-CN" altLang="en-US" dirty="0"/>
              <a:t>单击此处编辑母版标题样式</a:t>
            </a:r>
          </a:p>
        </p:txBody>
      </p:sp>
      <p:sp>
        <p:nvSpPr>
          <p:cNvPr id="1027" name="文本占位符 2"/>
          <p:cNvSpPr>
            <a:spLocks noGrp="1"/>
          </p:cNvSpPr>
          <p:nvPr>
            <p:ph type="body"/>
          </p:nvPr>
        </p:nvSpPr>
        <p:spPr>
          <a:xfrm>
            <a:off x="457200" y="1600200"/>
            <a:ext cx="8229600" cy="4525963"/>
          </a:xfrm>
          <a:prstGeom prst="rect">
            <a:avLst/>
          </a:prstGeom>
          <a:noFill/>
          <a:ln w="9525">
            <a:noFill/>
          </a:ln>
        </p:spPr>
        <p:txBody>
          <a:bodyPr vert="horz" lIns="91440" tIns="45720" rIns="91440" bIns="45720"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77332379-8504-4B52-80B8-13CE9A735353}" type="datetime1">
              <a:rPr lang="zh-CN" altLang="en-US" smtClean="0"/>
              <a:t>2024/4/23</a:t>
            </a:fld>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A60C455B-B212-44F5-BDE5-4E865130930B}" type="slidenum">
              <a:rPr lang="en-US" altLang="zh-CN" smtClean="0"/>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tags" Target="../tags/tag11.xml"/><Relationship Id="rId3" Type="http://schemas.openxmlformats.org/officeDocument/2006/relationships/tags" Target="../tags/tag6.xml"/><Relationship Id="rId7" Type="http://schemas.openxmlformats.org/officeDocument/2006/relationships/tags" Target="../tags/tag10.xml"/><Relationship Id="rId12" Type="http://schemas.openxmlformats.org/officeDocument/2006/relationships/image" Target="../media/image65.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slideLayout" Target="../slideLayouts/slideLayout7.xml"/><Relationship Id="rId5" Type="http://schemas.openxmlformats.org/officeDocument/2006/relationships/tags" Target="../tags/tag8.xml"/><Relationship Id="rId10" Type="http://schemas.openxmlformats.org/officeDocument/2006/relationships/tags" Target="../tags/tag13.xml"/><Relationship Id="rId4" Type="http://schemas.openxmlformats.org/officeDocument/2006/relationships/tags" Target="../tags/tag7.xml"/><Relationship Id="rId9" Type="http://schemas.openxmlformats.org/officeDocument/2006/relationships/tags" Target="../tags/tag12.xml"/></Relationships>
</file>

<file path=ppt/slides/_rels/slide47.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66.emf"/><Relationship Id="rId1" Type="http://schemas.openxmlformats.org/officeDocument/2006/relationships/slideLayout" Target="../slideLayouts/slideLayout7.xml"/><Relationship Id="rId4" Type="http://schemas.openxmlformats.org/officeDocument/2006/relationships/image" Target="../media/image68.emf"/></Relationships>
</file>

<file path=ppt/slides/_rels/slide48.xml.rels><?xml version="1.0" encoding="UTF-8" standalone="yes"?>
<Relationships xmlns="http://schemas.openxmlformats.org/package/2006/relationships"><Relationship Id="rId3" Type="http://schemas.openxmlformats.org/officeDocument/2006/relationships/image" Target="../media/image67.emf"/><Relationship Id="rId7" Type="http://schemas.openxmlformats.org/officeDocument/2006/relationships/image" Target="../media/image71.emf"/><Relationship Id="rId2" Type="http://schemas.openxmlformats.org/officeDocument/2006/relationships/image" Target="../media/image66.emf"/><Relationship Id="rId1" Type="http://schemas.openxmlformats.org/officeDocument/2006/relationships/slideLayout" Target="../slideLayouts/slideLayout7.xml"/><Relationship Id="rId6" Type="http://schemas.openxmlformats.org/officeDocument/2006/relationships/image" Target="../media/image70.emf"/><Relationship Id="rId5" Type="http://schemas.openxmlformats.org/officeDocument/2006/relationships/image" Target="../media/image69.emf"/><Relationship Id="rId4" Type="http://schemas.openxmlformats.org/officeDocument/2006/relationships/image" Target="../media/image68.emf"/></Relationships>
</file>

<file path=ppt/slides/_rels/slide49.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image" Target="../media/image65.png"/><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image" Target="../media/image72.emf"/><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slideLayout" Target="../slideLayouts/slideLayout7.xml"/><Relationship Id="rId5" Type="http://schemas.openxmlformats.org/officeDocument/2006/relationships/tags" Target="../tags/tag18.xml"/><Relationship Id="rId10" Type="http://schemas.openxmlformats.org/officeDocument/2006/relationships/tags" Target="../tags/tag23.xml"/><Relationship Id="rId4" Type="http://schemas.openxmlformats.org/officeDocument/2006/relationships/tags" Target="../tags/tag17.xml"/><Relationship Id="rId9" Type="http://schemas.openxmlformats.org/officeDocument/2006/relationships/tags" Target="../tags/tag22.xml"/></Relationships>
</file>

<file path=ppt/slides/_rels/slide50.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2.emf"/><Relationship Id="rId1" Type="http://schemas.openxmlformats.org/officeDocument/2006/relationships/slideLayout" Target="../slideLayouts/slideLayout7.xml"/><Relationship Id="rId6" Type="http://schemas.openxmlformats.org/officeDocument/2006/relationships/image" Target="../media/image76.emf"/><Relationship Id="rId5" Type="http://schemas.openxmlformats.org/officeDocument/2006/relationships/image" Target="../media/image75.emf"/><Relationship Id="rId4" Type="http://schemas.openxmlformats.org/officeDocument/2006/relationships/image" Target="../media/image74.emf"/></Relationships>
</file>

<file path=ppt/slides/_rels/slide51.xml.rels><?xml version="1.0" encoding="UTF-8" standalone="yes"?>
<Relationships xmlns="http://schemas.openxmlformats.org/package/2006/relationships"><Relationship Id="rId8" Type="http://schemas.openxmlformats.org/officeDocument/2006/relationships/tags" Target="../tags/tag31.xml"/><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image" Target="../media/image65.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image" Target="../media/image77.emf"/><Relationship Id="rId5" Type="http://schemas.openxmlformats.org/officeDocument/2006/relationships/tags" Target="../tags/tag28.xml"/><Relationship Id="rId10" Type="http://schemas.openxmlformats.org/officeDocument/2006/relationships/slideLayout" Target="../slideLayouts/slideLayout7.xml"/><Relationship Id="rId4" Type="http://schemas.openxmlformats.org/officeDocument/2006/relationships/tags" Target="../tags/tag27.xml"/><Relationship Id="rId9" Type="http://schemas.openxmlformats.org/officeDocument/2006/relationships/tags" Target="../tags/tag32.xml"/></Relationships>
</file>

<file path=ppt/slides/_rels/slide52.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image" Target="../media/image73.emf"/><Relationship Id="rId1" Type="http://schemas.openxmlformats.org/officeDocument/2006/relationships/slideLayout" Target="../slideLayouts/slideLayout7.xml"/><Relationship Id="rId6" Type="http://schemas.openxmlformats.org/officeDocument/2006/relationships/image" Target="../media/image77.emf"/><Relationship Id="rId5" Type="http://schemas.openxmlformats.org/officeDocument/2006/relationships/image" Target="../media/image76.emf"/><Relationship Id="rId4" Type="http://schemas.openxmlformats.org/officeDocument/2006/relationships/image" Target="../media/image75.emf"/></Relationships>
</file>

<file path=ppt/slides/_rels/slide53.xml.rels><?xml version="1.0" encoding="UTF-8" standalone="yes"?>
<Relationships xmlns="http://schemas.openxmlformats.org/package/2006/relationships"><Relationship Id="rId8" Type="http://schemas.openxmlformats.org/officeDocument/2006/relationships/tags" Target="../tags/tag40.xml"/><Relationship Id="rId3" Type="http://schemas.openxmlformats.org/officeDocument/2006/relationships/tags" Target="../tags/tag35.xml"/><Relationship Id="rId7" Type="http://schemas.openxmlformats.org/officeDocument/2006/relationships/tags" Target="../tags/tag39.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image" Target="../media/image65.png"/><Relationship Id="rId5" Type="http://schemas.openxmlformats.org/officeDocument/2006/relationships/tags" Target="../tags/tag37.xml"/><Relationship Id="rId10" Type="http://schemas.openxmlformats.org/officeDocument/2006/relationships/slideLayout" Target="../slideLayouts/slideLayout7.xml"/><Relationship Id="rId4" Type="http://schemas.openxmlformats.org/officeDocument/2006/relationships/tags" Target="../tags/tag36.xml"/><Relationship Id="rId9" Type="http://schemas.openxmlformats.org/officeDocument/2006/relationships/tags" Target="../tags/tag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8" Type="http://schemas.openxmlformats.org/officeDocument/2006/relationships/tags" Target="../tags/tag49.xml"/><Relationship Id="rId3" Type="http://schemas.openxmlformats.org/officeDocument/2006/relationships/tags" Target="../tags/tag44.xml"/><Relationship Id="rId7" Type="http://schemas.openxmlformats.org/officeDocument/2006/relationships/tags" Target="../tags/tag48.xml"/><Relationship Id="rId12" Type="http://schemas.openxmlformats.org/officeDocument/2006/relationships/image" Target="../media/image65.png"/><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image" Target="../media/image78.emf"/><Relationship Id="rId5" Type="http://schemas.openxmlformats.org/officeDocument/2006/relationships/tags" Target="../tags/tag46.xml"/><Relationship Id="rId10" Type="http://schemas.openxmlformats.org/officeDocument/2006/relationships/slideLayout" Target="../slideLayouts/slideLayout7.xml"/><Relationship Id="rId4" Type="http://schemas.openxmlformats.org/officeDocument/2006/relationships/tags" Target="../tags/tag45.xml"/><Relationship Id="rId9" Type="http://schemas.openxmlformats.org/officeDocument/2006/relationships/tags" Target="../tags/tag50.xml"/></Relationships>
</file>

<file path=ppt/slides/_rels/slide56.x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8" Type="http://schemas.openxmlformats.org/officeDocument/2006/relationships/tags" Target="../tags/tag58.xml"/><Relationship Id="rId3" Type="http://schemas.openxmlformats.org/officeDocument/2006/relationships/tags" Target="../tags/tag53.xml"/><Relationship Id="rId7" Type="http://schemas.openxmlformats.org/officeDocument/2006/relationships/tags" Target="../tags/tag57.xml"/><Relationship Id="rId12" Type="http://schemas.openxmlformats.org/officeDocument/2006/relationships/image" Target="../media/image65.png"/><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image" Target="../media/image79.emf"/><Relationship Id="rId5" Type="http://schemas.openxmlformats.org/officeDocument/2006/relationships/tags" Target="../tags/tag55.xml"/><Relationship Id="rId10" Type="http://schemas.openxmlformats.org/officeDocument/2006/relationships/slideLayout" Target="../slideLayouts/slideLayout7.xml"/><Relationship Id="rId4" Type="http://schemas.openxmlformats.org/officeDocument/2006/relationships/tags" Target="../tags/tag54.xml"/><Relationship Id="rId9" Type="http://schemas.openxmlformats.org/officeDocument/2006/relationships/tags" Target="../tags/tag59.xml"/></Relationships>
</file>

<file path=ppt/slides/_rels/slide58.x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8" Type="http://schemas.openxmlformats.org/officeDocument/2006/relationships/tags" Target="../tags/tag67.xml"/><Relationship Id="rId3" Type="http://schemas.openxmlformats.org/officeDocument/2006/relationships/tags" Target="../tags/tag62.xml"/><Relationship Id="rId7" Type="http://schemas.openxmlformats.org/officeDocument/2006/relationships/tags" Target="../tags/tag66.xml"/><Relationship Id="rId12" Type="http://schemas.openxmlformats.org/officeDocument/2006/relationships/image" Target="../media/image65.png"/><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image" Target="../media/image80.emf"/><Relationship Id="rId5" Type="http://schemas.openxmlformats.org/officeDocument/2006/relationships/tags" Target="../tags/tag64.xml"/><Relationship Id="rId10" Type="http://schemas.openxmlformats.org/officeDocument/2006/relationships/slideLayout" Target="../slideLayouts/slideLayout7.xml"/><Relationship Id="rId4" Type="http://schemas.openxmlformats.org/officeDocument/2006/relationships/tags" Target="../tags/tag63.xml"/><Relationship Id="rId9" Type="http://schemas.openxmlformats.org/officeDocument/2006/relationships/tags" Target="../tags/tag68.xml"/></Relationships>
</file>

<file path=ppt/slides/_rels/slide60.xml.rels><?xml version="1.0" encoding="UTF-8" standalone="yes"?>
<Relationships xmlns="http://schemas.openxmlformats.org/package/2006/relationships"><Relationship Id="rId2" Type="http://schemas.openxmlformats.org/officeDocument/2006/relationships/image" Target="../media/image80.emf"/><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8" Type="http://schemas.openxmlformats.org/officeDocument/2006/relationships/tags" Target="../tags/tag76.xml"/><Relationship Id="rId13" Type="http://schemas.openxmlformats.org/officeDocument/2006/relationships/image" Target="../media/image65.png"/><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image" Target="../media/image82.emf"/><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image" Target="../media/image81.emf"/><Relationship Id="rId5" Type="http://schemas.openxmlformats.org/officeDocument/2006/relationships/tags" Target="../tags/tag73.xml"/><Relationship Id="rId10" Type="http://schemas.openxmlformats.org/officeDocument/2006/relationships/slideLayout" Target="../slideLayouts/slideLayout7.xml"/><Relationship Id="rId4" Type="http://schemas.openxmlformats.org/officeDocument/2006/relationships/tags" Target="../tags/tag72.xml"/><Relationship Id="rId9" Type="http://schemas.openxmlformats.org/officeDocument/2006/relationships/tags" Target="../tags/tag77.xml"/></Relationships>
</file>

<file path=ppt/slides/_rels/slide62.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image" Target="../media/image81.emf"/><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8" Type="http://schemas.openxmlformats.org/officeDocument/2006/relationships/tags" Target="../tags/tag85.xml"/><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image" Target="../media/image65.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image" Target="../media/image83.emf"/><Relationship Id="rId5" Type="http://schemas.openxmlformats.org/officeDocument/2006/relationships/tags" Target="../tags/tag82.xml"/><Relationship Id="rId10" Type="http://schemas.openxmlformats.org/officeDocument/2006/relationships/slideLayout" Target="../slideLayouts/slideLayout7.xml"/><Relationship Id="rId4" Type="http://schemas.openxmlformats.org/officeDocument/2006/relationships/tags" Target="../tags/tag81.xml"/><Relationship Id="rId9" Type="http://schemas.openxmlformats.org/officeDocument/2006/relationships/tags" Target="../tags/tag86.xml"/></Relationships>
</file>

<file path=ppt/slides/_rels/slide64.xml.rels><?xml version="1.0" encoding="UTF-8" standalone="yes"?>
<Relationships xmlns="http://schemas.openxmlformats.org/package/2006/relationships"><Relationship Id="rId2" Type="http://schemas.openxmlformats.org/officeDocument/2006/relationships/image" Target="../media/image83.emf"/><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tags" Target="../tags/tag94.xml"/><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image" Target="../media/image65.png"/><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image" Target="../media/image84.emf"/><Relationship Id="rId5" Type="http://schemas.openxmlformats.org/officeDocument/2006/relationships/tags" Target="../tags/tag91.xml"/><Relationship Id="rId10" Type="http://schemas.openxmlformats.org/officeDocument/2006/relationships/slideLayout" Target="../slideLayouts/slideLayout7.xml"/><Relationship Id="rId4" Type="http://schemas.openxmlformats.org/officeDocument/2006/relationships/tags" Target="../tags/tag90.xml"/><Relationship Id="rId9" Type="http://schemas.openxmlformats.org/officeDocument/2006/relationships/tags" Target="../tags/tag95.xml"/></Relationships>
</file>

<file path=ppt/slides/_rels/slide67.xml.rels><?xml version="1.0" encoding="UTF-8" standalone="yes"?>
<Relationships xmlns="http://schemas.openxmlformats.org/package/2006/relationships"><Relationship Id="rId2" Type="http://schemas.openxmlformats.org/officeDocument/2006/relationships/image" Target="../media/image84.emf"/><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8" Type="http://schemas.openxmlformats.org/officeDocument/2006/relationships/tags" Target="../tags/tag103.xml"/><Relationship Id="rId13" Type="http://schemas.openxmlformats.org/officeDocument/2006/relationships/image" Target="../media/image65.png"/><Relationship Id="rId3" Type="http://schemas.openxmlformats.org/officeDocument/2006/relationships/tags" Target="../tags/tag98.xml"/><Relationship Id="rId7" Type="http://schemas.openxmlformats.org/officeDocument/2006/relationships/tags" Target="../tags/tag102.xml"/><Relationship Id="rId12" Type="http://schemas.openxmlformats.org/officeDocument/2006/relationships/image" Target="../media/image86.png"/><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image" Target="../media/image85.png"/><Relationship Id="rId5" Type="http://schemas.openxmlformats.org/officeDocument/2006/relationships/tags" Target="../tags/tag100.xml"/><Relationship Id="rId10" Type="http://schemas.openxmlformats.org/officeDocument/2006/relationships/slideLayout" Target="../slideLayouts/slideLayout7.xml"/><Relationship Id="rId4" Type="http://schemas.openxmlformats.org/officeDocument/2006/relationships/tags" Target="../tags/tag99.xml"/><Relationship Id="rId9" Type="http://schemas.openxmlformats.org/officeDocument/2006/relationships/tags" Target="../tags/tag104.xml"/></Relationships>
</file>

<file path=ppt/slides/_rels/slide6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7.xml"/><Relationship Id="rId4" Type="http://schemas.openxmlformats.org/officeDocument/2006/relationships/image" Target="../media/image87.png"/></Relationships>
</file>

<file path=ppt/slides/_rels/slide70.xml.rels><?xml version="1.0" encoding="UTF-8" standalone="yes"?>
<Relationships xmlns="http://schemas.openxmlformats.org/package/2006/relationships"><Relationship Id="rId8" Type="http://schemas.openxmlformats.org/officeDocument/2006/relationships/tags" Target="../tags/tag112.xml"/><Relationship Id="rId3" Type="http://schemas.openxmlformats.org/officeDocument/2006/relationships/tags" Target="../tags/tag107.xml"/><Relationship Id="rId7" Type="http://schemas.openxmlformats.org/officeDocument/2006/relationships/tags" Target="../tags/tag111.xml"/><Relationship Id="rId12" Type="http://schemas.openxmlformats.org/officeDocument/2006/relationships/image" Target="../media/image65.png"/><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11" Type="http://schemas.openxmlformats.org/officeDocument/2006/relationships/image" Target="../media/image88.emf"/><Relationship Id="rId5" Type="http://schemas.openxmlformats.org/officeDocument/2006/relationships/tags" Target="../tags/tag109.xml"/><Relationship Id="rId10" Type="http://schemas.openxmlformats.org/officeDocument/2006/relationships/slideLayout" Target="../slideLayouts/slideLayout7.xml"/><Relationship Id="rId4" Type="http://schemas.openxmlformats.org/officeDocument/2006/relationships/tags" Target="../tags/tag108.xml"/><Relationship Id="rId9" Type="http://schemas.openxmlformats.org/officeDocument/2006/relationships/tags" Target="../tags/tag113.xml"/></Relationships>
</file>

<file path=ppt/slides/_rels/slide71.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image" Target="../media/image89.emf"/><Relationship Id="rId1" Type="http://schemas.openxmlformats.org/officeDocument/2006/relationships/slideLayout" Target="../slideLayouts/slideLayout7.xml"/><Relationship Id="rId5" Type="http://schemas.openxmlformats.org/officeDocument/2006/relationships/image" Target="../media/image88.emf"/><Relationship Id="rId4" Type="http://schemas.openxmlformats.org/officeDocument/2006/relationships/image" Target="../media/image91.emf"/></Relationships>
</file>

<file path=ppt/slides/_rels/slide72.xml.rels><?xml version="1.0" encoding="UTF-8" standalone="yes"?>
<Relationships xmlns="http://schemas.openxmlformats.org/package/2006/relationships"><Relationship Id="rId8" Type="http://schemas.openxmlformats.org/officeDocument/2006/relationships/tags" Target="../tags/tag121.xml"/><Relationship Id="rId13" Type="http://schemas.openxmlformats.org/officeDocument/2006/relationships/image" Target="../media/image65.png"/><Relationship Id="rId3" Type="http://schemas.openxmlformats.org/officeDocument/2006/relationships/tags" Target="../tags/tag116.xml"/><Relationship Id="rId7" Type="http://schemas.openxmlformats.org/officeDocument/2006/relationships/tags" Target="../tags/tag120.xml"/><Relationship Id="rId12" Type="http://schemas.openxmlformats.org/officeDocument/2006/relationships/image" Target="../media/image92.emf"/><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tags" Target="../tags/tag119.xml"/><Relationship Id="rId11" Type="http://schemas.openxmlformats.org/officeDocument/2006/relationships/image" Target="../media/image88.emf"/><Relationship Id="rId5" Type="http://schemas.openxmlformats.org/officeDocument/2006/relationships/tags" Target="../tags/tag118.xml"/><Relationship Id="rId10" Type="http://schemas.openxmlformats.org/officeDocument/2006/relationships/slideLayout" Target="../slideLayouts/slideLayout7.xml"/><Relationship Id="rId4" Type="http://schemas.openxmlformats.org/officeDocument/2006/relationships/tags" Target="../tags/tag117.xml"/><Relationship Id="rId9" Type="http://schemas.openxmlformats.org/officeDocument/2006/relationships/tags" Target="../tags/tag122.xml"/></Relationships>
</file>

<file path=ppt/slides/_rels/slide73.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image" Target="../media/image88.emf"/><Relationship Id="rId1" Type="http://schemas.openxmlformats.org/officeDocument/2006/relationships/slideLayout" Target="../slideLayouts/slideLayout7.xml"/><Relationship Id="rId5" Type="http://schemas.openxmlformats.org/officeDocument/2006/relationships/image" Target="../media/image94.emf"/><Relationship Id="rId4" Type="http://schemas.openxmlformats.org/officeDocument/2006/relationships/image" Target="../media/image93.emf"/></Relationships>
</file>

<file path=ppt/slides/_rels/slide74.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image" Target="../media/image65.png"/><Relationship Id="rId3" Type="http://schemas.openxmlformats.org/officeDocument/2006/relationships/tags" Target="../tags/tag125.xml"/><Relationship Id="rId7" Type="http://schemas.openxmlformats.org/officeDocument/2006/relationships/tags" Target="../tags/tag129.xml"/><Relationship Id="rId12" Type="http://schemas.openxmlformats.org/officeDocument/2006/relationships/image" Target="../media/image95.emf"/><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image" Target="../media/image88.emf"/><Relationship Id="rId5" Type="http://schemas.openxmlformats.org/officeDocument/2006/relationships/tags" Target="../tags/tag127.xml"/><Relationship Id="rId10" Type="http://schemas.openxmlformats.org/officeDocument/2006/relationships/slideLayout" Target="../slideLayouts/slideLayout7.xml"/><Relationship Id="rId4" Type="http://schemas.openxmlformats.org/officeDocument/2006/relationships/tags" Target="../tags/tag126.xml"/><Relationship Id="rId9" Type="http://schemas.openxmlformats.org/officeDocument/2006/relationships/tags" Target="../tags/tag131.xml"/></Relationships>
</file>

<file path=ppt/slides/_rels/slide75.xml.rels><?xml version="1.0" encoding="UTF-8" standalone="yes"?>
<Relationships xmlns="http://schemas.openxmlformats.org/package/2006/relationships"><Relationship Id="rId3" Type="http://schemas.openxmlformats.org/officeDocument/2006/relationships/image" Target="../media/image95.emf"/><Relationship Id="rId2" Type="http://schemas.openxmlformats.org/officeDocument/2006/relationships/image" Target="../media/image88.emf"/><Relationship Id="rId1" Type="http://schemas.openxmlformats.org/officeDocument/2006/relationships/slideLayout" Target="../slideLayouts/slideLayout7.xml"/><Relationship Id="rId6" Type="http://schemas.openxmlformats.org/officeDocument/2006/relationships/image" Target="../media/image98.emf"/><Relationship Id="rId5" Type="http://schemas.openxmlformats.org/officeDocument/2006/relationships/image" Target="../media/image97.emf"/><Relationship Id="rId4" Type="http://schemas.openxmlformats.org/officeDocument/2006/relationships/image" Target="../media/image96.emf"/></Relationships>
</file>

<file path=ppt/slides/_rels/slide76.xml.rels><?xml version="1.0" encoding="UTF-8" standalone="yes"?>
<Relationships xmlns="http://schemas.openxmlformats.org/package/2006/relationships"><Relationship Id="rId8" Type="http://schemas.openxmlformats.org/officeDocument/2006/relationships/tags" Target="../tags/tag139.xml"/><Relationship Id="rId13" Type="http://schemas.openxmlformats.org/officeDocument/2006/relationships/image" Target="../media/image100.emf"/><Relationship Id="rId3" Type="http://schemas.openxmlformats.org/officeDocument/2006/relationships/tags" Target="../tags/tag134.xml"/><Relationship Id="rId7" Type="http://schemas.openxmlformats.org/officeDocument/2006/relationships/tags" Target="../tags/tag138.xml"/><Relationship Id="rId12" Type="http://schemas.openxmlformats.org/officeDocument/2006/relationships/image" Target="../media/image99.emf"/><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tags" Target="../tags/tag137.xml"/><Relationship Id="rId11" Type="http://schemas.openxmlformats.org/officeDocument/2006/relationships/image" Target="../media/image88.emf"/><Relationship Id="rId5" Type="http://schemas.openxmlformats.org/officeDocument/2006/relationships/tags" Target="../tags/tag136.xml"/><Relationship Id="rId15" Type="http://schemas.openxmlformats.org/officeDocument/2006/relationships/image" Target="../media/image65.png"/><Relationship Id="rId10" Type="http://schemas.openxmlformats.org/officeDocument/2006/relationships/slideLayout" Target="../slideLayouts/slideLayout7.xml"/><Relationship Id="rId4" Type="http://schemas.openxmlformats.org/officeDocument/2006/relationships/tags" Target="../tags/tag135.xml"/><Relationship Id="rId9" Type="http://schemas.openxmlformats.org/officeDocument/2006/relationships/tags" Target="../tags/tag140.xml"/><Relationship Id="rId14" Type="http://schemas.openxmlformats.org/officeDocument/2006/relationships/image" Target="../media/image101.emf"/></Relationships>
</file>

<file path=ppt/slides/_rels/slide77.xml.rels><?xml version="1.0" encoding="UTF-8" standalone="yes"?>
<Relationships xmlns="http://schemas.openxmlformats.org/package/2006/relationships"><Relationship Id="rId8" Type="http://schemas.openxmlformats.org/officeDocument/2006/relationships/image" Target="../media/image104.emf"/><Relationship Id="rId3" Type="http://schemas.openxmlformats.org/officeDocument/2006/relationships/image" Target="../media/image99.emf"/><Relationship Id="rId7" Type="http://schemas.openxmlformats.org/officeDocument/2006/relationships/image" Target="../media/image103.emf"/><Relationship Id="rId2" Type="http://schemas.openxmlformats.org/officeDocument/2006/relationships/image" Target="../media/image88.emf"/><Relationship Id="rId1" Type="http://schemas.openxmlformats.org/officeDocument/2006/relationships/slideLayout" Target="../slideLayouts/slideLayout7.xml"/><Relationship Id="rId6" Type="http://schemas.openxmlformats.org/officeDocument/2006/relationships/image" Target="../media/image102.emf"/><Relationship Id="rId5" Type="http://schemas.openxmlformats.org/officeDocument/2006/relationships/image" Target="../media/image101.emf"/><Relationship Id="rId4" Type="http://schemas.openxmlformats.org/officeDocument/2006/relationships/image" Target="../media/image100.emf"/></Relationships>
</file>

<file path=ppt/slides/_rels/slide78.xml.rels><?xml version="1.0" encoding="UTF-8" standalone="yes"?>
<Relationships xmlns="http://schemas.openxmlformats.org/package/2006/relationships"><Relationship Id="rId8" Type="http://schemas.openxmlformats.org/officeDocument/2006/relationships/image" Target="../media/image105.emf"/><Relationship Id="rId3" Type="http://schemas.openxmlformats.org/officeDocument/2006/relationships/image" Target="../media/image99.emf"/><Relationship Id="rId7" Type="http://schemas.openxmlformats.org/officeDocument/2006/relationships/image" Target="../media/image103.emf"/><Relationship Id="rId2" Type="http://schemas.openxmlformats.org/officeDocument/2006/relationships/image" Target="../media/image88.emf"/><Relationship Id="rId1" Type="http://schemas.openxmlformats.org/officeDocument/2006/relationships/slideLayout" Target="../slideLayouts/slideLayout7.xml"/><Relationship Id="rId6" Type="http://schemas.openxmlformats.org/officeDocument/2006/relationships/image" Target="../media/image102.emf"/><Relationship Id="rId11" Type="http://schemas.openxmlformats.org/officeDocument/2006/relationships/image" Target="../media/image108.png"/><Relationship Id="rId5" Type="http://schemas.openxmlformats.org/officeDocument/2006/relationships/image" Target="../media/image101.emf"/><Relationship Id="rId10" Type="http://schemas.openxmlformats.org/officeDocument/2006/relationships/image" Target="../media/image107.png"/><Relationship Id="rId4" Type="http://schemas.openxmlformats.org/officeDocument/2006/relationships/image" Target="../media/image100.emf"/><Relationship Id="rId9" Type="http://schemas.openxmlformats.org/officeDocument/2006/relationships/image" Target="../media/image106.emf"/></Relationships>
</file>

<file path=ppt/slides/_rels/slide79.xml.rels><?xml version="1.0" encoding="UTF-8" standalone="yes"?>
<Relationships xmlns="http://schemas.openxmlformats.org/package/2006/relationships"><Relationship Id="rId8" Type="http://schemas.openxmlformats.org/officeDocument/2006/relationships/image" Target="../media/image109.emf"/><Relationship Id="rId3" Type="http://schemas.openxmlformats.org/officeDocument/2006/relationships/image" Target="../media/image99.emf"/><Relationship Id="rId7" Type="http://schemas.openxmlformats.org/officeDocument/2006/relationships/image" Target="../media/image108.png"/><Relationship Id="rId2" Type="http://schemas.openxmlformats.org/officeDocument/2006/relationships/image" Target="../media/image88.emf"/><Relationship Id="rId1" Type="http://schemas.openxmlformats.org/officeDocument/2006/relationships/slideLayout" Target="../slideLayouts/slideLayout7.xml"/><Relationship Id="rId6" Type="http://schemas.openxmlformats.org/officeDocument/2006/relationships/image" Target="../media/image107.png"/><Relationship Id="rId11" Type="http://schemas.openxmlformats.org/officeDocument/2006/relationships/image" Target="../media/image110.emf"/><Relationship Id="rId5" Type="http://schemas.openxmlformats.org/officeDocument/2006/relationships/image" Target="../media/image101.emf"/><Relationship Id="rId10" Type="http://schemas.openxmlformats.org/officeDocument/2006/relationships/image" Target="../media/image103.emf"/><Relationship Id="rId4" Type="http://schemas.openxmlformats.org/officeDocument/2006/relationships/image" Target="../media/image100.emf"/><Relationship Id="rId9" Type="http://schemas.openxmlformats.org/officeDocument/2006/relationships/image" Target="../media/image102.emf"/></Relationships>
</file>

<file path=ppt/slides/_rels/slide80.xml.rels><?xml version="1.0" encoding="UTF-8" standalone="yes"?>
<Relationships xmlns="http://schemas.openxmlformats.org/package/2006/relationships"><Relationship Id="rId8" Type="http://schemas.openxmlformats.org/officeDocument/2006/relationships/image" Target="../media/image113.emf"/><Relationship Id="rId3" Type="http://schemas.openxmlformats.org/officeDocument/2006/relationships/image" Target="../media/image99.emf"/><Relationship Id="rId7" Type="http://schemas.openxmlformats.org/officeDocument/2006/relationships/image" Target="../media/image112.emf"/><Relationship Id="rId2" Type="http://schemas.openxmlformats.org/officeDocument/2006/relationships/image" Target="../media/image88.emf"/><Relationship Id="rId1" Type="http://schemas.openxmlformats.org/officeDocument/2006/relationships/slideLayout" Target="../slideLayouts/slideLayout7.xml"/><Relationship Id="rId6" Type="http://schemas.openxmlformats.org/officeDocument/2006/relationships/image" Target="../media/image111.emf"/><Relationship Id="rId11" Type="http://schemas.openxmlformats.org/officeDocument/2006/relationships/image" Target="../media/image116.emf"/><Relationship Id="rId5" Type="http://schemas.openxmlformats.org/officeDocument/2006/relationships/image" Target="../media/image101.emf"/><Relationship Id="rId10" Type="http://schemas.openxmlformats.org/officeDocument/2006/relationships/image" Target="../media/image115.emf"/><Relationship Id="rId4" Type="http://schemas.openxmlformats.org/officeDocument/2006/relationships/image" Target="../media/image100.emf"/><Relationship Id="rId9" Type="http://schemas.openxmlformats.org/officeDocument/2006/relationships/image" Target="../media/image114.e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8" Type="http://schemas.openxmlformats.org/officeDocument/2006/relationships/tags" Target="../tags/tag148.xml"/><Relationship Id="rId13" Type="http://schemas.openxmlformats.org/officeDocument/2006/relationships/image" Target="../media/image65.png"/><Relationship Id="rId3" Type="http://schemas.openxmlformats.org/officeDocument/2006/relationships/tags" Target="../tags/tag143.xml"/><Relationship Id="rId7" Type="http://schemas.openxmlformats.org/officeDocument/2006/relationships/tags" Target="../tags/tag147.xml"/><Relationship Id="rId12" Type="http://schemas.openxmlformats.org/officeDocument/2006/relationships/image" Target="../media/image118.emf"/><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tags" Target="../tags/tag146.xml"/><Relationship Id="rId11" Type="http://schemas.openxmlformats.org/officeDocument/2006/relationships/image" Target="../media/image117.emf"/><Relationship Id="rId5" Type="http://schemas.openxmlformats.org/officeDocument/2006/relationships/tags" Target="../tags/tag145.xml"/><Relationship Id="rId10" Type="http://schemas.openxmlformats.org/officeDocument/2006/relationships/slideLayout" Target="../slideLayouts/slideLayout7.xml"/><Relationship Id="rId4" Type="http://schemas.openxmlformats.org/officeDocument/2006/relationships/tags" Target="../tags/tag144.xml"/><Relationship Id="rId9" Type="http://schemas.openxmlformats.org/officeDocument/2006/relationships/tags" Target="../tags/tag149.xml"/></Relationships>
</file>

<file path=ppt/slides/_rels/slide83.xml.rels><?xml version="1.0" encoding="UTF-8" standalone="yes"?>
<Relationships xmlns="http://schemas.openxmlformats.org/package/2006/relationships"><Relationship Id="rId3" Type="http://schemas.openxmlformats.org/officeDocument/2006/relationships/image" Target="../media/image118.emf"/><Relationship Id="rId7" Type="http://schemas.openxmlformats.org/officeDocument/2006/relationships/image" Target="../media/image122.emf"/><Relationship Id="rId2" Type="http://schemas.openxmlformats.org/officeDocument/2006/relationships/image" Target="../media/image117.emf"/><Relationship Id="rId1" Type="http://schemas.openxmlformats.org/officeDocument/2006/relationships/slideLayout" Target="../slideLayouts/slideLayout7.xml"/><Relationship Id="rId6" Type="http://schemas.openxmlformats.org/officeDocument/2006/relationships/image" Target="../media/image121.emf"/><Relationship Id="rId5" Type="http://schemas.openxmlformats.org/officeDocument/2006/relationships/image" Target="../media/image120.emf"/><Relationship Id="rId4" Type="http://schemas.openxmlformats.org/officeDocument/2006/relationships/image" Target="../media/image119.emf"/></Relationships>
</file>

<file path=ppt/slides/_rels/slide84.xml.rels><?xml version="1.0" encoding="UTF-8" standalone="yes"?>
<Relationships xmlns="http://schemas.openxmlformats.org/package/2006/relationships"><Relationship Id="rId8" Type="http://schemas.openxmlformats.org/officeDocument/2006/relationships/tags" Target="../tags/tag157.xml"/><Relationship Id="rId13" Type="http://schemas.openxmlformats.org/officeDocument/2006/relationships/image" Target="../media/image65.png"/><Relationship Id="rId3" Type="http://schemas.openxmlformats.org/officeDocument/2006/relationships/tags" Target="../tags/tag152.xml"/><Relationship Id="rId7" Type="http://schemas.openxmlformats.org/officeDocument/2006/relationships/tags" Target="../tags/tag156.xml"/><Relationship Id="rId12" Type="http://schemas.openxmlformats.org/officeDocument/2006/relationships/image" Target="../media/image123.emf"/><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tags" Target="../tags/tag155.xml"/><Relationship Id="rId11" Type="http://schemas.openxmlformats.org/officeDocument/2006/relationships/image" Target="../media/image118.emf"/><Relationship Id="rId5" Type="http://schemas.openxmlformats.org/officeDocument/2006/relationships/tags" Target="../tags/tag154.xml"/><Relationship Id="rId10" Type="http://schemas.openxmlformats.org/officeDocument/2006/relationships/slideLayout" Target="../slideLayouts/slideLayout7.xml"/><Relationship Id="rId4" Type="http://schemas.openxmlformats.org/officeDocument/2006/relationships/tags" Target="../tags/tag153.xml"/><Relationship Id="rId9" Type="http://schemas.openxmlformats.org/officeDocument/2006/relationships/tags" Target="../tags/tag158.xml"/></Relationships>
</file>

<file path=ppt/slides/_rels/slide85.xml.rels><?xml version="1.0" encoding="UTF-8" standalone="yes"?>
<Relationships xmlns="http://schemas.openxmlformats.org/package/2006/relationships"><Relationship Id="rId3" Type="http://schemas.openxmlformats.org/officeDocument/2006/relationships/image" Target="../media/image123.emf"/><Relationship Id="rId2" Type="http://schemas.openxmlformats.org/officeDocument/2006/relationships/image" Target="../media/image118.emf"/><Relationship Id="rId1" Type="http://schemas.openxmlformats.org/officeDocument/2006/relationships/slideLayout" Target="../slideLayouts/slideLayout7.xml"/><Relationship Id="rId5" Type="http://schemas.openxmlformats.org/officeDocument/2006/relationships/image" Target="../media/image125.emf"/><Relationship Id="rId4" Type="http://schemas.openxmlformats.org/officeDocument/2006/relationships/image" Target="../media/image124.emf"/></Relationships>
</file>

<file path=ppt/slides/_rels/slide86.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image" Target="../media/image65.png"/><Relationship Id="rId3" Type="http://schemas.openxmlformats.org/officeDocument/2006/relationships/tags" Target="../tags/tag161.xml"/><Relationship Id="rId7" Type="http://schemas.openxmlformats.org/officeDocument/2006/relationships/tags" Target="../tags/tag165.xml"/><Relationship Id="rId12" Type="http://schemas.openxmlformats.org/officeDocument/2006/relationships/image" Target="../media/image126.emf"/><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image" Target="../media/image118.emf"/><Relationship Id="rId5" Type="http://schemas.openxmlformats.org/officeDocument/2006/relationships/tags" Target="../tags/tag163.xml"/><Relationship Id="rId10" Type="http://schemas.openxmlformats.org/officeDocument/2006/relationships/slideLayout" Target="../slideLayouts/slideLayout7.xml"/><Relationship Id="rId4" Type="http://schemas.openxmlformats.org/officeDocument/2006/relationships/tags" Target="../tags/tag162.xml"/><Relationship Id="rId9" Type="http://schemas.openxmlformats.org/officeDocument/2006/relationships/tags" Target="../tags/tag167.xml"/></Relationships>
</file>

<file path=ppt/slides/_rels/slide87.xml.rels><?xml version="1.0" encoding="UTF-8" standalone="yes"?>
<Relationships xmlns="http://schemas.openxmlformats.org/package/2006/relationships"><Relationship Id="rId3" Type="http://schemas.openxmlformats.org/officeDocument/2006/relationships/image" Target="../media/image126.emf"/><Relationship Id="rId2" Type="http://schemas.openxmlformats.org/officeDocument/2006/relationships/image" Target="../media/image118.emf"/><Relationship Id="rId1" Type="http://schemas.openxmlformats.org/officeDocument/2006/relationships/slideLayout" Target="../slideLayouts/slideLayout7.xml"/><Relationship Id="rId4" Type="http://schemas.openxmlformats.org/officeDocument/2006/relationships/image" Target="../media/image127.emf"/></Relationships>
</file>

<file path=ppt/slides/_rels/slide88.xml.rels><?xml version="1.0" encoding="UTF-8" standalone="yes"?>
<Relationships xmlns="http://schemas.openxmlformats.org/package/2006/relationships"><Relationship Id="rId8" Type="http://schemas.openxmlformats.org/officeDocument/2006/relationships/tags" Target="../tags/tag175.xml"/><Relationship Id="rId13" Type="http://schemas.openxmlformats.org/officeDocument/2006/relationships/image" Target="../media/image65.png"/><Relationship Id="rId3" Type="http://schemas.openxmlformats.org/officeDocument/2006/relationships/tags" Target="../tags/tag170.xml"/><Relationship Id="rId7" Type="http://schemas.openxmlformats.org/officeDocument/2006/relationships/tags" Target="../tags/tag174.xml"/><Relationship Id="rId12" Type="http://schemas.openxmlformats.org/officeDocument/2006/relationships/image" Target="../media/image128.emf"/><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tags" Target="../tags/tag173.xml"/><Relationship Id="rId11" Type="http://schemas.openxmlformats.org/officeDocument/2006/relationships/image" Target="../media/image118.emf"/><Relationship Id="rId5" Type="http://schemas.openxmlformats.org/officeDocument/2006/relationships/tags" Target="../tags/tag172.xml"/><Relationship Id="rId10" Type="http://schemas.openxmlformats.org/officeDocument/2006/relationships/slideLayout" Target="../slideLayouts/slideLayout7.xml"/><Relationship Id="rId4" Type="http://schemas.openxmlformats.org/officeDocument/2006/relationships/tags" Target="../tags/tag171.xml"/><Relationship Id="rId9" Type="http://schemas.openxmlformats.org/officeDocument/2006/relationships/tags" Target="../tags/tag176.xml"/></Relationships>
</file>

<file path=ppt/slides/_rels/slide89.xml.rels><?xml version="1.0" encoding="UTF-8" standalone="yes"?>
<Relationships xmlns="http://schemas.openxmlformats.org/package/2006/relationships"><Relationship Id="rId3" Type="http://schemas.openxmlformats.org/officeDocument/2006/relationships/image" Target="../media/image128.emf"/><Relationship Id="rId2" Type="http://schemas.openxmlformats.org/officeDocument/2006/relationships/image" Target="../media/image118.emf"/><Relationship Id="rId1" Type="http://schemas.openxmlformats.org/officeDocument/2006/relationships/slideLayout" Target="../slideLayouts/slideLayout7.xml"/><Relationship Id="rId4" Type="http://schemas.openxmlformats.org/officeDocument/2006/relationships/image" Target="../media/image129.emf"/></Relationships>
</file>

<file path=ppt/slides/_rels/slide90.xml.rels><?xml version="1.0" encoding="UTF-8" standalone="yes"?>
<Relationships xmlns="http://schemas.openxmlformats.org/package/2006/relationships"><Relationship Id="rId8" Type="http://schemas.openxmlformats.org/officeDocument/2006/relationships/tags" Target="../tags/tag184.xml"/><Relationship Id="rId13" Type="http://schemas.openxmlformats.org/officeDocument/2006/relationships/image" Target="../media/image65.png"/><Relationship Id="rId3" Type="http://schemas.openxmlformats.org/officeDocument/2006/relationships/tags" Target="../tags/tag179.xml"/><Relationship Id="rId7" Type="http://schemas.openxmlformats.org/officeDocument/2006/relationships/tags" Target="../tags/tag183.xml"/><Relationship Id="rId12" Type="http://schemas.openxmlformats.org/officeDocument/2006/relationships/image" Target="../media/image130.emf"/><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tags" Target="../tags/tag182.xml"/><Relationship Id="rId11" Type="http://schemas.openxmlformats.org/officeDocument/2006/relationships/image" Target="../media/image118.emf"/><Relationship Id="rId5" Type="http://schemas.openxmlformats.org/officeDocument/2006/relationships/tags" Target="../tags/tag181.xml"/><Relationship Id="rId10" Type="http://schemas.openxmlformats.org/officeDocument/2006/relationships/slideLayout" Target="../slideLayouts/slideLayout7.xml"/><Relationship Id="rId4" Type="http://schemas.openxmlformats.org/officeDocument/2006/relationships/tags" Target="../tags/tag180.xml"/><Relationship Id="rId9" Type="http://schemas.openxmlformats.org/officeDocument/2006/relationships/tags" Target="../tags/tag185.xml"/></Relationships>
</file>

<file path=ppt/slides/_rels/slide91.xml.rels><?xml version="1.0" encoding="UTF-8" standalone="yes"?>
<Relationships xmlns="http://schemas.openxmlformats.org/package/2006/relationships"><Relationship Id="rId3" Type="http://schemas.openxmlformats.org/officeDocument/2006/relationships/image" Target="../media/image130.emf"/><Relationship Id="rId2" Type="http://schemas.openxmlformats.org/officeDocument/2006/relationships/image" Target="../media/image118.emf"/><Relationship Id="rId1" Type="http://schemas.openxmlformats.org/officeDocument/2006/relationships/slideLayout" Target="../slideLayouts/slideLayout7.xml"/><Relationship Id="rId6" Type="http://schemas.openxmlformats.org/officeDocument/2006/relationships/image" Target="../media/image133.emf"/><Relationship Id="rId5" Type="http://schemas.openxmlformats.org/officeDocument/2006/relationships/image" Target="../media/image132.emf"/><Relationship Id="rId4" Type="http://schemas.openxmlformats.org/officeDocument/2006/relationships/image" Target="../media/image131.emf"/></Relationships>
</file>

<file path=ppt/slides/_rels/slide92.xml.rels><?xml version="1.0" encoding="UTF-8" standalone="yes"?>
<Relationships xmlns="http://schemas.openxmlformats.org/package/2006/relationships"><Relationship Id="rId8" Type="http://schemas.openxmlformats.org/officeDocument/2006/relationships/tags" Target="../tags/tag193.xml"/><Relationship Id="rId13" Type="http://schemas.openxmlformats.org/officeDocument/2006/relationships/image" Target="../media/image65.png"/><Relationship Id="rId3" Type="http://schemas.openxmlformats.org/officeDocument/2006/relationships/tags" Target="../tags/tag188.xml"/><Relationship Id="rId7" Type="http://schemas.openxmlformats.org/officeDocument/2006/relationships/tags" Target="../tags/tag192.xml"/><Relationship Id="rId12" Type="http://schemas.openxmlformats.org/officeDocument/2006/relationships/image" Target="../media/image134.emf"/><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tags" Target="../tags/tag191.xml"/><Relationship Id="rId11" Type="http://schemas.openxmlformats.org/officeDocument/2006/relationships/image" Target="../media/image118.emf"/><Relationship Id="rId5" Type="http://schemas.openxmlformats.org/officeDocument/2006/relationships/tags" Target="../tags/tag190.xml"/><Relationship Id="rId10" Type="http://schemas.openxmlformats.org/officeDocument/2006/relationships/slideLayout" Target="../slideLayouts/slideLayout7.xml"/><Relationship Id="rId4" Type="http://schemas.openxmlformats.org/officeDocument/2006/relationships/tags" Target="../tags/tag189.xml"/><Relationship Id="rId9" Type="http://schemas.openxmlformats.org/officeDocument/2006/relationships/tags" Target="../tags/tag194.xml"/></Relationships>
</file>

<file path=ppt/slides/_rels/slide93.xml.rels><?xml version="1.0" encoding="UTF-8" standalone="yes"?>
<Relationships xmlns="http://schemas.openxmlformats.org/package/2006/relationships"><Relationship Id="rId8" Type="http://schemas.openxmlformats.org/officeDocument/2006/relationships/image" Target="../media/image139.emf"/><Relationship Id="rId3" Type="http://schemas.openxmlformats.org/officeDocument/2006/relationships/image" Target="../media/image134.emf"/><Relationship Id="rId7" Type="http://schemas.openxmlformats.org/officeDocument/2006/relationships/image" Target="../media/image138.emf"/><Relationship Id="rId2" Type="http://schemas.openxmlformats.org/officeDocument/2006/relationships/image" Target="../media/image118.emf"/><Relationship Id="rId1" Type="http://schemas.openxmlformats.org/officeDocument/2006/relationships/slideLayout" Target="../slideLayouts/slideLayout7.xml"/><Relationship Id="rId6" Type="http://schemas.openxmlformats.org/officeDocument/2006/relationships/image" Target="../media/image137.emf"/><Relationship Id="rId5" Type="http://schemas.openxmlformats.org/officeDocument/2006/relationships/image" Target="../media/image136.emf"/><Relationship Id="rId4" Type="http://schemas.openxmlformats.org/officeDocument/2006/relationships/image" Target="../media/image135.emf"/></Relationships>
</file>

<file path=ppt/slides/_rels/slide94.xml.rels><?xml version="1.0" encoding="UTF-8" standalone="yes"?>
<Relationships xmlns="http://schemas.openxmlformats.org/package/2006/relationships"><Relationship Id="rId3" Type="http://schemas.openxmlformats.org/officeDocument/2006/relationships/image" Target="../media/image134.emf"/><Relationship Id="rId2" Type="http://schemas.openxmlformats.org/officeDocument/2006/relationships/image" Target="../media/image118.emf"/><Relationship Id="rId1" Type="http://schemas.openxmlformats.org/officeDocument/2006/relationships/slideLayout" Target="../slideLayouts/slideLayout7.xml"/><Relationship Id="rId4" Type="http://schemas.openxmlformats.org/officeDocument/2006/relationships/image" Target="../media/image140.emf"/></Relationships>
</file>

<file path=ppt/slides/_rels/slide95.xml.rels><?xml version="1.0" encoding="UTF-8" standalone="yes"?>
<Relationships xmlns="http://schemas.openxmlformats.org/package/2006/relationships"><Relationship Id="rId8" Type="http://schemas.openxmlformats.org/officeDocument/2006/relationships/image" Target="../media/image145.emf"/><Relationship Id="rId3" Type="http://schemas.openxmlformats.org/officeDocument/2006/relationships/image" Target="../media/image134.emf"/><Relationship Id="rId7" Type="http://schemas.openxmlformats.org/officeDocument/2006/relationships/image" Target="../media/image144.emf"/><Relationship Id="rId2" Type="http://schemas.openxmlformats.org/officeDocument/2006/relationships/image" Target="../media/image118.emf"/><Relationship Id="rId1" Type="http://schemas.openxmlformats.org/officeDocument/2006/relationships/slideLayout" Target="../slideLayouts/slideLayout7.xml"/><Relationship Id="rId6" Type="http://schemas.openxmlformats.org/officeDocument/2006/relationships/image" Target="../media/image143.emf"/><Relationship Id="rId5" Type="http://schemas.openxmlformats.org/officeDocument/2006/relationships/image" Target="../media/image142.emf"/><Relationship Id="rId4" Type="http://schemas.openxmlformats.org/officeDocument/2006/relationships/image" Target="../media/image141.emf"/><Relationship Id="rId9" Type="http://schemas.openxmlformats.org/officeDocument/2006/relationships/image" Target="../media/image146.emf"/></Relationships>
</file>

<file path=ppt/slides/_rels/slide96.xml.rels><?xml version="1.0" encoding="UTF-8" standalone="yes"?>
<Relationships xmlns="http://schemas.openxmlformats.org/package/2006/relationships"><Relationship Id="rId8" Type="http://schemas.openxmlformats.org/officeDocument/2006/relationships/image" Target="../media/image150.emf"/><Relationship Id="rId3" Type="http://schemas.openxmlformats.org/officeDocument/2006/relationships/image" Target="../media/image134.emf"/><Relationship Id="rId7" Type="http://schemas.openxmlformats.org/officeDocument/2006/relationships/image" Target="../media/image149.emf"/><Relationship Id="rId2" Type="http://schemas.openxmlformats.org/officeDocument/2006/relationships/image" Target="../media/image118.emf"/><Relationship Id="rId1" Type="http://schemas.openxmlformats.org/officeDocument/2006/relationships/slideLayout" Target="../slideLayouts/slideLayout7.xml"/><Relationship Id="rId6" Type="http://schemas.openxmlformats.org/officeDocument/2006/relationships/image" Target="../media/image148.emf"/><Relationship Id="rId5" Type="http://schemas.openxmlformats.org/officeDocument/2006/relationships/image" Target="../media/image147.emf"/><Relationship Id="rId4" Type="http://schemas.openxmlformats.org/officeDocument/2006/relationships/image" Target="../media/image146.emf"/><Relationship Id="rId9" Type="http://schemas.openxmlformats.org/officeDocument/2006/relationships/image" Target="../media/image151.emf"/></Relationships>
</file>

<file path=ppt/slides/_rels/slide97.xml.rels><?xml version="1.0" encoding="UTF-8" standalone="yes"?>
<Relationships xmlns="http://schemas.openxmlformats.org/package/2006/relationships"><Relationship Id="rId8" Type="http://schemas.openxmlformats.org/officeDocument/2006/relationships/tags" Target="../tags/tag202.xml"/><Relationship Id="rId13" Type="http://schemas.openxmlformats.org/officeDocument/2006/relationships/image" Target="../media/image65.png"/><Relationship Id="rId3" Type="http://schemas.openxmlformats.org/officeDocument/2006/relationships/tags" Target="../tags/tag197.xml"/><Relationship Id="rId7" Type="http://schemas.openxmlformats.org/officeDocument/2006/relationships/tags" Target="../tags/tag201.xml"/><Relationship Id="rId12" Type="http://schemas.openxmlformats.org/officeDocument/2006/relationships/image" Target="../media/image152.emf"/><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tags" Target="../tags/tag200.xml"/><Relationship Id="rId11" Type="http://schemas.openxmlformats.org/officeDocument/2006/relationships/image" Target="../media/image118.emf"/><Relationship Id="rId5" Type="http://schemas.openxmlformats.org/officeDocument/2006/relationships/tags" Target="../tags/tag199.xml"/><Relationship Id="rId10" Type="http://schemas.openxmlformats.org/officeDocument/2006/relationships/slideLayout" Target="../slideLayouts/slideLayout7.xml"/><Relationship Id="rId4" Type="http://schemas.openxmlformats.org/officeDocument/2006/relationships/tags" Target="../tags/tag198.xml"/><Relationship Id="rId9" Type="http://schemas.openxmlformats.org/officeDocument/2006/relationships/tags" Target="../tags/tag203.xml"/></Relationships>
</file>

<file path=ppt/slides/_rels/slide98.xml.rels><?xml version="1.0" encoding="UTF-8" standalone="yes"?>
<Relationships xmlns="http://schemas.openxmlformats.org/package/2006/relationships"><Relationship Id="rId3" Type="http://schemas.openxmlformats.org/officeDocument/2006/relationships/image" Target="../media/image152.emf"/><Relationship Id="rId2" Type="http://schemas.openxmlformats.org/officeDocument/2006/relationships/image" Target="../media/image118.emf"/><Relationship Id="rId1" Type="http://schemas.openxmlformats.org/officeDocument/2006/relationships/slideLayout" Target="../slideLayouts/slideLayout7.xml"/><Relationship Id="rId4" Type="http://schemas.openxmlformats.org/officeDocument/2006/relationships/image" Target="../media/image153.emf"/></Relationships>
</file>

<file path=ppt/slides/_rels/slide99.xml.rels><?xml version="1.0" encoding="UTF-8" standalone="yes"?>
<Relationships xmlns="http://schemas.openxmlformats.org/package/2006/relationships"><Relationship Id="rId8" Type="http://schemas.openxmlformats.org/officeDocument/2006/relationships/tags" Target="../tags/tag211.xml"/><Relationship Id="rId13" Type="http://schemas.openxmlformats.org/officeDocument/2006/relationships/image" Target="../media/image65.png"/><Relationship Id="rId3" Type="http://schemas.openxmlformats.org/officeDocument/2006/relationships/tags" Target="../tags/tag206.xml"/><Relationship Id="rId7" Type="http://schemas.openxmlformats.org/officeDocument/2006/relationships/tags" Target="../tags/tag210.xml"/><Relationship Id="rId12" Type="http://schemas.openxmlformats.org/officeDocument/2006/relationships/image" Target="../media/image154.emf"/><Relationship Id="rId2" Type="http://schemas.openxmlformats.org/officeDocument/2006/relationships/tags" Target="../tags/tag205.xml"/><Relationship Id="rId1" Type="http://schemas.openxmlformats.org/officeDocument/2006/relationships/tags" Target="../tags/tag204.xml"/><Relationship Id="rId6" Type="http://schemas.openxmlformats.org/officeDocument/2006/relationships/tags" Target="../tags/tag209.xml"/><Relationship Id="rId11" Type="http://schemas.openxmlformats.org/officeDocument/2006/relationships/image" Target="../media/image118.emf"/><Relationship Id="rId5" Type="http://schemas.openxmlformats.org/officeDocument/2006/relationships/tags" Target="../tags/tag208.xml"/><Relationship Id="rId10" Type="http://schemas.openxmlformats.org/officeDocument/2006/relationships/slideLayout" Target="../slideLayouts/slideLayout7.xml"/><Relationship Id="rId4" Type="http://schemas.openxmlformats.org/officeDocument/2006/relationships/tags" Target="../tags/tag207.xml"/><Relationship Id="rId9" Type="http://schemas.openxmlformats.org/officeDocument/2006/relationships/tags" Target="../tags/tag212.xml"/></Relationships>
</file>

<file path=ppt/slides/_rels/slide100.xml.rels><?xml version="1.0" encoding="UTF-8" standalone="yes"?>
<Relationships xmlns="http://schemas.openxmlformats.org/package/2006/relationships"><Relationship Id="rId3" Type="http://schemas.openxmlformats.org/officeDocument/2006/relationships/image" Target="../media/image154.emf"/><Relationship Id="rId2" Type="http://schemas.openxmlformats.org/officeDocument/2006/relationships/image" Target="../media/image118.emf"/><Relationship Id="rId1" Type="http://schemas.openxmlformats.org/officeDocument/2006/relationships/slideLayout" Target="../slideLayouts/slideLayout7.xml"/><Relationship Id="rId4" Type="http://schemas.openxmlformats.org/officeDocument/2006/relationships/image" Target="../media/image155.emf"/></Relationships>
</file>

<file path=ppt/slides/_rels/slide101.xml.rels><?xml version="1.0" encoding="UTF-8" standalone="yes"?>
<Relationships xmlns="http://schemas.openxmlformats.org/package/2006/relationships"><Relationship Id="rId8" Type="http://schemas.openxmlformats.org/officeDocument/2006/relationships/tags" Target="../tags/tag220.xml"/><Relationship Id="rId13" Type="http://schemas.openxmlformats.org/officeDocument/2006/relationships/image" Target="../media/image65.png"/><Relationship Id="rId3" Type="http://schemas.openxmlformats.org/officeDocument/2006/relationships/tags" Target="../tags/tag215.xml"/><Relationship Id="rId7" Type="http://schemas.openxmlformats.org/officeDocument/2006/relationships/tags" Target="../tags/tag219.xml"/><Relationship Id="rId12" Type="http://schemas.openxmlformats.org/officeDocument/2006/relationships/image" Target="../media/image156.emf"/><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tags" Target="../tags/tag218.xml"/><Relationship Id="rId11" Type="http://schemas.openxmlformats.org/officeDocument/2006/relationships/image" Target="../media/image118.emf"/><Relationship Id="rId5" Type="http://schemas.openxmlformats.org/officeDocument/2006/relationships/tags" Target="../tags/tag217.xml"/><Relationship Id="rId10" Type="http://schemas.openxmlformats.org/officeDocument/2006/relationships/slideLayout" Target="../slideLayouts/slideLayout7.xml"/><Relationship Id="rId4" Type="http://schemas.openxmlformats.org/officeDocument/2006/relationships/tags" Target="../tags/tag216.xml"/><Relationship Id="rId9" Type="http://schemas.openxmlformats.org/officeDocument/2006/relationships/tags" Target="../tags/tag221.xml"/></Relationships>
</file>

<file path=ppt/slides/_rels/slide102.xml.rels><?xml version="1.0" encoding="UTF-8" standalone="yes"?>
<Relationships xmlns="http://schemas.openxmlformats.org/package/2006/relationships"><Relationship Id="rId3" Type="http://schemas.openxmlformats.org/officeDocument/2006/relationships/image" Target="../media/image156.emf"/><Relationship Id="rId2" Type="http://schemas.openxmlformats.org/officeDocument/2006/relationships/image" Target="../media/image118.emf"/><Relationship Id="rId1" Type="http://schemas.openxmlformats.org/officeDocument/2006/relationships/slideLayout" Target="../slideLayouts/slideLayout7.xml"/><Relationship Id="rId4" Type="http://schemas.openxmlformats.org/officeDocument/2006/relationships/image" Target="../media/image157.emf"/></Relationships>
</file>

<file path=ppt/slides/_rels/slide103.xml.rels><?xml version="1.0" encoding="UTF-8" standalone="yes"?>
<Relationships xmlns="http://schemas.openxmlformats.org/package/2006/relationships"><Relationship Id="rId8" Type="http://schemas.openxmlformats.org/officeDocument/2006/relationships/tags" Target="../tags/tag229.xml"/><Relationship Id="rId13" Type="http://schemas.openxmlformats.org/officeDocument/2006/relationships/image" Target="../media/image159.emf"/><Relationship Id="rId3" Type="http://schemas.openxmlformats.org/officeDocument/2006/relationships/tags" Target="../tags/tag224.xml"/><Relationship Id="rId7" Type="http://schemas.openxmlformats.org/officeDocument/2006/relationships/tags" Target="../tags/tag228.xml"/><Relationship Id="rId12" Type="http://schemas.openxmlformats.org/officeDocument/2006/relationships/image" Target="../media/image158.emf"/><Relationship Id="rId2" Type="http://schemas.openxmlformats.org/officeDocument/2006/relationships/tags" Target="../tags/tag223.xml"/><Relationship Id="rId1" Type="http://schemas.openxmlformats.org/officeDocument/2006/relationships/tags" Target="../tags/tag222.xml"/><Relationship Id="rId6" Type="http://schemas.openxmlformats.org/officeDocument/2006/relationships/tags" Target="../tags/tag227.xml"/><Relationship Id="rId11" Type="http://schemas.openxmlformats.org/officeDocument/2006/relationships/image" Target="../media/image118.emf"/><Relationship Id="rId5" Type="http://schemas.openxmlformats.org/officeDocument/2006/relationships/tags" Target="../tags/tag226.xml"/><Relationship Id="rId10" Type="http://schemas.openxmlformats.org/officeDocument/2006/relationships/slideLayout" Target="../slideLayouts/slideLayout7.xml"/><Relationship Id="rId4" Type="http://schemas.openxmlformats.org/officeDocument/2006/relationships/tags" Target="../tags/tag225.xml"/><Relationship Id="rId9" Type="http://schemas.openxmlformats.org/officeDocument/2006/relationships/tags" Target="../tags/tag230.xml"/><Relationship Id="rId14" Type="http://schemas.openxmlformats.org/officeDocument/2006/relationships/image" Target="../media/image65.png"/></Relationships>
</file>

<file path=ppt/slides/_rels/slide104.xml.rels><?xml version="1.0" encoding="UTF-8" standalone="yes"?>
<Relationships xmlns="http://schemas.openxmlformats.org/package/2006/relationships"><Relationship Id="rId8" Type="http://schemas.openxmlformats.org/officeDocument/2006/relationships/image" Target="../media/image163.emf"/><Relationship Id="rId3" Type="http://schemas.openxmlformats.org/officeDocument/2006/relationships/image" Target="../media/image158.emf"/><Relationship Id="rId7" Type="http://schemas.openxmlformats.org/officeDocument/2006/relationships/image" Target="../media/image162.emf"/><Relationship Id="rId2" Type="http://schemas.openxmlformats.org/officeDocument/2006/relationships/image" Target="../media/image118.emf"/><Relationship Id="rId1" Type="http://schemas.openxmlformats.org/officeDocument/2006/relationships/slideLayout" Target="../slideLayouts/slideLayout7.xml"/><Relationship Id="rId6" Type="http://schemas.openxmlformats.org/officeDocument/2006/relationships/image" Target="../media/image161.emf"/><Relationship Id="rId11" Type="http://schemas.openxmlformats.org/officeDocument/2006/relationships/image" Target="../media/image166.emf"/><Relationship Id="rId5" Type="http://schemas.openxmlformats.org/officeDocument/2006/relationships/image" Target="../media/image160.emf"/><Relationship Id="rId10" Type="http://schemas.openxmlformats.org/officeDocument/2006/relationships/image" Target="../media/image165.emf"/><Relationship Id="rId4" Type="http://schemas.openxmlformats.org/officeDocument/2006/relationships/image" Target="../media/image159.emf"/><Relationship Id="rId9" Type="http://schemas.openxmlformats.org/officeDocument/2006/relationships/image" Target="../media/image164.emf"/></Relationships>
</file>

<file path=ppt/slides/_rels/slide105.xml.rels><?xml version="1.0" encoding="UTF-8" standalone="yes"?>
<Relationships xmlns="http://schemas.openxmlformats.org/package/2006/relationships"><Relationship Id="rId8" Type="http://schemas.openxmlformats.org/officeDocument/2006/relationships/image" Target="../media/image166.emf"/><Relationship Id="rId3" Type="http://schemas.openxmlformats.org/officeDocument/2006/relationships/image" Target="../media/image158.emf"/><Relationship Id="rId7" Type="http://schemas.openxmlformats.org/officeDocument/2006/relationships/image" Target="../media/image169.emf"/><Relationship Id="rId2" Type="http://schemas.openxmlformats.org/officeDocument/2006/relationships/image" Target="../media/image118.emf"/><Relationship Id="rId1" Type="http://schemas.openxmlformats.org/officeDocument/2006/relationships/slideLayout" Target="../slideLayouts/slideLayout7.xml"/><Relationship Id="rId6" Type="http://schemas.openxmlformats.org/officeDocument/2006/relationships/image" Target="../media/image168.emf"/><Relationship Id="rId5" Type="http://schemas.openxmlformats.org/officeDocument/2006/relationships/image" Target="../media/image167.emf"/><Relationship Id="rId4" Type="http://schemas.openxmlformats.org/officeDocument/2006/relationships/image" Target="../media/image159.emf"/><Relationship Id="rId9" Type="http://schemas.openxmlformats.org/officeDocument/2006/relationships/image" Target="../media/image170.emf"/></Relationships>
</file>

<file path=ppt/slides/_rels/slide106.xml.rels><?xml version="1.0" encoding="UTF-8" standalone="yes"?>
<Relationships xmlns="http://schemas.openxmlformats.org/package/2006/relationships"><Relationship Id="rId8" Type="http://schemas.openxmlformats.org/officeDocument/2006/relationships/tags" Target="../tags/tag238.xml"/><Relationship Id="rId13" Type="http://schemas.openxmlformats.org/officeDocument/2006/relationships/image" Target="../media/image65.png"/><Relationship Id="rId3" Type="http://schemas.openxmlformats.org/officeDocument/2006/relationships/tags" Target="../tags/tag233.xml"/><Relationship Id="rId7" Type="http://schemas.openxmlformats.org/officeDocument/2006/relationships/tags" Target="../tags/tag237.xml"/><Relationship Id="rId12" Type="http://schemas.openxmlformats.org/officeDocument/2006/relationships/image" Target="../media/image171.emf"/><Relationship Id="rId2" Type="http://schemas.openxmlformats.org/officeDocument/2006/relationships/tags" Target="../tags/tag232.xml"/><Relationship Id="rId1" Type="http://schemas.openxmlformats.org/officeDocument/2006/relationships/tags" Target="../tags/tag231.xml"/><Relationship Id="rId6" Type="http://schemas.openxmlformats.org/officeDocument/2006/relationships/tags" Target="../tags/tag236.xml"/><Relationship Id="rId11" Type="http://schemas.openxmlformats.org/officeDocument/2006/relationships/image" Target="../media/image118.emf"/><Relationship Id="rId5" Type="http://schemas.openxmlformats.org/officeDocument/2006/relationships/tags" Target="../tags/tag235.xml"/><Relationship Id="rId10" Type="http://schemas.openxmlformats.org/officeDocument/2006/relationships/slideLayout" Target="../slideLayouts/slideLayout7.xml"/><Relationship Id="rId4" Type="http://schemas.openxmlformats.org/officeDocument/2006/relationships/tags" Target="../tags/tag234.xml"/><Relationship Id="rId9" Type="http://schemas.openxmlformats.org/officeDocument/2006/relationships/tags" Target="../tags/tag239.xml"/></Relationships>
</file>

<file path=ppt/slides/_rels/slide107.xml.rels><?xml version="1.0" encoding="UTF-8" standalone="yes"?>
<Relationships xmlns="http://schemas.openxmlformats.org/package/2006/relationships"><Relationship Id="rId3" Type="http://schemas.openxmlformats.org/officeDocument/2006/relationships/image" Target="../media/image171.emf"/><Relationship Id="rId2" Type="http://schemas.openxmlformats.org/officeDocument/2006/relationships/image" Target="../media/image118.emf"/><Relationship Id="rId1" Type="http://schemas.openxmlformats.org/officeDocument/2006/relationships/slideLayout" Target="../slideLayouts/slideLayout7.xml"/><Relationship Id="rId5" Type="http://schemas.openxmlformats.org/officeDocument/2006/relationships/image" Target="../media/image173.emf"/><Relationship Id="rId4" Type="http://schemas.openxmlformats.org/officeDocument/2006/relationships/image" Target="../media/image172.emf"/></Relationships>
</file>

<file path=ppt/slides/_rels/slide108.xml.rels><?xml version="1.0" encoding="UTF-8" standalone="yes"?>
<Relationships xmlns="http://schemas.openxmlformats.org/package/2006/relationships"><Relationship Id="rId3" Type="http://schemas.openxmlformats.org/officeDocument/2006/relationships/image" Target="../media/image171.emf"/><Relationship Id="rId2" Type="http://schemas.openxmlformats.org/officeDocument/2006/relationships/image" Target="../media/image118.emf"/><Relationship Id="rId1" Type="http://schemas.openxmlformats.org/officeDocument/2006/relationships/slideLayout" Target="../slideLayouts/slideLayout7.xml"/><Relationship Id="rId5" Type="http://schemas.openxmlformats.org/officeDocument/2006/relationships/image" Target="../media/image175.emf"/><Relationship Id="rId4" Type="http://schemas.openxmlformats.org/officeDocument/2006/relationships/image" Target="../media/image174.emf"/></Relationships>
</file>

<file path=ppt/slides/_rels/slide109.xml.rels><?xml version="1.0" encoding="UTF-8" standalone="yes"?>
<Relationships xmlns="http://schemas.openxmlformats.org/package/2006/relationships"><Relationship Id="rId8" Type="http://schemas.openxmlformats.org/officeDocument/2006/relationships/tags" Target="../tags/tag247.xml"/><Relationship Id="rId13" Type="http://schemas.openxmlformats.org/officeDocument/2006/relationships/image" Target="../media/image65.png"/><Relationship Id="rId3" Type="http://schemas.openxmlformats.org/officeDocument/2006/relationships/tags" Target="../tags/tag242.xml"/><Relationship Id="rId7" Type="http://schemas.openxmlformats.org/officeDocument/2006/relationships/tags" Target="../tags/tag246.xml"/><Relationship Id="rId12" Type="http://schemas.openxmlformats.org/officeDocument/2006/relationships/image" Target="../media/image176.emf"/><Relationship Id="rId2" Type="http://schemas.openxmlformats.org/officeDocument/2006/relationships/tags" Target="../tags/tag241.xml"/><Relationship Id="rId1" Type="http://schemas.openxmlformats.org/officeDocument/2006/relationships/tags" Target="../tags/tag240.xml"/><Relationship Id="rId6" Type="http://schemas.openxmlformats.org/officeDocument/2006/relationships/tags" Target="../tags/tag245.xml"/><Relationship Id="rId11" Type="http://schemas.openxmlformats.org/officeDocument/2006/relationships/image" Target="../media/image118.emf"/><Relationship Id="rId5" Type="http://schemas.openxmlformats.org/officeDocument/2006/relationships/tags" Target="../tags/tag244.xml"/><Relationship Id="rId10" Type="http://schemas.openxmlformats.org/officeDocument/2006/relationships/slideLayout" Target="../slideLayouts/slideLayout7.xml"/><Relationship Id="rId4" Type="http://schemas.openxmlformats.org/officeDocument/2006/relationships/tags" Target="../tags/tag243.xml"/><Relationship Id="rId9" Type="http://schemas.openxmlformats.org/officeDocument/2006/relationships/tags" Target="../tags/tag248.xml"/></Relationships>
</file>

<file path=ppt/slides/_rels/slide110.xml.rels><?xml version="1.0" encoding="UTF-8" standalone="yes"?>
<Relationships xmlns="http://schemas.openxmlformats.org/package/2006/relationships"><Relationship Id="rId3" Type="http://schemas.openxmlformats.org/officeDocument/2006/relationships/image" Target="../media/image176.emf"/><Relationship Id="rId2" Type="http://schemas.openxmlformats.org/officeDocument/2006/relationships/image" Target="../media/image118.emf"/><Relationship Id="rId1" Type="http://schemas.openxmlformats.org/officeDocument/2006/relationships/slideLayout" Target="../slideLayouts/slideLayout7.xml"/><Relationship Id="rId4" Type="http://schemas.openxmlformats.org/officeDocument/2006/relationships/image" Target="../media/image177.emf"/></Relationships>
</file>

<file path=ppt/slides/_rels/slide111.xml.rels><?xml version="1.0" encoding="UTF-8" standalone="yes"?>
<Relationships xmlns="http://schemas.openxmlformats.org/package/2006/relationships"><Relationship Id="rId8" Type="http://schemas.openxmlformats.org/officeDocument/2006/relationships/tags" Target="../tags/tag256.xml"/><Relationship Id="rId13" Type="http://schemas.openxmlformats.org/officeDocument/2006/relationships/image" Target="../media/image65.png"/><Relationship Id="rId3" Type="http://schemas.openxmlformats.org/officeDocument/2006/relationships/tags" Target="../tags/tag251.xml"/><Relationship Id="rId7" Type="http://schemas.openxmlformats.org/officeDocument/2006/relationships/tags" Target="../tags/tag255.xml"/><Relationship Id="rId12" Type="http://schemas.openxmlformats.org/officeDocument/2006/relationships/image" Target="../media/image178.emf"/><Relationship Id="rId2" Type="http://schemas.openxmlformats.org/officeDocument/2006/relationships/tags" Target="../tags/tag250.xml"/><Relationship Id="rId1" Type="http://schemas.openxmlformats.org/officeDocument/2006/relationships/tags" Target="../tags/tag249.xml"/><Relationship Id="rId6" Type="http://schemas.openxmlformats.org/officeDocument/2006/relationships/tags" Target="../tags/tag254.xml"/><Relationship Id="rId11" Type="http://schemas.openxmlformats.org/officeDocument/2006/relationships/image" Target="../media/image118.emf"/><Relationship Id="rId5" Type="http://schemas.openxmlformats.org/officeDocument/2006/relationships/tags" Target="../tags/tag253.xml"/><Relationship Id="rId10" Type="http://schemas.openxmlformats.org/officeDocument/2006/relationships/slideLayout" Target="../slideLayouts/slideLayout7.xml"/><Relationship Id="rId4" Type="http://schemas.openxmlformats.org/officeDocument/2006/relationships/tags" Target="../tags/tag252.xml"/><Relationship Id="rId9" Type="http://schemas.openxmlformats.org/officeDocument/2006/relationships/tags" Target="../tags/tag257.xml"/></Relationships>
</file>

<file path=ppt/slides/_rels/slide112.xml.rels><?xml version="1.0" encoding="UTF-8" standalone="yes"?>
<Relationships xmlns="http://schemas.openxmlformats.org/package/2006/relationships"><Relationship Id="rId3" Type="http://schemas.openxmlformats.org/officeDocument/2006/relationships/image" Target="../media/image178.emf"/><Relationship Id="rId2" Type="http://schemas.openxmlformats.org/officeDocument/2006/relationships/image" Target="../media/image118.emf"/><Relationship Id="rId1" Type="http://schemas.openxmlformats.org/officeDocument/2006/relationships/slideLayout" Target="../slideLayouts/slideLayout7.xml"/><Relationship Id="rId4" Type="http://schemas.openxmlformats.org/officeDocument/2006/relationships/image" Target="../media/image179.emf"/></Relationships>
</file>

<file path=ppt/slides/_rels/slide113.xml.rels><?xml version="1.0" encoding="UTF-8" standalone="yes"?>
<Relationships xmlns="http://schemas.openxmlformats.org/package/2006/relationships"><Relationship Id="rId8" Type="http://schemas.openxmlformats.org/officeDocument/2006/relationships/tags" Target="../tags/tag265.xml"/><Relationship Id="rId13" Type="http://schemas.openxmlformats.org/officeDocument/2006/relationships/image" Target="../media/image65.png"/><Relationship Id="rId3" Type="http://schemas.openxmlformats.org/officeDocument/2006/relationships/tags" Target="../tags/tag260.xml"/><Relationship Id="rId7" Type="http://schemas.openxmlformats.org/officeDocument/2006/relationships/tags" Target="../tags/tag264.xml"/><Relationship Id="rId12" Type="http://schemas.openxmlformats.org/officeDocument/2006/relationships/image" Target="../media/image180.emf"/><Relationship Id="rId2" Type="http://schemas.openxmlformats.org/officeDocument/2006/relationships/tags" Target="../tags/tag259.xml"/><Relationship Id="rId1" Type="http://schemas.openxmlformats.org/officeDocument/2006/relationships/tags" Target="../tags/tag258.xml"/><Relationship Id="rId6" Type="http://schemas.openxmlformats.org/officeDocument/2006/relationships/tags" Target="../tags/tag263.xml"/><Relationship Id="rId11" Type="http://schemas.openxmlformats.org/officeDocument/2006/relationships/image" Target="../media/image118.emf"/><Relationship Id="rId5" Type="http://schemas.openxmlformats.org/officeDocument/2006/relationships/tags" Target="../tags/tag262.xml"/><Relationship Id="rId10" Type="http://schemas.openxmlformats.org/officeDocument/2006/relationships/slideLayout" Target="../slideLayouts/slideLayout7.xml"/><Relationship Id="rId4" Type="http://schemas.openxmlformats.org/officeDocument/2006/relationships/tags" Target="../tags/tag261.xml"/><Relationship Id="rId9" Type="http://schemas.openxmlformats.org/officeDocument/2006/relationships/tags" Target="../tags/tag266.xml"/></Relationships>
</file>

<file path=ppt/slides/_rels/slide114.xml.rels><?xml version="1.0" encoding="UTF-8" standalone="yes"?>
<Relationships xmlns="http://schemas.openxmlformats.org/package/2006/relationships"><Relationship Id="rId8" Type="http://schemas.openxmlformats.org/officeDocument/2006/relationships/image" Target="../media/image185.emf"/><Relationship Id="rId3" Type="http://schemas.openxmlformats.org/officeDocument/2006/relationships/image" Target="../media/image180.emf"/><Relationship Id="rId7" Type="http://schemas.openxmlformats.org/officeDocument/2006/relationships/image" Target="../media/image184.emf"/><Relationship Id="rId2" Type="http://schemas.openxmlformats.org/officeDocument/2006/relationships/image" Target="../media/image118.emf"/><Relationship Id="rId1" Type="http://schemas.openxmlformats.org/officeDocument/2006/relationships/slideLayout" Target="../slideLayouts/slideLayout7.xml"/><Relationship Id="rId6" Type="http://schemas.openxmlformats.org/officeDocument/2006/relationships/image" Target="../media/image183.emf"/><Relationship Id="rId5" Type="http://schemas.openxmlformats.org/officeDocument/2006/relationships/image" Target="../media/image182.emf"/><Relationship Id="rId10" Type="http://schemas.openxmlformats.org/officeDocument/2006/relationships/image" Target="../media/image187.emf"/><Relationship Id="rId4" Type="http://schemas.openxmlformats.org/officeDocument/2006/relationships/image" Target="../media/image181.emf"/><Relationship Id="rId9" Type="http://schemas.openxmlformats.org/officeDocument/2006/relationships/image" Target="../media/image186.emf"/></Relationships>
</file>

<file path=ppt/slides/_rels/slide115.xml.rels><?xml version="1.0" encoding="UTF-8" standalone="yes"?>
<Relationships xmlns="http://schemas.openxmlformats.org/package/2006/relationships"><Relationship Id="rId8" Type="http://schemas.openxmlformats.org/officeDocument/2006/relationships/tags" Target="../tags/tag274.xml"/><Relationship Id="rId13" Type="http://schemas.openxmlformats.org/officeDocument/2006/relationships/image" Target="../media/image65.png"/><Relationship Id="rId3" Type="http://schemas.openxmlformats.org/officeDocument/2006/relationships/tags" Target="../tags/tag269.xml"/><Relationship Id="rId7" Type="http://schemas.openxmlformats.org/officeDocument/2006/relationships/tags" Target="../tags/tag273.xml"/><Relationship Id="rId12" Type="http://schemas.openxmlformats.org/officeDocument/2006/relationships/image" Target="../media/image188.emf"/><Relationship Id="rId2" Type="http://schemas.openxmlformats.org/officeDocument/2006/relationships/tags" Target="../tags/tag268.xml"/><Relationship Id="rId1" Type="http://schemas.openxmlformats.org/officeDocument/2006/relationships/tags" Target="../tags/tag267.xml"/><Relationship Id="rId6" Type="http://schemas.openxmlformats.org/officeDocument/2006/relationships/tags" Target="../tags/tag272.xml"/><Relationship Id="rId11" Type="http://schemas.openxmlformats.org/officeDocument/2006/relationships/image" Target="../media/image118.emf"/><Relationship Id="rId5" Type="http://schemas.openxmlformats.org/officeDocument/2006/relationships/tags" Target="../tags/tag271.xml"/><Relationship Id="rId10" Type="http://schemas.openxmlformats.org/officeDocument/2006/relationships/slideLayout" Target="../slideLayouts/slideLayout7.xml"/><Relationship Id="rId4" Type="http://schemas.openxmlformats.org/officeDocument/2006/relationships/tags" Target="../tags/tag270.xml"/><Relationship Id="rId9" Type="http://schemas.openxmlformats.org/officeDocument/2006/relationships/tags" Target="../tags/tag275.xml"/></Relationships>
</file>

<file path=ppt/slides/_rels/slide116.xml.rels><?xml version="1.0" encoding="UTF-8" standalone="yes"?>
<Relationships xmlns="http://schemas.openxmlformats.org/package/2006/relationships"><Relationship Id="rId3" Type="http://schemas.openxmlformats.org/officeDocument/2006/relationships/image" Target="../media/image188.emf"/><Relationship Id="rId2" Type="http://schemas.openxmlformats.org/officeDocument/2006/relationships/image" Target="../media/image118.emf"/><Relationship Id="rId1" Type="http://schemas.openxmlformats.org/officeDocument/2006/relationships/slideLayout" Target="../slideLayouts/slideLayout7.xml"/><Relationship Id="rId6" Type="http://schemas.openxmlformats.org/officeDocument/2006/relationships/image" Target="../media/image191.emf"/><Relationship Id="rId5" Type="http://schemas.openxmlformats.org/officeDocument/2006/relationships/image" Target="../media/image190.emf"/><Relationship Id="rId4" Type="http://schemas.openxmlformats.org/officeDocument/2006/relationships/image" Target="../media/image189.emf"/></Relationships>
</file>

<file path=ppt/slides/_rels/slide117.xml.rels><?xml version="1.0" encoding="UTF-8" standalone="yes"?>
<Relationships xmlns="http://schemas.openxmlformats.org/package/2006/relationships"><Relationship Id="rId8" Type="http://schemas.openxmlformats.org/officeDocument/2006/relationships/tags" Target="../tags/tag283.xml"/><Relationship Id="rId13" Type="http://schemas.openxmlformats.org/officeDocument/2006/relationships/image" Target="../media/image65.png"/><Relationship Id="rId3" Type="http://schemas.openxmlformats.org/officeDocument/2006/relationships/tags" Target="../tags/tag278.xml"/><Relationship Id="rId7" Type="http://schemas.openxmlformats.org/officeDocument/2006/relationships/tags" Target="../tags/tag282.xml"/><Relationship Id="rId12" Type="http://schemas.openxmlformats.org/officeDocument/2006/relationships/image" Target="../media/image192.emf"/><Relationship Id="rId2" Type="http://schemas.openxmlformats.org/officeDocument/2006/relationships/tags" Target="../tags/tag277.xml"/><Relationship Id="rId1" Type="http://schemas.openxmlformats.org/officeDocument/2006/relationships/tags" Target="../tags/tag276.xml"/><Relationship Id="rId6" Type="http://schemas.openxmlformats.org/officeDocument/2006/relationships/tags" Target="../tags/tag281.xml"/><Relationship Id="rId11" Type="http://schemas.openxmlformats.org/officeDocument/2006/relationships/image" Target="../media/image118.emf"/><Relationship Id="rId5" Type="http://schemas.openxmlformats.org/officeDocument/2006/relationships/tags" Target="../tags/tag280.xml"/><Relationship Id="rId10" Type="http://schemas.openxmlformats.org/officeDocument/2006/relationships/slideLayout" Target="../slideLayouts/slideLayout7.xml"/><Relationship Id="rId4" Type="http://schemas.openxmlformats.org/officeDocument/2006/relationships/tags" Target="../tags/tag279.xml"/><Relationship Id="rId9" Type="http://schemas.openxmlformats.org/officeDocument/2006/relationships/tags" Target="../tags/tag284.xml"/></Relationships>
</file>

<file path=ppt/slides/_rels/slide118.xml.rels><?xml version="1.0" encoding="UTF-8" standalone="yes"?>
<Relationships xmlns="http://schemas.openxmlformats.org/package/2006/relationships"><Relationship Id="rId3" Type="http://schemas.openxmlformats.org/officeDocument/2006/relationships/image" Target="../media/image192.emf"/><Relationship Id="rId2" Type="http://schemas.openxmlformats.org/officeDocument/2006/relationships/image" Target="../media/image118.emf"/><Relationship Id="rId1" Type="http://schemas.openxmlformats.org/officeDocument/2006/relationships/slideLayout" Target="../slideLayouts/slideLayout7.xml"/><Relationship Id="rId4" Type="http://schemas.openxmlformats.org/officeDocument/2006/relationships/image" Target="../media/image193.emf"/></Relationships>
</file>

<file path=ppt/slides/_rels/slide119.xml.rels><?xml version="1.0" encoding="UTF-8" standalone="yes"?>
<Relationships xmlns="http://schemas.openxmlformats.org/package/2006/relationships"><Relationship Id="rId8" Type="http://schemas.openxmlformats.org/officeDocument/2006/relationships/tags" Target="../tags/tag292.xml"/><Relationship Id="rId13" Type="http://schemas.openxmlformats.org/officeDocument/2006/relationships/image" Target="../media/image65.png"/><Relationship Id="rId3" Type="http://schemas.openxmlformats.org/officeDocument/2006/relationships/tags" Target="../tags/tag287.xml"/><Relationship Id="rId7" Type="http://schemas.openxmlformats.org/officeDocument/2006/relationships/tags" Target="../tags/tag291.xml"/><Relationship Id="rId12" Type="http://schemas.openxmlformats.org/officeDocument/2006/relationships/image" Target="../media/image194.emf"/><Relationship Id="rId2" Type="http://schemas.openxmlformats.org/officeDocument/2006/relationships/tags" Target="../tags/tag286.xml"/><Relationship Id="rId1" Type="http://schemas.openxmlformats.org/officeDocument/2006/relationships/tags" Target="../tags/tag285.xml"/><Relationship Id="rId6" Type="http://schemas.openxmlformats.org/officeDocument/2006/relationships/tags" Target="../tags/tag290.xml"/><Relationship Id="rId11" Type="http://schemas.openxmlformats.org/officeDocument/2006/relationships/image" Target="../media/image118.emf"/><Relationship Id="rId5" Type="http://schemas.openxmlformats.org/officeDocument/2006/relationships/tags" Target="../tags/tag289.xml"/><Relationship Id="rId10" Type="http://schemas.openxmlformats.org/officeDocument/2006/relationships/slideLayout" Target="../slideLayouts/slideLayout7.xml"/><Relationship Id="rId4" Type="http://schemas.openxmlformats.org/officeDocument/2006/relationships/tags" Target="../tags/tag288.xml"/><Relationship Id="rId9" Type="http://schemas.openxmlformats.org/officeDocument/2006/relationships/tags" Target="../tags/tag293.xml"/></Relationships>
</file>

<file path=ppt/slides/_rels/slide120.xml.rels><?xml version="1.0" encoding="UTF-8" standalone="yes"?>
<Relationships xmlns="http://schemas.openxmlformats.org/package/2006/relationships"><Relationship Id="rId3" Type="http://schemas.openxmlformats.org/officeDocument/2006/relationships/image" Target="../media/image195.emf"/><Relationship Id="rId2" Type="http://schemas.openxmlformats.org/officeDocument/2006/relationships/image" Target="../media/image118.emf"/><Relationship Id="rId1" Type="http://schemas.openxmlformats.org/officeDocument/2006/relationships/slideLayout" Target="../slideLayouts/slideLayout7.xml"/><Relationship Id="rId4" Type="http://schemas.openxmlformats.org/officeDocument/2006/relationships/image" Target="../media/image194.emf"/></Relationships>
</file>

<file path=ppt/slides/_rels/slide121.xml.rels><?xml version="1.0" encoding="UTF-8" standalone="yes"?>
<Relationships xmlns="http://schemas.openxmlformats.org/package/2006/relationships"><Relationship Id="rId8" Type="http://schemas.openxmlformats.org/officeDocument/2006/relationships/tags" Target="../tags/tag301.xml"/><Relationship Id="rId13" Type="http://schemas.openxmlformats.org/officeDocument/2006/relationships/image" Target="../media/image65.png"/><Relationship Id="rId3" Type="http://schemas.openxmlformats.org/officeDocument/2006/relationships/tags" Target="../tags/tag296.xml"/><Relationship Id="rId7" Type="http://schemas.openxmlformats.org/officeDocument/2006/relationships/tags" Target="../tags/tag300.xml"/><Relationship Id="rId12" Type="http://schemas.openxmlformats.org/officeDocument/2006/relationships/image" Target="../media/image196.emf"/><Relationship Id="rId2" Type="http://schemas.openxmlformats.org/officeDocument/2006/relationships/tags" Target="../tags/tag295.xml"/><Relationship Id="rId1" Type="http://schemas.openxmlformats.org/officeDocument/2006/relationships/tags" Target="../tags/tag294.xml"/><Relationship Id="rId6" Type="http://schemas.openxmlformats.org/officeDocument/2006/relationships/tags" Target="../tags/tag299.xml"/><Relationship Id="rId11" Type="http://schemas.openxmlformats.org/officeDocument/2006/relationships/image" Target="../media/image118.emf"/><Relationship Id="rId5" Type="http://schemas.openxmlformats.org/officeDocument/2006/relationships/tags" Target="../tags/tag298.xml"/><Relationship Id="rId10" Type="http://schemas.openxmlformats.org/officeDocument/2006/relationships/slideLayout" Target="../slideLayouts/slideLayout7.xml"/><Relationship Id="rId4" Type="http://schemas.openxmlformats.org/officeDocument/2006/relationships/tags" Target="../tags/tag297.xml"/><Relationship Id="rId9" Type="http://schemas.openxmlformats.org/officeDocument/2006/relationships/tags" Target="../tags/tag302.xml"/></Relationships>
</file>

<file path=ppt/slides/_rels/slide122.xml.rels><?xml version="1.0" encoding="UTF-8" standalone="yes"?>
<Relationships xmlns="http://schemas.openxmlformats.org/package/2006/relationships"><Relationship Id="rId3" Type="http://schemas.openxmlformats.org/officeDocument/2006/relationships/image" Target="../media/image196.emf"/><Relationship Id="rId2" Type="http://schemas.openxmlformats.org/officeDocument/2006/relationships/image" Target="../media/image118.emf"/><Relationship Id="rId1" Type="http://schemas.openxmlformats.org/officeDocument/2006/relationships/slideLayout" Target="../slideLayouts/slideLayout7.xml"/><Relationship Id="rId6" Type="http://schemas.openxmlformats.org/officeDocument/2006/relationships/image" Target="../media/image199.emf"/><Relationship Id="rId5" Type="http://schemas.openxmlformats.org/officeDocument/2006/relationships/image" Target="../media/image198.emf"/><Relationship Id="rId4" Type="http://schemas.openxmlformats.org/officeDocument/2006/relationships/image" Target="../media/image197.emf"/></Relationships>
</file>

<file path=ppt/slides/_rels/slide123.xml.rels><?xml version="1.0" encoding="UTF-8" standalone="yes"?>
<Relationships xmlns="http://schemas.openxmlformats.org/package/2006/relationships"><Relationship Id="rId8" Type="http://schemas.openxmlformats.org/officeDocument/2006/relationships/image" Target="../media/image199.emf"/><Relationship Id="rId3" Type="http://schemas.openxmlformats.org/officeDocument/2006/relationships/image" Target="../media/image196.emf"/><Relationship Id="rId7" Type="http://schemas.openxmlformats.org/officeDocument/2006/relationships/image" Target="../media/image198.emf"/><Relationship Id="rId2" Type="http://schemas.openxmlformats.org/officeDocument/2006/relationships/image" Target="../media/image118.emf"/><Relationship Id="rId1" Type="http://schemas.openxmlformats.org/officeDocument/2006/relationships/slideLayout" Target="../slideLayouts/slideLayout7.xml"/><Relationship Id="rId6" Type="http://schemas.openxmlformats.org/officeDocument/2006/relationships/image" Target="../media/image201.emf"/><Relationship Id="rId5" Type="http://schemas.openxmlformats.org/officeDocument/2006/relationships/image" Target="../media/image197.emf"/><Relationship Id="rId4" Type="http://schemas.openxmlformats.org/officeDocument/2006/relationships/image" Target="../media/image200.emf"/></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8" Type="http://schemas.openxmlformats.org/officeDocument/2006/relationships/tags" Target="../tags/tag310.xml"/><Relationship Id="rId3" Type="http://schemas.openxmlformats.org/officeDocument/2006/relationships/tags" Target="../tags/tag305.xml"/><Relationship Id="rId7" Type="http://schemas.openxmlformats.org/officeDocument/2006/relationships/tags" Target="../tags/tag309.xml"/><Relationship Id="rId12" Type="http://schemas.openxmlformats.org/officeDocument/2006/relationships/image" Target="../media/image65.png"/><Relationship Id="rId2" Type="http://schemas.openxmlformats.org/officeDocument/2006/relationships/tags" Target="../tags/tag304.xml"/><Relationship Id="rId1" Type="http://schemas.openxmlformats.org/officeDocument/2006/relationships/tags" Target="../tags/tag303.xml"/><Relationship Id="rId6" Type="http://schemas.openxmlformats.org/officeDocument/2006/relationships/tags" Target="../tags/tag308.xml"/><Relationship Id="rId11" Type="http://schemas.openxmlformats.org/officeDocument/2006/relationships/image" Target="../media/image202.emf"/><Relationship Id="rId5" Type="http://schemas.openxmlformats.org/officeDocument/2006/relationships/tags" Target="../tags/tag307.xml"/><Relationship Id="rId10" Type="http://schemas.openxmlformats.org/officeDocument/2006/relationships/slideLayout" Target="../slideLayouts/slideLayout7.xml"/><Relationship Id="rId4" Type="http://schemas.openxmlformats.org/officeDocument/2006/relationships/tags" Target="../tags/tag306.xml"/><Relationship Id="rId9" Type="http://schemas.openxmlformats.org/officeDocument/2006/relationships/tags" Target="../tags/tag311.xml"/></Relationships>
</file>

<file path=ppt/slides/_rels/slide126.xml.rels><?xml version="1.0" encoding="UTF-8" standalone="yes"?>
<Relationships xmlns="http://schemas.openxmlformats.org/package/2006/relationships"><Relationship Id="rId3" Type="http://schemas.openxmlformats.org/officeDocument/2006/relationships/image" Target="../media/image203.emf"/><Relationship Id="rId2" Type="http://schemas.openxmlformats.org/officeDocument/2006/relationships/image" Target="../media/image202.emf"/><Relationship Id="rId1" Type="http://schemas.openxmlformats.org/officeDocument/2006/relationships/slideLayout" Target="../slideLayouts/slideLayout7.xml"/><Relationship Id="rId5" Type="http://schemas.openxmlformats.org/officeDocument/2006/relationships/image" Target="../media/image205.emf"/><Relationship Id="rId4" Type="http://schemas.openxmlformats.org/officeDocument/2006/relationships/image" Target="../media/image204.emf"/></Relationships>
</file>

<file path=ppt/slides/_rels/slide127.xml.rels><?xml version="1.0" encoding="UTF-8" standalone="yes"?>
<Relationships xmlns="http://schemas.openxmlformats.org/package/2006/relationships"><Relationship Id="rId3" Type="http://schemas.openxmlformats.org/officeDocument/2006/relationships/image" Target="../media/image204.emf"/><Relationship Id="rId2" Type="http://schemas.openxmlformats.org/officeDocument/2006/relationships/image" Target="../media/image202.emf"/><Relationship Id="rId1" Type="http://schemas.openxmlformats.org/officeDocument/2006/relationships/slideLayout" Target="../slideLayouts/slideLayout7.xml"/><Relationship Id="rId5" Type="http://schemas.openxmlformats.org/officeDocument/2006/relationships/image" Target="../media/image206.emf"/><Relationship Id="rId4" Type="http://schemas.openxmlformats.org/officeDocument/2006/relationships/image" Target="../media/image205.emf"/></Relationships>
</file>

<file path=ppt/slides/_rels/slide128.xml.rels><?xml version="1.0" encoding="UTF-8" standalone="yes"?>
<Relationships xmlns="http://schemas.openxmlformats.org/package/2006/relationships"><Relationship Id="rId8" Type="http://schemas.openxmlformats.org/officeDocument/2006/relationships/tags" Target="../tags/tag319.xml"/><Relationship Id="rId3" Type="http://schemas.openxmlformats.org/officeDocument/2006/relationships/tags" Target="../tags/tag314.xml"/><Relationship Id="rId7" Type="http://schemas.openxmlformats.org/officeDocument/2006/relationships/tags" Target="../tags/tag318.xml"/><Relationship Id="rId12" Type="http://schemas.openxmlformats.org/officeDocument/2006/relationships/image" Target="../media/image65.png"/><Relationship Id="rId2" Type="http://schemas.openxmlformats.org/officeDocument/2006/relationships/tags" Target="../tags/tag313.xml"/><Relationship Id="rId1" Type="http://schemas.openxmlformats.org/officeDocument/2006/relationships/tags" Target="../tags/tag312.xml"/><Relationship Id="rId6" Type="http://schemas.openxmlformats.org/officeDocument/2006/relationships/tags" Target="../tags/tag317.xml"/><Relationship Id="rId11" Type="http://schemas.openxmlformats.org/officeDocument/2006/relationships/image" Target="../media/image207.emf"/><Relationship Id="rId5" Type="http://schemas.openxmlformats.org/officeDocument/2006/relationships/tags" Target="../tags/tag316.xml"/><Relationship Id="rId10" Type="http://schemas.openxmlformats.org/officeDocument/2006/relationships/slideLayout" Target="../slideLayouts/slideLayout7.xml"/><Relationship Id="rId4" Type="http://schemas.openxmlformats.org/officeDocument/2006/relationships/tags" Target="../tags/tag315.xml"/><Relationship Id="rId9" Type="http://schemas.openxmlformats.org/officeDocument/2006/relationships/tags" Target="../tags/tag320.xml"/></Relationships>
</file>

<file path=ppt/slides/_rels/slide129.xml.rels><?xml version="1.0" encoding="UTF-8" standalone="yes"?>
<Relationships xmlns="http://schemas.openxmlformats.org/package/2006/relationships"><Relationship Id="rId3" Type="http://schemas.openxmlformats.org/officeDocument/2006/relationships/image" Target="../media/image208.emf"/><Relationship Id="rId2" Type="http://schemas.openxmlformats.org/officeDocument/2006/relationships/image" Target="../media/image207.emf"/><Relationship Id="rId1" Type="http://schemas.openxmlformats.org/officeDocument/2006/relationships/slideLayout" Target="../slideLayouts/slideLayout7.xml"/><Relationship Id="rId5" Type="http://schemas.openxmlformats.org/officeDocument/2006/relationships/image" Target="../media/image210.emf"/><Relationship Id="rId4" Type="http://schemas.openxmlformats.org/officeDocument/2006/relationships/image" Target="../media/image209.emf"/></Relationships>
</file>

<file path=ppt/slides/_rels/slide130.xml.rels><?xml version="1.0" encoding="UTF-8" standalone="yes"?>
<Relationships xmlns="http://schemas.openxmlformats.org/package/2006/relationships"><Relationship Id="rId3" Type="http://schemas.openxmlformats.org/officeDocument/2006/relationships/image" Target="../media/image211.emf"/><Relationship Id="rId7" Type="http://schemas.openxmlformats.org/officeDocument/2006/relationships/image" Target="../media/image209.emf"/><Relationship Id="rId2" Type="http://schemas.openxmlformats.org/officeDocument/2006/relationships/image" Target="../media/image207.emf"/><Relationship Id="rId1" Type="http://schemas.openxmlformats.org/officeDocument/2006/relationships/slideLayout" Target="../slideLayouts/slideLayout7.xml"/><Relationship Id="rId6" Type="http://schemas.openxmlformats.org/officeDocument/2006/relationships/image" Target="../media/image214.emf"/><Relationship Id="rId5" Type="http://schemas.openxmlformats.org/officeDocument/2006/relationships/image" Target="../media/image213.emf"/><Relationship Id="rId4" Type="http://schemas.openxmlformats.org/officeDocument/2006/relationships/image" Target="../media/image212.emf"/></Relationships>
</file>

<file path=ppt/slides/_rels/slide131.xml.rels><?xml version="1.0" encoding="UTF-8" standalone="yes"?>
<Relationships xmlns="http://schemas.openxmlformats.org/package/2006/relationships"><Relationship Id="rId3" Type="http://schemas.openxmlformats.org/officeDocument/2006/relationships/image" Target="../media/image215.emf"/><Relationship Id="rId2" Type="http://schemas.openxmlformats.org/officeDocument/2006/relationships/image" Target="../media/image207.emf"/><Relationship Id="rId1" Type="http://schemas.openxmlformats.org/officeDocument/2006/relationships/slideLayout" Target="../slideLayouts/slideLayout7.xml"/><Relationship Id="rId5" Type="http://schemas.openxmlformats.org/officeDocument/2006/relationships/image" Target="../media/image216.emf"/><Relationship Id="rId4" Type="http://schemas.openxmlformats.org/officeDocument/2006/relationships/image" Target="../media/image209.emf"/></Relationships>
</file>

<file path=ppt/slides/_rels/slide132.xml.rels><?xml version="1.0" encoding="UTF-8" standalone="yes"?>
<Relationships xmlns="http://schemas.openxmlformats.org/package/2006/relationships"><Relationship Id="rId8" Type="http://schemas.openxmlformats.org/officeDocument/2006/relationships/tags" Target="../tags/tag328.xml"/><Relationship Id="rId3" Type="http://schemas.openxmlformats.org/officeDocument/2006/relationships/tags" Target="../tags/tag323.xml"/><Relationship Id="rId7" Type="http://schemas.openxmlformats.org/officeDocument/2006/relationships/tags" Target="../tags/tag327.xml"/><Relationship Id="rId12" Type="http://schemas.openxmlformats.org/officeDocument/2006/relationships/image" Target="../media/image65.png"/><Relationship Id="rId2" Type="http://schemas.openxmlformats.org/officeDocument/2006/relationships/tags" Target="../tags/tag322.xml"/><Relationship Id="rId1" Type="http://schemas.openxmlformats.org/officeDocument/2006/relationships/tags" Target="../tags/tag321.xml"/><Relationship Id="rId6" Type="http://schemas.openxmlformats.org/officeDocument/2006/relationships/tags" Target="../tags/tag326.xml"/><Relationship Id="rId11" Type="http://schemas.openxmlformats.org/officeDocument/2006/relationships/image" Target="../media/image217.emf"/><Relationship Id="rId5" Type="http://schemas.openxmlformats.org/officeDocument/2006/relationships/tags" Target="../tags/tag325.xml"/><Relationship Id="rId10" Type="http://schemas.openxmlformats.org/officeDocument/2006/relationships/slideLayout" Target="../slideLayouts/slideLayout7.xml"/><Relationship Id="rId4" Type="http://schemas.openxmlformats.org/officeDocument/2006/relationships/tags" Target="../tags/tag324.xml"/><Relationship Id="rId9" Type="http://schemas.openxmlformats.org/officeDocument/2006/relationships/tags" Target="../tags/tag329.xml"/></Relationships>
</file>

<file path=ppt/slides/_rels/slide133.xml.rels><?xml version="1.0" encoding="UTF-8" standalone="yes"?>
<Relationships xmlns="http://schemas.openxmlformats.org/package/2006/relationships"><Relationship Id="rId3" Type="http://schemas.openxmlformats.org/officeDocument/2006/relationships/image" Target="../media/image218.emf"/><Relationship Id="rId2" Type="http://schemas.openxmlformats.org/officeDocument/2006/relationships/image" Target="../media/image217.emf"/><Relationship Id="rId1" Type="http://schemas.openxmlformats.org/officeDocument/2006/relationships/slideLayout" Target="../slideLayouts/slideLayout7.xml"/><Relationship Id="rId6" Type="http://schemas.openxmlformats.org/officeDocument/2006/relationships/image" Target="../media/image221.emf"/><Relationship Id="rId5" Type="http://schemas.openxmlformats.org/officeDocument/2006/relationships/image" Target="../media/image220.emf"/><Relationship Id="rId4" Type="http://schemas.openxmlformats.org/officeDocument/2006/relationships/image" Target="../media/image219.emf"/></Relationships>
</file>

<file path=ppt/slides/_rels/slide134.xml.rels><?xml version="1.0" encoding="UTF-8" standalone="yes"?>
<Relationships xmlns="http://schemas.openxmlformats.org/package/2006/relationships"><Relationship Id="rId3" Type="http://schemas.openxmlformats.org/officeDocument/2006/relationships/image" Target="../media/image220.emf"/><Relationship Id="rId2" Type="http://schemas.openxmlformats.org/officeDocument/2006/relationships/image" Target="../media/image217.emf"/><Relationship Id="rId1" Type="http://schemas.openxmlformats.org/officeDocument/2006/relationships/slideLayout" Target="../slideLayouts/slideLayout7.xml"/><Relationship Id="rId6" Type="http://schemas.openxmlformats.org/officeDocument/2006/relationships/image" Target="../media/image224.emf"/><Relationship Id="rId5" Type="http://schemas.openxmlformats.org/officeDocument/2006/relationships/image" Target="../media/image223.emf"/><Relationship Id="rId4" Type="http://schemas.openxmlformats.org/officeDocument/2006/relationships/image" Target="../media/image222.emf"/></Relationships>
</file>

<file path=ppt/slides/_rels/slide135.xml.rels><?xml version="1.0" encoding="UTF-8" standalone="yes"?>
<Relationships xmlns="http://schemas.openxmlformats.org/package/2006/relationships"><Relationship Id="rId3" Type="http://schemas.openxmlformats.org/officeDocument/2006/relationships/image" Target="../media/image225.emf"/><Relationship Id="rId2" Type="http://schemas.openxmlformats.org/officeDocument/2006/relationships/image" Target="../media/image217.emf"/><Relationship Id="rId1" Type="http://schemas.openxmlformats.org/officeDocument/2006/relationships/slideLayout" Target="../slideLayouts/slideLayout7.xml"/><Relationship Id="rId6" Type="http://schemas.openxmlformats.org/officeDocument/2006/relationships/image" Target="../media/image228.emf"/><Relationship Id="rId5" Type="http://schemas.openxmlformats.org/officeDocument/2006/relationships/image" Target="../media/image227.emf"/><Relationship Id="rId4" Type="http://schemas.openxmlformats.org/officeDocument/2006/relationships/image" Target="../media/image226.emf"/></Relationships>
</file>

<file path=ppt/slides/_rels/slide136.xml.rels><?xml version="1.0" encoding="UTF-8" standalone="yes"?>
<Relationships xmlns="http://schemas.openxmlformats.org/package/2006/relationships"><Relationship Id="rId8" Type="http://schemas.openxmlformats.org/officeDocument/2006/relationships/tags" Target="../tags/tag337.xml"/><Relationship Id="rId3" Type="http://schemas.openxmlformats.org/officeDocument/2006/relationships/tags" Target="../tags/tag332.xml"/><Relationship Id="rId7" Type="http://schemas.openxmlformats.org/officeDocument/2006/relationships/tags" Target="../tags/tag336.xml"/><Relationship Id="rId12" Type="http://schemas.openxmlformats.org/officeDocument/2006/relationships/image" Target="../media/image65.png"/><Relationship Id="rId2" Type="http://schemas.openxmlformats.org/officeDocument/2006/relationships/tags" Target="../tags/tag331.xml"/><Relationship Id="rId1" Type="http://schemas.openxmlformats.org/officeDocument/2006/relationships/tags" Target="../tags/tag330.xml"/><Relationship Id="rId6" Type="http://schemas.openxmlformats.org/officeDocument/2006/relationships/tags" Target="../tags/tag335.xml"/><Relationship Id="rId11" Type="http://schemas.openxmlformats.org/officeDocument/2006/relationships/image" Target="../media/image229.emf"/><Relationship Id="rId5" Type="http://schemas.openxmlformats.org/officeDocument/2006/relationships/tags" Target="../tags/tag334.xml"/><Relationship Id="rId10" Type="http://schemas.openxmlformats.org/officeDocument/2006/relationships/slideLayout" Target="../slideLayouts/slideLayout7.xml"/><Relationship Id="rId4" Type="http://schemas.openxmlformats.org/officeDocument/2006/relationships/tags" Target="../tags/tag333.xml"/><Relationship Id="rId9" Type="http://schemas.openxmlformats.org/officeDocument/2006/relationships/tags" Target="../tags/tag338.xml"/></Relationships>
</file>

<file path=ppt/slides/_rels/slide137.xml.rels><?xml version="1.0" encoding="UTF-8" standalone="yes"?>
<Relationships xmlns="http://schemas.openxmlformats.org/package/2006/relationships"><Relationship Id="rId8" Type="http://schemas.openxmlformats.org/officeDocument/2006/relationships/image" Target="../media/image234.emf"/><Relationship Id="rId3" Type="http://schemas.openxmlformats.org/officeDocument/2006/relationships/image" Target="../media/image209.emf"/><Relationship Id="rId7" Type="http://schemas.openxmlformats.org/officeDocument/2006/relationships/image" Target="../media/image233.emf"/><Relationship Id="rId2" Type="http://schemas.openxmlformats.org/officeDocument/2006/relationships/image" Target="../media/image208.emf"/><Relationship Id="rId1" Type="http://schemas.openxmlformats.org/officeDocument/2006/relationships/slideLayout" Target="../slideLayouts/slideLayout7.xml"/><Relationship Id="rId6" Type="http://schemas.openxmlformats.org/officeDocument/2006/relationships/image" Target="../media/image232.emf"/><Relationship Id="rId5" Type="http://schemas.openxmlformats.org/officeDocument/2006/relationships/image" Target="../media/image231.emf"/><Relationship Id="rId10" Type="http://schemas.openxmlformats.org/officeDocument/2006/relationships/image" Target="../media/image229.emf"/><Relationship Id="rId4" Type="http://schemas.openxmlformats.org/officeDocument/2006/relationships/image" Target="../media/image230.emf"/><Relationship Id="rId9" Type="http://schemas.openxmlformats.org/officeDocument/2006/relationships/image" Target="../media/image235.emf"/></Relationships>
</file>

<file path=ppt/slides/_rels/slide138.xml.rels><?xml version="1.0" encoding="UTF-8" standalone="yes"?>
<Relationships xmlns="http://schemas.openxmlformats.org/package/2006/relationships"><Relationship Id="rId8" Type="http://schemas.openxmlformats.org/officeDocument/2006/relationships/image" Target="../media/image233.emf"/><Relationship Id="rId3" Type="http://schemas.openxmlformats.org/officeDocument/2006/relationships/image" Target="../media/image208.emf"/><Relationship Id="rId7" Type="http://schemas.openxmlformats.org/officeDocument/2006/relationships/image" Target="../media/image232.emf"/><Relationship Id="rId2" Type="http://schemas.openxmlformats.org/officeDocument/2006/relationships/image" Target="../media/image229.emf"/><Relationship Id="rId1" Type="http://schemas.openxmlformats.org/officeDocument/2006/relationships/slideLayout" Target="../slideLayouts/slideLayout7.xml"/><Relationship Id="rId6" Type="http://schemas.openxmlformats.org/officeDocument/2006/relationships/image" Target="../media/image231.emf"/><Relationship Id="rId5" Type="http://schemas.openxmlformats.org/officeDocument/2006/relationships/image" Target="../media/image230.emf"/><Relationship Id="rId4" Type="http://schemas.openxmlformats.org/officeDocument/2006/relationships/image" Target="../media/image209.emf"/></Relationships>
</file>

<file path=ppt/slides/_rels/slide139.xml.rels><?xml version="1.0" encoding="UTF-8" standalone="yes"?>
<Relationships xmlns="http://schemas.openxmlformats.org/package/2006/relationships"><Relationship Id="rId3" Type="http://schemas.openxmlformats.org/officeDocument/2006/relationships/image" Target="../media/image208.emf"/><Relationship Id="rId7" Type="http://schemas.openxmlformats.org/officeDocument/2006/relationships/image" Target="../media/image238.emf"/><Relationship Id="rId2" Type="http://schemas.openxmlformats.org/officeDocument/2006/relationships/image" Target="../media/image229.emf"/><Relationship Id="rId1" Type="http://schemas.openxmlformats.org/officeDocument/2006/relationships/slideLayout" Target="../slideLayouts/slideLayout7.xml"/><Relationship Id="rId6" Type="http://schemas.openxmlformats.org/officeDocument/2006/relationships/image" Target="../media/image237.emf"/><Relationship Id="rId5" Type="http://schemas.openxmlformats.org/officeDocument/2006/relationships/image" Target="../media/image236.emf"/><Relationship Id="rId4" Type="http://schemas.openxmlformats.org/officeDocument/2006/relationships/image" Target="../media/image209.emf"/></Relationships>
</file>

<file path=ppt/slides/_rels/slide140.xml.rels><?xml version="1.0" encoding="UTF-8" standalone="yes"?>
<Relationships xmlns="http://schemas.openxmlformats.org/package/2006/relationships"><Relationship Id="rId8" Type="http://schemas.openxmlformats.org/officeDocument/2006/relationships/image" Target="../media/image241.emf"/><Relationship Id="rId3" Type="http://schemas.openxmlformats.org/officeDocument/2006/relationships/image" Target="../media/image237.emf"/><Relationship Id="rId7" Type="http://schemas.openxmlformats.org/officeDocument/2006/relationships/image" Target="../media/image240.emf"/><Relationship Id="rId2" Type="http://schemas.openxmlformats.org/officeDocument/2006/relationships/image" Target="../media/image229.emf"/><Relationship Id="rId1" Type="http://schemas.openxmlformats.org/officeDocument/2006/relationships/slideLayout" Target="../slideLayouts/slideLayout7.xml"/><Relationship Id="rId6" Type="http://schemas.openxmlformats.org/officeDocument/2006/relationships/image" Target="../media/image239.emf"/><Relationship Id="rId5" Type="http://schemas.openxmlformats.org/officeDocument/2006/relationships/image" Target="../media/image236.emf"/><Relationship Id="rId4" Type="http://schemas.openxmlformats.org/officeDocument/2006/relationships/image" Target="../media/image238.emf"/></Relationships>
</file>

<file path=ppt/slides/_rels/slide141.xml.rels><?xml version="1.0" encoding="UTF-8" standalone="yes"?>
<Relationships xmlns="http://schemas.openxmlformats.org/package/2006/relationships"><Relationship Id="rId3" Type="http://schemas.openxmlformats.org/officeDocument/2006/relationships/image" Target="../media/image208.emf"/><Relationship Id="rId7" Type="http://schemas.openxmlformats.org/officeDocument/2006/relationships/image" Target="../media/image243.emf"/><Relationship Id="rId2" Type="http://schemas.openxmlformats.org/officeDocument/2006/relationships/image" Target="../media/image229.emf"/><Relationship Id="rId1" Type="http://schemas.openxmlformats.org/officeDocument/2006/relationships/slideLayout" Target="../slideLayouts/slideLayout7.xml"/><Relationship Id="rId6" Type="http://schemas.openxmlformats.org/officeDocument/2006/relationships/image" Target="../media/image242.emf"/><Relationship Id="rId5" Type="http://schemas.openxmlformats.org/officeDocument/2006/relationships/image" Target="../media/image233.emf"/><Relationship Id="rId4" Type="http://schemas.openxmlformats.org/officeDocument/2006/relationships/image" Target="../media/image209.emf"/></Relationships>
</file>

<file path=ppt/slides/_rels/slide142.xml.rels><?xml version="1.0" encoding="UTF-8" standalone="yes"?>
<Relationships xmlns="http://schemas.openxmlformats.org/package/2006/relationships"><Relationship Id="rId3" Type="http://schemas.openxmlformats.org/officeDocument/2006/relationships/image" Target="../media/image241.emf"/><Relationship Id="rId7" Type="http://schemas.openxmlformats.org/officeDocument/2006/relationships/image" Target="../media/image246.emf"/><Relationship Id="rId2" Type="http://schemas.openxmlformats.org/officeDocument/2006/relationships/image" Target="../media/image229.emf"/><Relationship Id="rId1" Type="http://schemas.openxmlformats.org/officeDocument/2006/relationships/slideLayout" Target="../slideLayouts/slideLayout7.xml"/><Relationship Id="rId6" Type="http://schemas.openxmlformats.org/officeDocument/2006/relationships/image" Target="../media/image243.emf"/><Relationship Id="rId5" Type="http://schemas.openxmlformats.org/officeDocument/2006/relationships/image" Target="../media/image245.emf"/><Relationship Id="rId4" Type="http://schemas.openxmlformats.org/officeDocument/2006/relationships/image" Target="../media/image244.emf"/></Relationships>
</file>

<file path=ppt/slides/_rels/slide143.xml.rels><?xml version="1.0" encoding="UTF-8" standalone="yes"?>
<Relationships xmlns="http://schemas.openxmlformats.org/package/2006/relationships"><Relationship Id="rId3" Type="http://schemas.openxmlformats.org/officeDocument/2006/relationships/image" Target="../media/image233.emf"/><Relationship Id="rId2" Type="http://schemas.openxmlformats.org/officeDocument/2006/relationships/image" Target="../media/image229.emf"/><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8" Type="http://schemas.openxmlformats.org/officeDocument/2006/relationships/tags" Target="../tags/tag346.xml"/><Relationship Id="rId3" Type="http://schemas.openxmlformats.org/officeDocument/2006/relationships/tags" Target="../tags/tag341.xml"/><Relationship Id="rId7" Type="http://schemas.openxmlformats.org/officeDocument/2006/relationships/tags" Target="../tags/tag345.xml"/><Relationship Id="rId12" Type="http://schemas.openxmlformats.org/officeDocument/2006/relationships/image" Target="../media/image65.png"/><Relationship Id="rId2" Type="http://schemas.openxmlformats.org/officeDocument/2006/relationships/tags" Target="../tags/tag340.xml"/><Relationship Id="rId1" Type="http://schemas.openxmlformats.org/officeDocument/2006/relationships/tags" Target="../tags/tag339.xml"/><Relationship Id="rId6" Type="http://schemas.openxmlformats.org/officeDocument/2006/relationships/tags" Target="../tags/tag344.xml"/><Relationship Id="rId11" Type="http://schemas.openxmlformats.org/officeDocument/2006/relationships/image" Target="../media/image247.emf"/><Relationship Id="rId5" Type="http://schemas.openxmlformats.org/officeDocument/2006/relationships/tags" Target="../tags/tag343.xml"/><Relationship Id="rId10" Type="http://schemas.openxmlformats.org/officeDocument/2006/relationships/slideLayout" Target="../slideLayouts/slideLayout7.xml"/><Relationship Id="rId4" Type="http://schemas.openxmlformats.org/officeDocument/2006/relationships/tags" Target="../tags/tag342.xml"/><Relationship Id="rId9" Type="http://schemas.openxmlformats.org/officeDocument/2006/relationships/tags" Target="../tags/tag347.xml"/></Relationships>
</file>

<file path=ppt/slides/_rels/slide146.xml.rels><?xml version="1.0" encoding="UTF-8" standalone="yes"?>
<Relationships xmlns="http://schemas.openxmlformats.org/package/2006/relationships"><Relationship Id="rId8" Type="http://schemas.openxmlformats.org/officeDocument/2006/relationships/image" Target="../media/image253.emf"/><Relationship Id="rId3" Type="http://schemas.openxmlformats.org/officeDocument/2006/relationships/image" Target="../media/image248.emf"/><Relationship Id="rId7" Type="http://schemas.openxmlformats.org/officeDocument/2006/relationships/image" Target="../media/image252.emf"/><Relationship Id="rId2" Type="http://schemas.openxmlformats.org/officeDocument/2006/relationships/image" Target="../media/image247.emf"/><Relationship Id="rId1" Type="http://schemas.openxmlformats.org/officeDocument/2006/relationships/slideLayout" Target="../slideLayouts/slideLayout7.xml"/><Relationship Id="rId6" Type="http://schemas.openxmlformats.org/officeDocument/2006/relationships/image" Target="../media/image251.emf"/><Relationship Id="rId5" Type="http://schemas.openxmlformats.org/officeDocument/2006/relationships/image" Target="../media/image250.emf"/><Relationship Id="rId4" Type="http://schemas.openxmlformats.org/officeDocument/2006/relationships/image" Target="../media/image249.emf"/></Relationships>
</file>

<file path=ppt/slides/_rels/slide147.xml.rels><?xml version="1.0" encoding="UTF-8" standalone="yes"?>
<Relationships xmlns="http://schemas.openxmlformats.org/package/2006/relationships"><Relationship Id="rId8" Type="http://schemas.openxmlformats.org/officeDocument/2006/relationships/tags" Target="../tags/tag355.xml"/><Relationship Id="rId3" Type="http://schemas.openxmlformats.org/officeDocument/2006/relationships/tags" Target="../tags/tag350.xml"/><Relationship Id="rId7" Type="http://schemas.openxmlformats.org/officeDocument/2006/relationships/tags" Target="../tags/tag354.xml"/><Relationship Id="rId12" Type="http://schemas.openxmlformats.org/officeDocument/2006/relationships/image" Target="../media/image65.png"/><Relationship Id="rId2" Type="http://schemas.openxmlformats.org/officeDocument/2006/relationships/tags" Target="../tags/tag349.xml"/><Relationship Id="rId1" Type="http://schemas.openxmlformats.org/officeDocument/2006/relationships/tags" Target="../tags/tag348.xml"/><Relationship Id="rId6" Type="http://schemas.openxmlformats.org/officeDocument/2006/relationships/tags" Target="../tags/tag353.xml"/><Relationship Id="rId11" Type="http://schemas.openxmlformats.org/officeDocument/2006/relationships/image" Target="../media/image254.emf"/><Relationship Id="rId5" Type="http://schemas.openxmlformats.org/officeDocument/2006/relationships/tags" Target="../tags/tag352.xml"/><Relationship Id="rId10" Type="http://schemas.openxmlformats.org/officeDocument/2006/relationships/slideLayout" Target="../slideLayouts/slideLayout7.xml"/><Relationship Id="rId4" Type="http://schemas.openxmlformats.org/officeDocument/2006/relationships/tags" Target="../tags/tag351.xml"/><Relationship Id="rId9" Type="http://schemas.openxmlformats.org/officeDocument/2006/relationships/tags" Target="../tags/tag356.xml"/></Relationships>
</file>

<file path=ppt/slides/_rels/slide148.xml.rels><?xml version="1.0" encoding="UTF-8" standalone="yes"?>
<Relationships xmlns="http://schemas.openxmlformats.org/package/2006/relationships"><Relationship Id="rId8" Type="http://schemas.openxmlformats.org/officeDocument/2006/relationships/image" Target="../media/image260.emf"/><Relationship Id="rId3" Type="http://schemas.openxmlformats.org/officeDocument/2006/relationships/image" Target="../media/image249.emf"/><Relationship Id="rId7" Type="http://schemas.openxmlformats.org/officeDocument/2006/relationships/image" Target="../media/image259.emf"/><Relationship Id="rId12" Type="http://schemas.openxmlformats.org/officeDocument/2006/relationships/image" Target="../media/image254.emf"/><Relationship Id="rId2" Type="http://schemas.openxmlformats.org/officeDocument/2006/relationships/image" Target="../media/image255.emf"/><Relationship Id="rId1" Type="http://schemas.openxmlformats.org/officeDocument/2006/relationships/slideLayout" Target="../slideLayouts/slideLayout7.xml"/><Relationship Id="rId6" Type="http://schemas.openxmlformats.org/officeDocument/2006/relationships/image" Target="../media/image258.emf"/><Relationship Id="rId11" Type="http://schemas.openxmlformats.org/officeDocument/2006/relationships/image" Target="../media/image263.emf"/><Relationship Id="rId5" Type="http://schemas.openxmlformats.org/officeDocument/2006/relationships/image" Target="../media/image257.emf"/><Relationship Id="rId10" Type="http://schemas.openxmlformats.org/officeDocument/2006/relationships/image" Target="../media/image262.emf"/><Relationship Id="rId4" Type="http://schemas.openxmlformats.org/officeDocument/2006/relationships/image" Target="../media/image256.emf"/><Relationship Id="rId9" Type="http://schemas.openxmlformats.org/officeDocument/2006/relationships/image" Target="../media/image261.emf"/></Relationships>
</file>

<file path=ppt/slides/_rels/slide149.xml.rels><?xml version="1.0" encoding="UTF-8" standalone="yes"?>
<Relationships xmlns="http://schemas.openxmlformats.org/package/2006/relationships"><Relationship Id="rId8" Type="http://schemas.openxmlformats.org/officeDocument/2006/relationships/tags" Target="../tags/tag364.xml"/><Relationship Id="rId3" Type="http://schemas.openxmlformats.org/officeDocument/2006/relationships/tags" Target="../tags/tag359.xml"/><Relationship Id="rId7" Type="http://schemas.openxmlformats.org/officeDocument/2006/relationships/tags" Target="../tags/tag363.xml"/><Relationship Id="rId12" Type="http://schemas.openxmlformats.org/officeDocument/2006/relationships/image" Target="../media/image65.png"/><Relationship Id="rId2" Type="http://schemas.openxmlformats.org/officeDocument/2006/relationships/tags" Target="../tags/tag358.xml"/><Relationship Id="rId1" Type="http://schemas.openxmlformats.org/officeDocument/2006/relationships/tags" Target="../tags/tag357.xml"/><Relationship Id="rId6" Type="http://schemas.openxmlformats.org/officeDocument/2006/relationships/tags" Target="../tags/tag362.xml"/><Relationship Id="rId11" Type="http://schemas.openxmlformats.org/officeDocument/2006/relationships/image" Target="../media/image264.png"/><Relationship Id="rId5" Type="http://schemas.openxmlformats.org/officeDocument/2006/relationships/tags" Target="../tags/tag361.xml"/><Relationship Id="rId10" Type="http://schemas.openxmlformats.org/officeDocument/2006/relationships/slideLayout" Target="../slideLayouts/slideLayout7.xml"/><Relationship Id="rId4" Type="http://schemas.openxmlformats.org/officeDocument/2006/relationships/tags" Target="../tags/tag360.xml"/><Relationship Id="rId9" Type="http://schemas.openxmlformats.org/officeDocument/2006/relationships/tags" Target="../tags/tag365.xml"/></Relationships>
</file>

<file path=ppt/slides/_rels/slide150.xml.rels><?xml version="1.0" encoding="UTF-8" standalone="yes"?>
<Relationships xmlns="http://schemas.openxmlformats.org/package/2006/relationships"><Relationship Id="rId3" Type="http://schemas.openxmlformats.org/officeDocument/2006/relationships/image" Target="../media/image264.emf"/><Relationship Id="rId2" Type="http://schemas.openxmlformats.org/officeDocument/2006/relationships/image" Target="../media/image264.png"/><Relationship Id="rId1" Type="http://schemas.openxmlformats.org/officeDocument/2006/relationships/slideLayout" Target="../slideLayouts/slideLayout7.xml"/><Relationship Id="rId5" Type="http://schemas.openxmlformats.org/officeDocument/2006/relationships/image" Target="../media/image267.png"/><Relationship Id="rId4" Type="http://schemas.openxmlformats.org/officeDocument/2006/relationships/image" Target="../media/image265.png"/></Relationships>
</file>

<file path=ppt/slides/_rels/slide151.xml.rels><?xml version="1.0" encoding="UTF-8" standalone="yes"?>
<Relationships xmlns="http://schemas.openxmlformats.org/package/2006/relationships"><Relationship Id="rId8" Type="http://schemas.openxmlformats.org/officeDocument/2006/relationships/tags" Target="../tags/tag373.xml"/><Relationship Id="rId3" Type="http://schemas.openxmlformats.org/officeDocument/2006/relationships/tags" Target="../tags/tag368.xml"/><Relationship Id="rId7" Type="http://schemas.openxmlformats.org/officeDocument/2006/relationships/tags" Target="../tags/tag372.xml"/><Relationship Id="rId2" Type="http://schemas.openxmlformats.org/officeDocument/2006/relationships/tags" Target="../tags/tag367.xml"/><Relationship Id="rId1" Type="http://schemas.openxmlformats.org/officeDocument/2006/relationships/tags" Target="../tags/tag366.xml"/><Relationship Id="rId6" Type="http://schemas.openxmlformats.org/officeDocument/2006/relationships/tags" Target="../tags/tag371.xml"/><Relationship Id="rId11" Type="http://schemas.openxmlformats.org/officeDocument/2006/relationships/image" Target="../media/image65.png"/><Relationship Id="rId5" Type="http://schemas.openxmlformats.org/officeDocument/2006/relationships/tags" Target="../tags/tag370.xml"/><Relationship Id="rId10" Type="http://schemas.openxmlformats.org/officeDocument/2006/relationships/slideLayout" Target="../slideLayouts/slideLayout7.xml"/><Relationship Id="rId4" Type="http://schemas.openxmlformats.org/officeDocument/2006/relationships/tags" Target="../tags/tag369.xml"/><Relationship Id="rId9" Type="http://schemas.openxmlformats.org/officeDocument/2006/relationships/tags" Target="../tags/tag374.xml"/></Relationships>
</file>

<file path=ppt/slides/_rels/slide152.xml.rels><?xml version="1.0" encoding="UTF-8" standalone="yes"?>
<Relationships xmlns="http://schemas.openxmlformats.org/package/2006/relationships"><Relationship Id="rId8" Type="http://schemas.openxmlformats.org/officeDocument/2006/relationships/image" Target="../media/image272.emf"/><Relationship Id="rId3" Type="http://schemas.openxmlformats.org/officeDocument/2006/relationships/image" Target="../media/image267.emf"/><Relationship Id="rId7" Type="http://schemas.openxmlformats.org/officeDocument/2006/relationships/image" Target="../media/image271.emf"/><Relationship Id="rId2" Type="http://schemas.openxmlformats.org/officeDocument/2006/relationships/image" Target="../media/image266.emf"/><Relationship Id="rId1" Type="http://schemas.openxmlformats.org/officeDocument/2006/relationships/slideLayout" Target="../slideLayouts/slideLayout7.xml"/><Relationship Id="rId6" Type="http://schemas.openxmlformats.org/officeDocument/2006/relationships/image" Target="../media/image270.emf"/><Relationship Id="rId5" Type="http://schemas.openxmlformats.org/officeDocument/2006/relationships/image" Target="../media/image269.emf"/><Relationship Id="rId10" Type="http://schemas.openxmlformats.org/officeDocument/2006/relationships/image" Target="../media/image274.emf"/><Relationship Id="rId4" Type="http://schemas.openxmlformats.org/officeDocument/2006/relationships/image" Target="../media/image268.emf"/><Relationship Id="rId9" Type="http://schemas.openxmlformats.org/officeDocument/2006/relationships/image" Target="../media/image273.emf"/></Relationships>
</file>

<file path=ppt/slides/_rels/slide153.xml.rels><?xml version="1.0" encoding="UTF-8" standalone="yes"?>
<Relationships xmlns="http://schemas.openxmlformats.org/package/2006/relationships"><Relationship Id="rId8" Type="http://schemas.openxmlformats.org/officeDocument/2006/relationships/tags" Target="../tags/tag382.xml"/><Relationship Id="rId13" Type="http://schemas.openxmlformats.org/officeDocument/2006/relationships/image" Target="../media/image65.png"/><Relationship Id="rId3" Type="http://schemas.openxmlformats.org/officeDocument/2006/relationships/tags" Target="../tags/tag377.xml"/><Relationship Id="rId7" Type="http://schemas.openxmlformats.org/officeDocument/2006/relationships/tags" Target="../tags/tag381.xml"/><Relationship Id="rId12" Type="http://schemas.openxmlformats.org/officeDocument/2006/relationships/image" Target="../media/image275.emf"/><Relationship Id="rId2" Type="http://schemas.openxmlformats.org/officeDocument/2006/relationships/tags" Target="../tags/tag376.xml"/><Relationship Id="rId1" Type="http://schemas.openxmlformats.org/officeDocument/2006/relationships/tags" Target="../tags/tag375.xml"/><Relationship Id="rId6" Type="http://schemas.openxmlformats.org/officeDocument/2006/relationships/tags" Target="../tags/tag380.xml"/><Relationship Id="rId11" Type="http://schemas.openxmlformats.org/officeDocument/2006/relationships/notesSlide" Target="../notesSlides/notesSlide17.xml"/><Relationship Id="rId5" Type="http://schemas.openxmlformats.org/officeDocument/2006/relationships/tags" Target="../tags/tag379.xml"/><Relationship Id="rId10" Type="http://schemas.openxmlformats.org/officeDocument/2006/relationships/slideLayout" Target="../slideLayouts/slideLayout7.xml"/><Relationship Id="rId4" Type="http://schemas.openxmlformats.org/officeDocument/2006/relationships/tags" Target="../tags/tag378.xml"/><Relationship Id="rId9" Type="http://schemas.openxmlformats.org/officeDocument/2006/relationships/tags" Target="../tags/tag383.xml"/></Relationships>
</file>

<file path=ppt/slides/_rels/slide154.xml.rels><?xml version="1.0" encoding="UTF-8" standalone="yes"?>
<Relationships xmlns="http://schemas.openxmlformats.org/package/2006/relationships"><Relationship Id="rId8" Type="http://schemas.openxmlformats.org/officeDocument/2006/relationships/image" Target="../media/image280.emf"/><Relationship Id="rId13" Type="http://schemas.openxmlformats.org/officeDocument/2006/relationships/image" Target="../media/image258.emf"/><Relationship Id="rId3" Type="http://schemas.openxmlformats.org/officeDocument/2006/relationships/image" Target="../media/image276.emf"/><Relationship Id="rId7" Type="http://schemas.openxmlformats.org/officeDocument/2006/relationships/image" Target="../media/image279.emf"/><Relationship Id="rId12" Type="http://schemas.openxmlformats.org/officeDocument/2006/relationships/image" Target="../media/image257.emf"/><Relationship Id="rId2" Type="http://schemas.openxmlformats.org/officeDocument/2006/relationships/image" Target="../media/image275.emf"/><Relationship Id="rId1" Type="http://schemas.openxmlformats.org/officeDocument/2006/relationships/slideLayout" Target="../slideLayouts/slideLayout7.xml"/><Relationship Id="rId6" Type="http://schemas.openxmlformats.org/officeDocument/2006/relationships/image" Target="../media/image278.emf"/><Relationship Id="rId11" Type="http://schemas.openxmlformats.org/officeDocument/2006/relationships/image" Target="../media/image256.emf"/><Relationship Id="rId5" Type="http://schemas.openxmlformats.org/officeDocument/2006/relationships/image" Target="../media/image277.emf"/><Relationship Id="rId15" Type="http://schemas.openxmlformats.org/officeDocument/2006/relationships/image" Target="../media/image261.emf"/><Relationship Id="rId10" Type="http://schemas.openxmlformats.org/officeDocument/2006/relationships/image" Target="../media/image259.emf"/><Relationship Id="rId4" Type="http://schemas.openxmlformats.org/officeDocument/2006/relationships/image" Target="../media/image249.emf"/><Relationship Id="rId9" Type="http://schemas.openxmlformats.org/officeDocument/2006/relationships/image" Target="../media/image281.emf"/><Relationship Id="rId14" Type="http://schemas.openxmlformats.org/officeDocument/2006/relationships/image" Target="../media/image260.emf"/></Relationships>
</file>

<file path=ppt/slides/_rels/slide155.xml.rels><?xml version="1.0" encoding="UTF-8" standalone="yes"?>
<Relationships xmlns="http://schemas.openxmlformats.org/package/2006/relationships"><Relationship Id="rId8" Type="http://schemas.openxmlformats.org/officeDocument/2006/relationships/tags" Target="../tags/tag391.xml"/><Relationship Id="rId13" Type="http://schemas.openxmlformats.org/officeDocument/2006/relationships/image" Target="../media/image65.png"/><Relationship Id="rId3" Type="http://schemas.openxmlformats.org/officeDocument/2006/relationships/tags" Target="../tags/tag386.xml"/><Relationship Id="rId7" Type="http://schemas.openxmlformats.org/officeDocument/2006/relationships/tags" Target="../tags/tag390.xml"/><Relationship Id="rId12" Type="http://schemas.openxmlformats.org/officeDocument/2006/relationships/image" Target="../media/image282.emf"/><Relationship Id="rId2" Type="http://schemas.openxmlformats.org/officeDocument/2006/relationships/tags" Target="../tags/tag385.xml"/><Relationship Id="rId1" Type="http://schemas.openxmlformats.org/officeDocument/2006/relationships/tags" Target="../tags/tag384.xml"/><Relationship Id="rId6" Type="http://schemas.openxmlformats.org/officeDocument/2006/relationships/tags" Target="../tags/tag389.xml"/><Relationship Id="rId11" Type="http://schemas.openxmlformats.org/officeDocument/2006/relationships/notesSlide" Target="../notesSlides/notesSlide18.xml"/><Relationship Id="rId5" Type="http://schemas.openxmlformats.org/officeDocument/2006/relationships/tags" Target="../tags/tag388.xml"/><Relationship Id="rId10" Type="http://schemas.openxmlformats.org/officeDocument/2006/relationships/slideLayout" Target="../slideLayouts/slideLayout7.xml"/><Relationship Id="rId4" Type="http://schemas.openxmlformats.org/officeDocument/2006/relationships/tags" Target="../tags/tag387.xml"/><Relationship Id="rId9" Type="http://schemas.openxmlformats.org/officeDocument/2006/relationships/tags" Target="../tags/tag392.xml"/></Relationships>
</file>

<file path=ppt/slides/_rels/slide156.xml.rels><?xml version="1.0" encoding="UTF-8" standalone="yes"?>
<Relationships xmlns="http://schemas.openxmlformats.org/package/2006/relationships"><Relationship Id="rId8" Type="http://schemas.openxmlformats.org/officeDocument/2006/relationships/image" Target="../media/image287.emf"/><Relationship Id="rId3" Type="http://schemas.openxmlformats.org/officeDocument/2006/relationships/image" Target="../media/image283.emf"/><Relationship Id="rId7" Type="http://schemas.openxmlformats.org/officeDocument/2006/relationships/image" Target="../media/image286.emf"/><Relationship Id="rId12" Type="http://schemas.openxmlformats.org/officeDocument/2006/relationships/image" Target="../media/image291.emf"/><Relationship Id="rId2" Type="http://schemas.openxmlformats.org/officeDocument/2006/relationships/image" Target="../media/image282.emf"/><Relationship Id="rId1" Type="http://schemas.openxmlformats.org/officeDocument/2006/relationships/slideLayout" Target="../slideLayouts/slideLayout7.xml"/><Relationship Id="rId6" Type="http://schemas.openxmlformats.org/officeDocument/2006/relationships/image" Target="../media/image285.emf"/><Relationship Id="rId11" Type="http://schemas.openxmlformats.org/officeDocument/2006/relationships/image" Target="../media/image290.emf"/><Relationship Id="rId5" Type="http://schemas.openxmlformats.org/officeDocument/2006/relationships/image" Target="../media/image284.emf"/><Relationship Id="rId10" Type="http://schemas.openxmlformats.org/officeDocument/2006/relationships/image" Target="../media/image289.emf"/><Relationship Id="rId4" Type="http://schemas.openxmlformats.org/officeDocument/2006/relationships/image" Target="../media/image249.emf"/><Relationship Id="rId9" Type="http://schemas.openxmlformats.org/officeDocument/2006/relationships/image" Target="../media/image288.emf"/></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8" Type="http://schemas.openxmlformats.org/officeDocument/2006/relationships/tags" Target="../tags/tag400.xml"/><Relationship Id="rId13" Type="http://schemas.openxmlformats.org/officeDocument/2006/relationships/image" Target="../media/image65.png"/><Relationship Id="rId3" Type="http://schemas.openxmlformats.org/officeDocument/2006/relationships/tags" Target="../tags/tag395.xml"/><Relationship Id="rId7" Type="http://schemas.openxmlformats.org/officeDocument/2006/relationships/tags" Target="../tags/tag399.xml"/><Relationship Id="rId12" Type="http://schemas.openxmlformats.org/officeDocument/2006/relationships/image" Target="../media/image292.emf"/><Relationship Id="rId2" Type="http://schemas.openxmlformats.org/officeDocument/2006/relationships/tags" Target="../tags/tag394.xml"/><Relationship Id="rId1" Type="http://schemas.openxmlformats.org/officeDocument/2006/relationships/tags" Target="../tags/tag393.xml"/><Relationship Id="rId6" Type="http://schemas.openxmlformats.org/officeDocument/2006/relationships/tags" Target="../tags/tag398.xml"/><Relationship Id="rId11" Type="http://schemas.openxmlformats.org/officeDocument/2006/relationships/notesSlide" Target="../notesSlides/notesSlide19.xml"/><Relationship Id="rId5" Type="http://schemas.openxmlformats.org/officeDocument/2006/relationships/tags" Target="../tags/tag397.xml"/><Relationship Id="rId10" Type="http://schemas.openxmlformats.org/officeDocument/2006/relationships/slideLayout" Target="../slideLayouts/slideLayout7.xml"/><Relationship Id="rId4" Type="http://schemas.openxmlformats.org/officeDocument/2006/relationships/tags" Target="../tags/tag396.xml"/><Relationship Id="rId9" Type="http://schemas.openxmlformats.org/officeDocument/2006/relationships/tags" Target="../tags/tag401.xml"/></Relationships>
</file>

<file path=ppt/slides/_rels/slide159.xml.rels><?xml version="1.0" encoding="UTF-8" standalone="yes"?>
<Relationships xmlns="http://schemas.openxmlformats.org/package/2006/relationships"><Relationship Id="rId2" Type="http://schemas.openxmlformats.org/officeDocument/2006/relationships/image" Target="../media/image292.emf"/><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8" Type="http://schemas.openxmlformats.org/officeDocument/2006/relationships/tags" Target="../tags/tag409.xml"/><Relationship Id="rId3" Type="http://schemas.openxmlformats.org/officeDocument/2006/relationships/tags" Target="../tags/tag404.xml"/><Relationship Id="rId7" Type="http://schemas.openxmlformats.org/officeDocument/2006/relationships/tags" Target="../tags/tag408.xml"/><Relationship Id="rId12" Type="http://schemas.openxmlformats.org/officeDocument/2006/relationships/image" Target="../media/image65.png"/><Relationship Id="rId2" Type="http://schemas.openxmlformats.org/officeDocument/2006/relationships/tags" Target="../tags/tag403.xml"/><Relationship Id="rId1" Type="http://schemas.openxmlformats.org/officeDocument/2006/relationships/tags" Target="../tags/tag402.xml"/><Relationship Id="rId6" Type="http://schemas.openxmlformats.org/officeDocument/2006/relationships/tags" Target="../tags/tag407.xml"/><Relationship Id="rId11" Type="http://schemas.openxmlformats.org/officeDocument/2006/relationships/notesSlide" Target="../notesSlides/notesSlide20.xml"/><Relationship Id="rId5" Type="http://schemas.openxmlformats.org/officeDocument/2006/relationships/tags" Target="../tags/tag406.xml"/><Relationship Id="rId10" Type="http://schemas.openxmlformats.org/officeDocument/2006/relationships/slideLayout" Target="../slideLayouts/slideLayout7.xml"/><Relationship Id="rId4" Type="http://schemas.openxmlformats.org/officeDocument/2006/relationships/tags" Target="../tags/tag405.xml"/><Relationship Id="rId9" Type="http://schemas.openxmlformats.org/officeDocument/2006/relationships/tags" Target="../tags/tag410.xml"/></Relationships>
</file>

<file path=ppt/slides/_rels/slide162.xml.rels><?xml version="1.0" encoding="UTF-8" standalone="yes"?>
<Relationships xmlns="http://schemas.openxmlformats.org/package/2006/relationships"><Relationship Id="rId2" Type="http://schemas.openxmlformats.org/officeDocument/2006/relationships/image" Target="../media/image293.pn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15950" y="2304415"/>
            <a:ext cx="7772400" cy="1470025"/>
          </a:xfrm>
          <a:ln>
            <a:miter lim="800000"/>
          </a:ln>
        </p:spPr>
        <p:txBody>
          <a:bodyPr vert="horz" wrap="square" lIns="91440" tIns="45720" rIns="91440" bIns="45720" numCol="1" rtlCol="0" anchor="ctr" anchorCtr="0" compatLnSpc="1">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4400" b="1" i="0" u="none" strike="noStrike" kern="1200" cap="none" spc="0" normalizeH="0" baseline="0" noProof="0" dirty="0" err="1">
                <a:ln>
                  <a:noFill/>
                </a:ln>
                <a:solidFill>
                  <a:srgbClr val="2C2C2C"/>
                </a:solidFill>
                <a:effectLst>
                  <a:outerShdw blurRad="38100" dist="38100" dir="2700000" algn="tl">
                    <a:srgbClr val="000000">
                      <a:alpha val="43137"/>
                    </a:srgbClr>
                  </a:outerShdw>
                </a:effectLst>
                <a:uLnTx/>
                <a:uFillTx/>
                <a:latin typeface="+mj-ea"/>
                <a:cs typeface="+mj-cs"/>
              </a:rPr>
              <a:t>课程</a:t>
            </a:r>
            <a:r>
              <a:rPr kumimoji="0" lang="zh-CN" altLang="en-US" sz="4400" b="1" i="0" u="none" strike="noStrike" kern="1200" cap="none" spc="0" normalizeH="0" baseline="0" noProof="0" dirty="0">
                <a:ln>
                  <a:noFill/>
                </a:ln>
                <a:solidFill>
                  <a:srgbClr val="2C2C2C"/>
                </a:solidFill>
                <a:effectLst>
                  <a:outerShdw blurRad="38100" dist="38100" dir="2700000" algn="tl">
                    <a:srgbClr val="000000">
                      <a:alpha val="43137"/>
                    </a:srgbClr>
                  </a:outerShdw>
                </a:effectLst>
                <a:uLnTx/>
                <a:uFillTx/>
                <a:latin typeface="+mj-ea"/>
                <a:cs typeface="+mj-cs"/>
              </a:rPr>
              <a:t>总结</a:t>
            </a:r>
            <a:endParaRPr kumimoji="0" lang="en-US" altLang="zh-CN" sz="4400" b="1" i="0" u="none" strike="noStrike" kern="1200" cap="none" spc="0" normalizeH="0" baseline="0" noProof="0" dirty="0">
              <a:ln>
                <a:noFill/>
              </a:ln>
              <a:solidFill>
                <a:srgbClr val="2C2C2C"/>
              </a:solidFill>
              <a:effectLst>
                <a:outerShdw blurRad="38100" dist="38100" dir="2700000" algn="tl">
                  <a:srgbClr val="000000">
                    <a:alpha val="43137"/>
                  </a:srgbClr>
                </a:outerShdw>
              </a:effectLst>
              <a:uLnTx/>
              <a:uFillTx/>
              <a:latin typeface="+mj-ea"/>
              <a:cs typeface="+mj-cs"/>
            </a:endParaRPr>
          </a:p>
        </p:txBody>
      </p:sp>
      <p:sp>
        <p:nvSpPr>
          <p:cNvPr id="8" name="圆角矩形 7"/>
          <p:cNvSpPr/>
          <p:nvPr/>
        </p:nvSpPr>
        <p:spPr>
          <a:xfrm>
            <a:off x="809624" y="974725"/>
            <a:ext cx="7473952" cy="1158875"/>
          </a:xfrm>
          <a:prstGeom prst="roundRect">
            <a:avLst>
              <a:gd name="adj" fmla="val 9948"/>
            </a:avLst>
          </a:prstGeom>
          <a:noFill/>
          <a:ln w="25400">
            <a:solidFill>
              <a:srgbClr val="F69418"/>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3200" b="1" dirty="0" err="1">
                <a:solidFill>
                  <a:srgbClr val="F69418"/>
                </a:solidFill>
                <a:latin typeface="Times New Roman" panose="02020603050405020304" pitchFamily="18" charset="0"/>
                <a:ea typeface="黑体" panose="02010609060101010101" pitchFamily="49" charset="-122"/>
                <a:cs typeface="Times New Roman" panose="02020603050405020304" pitchFamily="18" charset="0"/>
              </a:rPr>
              <a:t>形式语言与自动机</a:t>
            </a:r>
            <a:endParaRPr lang="en-US" altLang="zh-CN" sz="3200" b="1" dirty="0">
              <a:solidFill>
                <a:srgbClr val="F69418"/>
              </a:solidFill>
              <a:latin typeface="Times New Roman" panose="02020603050405020304" pitchFamily="18" charset="0"/>
              <a:ea typeface="黑体" panose="02010609060101010101" pitchFamily="49" charset="-122"/>
              <a:cs typeface="Times New Roman" panose="02020603050405020304" pitchFamily="18" charset="0"/>
            </a:endParaRPr>
          </a:p>
          <a:p>
            <a:pPr algn="ctr"/>
            <a:r>
              <a:rPr lang="en-US" altLang="zh-CN" sz="3200" b="1" dirty="0">
                <a:solidFill>
                  <a:srgbClr val="F69418"/>
                </a:solidFill>
                <a:latin typeface="Times New Roman" panose="02020603050405020304" pitchFamily="18" charset="0"/>
                <a:ea typeface="黑体" panose="02010609060101010101" pitchFamily="49" charset="-122"/>
                <a:cs typeface="Times New Roman" panose="02020603050405020304" pitchFamily="18" charset="0"/>
              </a:rPr>
              <a:t>Formal Languages and Automata Theory</a:t>
            </a:r>
          </a:p>
        </p:txBody>
      </p:sp>
      <p:grpSp>
        <p:nvGrpSpPr>
          <p:cNvPr id="5126" name="组合 9"/>
          <p:cNvGrpSpPr/>
          <p:nvPr/>
        </p:nvGrpSpPr>
        <p:grpSpPr>
          <a:xfrm>
            <a:off x="0" y="5030788"/>
            <a:ext cx="8699500" cy="1117600"/>
            <a:chOff x="0" y="5030681"/>
            <a:chExt cx="8700121" cy="1116947"/>
          </a:xfrm>
        </p:grpSpPr>
        <p:sp>
          <p:nvSpPr>
            <p:cNvPr id="11" name="矩形 10"/>
            <p:cNvSpPr/>
            <p:nvPr/>
          </p:nvSpPr>
          <p:spPr>
            <a:xfrm>
              <a:off x="0" y="5030681"/>
              <a:ext cx="8700121" cy="1116947"/>
            </a:xfrm>
            <a:prstGeom prst="rect">
              <a:avLst/>
            </a:prstGeom>
            <a:gradFill>
              <a:gsLst>
                <a:gs pos="0">
                  <a:schemeClr val="bg1">
                    <a:lumMod val="50000"/>
                  </a:schemeClr>
                </a:gs>
                <a:gs pos="99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2" name="TextBox 11"/>
            <p:cNvSpPr txBox="1"/>
            <p:nvPr/>
          </p:nvSpPr>
          <p:spPr>
            <a:xfrm>
              <a:off x="6647337" y="5345000"/>
              <a:ext cx="2040083" cy="461395"/>
            </a:xfrm>
            <a:prstGeom prst="rect">
              <a:avLst/>
            </a:prstGeom>
            <a:noFill/>
          </p:spPr>
          <p:txBody>
            <a:bodyPr>
              <a:spAutoFit/>
            </a:bodyPr>
            <a:lstStyle/>
            <a:p>
              <a:pPr marR="0" algn="ctr" defTabSz="914400">
                <a:buClrTx/>
                <a:buSzTx/>
                <a:buFontTx/>
                <a:defRPr/>
              </a:pPr>
              <a:r>
                <a:rPr kumimoji="0" lang="zh-CN" altLang="en-US" sz="2400" b="1" kern="1200" cap="none" spc="600" normalizeH="0" baseline="0" noProof="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汤步洲</a:t>
              </a:r>
              <a:r>
                <a:rPr kumimoji="0" lang="en-US" altLang="zh-CN" sz="2400" b="1" kern="1200" cap="none" spc="600" normalizeH="0" baseline="0" noProof="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endParaRPr kumimoji="0" lang="zh-CN" altLang="en-US" sz="2400" b="1" kern="1200" cap="none" spc="600" normalizeH="0" baseline="0" noProof="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3" name="组合 12"/>
            <p:cNvGrpSpPr/>
            <p:nvPr/>
          </p:nvGrpSpPr>
          <p:grpSpPr>
            <a:xfrm rot="10800000">
              <a:off x="149602" y="5139274"/>
              <a:ext cx="3166930" cy="810003"/>
              <a:chOff x="2077999" y="5178439"/>
              <a:chExt cx="2948941" cy="683692"/>
            </a:xfrm>
            <a:solidFill>
              <a:schemeClr val="bg1"/>
            </a:solidFill>
          </p:grpSpPr>
          <p:sp>
            <p:nvSpPr>
              <p:cNvPr id="14" name="矩形 13"/>
              <p:cNvSpPr/>
              <p:nvPr/>
            </p:nvSpPr>
            <p:spPr>
              <a:xfrm>
                <a:off x="4662430" y="5178441"/>
                <a:ext cx="364510" cy="683690"/>
              </a:xfrm>
              <a:prstGeom prst="rect">
                <a:avLst/>
              </a:prstGeom>
              <a:solidFill>
                <a:srgbClr val="78AF2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25"/>
              <p:cNvSpPr/>
              <p:nvPr/>
            </p:nvSpPr>
            <p:spPr>
              <a:xfrm>
                <a:off x="2077999" y="5178439"/>
                <a:ext cx="2520000" cy="683178"/>
              </a:xfrm>
              <a:custGeom>
                <a:avLst/>
                <a:gdLst/>
                <a:ahLst/>
                <a:cxnLst/>
                <a:rect l="l" t="t" r="r" b="b"/>
                <a:pathLst>
                  <a:path w="3995780" h="1199745">
                    <a:moveTo>
                      <a:pt x="3696727" y="760691"/>
                    </a:moveTo>
                    <a:lnTo>
                      <a:pt x="1033246" y="760691"/>
                    </a:lnTo>
                    <a:lnTo>
                      <a:pt x="1029703" y="940654"/>
                    </a:lnTo>
                    <a:lnTo>
                      <a:pt x="3696727" y="940654"/>
                    </a:lnTo>
                    <a:close/>
                    <a:moveTo>
                      <a:pt x="3700429" y="298400"/>
                    </a:moveTo>
                    <a:lnTo>
                      <a:pt x="1042348" y="298400"/>
                    </a:lnTo>
                    <a:lnTo>
                      <a:pt x="1038805" y="478363"/>
                    </a:lnTo>
                    <a:lnTo>
                      <a:pt x="3700429" y="478363"/>
                    </a:lnTo>
                    <a:close/>
                    <a:moveTo>
                      <a:pt x="3995780" y="2065"/>
                    </a:moveTo>
                    <a:lnTo>
                      <a:pt x="3995780" y="1198688"/>
                    </a:lnTo>
                    <a:lnTo>
                      <a:pt x="1024623" y="1198688"/>
                    </a:lnTo>
                    <a:lnTo>
                      <a:pt x="1024602" y="1199745"/>
                    </a:lnTo>
                    <a:lnTo>
                      <a:pt x="1022842" y="1198688"/>
                    </a:lnTo>
                    <a:lnTo>
                      <a:pt x="1014564" y="1198688"/>
                    </a:lnTo>
                    <a:lnTo>
                      <a:pt x="1014564" y="1193714"/>
                    </a:lnTo>
                    <a:lnTo>
                      <a:pt x="0" y="584102"/>
                    </a:lnTo>
                    <a:lnTo>
                      <a:pt x="1014564" y="18756"/>
                    </a:lnTo>
                    <a:lnTo>
                      <a:pt x="1014564" y="2065"/>
                    </a:lnTo>
                    <a:lnTo>
                      <a:pt x="1044517" y="2065"/>
                    </a:lnTo>
                    <a:lnTo>
                      <a:pt x="1048224" y="0"/>
                    </a:lnTo>
                    <a:lnTo>
                      <a:pt x="1048183" y="2065"/>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grpSp>
      <p:sp>
        <p:nvSpPr>
          <p:cNvPr id="3" name="文本框 2"/>
          <p:cNvSpPr txBox="1"/>
          <p:nvPr/>
        </p:nvSpPr>
        <p:spPr>
          <a:xfrm>
            <a:off x="3276600" y="3774440"/>
            <a:ext cx="2540000" cy="645160"/>
          </a:xfrm>
          <a:prstGeom prst="rect">
            <a:avLst/>
          </a:prstGeom>
          <a:noFill/>
        </p:spPr>
        <p:txBody>
          <a:bodyPr wrap="square" rtlCol="0" anchor="t">
            <a:spAutoFit/>
          </a:bodyPr>
          <a:lstStyle/>
          <a:p>
            <a:pPr eaLnBrk="1" hangingPunct="1"/>
            <a:r>
              <a:rPr lang="zh-CN" altLang="en-US" dirty="0">
                <a:latin typeface="楷体" panose="02010609060101010101" pitchFamily="49" charset="-122"/>
                <a:ea typeface="楷体" panose="02010609060101010101" pitchFamily="49" charset="-122"/>
                <a:sym typeface="+mn-ea"/>
              </a:rPr>
              <a:t>计算机科学与技术学院</a:t>
            </a:r>
            <a:endParaRPr lang="en-US" altLang="zh-CN" dirty="0">
              <a:latin typeface="楷体" panose="02010609060101010101" pitchFamily="49" charset="-122"/>
              <a:ea typeface="楷体" panose="02010609060101010101" pitchFamily="49" charset="-122"/>
            </a:endParaRPr>
          </a:p>
          <a:p>
            <a:pPr eaLnBrk="1" hangingPunct="1"/>
            <a:r>
              <a:rPr lang="zh-CN" altLang="en-US" dirty="0">
                <a:latin typeface="楷体" panose="02010609060101010101" pitchFamily="49" charset="-122"/>
                <a:ea typeface="楷体" panose="02010609060101010101" pitchFamily="49" charset="-122"/>
                <a:sym typeface="+mn-ea"/>
              </a:rPr>
              <a:t>哈尔滨工业大学（深圳）</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7315"/>
            <a:ext cx="8229600" cy="915670"/>
          </a:xfrm>
        </p:spPr>
        <p:txBody>
          <a:bodyPr/>
          <a:lstStyle/>
          <a:p>
            <a:pPr algn="r">
              <a:buClrTx/>
              <a:buSzTx/>
              <a:buFontTx/>
            </a:pPr>
            <a:r>
              <a:rPr lang="en-US" altLang="zh-CN" sz="3600" dirty="0">
                <a:solidFill>
                  <a:schemeClr val="bg1"/>
                </a:solidFill>
                <a:effectLst>
                  <a:outerShdw blurRad="38100" dist="38100" dir="2700000" algn="tl">
                    <a:srgbClr val="000000">
                      <a:alpha val="43137"/>
                    </a:srgbClr>
                  </a:outerShdw>
                </a:effectLst>
              </a:rPr>
              <a:t>课程内容</a:t>
            </a:r>
          </a:p>
        </p:txBody>
      </p:sp>
      <p:sp>
        <p:nvSpPr>
          <p:cNvPr id="3" name="Content Placeholder 2"/>
          <p:cNvSpPr>
            <a:spLocks noGrp="1"/>
          </p:cNvSpPr>
          <p:nvPr>
            <p:ph idx="1"/>
          </p:nvPr>
        </p:nvSpPr>
        <p:spPr>
          <a:xfrm>
            <a:off x="533400" y="990600"/>
            <a:ext cx="8229600" cy="4525963"/>
          </a:xfrm>
        </p:spPr>
        <p:txBody>
          <a:bodyPr>
            <a:normAutofit fontScale="92500" lnSpcReduction="20000"/>
          </a:bodyPr>
          <a:lstStyle/>
          <a:p>
            <a:r>
              <a:rPr lang="zh-CN" altLang="en-US" dirty="0"/>
              <a:t>正则语言</a:t>
            </a:r>
            <a:endParaRPr lang="en-AU" altLang="zh-CN" dirty="0"/>
          </a:p>
          <a:p>
            <a:pPr lvl="1"/>
            <a:r>
              <a:rPr lang="zh-CN" altLang="en-US" dirty="0"/>
              <a:t>有穷自动机</a:t>
            </a:r>
            <a:endParaRPr lang="en-AU" altLang="zh-CN" dirty="0"/>
          </a:p>
          <a:p>
            <a:pPr lvl="1"/>
            <a:r>
              <a:rPr lang="zh-CN" altLang="en-US" dirty="0"/>
              <a:t>正则表达式</a:t>
            </a:r>
            <a:endParaRPr lang="en-AU" altLang="zh-CN" dirty="0"/>
          </a:p>
          <a:p>
            <a:pPr lvl="1"/>
            <a:r>
              <a:rPr lang="zh-CN" altLang="en-US" dirty="0"/>
              <a:t>正则语言的性质</a:t>
            </a:r>
            <a:endParaRPr lang="en-AU" altLang="zh-CN" dirty="0"/>
          </a:p>
          <a:p>
            <a:r>
              <a:rPr lang="zh-CN" altLang="en-US" dirty="0"/>
              <a:t>上下文无关语言</a:t>
            </a:r>
            <a:endParaRPr lang="en-AU" altLang="zh-CN" dirty="0"/>
          </a:p>
          <a:p>
            <a:pPr lvl="1"/>
            <a:r>
              <a:rPr lang="zh-CN" altLang="en-US" dirty="0"/>
              <a:t>上下文无关文法</a:t>
            </a:r>
            <a:endParaRPr lang="en-AU" altLang="zh-CN" dirty="0"/>
          </a:p>
          <a:p>
            <a:pPr lvl="1"/>
            <a:r>
              <a:rPr lang="zh-CN" altLang="en-US" dirty="0"/>
              <a:t>下推自动机</a:t>
            </a:r>
            <a:endParaRPr lang="en-AU" altLang="zh-CN" dirty="0"/>
          </a:p>
          <a:p>
            <a:pPr lvl="1"/>
            <a:r>
              <a:rPr lang="zh-CN" altLang="en-US" dirty="0"/>
              <a:t>上下文无关语言的性质</a:t>
            </a:r>
            <a:endParaRPr lang="en-AU" altLang="zh-CN" dirty="0"/>
          </a:p>
          <a:p>
            <a:r>
              <a:rPr lang="zh-CN" altLang="en-US" dirty="0"/>
              <a:t>计算导论</a:t>
            </a:r>
            <a:endParaRPr lang="en-AU" altLang="zh-CN" dirty="0"/>
          </a:p>
          <a:p>
            <a:pPr lvl="1"/>
            <a:r>
              <a:rPr lang="zh-CN" altLang="en-US" dirty="0"/>
              <a:t>图灵机及其扩展</a:t>
            </a:r>
            <a:endParaRPr lang="en-AU" altLang="zh-CN" dirty="0"/>
          </a:p>
          <a:p>
            <a:pPr lvl="1"/>
            <a:r>
              <a:rPr lang="zh-CN" altLang="en-US" dirty="0"/>
              <a:t>不可判定性</a:t>
            </a:r>
            <a:endParaRPr lang="en-AU" dirty="0"/>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t>2</a:t>
            </a:fld>
            <a:endParaRPr lang="en-US" altLang="zh-CN"/>
          </a:p>
        </p:txBody>
      </p:sp>
      <p:pic>
        <p:nvPicPr>
          <p:cNvPr id="6" name="Picture 6"/>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990600"/>
            <a:ext cx="6858000" cy="5194300"/>
          </a:xfrm>
          <a:prstGeom prst="roundRect">
            <a:avLst>
              <a:gd name="adj" fmla="val 4167"/>
            </a:avLst>
          </a:prstGeom>
          <a:solidFill>
            <a:srgbClr val="FFFFFF"/>
          </a:solidFill>
          <a:ln w="76200" cap="sq">
            <a:solidFill>
              <a:srgbClr val="EAEAEA"/>
            </a:solidFill>
            <a:miter lim="800000"/>
            <a:headEnd/>
            <a:tailEnd/>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1675"/>
            <a:ext cx="8229600" cy="1143000"/>
          </a:xfrm>
        </p:spPr>
        <p:txBody>
          <a:bodyPr/>
          <a:lstStyle/>
          <a:p>
            <a:r>
              <a:rPr lang="zh-CN" altLang="en-US" dirty="0"/>
              <a:t>内容大纲</a:t>
            </a:r>
            <a:endParaRPr lang="en-AU" dirty="0"/>
          </a:p>
        </p:txBody>
      </p:sp>
      <p:sp>
        <p:nvSpPr>
          <p:cNvPr id="3" name="Content Placeholder 2"/>
          <p:cNvSpPr>
            <a:spLocks noGrp="1"/>
          </p:cNvSpPr>
          <p:nvPr>
            <p:ph idx="1"/>
          </p:nvPr>
        </p:nvSpPr>
        <p:spPr>
          <a:xfrm>
            <a:off x="457200" y="2027237"/>
            <a:ext cx="8229600" cy="4525963"/>
          </a:xfrm>
        </p:spPr>
        <p:txBody>
          <a:bodyPr/>
          <a:lstStyle/>
          <a:p>
            <a:pPr algn="just">
              <a:buNone/>
            </a:pPr>
            <a:r>
              <a:rPr lang="en-US" altLang="zh-CN" sz="3600" dirty="0">
                <a:latin typeface="Times New Roman" panose="02020603050405020304" pitchFamily="18" charset="0"/>
                <a:ea typeface="宋体" panose="02010600030101010101" pitchFamily="2" charset="-122"/>
              </a:rPr>
              <a:t>(1)</a:t>
            </a:r>
            <a:r>
              <a:rPr lang="zh-CN" altLang="en-US" sz="3600" dirty="0">
                <a:latin typeface="Times New Roman" panose="02020603050405020304" pitchFamily="18" charset="0"/>
                <a:ea typeface="宋体" panose="02010600030101010101" pitchFamily="2" charset="-122"/>
              </a:rPr>
              <a:t> 乔姆斯基文法体系</a:t>
            </a:r>
            <a:endParaRPr lang="en-US" altLang="zh-CN" sz="3600" dirty="0">
              <a:latin typeface="Times New Roman" panose="02020603050405020304" pitchFamily="18" charset="0"/>
              <a:ea typeface="宋体" panose="02010600030101010101" pitchFamily="2" charset="-122"/>
            </a:endParaRPr>
          </a:p>
          <a:p>
            <a:pPr algn="just">
              <a:buNone/>
            </a:pPr>
            <a:r>
              <a:rPr lang="en-US" altLang="zh-CN" sz="3600" dirty="0">
                <a:latin typeface="Times New Roman" panose="02020603050405020304" pitchFamily="18" charset="0"/>
                <a:ea typeface="宋体" panose="02010600030101010101" pitchFamily="2" charset="-122"/>
              </a:rPr>
              <a:t>(2)</a:t>
            </a:r>
            <a:r>
              <a:rPr lang="zh-CN" altLang="en-US" sz="3600" dirty="0">
                <a:latin typeface="Times New Roman" panose="02020603050405020304" pitchFamily="18" charset="0"/>
                <a:ea typeface="宋体" panose="02010600030101010101" pitchFamily="2" charset="-122"/>
              </a:rPr>
              <a:t> 形式语言与自动机</a:t>
            </a:r>
            <a:endParaRPr lang="en-US" altLang="zh-CN" sz="3600" dirty="0">
              <a:latin typeface="Times New Roman" panose="02020603050405020304" pitchFamily="18" charset="0"/>
              <a:ea typeface="宋体" panose="02010600030101010101" pitchFamily="2" charset="-122"/>
            </a:endParaRPr>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t>3</a:t>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1675"/>
            <a:ext cx="8229600" cy="1143000"/>
          </a:xfrm>
        </p:spPr>
        <p:txBody>
          <a:bodyPr/>
          <a:lstStyle/>
          <a:p>
            <a:r>
              <a:rPr lang="zh-CN" altLang="en-US" dirty="0"/>
              <a:t>内容大纲</a:t>
            </a:r>
            <a:endParaRPr lang="en-AU" dirty="0"/>
          </a:p>
        </p:txBody>
      </p:sp>
      <p:sp>
        <p:nvSpPr>
          <p:cNvPr id="3" name="Content Placeholder 2"/>
          <p:cNvSpPr>
            <a:spLocks noGrp="1"/>
          </p:cNvSpPr>
          <p:nvPr>
            <p:ph idx="1"/>
          </p:nvPr>
        </p:nvSpPr>
        <p:spPr>
          <a:xfrm>
            <a:off x="457200" y="2027237"/>
            <a:ext cx="8229600" cy="4525963"/>
          </a:xfrm>
        </p:spPr>
        <p:txBody>
          <a:bodyPr/>
          <a:lstStyle/>
          <a:p>
            <a:pPr algn="just">
              <a:buNone/>
            </a:pPr>
            <a:r>
              <a:rPr lang="en-US" altLang="zh-CN" sz="3600" dirty="0">
                <a:latin typeface="Times New Roman" panose="02020603050405020304" pitchFamily="18" charset="0"/>
                <a:ea typeface="宋体" panose="02010600030101010101" pitchFamily="2" charset="-122"/>
              </a:rPr>
              <a:t>(1) </a:t>
            </a:r>
            <a:r>
              <a:rPr lang="zh-CN" altLang="en-US" sz="3600" dirty="0">
                <a:latin typeface="Times New Roman" panose="02020603050405020304" pitchFamily="18" charset="0"/>
                <a:ea typeface="宋体" panose="02010600030101010101" pitchFamily="2" charset="-122"/>
              </a:rPr>
              <a:t>乔姆斯基文法体系</a:t>
            </a:r>
            <a:endParaRPr lang="en-US" altLang="zh-CN" sz="3600" dirty="0">
              <a:latin typeface="Times New Roman" panose="02020603050405020304" pitchFamily="18" charset="0"/>
              <a:ea typeface="宋体" panose="02010600030101010101" pitchFamily="2" charset="-122"/>
            </a:endParaRPr>
          </a:p>
          <a:p>
            <a:pPr algn="just">
              <a:buNone/>
            </a:pPr>
            <a:r>
              <a:rPr lang="en-US" altLang="zh-CN" sz="3600" dirty="0">
                <a:solidFill>
                  <a:schemeClr val="bg1">
                    <a:lumMod val="65000"/>
                  </a:schemeClr>
                </a:solidFill>
                <a:latin typeface="Times New Roman" panose="02020603050405020304" pitchFamily="18" charset="0"/>
                <a:ea typeface="宋体" panose="02010600030101010101" pitchFamily="2" charset="-122"/>
              </a:rPr>
              <a:t>(2) </a:t>
            </a:r>
            <a:r>
              <a:rPr lang="zh-CN" altLang="en-US" sz="3600" dirty="0">
                <a:solidFill>
                  <a:schemeClr val="bg1">
                    <a:lumMod val="65000"/>
                  </a:schemeClr>
                </a:solidFill>
                <a:latin typeface="Times New Roman" panose="02020603050405020304" pitchFamily="18" charset="0"/>
                <a:ea typeface="宋体" panose="02010600030101010101" pitchFamily="2" charset="-122"/>
              </a:rPr>
              <a:t>形式语言与自动机</a:t>
            </a:r>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t>4</a:t>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662E1F6-9BD6-474C-A82E-E07C3DB67AAE}" type="slidenum">
              <a:rPr lang="en-AU" smtClean="0"/>
              <a:t>5</a:t>
            </a:fld>
            <a:endParaRPr lang="en-AU"/>
          </a:p>
        </p:txBody>
      </p:sp>
      <p:pic>
        <p:nvPicPr>
          <p:cNvPr id="14" name="Picture 13"/>
          <p:cNvPicPr>
            <a:picLocks noChangeAspect="1"/>
          </p:cNvPicPr>
          <p:nvPr/>
        </p:nvPicPr>
        <p:blipFill>
          <a:blip r:embed="rId2"/>
          <a:stretch>
            <a:fillRect/>
          </a:stretch>
        </p:blipFill>
        <p:spPr>
          <a:xfrm>
            <a:off x="152400" y="2584898"/>
            <a:ext cx="5105400" cy="3519001"/>
          </a:xfrm>
          <a:prstGeom prst="rect">
            <a:avLst/>
          </a:prstGeom>
        </p:spPr>
      </p:pic>
      <p:sp>
        <p:nvSpPr>
          <p:cNvPr id="7" name="Title 1"/>
          <p:cNvSpPr>
            <a:spLocks noGrp="1"/>
          </p:cNvSpPr>
          <p:nvPr>
            <p:ph type="title"/>
          </p:nvPr>
        </p:nvSpPr>
        <p:spPr>
          <a:xfrm>
            <a:off x="457200" y="-107315"/>
            <a:ext cx="8229600" cy="91567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乔姆斯基文法系统</a:t>
            </a:r>
            <a:endParaRPr lang="en-US" altLang="zh-CN" sz="3600" dirty="0">
              <a:solidFill>
                <a:schemeClr val="bg1"/>
              </a:solidFill>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9" name="文本框 8"/>
              <p:cNvSpPr txBox="1"/>
              <p:nvPr/>
            </p:nvSpPr>
            <p:spPr>
              <a:xfrm>
                <a:off x="533400" y="762000"/>
                <a:ext cx="8382000" cy="1569660"/>
              </a:xfrm>
              <a:prstGeom prst="rect">
                <a:avLst/>
              </a:prstGeom>
              <a:noFill/>
            </p:spPr>
            <p:txBody>
              <a:bodyPr wrap="square">
                <a:spAutoFit/>
              </a:bodyPr>
              <a:lstStyle/>
              <a:p>
                <a:r>
                  <a:rPr lang="zh-CN" altLang="en-US" sz="2400" b="1" dirty="0"/>
                  <a:t>如果文法 </a:t>
                </a:r>
                <a14:m>
                  <m:oMath xmlns:m="http://schemas.openxmlformats.org/officeDocument/2006/math">
                    <m:r>
                      <a:rPr lang="en-AU" altLang="zh-CN" sz="2400" b="1" i="1" dirty="0" smtClean="0">
                        <a:latin typeface="Cambria Math" panose="02040503050406030204" pitchFamily="18" charset="0"/>
                      </a:rPr>
                      <m:t>𝑮</m:t>
                    </m:r>
                    <m:r>
                      <a:rPr lang="en-AU" altLang="zh-CN" sz="2400" b="1" i="1" dirty="0" smtClean="0">
                        <a:latin typeface="Cambria Math" panose="02040503050406030204" pitchFamily="18" charset="0"/>
                      </a:rPr>
                      <m:t> = (</m:t>
                    </m:r>
                    <m:r>
                      <a:rPr lang="en-AU" altLang="zh-CN" sz="2400" b="1" i="1" dirty="0" smtClean="0">
                        <a:latin typeface="Cambria Math" panose="02040503050406030204" pitchFamily="18" charset="0"/>
                      </a:rPr>
                      <m:t>𝑽</m:t>
                    </m:r>
                    <m:r>
                      <a:rPr lang="en-AU" altLang="zh-CN" sz="2400" b="1" i="1" dirty="0" smtClean="0">
                        <a:latin typeface="Cambria Math" panose="02040503050406030204" pitchFamily="18" charset="0"/>
                      </a:rPr>
                      <m:t>, </m:t>
                    </m:r>
                    <m:r>
                      <a:rPr lang="en-AU" altLang="zh-CN" sz="2400" b="1" i="1" dirty="0" smtClean="0">
                        <a:latin typeface="Cambria Math" panose="02040503050406030204" pitchFamily="18" charset="0"/>
                      </a:rPr>
                      <m:t>𝑻</m:t>
                    </m:r>
                    <m:r>
                      <a:rPr lang="en-AU" altLang="zh-CN" sz="2400" b="1" i="1" dirty="0" smtClean="0">
                        <a:latin typeface="Cambria Math" panose="02040503050406030204" pitchFamily="18" charset="0"/>
                      </a:rPr>
                      <m:t>, </m:t>
                    </m:r>
                    <m:r>
                      <a:rPr lang="en-AU" altLang="zh-CN" sz="2400" b="1" i="1" dirty="0" smtClean="0">
                        <a:latin typeface="Cambria Math" panose="02040503050406030204" pitchFamily="18" charset="0"/>
                      </a:rPr>
                      <m:t>𝑷</m:t>
                    </m:r>
                    <m:r>
                      <a:rPr lang="en-AU" altLang="zh-CN" sz="2400" b="1" i="1" dirty="0" smtClean="0">
                        <a:latin typeface="Cambria Math" panose="02040503050406030204" pitchFamily="18" charset="0"/>
                      </a:rPr>
                      <m:t>, </m:t>
                    </m:r>
                    <m:r>
                      <a:rPr lang="en-AU" altLang="zh-CN" sz="2400" b="1" i="1" dirty="0" smtClean="0">
                        <a:latin typeface="Cambria Math" panose="02040503050406030204" pitchFamily="18" charset="0"/>
                      </a:rPr>
                      <m:t>𝑺</m:t>
                    </m:r>
                    <m:r>
                      <a:rPr lang="en-AU" altLang="zh-CN" sz="2400" b="1" i="1" dirty="0" smtClean="0">
                        <a:latin typeface="Cambria Math" panose="02040503050406030204" pitchFamily="18" charset="0"/>
                      </a:rPr>
                      <m:t>), </m:t>
                    </m:r>
                  </m:oMath>
                </a14:m>
                <a:r>
                  <a:rPr lang="zh-CN" altLang="en-US" sz="2400" b="1" dirty="0"/>
                  <a:t>符号串 </a:t>
                </a:r>
                <a14:m>
                  <m:oMath xmlns:m="http://schemas.openxmlformats.org/officeDocument/2006/math">
                    <m:r>
                      <a:rPr lang="el-GR" altLang="zh-CN" sz="2400" b="1" i="1" dirty="0" smtClean="0">
                        <a:latin typeface="Cambria Math" panose="02040503050406030204" pitchFamily="18" charset="0"/>
                      </a:rPr>
                      <m:t>𝜶</m:t>
                    </m:r>
                    <m:r>
                      <a:rPr lang="el-GR" altLang="zh-CN" sz="2400" b="1" i="1" dirty="0" smtClean="0">
                        <a:latin typeface="Cambria Math" panose="02040503050406030204" pitchFamily="18" charset="0"/>
                      </a:rPr>
                      <m:t> ∈ </m:t>
                    </m:r>
                    <m:sSup>
                      <m:sSupPr>
                        <m:ctrlPr>
                          <a:rPr lang="el-GR" altLang="zh-CN" sz="2400" b="1" i="1" dirty="0" smtClean="0">
                            <a:latin typeface="Cambria Math" panose="02040503050406030204" pitchFamily="18" charset="0"/>
                          </a:rPr>
                        </m:ctrlPr>
                      </m:sSupPr>
                      <m:e>
                        <m:r>
                          <a:rPr lang="el-GR" altLang="zh-CN" sz="2400" b="1" i="1" dirty="0">
                            <a:latin typeface="Cambria Math" panose="02040503050406030204" pitchFamily="18" charset="0"/>
                          </a:rPr>
                          <m:t>(</m:t>
                        </m:r>
                        <m:r>
                          <a:rPr lang="en-AU" altLang="zh-CN" sz="2400" b="1" i="1" dirty="0">
                            <a:latin typeface="Cambria Math" panose="02040503050406030204" pitchFamily="18" charset="0"/>
                          </a:rPr>
                          <m:t>𝑽</m:t>
                        </m:r>
                        <m:r>
                          <a:rPr lang="en-AU" altLang="zh-CN" sz="2400" b="1" i="1" dirty="0">
                            <a:latin typeface="Cambria Math" panose="02040503050406030204" pitchFamily="18" charset="0"/>
                          </a:rPr>
                          <m:t> ∪ </m:t>
                        </m:r>
                        <m:r>
                          <a:rPr lang="en-AU" altLang="zh-CN" sz="2400" b="1" i="1" dirty="0">
                            <a:latin typeface="Cambria Math" panose="02040503050406030204" pitchFamily="18" charset="0"/>
                          </a:rPr>
                          <m:t>𝑻</m:t>
                        </m:r>
                        <m:r>
                          <a:rPr lang="en-AU" altLang="zh-CN" sz="2400" b="1" i="1" dirty="0">
                            <a:latin typeface="Cambria Math" panose="02040503050406030204" pitchFamily="18" charset="0"/>
                          </a:rPr>
                          <m:t>)</m:t>
                        </m:r>
                      </m:e>
                      <m:sup>
                        <m:r>
                          <a:rPr lang="en-AU" altLang="zh-CN" sz="2400" b="1" i="1" dirty="0" smtClean="0">
                            <a:latin typeface="Cambria Math" panose="02040503050406030204" pitchFamily="18" charset="0"/>
                          </a:rPr>
                          <m:t>∗</m:t>
                        </m:r>
                      </m:sup>
                    </m:sSup>
                    <m:r>
                      <a:rPr lang="en-AU" altLang="zh-CN" sz="2400" b="1" i="1" dirty="0" smtClean="0">
                        <a:latin typeface="Cambria Math" panose="02040503050406030204" pitchFamily="18" charset="0"/>
                      </a:rPr>
                      <m:t>𝑽</m:t>
                    </m:r>
                    <m:sSup>
                      <m:sSupPr>
                        <m:ctrlPr>
                          <a:rPr lang="el-GR" altLang="zh-CN" sz="2400" b="1" i="1" dirty="0">
                            <a:latin typeface="Cambria Math" panose="02040503050406030204" pitchFamily="18" charset="0"/>
                          </a:rPr>
                        </m:ctrlPr>
                      </m:sSupPr>
                      <m:e>
                        <m:r>
                          <a:rPr lang="el-GR" altLang="zh-CN" sz="2400" b="1" i="1" dirty="0">
                            <a:latin typeface="Cambria Math" panose="02040503050406030204" pitchFamily="18" charset="0"/>
                          </a:rPr>
                          <m:t>(</m:t>
                        </m:r>
                        <m:r>
                          <a:rPr lang="en-AU" altLang="zh-CN" sz="2400" b="1" i="1" dirty="0">
                            <a:latin typeface="Cambria Math" panose="02040503050406030204" pitchFamily="18" charset="0"/>
                          </a:rPr>
                          <m:t>𝑽</m:t>
                        </m:r>
                        <m:r>
                          <a:rPr lang="en-AU" altLang="zh-CN" sz="2400" b="1" i="1" dirty="0">
                            <a:latin typeface="Cambria Math" panose="02040503050406030204" pitchFamily="18" charset="0"/>
                          </a:rPr>
                          <m:t> ∪ </m:t>
                        </m:r>
                        <m:r>
                          <a:rPr lang="en-AU" altLang="zh-CN" sz="2400" b="1" i="1" dirty="0">
                            <a:latin typeface="Cambria Math" panose="02040503050406030204" pitchFamily="18" charset="0"/>
                          </a:rPr>
                          <m:t>𝑻</m:t>
                        </m:r>
                        <m:r>
                          <a:rPr lang="en-AU" altLang="zh-CN" sz="2400" b="1" i="1" dirty="0">
                            <a:latin typeface="Cambria Math" panose="02040503050406030204" pitchFamily="18" charset="0"/>
                          </a:rPr>
                          <m:t>)</m:t>
                        </m:r>
                      </m:e>
                      <m:sup>
                        <m:r>
                          <a:rPr lang="en-AU" altLang="zh-CN" sz="2400" b="1" i="1" dirty="0">
                            <a:latin typeface="Cambria Math" panose="02040503050406030204" pitchFamily="18" charset="0"/>
                          </a:rPr>
                          <m:t>∗</m:t>
                        </m:r>
                      </m:sup>
                    </m:sSup>
                  </m:oMath>
                </a14:m>
                <a:r>
                  <a:rPr lang="en-AU" altLang="zh-CN" sz="2400" b="1" dirty="0"/>
                  <a:t>,</a:t>
                </a:r>
                <a14:m>
                  <m:oMath xmlns:m="http://schemas.openxmlformats.org/officeDocument/2006/math">
                    <m:r>
                      <a:rPr lang="el-GR" altLang="zh-CN" sz="2400" b="1" i="1" dirty="0" smtClean="0">
                        <a:latin typeface="Cambria Math" panose="02040503050406030204" pitchFamily="18" charset="0"/>
                      </a:rPr>
                      <m:t>𝜷</m:t>
                    </m:r>
                    <m:r>
                      <a:rPr lang="el-GR" altLang="zh-CN" sz="2400" b="1" i="1" dirty="0" smtClean="0">
                        <a:latin typeface="Cambria Math" panose="02040503050406030204" pitchFamily="18" charset="0"/>
                      </a:rPr>
                      <m:t> ∈</m:t>
                    </m:r>
                    <m:sSup>
                      <m:sSupPr>
                        <m:ctrlPr>
                          <a:rPr lang="el-GR" altLang="zh-CN" sz="2400" b="1" i="1" dirty="0">
                            <a:latin typeface="Cambria Math" panose="02040503050406030204" pitchFamily="18" charset="0"/>
                          </a:rPr>
                        </m:ctrlPr>
                      </m:sSupPr>
                      <m:e>
                        <m:r>
                          <a:rPr lang="el-GR" altLang="zh-CN" sz="2400" b="1" i="1" dirty="0">
                            <a:latin typeface="Cambria Math" panose="02040503050406030204" pitchFamily="18" charset="0"/>
                          </a:rPr>
                          <m:t>(</m:t>
                        </m:r>
                        <m:r>
                          <a:rPr lang="en-AU" altLang="zh-CN" sz="2400" b="1" i="1" dirty="0">
                            <a:latin typeface="Cambria Math" panose="02040503050406030204" pitchFamily="18" charset="0"/>
                          </a:rPr>
                          <m:t>𝑽</m:t>
                        </m:r>
                        <m:r>
                          <a:rPr lang="en-AU" altLang="zh-CN" sz="2400" b="1" i="1" dirty="0">
                            <a:latin typeface="Cambria Math" panose="02040503050406030204" pitchFamily="18" charset="0"/>
                          </a:rPr>
                          <m:t> ∪ </m:t>
                        </m:r>
                        <m:r>
                          <a:rPr lang="en-AU" altLang="zh-CN" sz="2400" b="1" i="1" dirty="0">
                            <a:latin typeface="Cambria Math" panose="02040503050406030204" pitchFamily="18" charset="0"/>
                          </a:rPr>
                          <m:t>𝑻</m:t>
                        </m:r>
                        <m:r>
                          <a:rPr lang="en-AU" altLang="zh-CN" sz="2400" b="1" i="1" dirty="0">
                            <a:latin typeface="Cambria Math" panose="02040503050406030204" pitchFamily="18" charset="0"/>
                          </a:rPr>
                          <m:t>)</m:t>
                        </m:r>
                      </m:e>
                      <m:sup>
                        <m:r>
                          <a:rPr lang="en-AU" altLang="zh-CN" sz="2400" b="1" i="1" dirty="0">
                            <a:latin typeface="Cambria Math" panose="02040503050406030204" pitchFamily="18" charset="0"/>
                          </a:rPr>
                          <m:t>∗</m:t>
                        </m:r>
                      </m:sup>
                    </m:sSup>
                  </m:oMath>
                </a14:m>
                <a:r>
                  <a:rPr lang="en-AU" altLang="zh-CN" sz="2400" b="1" dirty="0"/>
                  <a:t>, </a:t>
                </a:r>
                <a:r>
                  <a:rPr lang="zh-CN" altLang="en-US" sz="2400" b="1" dirty="0"/>
                  <a:t>产生式都形如</a:t>
                </a:r>
                <a:endParaRPr lang="en-AU" altLang="zh-CN" sz="2400" b="1" i="1" dirty="0">
                  <a:latin typeface="Cambria Math" panose="02040503050406030204" pitchFamily="18" charset="0"/>
                </a:endParaRPr>
              </a:p>
              <a:p>
                <a:pPr marL="0" indent="0" algn="ctr">
                  <a:buNone/>
                </a:pPr>
                <a14:m>
                  <m:oMath xmlns:m="http://schemas.openxmlformats.org/officeDocument/2006/math">
                    <m:r>
                      <a:rPr lang="el-GR" altLang="zh-CN" sz="2400" b="1" i="1" dirty="0" smtClean="0">
                        <a:latin typeface="Cambria Math" panose="02040503050406030204" pitchFamily="18" charset="0"/>
                      </a:rPr>
                      <m:t>𝜶</m:t>
                    </m:r>
                    <m:r>
                      <a:rPr lang="el-GR" altLang="zh-CN" sz="2400" b="1" i="1" dirty="0" smtClean="0">
                        <a:latin typeface="Cambria Math" panose="02040503050406030204" pitchFamily="18" charset="0"/>
                      </a:rPr>
                      <m:t>→</m:t>
                    </m:r>
                    <m:r>
                      <a:rPr lang="el-GR" altLang="zh-CN" sz="2400" b="1" i="1" dirty="0" smtClean="0">
                        <a:latin typeface="Cambria Math" panose="02040503050406030204" pitchFamily="18" charset="0"/>
                      </a:rPr>
                      <m:t>𝜷</m:t>
                    </m:r>
                  </m:oMath>
                </a14:m>
                <a:r>
                  <a:rPr lang="en-AU" altLang="zh-CN" sz="2400" b="1" dirty="0"/>
                  <a:t>,</a:t>
                </a:r>
              </a:p>
              <a:p>
                <a:pPr marL="0" indent="0">
                  <a:buNone/>
                </a:pPr>
                <a:r>
                  <a:rPr lang="zh-CN" altLang="en-US" sz="2400" b="1" dirty="0"/>
                  <a:t>即每个产生式的左部</a:t>
                </a:r>
                <a14:m>
                  <m:oMath xmlns:m="http://schemas.openxmlformats.org/officeDocument/2006/math">
                    <m:r>
                      <a:rPr lang="el-GR" altLang="zh-CN" sz="2400" b="1" i="1" dirty="0" smtClean="0">
                        <a:latin typeface="Cambria Math" panose="02040503050406030204" pitchFamily="18" charset="0"/>
                      </a:rPr>
                      <m:t>𝜶</m:t>
                    </m:r>
                  </m:oMath>
                </a14:m>
                <a:r>
                  <a:rPr lang="zh-CN" altLang="en-US" sz="2400" b="1" dirty="0"/>
                  <a:t>中至少要有一个变元</a:t>
                </a:r>
                <a:r>
                  <a:rPr lang="en-US" altLang="zh-CN" sz="2400" b="1" dirty="0"/>
                  <a:t>, </a:t>
                </a:r>
                <a:r>
                  <a:rPr lang="zh-CN" altLang="en-US" sz="2400" b="1" dirty="0"/>
                  <a:t>那么</a:t>
                </a:r>
                <a:r>
                  <a:rPr lang="en-US" altLang="zh-CN" sz="2400" b="1" dirty="0"/>
                  <a:t>:</a:t>
                </a:r>
              </a:p>
            </p:txBody>
          </p:sp>
        </mc:Choice>
        <mc:Fallback xmlns="">
          <p:sp>
            <p:nvSpPr>
              <p:cNvPr id="9" name="文本框 8"/>
              <p:cNvSpPr txBox="1">
                <a:spLocks noRot="1" noChangeAspect="1" noMove="1" noResize="1" noEditPoints="1" noAdjustHandles="1" noChangeArrowheads="1" noChangeShapeType="1" noTextEdit="1"/>
              </p:cNvSpPr>
              <p:nvPr/>
            </p:nvSpPr>
            <p:spPr>
              <a:xfrm>
                <a:off x="533400" y="762000"/>
                <a:ext cx="8382000" cy="1569660"/>
              </a:xfrm>
              <a:prstGeom prst="rect">
                <a:avLst/>
              </a:prstGeom>
              <a:blipFill rotWithShape="1">
                <a:blip r:embed="rId3"/>
                <a:stretch>
                  <a:fillRect b="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5410200" y="2514671"/>
                <a:ext cx="3048000" cy="3477875"/>
              </a:xfrm>
              <a:prstGeom prst="rect">
                <a:avLst/>
              </a:prstGeom>
              <a:noFill/>
            </p:spPr>
            <p:txBody>
              <a:bodyPr wrap="square">
                <a:spAutoFit/>
              </a:bodyPr>
              <a:lstStyle/>
              <a:p>
                <a:pPr marL="0" indent="0">
                  <a:buNone/>
                </a:pPr>
                <a:r>
                  <a:rPr lang="en-US" altLang="zh-CN" sz="2000" b="1" dirty="0">
                    <a:latin typeface="楷体" panose="02010609060101010101" pitchFamily="49" charset="-122"/>
                    <a:ea typeface="楷体" panose="02010609060101010101" pitchFamily="49" charset="-122"/>
                  </a:rPr>
                  <a:t>(1)</a:t>
                </a:r>
                <a:r>
                  <a:rPr lang="zh-CN" altLang="en-US" sz="2000" b="1" dirty="0">
                    <a:solidFill>
                      <a:srgbClr val="FF0000"/>
                    </a:solidFill>
                    <a:latin typeface="楷体" panose="02010609060101010101" pitchFamily="49" charset="-122"/>
                    <a:ea typeface="楷体" panose="02010609060101010101" pitchFamily="49" charset="-122"/>
                  </a:rPr>
                  <a:t>称</a:t>
                </a:r>
                <a14:m>
                  <m:oMath xmlns:m="http://schemas.openxmlformats.org/officeDocument/2006/math">
                    <m:r>
                      <a:rPr lang="en-US" altLang="zh-CN" sz="2000" b="1" i="1" dirty="0" smtClean="0">
                        <a:solidFill>
                          <a:srgbClr val="FF0000"/>
                        </a:solidFill>
                        <a:latin typeface="Cambria Math" panose="02040503050406030204" pitchFamily="18" charset="0"/>
                      </a:rPr>
                      <m:t>𝑮</m:t>
                    </m:r>
                  </m:oMath>
                </a14:m>
                <a:r>
                  <a:rPr lang="zh-CN" altLang="en-US" sz="2000" b="1" dirty="0">
                    <a:solidFill>
                      <a:srgbClr val="FF0000"/>
                    </a:solidFill>
                    <a:latin typeface="楷体" panose="02010609060101010101" pitchFamily="49" charset="-122"/>
                    <a:ea typeface="楷体" panose="02010609060101010101" pitchFamily="49" charset="-122"/>
                  </a:rPr>
                  <a:t>为</a:t>
                </a:r>
                <a:r>
                  <a:rPr lang="en-US" altLang="zh-CN" sz="2000" b="1" dirty="0">
                    <a:solidFill>
                      <a:srgbClr val="FF0000"/>
                    </a:solidFill>
                    <a:latin typeface="楷体" panose="02010609060101010101" pitchFamily="49" charset="-122"/>
                    <a:ea typeface="楷体" panose="02010609060101010101" pitchFamily="49" charset="-122"/>
                  </a:rPr>
                  <a:t>0</a:t>
                </a:r>
                <a:r>
                  <a:rPr lang="zh-CN" altLang="en-US" sz="2000" b="1" dirty="0">
                    <a:solidFill>
                      <a:srgbClr val="FF0000"/>
                    </a:solidFill>
                    <a:latin typeface="楷体" panose="02010609060101010101" pitchFamily="49" charset="-122"/>
                    <a:ea typeface="楷体" panose="02010609060101010101" pitchFamily="49" charset="-122"/>
                  </a:rPr>
                  <a:t>型文法或短语结构文法</a:t>
                </a:r>
                <a:r>
                  <a:rPr lang="en-US" altLang="zh-CN" sz="2000" b="1" dirty="0">
                    <a:solidFill>
                      <a:srgbClr val="FF0000"/>
                    </a:solidFill>
                    <a:latin typeface="楷体" panose="02010609060101010101" pitchFamily="49" charset="-122"/>
                    <a:ea typeface="楷体" panose="02010609060101010101" pitchFamily="49" charset="-122"/>
                  </a:rPr>
                  <a:t>;</a:t>
                </a:r>
                <a:endParaRPr lang="zh-CN" altLang="en-US" sz="2000" b="1" dirty="0">
                  <a:solidFill>
                    <a:srgbClr val="FF0000"/>
                  </a:solidFill>
                  <a:latin typeface="楷体" panose="02010609060101010101" pitchFamily="49" charset="-122"/>
                  <a:ea typeface="楷体" panose="02010609060101010101" pitchFamily="49" charset="-122"/>
                </a:endParaRPr>
              </a:p>
              <a:p>
                <a:r>
                  <a:rPr lang="en-US" altLang="zh-CN" sz="2000" b="1" dirty="0">
                    <a:latin typeface="楷体" panose="02010609060101010101" pitchFamily="49" charset="-122"/>
                    <a:ea typeface="楷体" panose="02010609060101010101" pitchFamily="49" charset="-122"/>
                  </a:rPr>
                  <a:t>(2)</a:t>
                </a:r>
                <a:r>
                  <a:rPr lang="zh-CN" altLang="en-US" sz="2000" b="1" dirty="0">
                    <a:latin typeface="楷体" panose="02010609060101010101" pitchFamily="49" charset="-122"/>
                    <a:ea typeface="楷体" panose="02010609060101010101" pitchFamily="49" charset="-122"/>
                  </a:rPr>
                  <a:t>若</a:t>
                </a:r>
                <a14:m>
                  <m:oMath xmlns:m="http://schemas.openxmlformats.org/officeDocument/2006/math">
                    <m:r>
                      <a:rPr lang="en-US" altLang="zh-CN" sz="2000" b="1" i="1" dirty="0" smtClean="0">
                        <a:latin typeface="Cambria Math" panose="02040503050406030204" pitchFamily="18" charset="0"/>
                      </a:rPr>
                      <m:t>|</m:t>
                    </m:r>
                    <m:r>
                      <a:rPr lang="en-US" altLang="zh-CN" sz="2000" b="1" i="1" dirty="0" smtClean="0">
                        <a:latin typeface="Cambria Math" panose="02040503050406030204" pitchFamily="18" charset="0"/>
                      </a:rPr>
                      <m:t>𝜷</m:t>
                    </m:r>
                    <m:r>
                      <a:rPr lang="en-US" altLang="zh-CN" sz="2000" b="1" i="1" dirty="0" smtClean="0">
                        <a:latin typeface="Cambria Math" panose="02040503050406030204" pitchFamily="18" charset="0"/>
                      </a:rPr>
                      <m:t>| ≥ |</m:t>
                    </m:r>
                    <m:r>
                      <a:rPr lang="en-US" altLang="zh-CN" sz="2000" b="1" i="1" dirty="0" smtClean="0">
                        <a:latin typeface="Cambria Math" panose="02040503050406030204" pitchFamily="18" charset="0"/>
                      </a:rPr>
                      <m:t>𝜶</m:t>
                    </m:r>
                    <m:r>
                      <a:rPr lang="en-US" altLang="zh-CN" sz="2000" b="1" i="1" dirty="0" smtClean="0">
                        <a:latin typeface="Cambria Math" panose="02040503050406030204" pitchFamily="18" charset="0"/>
                      </a:rPr>
                      <m:t>|</m:t>
                    </m:r>
                  </m:oMath>
                </a14:m>
                <a:r>
                  <a:rPr lang="en-US" altLang="zh-CN" sz="2000" b="1" dirty="0">
                    <a:latin typeface="楷体" panose="02010609060101010101" pitchFamily="49" charset="-122"/>
                    <a:ea typeface="楷体" panose="02010609060101010101" pitchFamily="49" charset="-122"/>
                  </a:rPr>
                  <a:t>, </a:t>
                </a:r>
                <a:r>
                  <a:rPr lang="zh-CN" altLang="en-US" sz="2000" b="1" dirty="0">
                    <a:latin typeface="楷体" panose="02010609060101010101" pitchFamily="49" charset="-122"/>
                    <a:ea typeface="楷体" panose="02010609060101010101" pitchFamily="49" charset="-122"/>
                  </a:rPr>
                  <a:t>称</a:t>
                </a:r>
                <a14:m>
                  <m:oMath xmlns:m="http://schemas.openxmlformats.org/officeDocument/2006/math">
                    <m:r>
                      <a:rPr lang="en-US" altLang="zh-CN" sz="2000" b="1" i="1" dirty="0" smtClean="0">
                        <a:latin typeface="Cambria Math" panose="02040503050406030204" pitchFamily="18" charset="0"/>
                      </a:rPr>
                      <m:t>𝑮</m:t>
                    </m:r>
                  </m:oMath>
                </a14:m>
                <a:r>
                  <a:rPr lang="zh-CN" altLang="en-US" sz="2000" b="1" dirty="0">
                    <a:latin typeface="楷体" panose="02010609060101010101" pitchFamily="49" charset="-122"/>
                    <a:ea typeface="楷体" panose="02010609060101010101" pitchFamily="49" charset="-122"/>
                  </a:rPr>
                  <a:t>为</a:t>
                </a:r>
                <a:r>
                  <a:rPr lang="en-US" altLang="zh-CN" sz="2000" b="1" dirty="0">
                    <a:latin typeface="楷体" panose="02010609060101010101" pitchFamily="49" charset="-122"/>
                    <a:ea typeface="楷体" panose="02010609060101010101" pitchFamily="49" charset="-122"/>
                  </a:rPr>
                  <a:t>1</a:t>
                </a:r>
                <a:r>
                  <a:rPr lang="zh-CN" altLang="en-US" sz="2000" b="1" dirty="0">
                    <a:latin typeface="楷体" panose="02010609060101010101" pitchFamily="49" charset="-122"/>
                    <a:ea typeface="楷体" panose="02010609060101010101" pitchFamily="49" charset="-122"/>
                  </a:rPr>
                  <a:t>型文法或上下文有关文法</a:t>
                </a:r>
                <a:r>
                  <a:rPr lang="en-AU" altLang="zh-CN" sz="2000" b="1" dirty="0">
                    <a:latin typeface="楷体" panose="02010609060101010101" pitchFamily="49" charset="-122"/>
                    <a:ea typeface="楷体" panose="02010609060101010101" pitchFamily="49" charset="-122"/>
                  </a:rPr>
                  <a:t>(</a:t>
                </a:r>
                <a:r>
                  <a:rPr lang="en-AU" altLang="zh-CN" sz="2000" b="1" dirty="0">
                    <a:latin typeface="Times New Roman" panose="02020603050405020304" pitchFamily="18" charset="0"/>
                    <a:ea typeface="楷体" panose="02010609060101010101" pitchFamily="49" charset="-122"/>
                    <a:cs typeface="Times New Roman" panose="02020603050405020304" pitchFamily="18" charset="0"/>
                  </a:rPr>
                  <a:t>Context-Sensitive Grammar</a:t>
                </a:r>
                <a:r>
                  <a:rPr lang="en-AU"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a:t>
                </a:r>
                <a:endParaRPr lang="en-US" altLang="zh-CN" sz="2000" b="1" dirty="0">
                  <a:latin typeface="楷体" panose="02010609060101010101" pitchFamily="49" charset="-122"/>
                  <a:ea typeface="楷体" panose="02010609060101010101" pitchFamily="49" charset="-122"/>
                </a:endParaRPr>
              </a:p>
              <a:p>
                <a:pPr marL="0" indent="0">
                  <a:buNone/>
                </a:pPr>
                <a:r>
                  <a:rPr lang="en-US" altLang="zh-CN" sz="2000" b="1" dirty="0">
                    <a:latin typeface="楷体" panose="02010609060101010101" pitchFamily="49" charset="-122"/>
                    <a:ea typeface="楷体" panose="02010609060101010101" pitchFamily="49" charset="-122"/>
                  </a:rPr>
                  <a:t>(3)</a:t>
                </a:r>
                <a:r>
                  <a:rPr lang="zh-CN" altLang="en-US" sz="2000" b="1" dirty="0">
                    <a:solidFill>
                      <a:srgbClr val="3333FF"/>
                    </a:solidFill>
                    <a:latin typeface="楷体" panose="02010609060101010101" pitchFamily="49" charset="-122"/>
                    <a:ea typeface="楷体" panose="02010609060101010101" pitchFamily="49" charset="-122"/>
                  </a:rPr>
                  <a:t>若</a:t>
                </a:r>
                <a14:m>
                  <m:oMath xmlns:m="http://schemas.openxmlformats.org/officeDocument/2006/math">
                    <m:r>
                      <a:rPr lang="en-US" altLang="zh-CN" sz="2000" b="1" i="1" dirty="0" smtClean="0">
                        <a:solidFill>
                          <a:srgbClr val="3333FF"/>
                        </a:solidFill>
                        <a:latin typeface="Cambria Math" panose="02040503050406030204" pitchFamily="18" charset="0"/>
                      </a:rPr>
                      <m:t>𝜶</m:t>
                    </m:r>
                    <m:r>
                      <a:rPr lang="en-US" altLang="zh-CN" sz="2000" b="1" i="1" dirty="0" smtClean="0">
                        <a:solidFill>
                          <a:srgbClr val="3333FF"/>
                        </a:solidFill>
                        <a:latin typeface="Cambria Math" panose="02040503050406030204" pitchFamily="18" charset="0"/>
                      </a:rPr>
                      <m:t> ∈ </m:t>
                    </m:r>
                    <m:r>
                      <a:rPr lang="en-US" altLang="zh-CN" sz="2000" b="1" i="1" dirty="0" smtClean="0">
                        <a:solidFill>
                          <a:srgbClr val="3333FF"/>
                        </a:solidFill>
                        <a:latin typeface="Cambria Math" panose="02040503050406030204" pitchFamily="18" charset="0"/>
                      </a:rPr>
                      <m:t>𝑽</m:t>
                    </m:r>
                    <m:r>
                      <a:rPr lang="en-US" altLang="zh-CN" sz="2000" b="1" i="1" dirty="0" smtClean="0">
                        <a:solidFill>
                          <a:srgbClr val="3333FF"/>
                        </a:solidFill>
                        <a:latin typeface="Cambria Math" panose="02040503050406030204" pitchFamily="18" charset="0"/>
                      </a:rPr>
                      <m:t> </m:t>
                    </m:r>
                  </m:oMath>
                </a14:m>
                <a:r>
                  <a:rPr lang="en-US" altLang="zh-CN" sz="2000" b="1" dirty="0">
                    <a:solidFill>
                      <a:srgbClr val="3333FF"/>
                    </a:solidFill>
                    <a:latin typeface="楷体" panose="02010609060101010101" pitchFamily="49" charset="-122"/>
                    <a:ea typeface="楷体" panose="02010609060101010101" pitchFamily="49" charset="-122"/>
                  </a:rPr>
                  <a:t>, </a:t>
                </a:r>
                <a:r>
                  <a:rPr lang="zh-CN" altLang="en-US" sz="2000" b="1" dirty="0">
                    <a:solidFill>
                      <a:srgbClr val="3333FF"/>
                    </a:solidFill>
                    <a:latin typeface="楷体" panose="02010609060101010101" pitchFamily="49" charset="-122"/>
                    <a:ea typeface="楷体" panose="02010609060101010101" pitchFamily="49" charset="-122"/>
                  </a:rPr>
                  <a:t>称</a:t>
                </a:r>
                <a14:m>
                  <m:oMath xmlns:m="http://schemas.openxmlformats.org/officeDocument/2006/math">
                    <m:r>
                      <a:rPr lang="en-US" altLang="zh-CN" sz="2000" b="1" i="1" dirty="0" smtClean="0">
                        <a:solidFill>
                          <a:srgbClr val="3333FF"/>
                        </a:solidFill>
                        <a:latin typeface="Cambria Math" panose="02040503050406030204" pitchFamily="18" charset="0"/>
                        <a:ea typeface="楷体" panose="02010609060101010101" pitchFamily="49" charset="-122"/>
                      </a:rPr>
                      <m:t>𝑮</m:t>
                    </m:r>
                  </m:oMath>
                </a14:m>
                <a:r>
                  <a:rPr lang="zh-CN" altLang="en-US" sz="2000" b="1" dirty="0">
                    <a:solidFill>
                      <a:srgbClr val="3333FF"/>
                    </a:solidFill>
                    <a:latin typeface="楷体" panose="02010609060101010101" pitchFamily="49" charset="-122"/>
                    <a:ea typeface="楷体" panose="02010609060101010101" pitchFamily="49" charset="-122"/>
                  </a:rPr>
                  <a:t>为</a:t>
                </a:r>
                <a:r>
                  <a:rPr lang="en-US" altLang="zh-CN" sz="2000" b="1" dirty="0">
                    <a:solidFill>
                      <a:srgbClr val="3333FF"/>
                    </a:solidFill>
                    <a:latin typeface="楷体" panose="02010609060101010101" pitchFamily="49" charset="-122"/>
                    <a:ea typeface="楷体" panose="02010609060101010101" pitchFamily="49" charset="-122"/>
                  </a:rPr>
                  <a:t>2</a:t>
                </a:r>
                <a:r>
                  <a:rPr lang="zh-CN" altLang="en-US" sz="2000" b="1" dirty="0">
                    <a:solidFill>
                      <a:srgbClr val="3333FF"/>
                    </a:solidFill>
                    <a:latin typeface="楷体" panose="02010609060101010101" pitchFamily="49" charset="-122"/>
                    <a:ea typeface="楷体" panose="02010609060101010101" pitchFamily="49" charset="-122"/>
                  </a:rPr>
                  <a:t>型文法或上下文无关文法</a:t>
                </a:r>
                <a:r>
                  <a:rPr lang="en-US" altLang="zh-CN" sz="2000" b="1" dirty="0">
                    <a:solidFill>
                      <a:srgbClr val="3333FF"/>
                    </a:solidFill>
                    <a:latin typeface="楷体" panose="02010609060101010101" pitchFamily="49" charset="-122"/>
                    <a:ea typeface="楷体" panose="02010609060101010101" pitchFamily="49" charset="-122"/>
                  </a:rPr>
                  <a:t>;</a:t>
                </a:r>
              </a:p>
              <a:p>
                <a:pPr marL="0" indent="0">
                  <a:buNone/>
                </a:pPr>
                <a:r>
                  <a:rPr lang="en-US" altLang="zh-CN" sz="2000" b="1" dirty="0">
                    <a:latin typeface="楷体" panose="02010609060101010101" pitchFamily="49" charset="-122"/>
                    <a:ea typeface="楷体" panose="02010609060101010101" pitchFamily="49" charset="-122"/>
                  </a:rPr>
                  <a:t>(4)</a:t>
                </a:r>
                <a:r>
                  <a:rPr lang="zh-CN" altLang="en-US" sz="2000" b="1" dirty="0">
                    <a:solidFill>
                      <a:srgbClr val="FF0000"/>
                    </a:solidFill>
                    <a:latin typeface="楷体" panose="02010609060101010101" pitchFamily="49" charset="-122"/>
                    <a:ea typeface="楷体" panose="02010609060101010101" pitchFamily="49" charset="-122"/>
                  </a:rPr>
                  <a:t>若</a:t>
                </a:r>
                <a14:m>
                  <m:oMath xmlns:m="http://schemas.openxmlformats.org/officeDocument/2006/math">
                    <m:r>
                      <a:rPr lang="el-GR" altLang="zh-CN" sz="2000" b="1" i="1" dirty="0" smtClean="0">
                        <a:solidFill>
                          <a:srgbClr val="FF0000"/>
                        </a:solidFill>
                        <a:latin typeface="Cambria Math" panose="02040503050406030204" pitchFamily="18" charset="0"/>
                      </a:rPr>
                      <m:t>𝜶</m:t>
                    </m:r>
                    <m:r>
                      <a:rPr lang="el-GR" altLang="zh-CN" sz="2000" b="1" i="1" dirty="0" smtClean="0">
                        <a:solidFill>
                          <a:srgbClr val="FF0000"/>
                        </a:solidFill>
                        <a:latin typeface="Cambria Math" panose="02040503050406030204" pitchFamily="18" charset="0"/>
                      </a:rPr>
                      <m:t> → </m:t>
                    </m:r>
                    <m:r>
                      <a:rPr lang="el-GR" altLang="zh-CN" sz="2000" b="1" i="1" dirty="0" smtClean="0">
                        <a:solidFill>
                          <a:srgbClr val="FF0000"/>
                        </a:solidFill>
                        <a:latin typeface="Cambria Math" panose="02040503050406030204" pitchFamily="18" charset="0"/>
                      </a:rPr>
                      <m:t>𝜷</m:t>
                    </m:r>
                    <m:r>
                      <a:rPr lang="el-GR" altLang="zh-CN" sz="2000" b="1" i="1" dirty="0" smtClean="0">
                        <a:solidFill>
                          <a:srgbClr val="FF0000"/>
                        </a:solidFill>
                        <a:latin typeface="Cambria Math" panose="02040503050406030204" pitchFamily="18" charset="0"/>
                      </a:rPr>
                      <m:t> </m:t>
                    </m:r>
                  </m:oMath>
                </a14:m>
                <a:r>
                  <a:rPr lang="zh-CN" altLang="en-US" sz="2000" b="1" dirty="0">
                    <a:solidFill>
                      <a:srgbClr val="FF0000"/>
                    </a:solidFill>
                    <a:latin typeface="楷体" panose="02010609060101010101" pitchFamily="49" charset="-122"/>
                    <a:ea typeface="楷体" panose="02010609060101010101" pitchFamily="49" charset="-122"/>
                  </a:rPr>
                  <a:t>都形如</a:t>
                </a:r>
                <a14:m>
                  <m:oMath xmlns:m="http://schemas.openxmlformats.org/officeDocument/2006/math">
                    <m:r>
                      <a:rPr lang="en-US" altLang="zh-CN" sz="2000" b="1" i="1" dirty="0" smtClean="0">
                        <a:solidFill>
                          <a:srgbClr val="FF0000"/>
                        </a:solidFill>
                        <a:latin typeface="Cambria Math" panose="02040503050406030204" pitchFamily="18" charset="0"/>
                      </a:rPr>
                      <m:t>𝑨</m:t>
                    </m:r>
                    <m:r>
                      <a:rPr lang="en-US" altLang="zh-CN" sz="2000" b="1" i="1" dirty="0" smtClean="0">
                        <a:solidFill>
                          <a:srgbClr val="FF0000"/>
                        </a:solidFill>
                        <a:latin typeface="Cambria Math" panose="02040503050406030204" pitchFamily="18" charset="0"/>
                      </a:rPr>
                      <m:t>→</m:t>
                    </m:r>
                    <m:r>
                      <a:rPr lang="en-US" altLang="zh-CN" sz="2000" b="1" i="1" dirty="0" err="1" smtClean="0">
                        <a:solidFill>
                          <a:srgbClr val="FF0000"/>
                        </a:solidFill>
                        <a:latin typeface="Cambria Math" panose="02040503050406030204" pitchFamily="18" charset="0"/>
                      </a:rPr>
                      <m:t>𝒂𝑩</m:t>
                    </m:r>
                    <m:r>
                      <a:rPr lang="en-US" altLang="zh-CN" sz="2000" b="1" i="1" dirty="0" smtClean="0">
                        <a:solidFill>
                          <a:srgbClr val="FF0000"/>
                        </a:solidFill>
                        <a:latin typeface="Cambria Math" panose="02040503050406030204" pitchFamily="18" charset="0"/>
                      </a:rPr>
                      <m:t> </m:t>
                    </m:r>
                  </m:oMath>
                </a14:m>
                <a:r>
                  <a:rPr lang="zh-CN" altLang="en-US" sz="2000" b="1" dirty="0">
                    <a:solidFill>
                      <a:srgbClr val="FF0000"/>
                    </a:solidFill>
                    <a:latin typeface="楷体" panose="02010609060101010101" pitchFamily="49" charset="-122"/>
                    <a:ea typeface="楷体" panose="02010609060101010101" pitchFamily="49" charset="-122"/>
                  </a:rPr>
                  <a:t>或</a:t>
                </a:r>
                <a14:m>
                  <m:oMath xmlns:m="http://schemas.openxmlformats.org/officeDocument/2006/math">
                    <m:r>
                      <a:rPr lang="en-US" altLang="zh-CN" sz="2000" b="1" i="1" dirty="0" smtClean="0">
                        <a:solidFill>
                          <a:srgbClr val="FF0000"/>
                        </a:solidFill>
                        <a:latin typeface="Cambria Math" panose="02040503050406030204" pitchFamily="18" charset="0"/>
                      </a:rPr>
                      <m:t>𝑨</m:t>
                    </m:r>
                    <m:r>
                      <a:rPr lang="en-US" altLang="zh-CN" sz="2000" b="1" i="1" dirty="0" smtClean="0">
                        <a:solidFill>
                          <a:srgbClr val="FF0000"/>
                        </a:solidFill>
                        <a:latin typeface="Cambria Math" panose="02040503050406030204" pitchFamily="18" charset="0"/>
                      </a:rPr>
                      <m:t>→ </m:t>
                    </m:r>
                    <m:r>
                      <a:rPr lang="en-US" altLang="zh-CN" sz="2000" b="1" i="1" dirty="0" smtClean="0">
                        <a:solidFill>
                          <a:srgbClr val="FF0000"/>
                        </a:solidFill>
                        <a:latin typeface="Cambria Math" panose="02040503050406030204" pitchFamily="18" charset="0"/>
                      </a:rPr>
                      <m:t>𝒂</m:t>
                    </m:r>
                  </m:oMath>
                </a14:m>
                <a:r>
                  <a:rPr lang="en-US" altLang="zh-CN" sz="2000" b="1" dirty="0">
                    <a:solidFill>
                      <a:srgbClr val="FF0000"/>
                    </a:solidFill>
                    <a:latin typeface="楷体" panose="02010609060101010101" pitchFamily="49" charset="-122"/>
                    <a:ea typeface="楷体" panose="02010609060101010101" pitchFamily="49" charset="-122"/>
                  </a:rPr>
                  <a:t>,</a:t>
                </a:r>
                <a:r>
                  <a:rPr lang="zh-CN" altLang="en-US" sz="2000" b="1" dirty="0">
                    <a:solidFill>
                      <a:srgbClr val="FF0000"/>
                    </a:solidFill>
                    <a:latin typeface="楷体" panose="02010609060101010101" pitchFamily="49" charset="-122"/>
                    <a:ea typeface="楷体" panose="02010609060101010101" pitchFamily="49" charset="-122"/>
                  </a:rPr>
                  <a:t>称</a:t>
                </a:r>
                <a14:m>
                  <m:oMath xmlns:m="http://schemas.openxmlformats.org/officeDocument/2006/math">
                    <m:r>
                      <a:rPr lang="en-US" altLang="zh-CN" sz="2000" b="1" i="1" dirty="0" smtClean="0">
                        <a:solidFill>
                          <a:srgbClr val="FF0000"/>
                        </a:solidFill>
                        <a:latin typeface="Cambria Math" panose="02040503050406030204" pitchFamily="18" charset="0"/>
                        <a:ea typeface="楷体" panose="02010609060101010101" pitchFamily="49" charset="-122"/>
                      </a:rPr>
                      <m:t>𝑮</m:t>
                    </m:r>
                  </m:oMath>
                </a14:m>
                <a:r>
                  <a:rPr lang="zh-CN" altLang="en-US" sz="2000" b="1" dirty="0">
                    <a:solidFill>
                      <a:srgbClr val="FF0000"/>
                    </a:solidFill>
                    <a:latin typeface="楷体" panose="02010609060101010101" pitchFamily="49" charset="-122"/>
                    <a:ea typeface="楷体" panose="02010609060101010101" pitchFamily="49" charset="-122"/>
                  </a:rPr>
                  <a:t>为</a:t>
                </a:r>
                <a:r>
                  <a:rPr lang="en-US" altLang="zh-CN" sz="2000" b="1" dirty="0">
                    <a:solidFill>
                      <a:srgbClr val="FF0000"/>
                    </a:solidFill>
                    <a:latin typeface="楷体" panose="02010609060101010101" pitchFamily="49" charset="-122"/>
                    <a:ea typeface="楷体" panose="02010609060101010101" pitchFamily="49" charset="-122"/>
                  </a:rPr>
                  <a:t>3</a:t>
                </a:r>
                <a:r>
                  <a:rPr lang="zh-CN" altLang="en-US" sz="2000" b="1" dirty="0">
                    <a:solidFill>
                      <a:srgbClr val="FF0000"/>
                    </a:solidFill>
                    <a:latin typeface="楷体" panose="02010609060101010101" pitchFamily="49" charset="-122"/>
                    <a:ea typeface="楷体" panose="02010609060101010101" pitchFamily="49" charset="-122"/>
                  </a:rPr>
                  <a:t>型文法或正则文法。</a:t>
                </a:r>
                <a:endParaRPr lang="en-AU" altLang="zh-CN" sz="2000" b="1" dirty="0">
                  <a:latin typeface="楷体" panose="02010609060101010101" pitchFamily="49" charset="-122"/>
                  <a:ea typeface="楷体" panose="02010609060101010101" pitchFamily="49" charset="-122"/>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5410200" y="2514671"/>
                <a:ext cx="3048000" cy="3477875"/>
              </a:xfrm>
              <a:prstGeom prst="rect">
                <a:avLst/>
              </a:prstGeom>
              <a:blipFill rotWithShape="1">
                <a:blip r:embed="rId4"/>
                <a:stretch>
                  <a:fillRect t="-2" b="1"/>
                </a:stretch>
              </a:blipFill>
            </p:spPr>
            <p:txBody>
              <a:bodyPr/>
              <a:lstStyle/>
              <a:p>
                <a:r>
                  <a:rPr lang="zh-CN"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662E1F6-9BD6-474C-A82E-E07C3DB67AAE}" type="slidenum">
              <a:rPr lang="en-AU" smtClean="0"/>
              <a:t>6</a:t>
            </a:fld>
            <a:endParaRPr lang="en-AU"/>
          </a:p>
        </p:txBody>
      </p:sp>
      <p:pic>
        <p:nvPicPr>
          <p:cNvPr id="14" name="Picture 13"/>
          <p:cNvPicPr>
            <a:picLocks noChangeAspect="1"/>
          </p:cNvPicPr>
          <p:nvPr/>
        </p:nvPicPr>
        <p:blipFill>
          <a:blip r:embed="rId2"/>
          <a:stretch>
            <a:fillRect/>
          </a:stretch>
        </p:blipFill>
        <p:spPr>
          <a:xfrm>
            <a:off x="228600" y="808355"/>
            <a:ext cx="5105400" cy="3519001"/>
          </a:xfrm>
          <a:prstGeom prst="rect">
            <a:avLst/>
          </a:prstGeom>
        </p:spPr>
      </p:pic>
      <p:sp>
        <p:nvSpPr>
          <p:cNvPr id="7" name="Title 1"/>
          <p:cNvSpPr>
            <a:spLocks noGrp="1"/>
          </p:cNvSpPr>
          <p:nvPr>
            <p:ph type="title"/>
          </p:nvPr>
        </p:nvSpPr>
        <p:spPr>
          <a:xfrm>
            <a:off x="457200" y="-107315"/>
            <a:ext cx="8229600" cy="91567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乔姆斯基文法系统</a:t>
            </a:r>
            <a:endParaRPr lang="en-US" altLang="zh-CN" sz="3600" dirty="0">
              <a:solidFill>
                <a:schemeClr val="bg1"/>
              </a:solidFill>
              <a:effectLst>
                <a:outerShdw blurRad="38100" dist="38100" dir="2700000" algn="tl">
                  <a:srgbClr val="000000">
                    <a:alpha val="43137"/>
                  </a:srgbClr>
                </a:outerShdw>
              </a:effectLst>
            </a:endParaRPr>
          </a:p>
        </p:txBody>
      </p:sp>
      <p:pic>
        <p:nvPicPr>
          <p:cNvPr id="8" name="Content Placeholder 5" descr="Diagram&#10;&#10;Description automatically generated"/>
          <p:cNvPicPr>
            <a:picLocks noGrp="1" noChangeAspect="1"/>
          </p:cNvPicPr>
          <p:nvPr>
            <p:ph idx="1"/>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6736" r="12597" b="10362"/>
          <a:stretch>
            <a:fillRect/>
          </a:stretch>
        </p:blipFill>
        <p:spPr>
          <a:xfrm>
            <a:off x="3886200" y="4038600"/>
            <a:ext cx="5181600" cy="2438400"/>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1675"/>
            <a:ext cx="8229600" cy="1143000"/>
          </a:xfrm>
        </p:spPr>
        <p:txBody>
          <a:bodyPr/>
          <a:lstStyle/>
          <a:p>
            <a:r>
              <a:rPr lang="zh-CN" altLang="en-US" dirty="0"/>
              <a:t>内容大纲</a:t>
            </a:r>
            <a:endParaRPr lang="en-AU" dirty="0"/>
          </a:p>
        </p:txBody>
      </p:sp>
      <p:sp>
        <p:nvSpPr>
          <p:cNvPr id="3" name="Content Placeholder 2"/>
          <p:cNvSpPr>
            <a:spLocks noGrp="1"/>
          </p:cNvSpPr>
          <p:nvPr>
            <p:ph idx="1"/>
          </p:nvPr>
        </p:nvSpPr>
        <p:spPr>
          <a:xfrm>
            <a:off x="457200" y="2027237"/>
            <a:ext cx="8229600" cy="4525963"/>
          </a:xfrm>
        </p:spPr>
        <p:txBody>
          <a:bodyPr/>
          <a:lstStyle/>
          <a:p>
            <a:pPr algn="just">
              <a:buNone/>
            </a:pPr>
            <a:r>
              <a:rPr lang="en-US" altLang="zh-CN" sz="3600" dirty="0">
                <a:solidFill>
                  <a:schemeClr val="bg1">
                    <a:lumMod val="65000"/>
                  </a:schemeClr>
                </a:solidFill>
                <a:latin typeface="Times New Roman" panose="02020603050405020304" pitchFamily="18" charset="0"/>
                <a:ea typeface="宋体" panose="02010600030101010101" pitchFamily="2" charset="-122"/>
              </a:rPr>
              <a:t>(1)  </a:t>
            </a:r>
            <a:r>
              <a:rPr lang="zh-CN" altLang="en-US" sz="3600" dirty="0">
                <a:solidFill>
                  <a:schemeClr val="bg1">
                    <a:lumMod val="65000"/>
                  </a:schemeClr>
                </a:solidFill>
                <a:latin typeface="Times New Roman" panose="02020603050405020304" pitchFamily="18" charset="0"/>
                <a:ea typeface="宋体" panose="02010600030101010101" pitchFamily="2" charset="-122"/>
              </a:rPr>
              <a:t>乔姆斯基文法体系</a:t>
            </a:r>
            <a:endParaRPr lang="en-US" altLang="zh-CN" sz="3600" dirty="0">
              <a:solidFill>
                <a:schemeClr val="bg1">
                  <a:lumMod val="65000"/>
                </a:schemeClr>
              </a:solidFill>
              <a:latin typeface="Times New Roman" panose="02020603050405020304" pitchFamily="18" charset="0"/>
              <a:ea typeface="宋体" panose="02010600030101010101" pitchFamily="2" charset="-122"/>
            </a:endParaRPr>
          </a:p>
          <a:p>
            <a:pPr marL="742950" indent="-742950" algn="just">
              <a:buAutoNum type="arabicParenBoth" startAt="2"/>
            </a:pPr>
            <a:r>
              <a:rPr lang="zh-CN" altLang="en-US" sz="3600" dirty="0">
                <a:latin typeface="Times New Roman" panose="02020603050405020304" pitchFamily="18" charset="0"/>
                <a:ea typeface="宋体" panose="02010600030101010101" pitchFamily="2" charset="-122"/>
              </a:rPr>
              <a:t>形式语言与自动机</a:t>
            </a:r>
            <a:endParaRPr lang="en-US" altLang="zh-CN" sz="3600" dirty="0">
              <a:latin typeface="Times New Roman" panose="02020603050405020304" pitchFamily="18" charset="0"/>
              <a:ea typeface="宋体" panose="02010600030101010101" pitchFamily="2" charset="-122"/>
            </a:endParaRPr>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t>7</a:t>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662E1F6-9BD6-474C-A82E-E07C3DB67AAE}" type="slidenum">
              <a:rPr lang="en-AU" smtClean="0"/>
              <a:t>8</a:t>
            </a:fld>
            <a:endParaRPr lang="en-AU"/>
          </a:p>
        </p:txBody>
      </p:sp>
      <p:sp>
        <p:nvSpPr>
          <p:cNvPr id="7" name="Title 1"/>
          <p:cNvSpPr>
            <a:spLocks noGrp="1"/>
          </p:cNvSpPr>
          <p:nvPr>
            <p:ph type="title"/>
          </p:nvPr>
        </p:nvSpPr>
        <p:spPr>
          <a:xfrm>
            <a:off x="457200" y="-107315"/>
            <a:ext cx="8229600" cy="91567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形式语言与自动机</a:t>
            </a:r>
            <a:endParaRPr lang="en-US" altLang="zh-CN" sz="3600" dirty="0">
              <a:solidFill>
                <a:schemeClr val="bg1"/>
              </a:solidFill>
              <a:effectLst>
                <a:outerShdw blurRad="38100" dist="38100" dir="2700000" algn="tl">
                  <a:srgbClr val="000000">
                    <a:alpha val="43137"/>
                  </a:srgbClr>
                </a:outerShdw>
              </a:effectLst>
            </a:endParaRPr>
          </a:p>
        </p:txBody>
      </p:sp>
      <p:sp>
        <p:nvSpPr>
          <p:cNvPr id="9" name="文本框 8"/>
          <p:cNvSpPr txBox="1"/>
          <p:nvPr/>
        </p:nvSpPr>
        <p:spPr>
          <a:xfrm>
            <a:off x="332740" y="762000"/>
            <a:ext cx="8582660" cy="1568450"/>
          </a:xfrm>
          <a:prstGeom prst="rect">
            <a:avLst/>
          </a:prstGeom>
          <a:noFill/>
        </p:spPr>
        <p:txBody>
          <a:bodyPr wrap="square">
            <a:spAutoFit/>
          </a:bodyPr>
          <a:lstStyle/>
          <a:p>
            <a:r>
              <a:rPr lang="zh-CN" altLang="en-US" sz="2400" b="1" dirty="0"/>
              <a:t>比较以下三个语言的文法</a:t>
            </a:r>
            <a:endParaRPr lang="en-US" altLang="zh-CN" sz="2400" b="1" dirty="0"/>
          </a:p>
          <a:p>
            <a:r>
              <a:rPr lang="en-US" altLang="zh-CN" sz="2400" b="1" i="1" dirty="0">
                <a:latin typeface="Times New Roman" panose="02020603050405020304" pitchFamily="18" charset="0"/>
                <a:cs typeface="Times New Roman" panose="02020603050405020304" pitchFamily="18" charset="0"/>
              </a:rPr>
              <a:t>L</a:t>
            </a:r>
            <a:r>
              <a:rPr lang="en-US" altLang="zh-CN" sz="2400" b="1" baseline="-25000" dirty="0">
                <a:latin typeface="Times New Roman" panose="02020603050405020304" pitchFamily="18" charset="0"/>
                <a:cs typeface="Times New Roman" panose="02020603050405020304" pitchFamily="18" charset="0"/>
              </a:rPr>
              <a:t>1</a:t>
            </a:r>
            <a:r>
              <a:rPr lang="en-US" altLang="zh-CN" sz="2400" b="1" i="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a</a:t>
            </a:r>
            <a:r>
              <a:rPr lang="en-US" altLang="zh-CN" sz="2400" b="1" i="1" baseline="30000" dirty="0" err="1">
                <a:latin typeface="Times New Roman" panose="02020603050405020304" pitchFamily="18" charset="0"/>
                <a:cs typeface="Times New Roman" panose="02020603050405020304" pitchFamily="18" charset="0"/>
              </a:rPr>
              <a:t>m</a:t>
            </a:r>
            <a:r>
              <a:rPr lang="en-US" altLang="zh-CN" sz="2400" b="1" i="1" dirty="0" err="1">
                <a:latin typeface="Times New Roman" panose="02020603050405020304" pitchFamily="18" charset="0"/>
                <a:cs typeface="Times New Roman" panose="02020603050405020304" pitchFamily="18" charset="0"/>
              </a:rPr>
              <a:t>b</a:t>
            </a:r>
            <a:r>
              <a:rPr lang="en-US" altLang="zh-CN" sz="2400" b="1" i="1" baseline="30000" dirty="0" err="1">
                <a:latin typeface="Times New Roman" panose="02020603050405020304" pitchFamily="18" charset="0"/>
                <a:cs typeface="Times New Roman" panose="02020603050405020304" pitchFamily="18" charset="0"/>
              </a:rPr>
              <a:t>n</a:t>
            </a:r>
            <a:r>
              <a:rPr lang="en-US" altLang="zh-CN" sz="2400" b="1" i="1" dirty="0" err="1">
                <a:latin typeface="Times New Roman" panose="02020603050405020304" pitchFamily="18" charset="0"/>
                <a:cs typeface="Times New Roman" panose="02020603050405020304" pitchFamily="18" charset="0"/>
              </a:rPr>
              <a:t>c</a:t>
            </a:r>
            <a:r>
              <a:rPr lang="en-US" altLang="zh-CN" sz="2400" b="1" i="1" baseline="30000" dirty="0" err="1">
                <a:latin typeface="Times New Roman" panose="02020603050405020304" pitchFamily="18" charset="0"/>
                <a:cs typeface="Times New Roman" panose="02020603050405020304" pitchFamily="18" charset="0"/>
              </a:rPr>
              <a:t>k</a:t>
            </a:r>
            <a:r>
              <a:rPr lang="en-US" altLang="zh-CN" sz="2400" b="1" i="1" dirty="0" err="1">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 n, k≥</a:t>
            </a:r>
            <a:r>
              <a:rPr lang="en-US" altLang="zh-CN" sz="2400" b="1" dirty="0">
                <a:latin typeface="Times New Roman" panose="02020603050405020304" pitchFamily="18" charset="0"/>
                <a:cs typeface="Times New Roman" panose="02020603050405020304" pitchFamily="18" charset="0"/>
              </a:rPr>
              <a:t>1}</a:t>
            </a:r>
            <a:endParaRPr lang="en-US" altLang="zh-CN"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endParaRPr>
          </a:p>
          <a:p>
            <a:r>
              <a:rPr lang="en-US" altLang="zh-CN" sz="2400" b="1" i="1" dirty="0">
                <a:latin typeface="Times New Roman" panose="02020603050405020304" pitchFamily="18" charset="0"/>
                <a:cs typeface="Times New Roman" panose="02020603050405020304" pitchFamily="18" charset="0"/>
              </a:rPr>
              <a:t>L</a:t>
            </a:r>
            <a:r>
              <a:rPr lang="en-US" altLang="zh-CN" sz="2400" b="1" baseline="-25000" dirty="0">
                <a:latin typeface="Times New Roman" panose="02020603050405020304" pitchFamily="18" charset="0"/>
                <a:cs typeface="Times New Roman" panose="02020603050405020304" pitchFamily="18" charset="0"/>
              </a:rPr>
              <a:t>2</a:t>
            </a:r>
            <a:r>
              <a:rPr lang="en-US" altLang="zh-CN" sz="2400" b="1" i="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a</a:t>
            </a:r>
            <a:r>
              <a:rPr lang="en-US" altLang="zh-CN" sz="2400" b="1" i="1" baseline="30000" dirty="0" err="1">
                <a:latin typeface="Times New Roman" panose="02020603050405020304" pitchFamily="18" charset="0"/>
                <a:cs typeface="Times New Roman" panose="02020603050405020304" pitchFamily="18" charset="0"/>
              </a:rPr>
              <a:t>m</a:t>
            </a:r>
            <a:r>
              <a:rPr lang="en-US" altLang="zh-CN" sz="2400" b="1" i="1" dirty="0" err="1">
                <a:latin typeface="Times New Roman" panose="02020603050405020304" pitchFamily="18" charset="0"/>
                <a:cs typeface="Times New Roman" panose="02020603050405020304" pitchFamily="18" charset="0"/>
              </a:rPr>
              <a:t>b</a:t>
            </a:r>
            <a:r>
              <a:rPr lang="en-US" altLang="zh-CN" sz="2400" b="1" i="1" baseline="30000" dirty="0" err="1">
                <a:latin typeface="Times New Roman" panose="02020603050405020304" pitchFamily="18" charset="0"/>
                <a:cs typeface="Times New Roman" panose="02020603050405020304" pitchFamily="18" charset="0"/>
              </a:rPr>
              <a:t>m</a:t>
            </a:r>
            <a:r>
              <a:rPr lang="en-US" altLang="zh-CN" sz="2400" b="1" i="1" dirty="0" err="1">
                <a:latin typeface="Times New Roman" panose="02020603050405020304" pitchFamily="18" charset="0"/>
                <a:cs typeface="Times New Roman" panose="02020603050405020304" pitchFamily="18" charset="0"/>
              </a:rPr>
              <a:t>c</a:t>
            </a:r>
            <a:r>
              <a:rPr lang="en-US" altLang="zh-CN" sz="2400" b="1" i="1" baseline="30000" dirty="0" err="1">
                <a:latin typeface="Times New Roman" panose="02020603050405020304" pitchFamily="18" charset="0"/>
                <a:cs typeface="Times New Roman" panose="02020603050405020304" pitchFamily="18" charset="0"/>
              </a:rPr>
              <a:t>k</a:t>
            </a:r>
            <a:r>
              <a:rPr lang="en-US" altLang="zh-CN" sz="2400" b="1" i="1" dirty="0" err="1">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 k≥</a:t>
            </a:r>
            <a:r>
              <a:rPr lang="en-US" altLang="zh-CN" sz="2400" b="1" dirty="0">
                <a:latin typeface="Times New Roman" panose="02020603050405020304" pitchFamily="18" charset="0"/>
                <a:cs typeface="Times New Roman" panose="02020603050405020304" pitchFamily="18" charset="0"/>
              </a:rPr>
              <a:t>1}</a:t>
            </a:r>
          </a:p>
          <a:p>
            <a:r>
              <a:rPr lang="en-US" altLang="zh-CN" sz="2400" b="1" i="1" dirty="0">
                <a:latin typeface="Times New Roman" panose="02020603050405020304" pitchFamily="18" charset="0"/>
                <a:cs typeface="Times New Roman" panose="02020603050405020304" pitchFamily="18" charset="0"/>
              </a:rPr>
              <a:t>L</a:t>
            </a:r>
            <a:r>
              <a:rPr lang="en-US" altLang="zh-CN" sz="2400" b="1" baseline="-25000" dirty="0">
                <a:latin typeface="Times New Roman" panose="02020603050405020304" pitchFamily="18" charset="0"/>
                <a:cs typeface="Times New Roman" panose="02020603050405020304" pitchFamily="18" charset="0"/>
              </a:rPr>
              <a:t>3</a:t>
            </a:r>
            <a:r>
              <a:rPr lang="en-US" altLang="zh-CN" sz="2400" b="1" i="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a</a:t>
            </a:r>
            <a:r>
              <a:rPr lang="en-US" altLang="zh-CN" sz="2400" b="1" i="1" baseline="30000" dirty="0">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b</a:t>
            </a:r>
            <a:r>
              <a:rPr lang="en-US" altLang="zh-CN" sz="2400" b="1" i="1" baseline="30000" dirty="0">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c</a:t>
            </a:r>
            <a:r>
              <a:rPr lang="en-US" altLang="zh-CN" sz="2400" b="1" i="1" baseline="30000" dirty="0">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|m≥</a:t>
            </a:r>
            <a:r>
              <a:rPr lang="en-US" altLang="zh-CN" sz="2400" b="1" dirty="0">
                <a:latin typeface="Times New Roman" panose="02020603050405020304" pitchFamily="18" charset="0"/>
                <a:cs typeface="Times New Roman" panose="02020603050405020304" pitchFamily="18" charset="0"/>
              </a:rPr>
              <a:t>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662E1F6-9BD6-474C-A82E-E07C3DB67AAE}" type="slidenum">
              <a:rPr lang="en-AU" smtClean="0"/>
              <a:t>9</a:t>
            </a:fld>
            <a:endParaRPr lang="en-AU"/>
          </a:p>
        </p:txBody>
      </p:sp>
      <p:sp>
        <p:nvSpPr>
          <p:cNvPr id="7" name="Title 1"/>
          <p:cNvSpPr>
            <a:spLocks noGrp="1"/>
          </p:cNvSpPr>
          <p:nvPr>
            <p:ph type="title"/>
          </p:nvPr>
        </p:nvSpPr>
        <p:spPr>
          <a:xfrm>
            <a:off x="457200" y="-107315"/>
            <a:ext cx="8229600" cy="91567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形式语言与自动机</a:t>
            </a:r>
            <a:endParaRPr lang="en-US" altLang="zh-CN" sz="3600" dirty="0">
              <a:solidFill>
                <a:schemeClr val="bg1"/>
              </a:solidFill>
              <a:effectLst>
                <a:outerShdw blurRad="38100" dist="38100" dir="2700000" algn="tl">
                  <a:srgbClr val="000000">
                    <a:alpha val="43137"/>
                  </a:srgbClr>
                </a:outerShdw>
              </a:effectLst>
            </a:endParaRPr>
          </a:p>
        </p:txBody>
      </p:sp>
      <p:sp>
        <p:nvSpPr>
          <p:cNvPr id="9" name="文本框 8"/>
          <p:cNvSpPr txBox="1"/>
          <p:nvPr/>
        </p:nvSpPr>
        <p:spPr>
          <a:xfrm>
            <a:off x="332740" y="762000"/>
            <a:ext cx="8582660" cy="5631180"/>
          </a:xfrm>
          <a:prstGeom prst="rect">
            <a:avLst/>
          </a:prstGeom>
          <a:noFill/>
        </p:spPr>
        <p:txBody>
          <a:bodyPr wrap="square">
            <a:spAutoFit/>
          </a:bodyPr>
          <a:lstStyle/>
          <a:p>
            <a:r>
              <a:rPr lang="zh-CN" altLang="en-US" sz="2400" b="1" dirty="0"/>
              <a:t>比较以下三个语言的文法</a:t>
            </a:r>
            <a:endParaRPr lang="en-US" altLang="zh-CN" sz="2400" b="1" dirty="0"/>
          </a:p>
          <a:p>
            <a:r>
              <a:rPr lang="en-US" altLang="zh-CN" sz="2400" b="1" i="1" dirty="0">
                <a:latin typeface="Times New Roman" panose="02020603050405020304" pitchFamily="18" charset="0"/>
                <a:cs typeface="Times New Roman" panose="02020603050405020304" pitchFamily="18" charset="0"/>
              </a:rPr>
              <a:t>L</a:t>
            </a:r>
            <a:r>
              <a:rPr lang="en-US" altLang="zh-CN" sz="2400" b="1" baseline="-25000" dirty="0">
                <a:latin typeface="Times New Roman" panose="02020603050405020304" pitchFamily="18" charset="0"/>
                <a:cs typeface="Times New Roman" panose="02020603050405020304" pitchFamily="18" charset="0"/>
              </a:rPr>
              <a:t>1</a:t>
            </a:r>
            <a:r>
              <a:rPr lang="en-US" altLang="zh-CN" sz="2400" b="1" i="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a</a:t>
            </a:r>
            <a:r>
              <a:rPr lang="en-US" altLang="zh-CN" sz="2400" b="1" i="1" baseline="30000" dirty="0" err="1">
                <a:latin typeface="Times New Roman" panose="02020603050405020304" pitchFamily="18" charset="0"/>
                <a:cs typeface="Times New Roman" panose="02020603050405020304" pitchFamily="18" charset="0"/>
              </a:rPr>
              <a:t>m</a:t>
            </a:r>
            <a:r>
              <a:rPr lang="en-US" altLang="zh-CN" sz="2400" b="1" i="1" dirty="0" err="1">
                <a:latin typeface="Times New Roman" panose="02020603050405020304" pitchFamily="18" charset="0"/>
                <a:cs typeface="Times New Roman" panose="02020603050405020304" pitchFamily="18" charset="0"/>
              </a:rPr>
              <a:t>b</a:t>
            </a:r>
            <a:r>
              <a:rPr lang="en-US" altLang="zh-CN" sz="2400" b="1" i="1" baseline="30000" dirty="0" err="1">
                <a:latin typeface="Times New Roman" panose="02020603050405020304" pitchFamily="18" charset="0"/>
                <a:cs typeface="Times New Roman" panose="02020603050405020304" pitchFamily="18" charset="0"/>
              </a:rPr>
              <a:t>n</a:t>
            </a:r>
            <a:r>
              <a:rPr lang="en-US" altLang="zh-CN" sz="2400" b="1" i="1" dirty="0" err="1">
                <a:latin typeface="Times New Roman" panose="02020603050405020304" pitchFamily="18" charset="0"/>
                <a:cs typeface="Times New Roman" panose="02020603050405020304" pitchFamily="18" charset="0"/>
              </a:rPr>
              <a:t>c</a:t>
            </a:r>
            <a:r>
              <a:rPr lang="en-US" altLang="zh-CN" sz="2400" b="1" i="1" baseline="30000" dirty="0" err="1">
                <a:latin typeface="Times New Roman" panose="02020603050405020304" pitchFamily="18" charset="0"/>
                <a:cs typeface="Times New Roman" panose="02020603050405020304" pitchFamily="18" charset="0"/>
              </a:rPr>
              <a:t>k</a:t>
            </a:r>
            <a:r>
              <a:rPr lang="en-US" altLang="zh-CN" sz="2400" b="1" i="1" dirty="0" err="1">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 n, k≥</a:t>
            </a:r>
            <a:r>
              <a:rPr lang="en-US" altLang="zh-CN" sz="2400" b="1" dirty="0">
                <a:latin typeface="Times New Roman" panose="02020603050405020304" pitchFamily="18" charset="0"/>
                <a:cs typeface="Times New Roman" panose="02020603050405020304" pitchFamily="18" charset="0"/>
              </a:rPr>
              <a:t>1}</a:t>
            </a:r>
            <a:r>
              <a:rPr lang="zh-CN" altLang="en-US"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dirty="0">
                <a:solidFill>
                  <a:srgbClr val="3333FF"/>
                </a:solidFill>
                <a:latin typeface="Times New Roman" panose="02020603050405020304" pitchFamily="18" charset="0"/>
                <a:cs typeface="Times New Roman" panose="02020603050405020304" pitchFamily="18" charset="0"/>
                <a:sym typeface="+mn-ea"/>
              </a:rPr>
              <a:t>a</a:t>
            </a:r>
            <a:r>
              <a:rPr lang="en-US" altLang="zh-CN" sz="2400" b="1" i="1" baseline="30000" dirty="0">
                <a:solidFill>
                  <a:srgbClr val="3333FF"/>
                </a:solidFill>
                <a:latin typeface="Times New Roman" panose="02020603050405020304" pitchFamily="18" charset="0"/>
                <a:cs typeface="Times New Roman" panose="02020603050405020304" pitchFamily="18" charset="0"/>
                <a:sym typeface="+mn-ea"/>
              </a:rPr>
              <a:t>+</a:t>
            </a:r>
            <a:r>
              <a:rPr lang="en-US" altLang="zh-CN" sz="2400" b="1" i="1" dirty="0">
                <a:solidFill>
                  <a:srgbClr val="3333FF"/>
                </a:solidFill>
                <a:latin typeface="Times New Roman" panose="02020603050405020304" pitchFamily="18" charset="0"/>
                <a:cs typeface="Times New Roman" panose="02020603050405020304" pitchFamily="18" charset="0"/>
                <a:sym typeface="+mn-ea"/>
              </a:rPr>
              <a:t>b</a:t>
            </a:r>
            <a:r>
              <a:rPr lang="en-US" altLang="zh-CN" sz="2400" b="1" i="1" baseline="30000" dirty="0">
                <a:solidFill>
                  <a:srgbClr val="3333FF"/>
                </a:solidFill>
                <a:latin typeface="Times New Roman" panose="02020603050405020304" pitchFamily="18" charset="0"/>
                <a:cs typeface="Times New Roman" panose="02020603050405020304" pitchFamily="18" charset="0"/>
                <a:sym typeface="+mn-ea"/>
              </a:rPr>
              <a:t>+</a:t>
            </a:r>
            <a:r>
              <a:rPr lang="en-US" altLang="zh-CN" sz="2400" b="1" i="1" dirty="0">
                <a:solidFill>
                  <a:srgbClr val="3333FF"/>
                </a:solidFill>
                <a:latin typeface="Times New Roman" panose="02020603050405020304" pitchFamily="18" charset="0"/>
                <a:cs typeface="Times New Roman" panose="02020603050405020304" pitchFamily="18" charset="0"/>
                <a:sym typeface="+mn-ea"/>
              </a:rPr>
              <a:t>c</a:t>
            </a:r>
            <a:r>
              <a:rPr lang="en-US" altLang="zh-CN" sz="2400" b="1" i="1" baseline="30000" dirty="0">
                <a:solidFill>
                  <a:srgbClr val="3333FF"/>
                </a:solidFill>
                <a:latin typeface="Times New Roman" panose="02020603050405020304" pitchFamily="18" charset="0"/>
                <a:cs typeface="Times New Roman" panose="02020603050405020304" pitchFamily="18" charset="0"/>
                <a:sym typeface="+mn-ea"/>
              </a:rPr>
              <a:t>+</a:t>
            </a:r>
            <a:r>
              <a:rPr lang="zh-CN" altLang="en-US"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endParaRPr lang="en-US" altLang="zh-CN"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endParaRPr>
          </a:p>
          <a:p>
            <a:r>
              <a:rPr lang="en-US" altLang="zh-CN" sz="2400" b="1" i="1" dirty="0">
                <a:solidFill>
                  <a:srgbClr val="3333FF"/>
                </a:solidFill>
                <a:latin typeface="Times New Roman" panose="02020603050405020304" pitchFamily="18" charset="0"/>
                <a:cs typeface="Times New Roman" panose="02020603050405020304" pitchFamily="18" charset="0"/>
              </a:rPr>
              <a:t>S</a:t>
            </a:r>
            <a:r>
              <a:rPr lang="en-US" altLang="zh-CN"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ABC</a:t>
            </a:r>
            <a:r>
              <a:rPr lang="zh-CN" altLang="en-US"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dirty="0" err="1">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a:t>
            </a:r>
            <a:r>
              <a:rPr lang="en-US" altLang="zh-CN" sz="2400" b="1" dirty="0" err="1">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dirty="0" err="1">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aA</a:t>
            </a:r>
            <a:r>
              <a:rPr lang="en-US" altLang="zh-CN"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el-GR" sz="2400" b="1" i="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a:t>
            </a:r>
            <a:r>
              <a:rPr lang="zh-CN" altLang="en-US"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dirty="0" err="1">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B</a:t>
            </a:r>
            <a:r>
              <a:rPr lang="en-US" altLang="zh-CN" sz="2400" b="1" dirty="0" err="1">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dirty="0" err="1">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bB</a:t>
            </a:r>
            <a:r>
              <a:rPr lang="en-US" altLang="zh-CN"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el-GR" sz="2400" b="1" i="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b</a:t>
            </a:r>
            <a:r>
              <a:rPr lang="zh-CN" altLang="en-US"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dirty="0" err="1">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C</a:t>
            </a:r>
            <a:r>
              <a:rPr lang="en-US" altLang="zh-CN" sz="2400" b="1" dirty="0" err="1">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dirty="0" err="1">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cC</a:t>
            </a:r>
            <a:r>
              <a:rPr lang="en-US" altLang="zh-CN"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el-GR" sz="2400" b="1" i="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c</a:t>
            </a:r>
            <a:r>
              <a:rPr lang="zh-CN" altLang="en-US" sz="2400" b="1" i="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u="sng"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SAD</a:t>
            </a:r>
            <a:r>
              <a:rPr lang="zh-CN" altLang="en-US" sz="2400" b="1" i="1" u="sng"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u="sng"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DBC</a:t>
            </a:r>
            <a:r>
              <a:rPr lang="zh-CN" altLang="en-US" sz="2400" b="1" u="sng"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u="sng" dirty="0">
                <a:solidFill>
                  <a:srgbClr val="3333FF"/>
                </a:solidFill>
                <a:latin typeface="Arial" panose="020B0604020202020204" pitchFamily="34" charset="0"/>
                <a:cs typeface="Times New Roman" panose="02020603050405020304" pitchFamily="18" charset="0"/>
                <a:sym typeface="Wingdings" panose="05000000000000000000" pitchFamily="2" charset="2"/>
              </a:rPr>
              <a:t>×</a:t>
            </a:r>
            <a:r>
              <a:rPr lang="zh-CN" altLang="en-US" sz="2400" b="1" u="sng" dirty="0">
                <a:solidFill>
                  <a:srgbClr val="3333FF"/>
                </a:solidFill>
                <a:latin typeface="Arial" panose="020B0604020202020204" pitchFamily="34" charset="0"/>
                <a:cs typeface="Times New Roman" panose="02020603050405020304" pitchFamily="18" charset="0"/>
                <a:sym typeface="Wingdings" panose="05000000000000000000" pitchFamily="2" charset="2"/>
              </a:rPr>
              <a:t>）</a:t>
            </a:r>
            <a:endParaRPr lang="en-US" altLang="zh-CN" sz="2400" b="1" i="1" u="sng"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endParaRPr>
          </a:p>
          <a:p>
            <a:r>
              <a:rPr lang="en-US" altLang="zh-CN"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S</a:t>
            </a:r>
            <a:r>
              <a:rPr lang="en-US" altLang="zh-CN" sz="2400" b="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aS|aB</a:t>
            </a:r>
            <a:r>
              <a:rPr lang="zh-CN" altLang="en-US" sz="2400" b="1" i="1"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B</a:t>
            </a:r>
            <a:r>
              <a:rPr lang="en-US" altLang="zh-CN"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bB|bC</a:t>
            </a:r>
            <a:r>
              <a:rPr lang="en-US" altLang="zh-CN" sz="2400" b="1" i="1"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zh-CN" altLang="en-US" sz="2400" b="1" i="1"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zh-CN" sz="2400" b="1" i="1"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a:t>
            </a:r>
            <a:r>
              <a:rPr lang="en-US" altLang="zh-CN"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cC</a:t>
            </a:r>
            <a:r>
              <a:rPr lang="en-US" altLang="zh-CN" sz="2400" b="1" i="1"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a:t>
            </a:r>
            <a:endParaRPr lang="en-US" altLang="zh-CN" sz="2400" b="1" i="1" u="sng" dirty="0">
              <a:solidFill>
                <a:srgbClr val="FF0000"/>
              </a:solidFill>
              <a:latin typeface="Times New Roman" panose="02020603050405020304" pitchFamily="18" charset="0"/>
              <a:cs typeface="Times New Roman" panose="02020603050405020304" pitchFamily="18" charset="0"/>
            </a:endParaRPr>
          </a:p>
          <a:p>
            <a:endParaRPr lang="en-US" altLang="zh-CN" sz="2400" b="1" dirty="0">
              <a:latin typeface="Times New Roman" panose="02020603050405020304" pitchFamily="18" charset="0"/>
              <a:cs typeface="Times New Roman" panose="02020603050405020304" pitchFamily="18" charset="0"/>
            </a:endParaRPr>
          </a:p>
          <a:p>
            <a:r>
              <a:rPr lang="en-US" altLang="zh-CN" sz="2400" b="1" u="sng" dirty="0">
                <a:solidFill>
                  <a:schemeClr val="tx1"/>
                </a:solidFill>
                <a:latin typeface="Times New Roman" panose="02020603050405020304" pitchFamily="18" charset="0"/>
                <a:cs typeface="Times New Roman" panose="02020603050405020304" pitchFamily="18" charset="0"/>
              </a:rPr>
              <a:t>正则表达式到正则文法的转换</a:t>
            </a:r>
          </a:p>
          <a:p>
            <a:r>
              <a:rPr lang="en-US" altLang="zh-CN" sz="2400" b="1" dirty="0">
                <a:latin typeface="Times New Roman" panose="02020603050405020304" pitchFamily="18" charset="0"/>
                <a:cs typeface="Times New Roman" panose="02020603050405020304" pitchFamily="18" charset="0"/>
              </a:rPr>
              <a:t>字母表上的正则表达式到正则文法</a:t>
            </a:r>
            <a:r>
              <a:rPr lang="en-US" altLang="zh-CN" sz="2400" b="1" i="1" dirty="0">
                <a:latin typeface="Times New Roman" panose="02020603050405020304" pitchFamily="18" charset="0"/>
                <a:cs typeface="Times New Roman" panose="02020603050405020304" pitchFamily="18" charset="0"/>
              </a:rPr>
              <a:t>G</a:t>
            </a:r>
            <a:r>
              <a:rPr lang="en-US" altLang="zh-CN" sz="2400" b="1" dirty="0">
                <a:latin typeface="Times New Roman" panose="02020603050405020304" pitchFamily="18" charset="0"/>
                <a:cs typeface="Times New Roman" panose="02020603050405020304" pitchFamily="18" charset="0"/>
              </a:rPr>
              <a:t> = (</a:t>
            </a:r>
            <a:r>
              <a:rPr lang="en-US" altLang="zh-CN" sz="2400" b="1" i="1" dirty="0">
                <a:latin typeface="Times New Roman" panose="02020603050405020304" pitchFamily="18" charset="0"/>
                <a:cs typeface="Times New Roman" panose="02020603050405020304" pitchFamily="18" charset="0"/>
                <a:sym typeface="+mn-ea"/>
              </a:rPr>
              <a:t>∑</a:t>
            </a:r>
            <a:r>
              <a:rPr lang="en-US" altLang="zh-CN" sz="2400" b="1" dirty="0">
                <a:latin typeface="Times New Roman" panose="02020603050405020304" pitchFamily="18" charset="0"/>
                <a:cs typeface="Times New Roman" panose="02020603050405020304" pitchFamily="18" charset="0"/>
                <a:sym typeface="+mn-ea"/>
              </a:rPr>
              <a:t>, </a:t>
            </a:r>
            <a:r>
              <a:rPr lang="en-US" altLang="zh-CN" sz="2400" b="1" i="1" dirty="0">
                <a:latin typeface="Times New Roman" panose="02020603050405020304" pitchFamily="18" charset="0"/>
                <a:cs typeface="Times New Roman" panose="02020603050405020304" pitchFamily="18" charset="0"/>
              </a:rPr>
              <a:t>V</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T</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P</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S</a:t>
            </a:r>
            <a:r>
              <a:rPr lang="en-US" altLang="zh-CN" sz="2400" b="1" dirty="0">
                <a:latin typeface="Times New Roman" panose="02020603050405020304" pitchFamily="18" charset="0"/>
                <a:cs typeface="Times New Roman" panose="02020603050405020304" pitchFamily="18" charset="0"/>
              </a:rPr>
              <a:t>) 的转换方法如下:</a:t>
            </a:r>
          </a:p>
          <a:p>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对任意正则表达式</a:t>
            </a:r>
            <a:r>
              <a:rPr lang="en-US" altLang="zh-CN" sz="2400" b="1" i="1" dirty="0">
                <a:latin typeface="Times New Roman" panose="02020603050405020304" pitchFamily="18" charset="0"/>
                <a:cs typeface="Times New Roman" panose="02020603050405020304" pitchFamily="18" charset="0"/>
              </a:rPr>
              <a:t>R</a:t>
            </a:r>
            <a:r>
              <a:rPr lang="en-US" altLang="zh-CN" sz="2400" b="1" dirty="0">
                <a:latin typeface="Times New Roman" panose="02020603050405020304" pitchFamily="18" charset="0"/>
                <a:cs typeface="Times New Roman" panose="02020603050405020304" pitchFamily="18" charset="0"/>
              </a:rPr>
              <a:t>选择一个非终结符</a:t>
            </a:r>
            <a:r>
              <a:rPr lang="en-US" altLang="zh-CN" sz="2400" b="1" i="1" dirty="0">
                <a:latin typeface="Times New Roman" panose="02020603050405020304" pitchFamily="18" charset="0"/>
                <a:cs typeface="Times New Roman" panose="02020603050405020304" pitchFamily="18" charset="0"/>
              </a:rPr>
              <a:t>Z</a:t>
            </a:r>
            <a:r>
              <a:rPr lang="en-US" altLang="zh-CN" sz="2400" b="1" dirty="0">
                <a:latin typeface="Times New Roman" panose="02020603050405020304" pitchFamily="18" charset="0"/>
                <a:cs typeface="Times New Roman" panose="02020603050405020304" pitchFamily="18" charset="0"/>
              </a:rPr>
              <a:t>生成规则</a:t>
            </a:r>
            <a:r>
              <a:rPr lang="en-US" altLang="zh-CN" sz="2400" b="1" i="1" dirty="0">
                <a:latin typeface="Times New Roman" panose="02020603050405020304" pitchFamily="18" charset="0"/>
                <a:cs typeface="Times New Roman" panose="02020603050405020304" pitchFamily="18" charset="0"/>
              </a:rPr>
              <a:t>Z</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R</a:t>
            </a:r>
            <a:r>
              <a:rPr lang="en-US" altLang="zh-CN" sz="2400" b="1" dirty="0">
                <a:latin typeface="Times New Roman" panose="02020603050405020304" pitchFamily="18" charset="0"/>
                <a:cs typeface="Times New Roman" panose="02020603050405020304" pitchFamily="18" charset="0"/>
              </a:rPr>
              <a:t>并令</a:t>
            </a:r>
            <a:r>
              <a:rPr lang="en-US" altLang="zh-CN" sz="2400" b="1" i="1" dirty="0">
                <a:latin typeface="Times New Roman" panose="02020603050405020304" pitchFamily="18" charset="0"/>
                <a:cs typeface="Times New Roman" panose="02020603050405020304" pitchFamily="18" charset="0"/>
              </a:rPr>
              <a:t>S</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Z</a:t>
            </a:r>
            <a:r>
              <a:rPr lang="en-US" altLang="zh-CN" sz="2400" b="1" dirty="0">
                <a:latin typeface="Times New Roman" panose="02020603050405020304" pitchFamily="18" charset="0"/>
                <a:cs typeface="Times New Roman" panose="02020603050405020304" pitchFamily="18" charset="0"/>
              </a:rPr>
              <a:t> </a:t>
            </a:r>
          </a:p>
          <a:p>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）若</a:t>
            </a:r>
            <a:r>
              <a:rPr lang="en-US" altLang="zh-CN" sz="2400" b="1" i="1" dirty="0">
                <a:latin typeface="Times New Roman" panose="02020603050405020304" pitchFamily="18" charset="0"/>
                <a:cs typeface="Times New Roman" panose="02020603050405020304" pitchFamily="18" charset="0"/>
              </a:rPr>
              <a:t>a</a:t>
            </a:r>
            <a:r>
              <a:rPr lang="en-US" altLang="zh-CN" sz="2400" b="1" dirty="0">
                <a:latin typeface="Times New Roman" panose="02020603050405020304" pitchFamily="18" charset="0"/>
                <a:cs typeface="Times New Roman" panose="02020603050405020304" pitchFamily="18" charset="0"/>
              </a:rPr>
              <a:t>和</a:t>
            </a:r>
            <a:r>
              <a:rPr lang="en-US" altLang="zh-CN" sz="2400" b="1" i="1" dirty="0">
                <a:latin typeface="Times New Roman" panose="02020603050405020304" pitchFamily="18" charset="0"/>
                <a:cs typeface="Times New Roman" panose="02020603050405020304" pitchFamily="18" charset="0"/>
              </a:rPr>
              <a:t>b</a:t>
            </a:r>
            <a:r>
              <a:rPr lang="en-US" altLang="zh-CN" sz="2400" b="1" dirty="0">
                <a:latin typeface="Times New Roman" panose="02020603050405020304" pitchFamily="18" charset="0"/>
                <a:cs typeface="Times New Roman" panose="02020603050405020304" pitchFamily="18" charset="0"/>
              </a:rPr>
              <a:t>都是正则表达式，对形如</a:t>
            </a:r>
            <a:r>
              <a:rPr lang="en-US" altLang="zh-CN" sz="2400" b="1" i="1" dirty="0">
                <a:latin typeface="Times New Roman" panose="02020603050405020304" pitchFamily="18" charset="0"/>
                <a:cs typeface="Times New Roman" panose="02020603050405020304" pitchFamily="18" charset="0"/>
              </a:rPr>
              <a:t>A</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ab</a:t>
            </a:r>
            <a:r>
              <a:rPr lang="en-US" altLang="zh-CN" sz="2400" b="1" dirty="0">
                <a:latin typeface="Times New Roman" panose="02020603050405020304" pitchFamily="18" charset="0"/>
                <a:cs typeface="Times New Roman" panose="02020603050405020304" pitchFamily="18" charset="0"/>
              </a:rPr>
              <a:t>的规则转换成</a:t>
            </a:r>
            <a:r>
              <a:rPr lang="en-US" altLang="zh-CN" sz="2400" b="1" i="1" dirty="0">
                <a:latin typeface="Times New Roman" panose="02020603050405020304" pitchFamily="18" charset="0"/>
                <a:cs typeface="Times New Roman" panose="02020603050405020304" pitchFamily="18" charset="0"/>
              </a:rPr>
              <a:t>A</a:t>
            </a:r>
            <a:r>
              <a:rPr lang="en-US" altLang="zh-CN" sz="2400" b="1" dirty="0">
                <a:latin typeface="Times New Roman" panose="02020603050405020304" pitchFamily="18" charset="0"/>
                <a:cs typeface="Times New Roman" panose="02020603050405020304" pitchFamily="18" charset="0"/>
              </a:rPr>
              <a:t> → </a:t>
            </a:r>
            <a:r>
              <a:rPr lang="en-US" altLang="zh-CN" sz="2400" b="1" i="1" dirty="0">
                <a:latin typeface="Times New Roman" panose="02020603050405020304" pitchFamily="18" charset="0"/>
                <a:cs typeface="Times New Roman" panose="02020603050405020304" pitchFamily="18" charset="0"/>
              </a:rPr>
              <a:t>a</a:t>
            </a:r>
            <a:r>
              <a:rPr lang="en-US" altLang="zh-CN" sz="2400" b="1" i="1" dirty="0">
                <a:latin typeface="Times New Roman" panose="02020603050405020304" pitchFamily="18" charset="0"/>
                <a:cs typeface="Times New Roman" panose="02020603050405020304" pitchFamily="18" charset="0"/>
                <a:sym typeface="+mn-ea"/>
              </a:rPr>
              <a:t>B</a:t>
            </a:r>
            <a:r>
              <a:rPr lang="en-US" altLang="zh-CN" sz="2400" b="1" dirty="0">
                <a:latin typeface="Times New Roman" panose="02020603050405020304" pitchFamily="18" charset="0"/>
                <a:cs typeface="Times New Roman" panose="02020603050405020304" pitchFamily="18" charset="0"/>
              </a:rPr>
              <a:t>和</a:t>
            </a:r>
            <a:r>
              <a:rPr lang="en-US" altLang="zh-CN" sz="2400" b="1" i="1" dirty="0">
                <a:latin typeface="Times New Roman" panose="02020603050405020304" pitchFamily="18" charset="0"/>
                <a:cs typeface="Times New Roman" panose="02020603050405020304" pitchFamily="18" charset="0"/>
              </a:rPr>
              <a:t>B </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b</a:t>
            </a:r>
            <a:r>
              <a:rPr lang="en-US" altLang="zh-CN" sz="2400" b="1" dirty="0">
                <a:latin typeface="Times New Roman" panose="02020603050405020304" pitchFamily="18" charset="0"/>
                <a:cs typeface="Times New Roman" panose="02020603050405020304" pitchFamily="18" charset="0"/>
              </a:rPr>
              <a:t>两规则，其中</a:t>
            </a:r>
            <a:r>
              <a:rPr lang="en-US" altLang="zh-CN" sz="2400" b="1" i="1" dirty="0">
                <a:latin typeface="Times New Roman" panose="02020603050405020304" pitchFamily="18" charset="0"/>
                <a:cs typeface="Times New Roman" panose="02020603050405020304" pitchFamily="18" charset="0"/>
              </a:rPr>
              <a:t>B</a:t>
            </a:r>
            <a:r>
              <a:rPr lang="en-US" altLang="zh-CN" sz="2400" b="1" dirty="0">
                <a:latin typeface="Times New Roman" panose="02020603050405020304" pitchFamily="18" charset="0"/>
                <a:cs typeface="Times New Roman" panose="02020603050405020304" pitchFamily="18" charset="0"/>
              </a:rPr>
              <a:t>是新增的非终结符</a:t>
            </a:r>
          </a:p>
          <a:p>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3</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在已转换的文法中，将形如</a:t>
            </a:r>
            <a:r>
              <a:rPr lang="en-US" altLang="zh-CN" sz="2400" b="1" i="1" dirty="0">
                <a:latin typeface="Times New Roman" panose="02020603050405020304" pitchFamily="18" charset="0"/>
                <a:cs typeface="Times New Roman" panose="02020603050405020304" pitchFamily="18" charset="0"/>
              </a:rPr>
              <a:t>A</a:t>
            </a:r>
            <a:r>
              <a:rPr lang="en-US" altLang="zh-CN" sz="2400" b="1" dirty="0">
                <a:latin typeface="Times New Roman" panose="02020603050405020304" pitchFamily="18" charset="0"/>
                <a:cs typeface="Times New Roman" panose="02020603050405020304" pitchFamily="18" charset="0"/>
              </a:rPr>
              <a:t> → </a:t>
            </a:r>
            <a:r>
              <a:rPr lang="en-US" altLang="zh-CN" sz="2400" b="1" i="1" dirty="0">
                <a:latin typeface="Times New Roman" panose="02020603050405020304" pitchFamily="18" charset="0"/>
                <a:cs typeface="Times New Roman" panose="02020603050405020304" pitchFamily="18" charset="0"/>
              </a:rPr>
              <a:t>a</a:t>
            </a:r>
            <a:r>
              <a:rPr lang="en-US" altLang="zh-CN" sz="2400" b="1" baseline="30000"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b</a:t>
            </a:r>
            <a:r>
              <a:rPr lang="en-US" altLang="zh-CN" sz="2400" b="1" dirty="0">
                <a:latin typeface="Times New Roman" panose="02020603050405020304" pitchFamily="18" charset="0"/>
                <a:cs typeface="Times New Roman" panose="02020603050405020304" pitchFamily="18" charset="0"/>
              </a:rPr>
              <a:t>的规则进一步转换成</a:t>
            </a:r>
            <a:r>
              <a:rPr lang="en-US" altLang="zh-CN" sz="2400" b="1" i="1" dirty="0">
                <a:latin typeface="Times New Roman" panose="02020603050405020304" pitchFamily="18" charset="0"/>
                <a:cs typeface="Times New Roman" panose="02020603050405020304" pitchFamily="18" charset="0"/>
              </a:rPr>
              <a:t>A</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aA</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b</a:t>
            </a:r>
            <a:r>
              <a:rPr lang="en-US" altLang="zh-CN" sz="2400" b="1" dirty="0">
                <a:latin typeface="Times New Roman" panose="02020603050405020304" pitchFamily="18" charset="0"/>
                <a:cs typeface="Times New Roman" panose="02020603050405020304" pitchFamily="18" charset="0"/>
              </a:rPr>
              <a:t> 不断利用第</a:t>
            </a:r>
            <a:r>
              <a:rPr lang="zh-CN" altLang="en-US" sz="2400" b="1" dirty="0">
                <a:latin typeface="Times New Roman" panose="02020603050405020304" pitchFamily="18" charset="0"/>
                <a:cs typeface="Times New Roman" panose="02020603050405020304" pitchFamily="18" charset="0"/>
              </a:rPr>
              <a:t>二</a:t>
            </a:r>
            <a:r>
              <a:rPr lang="en-US" altLang="zh-CN" sz="2400" b="1" dirty="0">
                <a:latin typeface="Times New Roman" panose="02020603050405020304" pitchFamily="18" charset="0"/>
                <a:cs typeface="Times New Roman" panose="02020603050405020304" pitchFamily="18" charset="0"/>
              </a:rPr>
              <a:t>和第</a:t>
            </a:r>
            <a:r>
              <a:rPr lang="zh-CN" altLang="en-US" sz="2400" b="1" dirty="0">
                <a:latin typeface="Times New Roman" panose="02020603050405020304" pitchFamily="18" charset="0"/>
                <a:cs typeface="Times New Roman" panose="02020603050405020304" pitchFamily="18" charset="0"/>
              </a:rPr>
              <a:t>三</a:t>
            </a:r>
            <a:r>
              <a:rPr lang="en-US" altLang="zh-CN" sz="2400" b="1" dirty="0">
                <a:latin typeface="Times New Roman" panose="02020603050405020304" pitchFamily="18" charset="0"/>
                <a:cs typeface="Times New Roman" panose="02020603050405020304" pitchFamily="18" charset="0"/>
              </a:rPr>
              <a:t>条规则进行变换，直到每条规则最多含有一个终结符</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662E1F6-9BD6-474C-A82E-E07C3DB67AAE}" type="slidenum">
              <a:rPr lang="en-AU" smtClean="0"/>
              <a:t>10</a:t>
            </a:fld>
            <a:endParaRPr lang="en-AU"/>
          </a:p>
        </p:txBody>
      </p:sp>
      <p:sp>
        <p:nvSpPr>
          <p:cNvPr id="7" name="Title 1"/>
          <p:cNvSpPr>
            <a:spLocks noGrp="1"/>
          </p:cNvSpPr>
          <p:nvPr>
            <p:ph type="title"/>
          </p:nvPr>
        </p:nvSpPr>
        <p:spPr>
          <a:xfrm>
            <a:off x="457200" y="-107315"/>
            <a:ext cx="8229600" cy="91567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形式语言与自动机</a:t>
            </a:r>
            <a:endParaRPr lang="en-US" altLang="zh-CN" sz="3600" dirty="0">
              <a:solidFill>
                <a:schemeClr val="bg1"/>
              </a:solidFill>
              <a:effectLst>
                <a:outerShdw blurRad="38100" dist="38100" dir="2700000" algn="tl">
                  <a:srgbClr val="000000">
                    <a:alpha val="43137"/>
                  </a:srgbClr>
                </a:outerShdw>
              </a:effectLst>
            </a:endParaRPr>
          </a:p>
        </p:txBody>
      </p:sp>
      <p:sp>
        <p:nvSpPr>
          <p:cNvPr id="9" name="文本框 8"/>
          <p:cNvSpPr txBox="1"/>
          <p:nvPr/>
        </p:nvSpPr>
        <p:spPr>
          <a:xfrm>
            <a:off x="332740" y="762000"/>
            <a:ext cx="8582660" cy="4154170"/>
          </a:xfrm>
          <a:prstGeom prst="rect">
            <a:avLst/>
          </a:prstGeom>
          <a:noFill/>
        </p:spPr>
        <p:txBody>
          <a:bodyPr wrap="square">
            <a:spAutoFit/>
          </a:bodyPr>
          <a:lstStyle/>
          <a:p>
            <a:r>
              <a:rPr lang="zh-CN" altLang="en-US" sz="2400" b="1" dirty="0"/>
              <a:t>比较以下三个语言的文法</a:t>
            </a:r>
            <a:endParaRPr lang="en-US" altLang="zh-CN" sz="2400" b="1" dirty="0"/>
          </a:p>
          <a:p>
            <a:r>
              <a:rPr lang="en-US" altLang="zh-CN" sz="2400" b="1" i="1" dirty="0">
                <a:latin typeface="Times New Roman" panose="02020603050405020304" pitchFamily="18" charset="0"/>
                <a:cs typeface="Times New Roman" panose="02020603050405020304" pitchFamily="18" charset="0"/>
              </a:rPr>
              <a:t>L</a:t>
            </a:r>
            <a:r>
              <a:rPr lang="en-US" altLang="zh-CN" sz="2400" b="1" baseline="-25000" dirty="0">
                <a:latin typeface="Times New Roman" panose="02020603050405020304" pitchFamily="18" charset="0"/>
                <a:cs typeface="Times New Roman" panose="02020603050405020304" pitchFamily="18" charset="0"/>
              </a:rPr>
              <a:t>1</a:t>
            </a:r>
            <a:r>
              <a:rPr lang="en-US" altLang="zh-CN" sz="2400" b="1" i="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a</a:t>
            </a:r>
            <a:r>
              <a:rPr lang="en-US" altLang="zh-CN" sz="2400" b="1" i="1" baseline="30000" dirty="0" err="1">
                <a:latin typeface="Times New Roman" panose="02020603050405020304" pitchFamily="18" charset="0"/>
                <a:cs typeface="Times New Roman" panose="02020603050405020304" pitchFamily="18" charset="0"/>
              </a:rPr>
              <a:t>m</a:t>
            </a:r>
            <a:r>
              <a:rPr lang="en-US" altLang="zh-CN" sz="2400" b="1" i="1" dirty="0" err="1">
                <a:latin typeface="Times New Roman" panose="02020603050405020304" pitchFamily="18" charset="0"/>
                <a:cs typeface="Times New Roman" panose="02020603050405020304" pitchFamily="18" charset="0"/>
              </a:rPr>
              <a:t>b</a:t>
            </a:r>
            <a:r>
              <a:rPr lang="en-US" altLang="zh-CN" sz="2400" b="1" i="1" baseline="30000" dirty="0" err="1">
                <a:latin typeface="Times New Roman" panose="02020603050405020304" pitchFamily="18" charset="0"/>
                <a:cs typeface="Times New Roman" panose="02020603050405020304" pitchFamily="18" charset="0"/>
              </a:rPr>
              <a:t>n</a:t>
            </a:r>
            <a:r>
              <a:rPr lang="en-US" altLang="zh-CN" sz="2400" b="1" i="1" dirty="0" err="1">
                <a:latin typeface="Times New Roman" panose="02020603050405020304" pitchFamily="18" charset="0"/>
                <a:cs typeface="Times New Roman" panose="02020603050405020304" pitchFamily="18" charset="0"/>
              </a:rPr>
              <a:t>c</a:t>
            </a:r>
            <a:r>
              <a:rPr lang="en-US" altLang="zh-CN" sz="2400" b="1" i="1" baseline="30000" dirty="0" err="1">
                <a:latin typeface="Times New Roman" panose="02020603050405020304" pitchFamily="18" charset="0"/>
                <a:cs typeface="Times New Roman" panose="02020603050405020304" pitchFamily="18" charset="0"/>
              </a:rPr>
              <a:t>k</a:t>
            </a:r>
            <a:r>
              <a:rPr lang="en-US" altLang="zh-CN" sz="2400" b="1" i="1" dirty="0" err="1">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 n, k≥</a:t>
            </a:r>
            <a:r>
              <a:rPr lang="en-US" altLang="zh-CN" sz="2400" b="1" dirty="0">
                <a:latin typeface="Times New Roman" panose="02020603050405020304" pitchFamily="18" charset="0"/>
                <a:cs typeface="Times New Roman" panose="02020603050405020304" pitchFamily="18" charset="0"/>
              </a:rPr>
              <a:t>1}</a:t>
            </a:r>
            <a:r>
              <a:rPr lang="zh-CN" altLang="en-US"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dirty="0">
                <a:solidFill>
                  <a:srgbClr val="3333FF"/>
                </a:solidFill>
                <a:latin typeface="Times New Roman" panose="02020603050405020304" pitchFamily="18" charset="0"/>
                <a:cs typeface="Times New Roman" panose="02020603050405020304" pitchFamily="18" charset="0"/>
                <a:sym typeface="+mn-ea"/>
              </a:rPr>
              <a:t>a</a:t>
            </a:r>
            <a:r>
              <a:rPr lang="en-US" altLang="zh-CN" sz="2400" b="1" i="1" baseline="30000" dirty="0">
                <a:solidFill>
                  <a:srgbClr val="3333FF"/>
                </a:solidFill>
                <a:latin typeface="Times New Roman" panose="02020603050405020304" pitchFamily="18" charset="0"/>
                <a:cs typeface="Times New Roman" panose="02020603050405020304" pitchFamily="18" charset="0"/>
                <a:sym typeface="+mn-ea"/>
              </a:rPr>
              <a:t>+</a:t>
            </a:r>
            <a:r>
              <a:rPr lang="en-US" altLang="zh-CN" sz="2400" b="1" i="1" dirty="0">
                <a:solidFill>
                  <a:srgbClr val="3333FF"/>
                </a:solidFill>
                <a:latin typeface="Times New Roman" panose="02020603050405020304" pitchFamily="18" charset="0"/>
                <a:cs typeface="Times New Roman" panose="02020603050405020304" pitchFamily="18" charset="0"/>
                <a:sym typeface="+mn-ea"/>
              </a:rPr>
              <a:t>b</a:t>
            </a:r>
            <a:r>
              <a:rPr lang="en-US" altLang="zh-CN" sz="2400" b="1" i="1" baseline="30000" dirty="0">
                <a:solidFill>
                  <a:srgbClr val="3333FF"/>
                </a:solidFill>
                <a:latin typeface="Times New Roman" panose="02020603050405020304" pitchFamily="18" charset="0"/>
                <a:cs typeface="Times New Roman" panose="02020603050405020304" pitchFamily="18" charset="0"/>
                <a:sym typeface="+mn-ea"/>
              </a:rPr>
              <a:t>+</a:t>
            </a:r>
            <a:r>
              <a:rPr lang="en-US" altLang="zh-CN" sz="2400" b="1" i="1" dirty="0">
                <a:solidFill>
                  <a:srgbClr val="3333FF"/>
                </a:solidFill>
                <a:latin typeface="Times New Roman" panose="02020603050405020304" pitchFamily="18" charset="0"/>
                <a:cs typeface="Times New Roman" panose="02020603050405020304" pitchFamily="18" charset="0"/>
                <a:sym typeface="+mn-ea"/>
              </a:rPr>
              <a:t>c</a:t>
            </a:r>
            <a:r>
              <a:rPr lang="en-US" altLang="zh-CN" sz="2400" b="1" i="1" baseline="30000" dirty="0">
                <a:solidFill>
                  <a:srgbClr val="3333FF"/>
                </a:solidFill>
                <a:latin typeface="Times New Roman" panose="02020603050405020304" pitchFamily="18" charset="0"/>
                <a:cs typeface="Times New Roman" panose="02020603050405020304" pitchFamily="18" charset="0"/>
                <a:sym typeface="+mn-ea"/>
              </a:rPr>
              <a:t>+</a:t>
            </a:r>
            <a:r>
              <a:rPr lang="zh-CN" altLang="en-US"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endParaRPr lang="en-US" altLang="zh-CN"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endParaRPr>
          </a:p>
          <a:p>
            <a:r>
              <a:rPr lang="en-US" altLang="zh-CN"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S</a:t>
            </a:r>
            <a:r>
              <a:rPr lang="en-US" altLang="zh-CN" sz="2400" b="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aS|aB</a:t>
            </a:r>
            <a:r>
              <a:rPr lang="zh-CN" altLang="en-US" sz="2400" b="1" i="1"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B</a:t>
            </a:r>
            <a:r>
              <a:rPr lang="en-US" altLang="zh-CN"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bB|bC</a:t>
            </a:r>
            <a:r>
              <a:rPr lang="en-US" altLang="zh-CN" sz="2400" b="1" i="1"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zh-CN" altLang="en-US" sz="2400" b="1" i="1"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zh-CN" sz="2400" b="1" i="1"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a:t>
            </a:r>
            <a:r>
              <a:rPr lang="en-US" altLang="zh-CN"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cC</a:t>
            </a:r>
            <a:r>
              <a:rPr lang="en-US" altLang="zh-CN" sz="2400" b="1" i="1"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a:t>
            </a:r>
            <a:endParaRPr lang="en-US" altLang="zh-CN" sz="2400" b="1" i="1" u="sng" dirty="0">
              <a:solidFill>
                <a:srgbClr val="FF0000"/>
              </a:solidFill>
              <a:latin typeface="Times New Roman" panose="02020603050405020304" pitchFamily="18" charset="0"/>
              <a:cs typeface="Times New Roman" panose="02020603050405020304" pitchFamily="18" charset="0"/>
            </a:endParaRPr>
          </a:p>
          <a:p>
            <a:endParaRPr lang="en-US" altLang="zh-CN" sz="2400" b="1" dirty="0">
              <a:latin typeface="Times New Roman" panose="02020603050405020304" pitchFamily="18" charset="0"/>
              <a:cs typeface="Times New Roman" panose="02020603050405020304" pitchFamily="18" charset="0"/>
            </a:endParaRPr>
          </a:p>
          <a:p>
            <a:r>
              <a:rPr lang="en-US" altLang="zh-CN" sz="2400" b="1" i="1" dirty="0">
                <a:latin typeface="Times New Roman" panose="02020603050405020304" pitchFamily="18" charset="0"/>
                <a:cs typeface="Times New Roman" panose="02020603050405020304" pitchFamily="18" charset="0"/>
              </a:rPr>
              <a:t>L</a:t>
            </a:r>
            <a:r>
              <a:rPr lang="en-US" altLang="zh-CN" sz="2400" b="1" baseline="-25000" dirty="0">
                <a:latin typeface="Times New Roman" panose="02020603050405020304" pitchFamily="18" charset="0"/>
                <a:cs typeface="Times New Roman" panose="02020603050405020304" pitchFamily="18" charset="0"/>
              </a:rPr>
              <a:t>2</a:t>
            </a:r>
            <a:r>
              <a:rPr lang="en-US" altLang="zh-CN" sz="2400" b="1" i="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a</a:t>
            </a:r>
            <a:r>
              <a:rPr lang="en-US" altLang="zh-CN" sz="2400" b="1" i="1" baseline="30000" dirty="0" err="1">
                <a:latin typeface="Times New Roman" panose="02020603050405020304" pitchFamily="18" charset="0"/>
                <a:cs typeface="Times New Roman" panose="02020603050405020304" pitchFamily="18" charset="0"/>
              </a:rPr>
              <a:t>m</a:t>
            </a:r>
            <a:r>
              <a:rPr lang="en-US" altLang="zh-CN" sz="2400" b="1" i="1" dirty="0" err="1">
                <a:latin typeface="Times New Roman" panose="02020603050405020304" pitchFamily="18" charset="0"/>
                <a:cs typeface="Times New Roman" panose="02020603050405020304" pitchFamily="18" charset="0"/>
              </a:rPr>
              <a:t>b</a:t>
            </a:r>
            <a:r>
              <a:rPr lang="en-US" altLang="zh-CN" sz="2400" b="1" i="1" baseline="30000" dirty="0" err="1">
                <a:latin typeface="Times New Roman" panose="02020603050405020304" pitchFamily="18" charset="0"/>
                <a:cs typeface="Times New Roman" panose="02020603050405020304" pitchFamily="18" charset="0"/>
              </a:rPr>
              <a:t>m</a:t>
            </a:r>
            <a:r>
              <a:rPr lang="en-US" altLang="zh-CN" sz="2400" b="1" i="1" dirty="0" err="1">
                <a:latin typeface="Times New Roman" panose="02020603050405020304" pitchFamily="18" charset="0"/>
                <a:cs typeface="Times New Roman" panose="02020603050405020304" pitchFamily="18" charset="0"/>
              </a:rPr>
              <a:t>c</a:t>
            </a:r>
            <a:r>
              <a:rPr lang="en-US" altLang="zh-CN" sz="2400" b="1" i="1" baseline="30000" dirty="0" err="1">
                <a:latin typeface="Times New Roman" panose="02020603050405020304" pitchFamily="18" charset="0"/>
                <a:cs typeface="Times New Roman" panose="02020603050405020304" pitchFamily="18" charset="0"/>
              </a:rPr>
              <a:t>k</a:t>
            </a:r>
            <a:r>
              <a:rPr lang="en-US" altLang="zh-CN" sz="2400" b="1" i="1" dirty="0" err="1">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 k≥1</a:t>
            </a:r>
            <a:r>
              <a:rPr lang="en-US" altLang="zh-CN" sz="2400" b="1" dirty="0">
                <a:latin typeface="Times New Roman" panose="02020603050405020304" pitchFamily="18" charset="0"/>
                <a:cs typeface="Times New Roman" panose="02020603050405020304" pitchFamily="18" charset="0"/>
              </a:rPr>
              <a:t>}</a:t>
            </a:r>
          </a:p>
          <a:p>
            <a:r>
              <a:rPr lang="en-US" altLang="zh-CN" sz="2400" b="1" i="1" dirty="0">
                <a:solidFill>
                  <a:srgbClr val="3333FF"/>
                </a:solidFill>
                <a:latin typeface="Times New Roman" panose="02020603050405020304" pitchFamily="18" charset="0"/>
                <a:cs typeface="Times New Roman" panose="02020603050405020304" pitchFamily="18" charset="0"/>
              </a:rPr>
              <a:t>S</a:t>
            </a:r>
            <a:r>
              <a:rPr lang="en-US" altLang="zh-CN"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AC</a:t>
            </a:r>
            <a:r>
              <a:rPr lang="zh-CN" altLang="en-US"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dirty="0" err="1">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a:t>
            </a:r>
            <a:r>
              <a:rPr lang="en-US" altLang="zh-CN" sz="2400" b="1" dirty="0" err="1">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dirty="0" err="1">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aAb</a:t>
            </a:r>
            <a:r>
              <a:rPr lang="en-US" altLang="zh-CN"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ab</a:t>
            </a:r>
            <a:r>
              <a:rPr lang="zh-CN" altLang="en-US"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dirty="0" err="1">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C</a:t>
            </a:r>
            <a:r>
              <a:rPr lang="en-US" altLang="zh-CN" sz="2400" b="1" dirty="0" err="1">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dirty="0" err="1">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cC</a:t>
            </a:r>
            <a:r>
              <a:rPr lang="en-US" altLang="zh-CN" sz="2400" b="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dirty="0">
                <a:solidFill>
                  <a:srgbClr val="3333FF"/>
                </a:solidFill>
                <a:latin typeface="Times New Roman" panose="02020603050405020304" pitchFamily="18" charset="0"/>
                <a:cs typeface="Times New Roman" panose="02020603050405020304" pitchFamily="18" charset="0"/>
                <a:sym typeface="Wingdings" panose="05000000000000000000" pitchFamily="2" charset="2"/>
              </a:rPr>
              <a:t>c</a:t>
            </a:r>
          </a:p>
          <a:p>
            <a:endParaRPr lang="en-US" altLang="zh-CN" sz="2400" b="1" i="1" dirty="0">
              <a:latin typeface="Times New Roman" panose="02020603050405020304" pitchFamily="18" charset="0"/>
              <a:cs typeface="Times New Roman" panose="02020603050405020304" pitchFamily="18" charset="0"/>
            </a:endParaRPr>
          </a:p>
          <a:p>
            <a:r>
              <a:rPr lang="en-US" altLang="zh-CN" sz="2400" b="1" i="1" dirty="0">
                <a:latin typeface="Times New Roman" panose="02020603050405020304" pitchFamily="18" charset="0"/>
                <a:cs typeface="Times New Roman" panose="02020603050405020304" pitchFamily="18" charset="0"/>
              </a:rPr>
              <a:t>L</a:t>
            </a:r>
            <a:r>
              <a:rPr lang="en-US" altLang="zh-CN" sz="2400" b="1" baseline="-25000" dirty="0">
                <a:latin typeface="Times New Roman" panose="02020603050405020304" pitchFamily="18" charset="0"/>
                <a:cs typeface="Times New Roman" panose="02020603050405020304" pitchFamily="18" charset="0"/>
              </a:rPr>
              <a:t>3</a:t>
            </a:r>
            <a:r>
              <a:rPr lang="en-US" altLang="zh-CN" sz="2400" b="1" i="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a</a:t>
            </a:r>
            <a:r>
              <a:rPr lang="en-US" altLang="zh-CN" sz="2400" b="1" i="1" baseline="30000" dirty="0">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b</a:t>
            </a:r>
            <a:r>
              <a:rPr lang="en-US" altLang="zh-CN" sz="2400" b="1" i="1" baseline="30000" dirty="0">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c</a:t>
            </a:r>
            <a:r>
              <a:rPr lang="en-US" altLang="zh-CN" sz="2400" b="1" i="1" baseline="30000" dirty="0">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|m≥</a:t>
            </a:r>
            <a:r>
              <a:rPr lang="en-US" altLang="zh-CN" sz="2400" b="1" dirty="0">
                <a:latin typeface="Times New Roman" panose="02020603050405020304" pitchFamily="18" charset="0"/>
                <a:cs typeface="Times New Roman" panose="02020603050405020304" pitchFamily="18" charset="0"/>
              </a:rPr>
              <a:t>1}</a:t>
            </a:r>
          </a:p>
          <a:p>
            <a:r>
              <a:rPr lang="en-US" altLang="zh-CN"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S</a:t>
            </a:r>
            <a:r>
              <a:rPr lang="en-US" altLang="zh-CN" sz="2400" b="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aSBC</a:t>
            </a:r>
            <a:r>
              <a:rPr lang="zh-CN" altLang="en-US" sz="2400" b="1" i="1"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SaBC</a:t>
            </a:r>
            <a:r>
              <a:rPr lang="en-US" altLang="zh-CN" sz="2400" b="1" i="1"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zh-CN" altLang="en-US" sz="2400" b="1" i="1"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zh-CN" sz="2400" b="1" i="1"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CB</a:t>
            </a:r>
            <a:r>
              <a:rPr lang="en-US" altLang="zh-CN"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BC</a:t>
            </a:r>
            <a:r>
              <a:rPr lang="zh-CN" altLang="en-US" sz="2400" b="1" i="1"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u="sng"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aB</a:t>
            </a:r>
            <a:r>
              <a:rPr lang="en-US" altLang="zh-CN"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ab</a:t>
            </a:r>
            <a:r>
              <a:rPr lang="zh-CN" altLang="en-US"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bBbb</a:t>
            </a:r>
            <a:r>
              <a:rPr lang="zh-CN" altLang="en-US"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bCbc</a:t>
            </a:r>
            <a:r>
              <a:rPr lang="zh-CN" altLang="en-US"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b="1" i="1" u="sng"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cCcc</a:t>
            </a:r>
            <a:endParaRPr lang="en-US" altLang="zh-CN" sz="2400" b="1" dirty="0">
              <a:latin typeface="Times New Roman" panose="02020603050405020304" pitchFamily="18" charset="0"/>
              <a:cs typeface="Times New Roman" panose="02020603050405020304" pitchFamily="18" charset="0"/>
            </a:endParaRPr>
          </a:p>
          <a:p>
            <a:endParaRPr lang="en-US" altLang="zh-CN" sz="2400" b="1" dirty="0">
              <a:latin typeface="Times New Roman" panose="02020603050405020304" pitchFamily="18" charset="0"/>
              <a:cs typeface="Times New Roman" panose="02020603050405020304" pitchFamily="18" charset="0"/>
            </a:endParaRPr>
          </a:p>
        </p:txBody>
      </p:sp>
      <p:pic>
        <p:nvPicPr>
          <p:cNvPr id="2" name="图片 1"/>
          <p:cNvPicPr>
            <a:picLocks noChangeAspect="1"/>
          </p:cNvPicPr>
          <p:nvPr>
            <p:custDataLst>
              <p:tags r:id="rId1"/>
            </p:custDataLst>
          </p:nvPr>
        </p:nvPicPr>
        <p:blipFill>
          <a:blip r:embed="rId3">
            <a:clrChange>
              <a:clrFrom>
                <a:srgbClr val="FFFFFF">
                  <a:alpha val="100000"/>
                </a:srgbClr>
              </a:clrFrom>
              <a:clrTo>
                <a:srgbClr val="FFFFFF">
                  <a:alpha val="100000"/>
                  <a:alpha val="0"/>
                </a:srgbClr>
              </a:clrTo>
            </a:clrChange>
          </a:blip>
          <a:srcRect t="17919"/>
          <a:stretch>
            <a:fillRect/>
          </a:stretch>
        </p:blipFill>
        <p:spPr>
          <a:xfrm>
            <a:off x="1859280" y="4419600"/>
            <a:ext cx="5426075" cy="21951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662E1F6-9BD6-474C-A82E-E07C3DB67AAE}" type="slidenum">
              <a:rPr lang="en-AU" smtClean="0"/>
              <a:t>11</a:t>
            </a:fld>
            <a:endParaRPr lang="en-AU"/>
          </a:p>
        </p:txBody>
      </p:sp>
      <p:sp>
        <p:nvSpPr>
          <p:cNvPr id="7" name="Title 1"/>
          <p:cNvSpPr>
            <a:spLocks noGrp="1"/>
          </p:cNvSpPr>
          <p:nvPr>
            <p:ph type="title"/>
          </p:nvPr>
        </p:nvSpPr>
        <p:spPr>
          <a:xfrm>
            <a:off x="457200" y="-107315"/>
            <a:ext cx="8229600" cy="91567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形式语言与自动机</a:t>
            </a:r>
            <a:endParaRPr lang="en-US" altLang="zh-CN" sz="3600" dirty="0">
              <a:solidFill>
                <a:schemeClr val="bg1"/>
              </a:solidFill>
              <a:effectLst>
                <a:outerShdw blurRad="38100" dist="38100" dir="2700000" algn="tl">
                  <a:srgbClr val="000000">
                    <a:alpha val="43137"/>
                  </a:srgbClr>
                </a:outerShdw>
              </a:effectLst>
            </a:endParaRPr>
          </a:p>
        </p:txBody>
      </p:sp>
      <p:sp>
        <p:nvSpPr>
          <p:cNvPr id="9" name="文本框 8"/>
          <p:cNvSpPr txBox="1"/>
          <p:nvPr/>
        </p:nvSpPr>
        <p:spPr>
          <a:xfrm>
            <a:off x="533400" y="762000"/>
            <a:ext cx="8382000" cy="1568450"/>
          </a:xfrm>
          <a:prstGeom prst="rect">
            <a:avLst/>
          </a:prstGeom>
          <a:noFill/>
        </p:spPr>
        <p:txBody>
          <a:bodyPr wrap="square">
            <a:spAutoFit/>
          </a:bodyPr>
          <a:lstStyle/>
          <a:p>
            <a:r>
              <a:rPr lang="zh-CN" altLang="en-US" sz="2400" b="1" dirty="0"/>
              <a:t>比较以下三个语言对应的自动机</a:t>
            </a:r>
            <a:endParaRPr lang="en-US" altLang="zh-CN" sz="2400" b="1" dirty="0"/>
          </a:p>
          <a:p>
            <a:r>
              <a:rPr lang="en-US" altLang="zh-CN" sz="2400" b="1" i="1" dirty="0">
                <a:latin typeface="Times New Roman" panose="02020603050405020304" pitchFamily="18" charset="0"/>
                <a:cs typeface="Times New Roman" panose="02020603050405020304" pitchFamily="18" charset="0"/>
              </a:rPr>
              <a:t>L</a:t>
            </a:r>
            <a:r>
              <a:rPr lang="en-US" altLang="zh-CN" sz="2400" b="1" baseline="-25000" dirty="0">
                <a:latin typeface="Times New Roman" panose="02020603050405020304" pitchFamily="18" charset="0"/>
                <a:cs typeface="Times New Roman" panose="02020603050405020304" pitchFamily="18" charset="0"/>
              </a:rPr>
              <a:t>1</a:t>
            </a:r>
            <a:r>
              <a:rPr lang="en-US" altLang="zh-CN" sz="2400" b="1" i="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a</a:t>
            </a:r>
            <a:r>
              <a:rPr lang="en-US" altLang="zh-CN" sz="2400" b="1" i="1" baseline="30000" dirty="0" err="1">
                <a:latin typeface="Times New Roman" panose="02020603050405020304" pitchFamily="18" charset="0"/>
                <a:cs typeface="Times New Roman" panose="02020603050405020304" pitchFamily="18" charset="0"/>
              </a:rPr>
              <a:t>m</a:t>
            </a:r>
            <a:r>
              <a:rPr lang="en-US" altLang="zh-CN" sz="2400" b="1" i="1" dirty="0" err="1">
                <a:latin typeface="Times New Roman" panose="02020603050405020304" pitchFamily="18" charset="0"/>
                <a:cs typeface="Times New Roman" panose="02020603050405020304" pitchFamily="18" charset="0"/>
              </a:rPr>
              <a:t>b</a:t>
            </a:r>
            <a:r>
              <a:rPr lang="en-US" altLang="zh-CN" sz="2400" b="1" i="1" baseline="30000" dirty="0" err="1">
                <a:latin typeface="Times New Roman" panose="02020603050405020304" pitchFamily="18" charset="0"/>
                <a:cs typeface="Times New Roman" panose="02020603050405020304" pitchFamily="18" charset="0"/>
              </a:rPr>
              <a:t>n</a:t>
            </a:r>
            <a:r>
              <a:rPr lang="en-US" altLang="zh-CN" sz="2400" b="1" i="1" dirty="0" err="1">
                <a:latin typeface="Times New Roman" panose="02020603050405020304" pitchFamily="18" charset="0"/>
                <a:cs typeface="Times New Roman" panose="02020603050405020304" pitchFamily="18" charset="0"/>
              </a:rPr>
              <a:t>c</a:t>
            </a:r>
            <a:r>
              <a:rPr lang="en-US" altLang="zh-CN" sz="2400" b="1" i="1" baseline="30000" dirty="0" err="1">
                <a:latin typeface="Times New Roman" panose="02020603050405020304" pitchFamily="18" charset="0"/>
                <a:cs typeface="Times New Roman" panose="02020603050405020304" pitchFamily="18" charset="0"/>
              </a:rPr>
              <a:t>k</a:t>
            </a:r>
            <a:r>
              <a:rPr lang="en-US" altLang="zh-CN" sz="2400" b="1" i="1" dirty="0" err="1">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 n, k≥</a:t>
            </a:r>
            <a:r>
              <a:rPr lang="en-US" altLang="zh-CN" sz="2400" b="1" dirty="0">
                <a:latin typeface="Times New Roman" panose="02020603050405020304" pitchFamily="18" charset="0"/>
                <a:cs typeface="Times New Roman" panose="02020603050405020304" pitchFamily="18" charset="0"/>
              </a:rPr>
              <a:t>1}</a:t>
            </a:r>
          </a:p>
          <a:p>
            <a:r>
              <a:rPr lang="en-US" altLang="zh-CN" sz="2400" b="1" i="1" dirty="0">
                <a:latin typeface="Times New Roman" panose="02020603050405020304" pitchFamily="18" charset="0"/>
                <a:cs typeface="Times New Roman" panose="02020603050405020304" pitchFamily="18" charset="0"/>
              </a:rPr>
              <a:t>L</a:t>
            </a:r>
            <a:r>
              <a:rPr lang="en-US" altLang="zh-CN" sz="2400" b="1" baseline="-25000" dirty="0">
                <a:latin typeface="Times New Roman" panose="02020603050405020304" pitchFamily="18" charset="0"/>
                <a:cs typeface="Times New Roman" panose="02020603050405020304" pitchFamily="18" charset="0"/>
              </a:rPr>
              <a:t>2</a:t>
            </a:r>
            <a:r>
              <a:rPr lang="en-US" altLang="zh-CN" sz="2400" b="1" i="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a</a:t>
            </a:r>
            <a:r>
              <a:rPr lang="en-US" altLang="zh-CN" sz="2400" b="1" i="1" baseline="30000" dirty="0" err="1">
                <a:latin typeface="Times New Roman" panose="02020603050405020304" pitchFamily="18" charset="0"/>
                <a:cs typeface="Times New Roman" panose="02020603050405020304" pitchFamily="18" charset="0"/>
              </a:rPr>
              <a:t>m</a:t>
            </a:r>
            <a:r>
              <a:rPr lang="en-US" altLang="zh-CN" sz="2400" b="1" i="1" dirty="0" err="1">
                <a:latin typeface="Times New Roman" panose="02020603050405020304" pitchFamily="18" charset="0"/>
                <a:cs typeface="Times New Roman" panose="02020603050405020304" pitchFamily="18" charset="0"/>
              </a:rPr>
              <a:t>b</a:t>
            </a:r>
            <a:r>
              <a:rPr lang="en-US" altLang="zh-CN" sz="2400" b="1" i="1" baseline="30000" dirty="0" err="1">
                <a:latin typeface="Times New Roman" panose="02020603050405020304" pitchFamily="18" charset="0"/>
                <a:cs typeface="Times New Roman" panose="02020603050405020304" pitchFamily="18" charset="0"/>
              </a:rPr>
              <a:t>m</a:t>
            </a:r>
            <a:r>
              <a:rPr lang="en-US" altLang="zh-CN" sz="2400" b="1" i="1" dirty="0" err="1">
                <a:latin typeface="Times New Roman" panose="02020603050405020304" pitchFamily="18" charset="0"/>
                <a:cs typeface="Times New Roman" panose="02020603050405020304" pitchFamily="18" charset="0"/>
              </a:rPr>
              <a:t>c</a:t>
            </a:r>
            <a:r>
              <a:rPr lang="en-US" altLang="zh-CN" sz="2400" b="1" i="1" baseline="30000" dirty="0" err="1">
                <a:latin typeface="Times New Roman" panose="02020603050405020304" pitchFamily="18" charset="0"/>
                <a:cs typeface="Times New Roman" panose="02020603050405020304" pitchFamily="18" charset="0"/>
              </a:rPr>
              <a:t>k</a:t>
            </a:r>
            <a:r>
              <a:rPr lang="en-US" altLang="zh-CN" sz="2400" b="1" i="1" dirty="0" err="1">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 k≥</a:t>
            </a:r>
            <a:r>
              <a:rPr lang="en-US" altLang="zh-CN" sz="2400" b="1" dirty="0">
                <a:latin typeface="Times New Roman" panose="02020603050405020304" pitchFamily="18" charset="0"/>
                <a:cs typeface="Times New Roman" panose="02020603050405020304" pitchFamily="18" charset="0"/>
              </a:rPr>
              <a:t>1}</a:t>
            </a:r>
          </a:p>
          <a:p>
            <a:r>
              <a:rPr lang="en-US" altLang="zh-CN" sz="2400" b="1" i="1" dirty="0">
                <a:latin typeface="Times New Roman" panose="02020603050405020304" pitchFamily="18" charset="0"/>
                <a:cs typeface="Times New Roman" panose="02020603050405020304" pitchFamily="18" charset="0"/>
              </a:rPr>
              <a:t>L</a:t>
            </a:r>
            <a:r>
              <a:rPr lang="en-US" altLang="zh-CN" sz="2400" b="1" baseline="-25000" dirty="0">
                <a:latin typeface="Times New Roman" panose="02020603050405020304" pitchFamily="18" charset="0"/>
                <a:cs typeface="Times New Roman" panose="02020603050405020304" pitchFamily="18" charset="0"/>
              </a:rPr>
              <a:t>3</a:t>
            </a:r>
            <a:r>
              <a:rPr lang="en-US" altLang="zh-CN" sz="2400" b="1" i="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a</a:t>
            </a:r>
            <a:r>
              <a:rPr lang="en-US" altLang="zh-CN" sz="2400" b="1" i="1" baseline="30000" dirty="0">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b</a:t>
            </a:r>
            <a:r>
              <a:rPr lang="en-US" altLang="zh-CN" sz="2400" b="1" i="1" baseline="30000" dirty="0">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c</a:t>
            </a:r>
            <a:r>
              <a:rPr lang="en-US" altLang="zh-CN" sz="2400" b="1" i="1" baseline="30000" dirty="0">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|m≥</a:t>
            </a:r>
            <a:r>
              <a:rPr lang="en-US" altLang="zh-CN" sz="2400" b="1" dirty="0">
                <a:latin typeface="Times New Roman" panose="02020603050405020304" pitchFamily="18" charset="0"/>
                <a:cs typeface="Times New Roman" panose="02020603050405020304" pitchFamily="18" charset="0"/>
              </a:rPr>
              <a:t>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662E1F6-9BD6-474C-A82E-E07C3DB67AAE}" type="slidenum">
              <a:rPr lang="en-AU" smtClean="0"/>
              <a:t>12</a:t>
            </a:fld>
            <a:endParaRPr lang="en-AU"/>
          </a:p>
        </p:txBody>
      </p:sp>
      <p:sp>
        <p:nvSpPr>
          <p:cNvPr id="7" name="Title 1"/>
          <p:cNvSpPr>
            <a:spLocks noGrp="1"/>
          </p:cNvSpPr>
          <p:nvPr>
            <p:ph type="title"/>
          </p:nvPr>
        </p:nvSpPr>
        <p:spPr>
          <a:xfrm>
            <a:off x="457200" y="-107315"/>
            <a:ext cx="8229600" cy="91567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形式语言与自动机</a:t>
            </a:r>
            <a:endParaRPr lang="en-US" altLang="zh-CN" sz="3600" dirty="0">
              <a:solidFill>
                <a:schemeClr val="bg1"/>
              </a:solidFill>
              <a:effectLst>
                <a:outerShdw blurRad="38100" dist="38100" dir="2700000" algn="tl">
                  <a:srgbClr val="000000">
                    <a:alpha val="43137"/>
                  </a:srgbClr>
                </a:outerShdw>
              </a:effectLst>
            </a:endParaRPr>
          </a:p>
        </p:txBody>
      </p:sp>
      <p:sp>
        <p:nvSpPr>
          <p:cNvPr id="9" name="文本框 8"/>
          <p:cNvSpPr txBox="1"/>
          <p:nvPr/>
        </p:nvSpPr>
        <p:spPr>
          <a:xfrm>
            <a:off x="533400" y="762000"/>
            <a:ext cx="8382000" cy="1568450"/>
          </a:xfrm>
          <a:prstGeom prst="rect">
            <a:avLst/>
          </a:prstGeom>
          <a:noFill/>
        </p:spPr>
        <p:txBody>
          <a:bodyPr wrap="square">
            <a:spAutoFit/>
          </a:bodyPr>
          <a:lstStyle/>
          <a:p>
            <a:r>
              <a:rPr lang="zh-CN" altLang="en-US" sz="2400" b="1" dirty="0"/>
              <a:t>比较以下三个语言对应的自动机</a:t>
            </a:r>
            <a:endParaRPr lang="en-US" altLang="zh-CN" sz="2400" b="1" dirty="0"/>
          </a:p>
          <a:p>
            <a:r>
              <a:rPr lang="en-US" altLang="zh-CN" sz="2400" b="1" i="1" dirty="0">
                <a:solidFill>
                  <a:srgbClr val="FF0000"/>
                </a:solidFill>
                <a:latin typeface="Times New Roman" panose="02020603050405020304" pitchFamily="18" charset="0"/>
                <a:cs typeface="Times New Roman" panose="02020603050405020304" pitchFamily="18" charset="0"/>
              </a:rPr>
              <a:t>L</a:t>
            </a:r>
            <a:r>
              <a:rPr lang="en-US" altLang="zh-CN" sz="2400" b="1" baseline="-25000" dirty="0">
                <a:solidFill>
                  <a:srgbClr val="FF0000"/>
                </a:solidFill>
                <a:latin typeface="Times New Roman" panose="02020603050405020304" pitchFamily="18" charset="0"/>
                <a:cs typeface="Times New Roman" panose="02020603050405020304" pitchFamily="18" charset="0"/>
              </a:rPr>
              <a:t>1</a:t>
            </a:r>
            <a:r>
              <a:rPr lang="en-US" altLang="zh-CN" sz="2400" b="1" i="1" dirty="0">
                <a:solidFill>
                  <a:srgbClr val="FF0000"/>
                </a:solidFill>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a:t>
            </a:r>
            <a:r>
              <a:rPr lang="en-US" altLang="zh-CN" sz="2400" b="1" i="1" dirty="0" err="1">
                <a:solidFill>
                  <a:srgbClr val="FF0000"/>
                </a:solidFill>
                <a:latin typeface="Times New Roman" panose="02020603050405020304" pitchFamily="18" charset="0"/>
                <a:cs typeface="Times New Roman" panose="02020603050405020304" pitchFamily="18" charset="0"/>
              </a:rPr>
              <a:t>a</a:t>
            </a:r>
            <a:r>
              <a:rPr lang="en-US" altLang="zh-CN" sz="2400" b="1" i="1" baseline="30000" dirty="0" err="1">
                <a:solidFill>
                  <a:srgbClr val="FF0000"/>
                </a:solidFill>
                <a:latin typeface="Times New Roman" panose="02020603050405020304" pitchFamily="18" charset="0"/>
                <a:cs typeface="Times New Roman" panose="02020603050405020304" pitchFamily="18" charset="0"/>
              </a:rPr>
              <a:t>m</a:t>
            </a:r>
            <a:r>
              <a:rPr lang="en-US" altLang="zh-CN" sz="2400" b="1" i="1" dirty="0" err="1">
                <a:solidFill>
                  <a:srgbClr val="FF0000"/>
                </a:solidFill>
                <a:latin typeface="Times New Roman" panose="02020603050405020304" pitchFamily="18" charset="0"/>
                <a:cs typeface="Times New Roman" panose="02020603050405020304" pitchFamily="18" charset="0"/>
              </a:rPr>
              <a:t>b</a:t>
            </a:r>
            <a:r>
              <a:rPr lang="en-US" altLang="zh-CN" sz="2400" b="1" i="1" baseline="30000" dirty="0" err="1">
                <a:solidFill>
                  <a:srgbClr val="FF0000"/>
                </a:solidFill>
                <a:latin typeface="Times New Roman" panose="02020603050405020304" pitchFamily="18" charset="0"/>
                <a:cs typeface="Times New Roman" panose="02020603050405020304" pitchFamily="18" charset="0"/>
              </a:rPr>
              <a:t>n</a:t>
            </a:r>
            <a:r>
              <a:rPr lang="en-US" altLang="zh-CN" sz="2400" b="1" i="1" dirty="0" err="1">
                <a:solidFill>
                  <a:srgbClr val="FF0000"/>
                </a:solidFill>
                <a:latin typeface="Times New Roman" panose="02020603050405020304" pitchFamily="18" charset="0"/>
                <a:cs typeface="Times New Roman" panose="02020603050405020304" pitchFamily="18" charset="0"/>
              </a:rPr>
              <a:t>c</a:t>
            </a:r>
            <a:r>
              <a:rPr lang="en-US" altLang="zh-CN" sz="2400" b="1" i="1" baseline="30000" dirty="0" err="1">
                <a:solidFill>
                  <a:srgbClr val="FF0000"/>
                </a:solidFill>
                <a:latin typeface="Times New Roman" panose="02020603050405020304" pitchFamily="18" charset="0"/>
                <a:cs typeface="Times New Roman" panose="02020603050405020304" pitchFamily="18" charset="0"/>
              </a:rPr>
              <a:t>k</a:t>
            </a:r>
            <a:r>
              <a:rPr lang="en-US" altLang="zh-CN" sz="2400" b="1" i="1" dirty="0" err="1">
                <a:solidFill>
                  <a:srgbClr val="FF0000"/>
                </a:solidFill>
                <a:latin typeface="Times New Roman" panose="02020603050405020304" pitchFamily="18" charset="0"/>
                <a:cs typeface="Times New Roman" panose="02020603050405020304" pitchFamily="18" charset="0"/>
              </a:rPr>
              <a:t>|m</a:t>
            </a:r>
            <a:r>
              <a:rPr lang="en-US" altLang="zh-CN" sz="2400" b="1" i="1" dirty="0">
                <a:solidFill>
                  <a:srgbClr val="FF0000"/>
                </a:solidFill>
                <a:latin typeface="Times New Roman" panose="02020603050405020304" pitchFamily="18" charset="0"/>
                <a:cs typeface="Times New Roman" panose="02020603050405020304" pitchFamily="18" charset="0"/>
              </a:rPr>
              <a:t>, n, k≥</a:t>
            </a:r>
            <a:r>
              <a:rPr lang="en-US" altLang="zh-CN" sz="2400" b="1" dirty="0">
                <a:solidFill>
                  <a:srgbClr val="FF0000"/>
                </a:solidFill>
                <a:latin typeface="Times New Roman" panose="02020603050405020304" pitchFamily="18" charset="0"/>
                <a:cs typeface="Times New Roman" panose="02020603050405020304" pitchFamily="18" charset="0"/>
              </a:rPr>
              <a:t>1}</a:t>
            </a:r>
          </a:p>
          <a:p>
            <a:r>
              <a:rPr lang="en-US" altLang="zh-CN" sz="2400" b="1" i="1" dirty="0">
                <a:latin typeface="Times New Roman" panose="02020603050405020304" pitchFamily="18" charset="0"/>
                <a:cs typeface="Times New Roman" panose="02020603050405020304" pitchFamily="18" charset="0"/>
              </a:rPr>
              <a:t>L</a:t>
            </a:r>
            <a:r>
              <a:rPr lang="en-US" altLang="zh-CN" sz="2400" b="1" baseline="-25000" dirty="0">
                <a:latin typeface="Times New Roman" panose="02020603050405020304" pitchFamily="18" charset="0"/>
                <a:cs typeface="Times New Roman" panose="02020603050405020304" pitchFamily="18" charset="0"/>
              </a:rPr>
              <a:t>2</a:t>
            </a:r>
            <a:r>
              <a:rPr lang="en-US" altLang="zh-CN" sz="2400" b="1" i="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a</a:t>
            </a:r>
            <a:r>
              <a:rPr lang="en-US" altLang="zh-CN" sz="2400" b="1" i="1" baseline="30000" dirty="0" err="1">
                <a:latin typeface="Times New Roman" panose="02020603050405020304" pitchFamily="18" charset="0"/>
                <a:cs typeface="Times New Roman" panose="02020603050405020304" pitchFamily="18" charset="0"/>
              </a:rPr>
              <a:t>m</a:t>
            </a:r>
            <a:r>
              <a:rPr lang="en-US" altLang="zh-CN" sz="2400" b="1" i="1" dirty="0" err="1">
                <a:latin typeface="Times New Roman" panose="02020603050405020304" pitchFamily="18" charset="0"/>
                <a:cs typeface="Times New Roman" panose="02020603050405020304" pitchFamily="18" charset="0"/>
              </a:rPr>
              <a:t>b</a:t>
            </a:r>
            <a:r>
              <a:rPr lang="en-US" altLang="zh-CN" sz="2400" b="1" i="1" baseline="30000" dirty="0" err="1">
                <a:latin typeface="Times New Roman" panose="02020603050405020304" pitchFamily="18" charset="0"/>
                <a:cs typeface="Times New Roman" panose="02020603050405020304" pitchFamily="18" charset="0"/>
              </a:rPr>
              <a:t>m</a:t>
            </a:r>
            <a:r>
              <a:rPr lang="en-US" altLang="zh-CN" sz="2400" b="1" i="1" dirty="0" err="1">
                <a:latin typeface="Times New Roman" panose="02020603050405020304" pitchFamily="18" charset="0"/>
                <a:cs typeface="Times New Roman" panose="02020603050405020304" pitchFamily="18" charset="0"/>
              </a:rPr>
              <a:t>c</a:t>
            </a:r>
            <a:r>
              <a:rPr lang="en-US" altLang="zh-CN" sz="2400" b="1" i="1" baseline="30000" dirty="0" err="1">
                <a:latin typeface="Times New Roman" panose="02020603050405020304" pitchFamily="18" charset="0"/>
                <a:cs typeface="Times New Roman" panose="02020603050405020304" pitchFamily="18" charset="0"/>
              </a:rPr>
              <a:t>k</a:t>
            </a:r>
            <a:r>
              <a:rPr lang="en-US" altLang="zh-CN" sz="2400" b="1" i="1" dirty="0" err="1">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 k≥</a:t>
            </a:r>
            <a:r>
              <a:rPr lang="en-US" altLang="zh-CN" sz="2400" b="1" dirty="0">
                <a:latin typeface="Times New Roman" panose="02020603050405020304" pitchFamily="18" charset="0"/>
                <a:cs typeface="Times New Roman" panose="02020603050405020304" pitchFamily="18" charset="0"/>
              </a:rPr>
              <a:t>1}</a:t>
            </a:r>
          </a:p>
          <a:p>
            <a:r>
              <a:rPr lang="en-US" altLang="zh-CN" sz="2400" b="1" i="1" dirty="0">
                <a:latin typeface="Times New Roman" panose="02020603050405020304" pitchFamily="18" charset="0"/>
                <a:cs typeface="Times New Roman" panose="02020603050405020304" pitchFamily="18" charset="0"/>
              </a:rPr>
              <a:t>L</a:t>
            </a:r>
            <a:r>
              <a:rPr lang="en-US" altLang="zh-CN" sz="2400" b="1" baseline="-25000" dirty="0">
                <a:latin typeface="Times New Roman" panose="02020603050405020304" pitchFamily="18" charset="0"/>
                <a:cs typeface="Times New Roman" panose="02020603050405020304" pitchFamily="18" charset="0"/>
              </a:rPr>
              <a:t>3</a:t>
            </a:r>
            <a:r>
              <a:rPr lang="en-US" altLang="zh-CN" sz="2400" b="1" i="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a</a:t>
            </a:r>
            <a:r>
              <a:rPr lang="en-US" altLang="zh-CN" sz="2400" b="1" i="1" baseline="30000" dirty="0">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b</a:t>
            </a:r>
            <a:r>
              <a:rPr lang="en-US" altLang="zh-CN" sz="2400" b="1" i="1" baseline="30000" dirty="0">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c</a:t>
            </a:r>
            <a:r>
              <a:rPr lang="en-US" altLang="zh-CN" sz="2400" b="1" i="1" baseline="30000" dirty="0">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|m≥</a:t>
            </a:r>
            <a:r>
              <a:rPr lang="en-US" altLang="zh-CN" sz="2400" b="1" dirty="0">
                <a:latin typeface="Times New Roman" panose="02020603050405020304" pitchFamily="18" charset="0"/>
                <a:cs typeface="Times New Roman" panose="02020603050405020304" pitchFamily="18" charset="0"/>
              </a:rPr>
              <a:t>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229600" cy="393065"/>
          </a:xfrm>
        </p:spPr>
        <p:txBody>
          <a:bodyPr/>
          <a:lstStyle/>
          <a:p>
            <a:pPr algn="r"/>
            <a:r>
              <a:rPr lang="zh-CN" sz="3600" dirty="0">
                <a:solidFill>
                  <a:schemeClr val="bg1"/>
                </a:solidFill>
              </a:rPr>
              <a:t>自动机、正则表达式和文法之间的转换</a:t>
            </a:r>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t>13</a:t>
            </a:fld>
            <a:endParaRPr lang="en-US" altLang="zh-CN"/>
          </a:p>
        </p:txBody>
      </p:sp>
      <p:sp>
        <p:nvSpPr>
          <p:cNvPr id="14339" name="Rectangle 3"/>
          <p:cNvSpPr>
            <a:spLocks noGrp="1" noChangeArrowheads="1"/>
          </p:cNvSpPr>
          <p:nvPr/>
        </p:nvSpPr>
        <p:spPr>
          <a:xfrm>
            <a:off x="507704" y="991575"/>
            <a:ext cx="8229600" cy="4525963"/>
          </a:xfrm>
          <a:prstGeom prst="rect">
            <a:avLst/>
          </a:prstGeom>
          <a:noFill/>
          <a:ln w="9525">
            <a:noFill/>
          </a:ln>
        </p:spPr>
        <p:txBody>
          <a:bodyPr vert="horz" lIns="91440" tIns="45720" rIns="91440" bIns="45720" anchor="t" anchorCtr="0"/>
          <a:lstStyle>
            <a:lvl1pPr marL="342900" indent="-342900" algn="l" defTabSz="914400" rtl="0" eaLnBrk="1" latinLnBrk="0" hangingPunct="1">
              <a:spcBef>
                <a:spcPct val="20000"/>
              </a:spcBef>
              <a:buFont typeface="Arial" panose="020B0604020202020204" pitchFamily="34" charset="0"/>
              <a:buChar char="•"/>
              <a:defRPr sz="2800" b="1" kern="1200">
                <a:solidFill>
                  <a:schemeClr val="tx1"/>
                </a:solidFill>
                <a:latin typeface="黑体" panose="02010609060101010101" pitchFamily="49" charset="-122"/>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3400" indent="-533400" algn="just" eaLnBrk="1" hangingPunct="1">
              <a:lnSpc>
                <a:spcPct val="90000"/>
              </a:lnSpc>
              <a:defRPr/>
            </a:pPr>
            <a:r>
              <a:rPr lang="en-US" b="1" dirty="0">
                <a:latin typeface="Times New Roman" panose="02020603050405020304" pitchFamily="18" charset="0"/>
                <a:ea typeface="宋体" panose="02010600030101010101" pitchFamily="2" charset="-122"/>
                <a:cs typeface="Times New Roman" panose="02020603050405020304" pitchFamily="18" charset="0"/>
              </a:rPr>
              <a:t>DFA, NFA, </a:t>
            </a:r>
            <a:r>
              <a:rPr lang="zh-CN" altLang="en-US"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b="1" dirty="0">
                <a:latin typeface="Times New Roman" panose="02020603050405020304" pitchFamily="18" charset="0"/>
                <a:ea typeface="宋体" panose="02010600030101010101" pitchFamily="2" charset="-122"/>
                <a:cs typeface="Times New Roman" panose="02020603050405020304" pitchFamily="18" charset="0"/>
              </a:rPr>
              <a:t>-NFA</a:t>
            </a:r>
            <a:r>
              <a:rPr lang="zh-CN" altLang="en-US" b="1" dirty="0">
                <a:cs typeface="Times New Roman" panose="02020603050405020304" pitchFamily="18" charset="0"/>
              </a:rPr>
              <a:t>和正则表达式在表示语言的能力上是等价的</a:t>
            </a:r>
            <a:endParaRPr lang="en-US" altLang="zh-CN" b="1" dirty="0">
              <a:cs typeface="Times New Roman" panose="02020603050405020304" pitchFamily="18" charset="0"/>
            </a:endParaRPr>
          </a:p>
          <a:p>
            <a:pPr marL="933450" lvl="1" indent="-533400" algn="just" eaLnBrk="1" hangingPunct="1">
              <a:lnSpc>
                <a:spcPct val="90000"/>
              </a:lnSpc>
              <a:defRPr/>
            </a:pPr>
            <a:r>
              <a:rPr lang="zh-CN" altLang="en-US" b="1" dirty="0">
                <a:latin typeface="Times New Roman" panose="02020603050405020304" pitchFamily="18" charset="0"/>
                <a:ea typeface="宋体" panose="02010600030101010101" pitchFamily="2" charset="-122"/>
                <a:cs typeface="Times New Roman" panose="02020603050405020304" pitchFamily="18" charset="0"/>
              </a:rPr>
              <a:t>相互之间的转换关系</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marL="400050" lvl="1" indent="0" algn="just" eaLnBrk="1" hangingPunct="1">
              <a:lnSpc>
                <a:spcPct val="90000"/>
              </a:lnSpc>
              <a:buFontTx/>
              <a:buNone/>
              <a:defRPr/>
            </a:pPr>
            <a:endParaRPr lang="en-US" altLang="zh-CN" b="1" dirty="0">
              <a:latin typeface="Times New Roman" panose="02020603050405020304" pitchFamily="18" charset="0"/>
              <a:ea typeface="黑体" panose="02010609060101010101" pitchFamily="49" charset="-122"/>
            </a:endParaRPr>
          </a:p>
        </p:txBody>
      </p:sp>
      <p:sp>
        <p:nvSpPr>
          <p:cNvPr id="13" name="椭圆 12"/>
          <p:cNvSpPr/>
          <p:nvPr/>
        </p:nvSpPr>
        <p:spPr bwMode="auto">
          <a:xfrm>
            <a:off x="2198370" y="2896870"/>
            <a:ext cx="1828800" cy="72834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2800" b="1" dirty="0">
                <a:solidFill>
                  <a:schemeClr val="tx1"/>
                </a:solidFill>
                <a:latin typeface="Times New Roman" panose="02020603050405020304" pitchFamily="18" charset="0"/>
                <a:ea typeface="宋体" panose="02010600030101010101" pitchFamily="2" charset="-122"/>
              </a:rPr>
              <a:t>DFA</a:t>
            </a:r>
            <a:endParaRPr lang="en-US" sz="2800" b="1" dirty="0">
              <a:solidFill>
                <a:schemeClr val="tx1"/>
              </a:solidFill>
              <a:latin typeface="Times New Roman" panose="02020603050405020304" pitchFamily="18" charset="0"/>
              <a:ea typeface="宋体" panose="02010600030101010101" pitchFamily="2" charset="-122"/>
            </a:endParaRPr>
          </a:p>
        </p:txBody>
      </p:sp>
      <p:sp>
        <p:nvSpPr>
          <p:cNvPr id="14" name="椭圆 13"/>
          <p:cNvSpPr/>
          <p:nvPr/>
        </p:nvSpPr>
        <p:spPr bwMode="auto">
          <a:xfrm>
            <a:off x="4883150" y="2896870"/>
            <a:ext cx="2801620" cy="72834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zh-CN" altLang="en-US" sz="2800" b="1" dirty="0">
                <a:solidFill>
                  <a:schemeClr val="tx1"/>
                </a:solidFill>
                <a:latin typeface="Times New Roman" panose="02020603050405020304" pitchFamily="18" charset="0"/>
                <a:ea typeface="宋体" panose="02010600030101010101" pitchFamily="2" charset="-122"/>
              </a:rPr>
              <a:t>正则表达式</a:t>
            </a:r>
            <a:endParaRPr lang="en-US" sz="2800" b="1" dirty="0">
              <a:solidFill>
                <a:schemeClr val="tx1"/>
              </a:solidFill>
              <a:latin typeface="Times New Roman" panose="02020603050405020304" pitchFamily="18" charset="0"/>
              <a:ea typeface="宋体" panose="02010600030101010101" pitchFamily="2" charset="-122"/>
            </a:endParaRPr>
          </a:p>
        </p:txBody>
      </p:sp>
      <p:sp>
        <p:nvSpPr>
          <p:cNvPr id="19" name="椭圆 18"/>
          <p:cNvSpPr/>
          <p:nvPr/>
        </p:nvSpPr>
        <p:spPr bwMode="auto">
          <a:xfrm>
            <a:off x="1270000" y="4224020"/>
            <a:ext cx="1828800" cy="72834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2800" b="1" dirty="0">
                <a:solidFill>
                  <a:schemeClr val="tx1"/>
                </a:solidFill>
                <a:latin typeface="Times New Roman" panose="02020603050405020304" pitchFamily="18" charset="0"/>
                <a:ea typeface="宋体" panose="02010600030101010101" pitchFamily="2" charset="-122"/>
              </a:rPr>
              <a:t>NFA</a:t>
            </a:r>
            <a:endParaRPr lang="en-US" sz="2800" b="1" dirty="0">
              <a:solidFill>
                <a:schemeClr val="tx1"/>
              </a:solidFill>
              <a:latin typeface="Times New Roman" panose="02020603050405020304" pitchFamily="18" charset="0"/>
              <a:ea typeface="宋体" panose="02010600030101010101" pitchFamily="2" charset="-122"/>
            </a:endParaRPr>
          </a:p>
        </p:txBody>
      </p:sp>
      <p:sp>
        <p:nvSpPr>
          <p:cNvPr id="20" name="椭圆 19"/>
          <p:cNvSpPr/>
          <p:nvPr/>
        </p:nvSpPr>
        <p:spPr bwMode="auto">
          <a:xfrm>
            <a:off x="3798570" y="4224020"/>
            <a:ext cx="1828800" cy="72834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zh-CN" altLang="en-US"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dirty="0">
                <a:solidFill>
                  <a:schemeClr val="tx1"/>
                </a:solidFill>
                <a:latin typeface="Times New Roman" panose="02020603050405020304" pitchFamily="18" charset="0"/>
                <a:ea typeface="宋体" panose="02010600030101010101" pitchFamily="2" charset="-122"/>
              </a:rPr>
              <a:t>NFA</a:t>
            </a:r>
            <a:endParaRPr lang="en-US" sz="2800" b="1" dirty="0">
              <a:solidFill>
                <a:schemeClr val="tx1"/>
              </a:solidFill>
              <a:latin typeface="Times New Roman" panose="02020603050405020304" pitchFamily="18" charset="0"/>
              <a:ea typeface="宋体" panose="02010600030101010101" pitchFamily="2" charset="-122"/>
            </a:endParaRPr>
          </a:p>
        </p:txBody>
      </p:sp>
      <p:cxnSp>
        <p:nvCxnSpPr>
          <p:cNvPr id="23" name="曲线连接符 22"/>
          <p:cNvCxnSpPr>
            <a:stCxn id="19" idx="1"/>
          </p:cNvCxnSpPr>
          <p:nvPr/>
        </p:nvCxnSpPr>
        <p:spPr>
          <a:xfrm rot="5400000" flipH="1" flipV="1">
            <a:off x="1564005" y="3492500"/>
            <a:ext cx="811530" cy="864235"/>
          </a:xfrm>
          <a:prstGeom prst="curvedConnector2">
            <a:avLst/>
          </a:prstGeom>
          <a:ln w="19050" cmpd="sng">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曲线连接符 31"/>
          <p:cNvCxnSpPr>
            <a:stCxn id="13" idx="4"/>
          </p:cNvCxnSpPr>
          <p:nvPr/>
        </p:nvCxnSpPr>
        <p:spPr>
          <a:xfrm rot="16200000" flipH="1">
            <a:off x="3217545" y="3520440"/>
            <a:ext cx="704850" cy="914400"/>
          </a:xfrm>
          <a:prstGeom prst="curvedConnector2">
            <a:avLst/>
          </a:prstGeom>
          <a:ln w="19050" cmpd="sng">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4344" name="弧形 14343"/>
          <p:cNvSpPr/>
          <p:nvPr/>
        </p:nvSpPr>
        <p:spPr>
          <a:xfrm rot="1843104">
            <a:off x="2552700" y="3526790"/>
            <a:ext cx="467995" cy="786130"/>
          </a:xfrm>
          <a:prstGeom prst="arc">
            <a:avLst>
              <a:gd name="adj1" fmla="val 16664903"/>
              <a:gd name="adj2" fmla="val 4224522"/>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US"/>
          </a:p>
        </p:txBody>
      </p:sp>
      <p:cxnSp>
        <p:nvCxnSpPr>
          <p:cNvPr id="46" name="曲线连接符 45"/>
          <p:cNvCxnSpPr>
            <a:stCxn id="20" idx="2"/>
            <a:endCxn id="19" idx="6"/>
          </p:cNvCxnSpPr>
          <p:nvPr/>
        </p:nvCxnSpPr>
        <p:spPr>
          <a:xfrm rot="10800000" flipV="1">
            <a:off x="3098800" y="4588510"/>
            <a:ext cx="699770" cy="3175"/>
          </a:xfrm>
          <a:prstGeom prst="curvedConnector2">
            <a:avLst/>
          </a:prstGeom>
          <a:ln w="19050" cmpd="sng">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曲线连接符 58"/>
          <p:cNvCxnSpPr>
            <a:stCxn id="13" idx="6"/>
            <a:endCxn id="14" idx="2"/>
          </p:cNvCxnSpPr>
          <p:nvPr/>
        </p:nvCxnSpPr>
        <p:spPr>
          <a:xfrm flipV="1">
            <a:off x="4027170" y="3261995"/>
            <a:ext cx="855980" cy="0"/>
          </a:xfrm>
          <a:prstGeom prst="curvedConnector3">
            <a:avLst>
              <a:gd name="adj1" fmla="val 50000"/>
            </a:avLst>
          </a:prstGeom>
          <a:ln w="19050" cmpd="sng">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曲线连接符 22"/>
          <p:cNvCxnSpPr>
            <a:stCxn id="20" idx="6"/>
            <a:endCxn id="14" idx="4"/>
          </p:cNvCxnSpPr>
          <p:nvPr/>
        </p:nvCxnSpPr>
        <p:spPr bwMode="auto">
          <a:xfrm flipV="1">
            <a:off x="5627370" y="3625215"/>
            <a:ext cx="656590" cy="962660"/>
          </a:xfrm>
          <a:prstGeom prst="curvedConnector2">
            <a:avLst/>
          </a:prstGeom>
          <a:ln w="19050" cmpd="sng">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1"/>
              <p:cNvSpPr txBox="1"/>
              <p:nvPr/>
            </p:nvSpPr>
            <p:spPr>
              <a:xfrm>
                <a:off x="337636" y="5404760"/>
                <a:ext cx="8468729" cy="46166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楷体" panose="02010609060101010101" pitchFamily="49" charset="-122"/>
                    <a:ea typeface="楷体" panose="02010609060101010101" pitchFamily="49" charset="-122"/>
                  </a:rPr>
                  <a:t>任何一个正则表达式表示的语言，都可以由一个</a:t>
                </a:r>
                <a14:m>
                  <m:oMath xmlns:m="http://schemas.openxmlformats.org/officeDocument/2006/math">
                    <m:r>
                      <a:rPr lang="zh-CN" altLang="en-AU" sz="2400" i="1" dirty="0" smtClean="0">
                        <a:latin typeface="Cambria Math" panose="02040503050406030204" pitchFamily="18" charset="0"/>
                        <a:ea typeface="楷体" panose="02010609060101010101" pitchFamily="49" charset="-122"/>
                      </a:rPr>
                      <m:t>𝜀</m:t>
                    </m:r>
                  </m:oMath>
                </a14:m>
                <a:r>
                  <a:rPr lang="en-AU" altLang="zh-CN" sz="2400" dirty="0">
                    <a:latin typeface="楷体" panose="02010609060101010101" pitchFamily="49" charset="-122"/>
                    <a:ea typeface="楷体" panose="02010609060101010101" pitchFamily="49" charset="-122"/>
                  </a:rPr>
                  <a:t>-</a:t>
                </a:r>
                <a:r>
                  <a:rPr lang="en-AU" altLang="zh-CN" sz="2400" dirty="0">
                    <a:latin typeface="Times New Roman" panose="02020603050405020304" pitchFamily="18" charset="0"/>
                    <a:ea typeface="楷体" panose="02010609060101010101" pitchFamily="49" charset="-122"/>
                    <a:cs typeface="Times New Roman" panose="02020603050405020304" pitchFamily="18" charset="0"/>
                  </a:rPr>
                  <a:t>NFA</a:t>
                </a:r>
                <a:r>
                  <a:rPr lang="zh-CN" altLang="en-US" sz="2400" dirty="0">
                    <a:latin typeface="楷体" panose="02010609060101010101" pitchFamily="49" charset="-122"/>
                    <a:ea typeface="楷体" panose="02010609060101010101" pitchFamily="49" charset="-122"/>
                  </a:rPr>
                  <a:t>识别。</a:t>
                </a:r>
                <a:endParaRPr lang="en-AU" altLang="zh-CN" sz="2400" dirty="0">
                  <a:latin typeface="楷体" panose="02010609060101010101" pitchFamily="49" charset="-122"/>
                  <a:ea typeface="楷体" panose="02010609060101010101" pitchFamily="49" charset="-122"/>
                </a:endParaRPr>
              </a:p>
            </p:txBody>
          </p:sp>
        </mc:Choice>
        <mc:Fallback xmlns="">
          <p:sp>
            <p:nvSpPr>
              <p:cNvPr id="22" name="TextBox 1"/>
              <p:cNvSpPr txBox="1">
                <a:spLocks noRot="1" noChangeAspect="1" noMove="1" noResize="1" noEditPoints="1" noAdjustHandles="1" noChangeArrowheads="1" noChangeShapeType="1" noTextEdit="1"/>
              </p:cNvSpPr>
              <p:nvPr/>
            </p:nvSpPr>
            <p:spPr>
              <a:xfrm>
                <a:off x="337636" y="5404760"/>
                <a:ext cx="8468729" cy="461665"/>
              </a:xfrm>
              <a:prstGeom prst="rect">
                <a:avLst/>
              </a:prstGeom>
              <a:blipFill rotWithShape="1">
                <a:blip r:embed="rId2"/>
                <a:stretch>
                  <a:fillRect l="-5" t="-60" r="2" b="64"/>
                </a:stretch>
              </a:blipFill>
            </p:spPr>
            <p:txBody>
              <a:bodyPr/>
              <a:lstStyle/>
              <a:p>
                <a:r>
                  <a:rPr lang="zh-CN" altLang="en-US">
                    <a:noFill/>
                  </a:rPr>
                  <a:t> </a:t>
                </a:r>
              </a:p>
            </p:txBody>
          </p:sp>
        </mc:Fallback>
      </mc:AlternateContent>
      <p:sp>
        <p:nvSpPr>
          <p:cNvPr id="3" name="椭圆 2"/>
          <p:cNvSpPr/>
          <p:nvPr/>
        </p:nvSpPr>
        <p:spPr bwMode="auto">
          <a:xfrm>
            <a:off x="6096000" y="4091305"/>
            <a:ext cx="2597785" cy="99377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zh-CN" altLang="en-US" sz="2800" b="1" dirty="0">
                <a:solidFill>
                  <a:schemeClr val="tx1"/>
                </a:solidFill>
                <a:latin typeface="Times New Roman" panose="02020603050405020304" pitchFamily="18" charset="0"/>
                <a:ea typeface="宋体" panose="02010600030101010101" pitchFamily="2" charset="-122"/>
              </a:rPr>
              <a:t>正则</a:t>
            </a:r>
            <a:r>
              <a:rPr lang="en-US" altLang="zh-CN" sz="2800" b="1" dirty="0">
                <a:solidFill>
                  <a:schemeClr val="tx1"/>
                </a:solidFill>
                <a:latin typeface="Times New Roman" panose="02020603050405020304" pitchFamily="18" charset="0"/>
                <a:ea typeface="宋体" panose="02010600030101010101" pitchFamily="2" charset="-122"/>
              </a:rPr>
              <a:t>(3</a:t>
            </a:r>
            <a:r>
              <a:rPr lang="zh-CN" altLang="en-US" sz="2800" b="1" dirty="0">
                <a:solidFill>
                  <a:schemeClr val="tx1"/>
                </a:solidFill>
                <a:latin typeface="Times New Roman" panose="02020603050405020304" pitchFamily="18" charset="0"/>
                <a:ea typeface="宋体" panose="02010600030101010101" pitchFamily="2" charset="-122"/>
              </a:rPr>
              <a:t>型</a:t>
            </a:r>
            <a:r>
              <a:rPr lang="en-US" altLang="zh-CN" sz="2800" b="1" dirty="0">
                <a:solidFill>
                  <a:schemeClr val="tx1"/>
                </a:solidFill>
                <a:latin typeface="Times New Roman" panose="02020603050405020304" pitchFamily="18" charset="0"/>
                <a:ea typeface="宋体" panose="02010600030101010101" pitchFamily="2" charset="-122"/>
              </a:rPr>
              <a:t>)</a:t>
            </a:r>
            <a:r>
              <a:rPr lang="zh-CN" altLang="en-US" sz="2800" b="1" dirty="0">
                <a:solidFill>
                  <a:schemeClr val="tx1"/>
                </a:solidFill>
                <a:latin typeface="Times New Roman" panose="02020603050405020304" pitchFamily="18" charset="0"/>
                <a:ea typeface="宋体" panose="02010600030101010101" pitchFamily="2" charset="-122"/>
              </a:rPr>
              <a:t>文法</a:t>
            </a:r>
            <a:endParaRPr lang="en-US" sz="2800" b="1" dirty="0">
              <a:solidFill>
                <a:schemeClr val="tx1"/>
              </a:solidFill>
              <a:latin typeface="Times New Roman" panose="02020603050405020304" pitchFamily="18" charset="0"/>
              <a:ea typeface="宋体" panose="02010600030101010101" pitchFamily="2" charset="-122"/>
            </a:endParaRPr>
          </a:p>
        </p:txBody>
      </p:sp>
      <p:cxnSp>
        <p:nvCxnSpPr>
          <p:cNvPr id="7" name="曲线连接符 22"/>
          <p:cNvCxnSpPr>
            <a:stCxn id="3" idx="0"/>
            <a:endCxn id="14" idx="4"/>
          </p:cNvCxnSpPr>
          <p:nvPr/>
        </p:nvCxnSpPr>
        <p:spPr bwMode="auto">
          <a:xfrm rot="16200000" flipV="1">
            <a:off x="6606540" y="3302635"/>
            <a:ext cx="466090" cy="1111250"/>
          </a:xfrm>
          <a:prstGeom prst="curvedConnector3">
            <a:avLst>
              <a:gd name="adj1" fmla="val 50000"/>
            </a:avLst>
          </a:prstGeom>
          <a:ln w="19050" cmpd="sng">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曲线连接符 10"/>
          <p:cNvCxnSpPr/>
          <p:nvPr/>
        </p:nvCxnSpPr>
        <p:spPr>
          <a:xfrm rot="16200000">
            <a:off x="2736215" y="2626995"/>
            <a:ext cx="106680" cy="646430"/>
          </a:xfrm>
          <a:prstGeom prst="curvedConnector3">
            <a:avLst>
              <a:gd name="adj1" fmla="val 323214"/>
            </a:avLst>
          </a:prstGeom>
          <a:ln w="19050" cmpd="sng">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229600" cy="393065"/>
          </a:xfrm>
        </p:spPr>
        <p:txBody>
          <a:bodyPr/>
          <a:lstStyle/>
          <a:p>
            <a:pPr algn="r"/>
            <a:r>
              <a:rPr lang="zh-CN" sz="3600" dirty="0">
                <a:solidFill>
                  <a:schemeClr val="bg1"/>
                </a:solidFill>
              </a:rPr>
              <a:t>自动机、正则表达式和文法之间的转换</a:t>
            </a:r>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t>14</a:t>
            </a:fld>
            <a:endParaRPr lang="en-US" altLang="zh-CN"/>
          </a:p>
        </p:txBody>
      </p:sp>
      <p:sp>
        <p:nvSpPr>
          <p:cNvPr id="14339" name="Rectangle 3"/>
          <p:cNvSpPr>
            <a:spLocks noGrp="1" noChangeArrowheads="1"/>
          </p:cNvSpPr>
          <p:nvPr/>
        </p:nvSpPr>
        <p:spPr>
          <a:xfrm>
            <a:off x="507704" y="991575"/>
            <a:ext cx="8229600" cy="4525963"/>
          </a:xfrm>
          <a:prstGeom prst="rect">
            <a:avLst/>
          </a:prstGeom>
          <a:noFill/>
          <a:ln w="9525">
            <a:noFill/>
          </a:ln>
        </p:spPr>
        <p:txBody>
          <a:bodyPr vert="horz" lIns="91440" tIns="45720" rIns="91440" bIns="45720" anchor="t" anchorCtr="0"/>
          <a:lstStyle>
            <a:lvl1pPr marL="342900" indent="-342900" algn="l" defTabSz="914400" rtl="0" eaLnBrk="1" latinLnBrk="0" hangingPunct="1">
              <a:spcBef>
                <a:spcPct val="20000"/>
              </a:spcBef>
              <a:buFont typeface="Arial" panose="020B0604020202020204" pitchFamily="34" charset="0"/>
              <a:buChar char="•"/>
              <a:defRPr sz="2800" b="1" kern="1200">
                <a:solidFill>
                  <a:schemeClr val="tx1"/>
                </a:solidFill>
                <a:latin typeface="黑体" panose="02010609060101010101" pitchFamily="49" charset="-122"/>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3400" indent="-533400" algn="just" eaLnBrk="1" hangingPunct="1">
              <a:lnSpc>
                <a:spcPct val="90000"/>
              </a:lnSpc>
              <a:defRPr/>
            </a:pPr>
            <a:r>
              <a:rPr lang="en-US" b="1" dirty="0">
                <a:latin typeface="Times New Roman" panose="02020603050405020304" pitchFamily="18" charset="0"/>
                <a:ea typeface="宋体" panose="02010600030101010101" pitchFamily="2" charset="-122"/>
                <a:cs typeface="Times New Roman" panose="02020603050405020304" pitchFamily="18" charset="0"/>
              </a:rPr>
              <a:t>DFA, NFA, </a:t>
            </a:r>
            <a:r>
              <a:rPr lang="zh-CN" altLang="en-US"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b="1" dirty="0">
                <a:latin typeface="Times New Roman" panose="02020603050405020304" pitchFamily="18" charset="0"/>
                <a:ea typeface="宋体" panose="02010600030101010101" pitchFamily="2" charset="-122"/>
                <a:cs typeface="Times New Roman" panose="02020603050405020304" pitchFamily="18" charset="0"/>
              </a:rPr>
              <a:t>-NFA</a:t>
            </a:r>
            <a:r>
              <a:rPr lang="zh-CN" altLang="en-US" b="1" dirty="0">
                <a:cs typeface="Times New Roman" panose="02020603050405020304" pitchFamily="18" charset="0"/>
              </a:rPr>
              <a:t>和正则表达式在表示语言的能力上是等价的</a:t>
            </a:r>
            <a:endParaRPr lang="en-US" altLang="zh-CN" b="1" dirty="0">
              <a:cs typeface="Times New Roman" panose="02020603050405020304" pitchFamily="18" charset="0"/>
            </a:endParaRPr>
          </a:p>
          <a:p>
            <a:pPr marL="933450" lvl="1" indent="-533400" algn="just" eaLnBrk="1" hangingPunct="1">
              <a:lnSpc>
                <a:spcPct val="90000"/>
              </a:lnSpc>
              <a:defRPr/>
            </a:pPr>
            <a:r>
              <a:rPr lang="zh-CN" altLang="en-US" b="1" dirty="0">
                <a:latin typeface="Times New Roman" panose="02020603050405020304" pitchFamily="18" charset="0"/>
                <a:ea typeface="宋体" panose="02010600030101010101" pitchFamily="2" charset="-122"/>
                <a:cs typeface="Times New Roman" panose="02020603050405020304" pitchFamily="18" charset="0"/>
              </a:rPr>
              <a:t>相互之间的转换关系</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marL="400050" lvl="1" indent="0" algn="just" eaLnBrk="1" hangingPunct="1">
              <a:lnSpc>
                <a:spcPct val="90000"/>
              </a:lnSpc>
              <a:buFontTx/>
              <a:buNone/>
              <a:defRPr/>
            </a:pPr>
            <a:endParaRPr lang="en-US" altLang="zh-CN" b="1" dirty="0">
              <a:latin typeface="Times New Roman" panose="02020603050405020304" pitchFamily="18" charset="0"/>
              <a:ea typeface="黑体" panose="02010609060101010101" pitchFamily="49" charset="-122"/>
            </a:endParaRPr>
          </a:p>
        </p:txBody>
      </p:sp>
      <p:sp>
        <p:nvSpPr>
          <p:cNvPr id="13" name="椭圆 12"/>
          <p:cNvSpPr/>
          <p:nvPr/>
        </p:nvSpPr>
        <p:spPr bwMode="auto">
          <a:xfrm>
            <a:off x="2198370" y="2896870"/>
            <a:ext cx="1828800" cy="72834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2800" b="1" dirty="0">
                <a:solidFill>
                  <a:schemeClr val="tx1"/>
                </a:solidFill>
                <a:latin typeface="Times New Roman" panose="02020603050405020304" pitchFamily="18" charset="0"/>
                <a:ea typeface="宋体" panose="02010600030101010101" pitchFamily="2" charset="-122"/>
              </a:rPr>
              <a:t>DFA</a:t>
            </a:r>
            <a:endParaRPr lang="en-US" sz="2800" b="1" dirty="0">
              <a:solidFill>
                <a:schemeClr val="tx1"/>
              </a:solidFill>
              <a:latin typeface="Times New Roman" panose="02020603050405020304" pitchFamily="18" charset="0"/>
              <a:ea typeface="宋体" panose="02010600030101010101" pitchFamily="2" charset="-122"/>
            </a:endParaRPr>
          </a:p>
        </p:txBody>
      </p:sp>
      <p:sp>
        <p:nvSpPr>
          <p:cNvPr id="14" name="椭圆 13"/>
          <p:cNvSpPr/>
          <p:nvPr/>
        </p:nvSpPr>
        <p:spPr bwMode="auto">
          <a:xfrm>
            <a:off x="4883150" y="2896870"/>
            <a:ext cx="2801620" cy="72834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zh-CN" altLang="en-US" sz="2800" b="1" dirty="0">
                <a:solidFill>
                  <a:schemeClr val="tx1"/>
                </a:solidFill>
                <a:latin typeface="Times New Roman" panose="02020603050405020304" pitchFamily="18" charset="0"/>
                <a:ea typeface="宋体" panose="02010600030101010101" pitchFamily="2" charset="-122"/>
              </a:rPr>
              <a:t>正则表达式</a:t>
            </a:r>
            <a:endParaRPr lang="en-US" sz="2800" b="1" dirty="0">
              <a:solidFill>
                <a:schemeClr val="tx1"/>
              </a:solidFill>
              <a:latin typeface="Times New Roman" panose="02020603050405020304" pitchFamily="18" charset="0"/>
              <a:ea typeface="宋体" panose="02010600030101010101" pitchFamily="2" charset="-122"/>
            </a:endParaRPr>
          </a:p>
        </p:txBody>
      </p:sp>
      <p:sp>
        <p:nvSpPr>
          <p:cNvPr id="19" name="椭圆 18"/>
          <p:cNvSpPr/>
          <p:nvPr/>
        </p:nvSpPr>
        <p:spPr bwMode="auto">
          <a:xfrm>
            <a:off x="1270000" y="4224020"/>
            <a:ext cx="1828800" cy="72834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2800" b="1" dirty="0">
                <a:solidFill>
                  <a:schemeClr val="tx1"/>
                </a:solidFill>
                <a:latin typeface="Times New Roman" panose="02020603050405020304" pitchFamily="18" charset="0"/>
                <a:ea typeface="宋体" panose="02010600030101010101" pitchFamily="2" charset="-122"/>
              </a:rPr>
              <a:t>NFA</a:t>
            </a:r>
            <a:endParaRPr lang="en-US" sz="2800" b="1" dirty="0">
              <a:solidFill>
                <a:schemeClr val="tx1"/>
              </a:solidFill>
              <a:latin typeface="Times New Roman" panose="02020603050405020304" pitchFamily="18" charset="0"/>
              <a:ea typeface="宋体" panose="02010600030101010101" pitchFamily="2" charset="-122"/>
            </a:endParaRPr>
          </a:p>
        </p:txBody>
      </p:sp>
      <p:sp>
        <p:nvSpPr>
          <p:cNvPr id="20" name="椭圆 19"/>
          <p:cNvSpPr/>
          <p:nvPr/>
        </p:nvSpPr>
        <p:spPr bwMode="auto">
          <a:xfrm>
            <a:off x="3798570" y="4224020"/>
            <a:ext cx="1828800" cy="72834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zh-CN" altLang="en-US"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dirty="0">
                <a:solidFill>
                  <a:schemeClr val="tx1"/>
                </a:solidFill>
                <a:latin typeface="Times New Roman" panose="02020603050405020304" pitchFamily="18" charset="0"/>
                <a:ea typeface="宋体" panose="02010600030101010101" pitchFamily="2" charset="-122"/>
              </a:rPr>
              <a:t>NFA</a:t>
            </a:r>
            <a:endParaRPr lang="en-US" sz="2800" b="1" dirty="0">
              <a:solidFill>
                <a:schemeClr val="tx1"/>
              </a:solidFill>
              <a:latin typeface="Times New Roman" panose="02020603050405020304" pitchFamily="18" charset="0"/>
              <a:ea typeface="宋体" panose="02010600030101010101" pitchFamily="2" charset="-122"/>
            </a:endParaRPr>
          </a:p>
        </p:txBody>
      </p:sp>
      <p:cxnSp>
        <p:nvCxnSpPr>
          <p:cNvPr id="23" name="曲线连接符 22"/>
          <p:cNvCxnSpPr>
            <a:stCxn id="19" idx="1"/>
          </p:cNvCxnSpPr>
          <p:nvPr/>
        </p:nvCxnSpPr>
        <p:spPr>
          <a:xfrm rot="5400000" flipH="1" flipV="1">
            <a:off x="1564005" y="3492500"/>
            <a:ext cx="811530" cy="864235"/>
          </a:xfrm>
          <a:prstGeom prst="curvedConnector2">
            <a:avLst/>
          </a:prstGeom>
          <a:ln w="19050" cmpd="sng">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曲线连接符 31"/>
          <p:cNvCxnSpPr>
            <a:stCxn id="13" idx="4"/>
          </p:cNvCxnSpPr>
          <p:nvPr/>
        </p:nvCxnSpPr>
        <p:spPr>
          <a:xfrm rot="16200000" flipH="1">
            <a:off x="3217545" y="3520440"/>
            <a:ext cx="704850" cy="914400"/>
          </a:xfrm>
          <a:prstGeom prst="curvedConnector2">
            <a:avLst/>
          </a:prstGeom>
          <a:ln w="19050" cmpd="sng">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4344" name="弧形 14343"/>
          <p:cNvSpPr/>
          <p:nvPr/>
        </p:nvSpPr>
        <p:spPr>
          <a:xfrm rot="1843104">
            <a:off x="2552700" y="3526790"/>
            <a:ext cx="467995" cy="786130"/>
          </a:xfrm>
          <a:prstGeom prst="arc">
            <a:avLst>
              <a:gd name="adj1" fmla="val 16664903"/>
              <a:gd name="adj2" fmla="val 4224522"/>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US"/>
          </a:p>
        </p:txBody>
      </p:sp>
      <p:cxnSp>
        <p:nvCxnSpPr>
          <p:cNvPr id="46" name="曲线连接符 45"/>
          <p:cNvCxnSpPr>
            <a:stCxn id="20" idx="2"/>
            <a:endCxn id="19" idx="6"/>
          </p:cNvCxnSpPr>
          <p:nvPr/>
        </p:nvCxnSpPr>
        <p:spPr>
          <a:xfrm rot="10800000" flipV="1">
            <a:off x="3098800" y="4588510"/>
            <a:ext cx="699770" cy="3175"/>
          </a:xfrm>
          <a:prstGeom prst="curvedConnector2">
            <a:avLst/>
          </a:prstGeom>
          <a:ln w="19050" cmpd="sng">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曲线连接符 58"/>
          <p:cNvCxnSpPr>
            <a:stCxn id="13" idx="6"/>
            <a:endCxn id="14" idx="2"/>
          </p:cNvCxnSpPr>
          <p:nvPr/>
        </p:nvCxnSpPr>
        <p:spPr>
          <a:xfrm flipV="1">
            <a:off x="4027170" y="3261995"/>
            <a:ext cx="855980" cy="0"/>
          </a:xfrm>
          <a:prstGeom prst="curvedConnector3">
            <a:avLst>
              <a:gd name="adj1" fmla="val 50000"/>
            </a:avLst>
          </a:prstGeom>
          <a:ln w="19050" cmpd="sng">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曲线连接符 22"/>
          <p:cNvCxnSpPr>
            <a:stCxn id="20" idx="6"/>
            <a:endCxn id="14" idx="4"/>
          </p:cNvCxnSpPr>
          <p:nvPr/>
        </p:nvCxnSpPr>
        <p:spPr bwMode="auto">
          <a:xfrm flipV="1">
            <a:off x="5627370" y="3625215"/>
            <a:ext cx="656590" cy="962660"/>
          </a:xfrm>
          <a:prstGeom prst="curvedConnector2">
            <a:avLst/>
          </a:prstGeom>
          <a:ln w="19050" cmpd="sng">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1"/>
              <p:cNvSpPr txBox="1"/>
              <p:nvPr/>
            </p:nvSpPr>
            <p:spPr>
              <a:xfrm>
                <a:off x="337636" y="5404760"/>
                <a:ext cx="8468729" cy="46166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楷体" panose="02010609060101010101" pitchFamily="49" charset="-122"/>
                    <a:ea typeface="楷体" panose="02010609060101010101" pitchFamily="49" charset="-122"/>
                  </a:rPr>
                  <a:t>任何一个正则表达式表示的语言，都可以由一个</a:t>
                </a:r>
                <a14:m>
                  <m:oMath xmlns:m="http://schemas.openxmlformats.org/officeDocument/2006/math">
                    <m:r>
                      <a:rPr lang="zh-CN" altLang="en-AU" sz="2400" i="1" dirty="0" smtClean="0">
                        <a:latin typeface="Cambria Math" panose="02040503050406030204" pitchFamily="18" charset="0"/>
                        <a:ea typeface="楷体" panose="02010609060101010101" pitchFamily="49" charset="-122"/>
                      </a:rPr>
                      <m:t>𝜀</m:t>
                    </m:r>
                  </m:oMath>
                </a14:m>
                <a:r>
                  <a:rPr lang="en-AU" altLang="zh-CN" sz="2400" dirty="0">
                    <a:latin typeface="楷体" panose="02010609060101010101" pitchFamily="49" charset="-122"/>
                    <a:ea typeface="楷体" panose="02010609060101010101" pitchFamily="49" charset="-122"/>
                  </a:rPr>
                  <a:t>-</a:t>
                </a:r>
                <a:r>
                  <a:rPr lang="en-AU" altLang="zh-CN" sz="2400" dirty="0">
                    <a:latin typeface="Times New Roman" panose="02020603050405020304" pitchFamily="18" charset="0"/>
                    <a:ea typeface="楷体" panose="02010609060101010101" pitchFamily="49" charset="-122"/>
                    <a:cs typeface="Times New Roman" panose="02020603050405020304" pitchFamily="18" charset="0"/>
                  </a:rPr>
                  <a:t>NFA</a:t>
                </a:r>
                <a:r>
                  <a:rPr lang="zh-CN" altLang="en-US" sz="2400" dirty="0">
                    <a:latin typeface="楷体" panose="02010609060101010101" pitchFamily="49" charset="-122"/>
                    <a:ea typeface="楷体" panose="02010609060101010101" pitchFamily="49" charset="-122"/>
                  </a:rPr>
                  <a:t>识别。</a:t>
                </a:r>
                <a:endParaRPr lang="en-AU" altLang="zh-CN" sz="2400" dirty="0">
                  <a:latin typeface="楷体" panose="02010609060101010101" pitchFamily="49" charset="-122"/>
                  <a:ea typeface="楷体" panose="02010609060101010101" pitchFamily="49" charset="-122"/>
                </a:endParaRPr>
              </a:p>
            </p:txBody>
          </p:sp>
        </mc:Choice>
        <mc:Fallback xmlns="">
          <p:sp>
            <p:nvSpPr>
              <p:cNvPr id="22" name="TextBox 1"/>
              <p:cNvSpPr txBox="1">
                <a:spLocks noRot="1" noChangeAspect="1" noMove="1" noResize="1" noEditPoints="1" noAdjustHandles="1" noChangeArrowheads="1" noChangeShapeType="1" noTextEdit="1"/>
              </p:cNvSpPr>
              <p:nvPr/>
            </p:nvSpPr>
            <p:spPr>
              <a:xfrm>
                <a:off x="337636" y="5404760"/>
                <a:ext cx="8468729" cy="461665"/>
              </a:xfrm>
              <a:prstGeom prst="rect">
                <a:avLst/>
              </a:prstGeom>
              <a:blipFill rotWithShape="1">
                <a:blip r:embed="rId2"/>
                <a:stretch>
                  <a:fillRect l="-5" t="-60" r="2" b="64"/>
                </a:stretch>
              </a:blipFill>
            </p:spPr>
            <p:txBody>
              <a:bodyPr/>
              <a:lstStyle/>
              <a:p>
                <a:r>
                  <a:rPr lang="zh-CN" altLang="en-US">
                    <a:noFill/>
                  </a:rPr>
                  <a:t> </a:t>
                </a:r>
              </a:p>
            </p:txBody>
          </p:sp>
        </mc:Fallback>
      </mc:AlternateContent>
      <p:sp>
        <p:nvSpPr>
          <p:cNvPr id="3" name="椭圆 2"/>
          <p:cNvSpPr/>
          <p:nvPr/>
        </p:nvSpPr>
        <p:spPr bwMode="auto">
          <a:xfrm>
            <a:off x="6096000" y="4091305"/>
            <a:ext cx="2597785" cy="99377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zh-CN" altLang="en-US" sz="2800" b="1" dirty="0">
                <a:solidFill>
                  <a:schemeClr val="tx1"/>
                </a:solidFill>
                <a:latin typeface="Times New Roman" panose="02020603050405020304" pitchFamily="18" charset="0"/>
                <a:ea typeface="宋体" panose="02010600030101010101" pitchFamily="2" charset="-122"/>
              </a:rPr>
              <a:t>正则</a:t>
            </a:r>
            <a:r>
              <a:rPr lang="en-US" altLang="zh-CN" sz="2800" b="1" dirty="0">
                <a:solidFill>
                  <a:schemeClr val="tx1"/>
                </a:solidFill>
                <a:latin typeface="Times New Roman" panose="02020603050405020304" pitchFamily="18" charset="0"/>
                <a:ea typeface="宋体" panose="02010600030101010101" pitchFamily="2" charset="-122"/>
              </a:rPr>
              <a:t>(3</a:t>
            </a:r>
            <a:r>
              <a:rPr lang="zh-CN" altLang="en-US" sz="2800" b="1" dirty="0">
                <a:solidFill>
                  <a:schemeClr val="tx1"/>
                </a:solidFill>
                <a:latin typeface="Times New Roman" panose="02020603050405020304" pitchFamily="18" charset="0"/>
                <a:ea typeface="宋体" panose="02010600030101010101" pitchFamily="2" charset="-122"/>
              </a:rPr>
              <a:t>型</a:t>
            </a:r>
            <a:r>
              <a:rPr lang="en-US" altLang="zh-CN" sz="2800" b="1" dirty="0">
                <a:solidFill>
                  <a:schemeClr val="tx1"/>
                </a:solidFill>
                <a:latin typeface="Times New Roman" panose="02020603050405020304" pitchFamily="18" charset="0"/>
                <a:ea typeface="宋体" panose="02010600030101010101" pitchFamily="2" charset="-122"/>
              </a:rPr>
              <a:t>)</a:t>
            </a:r>
            <a:r>
              <a:rPr lang="zh-CN" altLang="en-US" sz="2800" b="1" dirty="0">
                <a:solidFill>
                  <a:schemeClr val="tx1"/>
                </a:solidFill>
                <a:latin typeface="Times New Roman" panose="02020603050405020304" pitchFamily="18" charset="0"/>
                <a:ea typeface="宋体" panose="02010600030101010101" pitchFamily="2" charset="-122"/>
              </a:rPr>
              <a:t>文法</a:t>
            </a:r>
            <a:endParaRPr lang="en-US" sz="2800" b="1" dirty="0">
              <a:solidFill>
                <a:schemeClr val="tx1"/>
              </a:solidFill>
              <a:latin typeface="Times New Roman" panose="02020603050405020304" pitchFamily="18" charset="0"/>
              <a:ea typeface="宋体" panose="02010600030101010101" pitchFamily="2" charset="-122"/>
            </a:endParaRPr>
          </a:p>
        </p:txBody>
      </p:sp>
      <p:cxnSp>
        <p:nvCxnSpPr>
          <p:cNvPr id="7" name="曲线连接符 22"/>
          <p:cNvCxnSpPr>
            <a:stCxn id="3" idx="0"/>
            <a:endCxn id="14" idx="4"/>
          </p:cNvCxnSpPr>
          <p:nvPr/>
        </p:nvCxnSpPr>
        <p:spPr bwMode="auto">
          <a:xfrm rot="16200000" flipV="1">
            <a:off x="6606540" y="3302635"/>
            <a:ext cx="466090" cy="1111250"/>
          </a:xfrm>
          <a:prstGeom prst="curvedConnector3">
            <a:avLst>
              <a:gd name="adj1" fmla="val 50000"/>
            </a:avLst>
          </a:prstGeom>
          <a:ln w="19050" cmpd="sng">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412875" y="2590800"/>
            <a:ext cx="1114408" cy="369332"/>
          </a:xfrm>
          <a:prstGeom prst="rect">
            <a:avLst/>
          </a:prstGeom>
          <a:noFill/>
        </p:spPr>
        <p:txBody>
          <a:bodyPr wrap="none" rtlCol="0" anchor="t">
            <a:spAutoFit/>
          </a:bodyPr>
          <a:lstStyle/>
          <a:p>
            <a:r>
              <a:rPr lang="zh-CN" altLang="en-US" b="1" dirty="0">
                <a:solidFill>
                  <a:srgbClr val="FF0000"/>
                </a:solidFill>
              </a:rPr>
              <a:t>填表算法</a:t>
            </a:r>
          </a:p>
        </p:txBody>
      </p:sp>
      <p:sp>
        <p:nvSpPr>
          <p:cNvPr id="6" name="文本框 5"/>
          <p:cNvSpPr txBox="1"/>
          <p:nvPr/>
        </p:nvSpPr>
        <p:spPr>
          <a:xfrm>
            <a:off x="3276600" y="3724275"/>
            <a:ext cx="1332230" cy="368300"/>
          </a:xfrm>
          <a:prstGeom prst="rect">
            <a:avLst/>
          </a:prstGeom>
          <a:noFill/>
        </p:spPr>
        <p:txBody>
          <a:bodyPr wrap="none" rtlCol="0" anchor="t">
            <a:spAutoFit/>
          </a:bodyPr>
          <a:lstStyle/>
          <a:p>
            <a:r>
              <a:rPr lang="zh-CN" altLang="en-US" b="1">
                <a:solidFill>
                  <a:srgbClr val="FF0000"/>
                </a:solidFill>
              </a:rPr>
              <a:t>子集构造法</a:t>
            </a:r>
          </a:p>
        </p:txBody>
      </p:sp>
      <p:sp>
        <p:nvSpPr>
          <p:cNvPr id="8" name="文本框 7"/>
          <p:cNvSpPr txBox="1"/>
          <p:nvPr/>
        </p:nvSpPr>
        <p:spPr>
          <a:xfrm>
            <a:off x="3581400" y="2530475"/>
            <a:ext cx="2251710" cy="368300"/>
          </a:xfrm>
          <a:prstGeom prst="rect">
            <a:avLst/>
          </a:prstGeom>
          <a:noFill/>
        </p:spPr>
        <p:txBody>
          <a:bodyPr wrap="none" rtlCol="0" anchor="t">
            <a:spAutoFit/>
          </a:bodyPr>
          <a:lstStyle/>
          <a:p>
            <a:r>
              <a:rPr lang="zh-CN" altLang="en-US" b="1">
                <a:solidFill>
                  <a:srgbClr val="FF0000"/>
                </a:solidFill>
                <a:sym typeface="+mn-ea"/>
              </a:rPr>
              <a:t>构造法＋状态消除法</a:t>
            </a:r>
            <a:endParaRPr lang="zh-CN" altLang="en-US" b="1" dirty="0">
              <a:solidFill>
                <a:srgbClr val="C00000"/>
              </a:solidFill>
              <a:sym typeface="+mn-ea"/>
            </a:endParaRPr>
          </a:p>
        </p:txBody>
      </p:sp>
      <p:sp>
        <p:nvSpPr>
          <p:cNvPr id="9" name="文本框 8"/>
          <p:cNvSpPr txBox="1"/>
          <p:nvPr/>
        </p:nvSpPr>
        <p:spPr>
          <a:xfrm>
            <a:off x="4883150" y="3723640"/>
            <a:ext cx="1332230" cy="368300"/>
          </a:xfrm>
          <a:prstGeom prst="rect">
            <a:avLst/>
          </a:prstGeom>
          <a:noFill/>
        </p:spPr>
        <p:txBody>
          <a:bodyPr wrap="none" rtlCol="0" anchor="t">
            <a:spAutoFit/>
          </a:bodyPr>
          <a:lstStyle/>
          <a:p>
            <a:r>
              <a:rPr lang="zh-CN" altLang="en-US" b="1">
                <a:solidFill>
                  <a:srgbClr val="FF0000"/>
                </a:solidFill>
                <a:sym typeface="+mn-ea"/>
              </a:rPr>
              <a:t>递推构造法</a:t>
            </a:r>
            <a:endParaRPr lang="zh-CN" altLang="en-US" b="1" dirty="0">
              <a:solidFill>
                <a:srgbClr val="C00000"/>
              </a:solidFill>
              <a:sym typeface="+mn-ea"/>
            </a:endParaRPr>
          </a:p>
        </p:txBody>
      </p:sp>
      <p:sp>
        <p:nvSpPr>
          <p:cNvPr id="10" name="文本框 9"/>
          <p:cNvSpPr txBox="1"/>
          <p:nvPr/>
        </p:nvSpPr>
        <p:spPr>
          <a:xfrm>
            <a:off x="1670050" y="3674110"/>
            <a:ext cx="1332230" cy="368300"/>
          </a:xfrm>
          <a:prstGeom prst="rect">
            <a:avLst/>
          </a:prstGeom>
          <a:noFill/>
        </p:spPr>
        <p:txBody>
          <a:bodyPr wrap="none" rtlCol="0" anchor="t">
            <a:spAutoFit/>
          </a:bodyPr>
          <a:lstStyle/>
          <a:p>
            <a:r>
              <a:rPr lang="zh-CN" altLang="en-US" b="1">
                <a:solidFill>
                  <a:srgbClr val="FF0000"/>
                </a:solidFill>
              </a:rPr>
              <a:t>子集构造法</a:t>
            </a:r>
          </a:p>
        </p:txBody>
      </p:sp>
      <p:cxnSp>
        <p:nvCxnSpPr>
          <p:cNvPr id="11" name="曲线连接符 10"/>
          <p:cNvCxnSpPr>
            <a:stCxn id="13" idx="1"/>
            <a:endCxn id="13" idx="0"/>
          </p:cNvCxnSpPr>
          <p:nvPr/>
        </p:nvCxnSpPr>
        <p:spPr>
          <a:xfrm rot="16200000">
            <a:off x="2736215" y="2626995"/>
            <a:ext cx="106680" cy="646430"/>
          </a:xfrm>
          <a:prstGeom prst="curvedConnector3">
            <a:avLst>
              <a:gd name="adj1" fmla="val 323214"/>
            </a:avLst>
          </a:prstGeom>
          <a:ln w="19050" cmpd="sng">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229600" cy="393065"/>
          </a:xfrm>
        </p:spPr>
        <p:txBody>
          <a:bodyPr/>
          <a:lstStyle/>
          <a:p>
            <a:pPr algn="r"/>
            <a:r>
              <a:rPr lang="en-US" altLang="zh-CN" sz="3600" dirty="0">
                <a:solidFill>
                  <a:schemeClr val="bg1"/>
                </a:solidFill>
              </a:rPr>
              <a:t>DFA</a:t>
            </a:r>
            <a:r>
              <a:rPr lang="zh-CN" altLang="en-US" sz="3600" dirty="0">
                <a:solidFill>
                  <a:schemeClr val="bg1"/>
                </a:solidFill>
              </a:rPr>
              <a:t>和</a:t>
            </a:r>
            <a:r>
              <a:rPr lang="en-US" altLang="zh-CN" sz="3600" dirty="0">
                <a:solidFill>
                  <a:schemeClr val="bg1"/>
                </a:solidFill>
              </a:rPr>
              <a:t>NFA</a:t>
            </a:r>
            <a:r>
              <a:rPr lang="zh-CN" altLang="en-US" sz="3600" dirty="0">
                <a:solidFill>
                  <a:schemeClr val="bg1"/>
                </a:solidFill>
              </a:rPr>
              <a:t>的比较</a:t>
            </a:r>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t>15</a:t>
            </a:fld>
            <a:endParaRPr lang="en-US" altLang="zh-CN"/>
          </a:p>
        </p:txBody>
      </p:sp>
      <mc:AlternateContent xmlns:mc="http://schemas.openxmlformats.org/markup-compatibility/2006" xmlns:a14="http://schemas.microsoft.com/office/drawing/2010/main">
        <mc:Choice Requires="a14">
          <p:sp>
            <p:nvSpPr>
              <p:cNvPr id="5" name="TextBox 4"/>
              <p:cNvSpPr txBox="1"/>
              <p:nvPr/>
            </p:nvSpPr>
            <p:spPr>
              <a:xfrm>
                <a:off x="403412" y="1507153"/>
                <a:ext cx="4343400" cy="3784600"/>
              </a:xfrm>
              <a:prstGeom prst="rect">
                <a:avLst/>
              </a:prstGeom>
              <a:noFill/>
            </p:spPr>
            <p:txBody>
              <a:bodyPr wrap="square" rtlCol="0">
                <a:spAutoFit/>
              </a:bodyPr>
              <a:lstStyle/>
              <a:p>
                <a:pPr marL="285750" indent="-285750">
                  <a:buFont typeface="Arial" panose="020B0604020202020204" pitchFamily="34" charset="0"/>
                  <a:buChar char="•"/>
                </a:pPr>
                <a:r>
                  <a:rPr lang="zh-CN" altLang="en-US" sz="2400" dirty="0">
                    <a:solidFill>
                      <a:srgbClr val="FF0000"/>
                    </a:solidFill>
                    <a:latin typeface="楷体" panose="02010609060101010101" pitchFamily="49" charset="-122"/>
                    <a:ea typeface="楷体" panose="02010609060101010101" pitchFamily="49" charset="-122"/>
                  </a:rPr>
                  <a:t>状态的转移是确定的</a:t>
                </a:r>
                <a:endParaRPr lang="en-AU" altLang="zh-CN" sz="2400" dirty="0">
                  <a:solidFill>
                    <a:srgbClr val="FF0000"/>
                  </a:solidFill>
                  <a:latin typeface="楷体" panose="02010609060101010101" pitchFamily="49" charset="-122"/>
                  <a:ea typeface="楷体" panose="02010609060101010101" pitchFamily="49" charset="-122"/>
                </a:endParaRPr>
              </a:p>
              <a:p>
                <a:pPr marL="742950" lvl="1" indent="-285750">
                  <a:buFont typeface="Arial" panose="020B0604020202020204" pitchFamily="34" charset="0"/>
                  <a:buChar char="•"/>
                </a:pPr>
                <a:r>
                  <a:rPr lang="zh-CN" altLang="en-US" sz="2400" dirty="0">
                    <a:solidFill>
                      <a:srgbClr val="FF0000"/>
                    </a:solidFill>
                    <a:latin typeface="楷体" panose="02010609060101010101" pitchFamily="49" charset="-122"/>
                    <a:ea typeface="楷体" panose="02010609060101010101" pitchFamily="49" charset="-122"/>
                  </a:rPr>
                  <a:t>一次状态转移只会转移到一个确定的状态</a:t>
                </a:r>
                <a:endParaRPr lang="en-AU" sz="2400" dirty="0">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sz="2400" dirty="0">
                    <a:solidFill>
                      <a:srgbClr val="3333FF"/>
                    </a:solidFill>
                    <a:latin typeface="楷体" panose="02010609060101010101" pitchFamily="49" charset="-122"/>
                    <a:ea typeface="楷体" panose="02010609060101010101" pitchFamily="49" charset="-122"/>
                  </a:rPr>
                  <a:t>对于每一个状态，需要明确定义对应于各个可能的输入符号的状态转移</a:t>
                </a:r>
                <a:endParaRPr lang="en-AU" altLang="zh-CN" sz="2400" dirty="0">
                  <a:solidFill>
                    <a:srgbClr val="3333FF"/>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sz="2400" dirty="0">
                    <a:solidFill>
                      <a:schemeClr val="accent2">
                        <a:lumMod val="75000"/>
                      </a:schemeClr>
                    </a:solidFill>
                    <a:latin typeface="楷体" panose="02010609060101010101" pitchFamily="49" charset="-122"/>
                    <a:ea typeface="楷体" panose="02010609060101010101" pitchFamily="49" charset="-122"/>
                  </a:rPr>
                  <a:t>有时设计较复杂</a:t>
                </a:r>
                <a:endParaRPr lang="en-AU" sz="2400" dirty="0">
                  <a:solidFill>
                    <a:schemeClr val="accent2">
                      <a:lumMod val="75000"/>
                    </a:schemeClr>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sz="2400" dirty="0">
                    <a:solidFill>
                      <a:srgbClr val="7030A0"/>
                    </a:solidFill>
                    <a:latin typeface="楷体" panose="02010609060101010101" pitchFamily="49" charset="-122"/>
                    <a:ea typeface="楷体" panose="02010609060101010101" pitchFamily="49" charset="-122"/>
                  </a:rPr>
                  <a:t>最后所处的状态在接受状态集</a:t>
                </a:r>
                <a14:m>
                  <m:oMath xmlns:m="http://schemas.openxmlformats.org/officeDocument/2006/math">
                    <m:r>
                      <a:rPr lang="en-AU" altLang="zh-CN" sz="2400" i="1" dirty="0" smtClean="0">
                        <a:solidFill>
                          <a:srgbClr val="7030A0"/>
                        </a:solidFill>
                        <a:latin typeface="Cambria Math" panose="02040503050406030204" pitchFamily="18" charset="0"/>
                        <a:ea typeface="楷体" panose="02010609060101010101" pitchFamily="49" charset="-122"/>
                      </a:rPr>
                      <m:t>𝐹</m:t>
                    </m:r>
                  </m:oMath>
                </a14:m>
                <a:r>
                  <a:rPr lang="zh-CN" altLang="en-US" sz="2400" dirty="0">
                    <a:solidFill>
                      <a:srgbClr val="7030A0"/>
                    </a:solidFill>
                    <a:latin typeface="楷体" panose="02010609060101010101" pitchFamily="49" charset="-122"/>
                    <a:ea typeface="楷体" panose="02010609060101010101" pitchFamily="49" charset="-122"/>
                  </a:rPr>
                  <a:t>中时，才接受符号串。</a:t>
                </a:r>
                <a:endParaRPr lang="en-AU" altLang="zh-CN" sz="2400" dirty="0">
                  <a:solidFill>
                    <a:srgbClr val="7030A0"/>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sz="2400" u="sng" dirty="0">
                    <a:latin typeface="楷体" panose="02010609060101010101" pitchFamily="49" charset="-122"/>
                    <a:ea typeface="楷体" panose="02010609060101010101" pitchFamily="49" charset="-122"/>
                  </a:rPr>
                  <a:t>易于机器实现</a:t>
                </a:r>
                <a:endParaRPr lang="en-AU" sz="2400" dirty="0">
                  <a:latin typeface="楷体" panose="02010609060101010101" pitchFamily="49" charset="-122"/>
                  <a:ea typeface="楷体" panose="02010609060101010101" pitchFamily="49" charset="-122"/>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403412" y="1507153"/>
                <a:ext cx="4343400" cy="3784600"/>
              </a:xfrm>
              <a:prstGeom prst="rect">
                <a:avLst/>
              </a:prstGeom>
              <a:blipFill rotWithShape="1">
                <a:blip r:embed="rId2"/>
                <a:stretch>
                  <a:fillRect l="-4" t="-8" r="4" b="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648200" y="1507153"/>
                <a:ext cx="4343400" cy="3784600"/>
              </a:xfrm>
              <a:prstGeom prst="rect">
                <a:avLst/>
              </a:prstGeom>
              <a:noFill/>
            </p:spPr>
            <p:txBody>
              <a:bodyPr wrap="square" rtlCol="0">
                <a:spAutoFit/>
              </a:bodyPr>
              <a:lstStyle/>
              <a:p>
                <a:pPr marL="285750" indent="-285750">
                  <a:buFont typeface="Arial" panose="020B0604020202020204" pitchFamily="34" charset="0"/>
                  <a:buChar char="•"/>
                </a:pPr>
                <a:r>
                  <a:rPr lang="zh-CN" altLang="en-US" sz="2400" dirty="0">
                    <a:solidFill>
                      <a:srgbClr val="FF0000"/>
                    </a:solidFill>
                    <a:latin typeface="楷体" panose="02010609060101010101" pitchFamily="49" charset="-122"/>
                    <a:ea typeface="楷体" panose="02010609060101010101" pitchFamily="49" charset="-122"/>
                  </a:rPr>
                  <a:t>状态的转移是非确定的</a:t>
                </a:r>
                <a:endParaRPr lang="en-AU" altLang="zh-CN" sz="2400" dirty="0">
                  <a:solidFill>
                    <a:srgbClr val="FF0000"/>
                  </a:solidFill>
                  <a:latin typeface="楷体" panose="02010609060101010101" pitchFamily="49" charset="-122"/>
                  <a:ea typeface="楷体" panose="02010609060101010101" pitchFamily="49" charset="-122"/>
                </a:endParaRPr>
              </a:p>
              <a:p>
                <a:pPr marL="742950" lvl="1" indent="-285750">
                  <a:buFont typeface="Arial" panose="020B0604020202020204" pitchFamily="34" charset="0"/>
                  <a:buChar char="•"/>
                </a:pPr>
                <a:r>
                  <a:rPr lang="zh-CN" altLang="en-US" sz="2400" dirty="0">
                    <a:solidFill>
                      <a:srgbClr val="FF0000"/>
                    </a:solidFill>
                    <a:latin typeface="楷体" panose="02010609060101010101" pitchFamily="49" charset="-122"/>
                    <a:ea typeface="楷体" panose="02010609060101010101" pitchFamily="49" charset="-122"/>
                  </a:rPr>
                  <a:t>一次状态转移可能转移到多个状态</a:t>
                </a:r>
                <a:endParaRPr lang="en-AU" sz="2400" dirty="0">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sz="2400" dirty="0">
                    <a:solidFill>
                      <a:srgbClr val="3333FF"/>
                    </a:solidFill>
                    <a:latin typeface="楷体" panose="02010609060101010101" pitchFamily="49" charset="-122"/>
                    <a:ea typeface="楷体" panose="02010609060101010101" pitchFamily="49" charset="-122"/>
                  </a:rPr>
                  <a:t>不需要明确地定义所有的状态转移（如果未定义的话那么会进入一个</a:t>
                </a:r>
                <a:r>
                  <a:rPr lang="en-AU" altLang="zh-CN" sz="2400" dirty="0">
                    <a:solidFill>
                      <a:srgbClr val="3333FF"/>
                    </a:solidFill>
                    <a:latin typeface="楷体" panose="02010609060101010101" pitchFamily="49" charset="-122"/>
                    <a:ea typeface="楷体" panose="02010609060101010101" pitchFamily="49" charset="-122"/>
                  </a:rPr>
                  <a:t>dead state</a:t>
                </a:r>
                <a:r>
                  <a:rPr lang="zh-CN" altLang="en-US" sz="2400" dirty="0">
                    <a:solidFill>
                      <a:srgbClr val="3333FF"/>
                    </a:solidFill>
                    <a:latin typeface="楷体" panose="02010609060101010101" pitchFamily="49" charset="-122"/>
                    <a:ea typeface="楷体" panose="02010609060101010101" pitchFamily="49" charset="-122"/>
                  </a:rPr>
                  <a:t>）</a:t>
                </a:r>
                <a:endParaRPr lang="en-AU" altLang="zh-CN" sz="2400" dirty="0">
                  <a:solidFill>
                    <a:srgbClr val="3333FF"/>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sz="2400" u="sng" dirty="0">
                    <a:solidFill>
                      <a:schemeClr val="accent2">
                        <a:lumMod val="75000"/>
                      </a:schemeClr>
                    </a:solidFill>
                    <a:latin typeface="楷体" panose="02010609060101010101" pitchFamily="49" charset="-122"/>
                    <a:ea typeface="楷体" panose="02010609060101010101" pitchFamily="49" charset="-122"/>
                  </a:rPr>
                  <a:t>通常比</a:t>
                </a:r>
                <a:r>
                  <a:rPr lang="en-AU" altLang="zh-CN" sz="2400" u="sng" dirty="0">
                    <a:solidFill>
                      <a:schemeClr val="accent2">
                        <a:lumMod val="75000"/>
                      </a:schemeClr>
                    </a:solidFill>
                    <a:latin typeface="楷体" panose="02010609060101010101" pitchFamily="49" charset="-122"/>
                    <a:ea typeface="楷体" panose="02010609060101010101" pitchFamily="49" charset="-122"/>
                  </a:rPr>
                  <a:t>DFA</a:t>
                </a:r>
                <a:r>
                  <a:rPr lang="zh-CN" altLang="en-US" sz="2400" u="sng" dirty="0">
                    <a:solidFill>
                      <a:schemeClr val="accent2">
                        <a:lumMod val="75000"/>
                      </a:schemeClr>
                    </a:solidFill>
                    <a:latin typeface="楷体" panose="02010609060101010101" pitchFamily="49" charset="-122"/>
                    <a:ea typeface="楷体" panose="02010609060101010101" pitchFamily="49" charset="-122"/>
                  </a:rPr>
                  <a:t>更为容易设计</a:t>
                </a:r>
                <a:endParaRPr lang="en-AU" sz="2400" u="sng" dirty="0">
                  <a:solidFill>
                    <a:schemeClr val="accent2">
                      <a:lumMod val="75000"/>
                    </a:schemeClr>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sz="2400" dirty="0">
                    <a:solidFill>
                      <a:srgbClr val="7030A0"/>
                    </a:solidFill>
                    <a:latin typeface="楷体" panose="02010609060101010101" pitchFamily="49" charset="-122"/>
                    <a:ea typeface="楷体" panose="02010609060101010101" pitchFamily="49" charset="-122"/>
                  </a:rPr>
                  <a:t>最后所处的状态集中有某个状态在接受状态集</a:t>
                </a:r>
                <a14:m>
                  <m:oMath xmlns:m="http://schemas.openxmlformats.org/officeDocument/2006/math">
                    <m:r>
                      <a:rPr lang="en-AU" altLang="zh-CN" sz="2400" i="1" dirty="0" smtClean="0">
                        <a:solidFill>
                          <a:srgbClr val="7030A0"/>
                        </a:solidFill>
                        <a:latin typeface="Cambria Math" panose="02040503050406030204" pitchFamily="18" charset="0"/>
                        <a:ea typeface="楷体" panose="02010609060101010101" pitchFamily="49" charset="-122"/>
                      </a:rPr>
                      <m:t>𝐹</m:t>
                    </m:r>
                  </m:oMath>
                </a14:m>
                <a:r>
                  <a:rPr lang="zh-CN" altLang="en-US" sz="2400" dirty="0">
                    <a:solidFill>
                      <a:srgbClr val="7030A0"/>
                    </a:solidFill>
                    <a:latin typeface="楷体" panose="02010609060101010101" pitchFamily="49" charset="-122"/>
                    <a:ea typeface="楷体" panose="02010609060101010101" pitchFamily="49" charset="-122"/>
                  </a:rPr>
                  <a:t>中时，才接受符号串。</a:t>
                </a:r>
                <a:endParaRPr lang="en-AU" sz="2400" dirty="0">
                  <a:latin typeface="楷体" panose="02010609060101010101" pitchFamily="49" charset="-122"/>
                  <a:ea typeface="楷体" panose="02010609060101010101" pitchFamily="49" charset="-122"/>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4648200" y="1507153"/>
                <a:ext cx="4343400" cy="3784600"/>
              </a:xfrm>
              <a:prstGeom prst="rect">
                <a:avLst/>
              </a:prstGeom>
              <a:blipFill rotWithShape="1">
                <a:blip r:embed="rId3"/>
                <a:stretch>
                  <a:fillRect t="-8" b="8"/>
                </a:stretch>
              </a:blipFill>
            </p:spPr>
            <p:txBody>
              <a:bodyPr/>
              <a:lstStyle/>
              <a:p>
                <a:r>
                  <a:rPr lang="zh-CN" altLang="en-US">
                    <a:noFill/>
                  </a:rPr>
                  <a:t> </a:t>
                </a:r>
              </a:p>
            </p:txBody>
          </p:sp>
        </mc:Fallback>
      </mc:AlternateContent>
      <p:sp>
        <p:nvSpPr>
          <p:cNvPr id="8" name="TextBox 7"/>
          <p:cNvSpPr txBox="1"/>
          <p:nvPr/>
        </p:nvSpPr>
        <p:spPr>
          <a:xfrm>
            <a:off x="1483659" y="911842"/>
            <a:ext cx="2182906" cy="461665"/>
          </a:xfrm>
          <a:prstGeom prst="rect">
            <a:avLst/>
          </a:prstGeom>
          <a:noFill/>
        </p:spPr>
        <p:txBody>
          <a:bodyPr wrap="square">
            <a:spAutoFit/>
          </a:bodyPr>
          <a:lstStyle/>
          <a:p>
            <a:r>
              <a:rPr lang="en-AU" sz="2400" dirty="0">
                <a:latin typeface="Times New Roman" panose="02020603050405020304" pitchFamily="18" charset="0"/>
                <a:cs typeface="Times New Roman" panose="02020603050405020304" pitchFamily="18" charset="0"/>
              </a:rPr>
              <a:t>DFA</a:t>
            </a:r>
            <a:endParaRPr lang="en-AU" sz="2400" dirty="0"/>
          </a:p>
        </p:txBody>
      </p:sp>
      <p:sp>
        <p:nvSpPr>
          <p:cNvPr id="9" name="TextBox 8"/>
          <p:cNvSpPr txBox="1"/>
          <p:nvPr/>
        </p:nvSpPr>
        <p:spPr>
          <a:xfrm>
            <a:off x="6318997" y="865676"/>
            <a:ext cx="2182906" cy="461665"/>
          </a:xfrm>
          <a:prstGeom prst="rect">
            <a:avLst/>
          </a:prstGeom>
          <a:noFill/>
        </p:spPr>
        <p:txBody>
          <a:bodyPr wrap="square">
            <a:spAutoFit/>
          </a:bodyPr>
          <a:lstStyle/>
          <a:p>
            <a:r>
              <a:rPr lang="en-AU" sz="2400" dirty="0">
                <a:latin typeface="Times New Roman" panose="02020603050405020304" pitchFamily="18" charset="0"/>
                <a:cs typeface="Times New Roman" panose="02020603050405020304" pitchFamily="18" charset="0"/>
              </a:rPr>
              <a:t>NFA</a:t>
            </a:r>
            <a:endParaRPr lang="en-AU" sz="2400" dirty="0"/>
          </a:p>
        </p:txBody>
      </p:sp>
      <p:sp>
        <p:nvSpPr>
          <p:cNvPr id="10" name="TextBox 9"/>
          <p:cNvSpPr txBox="1"/>
          <p:nvPr/>
        </p:nvSpPr>
        <p:spPr>
          <a:xfrm>
            <a:off x="1483659" y="5534672"/>
            <a:ext cx="6355458" cy="461665"/>
          </a:xfrm>
          <a:prstGeom prst="rect">
            <a:avLst/>
          </a:prstGeom>
          <a:noFill/>
        </p:spPr>
        <p:txBody>
          <a:bodyPr wrap="none" rtlCol="0">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但是，</a:t>
            </a:r>
            <a:r>
              <a:rPr lang="en-AU" sz="2400" b="1" dirty="0">
                <a:latin typeface="Times New Roman" panose="02020603050405020304" pitchFamily="18" charset="0"/>
                <a:ea typeface="楷体" panose="02010609060101010101" pitchFamily="49" charset="-122"/>
                <a:cs typeface="Times New Roman" panose="02020603050405020304" pitchFamily="18" charset="0"/>
              </a:rPr>
              <a:t>DFA</a:t>
            </a:r>
            <a:r>
              <a:rPr lang="zh-CN" altLang="en-US" sz="2400" b="1" dirty="0">
                <a:latin typeface="楷体" panose="02010609060101010101" pitchFamily="49" charset="-122"/>
                <a:ea typeface="楷体" panose="02010609060101010101" pitchFamily="49" charset="-122"/>
              </a:rPr>
              <a:t>和</a:t>
            </a:r>
            <a:r>
              <a:rPr lang="en-AU" altLang="zh-CN" sz="2400" b="1" dirty="0">
                <a:latin typeface="Times New Roman" panose="02020603050405020304" pitchFamily="18" charset="0"/>
                <a:ea typeface="楷体" panose="02010609060101010101" pitchFamily="49" charset="-122"/>
                <a:cs typeface="Times New Roman" panose="02020603050405020304" pitchFamily="18" charset="0"/>
              </a:rPr>
              <a:t>NFA</a:t>
            </a:r>
            <a:r>
              <a:rPr lang="zh-CN" altLang="en-US" sz="2400" b="1" dirty="0">
                <a:latin typeface="楷体" panose="02010609060101010101" pitchFamily="49" charset="-122"/>
                <a:ea typeface="楷体" panose="02010609060101010101" pitchFamily="49" charset="-122"/>
              </a:rPr>
              <a:t>表示语言的能力是等价的。</a:t>
            </a:r>
            <a:endParaRPr lang="en-AU" sz="2400" b="1" dirty="0">
              <a:latin typeface="楷体" panose="02010609060101010101" pitchFamily="49" charset="-122"/>
              <a:ea typeface="楷体" panose="02010609060101010101"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从</a:t>
            </a:r>
            <a:r>
              <a:rPr lang="en-US" altLang="zh-CN" sz="3600" dirty="0">
                <a:solidFill>
                  <a:schemeClr val="bg1"/>
                </a:solidFill>
              </a:rPr>
              <a:t>NFA</a:t>
            </a:r>
            <a:r>
              <a:rPr lang="zh-CN" altLang="en-US" sz="3600" dirty="0">
                <a:solidFill>
                  <a:schemeClr val="bg1"/>
                </a:solidFill>
              </a:rPr>
              <a:t>到</a:t>
            </a:r>
            <a:r>
              <a:rPr lang="en-AU" altLang="zh-CN" sz="3600" dirty="0">
                <a:solidFill>
                  <a:schemeClr val="bg1"/>
                </a:solidFill>
              </a:rPr>
              <a:t>DFA</a:t>
            </a:r>
            <a:r>
              <a:rPr lang="zh-CN" altLang="en-US" sz="3600" dirty="0">
                <a:solidFill>
                  <a:schemeClr val="bg1"/>
                </a:solidFill>
              </a:rPr>
              <a:t>：子集构造法</a:t>
            </a:r>
            <a:endParaRPr lang="en-AU" sz="3600" dirty="0">
              <a:solidFill>
                <a:schemeClr val="bg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838200"/>
                <a:ext cx="8229600" cy="6515100"/>
              </a:xfrm>
            </p:spPr>
            <p:txBody>
              <a:bodyPr>
                <a:normAutofit/>
              </a:bodyPr>
              <a:lstStyle/>
              <a:p>
                <a:r>
                  <a:rPr lang="zh-CN" altLang="en-US" sz="2400" dirty="0">
                    <a:latin typeface="Times New Roman" panose="02020603050405020304" pitchFamily="18" charset="0"/>
                    <a:cs typeface="Times New Roman" panose="02020603050405020304" pitchFamily="18" charset="0"/>
                  </a:rPr>
                  <a:t>目标：</a:t>
                </a:r>
                <a:r>
                  <a:rPr lang="en-AU" altLang="zh-CN" sz="2400" dirty="0">
                    <a:latin typeface="Times New Roman" panose="02020603050405020304" pitchFamily="18" charset="0"/>
                    <a:cs typeface="Times New Roman" panose="02020603050405020304" pitchFamily="18" charset="0"/>
                  </a:rPr>
                  <a:t>NFA </a:t>
                </a:r>
                <a14:m>
                  <m:oMath xmlns:m="http://schemas.openxmlformats.org/officeDocument/2006/math">
                    <m:r>
                      <a:rPr lang="en-AU" altLang="zh-CN" sz="2400" b="0" i="1" smtClean="0">
                        <a:latin typeface="Cambria Math" panose="02040503050406030204" pitchFamily="18" charset="0"/>
                      </a:rPr>
                      <m:t>𝑁</m:t>
                    </m:r>
                    <m:r>
                      <a:rPr lang="en-AU" altLang="zh-CN" sz="2400" b="0" i="1" smtClean="0">
                        <a:latin typeface="Cambria Math" panose="02040503050406030204" pitchFamily="18" charset="0"/>
                      </a:rPr>
                      <m:t>=(</m:t>
                    </m:r>
                    <m:sSub>
                      <m:sSubPr>
                        <m:ctrlPr>
                          <a:rPr lang="en-AU" altLang="zh-CN" sz="2400" b="0" i="1" smtClean="0">
                            <a:latin typeface="Cambria Math" panose="02040503050406030204" pitchFamily="18" charset="0"/>
                          </a:rPr>
                        </m:ctrlPr>
                      </m:sSubPr>
                      <m:e>
                        <m:r>
                          <a:rPr lang="en-AU" altLang="zh-CN" sz="2400" b="0" i="1" smtClean="0">
                            <a:latin typeface="Cambria Math" panose="02040503050406030204" pitchFamily="18" charset="0"/>
                          </a:rPr>
                          <m:t>𝑄</m:t>
                        </m:r>
                      </m:e>
                      <m:sub>
                        <m:r>
                          <a:rPr lang="en-AU" altLang="zh-CN" sz="2400" b="0" i="1" smtClean="0">
                            <a:latin typeface="Cambria Math" panose="02040503050406030204" pitchFamily="18" charset="0"/>
                          </a:rPr>
                          <m:t>𝑁</m:t>
                        </m:r>
                      </m:sub>
                    </m:sSub>
                    <m:r>
                      <a:rPr lang="en-AU" altLang="zh-CN" sz="2400" b="0" i="1" smtClean="0">
                        <a:latin typeface="Cambria Math" panose="02040503050406030204" pitchFamily="18" charset="0"/>
                      </a:rPr>
                      <m:t>,</m:t>
                    </m:r>
                    <m:r>
                      <m:rPr>
                        <m:sty m:val="p"/>
                      </m:rPr>
                      <a:rPr lang="el-GR" altLang="zh-CN" sz="2400" i="1" smtClean="0">
                        <a:latin typeface="Cambria Math" panose="02040503050406030204" pitchFamily="18" charset="0"/>
                        <a:ea typeface="Cambria Math" panose="02040503050406030204" pitchFamily="18" charset="0"/>
                      </a:rPr>
                      <m:t>Σ</m:t>
                    </m:r>
                    <m:r>
                      <a:rPr lang="en-AU" altLang="zh-CN" sz="2400" b="0" i="1" smtClean="0">
                        <a:latin typeface="Cambria Math" panose="02040503050406030204" pitchFamily="18" charset="0"/>
                        <a:ea typeface="Cambria Math" panose="02040503050406030204" pitchFamily="18" charset="0"/>
                      </a:rPr>
                      <m:t>,</m:t>
                    </m:r>
                    <m:sSub>
                      <m:sSubPr>
                        <m:ctrlPr>
                          <a:rPr lang="en-AU" altLang="zh-CN" sz="2400" b="0" i="1" smtClean="0">
                            <a:latin typeface="Cambria Math" panose="02040503050406030204" pitchFamily="18" charset="0"/>
                            <a:ea typeface="Cambria Math" panose="02040503050406030204" pitchFamily="18" charset="0"/>
                          </a:rPr>
                        </m:ctrlPr>
                      </m:sSubPr>
                      <m:e>
                        <m:r>
                          <a:rPr lang="zh-CN" altLang="en-AU" sz="2400" b="0" i="1" smtClean="0">
                            <a:latin typeface="Cambria Math" panose="02040503050406030204" pitchFamily="18" charset="0"/>
                            <a:ea typeface="Cambria Math" panose="02040503050406030204" pitchFamily="18" charset="0"/>
                          </a:rPr>
                          <m:t>𝛿</m:t>
                        </m:r>
                      </m:e>
                      <m:sub>
                        <m:r>
                          <a:rPr lang="en-AU" altLang="zh-CN" sz="2400" b="0" i="1" smtClean="0">
                            <a:latin typeface="Cambria Math" panose="02040503050406030204" pitchFamily="18" charset="0"/>
                            <a:ea typeface="Cambria Math" panose="02040503050406030204" pitchFamily="18" charset="0"/>
                          </a:rPr>
                          <m:t>𝑁</m:t>
                        </m:r>
                      </m:sub>
                    </m:sSub>
                    <m:r>
                      <a:rPr lang="en-AU" altLang="zh-CN" sz="2400" b="0" i="1" smtClean="0">
                        <a:latin typeface="Cambria Math" panose="02040503050406030204" pitchFamily="18" charset="0"/>
                      </a:rPr>
                      <m:t>,</m:t>
                    </m:r>
                    <m:sSub>
                      <m:sSubPr>
                        <m:ctrlPr>
                          <a:rPr lang="en-AU" altLang="zh-CN" sz="2400" b="0" i="1" smtClean="0">
                            <a:latin typeface="Cambria Math" panose="02040503050406030204" pitchFamily="18" charset="0"/>
                          </a:rPr>
                        </m:ctrlPr>
                      </m:sSubPr>
                      <m:e>
                        <m:r>
                          <a:rPr lang="en-AU" altLang="zh-CN" sz="2400" b="0" i="1" smtClean="0">
                            <a:latin typeface="Cambria Math" panose="02040503050406030204" pitchFamily="18" charset="0"/>
                          </a:rPr>
                          <m:t>𝑞</m:t>
                        </m:r>
                      </m:e>
                      <m:sub>
                        <m:r>
                          <a:rPr lang="en-AU" altLang="zh-CN" sz="2400" b="0" i="1" smtClean="0">
                            <a:latin typeface="Cambria Math" panose="02040503050406030204" pitchFamily="18" charset="0"/>
                          </a:rPr>
                          <m:t>0</m:t>
                        </m:r>
                      </m:sub>
                    </m:sSub>
                    <m:r>
                      <a:rPr lang="en-AU" altLang="zh-CN" sz="2400" b="0" i="1" smtClean="0">
                        <a:latin typeface="Cambria Math" panose="02040503050406030204" pitchFamily="18" charset="0"/>
                      </a:rPr>
                      <m:t>,</m:t>
                    </m:r>
                    <m:sSub>
                      <m:sSubPr>
                        <m:ctrlPr>
                          <a:rPr lang="en-AU" altLang="zh-CN" sz="2400" b="0" i="1" smtClean="0">
                            <a:latin typeface="Cambria Math" panose="02040503050406030204" pitchFamily="18" charset="0"/>
                          </a:rPr>
                        </m:ctrlPr>
                      </m:sSubPr>
                      <m:e>
                        <m:r>
                          <a:rPr lang="en-AU" altLang="zh-CN" sz="2400" b="0" i="1" smtClean="0">
                            <a:latin typeface="Cambria Math" panose="02040503050406030204" pitchFamily="18" charset="0"/>
                          </a:rPr>
                          <m:t>𝐹</m:t>
                        </m:r>
                      </m:e>
                      <m:sub>
                        <m:r>
                          <a:rPr lang="en-AU" altLang="zh-CN" sz="2400" b="0" i="1" smtClean="0">
                            <a:latin typeface="Cambria Math" panose="02040503050406030204" pitchFamily="18" charset="0"/>
                          </a:rPr>
                          <m:t>𝑁</m:t>
                        </m:r>
                      </m:sub>
                    </m:sSub>
                    <m:r>
                      <a:rPr lang="en-AU" altLang="zh-CN" sz="2400" b="0" i="1" smtClean="0">
                        <a:latin typeface="Cambria Math" panose="02040503050406030204" pitchFamily="18" charset="0"/>
                      </a:rPr>
                      <m:t>)</m:t>
                    </m:r>
                  </m:oMath>
                </a14:m>
                <a:r>
                  <a:rPr lang="zh-CN" altLang="en-US" sz="2400" dirty="0"/>
                  <a:t>构造</a:t>
                </a:r>
                <a14:m>
                  <m:oMath xmlns:m="http://schemas.openxmlformats.org/officeDocument/2006/math">
                    <m:r>
                      <a:rPr lang="en-AU" altLang="zh-CN" sz="2400" b="0" i="0" smtClean="0">
                        <a:latin typeface="Cambria Math" panose="02040503050406030204" pitchFamily="18" charset="0"/>
                      </a:rPr>
                      <m:t> </m:t>
                    </m:r>
                    <m:r>
                      <a:rPr lang="en-AU" altLang="zh-CN" sz="2400" i="1">
                        <a:latin typeface="Cambria Math" panose="02040503050406030204" pitchFamily="18" charset="0"/>
                      </a:rPr>
                      <m:t>𝐷</m:t>
                    </m:r>
                    <m:r>
                      <a:rPr lang="en-AU" altLang="zh-CN" sz="2400" i="1">
                        <a:latin typeface="Cambria Math" panose="02040503050406030204" pitchFamily="18" charset="0"/>
                      </a:rPr>
                      <m:t>=(</m:t>
                    </m:r>
                    <m:sSub>
                      <m:sSubPr>
                        <m:ctrlPr>
                          <a:rPr lang="en-AU" altLang="zh-CN" sz="2400" i="1">
                            <a:latin typeface="Cambria Math" panose="02040503050406030204" pitchFamily="18" charset="0"/>
                          </a:rPr>
                        </m:ctrlPr>
                      </m:sSubPr>
                      <m:e>
                        <m:r>
                          <a:rPr lang="en-AU" altLang="zh-CN" sz="2400" i="1">
                            <a:latin typeface="Cambria Math" panose="02040503050406030204" pitchFamily="18" charset="0"/>
                          </a:rPr>
                          <m:t>𝑄</m:t>
                        </m:r>
                      </m:e>
                      <m:sub>
                        <m:r>
                          <a:rPr lang="en-AU" altLang="zh-CN" sz="2400" i="1">
                            <a:latin typeface="Cambria Math" panose="02040503050406030204" pitchFamily="18" charset="0"/>
                          </a:rPr>
                          <m:t>𝐷</m:t>
                        </m:r>
                      </m:sub>
                    </m:sSub>
                    <m:r>
                      <a:rPr lang="en-AU" altLang="zh-CN" sz="2400" i="1">
                        <a:latin typeface="Cambria Math" panose="02040503050406030204" pitchFamily="18" charset="0"/>
                      </a:rPr>
                      <m:t>,</m:t>
                    </m:r>
                    <m:r>
                      <m:rPr>
                        <m:sty m:val="p"/>
                      </m:rPr>
                      <a:rPr lang="el-GR" altLang="zh-CN" sz="2400" i="1">
                        <a:latin typeface="Cambria Math" panose="02040503050406030204" pitchFamily="18" charset="0"/>
                        <a:ea typeface="Cambria Math" panose="02040503050406030204" pitchFamily="18" charset="0"/>
                      </a:rPr>
                      <m:t>Σ</m:t>
                    </m:r>
                    <m:r>
                      <a:rPr lang="en-AU" altLang="zh-CN" sz="2400" i="1">
                        <a:latin typeface="Cambria Math" panose="02040503050406030204" pitchFamily="18" charset="0"/>
                        <a:ea typeface="Cambria Math" panose="02040503050406030204" pitchFamily="18" charset="0"/>
                      </a:rPr>
                      <m:t>,</m:t>
                    </m:r>
                    <m:sSub>
                      <m:sSubPr>
                        <m:ctrlPr>
                          <a:rPr lang="en-AU" altLang="zh-CN" sz="2400" i="1">
                            <a:latin typeface="Cambria Math" panose="02040503050406030204" pitchFamily="18" charset="0"/>
                            <a:ea typeface="Cambria Math" panose="02040503050406030204" pitchFamily="18" charset="0"/>
                          </a:rPr>
                        </m:ctrlPr>
                      </m:sSubPr>
                      <m:e>
                        <m:r>
                          <a:rPr lang="zh-CN" altLang="en-AU" sz="2400" i="1">
                            <a:latin typeface="Cambria Math" panose="02040503050406030204" pitchFamily="18" charset="0"/>
                            <a:ea typeface="Cambria Math" panose="02040503050406030204" pitchFamily="18" charset="0"/>
                          </a:rPr>
                          <m:t>𝛿</m:t>
                        </m:r>
                      </m:e>
                      <m:sub>
                        <m:r>
                          <a:rPr lang="en-AU" altLang="zh-CN" sz="2400" i="1">
                            <a:latin typeface="Cambria Math" panose="02040503050406030204" pitchFamily="18" charset="0"/>
                            <a:ea typeface="Cambria Math" panose="02040503050406030204" pitchFamily="18" charset="0"/>
                          </a:rPr>
                          <m:t>𝐷</m:t>
                        </m:r>
                      </m:sub>
                    </m:sSub>
                    <m:r>
                      <a:rPr lang="en-AU" altLang="zh-CN" sz="2400" i="1">
                        <a:latin typeface="Cambria Math" panose="02040503050406030204" pitchFamily="18" charset="0"/>
                      </a:rPr>
                      <m:t>,</m:t>
                    </m:r>
                    <m:sSub>
                      <m:sSubPr>
                        <m:ctrlPr>
                          <a:rPr lang="en-AU" altLang="zh-CN" sz="2400" i="1">
                            <a:latin typeface="Cambria Math" panose="02040503050406030204" pitchFamily="18" charset="0"/>
                          </a:rPr>
                        </m:ctrlPr>
                      </m:sSubPr>
                      <m:e>
                        <m:r>
                          <a:rPr lang="en-US" altLang="zh-CN" sz="2400" i="1">
                            <a:latin typeface="Cambria Math" panose="02040503050406030204" pitchFamily="18" charset="0"/>
                          </a:rPr>
                          <m:t>{</m:t>
                        </m:r>
                        <m:r>
                          <a:rPr lang="en-AU" altLang="zh-CN" sz="2400" i="1">
                            <a:latin typeface="Cambria Math" panose="02040503050406030204" pitchFamily="18" charset="0"/>
                          </a:rPr>
                          <m:t>𝑞</m:t>
                        </m:r>
                      </m:e>
                      <m:sub>
                        <m:r>
                          <a:rPr lang="en-AU" altLang="zh-CN" sz="2400" i="1">
                            <a:latin typeface="Cambria Math" panose="02040503050406030204" pitchFamily="18" charset="0"/>
                          </a:rPr>
                          <m:t>0</m:t>
                        </m:r>
                      </m:sub>
                    </m:sSub>
                    <m:r>
                      <a:rPr lang="en-US" altLang="zh-CN" sz="2400" i="1">
                        <a:latin typeface="Cambria Math" panose="02040503050406030204" pitchFamily="18" charset="0"/>
                      </a:rPr>
                      <m:t>}</m:t>
                    </m:r>
                    <m:r>
                      <a:rPr lang="en-AU" altLang="zh-CN" sz="2400" i="1">
                        <a:latin typeface="Cambria Math" panose="02040503050406030204" pitchFamily="18" charset="0"/>
                      </a:rPr>
                      <m:t>,</m:t>
                    </m:r>
                    <m:sSub>
                      <m:sSubPr>
                        <m:ctrlPr>
                          <a:rPr lang="en-AU" altLang="zh-CN" sz="2400" i="1">
                            <a:latin typeface="Cambria Math" panose="02040503050406030204" pitchFamily="18" charset="0"/>
                          </a:rPr>
                        </m:ctrlPr>
                      </m:sSubPr>
                      <m:e>
                        <m:r>
                          <a:rPr lang="en-AU" altLang="zh-CN" sz="2400" i="1">
                            <a:latin typeface="Cambria Math" panose="02040503050406030204" pitchFamily="18" charset="0"/>
                          </a:rPr>
                          <m:t>𝐹</m:t>
                        </m:r>
                      </m:e>
                      <m:sub>
                        <m:r>
                          <a:rPr lang="en-AU" altLang="zh-CN" sz="2400" i="1">
                            <a:latin typeface="Cambria Math" panose="02040503050406030204" pitchFamily="18" charset="0"/>
                          </a:rPr>
                          <m:t>𝐷</m:t>
                        </m:r>
                      </m:sub>
                    </m:sSub>
                    <m:r>
                      <a:rPr lang="en-AU" altLang="zh-CN" sz="2400" i="1">
                        <a:latin typeface="Cambria Math" panose="02040503050406030204" pitchFamily="18" charset="0"/>
                      </a:rPr>
                      <m:t>)</m:t>
                    </m:r>
                  </m:oMath>
                </a14:m>
                <a:r>
                  <a:rPr lang="zh-CN" altLang="en-US" sz="2400" dirty="0"/>
                  <a:t>，且</a:t>
                </a:r>
                <a14:m>
                  <m:oMath xmlns:m="http://schemas.openxmlformats.org/officeDocument/2006/math">
                    <m:r>
                      <a:rPr lang="en-AU" altLang="zh-CN" sz="2400" b="1" i="0" dirty="0" smtClean="0">
                        <a:latin typeface="Cambria Math" panose="02040503050406030204" pitchFamily="18" charset="0"/>
                      </a:rPr>
                      <m:t>𝐋</m:t>
                    </m:r>
                    <m:r>
                      <a:rPr lang="en-AU" altLang="zh-CN" sz="2400" i="1" dirty="0" smtClean="0">
                        <a:latin typeface="Cambria Math" panose="02040503050406030204" pitchFamily="18" charset="0"/>
                      </a:rPr>
                      <m:t>(</m:t>
                    </m:r>
                    <m:r>
                      <a:rPr lang="en-AU" altLang="zh-CN" sz="2400" i="1" dirty="0" smtClean="0">
                        <a:latin typeface="Cambria Math" panose="02040503050406030204" pitchFamily="18" charset="0"/>
                      </a:rPr>
                      <m:t>𝐷</m:t>
                    </m:r>
                    <m:r>
                      <a:rPr lang="en-AU" altLang="zh-CN" sz="2400" i="1" dirty="0" smtClean="0">
                        <a:latin typeface="Cambria Math" panose="02040503050406030204" pitchFamily="18" charset="0"/>
                      </a:rPr>
                      <m:t>)=</m:t>
                    </m:r>
                    <m:r>
                      <a:rPr lang="en-AU" altLang="zh-CN" sz="2400" b="1" i="0" dirty="0" smtClean="0">
                        <a:latin typeface="Cambria Math" panose="02040503050406030204" pitchFamily="18" charset="0"/>
                      </a:rPr>
                      <m:t>𝐋</m:t>
                    </m:r>
                    <m:r>
                      <a:rPr lang="en-AU" altLang="zh-CN" sz="2400" i="1" dirty="0" smtClean="0">
                        <a:latin typeface="Cambria Math" panose="02040503050406030204" pitchFamily="18" charset="0"/>
                      </a:rPr>
                      <m:t>(</m:t>
                    </m:r>
                    <m:r>
                      <a:rPr lang="en-AU" altLang="zh-CN" sz="2400" i="1" dirty="0" smtClean="0">
                        <a:latin typeface="Cambria Math" panose="02040503050406030204" pitchFamily="18" charset="0"/>
                      </a:rPr>
                      <m:t>𝑁</m:t>
                    </m:r>
                    <m:r>
                      <a:rPr lang="en-AU" altLang="zh-CN" sz="2400" i="1" dirty="0" smtClean="0">
                        <a:latin typeface="Cambria Math" panose="02040503050406030204" pitchFamily="18" charset="0"/>
                      </a:rPr>
                      <m:t>)</m:t>
                    </m:r>
                  </m:oMath>
                </a14:m>
                <a:r>
                  <a:rPr lang="zh-CN" altLang="en-US" sz="2400" dirty="0"/>
                  <a:t>。</a:t>
                </a:r>
                <a:endParaRPr lang="en-AU" altLang="zh-CN" sz="2400" dirty="0"/>
              </a:p>
              <a:p>
                <a:r>
                  <a:rPr lang="zh-CN" altLang="en-US" sz="2400" dirty="0"/>
                  <a:t>构造</a:t>
                </a:r>
                <a:r>
                  <a:rPr lang="en-AU" altLang="zh-CN" sz="2400" dirty="0"/>
                  <a:t>:</a:t>
                </a:r>
              </a:p>
              <a:p>
                <a:pPr lvl="1"/>
                <a:r>
                  <a:rPr lang="zh-CN" altLang="en-US" sz="2400" dirty="0"/>
                  <a:t>状态集：</a:t>
                </a:r>
                <a14:m>
                  <m:oMath xmlns:m="http://schemas.openxmlformats.org/officeDocument/2006/math">
                    <m:sSub>
                      <m:sSubPr>
                        <m:ctrlPr>
                          <a:rPr lang="en-AU" altLang="zh-CN" sz="2400" i="1" smtClean="0">
                            <a:latin typeface="Cambria Math" panose="02040503050406030204" pitchFamily="18" charset="0"/>
                          </a:rPr>
                        </m:ctrlPr>
                      </m:sSubPr>
                      <m:e>
                        <m:r>
                          <a:rPr lang="en-AU" altLang="zh-CN" sz="2400" b="0" i="1" smtClean="0">
                            <a:latin typeface="Cambria Math" panose="02040503050406030204" pitchFamily="18" charset="0"/>
                          </a:rPr>
                          <m:t> </m:t>
                        </m:r>
                        <m:r>
                          <a:rPr lang="en-AU" altLang="zh-CN" sz="2400" b="0" i="1" smtClean="0">
                            <a:latin typeface="Cambria Math" panose="02040503050406030204" pitchFamily="18" charset="0"/>
                          </a:rPr>
                          <m:t>𝑄</m:t>
                        </m:r>
                      </m:e>
                      <m:sub>
                        <m:r>
                          <a:rPr lang="en-AU" altLang="zh-CN" sz="2400" b="0" i="1" smtClean="0">
                            <a:latin typeface="Cambria Math" panose="02040503050406030204" pitchFamily="18" charset="0"/>
                          </a:rPr>
                          <m:t>𝐷</m:t>
                        </m:r>
                      </m:sub>
                    </m:sSub>
                    <m:r>
                      <a:rPr lang="en-AU" altLang="zh-CN" sz="2400" b="0" i="1" smtClean="0">
                        <a:latin typeface="Cambria Math" panose="02040503050406030204" pitchFamily="18" charset="0"/>
                      </a:rPr>
                      <m:t>=</m:t>
                    </m:r>
                    <m:sSup>
                      <m:sSupPr>
                        <m:ctrlPr>
                          <a:rPr lang="en-AU" altLang="zh-CN" sz="2400" b="0" i="1" smtClean="0">
                            <a:latin typeface="Cambria Math" panose="02040503050406030204" pitchFamily="18" charset="0"/>
                          </a:rPr>
                        </m:ctrlPr>
                      </m:sSupPr>
                      <m:e>
                        <m:r>
                          <a:rPr lang="en-AU" altLang="zh-CN" sz="2400" b="0" i="1" smtClean="0">
                            <a:latin typeface="Cambria Math" panose="02040503050406030204" pitchFamily="18" charset="0"/>
                          </a:rPr>
                          <m:t>2</m:t>
                        </m:r>
                      </m:e>
                      <m:sup>
                        <m:sSub>
                          <m:sSubPr>
                            <m:ctrlPr>
                              <a:rPr lang="en-AU" altLang="zh-CN" sz="2400" b="0" i="1" smtClean="0">
                                <a:latin typeface="Cambria Math" panose="02040503050406030204" pitchFamily="18" charset="0"/>
                              </a:rPr>
                            </m:ctrlPr>
                          </m:sSubPr>
                          <m:e>
                            <m:r>
                              <a:rPr lang="en-AU" altLang="zh-CN" sz="2400" b="0" i="1" smtClean="0">
                                <a:latin typeface="Cambria Math" panose="02040503050406030204" pitchFamily="18" charset="0"/>
                              </a:rPr>
                              <m:t>𝑄</m:t>
                            </m:r>
                          </m:e>
                          <m:sub>
                            <m:r>
                              <a:rPr lang="en-AU" altLang="zh-CN" sz="2400" b="0" i="1" smtClean="0">
                                <a:latin typeface="Cambria Math" panose="02040503050406030204" pitchFamily="18" charset="0"/>
                              </a:rPr>
                              <m:t>𝑁</m:t>
                            </m:r>
                          </m:sub>
                        </m:sSub>
                      </m:sup>
                    </m:sSup>
                  </m:oMath>
                </a14:m>
                <a:r>
                  <a:rPr lang="en-AU" altLang="zh-CN" sz="2400" dirty="0"/>
                  <a:t>,</a:t>
                </a:r>
                <a:r>
                  <a:rPr lang="zh-CN" altLang="en-US" sz="2400" dirty="0"/>
                  <a:t>即每个</a:t>
                </a:r>
                <a14:m>
                  <m:oMath xmlns:m="http://schemas.openxmlformats.org/officeDocument/2006/math">
                    <m:r>
                      <a:rPr lang="zh-CN" altLang="en-US" sz="2400" i="1" dirty="0">
                        <a:latin typeface="Cambria Math" panose="02040503050406030204" pitchFamily="18" charset="0"/>
                      </a:rPr>
                      <m:t>状态是</m:t>
                    </m:r>
                    <m:sSub>
                      <m:sSubPr>
                        <m:ctrlPr>
                          <a:rPr lang="en-AU" altLang="zh-CN" sz="2400" i="1">
                            <a:latin typeface="Cambria Math" panose="02040503050406030204" pitchFamily="18" charset="0"/>
                          </a:rPr>
                        </m:ctrlPr>
                      </m:sSubPr>
                      <m:e>
                        <m:r>
                          <a:rPr lang="en-AU" altLang="zh-CN" sz="2400" i="1">
                            <a:latin typeface="Cambria Math" panose="02040503050406030204" pitchFamily="18" charset="0"/>
                          </a:rPr>
                          <m:t>𝑄</m:t>
                        </m:r>
                      </m:e>
                      <m:sub>
                        <m:r>
                          <a:rPr lang="en-AU" altLang="zh-CN" sz="2400" i="1">
                            <a:latin typeface="Cambria Math" panose="02040503050406030204" pitchFamily="18" charset="0"/>
                          </a:rPr>
                          <m:t>𝑁</m:t>
                        </m:r>
                      </m:sub>
                    </m:sSub>
                    <m:r>
                      <a:rPr lang="zh-CN" altLang="en-US" sz="2400" i="1">
                        <a:latin typeface="Cambria Math" panose="02040503050406030204" pitchFamily="18" charset="0"/>
                      </a:rPr>
                      <m:t>的</m:t>
                    </m:r>
                  </m:oMath>
                </a14:m>
                <a:r>
                  <a:rPr lang="zh-CN" altLang="en-US" sz="2400" dirty="0"/>
                  <a:t>子集</a:t>
                </a:r>
                <a:endParaRPr lang="en-AU" altLang="zh-CN" sz="2400" dirty="0"/>
              </a:p>
              <a:p>
                <a:pPr lvl="1"/>
                <a:r>
                  <a:rPr lang="zh-CN" altLang="en-US" sz="2400" dirty="0">
                    <a:latin typeface="Cambria Math" panose="02040503050406030204" pitchFamily="18" charset="0"/>
                  </a:rPr>
                  <a:t>接受状态集：</a:t>
                </a:r>
                <a14:m>
                  <m:oMath xmlns:m="http://schemas.openxmlformats.org/officeDocument/2006/math">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𝐹</m:t>
                        </m:r>
                      </m:e>
                      <m:sub>
                        <m:r>
                          <a:rPr lang="en-AU" sz="2400" b="0" i="1" smtClean="0">
                            <a:latin typeface="Cambria Math" panose="02040503050406030204" pitchFamily="18" charset="0"/>
                          </a:rPr>
                          <m:t>𝐷</m:t>
                        </m:r>
                      </m:sub>
                    </m:sSub>
                    <m:r>
                      <a:rPr lang="en-AU" sz="2400" b="0" i="1" smtClean="0">
                        <a:latin typeface="Cambria Math" panose="02040503050406030204" pitchFamily="18" charset="0"/>
                      </a:rPr>
                      <m:t>={</m:t>
                    </m:r>
                    <m:r>
                      <a:rPr lang="en-AU" sz="2400" b="0" i="1" smtClean="0">
                        <a:latin typeface="Cambria Math" panose="02040503050406030204" pitchFamily="18" charset="0"/>
                      </a:rPr>
                      <m:t>𝑆</m:t>
                    </m:r>
                    <m:r>
                      <a:rPr lang="en-AU" sz="2400" b="0" i="1" smtClean="0">
                        <a:latin typeface="Cambria Math" panose="02040503050406030204" pitchFamily="18" charset="0"/>
                      </a:rPr>
                      <m:t>|</m:t>
                    </m:r>
                    <m:r>
                      <a:rPr lang="en-AU" sz="2400" b="0" i="1" smtClean="0">
                        <a:latin typeface="Cambria Math" panose="02040503050406030204" pitchFamily="18" charset="0"/>
                      </a:rPr>
                      <m:t>𝑆</m:t>
                    </m:r>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𝑄</m:t>
                        </m:r>
                      </m:e>
                      <m:sub>
                        <m:r>
                          <a:rPr lang="en-AU" sz="2400" b="0" i="1" smtClean="0">
                            <a:latin typeface="Cambria Math" panose="02040503050406030204" pitchFamily="18" charset="0"/>
                            <a:ea typeface="Cambria Math" panose="02040503050406030204" pitchFamily="18" charset="0"/>
                          </a:rPr>
                          <m:t>𝑁</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𝑆</m:t>
                    </m:r>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𝐹</m:t>
                        </m:r>
                      </m:e>
                      <m:sub>
                        <m:r>
                          <a:rPr lang="en-AU" sz="2400" b="0" i="1" smtClean="0">
                            <a:latin typeface="Cambria Math" panose="02040503050406030204" pitchFamily="18" charset="0"/>
                            <a:ea typeface="Cambria Math" panose="02040503050406030204" pitchFamily="18" charset="0"/>
                          </a:rPr>
                          <m:t>𝑁</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rPr>
                      <m:t>}</m:t>
                    </m:r>
                  </m:oMath>
                </a14:m>
                <a:r>
                  <a:rPr lang="en-AU" sz="2400" dirty="0"/>
                  <a:t> (</a:t>
                </a:r>
                <a:r>
                  <a:rPr lang="en-AU" sz="2400" dirty="0">
                    <a:latin typeface="Times New Roman" panose="02020603050405020304" pitchFamily="18" charset="0"/>
                    <a:cs typeface="Times New Roman" panose="02020603050405020304" pitchFamily="18" charset="0"/>
                  </a:rPr>
                  <a:t>set of subsets</a:t>
                </a:r>
                <a:r>
                  <a:rPr lang="en-AU" sz="2400" dirty="0"/>
                  <a:t> </a:t>
                </a:r>
                <a14:m>
                  <m:oMath xmlns:m="http://schemas.openxmlformats.org/officeDocument/2006/math">
                    <m:r>
                      <a:rPr lang="en-AU" sz="2400" i="1" dirty="0">
                        <a:latin typeface="Cambria Math" panose="02040503050406030204" pitchFamily="18" charset="0"/>
                      </a:rPr>
                      <m:t>𝑆</m:t>
                    </m:r>
                  </m:oMath>
                </a14:m>
                <a:r>
                  <a:rPr lang="en-AU" sz="2400" dirty="0"/>
                  <a:t> </a:t>
                </a:r>
                <a:r>
                  <a:rPr lang="en-AU" sz="2400" dirty="0">
                    <a:latin typeface="Times New Roman" panose="02020603050405020304" pitchFamily="18" charset="0"/>
                    <a:cs typeface="Times New Roman" panose="02020603050405020304" pitchFamily="18" charset="0"/>
                  </a:rPr>
                  <a:t>of</a:t>
                </a:r>
                <a:r>
                  <a:rPr lang="en-AU" sz="2400" dirty="0"/>
                  <a:t>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𝑄</m:t>
                        </m:r>
                      </m:e>
                      <m:sub>
                        <m:r>
                          <a:rPr lang="en-AU" sz="2400" i="1">
                            <a:latin typeface="Cambria Math" panose="02040503050406030204" pitchFamily="18" charset="0"/>
                            <a:ea typeface="Cambria Math" panose="02040503050406030204" pitchFamily="18" charset="0"/>
                          </a:rPr>
                          <m:t>𝑁</m:t>
                        </m:r>
                      </m:sub>
                    </m:sSub>
                  </m:oMath>
                </a14:m>
                <a:r>
                  <a:rPr lang="en-AU" sz="2400" dirty="0"/>
                  <a:t>)</a:t>
                </a:r>
              </a:p>
              <a:p>
                <a:pPr lvl="1"/>
                <a:r>
                  <a:rPr lang="zh-CN" altLang="en-US" sz="2400" dirty="0"/>
                  <a:t>状态转移函数</a:t>
                </a:r>
                <a:r>
                  <a:rPr lang="en-AU" altLang="zh-CN" sz="2400" dirty="0"/>
                  <a:t>: </a:t>
                </a:r>
                <a14:m>
                  <m:oMath xmlns:m="http://schemas.openxmlformats.org/officeDocument/2006/math">
                    <m:r>
                      <a:rPr lang="en-AU" altLang="zh-CN" sz="2400" b="0" i="1" smtClean="0">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𝑆</m:t>
                    </m:r>
                    <m:r>
                      <a:rPr lang="en-AU" altLang="zh-CN" sz="2400" b="0" i="1" smtClean="0">
                        <a:latin typeface="Cambria Math" panose="02040503050406030204" pitchFamily="18" charset="0"/>
                        <a:ea typeface="Cambria Math" panose="02040503050406030204" pitchFamily="18" charset="0"/>
                      </a:rPr>
                      <m:t>⊂</m:t>
                    </m:r>
                    <m:sSub>
                      <m:sSubPr>
                        <m:ctrlPr>
                          <a:rPr lang="en-AU" altLang="zh-CN" sz="2400" b="0" i="1" smtClean="0">
                            <a:latin typeface="Cambria Math" panose="02040503050406030204" pitchFamily="18" charset="0"/>
                            <a:ea typeface="Cambria Math" panose="02040503050406030204" pitchFamily="18" charset="0"/>
                          </a:rPr>
                        </m:ctrlPr>
                      </m:sSubPr>
                      <m:e>
                        <m:r>
                          <a:rPr lang="en-AU" altLang="zh-CN" sz="2400" b="0" i="1" smtClean="0">
                            <a:latin typeface="Cambria Math" panose="02040503050406030204" pitchFamily="18" charset="0"/>
                            <a:ea typeface="Cambria Math" panose="02040503050406030204" pitchFamily="18" charset="0"/>
                          </a:rPr>
                          <m:t>𝑄</m:t>
                        </m:r>
                      </m:e>
                      <m:sub>
                        <m:r>
                          <a:rPr lang="en-AU" altLang="zh-CN" sz="2400" b="0" i="1" smtClean="0">
                            <a:latin typeface="Cambria Math" panose="02040503050406030204" pitchFamily="18" charset="0"/>
                            <a:ea typeface="Cambria Math" panose="02040503050406030204" pitchFamily="18" charset="0"/>
                          </a:rPr>
                          <m:t>𝑁</m:t>
                        </m:r>
                      </m:sub>
                    </m:sSub>
                    <m:r>
                      <a:rPr lang="en-AU" altLang="zh-CN" sz="2400" i="1">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𝑎</m:t>
                    </m:r>
                    <m:r>
                      <a:rPr lang="en-AU" altLang="zh-CN" sz="2400" i="1" smtClean="0">
                        <a:latin typeface="Cambria Math" panose="02040503050406030204" pitchFamily="18" charset="0"/>
                        <a:ea typeface="Cambria Math" panose="02040503050406030204" pitchFamily="18" charset="0"/>
                      </a:rPr>
                      <m:t>∈</m:t>
                    </m:r>
                    <m:r>
                      <m:rPr>
                        <m:sty m:val="p"/>
                      </m:rPr>
                      <a:rPr lang="el-GR" altLang="zh-CN" sz="2400" i="1" smtClean="0">
                        <a:latin typeface="Cambria Math" panose="02040503050406030204" pitchFamily="18" charset="0"/>
                        <a:ea typeface="Cambria Math" panose="02040503050406030204" pitchFamily="18" charset="0"/>
                      </a:rPr>
                      <m:t>Σ</m:t>
                    </m:r>
                    <m:sSub>
                      <m:sSubPr>
                        <m:ctrlPr>
                          <a:rPr lang="en-AU" altLang="zh-CN" sz="2400" b="0" i="1" smtClean="0">
                            <a:latin typeface="Cambria Math" panose="02040503050406030204" pitchFamily="18" charset="0"/>
                            <a:ea typeface="Cambria Math" panose="02040503050406030204" pitchFamily="18" charset="0"/>
                          </a:rPr>
                        </m:ctrlPr>
                      </m:sSubPr>
                      <m:e>
                        <m:r>
                          <a:rPr lang="en-AU" altLang="zh-CN" sz="2400" b="0" i="1" smtClean="0">
                            <a:latin typeface="Cambria Math" panose="02040503050406030204" pitchFamily="18" charset="0"/>
                            <a:ea typeface="Cambria Math" panose="02040503050406030204" pitchFamily="18" charset="0"/>
                          </a:rPr>
                          <m:t>,</m:t>
                        </m:r>
                        <m:r>
                          <a:rPr lang="zh-CN" altLang="en-AU" sz="2400" b="0" i="1" smtClean="0">
                            <a:latin typeface="Cambria Math" panose="02040503050406030204" pitchFamily="18" charset="0"/>
                            <a:ea typeface="Cambria Math" panose="02040503050406030204" pitchFamily="18" charset="0"/>
                          </a:rPr>
                          <m:t>𝛿</m:t>
                        </m:r>
                      </m:e>
                      <m:sub>
                        <m:r>
                          <a:rPr lang="en-AU" altLang="zh-CN" sz="2400" b="0" i="1" smtClean="0">
                            <a:latin typeface="Cambria Math" panose="02040503050406030204" pitchFamily="18" charset="0"/>
                            <a:ea typeface="Cambria Math" panose="02040503050406030204" pitchFamily="18" charset="0"/>
                          </a:rPr>
                          <m:t>𝐷</m:t>
                        </m:r>
                      </m:sub>
                    </m:sSub>
                    <m:d>
                      <m:dPr>
                        <m:ctrlPr>
                          <a:rPr lang="en-AU" altLang="zh-CN" sz="2400" b="0" i="1" smtClean="0">
                            <a:latin typeface="Cambria Math" panose="02040503050406030204" pitchFamily="18" charset="0"/>
                            <a:ea typeface="Cambria Math" panose="02040503050406030204" pitchFamily="18" charset="0"/>
                          </a:rPr>
                        </m:ctrlPr>
                      </m:dPr>
                      <m:e>
                        <m:r>
                          <a:rPr lang="en-AU" altLang="zh-CN" sz="2400" b="0" i="1" smtClean="0">
                            <a:latin typeface="Cambria Math" panose="02040503050406030204" pitchFamily="18" charset="0"/>
                            <a:ea typeface="Cambria Math" panose="02040503050406030204" pitchFamily="18" charset="0"/>
                          </a:rPr>
                          <m:t>𝑆</m:t>
                        </m:r>
                        <m:r>
                          <a:rPr lang="en-AU" altLang="zh-CN" sz="2400" b="0" i="1" smtClean="0">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𝑎</m:t>
                        </m:r>
                      </m:e>
                    </m:d>
                    <m:r>
                      <a:rPr lang="en-AU" altLang="zh-CN" sz="2400" b="0" i="1" smtClean="0">
                        <a:latin typeface="Cambria Math" panose="02040503050406030204" pitchFamily="18" charset="0"/>
                        <a:ea typeface="Cambria Math" panose="02040503050406030204" pitchFamily="18" charset="0"/>
                      </a:rPr>
                      <m:t>=</m:t>
                    </m:r>
                    <m:nary>
                      <m:naryPr>
                        <m:chr m:val="⋃"/>
                        <m:limLoc m:val="subSup"/>
                        <m:supHide m:val="on"/>
                        <m:ctrlPr>
                          <a:rPr lang="en-AU" altLang="zh-CN" sz="2400" b="0" i="1" smtClean="0">
                            <a:latin typeface="Cambria Math" panose="02040503050406030204" pitchFamily="18" charset="0"/>
                            <a:ea typeface="Cambria Math" panose="02040503050406030204" pitchFamily="18" charset="0"/>
                          </a:rPr>
                        </m:ctrlPr>
                      </m:naryPr>
                      <m:sub>
                        <m:r>
                          <m:rPr>
                            <m:brk m:alnAt="9"/>
                          </m:rPr>
                          <a:rPr lang="en-AU" altLang="zh-CN" sz="2400" b="0" i="1" smtClean="0">
                            <a:latin typeface="Cambria Math" panose="02040503050406030204" pitchFamily="18" charset="0"/>
                            <a:ea typeface="Cambria Math" panose="02040503050406030204" pitchFamily="18" charset="0"/>
                          </a:rPr>
                          <m:t>𝑝</m:t>
                        </m:r>
                        <m:r>
                          <a:rPr lang="en-AU" altLang="zh-CN" sz="2400" b="0" i="1" smtClean="0">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𝑆</m:t>
                        </m:r>
                      </m:sub>
                      <m:sup/>
                      <m:e>
                        <m:sSub>
                          <m:sSubPr>
                            <m:ctrlPr>
                              <a:rPr lang="en-AU" altLang="zh-CN" sz="2400" b="0" i="1" smtClean="0">
                                <a:latin typeface="Cambria Math" panose="02040503050406030204" pitchFamily="18" charset="0"/>
                                <a:ea typeface="Cambria Math" panose="02040503050406030204" pitchFamily="18" charset="0"/>
                              </a:rPr>
                            </m:ctrlPr>
                          </m:sSubPr>
                          <m:e>
                            <m:r>
                              <a:rPr lang="zh-CN" altLang="en-AU" sz="2400" b="0" i="1" smtClean="0">
                                <a:latin typeface="Cambria Math" panose="02040503050406030204" pitchFamily="18" charset="0"/>
                                <a:ea typeface="Cambria Math" panose="02040503050406030204" pitchFamily="18" charset="0"/>
                              </a:rPr>
                              <m:t>𝛿</m:t>
                            </m:r>
                          </m:e>
                          <m:sub>
                            <m:r>
                              <a:rPr lang="en-AU" altLang="zh-CN" sz="2400" b="0" i="1" smtClean="0">
                                <a:latin typeface="Cambria Math" panose="02040503050406030204" pitchFamily="18" charset="0"/>
                                <a:ea typeface="Cambria Math" panose="02040503050406030204" pitchFamily="18" charset="0"/>
                              </a:rPr>
                              <m:t>𝑁</m:t>
                            </m:r>
                          </m:sub>
                        </m:sSub>
                        <m:r>
                          <a:rPr lang="en-AU" altLang="zh-CN" sz="2400" b="0" i="1" smtClean="0">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𝑝</m:t>
                        </m:r>
                        <m:r>
                          <a:rPr lang="en-AU" altLang="zh-CN" sz="2400" b="0" i="1" smtClean="0">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𝑎</m:t>
                        </m:r>
                        <m:r>
                          <a:rPr lang="en-AU" altLang="zh-CN" sz="2400" b="0" i="1" smtClean="0">
                            <a:latin typeface="Cambria Math" panose="02040503050406030204" pitchFamily="18" charset="0"/>
                            <a:ea typeface="Cambria Math" panose="02040503050406030204" pitchFamily="18" charset="0"/>
                          </a:rPr>
                          <m:t>)</m:t>
                        </m:r>
                      </m:e>
                    </m:nary>
                  </m:oMath>
                </a14:m>
                <a:r>
                  <a:rPr lang="zh-CN" altLang="en-US" sz="2400" dirty="0"/>
                  <a:t>。</a:t>
                </a:r>
                <a:endParaRPr lang="en-AU" altLang="zh-CN" sz="2400" dirty="0"/>
              </a:p>
              <a:p>
                <a:pPr marL="457200" lvl="1" indent="0">
                  <a:buNone/>
                </a:pPr>
                <a:endParaRPr lang="en-AU" altLang="zh-CN" dirty="0"/>
              </a:p>
              <a:p>
                <a:pPr marL="342900" lvl="1" indent="0">
                  <a:buNone/>
                </a:pPr>
                <a:r>
                  <a:rPr lang="zh-CN" altLang="en-US" sz="2400" dirty="0"/>
                  <a:t>例如，假设</a:t>
                </a:r>
                <a:r>
                  <a:rPr lang="en-US" altLang="zh-CN" sz="2400" dirty="0">
                    <a:latin typeface="Times New Roman" panose="02020603050405020304" pitchFamily="18" charset="0"/>
                    <a:cs typeface="Times New Roman" panose="02020603050405020304" pitchFamily="18" charset="0"/>
                  </a:rPr>
                  <a:t>DFA</a:t>
                </a:r>
                <a:r>
                  <a:rPr lang="zh-CN" altLang="en-US" sz="2400" dirty="0"/>
                  <a:t>的某个状态为</a:t>
                </a:r>
                <a:r>
                  <a:rPr lang="en-AU" altLang="zh-CN" sz="2400" dirty="0"/>
                  <a:t>{</a:t>
                </a:r>
                <a14:m>
                  <m:oMath xmlns:m="http://schemas.openxmlformats.org/officeDocument/2006/math">
                    <m:sSub>
                      <m:sSubPr>
                        <m:ctrlPr>
                          <a:rPr lang="en-AU" altLang="zh-CN" sz="2400" i="1" smtClean="0">
                            <a:latin typeface="Cambria Math" panose="02040503050406030204" pitchFamily="18" charset="0"/>
                          </a:rPr>
                        </m:ctrlPr>
                      </m:sSubPr>
                      <m:e>
                        <m:r>
                          <a:rPr lang="en-AU" altLang="zh-CN" sz="2400" b="0" i="1" smtClean="0">
                            <a:latin typeface="Cambria Math" panose="02040503050406030204" pitchFamily="18" charset="0"/>
                          </a:rPr>
                          <m:t>𝑞</m:t>
                        </m:r>
                      </m:e>
                      <m:sub>
                        <m:r>
                          <a:rPr lang="en-AU" altLang="zh-CN" sz="2400" b="0" i="1" smtClean="0">
                            <a:latin typeface="Cambria Math" panose="02040503050406030204" pitchFamily="18" charset="0"/>
                          </a:rPr>
                          <m:t>1</m:t>
                        </m:r>
                      </m:sub>
                    </m:sSub>
                  </m:oMath>
                </a14:m>
                <a:r>
                  <a:rPr lang="en-AU" altLang="zh-CN" sz="2400" dirty="0"/>
                  <a:t>,</a:t>
                </a:r>
                <a14:m>
                  <m:oMath xmlns:m="http://schemas.openxmlformats.org/officeDocument/2006/math">
                    <m:sSub>
                      <m:sSubPr>
                        <m:ctrlPr>
                          <a:rPr lang="en-AU" altLang="zh-CN" sz="2400" i="1">
                            <a:latin typeface="Cambria Math" panose="02040503050406030204" pitchFamily="18" charset="0"/>
                          </a:rPr>
                        </m:ctrlPr>
                      </m:sSubPr>
                      <m:e>
                        <m:r>
                          <a:rPr lang="en-AU" altLang="zh-CN" sz="2400" i="1">
                            <a:latin typeface="Cambria Math" panose="02040503050406030204" pitchFamily="18" charset="0"/>
                          </a:rPr>
                          <m:t>𝑞</m:t>
                        </m:r>
                      </m:e>
                      <m:sub>
                        <m:r>
                          <a:rPr lang="en-AU" altLang="zh-CN" sz="2400" b="0" i="1" smtClean="0">
                            <a:latin typeface="Cambria Math" panose="02040503050406030204" pitchFamily="18" charset="0"/>
                          </a:rPr>
                          <m:t>2</m:t>
                        </m:r>
                      </m:sub>
                    </m:sSub>
                  </m:oMath>
                </a14:m>
                <a:r>
                  <a:rPr lang="en-AU" altLang="zh-CN" sz="2400" dirty="0"/>
                  <a:t>, </a:t>
                </a:r>
                <a14:m>
                  <m:oMath xmlns:m="http://schemas.openxmlformats.org/officeDocument/2006/math">
                    <m:sSub>
                      <m:sSubPr>
                        <m:ctrlPr>
                          <a:rPr lang="en-AU" altLang="zh-CN" sz="2400" i="1">
                            <a:latin typeface="Cambria Math" panose="02040503050406030204" pitchFamily="18" charset="0"/>
                          </a:rPr>
                        </m:ctrlPr>
                      </m:sSubPr>
                      <m:e>
                        <m:r>
                          <a:rPr lang="en-AU" altLang="zh-CN" sz="2400" i="1">
                            <a:latin typeface="Cambria Math" panose="02040503050406030204" pitchFamily="18" charset="0"/>
                          </a:rPr>
                          <m:t>𝑞</m:t>
                        </m:r>
                      </m:e>
                      <m:sub>
                        <m:r>
                          <a:rPr lang="en-AU" altLang="zh-CN" sz="2400" b="0" i="1" smtClean="0">
                            <a:latin typeface="Cambria Math" panose="02040503050406030204" pitchFamily="18" charset="0"/>
                          </a:rPr>
                          <m:t>3</m:t>
                        </m:r>
                      </m:sub>
                    </m:sSub>
                  </m:oMath>
                </a14:m>
                <a:r>
                  <a:rPr lang="en-AU" altLang="zh-CN" sz="2400" dirty="0"/>
                  <a:t>}</a:t>
                </a:r>
                <a:r>
                  <a:rPr lang="zh-CN" altLang="en-US" sz="2400" dirty="0"/>
                  <a:t>，输入符号</a:t>
                </a:r>
                <a14:m>
                  <m:oMath xmlns:m="http://schemas.openxmlformats.org/officeDocument/2006/math">
                    <m:r>
                      <a:rPr lang="en-AU" altLang="zh-CN" sz="2400" b="0" i="1" smtClean="0">
                        <a:latin typeface="Cambria Math" panose="02040503050406030204" pitchFamily="18" charset="0"/>
                      </a:rPr>
                      <m:t>𝑎</m:t>
                    </m:r>
                  </m:oMath>
                </a14:m>
                <a:r>
                  <a:rPr lang="en-AU" altLang="zh-CN" sz="2400" dirty="0"/>
                  <a:t>,</a:t>
                </a:r>
                <a:r>
                  <a:rPr lang="zh-CN" altLang="en-US" sz="2400" dirty="0"/>
                  <a:t>那么</a:t>
                </a:r>
                <a14:m>
                  <m:oMath xmlns:m="http://schemas.openxmlformats.org/officeDocument/2006/math">
                    <m:sSub>
                      <m:sSubPr>
                        <m:ctrlPr>
                          <a:rPr lang="en-AU" altLang="zh-CN" sz="2400" i="1">
                            <a:latin typeface="Cambria Math" panose="02040503050406030204" pitchFamily="18" charset="0"/>
                            <a:ea typeface="Cambria Math" panose="02040503050406030204" pitchFamily="18" charset="0"/>
                          </a:rPr>
                        </m:ctrlPr>
                      </m:sSubPr>
                      <m:e>
                        <m:r>
                          <a:rPr lang="zh-CN" altLang="en-AU" sz="2400" i="1">
                            <a:latin typeface="Cambria Math" panose="02040503050406030204" pitchFamily="18" charset="0"/>
                            <a:ea typeface="Cambria Math" panose="02040503050406030204" pitchFamily="18" charset="0"/>
                          </a:rPr>
                          <m:t>𝛿</m:t>
                        </m:r>
                      </m:e>
                      <m:sub>
                        <m:r>
                          <a:rPr lang="en-AU" altLang="zh-CN" sz="2400" i="1">
                            <a:latin typeface="Cambria Math" panose="02040503050406030204" pitchFamily="18" charset="0"/>
                            <a:ea typeface="Cambria Math" panose="02040503050406030204" pitchFamily="18" charset="0"/>
                          </a:rPr>
                          <m:t>𝐷</m:t>
                        </m:r>
                      </m:sub>
                    </m:sSub>
                    <m:d>
                      <m:dPr>
                        <m:ctrlPr>
                          <a:rPr lang="en-AU" altLang="zh-CN" sz="2400" b="0" i="1" smtClean="0">
                            <a:latin typeface="Cambria Math" panose="02040503050406030204" pitchFamily="18" charset="0"/>
                            <a:ea typeface="Cambria Math" panose="02040503050406030204" pitchFamily="18" charset="0"/>
                          </a:rPr>
                        </m:ctrlPr>
                      </m:dPr>
                      <m:e>
                        <m:r>
                          <m:rPr>
                            <m:nor/>
                          </m:rPr>
                          <a:rPr lang="en-AU" altLang="zh-CN" sz="2400" dirty="0">
                            <a:latin typeface="Cambria Math" panose="02040503050406030204" pitchFamily="18" charset="0"/>
                          </a:rPr>
                          <m:t>{</m:t>
                        </m:r>
                        <m:sSub>
                          <m:sSubPr>
                            <m:ctrlPr>
                              <a:rPr lang="en-AU" altLang="zh-CN" sz="2400" i="1">
                                <a:latin typeface="Cambria Math" panose="02040503050406030204" pitchFamily="18" charset="0"/>
                              </a:rPr>
                            </m:ctrlPr>
                          </m:sSubPr>
                          <m:e>
                            <m:r>
                              <a:rPr lang="en-AU" altLang="zh-CN" sz="2400" i="1">
                                <a:latin typeface="Cambria Math" panose="02040503050406030204" pitchFamily="18" charset="0"/>
                              </a:rPr>
                              <m:t>𝑞</m:t>
                            </m:r>
                          </m:e>
                          <m:sub>
                            <m:r>
                              <a:rPr lang="en-AU" altLang="zh-CN" sz="2400" i="1">
                                <a:latin typeface="Cambria Math" panose="02040503050406030204" pitchFamily="18" charset="0"/>
                              </a:rPr>
                              <m:t>1</m:t>
                            </m:r>
                          </m:sub>
                        </m:sSub>
                        <m:r>
                          <m:rPr>
                            <m:nor/>
                          </m:rPr>
                          <a:rPr lang="en-AU" altLang="zh-CN" sz="2400" dirty="0">
                            <a:latin typeface="Cambria Math" panose="02040503050406030204" pitchFamily="18" charset="0"/>
                          </a:rPr>
                          <m:t>,</m:t>
                        </m:r>
                        <m:sSub>
                          <m:sSubPr>
                            <m:ctrlPr>
                              <a:rPr lang="en-AU" altLang="zh-CN" sz="2400" i="1">
                                <a:latin typeface="Cambria Math" panose="02040503050406030204" pitchFamily="18" charset="0"/>
                              </a:rPr>
                            </m:ctrlPr>
                          </m:sSubPr>
                          <m:e>
                            <m:r>
                              <a:rPr lang="en-AU" altLang="zh-CN" sz="2400" i="1">
                                <a:latin typeface="Cambria Math" panose="02040503050406030204" pitchFamily="18" charset="0"/>
                              </a:rPr>
                              <m:t>𝑞</m:t>
                            </m:r>
                          </m:e>
                          <m:sub>
                            <m:r>
                              <a:rPr lang="en-AU" altLang="zh-CN" sz="2400" i="1">
                                <a:latin typeface="Cambria Math" panose="02040503050406030204" pitchFamily="18" charset="0"/>
                              </a:rPr>
                              <m:t>2</m:t>
                            </m:r>
                          </m:sub>
                        </m:sSub>
                        <m:r>
                          <m:rPr>
                            <m:nor/>
                          </m:rPr>
                          <a:rPr lang="en-AU" altLang="zh-CN" sz="2400" dirty="0">
                            <a:latin typeface="Cambria Math" panose="02040503050406030204" pitchFamily="18" charset="0"/>
                          </a:rPr>
                          <m:t>, </m:t>
                        </m:r>
                        <m:sSub>
                          <m:sSubPr>
                            <m:ctrlPr>
                              <a:rPr lang="en-AU" altLang="zh-CN" sz="2400" i="1">
                                <a:latin typeface="Cambria Math" panose="02040503050406030204" pitchFamily="18" charset="0"/>
                              </a:rPr>
                            </m:ctrlPr>
                          </m:sSubPr>
                          <m:e>
                            <m:r>
                              <a:rPr lang="en-AU" altLang="zh-CN" sz="2400" i="1">
                                <a:latin typeface="Cambria Math" panose="02040503050406030204" pitchFamily="18" charset="0"/>
                              </a:rPr>
                              <m:t>𝑞</m:t>
                            </m:r>
                          </m:e>
                          <m:sub>
                            <m:r>
                              <a:rPr lang="en-AU" altLang="zh-CN" sz="2400" i="1">
                                <a:latin typeface="Cambria Math" panose="02040503050406030204" pitchFamily="18" charset="0"/>
                              </a:rPr>
                              <m:t>3</m:t>
                            </m:r>
                          </m:sub>
                        </m:sSub>
                        <m:r>
                          <m:rPr>
                            <m:nor/>
                          </m:rPr>
                          <a:rPr lang="en-AU" altLang="zh-CN" sz="2400" dirty="0">
                            <a:latin typeface="Cambria Math" panose="02040503050406030204" pitchFamily="18" charset="0"/>
                          </a:rPr>
                          <m:t>}</m:t>
                        </m:r>
                        <m:r>
                          <a:rPr lang="en-AU" altLang="zh-CN" sz="2400" b="0" i="0" dirty="0" smtClean="0">
                            <a:latin typeface="Cambria Math" panose="02040503050406030204" pitchFamily="18" charset="0"/>
                          </a:rPr>
                          <m:t>,</m:t>
                        </m:r>
                        <m:r>
                          <m:rPr>
                            <m:sty m:val="p"/>
                          </m:rPr>
                          <a:rPr lang="en-AU" altLang="zh-CN" sz="2400" b="0" i="0" dirty="0" smtClean="0">
                            <a:latin typeface="Cambria Math" panose="02040503050406030204" pitchFamily="18" charset="0"/>
                          </a:rPr>
                          <m:t>a</m:t>
                        </m:r>
                      </m:e>
                    </m:d>
                  </m:oMath>
                </a14:m>
                <a:r>
                  <a:rPr lang="zh-CN" altLang="en-US" sz="2400" dirty="0"/>
                  <a:t>是</a:t>
                </a:r>
                <a14:m>
                  <m:oMath xmlns:m="http://schemas.openxmlformats.org/officeDocument/2006/math">
                    <m:sSub>
                      <m:sSubPr>
                        <m:ctrlPr>
                          <a:rPr lang="en-AU" altLang="zh-CN" sz="2400" i="1">
                            <a:latin typeface="Cambria Math" panose="02040503050406030204" pitchFamily="18" charset="0"/>
                            <a:ea typeface="Cambria Math" panose="02040503050406030204" pitchFamily="18" charset="0"/>
                          </a:rPr>
                        </m:ctrlPr>
                      </m:sSubPr>
                      <m:e>
                        <m:r>
                          <a:rPr lang="zh-CN" altLang="en-AU" sz="2400" i="1">
                            <a:latin typeface="Cambria Math" panose="02040503050406030204" pitchFamily="18" charset="0"/>
                            <a:ea typeface="Cambria Math" panose="02040503050406030204" pitchFamily="18" charset="0"/>
                          </a:rPr>
                          <m:t>𝛿</m:t>
                        </m:r>
                      </m:e>
                      <m:sub>
                        <m:r>
                          <a:rPr lang="en-AU" altLang="zh-CN" sz="2400" i="1">
                            <a:latin typeface="Cambria Math" panose="02040503050406030204" pitchFamily="18" charset="0"/>
                            <a:ea typeface="Cambria Math" panose="02040503050406030204" pitchFamily="18" charset="0"/>
                          </a:rPr>
                          <m:t>𝑁</m:t>
                        </m:r>
                      </m:sub>
                    </m:sSub>
                    <m:r>
                      <a:rPr lang="en-AU" altLang="zh-CN" sz="2400" i="1">
                        <a:latin typeface="Cambria Math" panose="02040503050406030204" pitchFamily="18" charset="0"/>
                        <a:ea typeface="Cambria Math" panose="02040503050406030204" pitchFamily="18" charset="0"/>
                      </a:rPr>
                      <m:t>(</m:t>
                    </m:r>
                    <m:sSub>
                      <m:sSubPr>
                        <m:ctrlPr>
                          <a:rPr lang="en-AU" altLang="zh-CN" sz="2400" i="1">
                            <a:latin typeface="Cambria Math" panose="02040503050406030204" pitchFamily="18" charset="0"/>
                          </a:rPr>
                        </m:ctrlPr>
                      </m:sSubPr>
                      <m:e>
                        <m:r>
                          <a:rPr lang="en-AU" altLang="zh-CN" sz="2400" i="1">
                            <a:latin typeface="Cambria Math" panose="02040503050406030204" pitchFamily="18" charset="0"/>
                          </a:rPr>
                          <m:t>𝑞</m:t>
                        </m:r>
                      </m:e>
                      <m:sub>
                        <m:r>
                          <a:rPr lang="en-AU" altLang="zh-CN" sz="2400" i="1">
                            <a:latin typeface="Cambria Math" panose="02040503050406030204" pitchFamily="18" charset="0"/>
                          </a:rPr>
                          <m:t>𝑖</m:t>
                        </m:r>
                      </m:sub>
                    </m:sSub>
                    <m:r>
                      <a:rPr lang="en-AU" altLang="zh-CN" sz="2400" i="1">
                        <a:latin typeface="Cambria Math" panose="02040503050406030204" pitchFamily="18" charset="0"/>
                        <a:ea typeface="Cambria Math" panose="02040503050406030204" pitchFamily="18" charset="0"/>
                      </a:rPr>
                      <m:t>,</m:t>
                    </m:r>
                    <m:r>
                      <a:rPr lang="en-AU" altLang="zh-CN" sz="2400" i="1">
                        <a:latin typeface="Cambria Math" panose="02040503050406030204" pitchFamily="18" charset="0"/>
                        <a:ea typeface="Cambria Math" panose="02040503050406030204" pitchFamily="18" charset="0"/>
                      </a:rPr>
                      <m:t>𝑎</m:t>
                    </m:r>
                    <m:r>
                      <a:rPr lang="en-AU" altLang="zh-CN" sz="2400" i="1">
                        <a:latin typeface="Cambria Math" panose="02040503050406030204" pitchFamily="18" charset="0"/>
                        <a:ea typeface="Cambria Math" panose="02040503050406030204" pitchFamily="18" charset="0"/>
                      </a:rPr>
                      <m:t>)</m:t>
                    </m:r>
                  </m:oMath>
                </a14:m>
                <a:r>
                  <a:rPr lang="zh-CN" altLang="en-US" sz="2400" dirty="0"/>
                  <a:t>的并集</a:t>
                </a:r>
                <a:r>
                  <a:rPr lang="en-AU" altLang="zh-CN" sz="2400" dirty="0"/>
                  <a:t>(</a:t>
                </a:r>
                <a14:m>
                  <m:oMath xmlns:m="http://schemas.openxmlformats.org/officeDocument/2006/math">
                    <m:r>
                      <a:rPr lang="en-AU" altLang="zh-CN" sz="2400" i="1" dirty="0">
                        <a:latin typeface="Cambria Math" panose="02040503050406030204" pitchFamily="18" charset="0"/>
                      </a:rPr>
                      <m:t>𝑖</m:t>
                    </m:r>
                    <m:r>
                      <a:rPr lang="en-AU" altLang="zh-CN" sz="2400" i="1" dirty="0">
                        <a:latin typeface="Cambria Math" panose="02040503050406030204" pitchFamily="18" charset="0"/>
                      </a:rPr>
                      <m:t>=1,2,3</m:t>
                    </m:r>
                    <m:r>
                      <a:rPr lang="en-AU" altLang="zh-CN" sz="2400" b="0" i="0" dirty="0" smtClean="0">
                        <a:latin typeface="Cambria Math" panose="02040503050406030204" pitchFamily="18" charset="0"/>
                      </a:rPr>
                      <m:t>)</m:t>
                    </m:r>
                  </m:oMath>
                </a14:m>
                <a:r>
                  <a:rPr lang="zh-CN" altLang="en-US" sz="2400" dirty="0"/>
                  <a:t>。</a:t>
                </a:r>
                <a:endParaRPr lang="en-AU" altLang="zh-CN" sz="2400" dirty="0"/>
              </a:p>
              <a:p>
                <a:pPr marL="342900" lvl="1" indent="0">
                  <a:buNone/>
                </a:pPr>
                <a:r>
                  <a:rPr lang="zh-CN" altLang="en-US" sz="2400" dirty="0"/>
                  <a:t>（注意，这里</a:t>
                </a:r>
                <a:r>
                  <a:rPr lang="en-AU" altLang="zh-CN" sz="2400" dirty="0"/>
                  <a:t>{</a:t>
                </a:r>
                <a14:m>
                  <m:oMath xmlns:m="http://schemas.openxmlformats.org/officeDocument/2006/math">
                    <m:sSub>
                      <m:sSubPr>
                        <m:ctrlPr>
                          <a:rPr lang="en-AU" altLang="zh-CN" sz="2400" i="1">
                            <a:latin typeface="Cambria Math" panose="02040503050406030204" pitchFamily="18" charset="0"/>
                          </a:rPr>
                        </m:ctrlPr>
                      </m:sSubPr>
                      <m:e>
                        <m:r>
                          <a:rPr lang="en-AU" altLang="zh-CN" sz="2400" i="1">
                            <a:latin typeface="Cambria Math" panose="02040503050406030204" pitchFamily="18" charset="0"/>
                          </a:rPr>
                          <m:t>𝑞</m:t>
                        </m:r>
                      </m:e>
                      <m:sub>
                        <m:r>
                          <a:rPr lang="en-AU" altLang="zh-CN" sz="2400" i="1">
                            <a:latin typeface="Cambria Math" panose="02040503050406030204" pitchFamily="18" charset="0"/>
                          </a:rPr>
                          <m:t>1</m:t>
                        </m:r>
                      </m:sub>
                    </m:sSub>
                  </m:oMath>
                </a14:m>
                <a:r>
                  <a:rPr lang="en-AU" altLang="zh-CN" sz="2400" dirty="0"/>
                  <a:t>,</a:t>
                </a:r>
                <a14:m>
                  <m:oMath xmlns:m="http://schemas.openxmlformats.org/officeDocument/2006/math">
                    <m:sSub>
                      <m:sSubPr>
                        <m:ctrlPr>
                          <a:rPr lang="en-AU" altLang="zh-CN" sz="2400" i="1">
                            <a:latin typeface="Cambria Math" panose="02040503050406030204" pitchFamily="18" charset="0"/>
                          </a:rPr>
                        </m:ctrlPr>
                      </m:sSubPr>
                      <m:e>
                        <m:r>
                          <a:rPr lang="en-AU" altLang="zh-CN" sz="2400" i="1">
                            <a:latin typeface="Cambria Math" panose="02040503050406030204" pitchFamily="18" charset="0"/>
                          </a:rPr>
                          <m:t>𝑞</m:t>
                        </m:r>
                      </m:e>
                      <m:sub>
                        <m:r>
                          <a:rPr lang="en-AU" altLang="zh-CN" sz="2400" i="1">
                            <a:latin typeface="Cambria Math" panose="02040503050406030204" pitchFamily="18" charset="0"/>
                          </a:rPr>
                          <m:t>2</m:t>
                        </m:r>
                      </m:sub>
                    </m:sSub>
                  </m:oMath>
                </a14:m>
                <a:r>
                  <a:rPr lang="en-AU" altLang="zh-CN" sz="2400" dirty="0"/>
                  <a:t>,</a:t>
                </a:r>
                <a14:m>
                  <m:oMath xmlns:m="http://schemas.openxmlformats.org/officeDocument/2006/math">
                    <m:sSub>
                      <m:sSubPr>
                        <m:ctrlPr>
                          <a:rPr lang="en-AU" altLang="zh-CN" sz="2400" i="1">
                            <a:latin typeface="Cambria Math" panose="02040503050406030204" pitchFamily="18" charset="0"/>
                          </a:rPr>
                        </m:ctrlPr>
                      </m:sSubPr>
                      <m:e>
                        <m:r>
                          <a:rPr lang="en-AU" altLang="zh-CN" sz="2400" i="1">
                            <a:latin typeface="Cambria Math" panose="02040503050406030204" pitchFamily="18" charset="0"/>
                          </a:rPr>
                          <m:t>𝑞</m:t>
                        </m:r>
                      </m:e>
                      <m:sub>
                        <m:r>
                          <a:rPr lang="en-AU" altLang="zh-CN" sz="2400" i="1">
                            <a:latin typeface="Cambria Math" panose="02040503050406030204" pitchFamily="18" charset="0"/>
                          </a:rPr>
                          <m:t>3</m:t>
                        </m:r>
                      </m:sub>
                    </m:sSub>
                  </m:oMath>
                </a14:m>
                <a:r>
                  <a:rPr lang="en-AU" altLang="zh-CN" sz="2400" dirty="0"/>
                  <a:t>}</a:t>
                </a:r>
                <a:r>
                  <a:rPr lang="zh-CN" altLang="en-US" sz="2400" dirty="0"/>
                  <a:t>表示</a:t>
                </a:r>
                <a:r>
                  <a:rPr lang="en-AU" altLang="zh-CN" sz="2400" dirty="0">
                    <a:latin typeface="Times New Roman" panose="02020603050405020304" pitchFamily="18" charset="0"/>
                    <a:cs typeface="Times New Roman" panose="02020603050405020304" pitchFamily="18" charset="0"/>
                  </a:rPr>
                  <a:t>DFA</a:t>
                </a:r>
                <a:r>
                  <a:rPr lang="zh-CN" altLang="en-US" sz="2400" dirty="0"/>
                  <a:t>的一个状态，是状态名，而不是看作一个集合）</a:t>
                </a:r>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228600" y="838200"/>
                <a:ext cx="8229600" cy="6515100"/>
              </a:xfrm>
              <a:blipFill rotWithShape="1">
                <a:blip r:embed="rId3"/>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t>16</a:t>
            </a:fld>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229600" cy="393065"/>
          </a:xfrm>
        </p:spPr>
        <p:txBody>
          <a:bodyPr/>
          <a:lstStyle/>
          <a:p>
            <a:pPr algn="r"/>
            <a:r>
              <a:rPr lang="en-US" altLang="zh-CN" sz="3600" dirty="0">
                <a:solidFill>
                  <a:schemeClr val="bg1"/>
                </a:solidFill>
                <a:latin typeface="Times New Roman" panose="02020603050405020304" pitchFamily="18" charset="0"/>
                <a:cs typeface="Times New Roman" panose="02020603050405020304" pitchFamily="18" charset="0"/>
              </a:rPr>
              <a:t>DFA</a:t>
            </a:r>
            <a:r>
              <a:rPr lang="zh-CN" altLang="en-US" sz="3600" dirty="0">
                <a:solidFill>
                  <a:schemeClr val="bg1"/>
                </a:solidFill>
                <a:latin typeface="Times New Roman" panose="02020603050405020304" pitchFamily="18" charset="0"/>
                <a:cs typeface="Times New Roman" panose="02020603050405020304" pitchFamily="18" charset="0"/>
              </a:rPr>
              <a:t>到正则表达式</a:t>
            </a:r>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t>17</a:t>
            </a:fld>
            <a:endParaRPr lang="en-US" altLang="zh-CN"/>
          </a:p>
        </p:txBody>
      </p:sp>
      <p:sp>
        <p:nvSpPr>
          <p:cNvPr id="6" name="Content Placeholder 2"/>
          <p:cNvSpPr>
            <a:spLocks noGrp="1"/>
          </p:cNvSpPr>
          <p:nvPr>
            <p:ph idx="1"/>
          </p:nvPr>
        </p:nvSpPr>
        <p:spPr>
          <a:xfrm>
            <a:off x="228600" y="838200"/>
            <a:ext cx="8229600" cy="6515100"/>
          </a:xfrm>
        </p:spPr>
        <p:txBody>
          <a:bodyPr>
            <a:normAutofit/>
          </a:bodyPr>
          <a:lstStyle/>
          <a:p>
            <a:r>
              <a:rPr lang="zh-CN" altLang="en-US" sz="2400" dirty="0">
                <a:solidFill>
                  <a:srgbClr val="C00000"/>
                </a:solidFill>
                <a:latin typeface="Times New Roman" panose="02020603050405020304" pitchFamily="18" charset="0"/>
                <a:cs typeface="Times New Roman" panose="02020603050405020304" pitchFamily="18" charset="0"/>
              </a:rPr>
              <a:t>递归法</a:t>
            </a:r>
            <a:endParaRPr lang="en-AU" altLang="zh-CN" sz="2400" dirty="0">
              <a:solidFill>
                <a:srgbClr val="C00000"/>
              </a:solidFill>
            </a:endParaRPr>
          </a:p>
          <a:p>
            <a:r>
              <a:rPr lang="zh-CN" altLang="en-US" sz="2400" dirty="0"/>
              <a:t>状态消除法</a:t>
            </a:r>
            <a:endParaRPr lang="en-AU" altLang="zh-CN" sz="2400" dirty="0"/>
          </a:p>
          <a:p>
            <a:pPr marL="457200" lvl="1" indent="0">
              <a:buNone/>
            </a:pPr>
            <a:endParaRPr lang="zh-CN" alt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85273" y="1006354"/>
                <a:ext cx="8229600" cy="4525963"/>
              </a:xfrm>
            </p:spPr>
            <p:txBody>
              <a:bodyPr>
                <a:noAutofit/>
              </a:bodyPr>
              <a:lstStyle/>
              <a:p>
                <a:pPr>
                  <a:lnSpc>
                    <a:spcPct val="125000"/>
                  </a:lnSpc>
                </a:pPr>
                <a:r>
                  <a:rPr lang="zh-CN" altLang="en-US" sz="2800" b="1" dirty="0"/>
                  <a:t>对</a:t>
                </a:r>
                <a14:m>
                  <m:oMath xmlns:m="http://schemas.openxmlformats.org/officeDocument/2006/math">
                    <m:r>
                      <a:rPr lang="en-US" altLang="zh-CN" sz="2800" i="1" dirty="0" smtClean="0">
                        <a:latin typeface="Cambria Math" panose="02040503050406030204" pitchFamily="18" charset="0"/>
                      </a:rPr>
                      <m:t>𝐴</m:t>
                    </m:r>
                  </m:oMath>
                </a14:m>
                <a:r>
                  <a:rPr lang="zh-CN" altLang="en-US" sz="2800" b="1" dirty="0"/>
                  <a:t>的状态进行编号，令</a:t>
                </a:r>
                <a:r>
                  <a:rPr lang="en-US" altLang="zh-CN" sz="2800" b="1" dirty="0"/>
                  <a:t>1</a:t>
                </a:r>
                <a:r>
                  <a:rPr lang="zh-CN" altLang="en-US" sz="2800" b="1" dirty="0"/>
                  <a:t>为开始状态，即</a:t>
                </a:r>
                <a:endParaRPr lang="en-AU" altLang="zh-CN" sz="2800" b="1" dirty="0"/>
              </a:p>
              <a:p>
                <a:pPr marL="0" indent="0">
                  <a:lnSpc>
                    <a:spcPct val="125000"/>
                  </a:lnSpc>
                  <a:buNone/>
                </a:pPr>
                <a14:m>
                  <m:oMathPara xmlns:m="http://schemas.openxmlformats.org/officeDocument/2006/math">
                    <m:oMathParaPr>
                      <m:jc m:val="centerGroup"/>
                    </m:oMathParaPr>
                    <m:oMath xmlns:m="http://schemas.openxmlformats.org/officeDocument/2006/math">
                      <m:r>
                        <a:rPr lang="en-AU" altLang="zh-CN" sz="2800" b="0" i="1" dirty="0" smtClean="0">
                          <a:latin typeface="Cambria Math" panose="02040503050406030204" pitchFamily="18" charset="0"/>
                        </a:rPr>
                        <m:t>𝐴</m:t>
                      </m:r>
                      <m:r>
                        <a:rPr lang="en-AU" altLang="zh-CN" sz="2800" b="0" i="1" dirty="0" smtClean="0">
                          <a:latin typeface="Cambria Math" panose="02040503050406030204" pitchFamily="18" charset="0"/>
                        </a:rPr>
                        <m:t>=</m:t>
                      </m:r>
                      <m:d>
                        <m:dPr>
                          <m:ctrlPr>
                            <a:rPr lang="en-AU" altLang="zh-CN" sz="2800" b="0" i="1" dirty="0" smtClean="0">
                              <a:latin typeface="Cambria Math" panose="02040503050406030204" pitchFamily="18" charset="0"/>
                            </a:rPr>
                          </m:ctrlPr>
                        </m:dPr>
                        <m:e>
                          <m:d>
                            <m:dPr>
                              <m:begChr m:val="{"/>
                              <m:endChr m:val="}"/>
                              <m:ctrlPr>
                                <a:rPr lang="en-AU" altLang="zh-CN" sz="2800" b="0" i="1" dirty="0" smtClean="0">
                                  <a:latin typeface="Cambria Math" panose="02040503050406030204" pitchFamily="18" charset="0"/>
                                </a:rPr>
                              </m:ctrlPr>
                            </m:dPr>
                            <m:e>
                              <m:r>
                                <a:rPr lang="en-AU" altLang="zh-CN" sz="2800" b="0" i="1" dirty="0" smtClean="0">
                                  <a:latin typeface="Cambria Math" panose="02040503050406030204" pitchFamily="18" charset="0"/>
                                </a:rPr>
                                <m:t>1,2,3,…,</m:t>
                              </m:r>
                              <m:r>
                                <a:rPr lang="en-AU" altLang="zh-CN" sz="2800" b="0" i="1" dirty="0" smtClean="0">
                                  <a:latin typeface="Cambria Math" panose="02040503050406030204" pitchFamily="18" charset="0"/>
                                </a:rPr>
                                <m:t>𝑛</m:t>
                              </m:r>
                            </m:e>
                          </m:d>
                          <m:r>
                            <a:rPr lang="en-AU" altLang="zh-CN" sz="2800" b="0" i="1" dirty="0" smtClean="0">
                              <a:latin typeface="Cambria Math" panose="02040503050406030204" pitchFamily="18" charset="0"/>
                            </a:rPr>
                            <m:t>,</m:t>
                          </m:r>
                          <m:r>
                            <m:rPr>
                              <m:sty m:val="p"/>
                            </m:rPr>
                            <a:rPr lang="el-GR" altLang="zh-CN" sz="2800" b="0" i="1" dirty="0" smtClean="0">
                              <a:latin typeface="Cambria Math" panose="02040503050406030204" pitchFamily="18" charset="0"/>
                              <a:ea typeface="Cambria Math" panose="02040503050406030204" pitchFamily="18" charset="0"/>
                            </a:rPr>
                            <m:t>Σ</m:t>
                          </m:r>
                          <m:r>
                            <a:rPr lang="en-AU" altLang="zh-CN" sz="2800" b="0" i="1" dirty="0" smtClean="0">
                              <a:latin typeface="Cambria Math" panose="02040503050406030204" pitchFamily="18" charset="0"/>
                              <a:ea typeface="Cambria Math" panose="02040503050406030204" pitchFamily="18" charset="0"/>
                            </a:rPr>
                            <m:t>,</m:t>
                          </m:r>
                          <m:r>
                            <a:rPr lang="zh-CN" altLang="en-AU" sz="2800" b="0" i="1" dirty="0" smtClean="0">
                              <a:latin typeface="Cambria Math" panose="02040503050406030204" pitchFamily="18" charset="0"/>
                              <a:ea typeface="Cambria Math" panose="02040503050406030204" pitchFamily="18" charset="0"/>
                            </a:rPr>
                            <m:t>𝛿</m:t>
                          </m:r>
                          <m:r>
                            <a:rPr lang="en-AU" altLang="zh-CN" sz="2800" b="0" i="1" dirty="0" smtClean="0">
                              <a:latin typeface="Cambria Math" panose="02040503050406030204" pitchFamily="18" charset="0"/>
                              <a:ea typeface="Cambria Math" panose="02040503050406030204" pitchFamily="18" charset="0"/>
                            </a:rPr>
                            <m:t>,1,</m:t>
                          </m:r>
                          <m:r>
                            <a:rPr lang="en-AU" altLang="zh-CN" sz="2800" b="0" i="1" dirty="0" smtClean="0">
                              <a:latin typeface="Cambria Math" panose="02040503050406030204" pitchFamily="18" charset="0"/>
                              <a:ea typeface="Cambria Math" panose="02040503050406030204" pitchFamily="18" charset="0"/>
                            </a:rPr>
                            <m:t>𝐹</m:t>
                          </m:r>
                        </m:e>
                      </m:d>
                    </m:oMath>
                  </m:oMathPara>
                </a14:m>
                <a:endParaRPr lang="en-AU" altLang="zh-CN" sz="2800" b="0" dirty="0">
                  <a:ea typeface="Cambria Math" panose="02040503050406030204" pitchFamily="18" charset="0"/>
                </a:endParaRPr>
              </a:p>
              <a:p>
                <a:pPr marL="0" indent="0">
                  <a:lnSpc>
                    <a:spcPct val="125000"/>
                  </a:lnSpc>
                  <a:buNone/>
                </a:pPr>
                <a:r>
                  <a:rPr lang="zh-CN" altLang="en-US" sz="2800" dirty="0"/>
                  <a:t>设</a:t>
                </a:r>
                <a:r>
                  <a:rPr lang="zh-CN" altLang="en-US" sz="2800" dirty="0">
                    <a:solidFill>
                      <a:srgbClr val="3333FF"/>
                    </a:solidFill>
                  </a:rPr>
                  <a:t>正则表达式 </a:t>
                </a:r>
                <a14:m>
                  <m:oMath xmlns:m="http://schemas.openxmlformats.org/officeDocument/2006/math">
                    <m:sSubSup>
                      <m:sSubSupPr>
                        <m:ctrlPr>
                          <a:rPr lang="en-US" altLang="zh-CN" sz="2800" i="1" dirty="0" smtClean="0">
                            <a:solidFill>
                              <a:srgbClr val="3333FF"/>
                            </a:solidFill>
                            <a:latin typeface="Cambria Math" panose="02040503050406030204" pitchFamily="18" charset="0"/>
                          </a:rPr>
                        </m:ctrlPr>
                      </m:sSubSupPr>
                      <m:e>
                        <m:r>
                          <a:rPr lang="en-AU" altLang="zh-CN" sz="2800" b="0" i="1" dirty="0" smtClean="0">
                            <a:solidFill>
                              <a:srgbClr val="3333FF"/>
                            </a:solidFill>
                            <a:latin typeface="Cambria Math" panose="02040503050406030204" pitchFamily="18" charset="0"/>
                          </a:rPr>
                          <m:t>𝑅</m:t>
                        </m:r>
                      </m:e>
                      <m:sub>
                        <m:r>
                          <a:rPr lang="en-AU" altLang="zh-CN" sz="2800" b="0" i="1" dirty="0" smtClean="0">
                            <a:solidFill>
                              <a:srgbClr val="3333FF"/>
                            </a:solidFill>
                            <a:latin typeface="Cambria Math" panose="02040503050406030204" pitchFamily="18" charset="0"/>
                          </a:rPr>
                          <m:t>𝑖</m:t>
                        </m:r>
                        <m:r>
                          <a:rPr lang="en-AU" altLang="zh-CN" sz="2800" b="0" i="1" dirty="0" smtClean="0">
                            <a:solidFill>
                              <a:srgbClr val="3333FF"/>
                            </a:solidFill>
                            <a:latin typeface="Cambria Math" panose="02040503050406030204" pitchFamily="18" charset="0"/>
                          </a:rPr>
                          <m:t>,</m:t>
                        </m:r>
                        <m:r>
                          <a:rPr lang="en-AU" altLang="zh-CN" sz="2800" b="0" i="1" dirty="0" smtClean="0">
                            <a:solidFill>
                              <a:srgbClr val="3333FF"/>
                            </a:solidFill>
                            <a:latin typeface="Cambria Math" panose="02040503050406030204" pitchFamily="18" charset="0"/>
                          </a:rPr>
                          <m:t>𝑗</m:t>
                        </m:r>
                      </m:sub>
                      <m:sup>
                        <m:r>
                          <a:rPr lang="en-AU" altLang="zh-CN" sz="2800" b="0" i="1" dirty="0" smtClean="0">
                            <a:solidFill>
                              <a:srgbClr val="3333FF"/>
                            </a:solidFill>
                            <a:latin typeface="Cambria Math" panose="02040503050406030204" pitchFamily="18" charset="0"/>
                          </a:rPr>
                          <m:t>(</m:t>
                        </m:r>
                        <m:r>
                          <a:rPr lang="en-AU" altLang="zh-CN" sz="2800" b="0" i="1" dirty="0" smtClean="0">
                            <a:solidFill>
                              <a:srgbClr val="3333FF"/>
                            </a:solidFill>
                            <a:latin typeface="Cambria Math" panose="02040503050406030204" pitchFamily="18" charset="0"/>
                          </a:rPr>
                          <m:t>𝑘</m:t>
                        </m:r>
                        <m:r>
                          <a:rPr lang="en-AU" altLang="zh-CN" sz="2800" b="0" i="1" dirty="0" smtClean="0">
                            <a:solidFill>
                              <a:srgbClr val="3333FF"/>
                            </a:solidFill>
                            <a:latin typeface="Cambria Math" panose="02040503050406030204" pitchFamily="18" charset="0"/>
                          </a:rPr>
                          <m:t>)</m:t>
                        </m:r>
                      </m:sup>
                    </m:sSubSup>
                  </m:oMath>
                </a14:m>
                <a:r>
                  <a:rPr lang="en-US" altLang="zh-CN" sz="2800" dirty="0">
                    <a:solidFill>
                      <a:srgbClr val="0070C0"/>
                    </a:solidFill>
                  </a:rPr>
                  <a:t> </a:t>
                </a:r>
                <a:r>
                  <a:rPr lang="zh-CN" altLang="en-US" sz="2800" dirty="0"/>
                  <a:t>表示从 </a:t>
                </a:r>
                <a14:m>
                  <m:oMath xmlns:m="http://schemas.openxmlformats.org/officeDocument/2006/math">
                    <m:r>
                      <a:rPr lang="en-US" altLang="zh-CN" sz="2800" i="1" dirty="0" smtClean="0">
                        <a:latin typeface="Cambria Math" panose="02040503050406030204" pitchFamily="18" charset="0"/>
                      </a:rPr>
                      <m:t>𝑖</m:t>
                    </m:r>
                  </m:oMath>
                </a14:m>
                <a:r>
                  <a:rPr lang="en-US" altLang="zh-CN" sz="2800" dirty="0"/>
                  <a:t> </a:t>
                </a:r>
                <a:r>
                  <a:rPr lang="zh-CN" altLang="en-US" sz="2800" dirty="0"/>
                  <a:t>到 </a:t>
                </a:r>
                <a14:m>
                  <m:oMath xmlns:m="http://schemas.openxmlformats.org/officeDocument/2006/math">
                    <m:r>
                      <a:rPr lang="en-US" altLang="zh-CN" sz="2800" i="1" dirty="0" smtClean="0">
                        <a:latin typeface="Cambria Math" panose="02040503050406030204" pitchFamily="18" charset="0"/>
                      </a:rPr>
                      <m:t>𝑗</m:t>
                    </m:r>
                  </m:oMath>
                </a14:m>
                <a:r>
                  <a:rPr lang="en-US" altLang="zh-CN" sz="2800" dirty="0"/>
                  <a:t> </a:t>
                </a:r>
                <a:r>
                  <a:rPr lang="zh-CN" altLang="en-US" sz="2800" dirty="0"/>
                  <a:t>但中间节点状态编号不超过</a:t>
                </a:r>
                <a14:m>
                  <m:oMath xmlns:m="http://schemas.openxmlformats.org/officeDocument/2006/math">
                    <m:r>
                      <a:rPr lang="en-US" altLang="zh-CN" sz="2800" b="1" i="0" dirty="0" smtClean="0">
                        <a:latin typeface="Cambria Math" panose="02040503050406030204" pitchFamily="18" charset="0"/>
                      </a:rPr>
                      <m:t> </m:t>
                    </m:r>
                    <m:r>
                      <a:rPr lang="en-US" altLang="zh-CN" sz="2800" i="1" dirty="0" smtClean="0">
                        <a:latin typeface="Cambria Math" panose="02040503050406030204" pitchFamily="18" charset="0"/>
                      </a:rPr>
                      <m:t>𝑘</m:t>
                    </m:r>
                    <m:r>
                      <a:rPr lang="en-US" altLang="zh-CN" sz="2800" b="1" i="1" dirty="0" smtClean="0">
                        <a:latin typeface="Cambria Math" panose="02040503050406030204" pitchFamily="18" charset="0"/>
                      </a:rPr>
                      <m:t> </m:t>
                    </m:r>
                  </m:oMath>
                </a14:m>
                <a:r>
                  <a:rPr lang="zh-CN" altLang="en-US" sz="2800" dirty="0"/>
                  <a:t>全部路径的字符串集（简称</a:t>
                </a:r>
                <a14:m>
                  <m:oMath xmlns:m="http://schemas.openxmlformats.org/officeDocument/2006/math">
                    <m:r>
                      <a:rPr lang="en-AU" altLang="zh-CN" sz="2800" i="1" dirty="0" smtClean="0">
                        <a:latin typeface="Cambria Math" panose="02040503050406030204" pitchFamily="18" charset="0"/>
                      </a:rPr>
                      <m:t>𝑘</m:t>
                    </m:r>
                  </m:oMath>
                </a14:m>
                <a:r>
                  <a:rPr lang="en-AU" altLang="zh-CN" sz="2800" dirty="0"/>
                  <a:t>-</a:t>
                </a:r>
                <a:r>
                  <a:rPr lang="zh-CN" altLang="en-US" sz="2800" dirty="0"/>
                  <a:t>路径</a:t>
                </a:r>
                <a:r>
                  <a:rPr lang="en-AU" altLang="zh-CN" dirty="0"/>
                  <a:t>)</a:t>
                </a:r>
                <a:r>
                  <a:rPr lang="en-US" altLang="zh-CN" dirty="0"/>
                  <a:t>:</a:t>
                </a:r>
                <a:endParaRPr lang="en-US" altLang="zh-CN" sz="2800" dirty="0"/>
              </a:p>
              <a:p>
                <a:pPr marL="0" indent="0">
                  <a:buNone/>
                </a:pPr>
                <a:endParaRPr lang="en-US" altLang="zh-CN" sz="18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Sup>
                        <m:sSubSupPr>
                          <m:ctrlPr>
                            <a:rPr lang="en-US" altLang="zh-CN" sz="2400" i="1" dirty="0">
                              <a:latin typeface="Cambria Math" panose="02040503050406030204" pitchFamily="18" charset="0"/>
                            </a:rPr>
                          </m:ctrlPr>
                        </m:sSubSupPr>
                        <m:e>
                          <m:r>
                            <a:rPr lang="en-AU" altLang="zh-CN" sz="2400" i="1" dirty="0">
                              <a:latin typeface="Cambria Math" panose="02040503050406030204" pitchFamily="18" charset="0"/>
                            </a:rPr>
                            <m:t>𝑅</m:t>
                          </m:r>
                        </m:e>
                        <m:sub>
                          <m:r>
                            <a:rPr lang="en-AU" altLang="zh-CN" sz="2400" i="1" dirty="0">
                              <a:latin typeface="Cambria Math" panose="02040503050406030204" pitchFamily="18" charset="0"/>
                            </a:rPr>
                            <m:t>𝑖</m:t>
                          </m:r>
                          <m:r>
                            <a:rPr lang="en-AU" altLang="zh-CN" sz="2400" i="1" dirty="0">
                              <a:latin typeface="Cambria Math" panose="02040503050406030204" pitchFamily="18" charset="0"/>
                            </a:rPr>
                            <m:t>,</m:t>
                          </m:r>
                          <m:r>
                            <a:rPr lang="en-AU" altLang="zh-CN" sz="2400" i="1" dirty="0">
                              <a:latin typeface="Cambria Math" panose="02040503050406030204" pitchFamily="18" charset="0"/>
                            </a:rPr>
                            <m:t>𝑗</m:t>
                          </m:r>
                        </m:sub>
                        <m:sup>
                          <m:r>
                            <a:rPr lang="en-AU" altLang="zh-CN" sz="2400" i="1" dirty="0">
                              <a:latin typeface="Cambria Math" panose="02040503050406030204" pitchFamily="18" charset="0"/>
                            </a:rPr>
                            <m:t>(</m:t>
                          </m:r>
                          <m:r>
                            <a:rPr lang="en-AU" altLang="zh-CN" sz="2400" i="1" dirty="0">
                              <a:latin typeface="Cambria Math" panose="02040503050406030204" pitchFamily="18" charset="0"/>
                            </a:rPr>
                            <m:t>𝑘</m:t>
                          </m:r>
                          <m:r>
                            <a:rPr lang="en-AU" altLang="zh-CN" sz="2400" i="1" dirty="0">
                              <a:latin typeface="Cambria Math" panose="02040503050406030204" pitchFamily="18" charset="0"/>
                            </a:rPr>
                            <m:t>)</m:t>
                          </m:r>
                        </m:sup>
                      </m:sSubSup>
                      <m:r>
                        <a:rPr lang="en-AU" altLang="zh-CN" sz="2400" i="1" dirty="0">
                          <a:latin typeface="Cambria Math" panose="02040503050406030204" pitchFamily="18" charset="0"/>
                        </a:rPr>
                        <m:t> </m:t>
                      </m:r>
                      <m:r>
                        <a:rPr lang="en-US" altLang="zh-CN" sz="2400" b="1" i="1" dirty="0" smtClean="0">
                          <a:latin typeface="Cambria Math" panose="02040503050406030204" pitchFamily="18" charset="0"/>
                        </a:rPr>
                        <m:t>= </m:t>
                      </m:r>
                      <m:d>
                        <m:dPr>
                          <m:begChr m:val="{"/>
                          <m:endChr m:val="|"/>
                          <m:ctrlPr>
                            <a:rPr lang="en-US" altLang="zh-CN" sz="2400" i="1" dirty="0" smtClean="0">
                              <a:latin typeface="Cambria Math" panose="02040503050406030204" pitchFamily="18" charset="0"/>
                            </a:rPr>
                          </m:ctrlPr>
                        </m:dPr>
                        <m:e>
                          <m:r>
                            <a:rPr lang="en-US" altLang="zh-CN" sz="2400" b="0" i="1" dirty="0" smtClean="0">
                              <a:latin typeface="Cambria Math" panose="02040503050406030204" pitchFamily="18" charset="0"/>
                            </a:rPr>
                            <m:t>𝑥</m:t>
                          </m:r>
                          <m:r>
                            <a:rPr lang="en-US" altLang="zh-CN" sz="2400" b="0" i="1" dirty="0" smtClean="0">
                              <a:latin typeface="Cambria Math" panose="02040503050406030204" pitchFamily="18" charset="0"/>
                            </a:rPr>
                            <m:t> </m:t>
                          </m:r>
                        </m:e>
                      </m:d>
                      <m:acc>
                        <m:accPr>
                          <m:chr m:val="̂"/>
                          <m:ctrlPr>
                            <a:rPr lang="en-US" altLang="zh-CN" sz="2400" b="0" i="1" dirty="0" smtClean="0">
                              <a:latin typeface="Cambria Math" panose="02040503050406030204" pitchFamily="18" charset="0"/>
                            </a:rPr>
                          </m:ctrlPr>
                        </m:accPr>
                        <m:e>
                          <m:r>
                            <a:rPr lang="en-US" altLang="zh-CN" sz="2400" i="1" dirty="0">
                              <a:latin typeface="Cambria Math" panose="02040503050406030204" pitchFamily="18" charset="0"/>
                            </a:rPr>
                            <m:t>𝛿</m:t>
                          </m:r>
                        </m:e>
                      </m:acc>
                      <m:d>
                        <m:dPr>
                          <m:ctrlPr>
                            <a:rPr lang="en-US" altLang="zh-CN" sz="2400" i="1" dirty="0" smtClean="0">
                              <a:latin typeface="Cambria Math" panose="02040503050406030204" pitchFamily="18" charset="0"/>
                            </a:rPr>
                          </m:ctrlPr>
                        </m:dPr>
                        <m:e>
                          <m:r>
                            <a:rPr lang="en-AU" altLang="zh-CN" sz="2400" b="0" i="1" dirty="0" smtClean="0">
                              <a:latin typeface="Cambria Math" panose="02040503050406030204" pitchFamily="18" charset="0"/>
                            </a:rPr>
                            <m:t>𝑖</m:t>
                          </m:r>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rPr>
                            <m:t>𝑥</m:t>
                          </m:r>
                        </m:e>
                      </m:d>
                      <m:r>
                        <a:rPr lang="en-AU" altLang="zh-CN" sz="2400" b="1" i="1" dirty="0" smtClean="0">
                          <a:latin typeface="Cambria Math" panose="02040503050406030204" pitchFamily="18" charset="0"/>
                        </a:rPr>
                        <m:t>=</m:t>
                      </m:r>
                      <m:r>
                        <a:rPr lang="en-AU" altLang="zh-CN" sz="2400" b="0" i="1" dirty="0" smtClean="0">
                          <a:latin typeface="Cambria Math" panose="02040503050406030204" pitchFamily="18" charset="0"/>
                        </a:rPr>
                        <m:t>𝑗</m:t>
                      </m:r>
                      <m:r>
                        <a:rPr lang="en-US" altLang="zh-CN" sz="2400" b="0" i="1" dirty="0" smtClean="0">
                          <a:latin typeface="Cambria Math" panose="02040503050406030204" pitchFamily="18" charset="0"/>
                        </a:rPr>
                        <m:t> , </m:t>
                      </m:r>
                      <m:r>
                        <a:rPr lang="en-US" altLang="zh-CN" sz="2400" b="0" i="1" dirty="0" smtClean="0">
                          <a:latin typeface="Cambria Math" panose="02040503050406030204" pitchFamily="18" charset="0"/>
                        </a:rPr>
                        <m:t>𝑥</m:t>
                      </m:r>
                      <m:r>
                        <a:rPr lang="zh-CN" altLang="en-US" sz="2400" b="1" i="1" dirty="0">
                          <a:latin typeface="Cambria Math" panose="02040503050406030204" pitchFamily="18" charset="0"/>
                        </a:rPr>
                        <m:t>经过的状态除两端外都不超过</m:t>
                      </m:r>
                      <m:r>
                        <a:rPr lang="zh-CN" altLang="en-US" sz="2400" b="1" i="1" dirty="0">
                          <a:latin typeface="Cambria Math" panose="02040503050406030204" pitchFamily="18" charset="0"/>
                        </a:rPr>
                        <m:t> </m:t>
                      </m:r>
                      <m:r>
                        <a:rPr lang="en-US" altLang="zh-CN" sz="2400" i="1" dirty="0">
                          <a:latin typeface="Cambria Math" panose="02040503050406030204" pitchFamily="18" charset="0"/>
                        </a:rPr>
                        <m:t>𝑘</m:t>
                      </m:r>
                      <m:r>
                        <a:rPr lang="en-AU" altLang="zh-CN" sz="2400" b="0" i="1" dirty="0" smtClean="0">
                          <a:latin typeface="Cambria Math" panose="02040503050406030204" pitchFamily="18" charset="0"/>
                        </a:rPr>
                        <m:t>}</m:t>
                      </m:r>
                      <m:r>
                        <a:rPr lang="en-US" altLang="zh-CN" sz="2400" i="1" dirty="0">
                          <a:latin typeface="Cambria Math" panose="02040503050406030204" pitchFamily="18" charset="0"/>
                        </a:rPr>
                        <m:t> </m:t>
                      </m:r>
                    </m:oMath>
                  </m:oMathPara>
                </a14:m>
                <a:endParaRPr lang="en-AU" sz="2800" b="1"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85273" y="1006354"/>
                <a:ext cx="8229600" cy="4525963"/>
              </a:xfrm>
              <a:blipFill rotWithShape="1">
                <a:blip r:embed="rId3"/>
                <a:stretch>
                  <a:fillRect l="-2" t="-11" r="2" b="4"/>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pPr>
              <a:defRPr/>
            </a:pPr>
            <a:fld id="{A619564F-3A13-4140-9CFC-3B75A7CC7F9C}" type="slidenum">
              <a:rPr lang="en-US" altLang="zh-CN" smtClean="0"/>
              <a:t>18</a:t>
            </a:fld>
            <a:endParaRPr lang="en-US" altLang="zh-CN"/>
          </a:p>
        </p:txBody>
      </p:sp>
      <p:pic>
        <p:nvPicPr>
          <p:cNvPr id="9" name="Picture 8" descr="A picture containing hanger&#10;&#10;Description automatically generated"/>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919977" y="4495800"/>
            <a:ext cx="5700023" cy="716083"/>
          </a:xfrm>
          <a:prstGeom prst="rect">
            <a:avLst/>
          </a:prstGeom>
        </p:spPr>
      </p:pic>
      <p:sp>
        <p:nvSpPr>
          <p:cNvPr id="7" name="Title 1"/>
          <p:cNvSpPr>
            <a:spLocks noGrp="1"/>
          </p:cNvSpPr>
          <p:nvPr>
            <p:ph type="title"/>
          </p:nvPr>
        </p:nvSpPr>
        <p:spPr>
          <a:xfrm>
            <a:off x="685800" y="152400"/>
            <a:ext cx="8229600" cy="393065"/>
          </a:xfrm>
        </p:spPr>
        <p:txBody>
          <a:bodyPr/>
          <a:lstStyle/>
          <a:p>
            <a:pPr algn="r"/>
            <a:r>
              <a:rPr lang="en-US" altLang="zh-CN" sz="3600" dirty="0">
                <a:solidFill>
                  <a:schemeClr val="bg1"/>
                </a:solidFill>
                <a:latin typeface="Times New Roman" panose="02020603050405020304" pitchFamily="18" charset="0"/>
                <a:cs typeface="Times New Roman" panose="02020603050405020304" pitchFamily="18" charset="0"/>
              </a:rPr>
              <a:t>DFA</a:t>
            </a:r>
            <a:r>
              <a:rPr lang="en-US" altLang="zh-CN" sz="3600" dirty="0">
                <a:solidFill>
                  <a:schemeClr val="bg1"/>
                </a:solidFill>
              </a:rPr>
              <a:t>-&gt;</a:t>
            </a:r>
            <a:r>
              <a:rPr lang="zh-CN" altLang="en-US" sz="3600" dirty="0">
                <a:solidFill>
                  <a:schemeClr val="bg1"/>
                </a:solidFill>
              </a:rPr>
              <a:t>正则表达式</a:t>
            </a:r>
            <a:r>
              <a:rPr lang="en-AU" altLang="zh-CN" sz="3600" dirty="0">
                <a:solidFill>
                  <a:schemeClr val="bg1"/>
                </a:solidFill>
              </a:rPr>
              <a:t>:</a:t>
            </a:r>
            <a:r>
              <a:rPr lang="zh-CN" altLang="en-US" sz="3600" dirty="0">
                <a:solidFill>
                  <a:schemeClr val="bg1"/>
                </a:solidFill>
              </a:rPr>
              <a:t>递归法</a:t>
            </a:r>
            <a:endParaRPr lang="en-AU" sz="36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63011"/>
    </mc:Choice>
    <mc:Fallback xmlns="">
      <p:transition spd="slow" advTm="63011"/>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859403"/>
                <a:ext cx="8229600" cy="5846197"/>
              </a:xfrm>
            </p:spPr>
            <p:txBody>
              <a:bodyPr>
                <a:noAutofit/>
              </a:bodyPr>
              <a:lstStyle/>
              <a:p>
                <a:r>
                  <a:rPr lang="zh-CN" altLang="en-US" dirty="0"/>
                  <a:t>归纳基础</a:t>
                </a:r>
                <a:r>
                  <a:rPr lang="en-AU" altLang="zh-CN" dirty="0"/>
                  <a:t>:</a:t>
                </a:r>
                <a14:m>
                  <m:oMath xmlns:m="http://schemas.openxmlformats.org/officeDocument/2006/math">
                    <m:r>
                      <a:rPr lang="en-AU" altLang="zh-CN" i="1" dirty="0" smtClean="0">
                        <a:latin typeface="Cambria Math" panose="02040503050406030204" pitchFamily="18" charset="0"/>
                      </a:rPr>
                      <m:t>𝑘</m:t>
                    </m:r>
                    <m:r>
                      <a:rPr lang="en-AU" altLang="zh-CN" i="1" dirty="0" smtClean="0">
                        <a:latin typeface="Cambria Math" panose="02040503050406030204" pitchFamily="18" charset="0"/>
                      </a:rPr>
                      <m:t>=0</m:t>
                    </m:r>
                  </m:oMath>
                </a14:m>
                <a:r>
                  <a:rPr lang="en-AU" altLang="zh-CN" dirty="0"/>
                  <a:t>,</a:t>
                </a:r>
                <a:r>
                  <a:rPr lang="en-US" altLang="zh-CN" sz="3200" dirty="0">
                    <a:solidFill>
                      <a:srgbClr val="3333FF"/>
                    </a:solidFill>
                  </a:rPr>
                  <a:t> </a:t>
                </a:r>
                <a14:m>
                  <m:oMath xmlns:m="http://schemas.openxmlformats.org/officeDocument/2006/math">
                    <m:sSubSup>
                      <m:sSubSupPr>
                        <m:ctrlPr>
                          <a:rPr lang="en-US" altLang="zh-CN" sz="3200" i="1" dirty="0" smtClean="0">
                            <a:solidFill>
                              <a:schemeClr val="tx1"/>
                            </a:solidFill>
                            <a:latin typeface="Cambria Math" panose="02040503050406030204" pitchFamily="18" charset="0"/>
                          </a:rPr>
                        </m:ctrlPr>
                      </m:sSubSupPr>
                      <m:e>
                        <m:r>
                          <a:rPr lang="en-AU" altLang="zh-CN" sz="3200" b="0" i="1" dirty="0" smtClean="0">
                            <a:solidFill>
                              <a:schemeClr val="tx1"/>
                            </a:solidFill>
                            <a:latin typeface="Cambria Math" panose="02040503050406030204" pitchFamily="18" charset="0"/>
                          </a:rPr>
                          <m:t>𝑅</m:t>
                        </m:r>
                      </m:e>
                      <m:sub>
                        <m:r>
                          <a:rPr lang="en-AU" altLang="zh-CN" sz="3200" b="0" i="1" dirty="0" smtClean="0">
                            <a:solidFill>
                              <a:schemeClr val="tx1"/>
                            </a:solidFill>
                            <a:latin typeface="Cambria Math" panose="02040503050406030204" pitchFamily="18" charset="0"/>
                          </a:rPr>
                          <m:t>𝑖</m:t>
                        </m:r>
                        <m:r>
                          <a:rPr lang="en-AU" altLang="zh-CN" sz="3200" b="0" i="1" dirty="0" smtClean="0">
                            <a:solidFill>
                              <a:schemeClr val="tx1"/>
                            </a:solidFill>
                            <a:latin typeface="Cambria Math" panose="02040503050406030204" pitchFamily="18" charset="0"/>
                          </a:rPr>
                          <m:t>,</m:t>
                        </m:r>
                        <m:r>
                          <a:rPr lang="en-AU" altLang="zh-CN" sz="3200" b="0" i="1" dirty="0" smtClean="0">
                            <a:solidFill>
                              <a:schemeClr val="tx1"/>
                            </a:solidFill>
                            <a:latin typeface="Cambria Math" panose="02040503050406030204" pitchFamily="18" charset="0"/>
                          </a:rPr>
                          <m:t>𝑗</m:t>
                        </m:r>
                      </m:sub>
                      <m:sup>
                        <m:r>
                          <a:rPr lang="en-AU" altLang="zh-CN" sz="3200" b="0" i="1" dirty="0" smtClean="0">
                            <a:solidFill>
                              <a:schemeClr val="tx1"/>
                            </a:solidFill>
                            <a:latin typeface="Cambria Math" panose="02040503050406030204" pitchFamily="18" charset="0"/>
                          </a:rPr>
                          <m:t>(0)</m:t>
                        </m:r>
                      </m:sup>
                    </m:sSubSup>
                  </m:oMath>
                </a14:m>
                <a:r>
                  <a:rPr lang="zh-CN" altLang="en-US" dirty="0"/>
                  <a:t>为从 </a:t>
                </a:r>
                <a14:m>
                  <m:oMath xmlns:m="http://schemas.openxmlformats.org/officeDocument/2006/math">
                    <m:r>
                      <a:rPr lang="en-US" altLang="zh-CN" i="1" dirty="0" smtClean="0">
                        <a:latin typeface="Cambria Math" panose="02040503050406030204" pitchFamily="18" charset="0"/>
                      </a:rPr>
                      <m:t>𝑖</m:t>
                    </m:r>
                    <m:r>
                      <a:rPr lang="en-US" altLang="zh-CN" b="1" i="1" dirty="0" smtClean="0">
                        <a:latin typeface="Cambria Math" panose="02040503050406030204" pitchFamily="18" charset="0"/>
                      </a:rPr>
                      <m:t> </m:t>
                    </m:r>
                  </m:oMath>
                </a14:m>
                <a:r>
                  <a:rPr lang="zh-CN" altLang="en-US" dirty="0"/>
                  <a:t>直接到 </a:t>
                </a:r>
                <a14:m>
                  <m:oMath xmlns:m="http://schemas.openxmlformats.org/officeDocument/2006/math">
                    <m:r>
                      <a:rPr lang="en-US" altLang="zh-CN" i="1" dirty="0" smtClean="0">
                        <a:latin typeface="Cambria Math" panose="02040503050406030204" pitchFamily="18" charset="0"/>
                      </a:rPr>
                      <m:t>𝑗</m:t>
                    </m:r>
                  </m:oMath>
                </a14:m>
                <a:r>
                  <a:rPr lang="zh-CN" altLang="en-US" dirty="0"/>
                  <a:t> ，没有经过任何中间节点的字符串集合</a:t>
                </a:r>
                <a:endParaRPr lang="en-AU" altLang="zh-CN" dirty="0"/>
              </a:p>
              <a:p>
                <a:pPr>
                  <a:lnSpc>
                    <a:spcPct val="130000"/>
                  </a:lnSpc>
                </a:pPr>
                <a:r>
                  <a:rPr lang="zh-CN" altLang="en-US" dirty="0"/>
                  <a:t>情况</a:t>
                </a:r>
                <a:r>
                  <a:rPr lang="en-US" altLang="zh-CN" dirty="0"/>
                  <a:t>1</a:t>
                </a:r>
                <a:r>
                  <a:rPr lang="zh-CN" altLang="en-US" dirty="0"/>
                  <a:t>：</a:t>
                </a:r>
                <a14:m>
                  <m:oMath xmlns:m="http://schemas.openxmlformats.org/officeDocument/2006/math">
                    <m:r>
                      <a:rPr lang="en-US" i="1" dirty="0">
                        <a:latin typeface="Cambria Math" panose="02040503050406030204" pitchFamily="18" charset="0"/>
                      </a:rPr>
                      <m:t>𝑖</m:t>
                    </m:r>
                  </m:oMath>
                </a14:m>
                <a:r>
                  <a:rPr lang="zh-CN" altLang="en-US" dirty="0"/>
                  <a:t>不等于</a:t>
                </a:r>
                <a14:m>
                  <m:oMath xmlns:m="http://schemas.openxmlformats.org/officeDocument/2006/math">
                    <m:r>
                      <a:rPr lang="en-AU" b="0" i="1" dirty="0" smtClean="0">
                        <a:latin typeface="Cambria Math" panose="02040503050406030204" pitchFamily="18" charset="0"/>
                      </a:rPr>
                      <m:t>𝑗</m:t>
                    </m:r>
                  </m:oMath>
                </a14:m>
                <a:endParaRPr lang="en-AU" b="0" i="1" dirty="0">
                  <a:latin typeface="Cambria Math" panose="02040503050406030204" pitchFamily="18" charset="0"/>
                </a:endParaRPr>
              </a:p>
              <a:p>
                <a:pPr lvl="1"/>
                <a:r>
                  <a:rPr lang="zh-CN" altLang="en-US" dirty="0">
                    <a:solidFill>
                      <a:schemeClr val="tx1"/>
                    </a:solidFill>
                    <a:latin typeface="Cambria Math" panose="02040503050406030204" pitchFamily="18" charset="0"/>
                  </a:rPr>
                  <a:t>没有</a:t>
                </a:r>
                <a14:m>
                  <m:oMath xmlns:m="http://schemas.openxmlformats.org/officeDocument/2006/math">
                    <m:r>
                      <a:rPr lang="en-AU" altLang="zh-CN" i="1" dirty="0" smtClean="0">
                        <a:solidFill>
                          <a:schemeClr val="tx1"/>
                        </a:solidFill>
                        <a:latin typeface="Cambria Math" panose="02040503050406030204" pitchFamily="18" charset="0"/>
                      </a:rPr>
                      <m:t>𝑖</m:t>
                    </m:r>
                  </m:oMath>
                </a14:m>
                <a:r>
                  <a:rPr lang="zh-CN" altLang="en-US" dirty="0">
                    <a:solidFill>
                      <a:schemeClr val="tx1"/>
                    </a:solidFill>
                    <a:latin typeface="Cambria Math" panose="02040503050406030204" pitchFamily="18" charset="0"/>
                  </a:rPr>
                  <a:t>到</a:t>
                </a:r>
                <a14:m>
                  <m:oMath xmlns:m="http://schemas.openxmlformats.org/officeDocument/2006/math">
                    <m:r>
                      <a:rPr lang="en-US" altLang="zh-CN" i="1" dirty="0" smtClean="0">
                        <a:solidFill>
                          <a:schemeClr val="tx1"/>
                        </a:solidFill>
                        <a:latin typeface="Cambria Math" panose="02040503050406030204" pitchFamily="18" charset="0"/>
                      </a:rPr>
                      <m:t>𝑗</m:t>
                    </m:r>
                  </m:oMath>
                </a14:m>
                <a:r>
                  <a:rPr lang="zh-CN" altLang="en-US" dirty="0">
                    <a:solidFill>
                      <a:schemeClr val="tx1"/>
                    </a:solidFill>
                    <a:latin typeface="Cambria Math" panose="02040503050406030204" pitchFamily="18" charset="0"/>
                  </a:rPr>
                  <a:t>的状态转移</a:t>
                </a:r>
                <a:r>
                  <a:rPr lang="en-US" altLang="zh-CN" dirty="0"/>
                  <a:t> </a:t>
                </a:r>
                <a14:m>
                  <m:oMath xmlns:m="http://schemas.openxmlformats.org/officeDocument/2006/math">
                    <m:sSubSup>
                      <m:sSubSupPr>
                        <m:ctrlPr>
                          <a:rPr lang="en-US" altLang="zh-CN" i="1" dirty="0">
                            <a:latin typeface="Cambria Math" panose="02040503050406030204" pitchFamily="18" charset="0"/>
                          </a:rPr>
                        </m:ctrlPr>
                      </m:sSubSupPr>
                      <m:e>
                        <m:r>
                          <a:rPr lang="en-AU" altLang="zh-CN" i="1" dirty="0">
                            <a:latin typeface="Cambria Math" panose="02040503050406030204" pitchFamily="18" charset="0"/>
                          </a:rPr>
                          <m:t>𝑅</m:t>
                        </m:r>
                      </m:e>
                      <m:sub>
                        <m:r>
                          <a:rPr lang="en-AU" altLang="zh-CN" i="1" dirty="0">
                            <a:latin typeface="Cambria Math" panose="02040503050406030204" pitchFamily="18" charset="0"/>
                          </a:rPr>
                          <m:t>𝑖</m:t>
                        </m:r>
                        <m:r>
                          <a:rPr lang="en-AU" altLang="zh-CN" i="1" dirty="0">
                            <a:latin typeface="Cambria Math" panose="02040503050406030204" pitchFamily="18" charset="0"/>
                          </a:rPr>
                          <m:t>,</m:t>
                        </m:r>
                        <m:r>
                          <a:rPr lang="en-AU" altLang="zh-CN" i="1" dirty="0">
                            <a:latin typeface="Cambria Math" panose="02040503050406030204" pitchFamily="18" charset="0"/>
                          </a:rPr>
                          <m:t>𝑗</m:t>
                        </m:r>
                      </m:sub>
                      <m:sup>
                        <m:r>
                          <a:rPr lang="en-AU" altLang="zh-CN" i="1" dirty="0">
                            <a:latin typeface="Cambria Math" panose="02040503050406030204" pitchFamily="18" charset="0"/>
                          </a:rPr>
                          <m:t>(0)</m:t>
                        </m:r>
                      </m:sup>
                    </m:sSubSup>
                    <m:r>
                      <a:rPr lang="en-AU" altLang="zh-CN" b="0" i="1" dirty="0" smtClean="0">
                        <a:latin typeface="Cambria Math" panose="02040503050406030204" pitchFamily="18" charset="0"/>
                      </a:rPr>
                      <m:t>=</m:t>
                    </m:r>
                    <m:r>
                      <a:rPr lang="en-AU" altLang="zh-CN" b="1" i="1" dirty="0" smtClean="0">
                        <a:latin typeface="Cambria Math" panose="02040503050406030204" pitchFamily="18" charset="0"/>
                        <a:ea typeface="Cambria Math" panose="02040503050406030204" pitchFamily="18" charset="0"/>
                      </a:rPr>
                      <m:t>∅</m:t>
                    </m:r>
                  </m:oMath>
                </a14:m>
                <a:endParaRPr lang="en-US" altLang="zh-CN" b="1" dirty="0">
                  <a:solidFill>
                    <a:schemeClr val="tx1"/>
                  </a:solidFill>
                  <a:latin typeface="Cambria Math" panose="02040503050406030204" pitchFamily="18" charset="0"/>
                </a:endParaRPr>
              </a:p>
              <a:p>
                <a:pPr marL="342900" lvl="1" indent="0">
                  <a:buNone/>
                </a:pPr>
                <a:endParaRPr lang="en-US" altLang="zh-CN" b="1" dirty="0">
                  <a:solidFill>
                    <a:schemeClr val="tx1"/>
                  </a:solidFill>
                  <a:latin typeface="Cambria Math" panose="02040503050406030204" pitchFamily="18" charset="0"/>
                </a:endParaRPr>
              </a:p>
              <a:p>
                <a:pPr lvl="1"/>
                <a:r>
                  <a:rPr lang="zh-CN" altLang="en-US" dirty="0">
                    <a:latin typeface="Cambria Math" panose="02040503050406030204" pitchFamily="18" charset="0"/>
                  </a:rPr>
                  <a:t>有一个</a:t>
                </a:r>
                <a14:m>
                  <m:oMath xmlns:m="http://schemas.openxmlformats.org/officeDocument/2006/math">
                    <m:r>
                      <a:rPr lang="en-AU" altLang="zh-CN" i="1" dirty="0" smtClean="0">
                        <a:solidFill>
                          <a:schemeClr val="tx1"/>
                        </a:solidFill>
                        <a:latin typeface="Cambria Math" panose="02040503050406030204" pitchFamily="18" charset="0"/>
                      </a:rPr>
                      <m:t>𝑖</m:t>
                    </m:r>
                  </m:oMath>
                </a14:m>
                <a:r>
                  <a:rPr lang="zh-CN" altLang="en-US" dirty="0">
                    <a:solidFill>
                      <a:schemeClr val="tx1"/>
                    </a:solidFill>
                    <a:latin typeface="Cambria Math" panose="02040503050406030204" pitchFamily="18" charset="0"/>
                  </a:rPr>
                  <a:t>到</a:t>
                </a:r>
                <a14:m>
                  <m:oMath xmlns:m="http://schemas.openxmlformats.org/officeDocument/2006/math">
                    <m:r>
                      <a:rPr lang="en-US" altLang="zh-CN" i="1" dirty="0" smtClean="0">
                        <a:solidFill>
                          <a:schemeClr val="tx1"/>
                        </a:solidFill>
                        <a:latin typeface="Cambria Math" panose="02040503050406030204" pitchFamily="18" charset="0"/>
                      </a:rPr>
                      <m:t>𝑗</m:t>
                    </m:r>
                  </m:oMath>
                </a14:m>
                <a:r>
                  <a:rPr lang="zh-CN" altLang="en-US" dirty="0">
                    <a:solidFill>
                      <a:schemeClr val="tx1"/>
                    </a:solidFill>
                    <a:latin typeface="Cambria Math" panose="02040503050406030204" pitchFamily="18" charset="0"/>
                  </a:rPr>
                  <a:t>的转移</a:t>
                </a:r>
                <a14:m>
                  <m:oMath xmlns:m="http://schemas.openxmlformats.org/officeDocument/2006/math">
                    <m:sSubSup>
                      <m:sSubSupPr>
                        <m:ctrlPr>
                          <a:rPr lang="en-US" altLang="zh-CN" i="1" dirty="0" smtClean="0">
                            <a:latin typeface="Cambria Math" panose="02040503050406030204" pitchFamily="18" charset="0"/>
                          </a:rPr>
                        </m:ctrlPr>
                      </m:sSubSupPr>
                      <m:e>
                        <m:r>
                          <a:rPr lang="en-US" altLang="zh-CN" b="0" i="1" dirty="0" smtClean="0">
                            <a:latin typeface="Cambria Math" panose="02040503050406030204" pitchFamily="18" charset="0"/>
                          </a:rPr>
                          <m:t> </m:t>
                        </m:r>
                        <m:r>
                          <a:rPr lang="en-AU" altLang="zh-CN" i="1" dirty="0">
                            <a:latin typeface="Cambria Math" panose="02040503050406030204" pitchFamily="18" charset="0"/>
                          </a:rPr>
                          <m:t>𝑅</m:t>
                        </m:r>
                      </m:e>
                      <m:sub>
                        <m:r>
                          <a:rPr lang="en-AU" altLang="zh-CN" i="1" dirty="0">
                            <a:latin typeface="Cambria Math" panose="02040503050406030204" pitchFamily="18" charset="0"/>
                          </a:rPr>
                          <m:t>𝑖</m:t>
                        </m:r>
                        <m:r>
                          <a:rPr lang="en-AU" altLang="zh-CN" i="1" dirty="0">
                            <a:latin typeface="Cambria Math" panose="02040503050406030204" pitchFamily="18" charset="0"/>
                          </a:rPr>
                          <m:t>,</m:t>
                        </m:r>
                        <m:r>
                          <a:rPr lang="en-AU" altLang="zh-CN" i="1" dirty="0">
                            <a:latin typeface="Cambria Math" panose="02040503050406030204" pitchFamily="18" charset="0"/>
                          </a:rPr>
                          <m:t>𝑗</m:t>
                        </m:r>
                      </m:sub>
                      <m:sup>
                        <m:r>
                          <a:rPr lang="en-AU" altLang="zh-CN" i="1" dirty="0">
                            <a:latin typeface="Cambria Math" panose="02040503050406030204" pitchFamily="18" charset="0"/>
                          </a:rPr>
                          <m:t>(0)</m:t>
                        </m:r>
                      </m:sup>
                    </m:sSubSup>
                    <m:r>
                      <a:rPr lang="en-AU" altLang="zh-CN" b="0" i="1" dirty="0" smtClean="0">
                        <a:latin typeface="Cambria Math" panose="02040503050406030204" pitchFamily="18" charset="0"/>
                      </a:rPr>
                      <m:t>=</m:t>
                    </m:r>
                    <m:r>
                      <a:rPr lang="en-AU" altLang="zh-CN" b="1" i="1" dirty="0" smtClean="0">
                        <a:latin typeface="Cambria Math" panose="02040503050406030204" pitchFamily="18" charset="0"/>
                      </a:rPr>
                      <m:t>𝒂</m:t>
                    </m:r>
                  </m:oMath>
                </a14:m>
                <a:r>
                  <a:rPr lang="en-US" altLang="zh-CN" dirty="0">
                    <a:solidFill>
                      <a:schemeClr val="tx1"/>
                    </a:solidFill>
                    <a:latin typeface="Cambria Math" panose="02040503050406030204" pitchFamily="18" charset="0"/>
                  </a:rPr>
                  <a:t> </a:t>
                </a:r>
                <a:endParaRPr lang="en-US" altLang="zh-CN" dirty="0">
                  <a:latin typeface="Cambria Math" panose="02040503050406030204" pitchFamily="18" charset="0"/>
                </a:endParaRPr>
              </a:p>
              <a:p>
                <a:pPr marL="342900" lvl="1" indent="0">
                  <a:buNone/>
                </a:pPr>
                <a:endParaRPr lang="en-AU" altLang="zh-CN" dirty="0">
                  <a:latin typeface="Cambria Math" panose="02040503050406030204" pitchFamily="18" charset="0"/>
                </a:endParaRPr>
              </a:p>
              <a:p>
                <a:pPr lvl="1"/>
                <a:r>
                  <a:rPr lang="zh-CN" altLang="en-US" dirty="0">
                    <a:solidFill>
                      <a:schemeClr val="tx1"/>
                    </a:solidFill>
                    <a:latin typeface="Cambria Math" panose="02040503050406030204" pitchFamily="18" charset="0"/>
                  </a:rPr>
                  <a:t>有多个</a:t>
                </a:r>
                <a14:m>
                  <m:oMath xmlns:m="http://schemas.openxmlformats.org/officeDocument/2006/math">
                    <m:r>
                      <a:rPr lang="en-AU" altLang="zh-CN" i="1" dirty="0" smtClean="0">
                        <a:solidFill>
                          <a:schemeClr val="tx1"/>
                        </a:solidFill>
                        <a:latin typeface="Cambria Math" panose="02040503050406030204" pitchFamily="18" charset="0"/>
                      </a:rPr>
                      <m:t>𝑖</m:t>
                    </m:r>
                  </m:oMath>
                </a14:m>
                <a:r>
                  <a:rPr lang="zh-CN" altLang="en-US" dirty="0">
                    <a:solidFill>
                      <a:schemeClr val="tx1"/>
                    </a:solidFill>
                    <a:latin typeface="Cambria Math" panose="02040503050406030204" pitchFamily="18" charset="0"/>
                  </a:rPr>
                  <a:t>到</a:t>
                </a:r>
                <a14:m>
                  <m:oMath xmlns:m="http://schemas.openxmlformats.org/officeDocument/2006/math">
                    <m:r>
                      <a:rPr lang="en-US" altLang="zh-CN" i="1" dirty="0" smtClean="0">
                        <a:solidFill>
                          <a:schemeClr val="tx1"/>
                        </a:solidFill>
                        <a:latin typeface="Cambria Math" panose="02040503050406030204" pitchFamily="18" charset="0"/>
                      </a:rPr>
                      <m:t>𝑗</m:t>
                    </m:r>
                  </m:oMath>
                </a14:m>
                <a:r>
                  <a:rPr lang="zh-CN" altLang="en-US" dirty="0">
                    <a:solidFill>
                      <a:schemeClr val="tx1"/>
                    </a:solidFill>
                    <a:latin typeface="Cambria Math" panose="02040503050406030204" pitchFamily="18" charset="0"/>
                  </a:rPr>
                  <a:t>的转移</a:t>
                </a:r>
                <a:r>
                  <a:rPr lang="en-US" altLang="zh-CN" dirty="0">
                    <a:solidFill>
                      <a:schemeClr val="tx1"/>
                    </a:solidFill>
                    <a:latin typeface="Cambria Math" panose="02040503050406030204" pitchFamily="18" charset="0"/>
                  </a:rPr>
                  <a:t> </a:t>
                </a:r>
                <a14:m>
                  <m:oMath xmlns:m="http://schemas.openxmlformats.org/officeDocument/2006/math">
                    <m:sSubSup>
                      <m:sSubSupPr>
                        <m:ctrlPr>
                          <a:rPr lang="en-US" altLang="zh-CN" i="1" dirty="0" smtClean="0">
                            <a:latin typeface="Cambria Math" panose="02040503050406030204" pitchFamily="18" charset="0"/>
                          </a:rPr>
                        </m:ctrlPr>
                      </m:sSubSupPr>
                      <m:e>
                        <m:r>
                          <a:rPr lang="en-AU" altLang="zh-CN" i="1" dirty="0">
                            <a:latin typeface="Cambria Math" panose="02040503050406030204" pitchFamily="18" charset="0"/>
                          </a:rPr>
                          <m:t>𝑅</m:t>
                        </m:r>
                      </m:e>
                      <m:sub>
                        <m:r>
                          <a:rPr lang="en-AU" altLang="zh-CN" i="1" dirty="0">
                            <a:latin typeface="Cambria Math" panose="02040503050406030204" pitchFamily="18" charset="0"/>
                          </a:rPr>
                          <m:t>𝑖</m:t>
                        </m:r>
                        <m:r>
                          <a:rPr lang="en-AU" altLang="zh-CN" i="1" dirty="0">
                            <a:latin typeface="Cambria Math" panose="02040503050406030204" pitchFamily="18" charset="0"/>
                          </a:rPr>
                          <m:t>,</m:t>
                        </m:r>
                        <m:r>
                          <a:rPr lang="en-AU" altLang="zh-CN" i="1" dirty="0">
                            <a:latin typeface="Cambria Math" panose="02040503050406030204" pitchFamily="18" charset="0"/>
                          </a:rPr>
                          <m:t>𝑗</m:t>
                        </m:r>
                      </m:sub>
                      <m:sup>
                        <m:r>
                          <a:rPr lang="en-AU" altLang="zh-CN" i="1" dirty="0">
                            <a:latin typeface="Cambria Math" panose="02040503050406030204" pitchFamily="18" charset="0"/>
                          </a:rPr>
                          <m:t>(0)</m:t>
                        </m:r>
                      </m:sup>
                    </m:sSubSup>
                    <m:r>
                      <a:rPr lang="en-AU" altLang="zh-CN" b="0" i="1" dirty="0" smtClean="0">
                        <a:latin typeface="Cambria Math" panose="02040503050406030204" pitchFamily="18" charset="0"/>
                      </a:rPr>
                      <m:t>=</m:t>
                    </m:r>
                    <m:sSub>
                      <m:sSubPr>
                        <m:ctrlPr>
                          <a:rPr lang="en-AU" altLang="zh-CN" b="0" i="1" dirty="0" smtClean="0">
                            <a:latin typeface="Cambria Math" panose="02040503050406030204" pitchFamily="18" charset="0"/>
                          </a:rPr>
                        </m:ctrlPr>
                      </m:sSubPr>
                      <m:e>
                        <m:r>
                          <a:rPr lang="en-AU" altLang="zh-CN" b="1" i="1" dirty="0" smtClean="0">
                            <a:latin typeface="Cambria Math" panose="02040503050406030204" pitchFamily="18" charset="0"/>
                          </a:rPr>
                          <m:t>𝒂</m:t>
                        </m:r>
                      </m:e>
                      <m:sub>
                        <m:r>
                          <a:rPr lang="en-AU" altLang="zh-CN" b="0" i="1" dirty="0" smtClean="0">
                            <a:latin typeface="Cambria Math" panose="02040503050406030204" pitchFamily="18" charset="0"/>
                          </a:rPr>
                          <m:t>1</m:t>
                        </m:r>
                      </m:sub>
                    </m:sSub>
                    <m:r>
                      <a:rPr lang="en-AU" altLang="zh-CN" b="0" i="1" dirty="0" smtClean="0">
                        <a:latin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b="1" i="1" dirty="0">
                            <a:latin typeface="Cambria Math" panose="02040503050406030204" pitchFamily="18" charset="0"/>
                          </a:rPr>
                          <m:t>𝒂</m:t>
                        </m:r>
                      </m:e>
                      <m:sub>
                        <m:r>
                          <a:rPr lang="en-AU" altLang="zh-CN" b="0" i="1" dirty="0" smtClean="0">
                            <a:latin typeface="Cambria Math" panose="02040503050406030204" pitchFamily="18" charset="0"/>
                          </a:rPr>
                          <m:t>𝑡</m:t>
                        </m:r>
                      </m:sub>
                    </m:sSub>
                  </m:oMath>
                </a14:m>
                <a:endParaRPr lang="en-US" altLang="zh-CN" dirty="0">
                  <a:latin typeface="Cambria Math" panose="02040503050406030204" pitchFamily="18" charset="0"/>
                </a:endParaRPr>
              </a:p>
              <a:p>
                <a:pPr lvl="1"/>
                <a:endParaRPr lang="en-US" altLang="zh-CN" dirty="0">
                  <a:solidFill>
                    <a:schemeClr val="tx1"/>
                  </a:solidFill>
                  <a:latin typeface="Cambria Math" panose="02040503050406030204" pitchFamily="18" charset="0"/>
                </a:endParaRPr>
              </a:p>
              <a:p>
                <a:endParaRPr lang="en-US" altLang="zh-CN" dirty="0"/>
              </a:p>
              <a:p>
                <a:pPr lvl="1"/>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152400" y="859403"/>
                <a:ext cx="8229600" cy="5846197"/>
              </a:xfrm>
              <a:blipFill rotWithShape="1">
                <a:blip r:embed="rId3"/>
                <a:stretch>
                  <a:fillRect t="-4" b="-10221"/>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pPr>
              <a:defRPr/>
            </a:pPr>
            <a:fld id="{A619564F-3A13-4140-9CFC-3B75A7CC7F9C}" type="slidenum">
              <a:rPr lang="en-US" altLang="zh-CN" smtClean="0"/>
              <a:t>19</a:t>
            </a:fld>
            <a:endParaRPr lang="en-US" altLang="zh-CN"/>
          </a:p>
        </p:txBody>
      </p:sp>
      <p:pic>
        <p:nvPicPr>
          <p:cNvPr id="6" name="Picture 5" descr="A picture containing background pattern&#10;&#10;Description automatically generated"/>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629530" y="2814875"/>
            <a:ext cx="2133470" cy="635501"/>
          </a:xfrm>
          <a:prstGeom prst="rect">
            <a:avLst/>
          </a:prstGeom>
        </p:spPr>
      </p:pic>
      <p:pic>
        <p:nvPicPr>
          <p:cNvPr id="8" name="Picture 7" descr="A picture containing text, clock, gauge&#10;&#10;Description automatically generated"/>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705600" y="3943332"/>
            <a:ext cx="2133470" cy="791604"/>
          </a:xfrm>
          <a:prstGeom prst="rect">
            <a:avLst/>
          </a:prstGeom>
        </p:spPr>
      </p:pic>
      <p:pic>
        <p:nvPicPr>
          <p:cNvPr id="10" name="Picture 9" descr="Diagram&#10;&#10;Description automatically generated"/>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883400" y="4911252"/>
            <a:ext cx="2057400" cy="1256289"/>
          </a:xfrm>
          <a:prstGeom prst="rect">
            <a:avLst/>
          </a:prstGeom>
        </p:spPr>
      </p:pic>
      <p:sp>
        <p:nvSpPr>
          <p:cNvPr id="9" name="Title 1"/>
          <p:cNvSpPr>
            <a:spLocks noGrp="1"/>
          </p:cNvSpPr>
          <p:nvPr>
            <p:ph type="title"/>
          </p:nvPr>
        </p:nvSpPr>
        <p:spPr>
          <a:xfrm>
            <a:off x="685800" y="152400"/>
            <a:ext cx="8229600" cy="393065"/>
          </a:xfrm>
        </p:spPr>
        <p:txBody>
          <a:bodyPr/>
          <a:lstStyle/>
          <a:p>
            <a:pPr algn="r"/>
            <a:r>
              <a:rPr lang="en-US" altLang="zh-CN" sz="3600" dirty="0">
                <a:solidFill>
                  <a:schemeClr val="bg1"/>
                </a:solidFill>
                <a:latin typeface="Times New Roman" panose="02020603050405020304" pitchFamily="18" charset="0"/>
                <a:cs typeface="Times New Roman" panose="02020603050405020304" pitchFamily="18" charset="0"/>
              </a:rPr>
              <a:t>DFA</a:t>
            </a:r>
            <a:r>
              <a:rPr lang="en-US" altLang="zh-CN" sz="3600" dirty="0">
                <a:solidFill>
                  <a:schemeClr val="bg1"/>
                </a:solidFill>
              </a:rPr>
              <a:t>-&gt;</a:t>
            </a:r>
            <a:r>
              <a:rPr lang="zh-CN" altLang="en-US" sz="3600" dirty="0">
                <a:solidFill>
                  <a:schemeClr val="bg1"/>
                </a:solidFill>
              </a:rPr>
              <a:t>正则表达式</a:t>
            </a:r>
            <a:r>
              <a:rPr lang="en-AU" altLang="zh-CN" sz="3600" dirty="0">
                <a:solidFill>
                  <a:schemeClr val="bg1"/>
                </a:solidFill>
              </a:rPr>
              <a:t>:</a:t>
            </a:r>
            <a:r>
              <a:rPr lang="zh-CN" altLang="en-US" sz="3600" dirty="0">
                <a:solidFill>
                  <a:schemeClr val="bg1"/>
                </a:solidFill>
              </a:rPr>
              <a:t>递归法</a:t>
            </a:r>
            <a:endParaRPr lang="en-AU" sz="36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58450"/>
    </mc:Choice>
    <mc:Fallback xmlns="">
      <p:transition spd="slow" advTm="5845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 y="846707"/>
                <a:ext cx="8534400" cy="4525963"/>
              </a:xfrm>
            </p:spPr>
            <p:txBody>
              <a:bodyPr>
                <a:normAutofit/>
              </a:bodyPr>
              <a:lstStyle/>
              <a:p>
                <a:r>
                  <a:rPr lang="zh-CN" altLang="en-US" dirty="0"/>
                  <a:t>归纳基础</a:t>
                </a:r>
                <a:r>
                  <a:rPr lang="en-AU" altLang="zh-CN" dirty="0"/>
                  <a:t>:</a:t>
                </a:r>
                <a14:m>
                  <m:oMath xmlns:m="http://schemas.openxmlformats.org/officeDocument/2006/math">
                    <m:r>
                      <a:rPr lang="en-AU" altLang="zh-CN" i="1" dirty="0" smtClean="0">
                        <a:latin typeface="Cambria Math" panose="02040503050406030204" pitchFamily="18" charset="0"/>
                      </a:rPr>
                      <m:t>𝑘</m:t>
                    </m:r>
                    <m:r>
                      <a:rPr lang="en-AU" altLang="zh-CN" i="1" dirty="0" smtClean="0">
                        <a:latin typeface="Cambria Math" panose="02040503050406030204" pitchFamily="18" charset="0"/>
                      </a:rPr>
                      <m:t>=0</m:t>
                    </m:r>
                  </m:oMath>
                </a14:m>
                <a:r>
                  <a:rPr lang="en-AU" altLang="zh-CN" dirty="0"/>
                  <a:t>,</a:t>
                </a:r>
                <a:r>
                  <a:rPr lang="en-US" altLang="zh-CN" sz="3200" dirty="0">
                    <a:solidFill>
                      <a:srgbClr val="3333FF"/>
                    </a:solidFill>
                  </a:rPr>
                  <a:t> </a:t>
                </a:r>
                <a14:m>
                  <m:oMath xmlns:m="http://schemas.openxmlformats.org/officeDocument/2006/math">
                    <m:sSubSup>
                      <m:sSubSupPr>
                        <m:ctrlPr>
                          <a:rPr lang="en-US" altLang="zh-CN" sz="3200" i="1" dirty="0" smtClean="0">
                            <a:solidFill>
                              <a:schemeClr val="tx1"/>
                            </a:solidFill>
                            <a:latin typeface="Cambria Math" panose="02040503050406030204" pitchFamily="18" charset="0"/>
                          </a:rPr>
                        </m:ctrlPr>
                      </m:sSubSupPr>
                      <m:e>
                        <m:r>
                          <a:rPr lang="en-AU" altLang="zh-CN" sz="3200" b="0" i="1" dirty="0" smtClean="0">
                            <a:solidFill>
                              <a:schemeClr val="tx1"/>
                            </a:solidFill>
                            <a:latin typeface="Cambria Math" panose="02040503050406030204" pitchFamily="18" charset="0"/>
                          </a:rPr>
                          <m:t>𝑅</m:t>
                        </m:r>
                      </m:e>
                      <m:sub>
                        <m:r>
                          <a:rPr lang="en-AU" altLang="zh-CN" sz="3200" b="0" i="1" dirty="0" smtClean="0">
                            <a:solidFill>
                              <a:schemeClr val="tx1"/>
                            </a:solidFill>
                            <a:latin typeface="Cambria Math" panose="02040503050406030204" pitchFamily="18" charset="0"/>
                          </a:rPr>
                          <m:t>𝑖</m:t>
                        </m:r>
                        <m:r>
                          <a:rPr lang="en-AU" altLang="zh-CN" sz="3200" b="0" i="1" dirty="0" smtClean="0">
                            <a:solidFill>
                              <a:schemeClr val="tx1"/>
                            </a:solidFill>
                            <a:latin typeface="Cambria Math" panose="02040503050406030204" pitchFamily="18" charset="0"/>
                          </a:rPr>
                          <m:t>,</m:t>
                        </m:r>
                        <m:r>
                          <a:rPr lang="en-AU" altLang="zh-CN" sz="3200" b="0" i="1" dirty="0" smtClean="0">
                            <a:solidFill>
                              <a:schemeClr val="tx1"/>
                            </a:solidFill>
                            <a:latin typeface="Cambria Math" panose="02040503050406030204" pitchFamily="18" charset="0"/>
                          </a:rPr>
                          <m:t>𝑗</m:t>
                        </m:r>
                      </m:sub>
                      <m:sup>
                        <m:r>
                          <a:rPr lang="en-AU" altLang="zh-CN" sz="3200" b="0" i="1" dirty="0" smtClean="0">
                            <a:solidFill>
                              <a:schemeClr val="tx1"/>
                            </a:solidFill>
                            <a:latin typeface="Cambria Math" panose="02040503050406030204" pitchFamily="18" charset="0"/>
                          </a:rPr>
                          <m:t>(0)</m:t>
                        </m:r>
                      </m:sup>
                    </m:sSubSup>
                  </m:oMath>
                </a14:m>
                <a:r>
                  <a:rPr lang="zh-CN" altLang="en-US" dirty="0"/>
                  <a:t>为从 </a:t>
                </a:r>
                <a14:m>
                  <m:oMath xmlns:m="http://schemas.openxmlformats.org/officeDocument/2006/math">
                    <m:r>
                      <a:rPr lang="en-US" altLang="zh-CN" i="1" dirty="0" smtClean="0">
                        <a:latin typeface="Cambria Math" panose="02040503050406030204" pitchFamily="18" charset="0"/>
                      </a:rPr>
                      <m:t>𝑖</m:t>
                    </m:r>
                  </m:oMath>
                </a14:m>
                <a:r>
                  <a:rPr lang="zh-CN" altLang="en-US" dirty="0"/>
                  <a:t> 直接到</a:t>
                </a:r>
                <a14:m>
                  <m:oMath xmlns:m="http://schemas.openxmlformats.org/officeDocument/2006/math">
                    <m:r>
                      <a:rPr lang="en-US" altLang="zh-CN" b="1" i="0" dirty="0" smtClean="0">
                        <a:latin typeface="Cambria Math" panose="02040503050406030204" pitchFamily="18" charset="0"/>
                      </a:rPr>
                      <m:t> </m:t>
                    </m:r>
                    <m:r>
                      <a:rPr lang="en-US" altLang="zh-CN" i="1" dirty="0" smtClean="0">
                        <a:latin typeface="Cambria Math" panose="02040503050406030204" pitchFamily="18" charset="0"/>
                      </a:rPr>
                      <m:t>𝑗</m:t>
                    </m:r>
                  </m:oMath>
                </a14:m>
                <a:r>
                  <a:rPr lang="zh-CN" altLang="en-US" dirty="0"/>
                  <a:t> ，没有经过任何中间节点的字符串集合</a:t>
                </a:r>
                <a:endParaRPr lang="en-AU" altLang="zh-CN" dirty="0"/>
              </a:p>
              <a:p>
                <a:r>
                  <a:rPr lang="zh-CN" altLang="en-US" dirty="0"/>
                  <a:t>情况</a:t>
                </a:r>
                <a:r>
                  <a:rPr lang="en-US" altLang="zh-CN" dirty="0"/>
                  <a:t>2</a:t>
                </a:r>
                <a:r>
                  <a:rPr lang="en-AU" altLang="zh-CN" dirty="0"/>
                  <a:t>:</a:t>
                </a:r>
                <a:r>
                  <a:rPr lang="en-US" dirty="0"/>
                  <a:t> </a:t>
                </a:r>
                <a14:m>
                  <m:oMath xmlns:m="http://schemas.openxmlformats.org/officeDocument/2006/math">
                    <m:r>
                      <a:rPr lang="en-US" i="1" dirty="0" smtClean="0">
                        <a:latin typeface="Cambria Math" panose="02040503050406030204" pitchFamily="18" charset="0"/>
                      </a:rPr>
                      <m:t>𝑖</m:t>
                    </m:r>
                  </m:oMath>
                </a14:m>
                <a:r>
                  <a:rPr lang="zh-CN" altLang="en-US" dirty="0"/>
                  <a:t>等于</a:t>
                </a:r>
                <a14:m>
                  <m:oMath xmlns:m="http://schemas.openxmlformats.org/officeDocument/2006/math">
                    <m:r>
                      <a:rPr lang="en-AU" altLang="zh-CN" i="1" dirty="0" smtClean="0">
                        <a:latin typeface="Cambria Math" panose="02040503050406030204" pitchFamily="18" charset="0"/>
                      </a:rPr>
                      <m:t>𝑗</m:t>
                    </m:r>
                  </m:oMath>
                </a14:m>
                <a:endParaRPr lang="en-AU" altLang="zh-CN" b="1" dirty="0">
                  <a:solidFill>
                    <a:schemeClr val="tx1"/>
                  </a:solidFill>
                  <a:ea typeface="Cambria Math" panose="02040503050406030204" pitchFamily="18" charset="0"/>
                </a:endParaRPr>
              </a:p>
              <a:p>
                <a:pPr lvl="1"/>
                <a:r>
                  <a:rPr lang="zh-CN" altLang="en-US" dirty="0"/>
                  <a:t>状态</a:t>
                </a:r>
                <a14:m>
                  <m:oMath xmlns:m="http://schemas.openxmlformats.org/officeDocument/2006/math">
                    <m:r>
                      <a:rPr lang="en-US" altLang="zh-CN" i="1" dirty="0" smtClean="0">
                        <a:latin typeface="Cambria Math" panose="02040503050406030204" pitchFamily="18" charset="0"/>
                      </a:rPr>
                      <m:t>𝑖</m:t>
                    </m:r>
                  </m:oMath>
                </a14:m>
                <a:r>
                  <a:rPr lang="zh-CN" altLang="en-US" dirty="0"/>
                  <a:t>没有到自身的转移</a:t>
                </a:r>
                <a14:m>
                  <m:oMath xmlns:m="http://schemas.openxmlformats.org/officeDocument/2006/math">
                    <m:sSubSup>
                      <m:sSubSupPr>
                        <m:ctrlPr>
                          <a:rPr lang="en-US" altLang="zh-CN" i="1" dirty="0">
                            <a:latin typeface="Cambria Math" panose="02040503050406030204" pitchFamily="18" charset="0"/>
                          </a:rPr>
                        </m:ctrlPr>
                      </m:sSubSupPr>
                      <m:e>
                        <m:r>
                          <a:rPr lang="en-AU" altLang="zh-CN" i="1" dirty="0">
                            <a:latin typeface="Cambria Math" panose="02040503050406030204" pitchFamily="18" charset="0"/>
                          </a:rPr>
                          <m:t>𝑅</m:t>
                        </m:r>
                      </m:e>
                      <m:sub>
                        <m:r>
                          <a:rPr lang="en-AU" altLang="zh-CN" i="1" dirty="0">
                            <a:latin typeface="Cambria Math" panose="02040503050406030204" pitchFamily="18" charset="0"/>
                          </a:rPr>
                          <m:t>𝑖</m:t>
                        </m:r>
                        <m:r>
                          <a:rPr lang="en-AU" altLang="zh-CN" i="1" dirty="0">
                            <a:latin typeface="Cambria Math" panose="02040503050406030204" pitchFamily="18" charset="0"/>
                          </a:rPr>
                          <m:t>,</m:t>
                        </m:r>
                        <m:r>
                          <a:rPr lang="en-AU" altLang="zh-CN" i="1" dirty="0">
                            <a:latin typeface="Cambria Math" panose="02040503050406030204" pitchFamily="18" charset="0"/>
                          </a:rPr>
                          <m:t>𝑗</m:t>
                        </m:r>
                      </m:sub>
                      <m:sup>
                        <m:r>
                          <a:rPr lang="en-AU" altLang="zh-CN" i="1" dirty="0">
                            <a:latin typeface="Cambria Math" panose="02040503050406030204" pitchFamily="18" charset="0"/>
                          </a:rPr>
                          <m:t>(0)</m:t>
                        </m:r>
                      </m:sup>
                    </m:sSubSup>
                    <m:r>
                      <a:rPr lang="en-AU" altLang="zh-CN" sz="2400" b="0" i="1" dirty="0" smtClean="0">
                        <a:solidFill>
                          <a:schemeClr val="tx1"/>
                        </a:solidFill>
                        <a:latin typeface="Cambria Math" panose="02040503050406030204" pitchFamily="18" charset="0"/>
                        <a:ea typeface="Cambria Math" panose="02040503050406030204" pitchFamily="18" charset="0"/>
                      </a:rPr>
                      <m:t>=</m:t>
                    </m:r>
                    <m:r>
                      <a:rPr lang="zh-CN" altLang="en-AU" sz="2400" b="1" i="1" dirty="0" smtClean="0">
                        <a:solidFill>
                          <a:schemeClr val="tx1"/>
                        </a:solidFill>
                        <a:latin typeface="Cambria Math" panose="02040503050406030204" pitchFamily="18" charset="0"/>
                        <a:ea typeface="Cambria Math" panose="02040503050406030204" pitchFamily="18" charset="0"/>
                      </a:rPr>
                      <m:t>𝜺</m:t>
                    </m:r>
                  </m:oMath>
                </a14:m>
                <a:endParaRPr lang="en-AU" altLang="zh-CN" dirty="0"/>
              </a:p>
              <a:p>
                <a:pPr lvl="1"/>
                <a:r>
                  <a:rPr lang="zh-CN" altLang="en-US" dirty="0"/>
                  <a:t>状态</a:t>
                </a:r>
                <a14:m>
                  <m:oMath xmlns:m="http://schemas.openxmlformats.org/officeDocument/2006/math">
                    <m:r>
                      <a:rPr lang="en-US" altLang="zh-CN" i="1" dirty="0" smtClean="0">
                        <a:latin typeface="Cambria Math" panose="02040503050406030204" pitchFamily="18" charset="0"/>
                      </a:rPr>
                      <m:t>𝑖</m:t>
                    </m:r>
                  </m:oMath>
                </a14:m>
                <a:r>
                  <a:rPr lang="zh-CN" altLang="en-US" dirty="0"/>
                  <a:t>有一个到自身的转移</a:t>
                </a:r>
                <a14:m>
                  <m:oMath xmlns:m="http://schemas.openxmlformats.org/officeDocument/2006/math">
                    <m:sSubSup>
                      <m:sSubSupPr>
                        <m:ctrlPr>
                          <a:rPr lang="en-US" altLang="zh-CN" i="1" dirty="0">
                            <a:latin typeface="Cambria Math" panose="02040503050406030204" pitchFamily="18" charset="0"/>
                          </a:rPr>
                        </m:ctrlPr>
                      </m:sSubSupPr>
                      <m:e>
                        <m:r>
                          <a:rPr lang="en-AU" altLang="zh-CN" i="1" dirty="0">
                            <a:latin typeface="Cambria Math" panose="02040503050406030204" pitchFamily="18" charset="0"/>
                          </a:rPr>
                          <m:t>𝑅</m:t>
                        </m:r>
                      </m:e>
                      <m:sub>
                        <m:r>
                          <a:rPr lang="en-AU" altLang="zh-CN" i="1" dirty="0">
                            <a:latin typeface="Cambria Math" panose="02040503050406030204" pitchFamily="18" charset="0"/>
                          </a:rPr>
                          <m:t>𝑖</m:t>
                        </m:r>
                        <m:r>
                          <a:rPr lang="en-AU" altLang="zh-CN" i="1" dirty="0">
                            <a:latin typeface="Cambria Math" panose="02040503050406030204" pitchFamily="18" charset="0"/>
                          </a:rPr>
                          <m:t>,</m:t>
                        </m:r>
                        <m:r>
                          <a:rPr lang="en-AU" altLang="zh-CN" i="1" dirty="0">
                            <a:latin typeface="Cambria Math" panose="02040503050406030204" pitchFamily="18" charset="0"/>
                          </a:rPr>
                          <m:t>𝑗</m:t>
                        </m:r>
                      </m:sub>
                      <m:sup>
                        <m:r>
                          <a:rPr lang="en-AU" altLang="zh-CN" i="1" dirty="0">
                            <a:latin typeface="Cambria Math" panose="02040503050406030204" pitchFamily="18" charset="0"/>
                          </a:rPr>
                          <m:t>(0)</m:t>
                        </m:r>
                      </m:sup>
                    </m:sSubSup>
                    <m:r>
                      <a:rPr lang="en-AU" altLang="zh-CN" b="0" i="1" dirty="0" smtClean="0">
                        <a:latin typeface="Cambria Math" panose="02040503050406030204" pitchFamily="18" charset="0"/>
                      </a:rPr>
                      <m:t>=</m:t>
                    </m:r>
                    <m:r>
                      <a:rPr lang="en-AU" altLang="zh-CN" b="1" i="1" dirty="0" smtClean="0">
                        <a:latin typeface="Cambria Math" panose="02040503050406030204" pitchFamily="18" charset="0"/>
                      </a:rPr>
                      <m:t>𝒂</m:t>
                    </m:r>
                    <m:r>
                      <a:rPr lang="en-AU" altLang="zh-CN" b="1" i="1" dirty="0" smtClean="0">
                        <a:latin typeface="Cambria Math" panose="02040503050406030204" pitchFamily="18" charset="0"/>
                      </a:rPr>
                      <m:t>+</m:t>
                    </m:r>
                    <m:r>
                      <a:rPr lang="zh-CN" altLang="en-AU" b="1" i="1" dirty="0">
                        <a:latin typeface="Cambria Math" panose="02040503050406030204" pitchFamily="18" charset="0"/>
                        <a:ea typeface="Cambria Math" panose="02040503050406030204" pitchFamily="18" charset="0"/>
                      </a:rPr>
                      <m:t>𝜺</m:t>
                    </m:r>
                  </m:oMath>
                </a14:m>
                <a:endParaRPr lang="en-AU" altLang="zh-CN" b="1" dirty="0"/>
              </a:p>
              <a:p>
                <a:pPr lvl="1"/>
                <a:r>
                  <a:rPr lang="zh-CN" altLang="en-US" dirty="0"/>
                  <a:t>状态</a:t>
                </a:r>
                <a14:m>
                  <m:oMath xmlns:m="http://schemas.openxmlformats.org/officeDocument/2006/math">
                    <m:r>
                      <a:rPr lang="en-US" altLang="zh-CN" i="1" dirty="0" smtClean="0">
                        <a:latin typeface="Cambria Math" panose="02040503050406030204" pitchFamily="18" charset="0"/>
                      </a:rPr>
                      <m:t>𝑖</m:t>
                    </m:r>
                  </m:oMath>
                </a14:m>
                <a:r>
                  <a:rPr lang="zh-CN" altLang="en-US" dirty="0"/>
                  <a:t>有多个到自身的转移</a:t>
                </a:r>
                <a14:m>
                  <m:oMath xmlns:m="http://schemas.openxmlformats.org/officeDocument/2006/math">
                    <m:sSubSup>
                      <m:sSubSupPr>
                        <m:ctrlPr>
                          <a:rPr lang="en-US" altLang="zh-CN" i="1" dirty="0">
                            <a:latin typeface="Cambria Math" panose="02040503050406030204" pitchFamily="18" charset="0"/>
                          </a:rPr>
                        </m:ctrlPr>
                      </m:sSubSupPr>
                      <m:e>
                        <m:r>
                          <a:rPr lang="en-AU" altLang="zh-CN" i="1" dirty="0">
                            <a:latin typeface="Cambria Math" panose="02040503050406030204" pitchFamily="18" charset="0"/>
                          </a:rPr>
                          <m:t>𝑅</m:t>
                        </m:r>
                      </m:e>
                      <m:sub>
                        <m:r>
                          <a:rPr lang="en-AU" altLang="zh-CN" i="1" dirty="0">
                            <a:latin typeface="Cambria Math" panose="02040503050406030204" pitchFamily="18" charset="0"/>
                          </a:rPr>
                          <m:t>𝑖</m:t>
                        </m:r>
                        <m:r>
                          <a:rPr lang="en-AU" altLang="zh-CN" i="1" dirty="0">
                            <a:latin typeface="Cambria Math" panose="02040503050406030204" pitchFamily="18" charset="0"/>
                          </a:rPr>
                          <m:t>,</m:t>
                        </m:r>
                        <m:r>
                          <a:rPr lang="en-AU" altLang="zh-CN" i="1" dirty="0">
                            <a:latin typeface="Cambria Math" panose="02040503050406030204" pitchFamily="18" charset="0"/>
                          </a:rPr>
                          <m:t>𝑗</m:t>
                        </m:r>
                      </m:sub>
                      <m:sup>
                        <m:r>
                          <a:rPr lang="en-AU" altLang="zh-CN" i="1" dirty="0">
                            <a:latin typeface="Cambria Math" panose="02040503050406030204" pitchFamily="18" charset="0"/>
                          </a:rPr>
                          <m:t>(0)</m:t>
                        </m:r>
                      </m:sup>
                    </m:sSubSup>
                    <m:r>
                      <a:rPr lang="en-AU" altLang="zh-CN" b="0" i="1" dirty="0" smtClean="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b="1" i="1" dirty="0">
                            <a:latin typeface="Cambria Math" panose="02040503050406030204" pitchFamily="18" charset="0"/>
                          </a:rPr>
                          <m:t>𝒂</m:t>
                        </m:r>
                      </m:e>
                      <m:sub>
                        <m:r>
                          <a:rPr lang="en-AU" altLang="zh-CN" i="1" dirty="0">
                            <a:latin typeface="Cambria Math" panose="02040503050406030204" pitchFamily="18" charset="0"/>
                          </a:rPr>
                          <m:t>1</m:t>
                        </m:r>
                      </m:sub>
                    </m:sSub>
                    <m:r>
                      <a:rPr lang="en-AU" altLang="zh-CN" i="1" dirty="0">
                        <a:latin typeface="Cambria Math" panose="02040503050406030204" pitchFamily="18" charset="0"/>
                      </a:rPr>
                      <m:t>+</m:t>
                    </m:r>
                    <m:r>
                      <a:rPr lang="en-AU" altLang="zh-CN" i="1" dirty="0">
                        <a:latin typeface="Cambria Math" panose="02040503050406030204" pitchFamily="18" charset="0"/>
                        <a:ea typeface="Cambria Math" panose="02040503050406030204" pitchFamily="18" charset="0"/>
                      </a:rPr>
                      <m:t>⋯</m:t>
                    </m:r>
                    <m:r>
                      <a:rPr lang="en-AU" altLang="zh-CN" i="1" dirty="0">
                        <a:latin typeface="Cambria Math" panose="02040503050406030204" pitchFamily="18" charset="0"/>
                      </a:rPr>
                      <m:t>+</m:t>
                    </m:r>
                    <m:sSub>
                      <m:sSubPr>
                        <m:ctrlPr>
                          <a:rPr lang="en-AU" altLang="zh-CN" i="1" dirty="0">
                            <a:latin typeface="Cambria Math" panose="02040503050406030204" pitchFamily="18" charset="0"/>
                          </a:rPr>
                        </m:ctrlPr>
                      </m:sSubPr>
                      <m:e>
                        <m:r>
                          <a:rPr lang="en-AU" altLang="zh-CN" b="1" i="1" dirty="0">
                            <a:latin typeface="Cambria Math" panose="02040503050406030204" pitchFamily="18" charset="0"/>
                          </a:rPr>
                          <m:t>𝒂</m:t>
                        </m:r>
                      </m:e>
                      <m:sub>
                        <m:r>
                          <a:rPr lang="en-AU" altLang="zh-CN" i="1" dirty="0">
                            <a:latin typeface="Cambria Math" panose="02040503050406030204" pitchFamily="18" charset="0"/>
                          </a:rPr>
                          <m:t>𝑡</m:t>
                        </m:r>
                      </m:sub>
                    </m:sSub>
                    <m:r>
                      <a:rPr lang="en-AU" altLang="zh-CN" b="0" i="1" dirty="0" smtClean="0">
                        <a:latin typeface="Cambria Math" panose="02040503050406030204" pitchFamily="18" charset="0"/>
                      </a:rPr>
                      <m:t>+</m:t>
                    </m:r>
                    <m:r>
                      <a:rPr lang="zh-CN" altLang="en-AU" b="1" i="1" dirty="0">
                        <a:latin typeface="Cambria Math" panose="02040503050406030204" pitchFamily="18" charset="0"/>
                        <a:ea typeface="Cambria Math" panose="02040503050406030204" pitchFamily="18" charset="0"/>
                      </a:rPr>
                      <m:t>𝜺</m:t>
                    </m:r>
                  </m:oMath>
                </a14:m>
                <a:endParaRPr lang="en-AU" altLang="zh-CN" dirty="0"/>
              </a:p>
              <a:p>
                <a:pPr lvl="1"/>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76200" y="846707"/>
                <a:ext cx="8534400" cy="4525963"/>
              </a:xfrm>
              <a:blipFill rotWithShape="1">
                <a:blip r:embed="rId3"/>
                <a:stretch>
                  <a:fillRect t="-6" b="13"/>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pPr>
              <a:defRPr/>
            </a:pPr>
            <a:fld id="{A619564F-3A13-4140-9CFC-3B75A7CC7F9C}" type="slidenum">
              <a:rPr lang="en-US" altLang="zh-CN" smtClean="0"/>
              <a:t>20</a:t>
            </a:fld>
            <a:endParaRPr lang="en-US" altLang="zh-CN"/>
          </a:p>
        </p:txBody>
      </p:sp>
      <p:pic>
        <p:nvPicPr>
          <p:cNvPr id="6" name="Picture 5" descr="A picture containing circle&#10;&#10;Description automatically generated"/>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942788" y="2462467"/>
            <a:ext cx="1091584" cy="647222"/>
          </a:xfrm>
          <a:prstGeom prst="rect">
            <a:avLst/>
          </a:prstGeom>
        </p:spPr>
      </p:pic>
      <p:pic>
        <p:nvPicPr>
          <p:cNvPr id="8" name="Picture 7" descr="A picture containing text&#10;&#10;Description automatically generated"/>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273240" y="3392582"/>
            <a:ext cx="1413560" cy="711460"/>
          </a:xfrm>
          <a:prstGeom prst="rect">
            <a:avLst/>
          </a:prstGeom>
        </p:spPr>
      </p:pic>
      <p:pic>
        <p:nvPicPr>
          <p:cNvPr id="10" name="Picture 9" descr="A picture containing text&#10;&#10;Description automatically generated"/>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040780" y="4725449"/>
            <a:ext cx="1447800" cy="1681316"/>
          </a:xfrm>
          <a:prstGeom prst="rect">
            <a:avLst/>
          </a:prstGeom>
        </p:spPr>
      </p:pic>
      <p:sp>
        <p:nvSpPr>
          <p:cNvPr id="11" name="Title 1"/>
          <p:cNvSpPr txBox="1"/>
          <p:nvPr/>
        </p:nvSpPr>
        <p:spPr>
          <a:xfrm>
            <a:off x="685800" y="152400"/>
            <a:ext cx="8229600" cy="393065"/>
          </a:xfrm>
          <a:prstGeom prst="rect">
            <a:avLst/>
          </a:prstGeom>
          <a:noFill/>
          <a:ln w="9525">
            <a:noFill/>
          </a:ln>
        </p:spPr>
        <p:txBody>
          <a:bodyPr vert="horz" lIns="91440" tIns="45720" rIns="91440" bIns="45720" anchor="ctr" anchorCtr="0"/>
          <a:lstStyle>
            <a:lvl1pPr algn="ctr" defTabSz="914400" rtl="0" eaLnBrk="1" latinLnBrk="0" hangingPunct="1">
              <a:spcBef>
                <a:spcPct val="0"/>
              </a:spcBef>
              <a:buNone/>
              <a:defRPr sz="4400" b="1" kern="1200">
                <a:solidFill>
                  <a:schemeClr val="tx1"/>
                </a:solidFill>
                <a:latin typeface="黑体" panose="02010609060101010101" pitchFamily="49" charset="-122"/>
                <a:ea typeface="黑体" panose="02010609060101010101" pitchFamily="49" charset="-122"/>
                <a:cs typeface="+mj-cs"/>
              </a:defRPr>
            </a:lvl1pPr>
          </a:lstStyle>
          <a:p>
            <a:pPr algn="r"/>
            <a:r>
              <a:rPr lang="en-US" altLang="zh-CN" sz="3600">
                <a:solidFill>
                  <a:schemeClr val="bg1"/>
                </a:solidFill>
                <a:latin typeface="Times New Roman" panose="02020603050405020304" pitchFamily="18" charset="0"/>
                <a:cs typeface="Times New Roman" panose="02020603050405020304" pitchFamily="18" charset="0"/>
              </a:rPr>
              <a:t>DFA</a:t>
            </a:r>
            <a:r>
              <a:rPr lang="en-US" altLang="zh-CN" sz="3600">
                <a:solidFill>
                  <a:schemeClr val="bg1"/>
                </a:solidFill>
              </a:rPr>
              <a:t>-&gt;</a:t>
            </a:r>
            <a:r>
              <a:rPr lang="zh-CN" altLang="en-US" sz="3600">
                <a:solidFill>
                  <a:schemeClr val="bg1"/>
                </a:solidFill>
              </a:rPr>
              <a:t>正则表达式</a:t>
            </a:r>
            <a:r>
              <a:rPr lang="en-AU" altLang="zh-CN" sz="3600">
                <a:solidFill>
                  <a:schemeClr val="bg1"/>
                </a:solidFill>
              </a:rPr>
              <a:t>:</a:t>
            </a:r>
            <a:r>
              <a:rPr lang="zh-CN" altLang="en-US" sz="3600">
                <a:solidFill>
                  <a:schemeClr val="bg1"/>
                </a:solidFill>
              </a:rPr>
              <a:t>递归法</a:t>
            </a:r>
            <a:endParaRPr lang="en-AU" sz="36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58450"/>
    </mc:Choice>
    <mc:Fallback xmlns="">
      <p:transition spd="slow" advTm="5845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3568" y="893941"/>
                <a:ext cx="8229600" cy="4525963"/>
              </a:xfrm>
            </p:spPr>
            <p:txBody>
              <a:bodyPr/>
              <a:lstStyle/>
              <a:p>
                <a14:m>
                  <m:oMath xmlns:m="http://schemas.openxmlformats.org/officeDocument/2006/math">
                    <m:sSubSup>
                      <m:sSubSupPr>
                        <m:ctrlPr>
                          <a:rPr lang="en-US" altLang="zh-CN" sz="3200" i="1" dirty="0" smtClean="0">
                            <a:solidFill>
                              <a:schemeClr val="tx1"/>
                            </a:solidFill>
                            <a:latin typeface="Cambria Math" panose="02040503050406030204" pitchFamily="18" charset="0"/>
                          </a:rPr>
                        </m:ctrlPr>
                      </m:sSubSupPr>
                      <m:e>
                        <m:r>
                          <a:rPr lang="en-AU" altLang="zh-CN" sz="3200" b="0" i="1" dirty="0" smtClean="0">
                            <a:solidFill>
                              <a:schemeClr val="tx1"/>
                            </a:solidFill>
                            <a:latin typeface="Cambria Math" panose="02040503050406030204" pitchFamily="18" charset="0"/>
                          </a:rPr>
                          <m:t>𝑅</m:t>
                        </m:r>
                      </m:e>
                      <m:sub>
                        <m:r>
                          <a:rPr lang="en-AU" altLang="zh-CN" sz="3200" b="0" i="1" dirty="0" smtClean="0">
                            <a:solidFill>
                              <a:schemeClr val="tx1"/>
                            </a:solidFill>
                            <a:latin typeface="Cambria Math" panose="02040503050406030204" pitchFamily="18" charset="0"/>
                          </a:rPr>
                          <m:t>𝑖</m:t>
                        </m:r>
                        <m:r>
                          <a:rPr lang="en-AU" altLang="zh-CN" sz="3200" b="0" i="1" dirty="0" smtClean="0">
                            <a:solidFill>
                              <a:schemeClr val="tx1"/>
                            </a:solidFill>
                            <a:latin typeface="Cambria Math" panose="02040503050406030204" pitchFamily="18" charset="0"/>
                          </a:rPr>
                          <m:t>,</m:t>
                        </m:r>
                        <m:r>
                          <a:rPr lang="en-AU" altLang="zh-CN" sz="3200" b="0" i="1" dirty="0" smtClean="0">
                            <a:solidFill>
                              <a:schemeClr val="tx1"/>
                            </a:solidFill>
                            <a:latin typeface="Cambria Math" panose="02040503050406030204" pitchFamily="18" charset="0"/>
                          </a:rPr>
                          <m:t>𝑗</m:t>
                        </m:r>
                      </m:sub>
                      <m:sup>
                        <m:r>
                          <a:rPr lang="en-AU" altLang="zh-CN" sz="3200" b="0" i="1" dirty="0" smtClean="0">
                            <a:solidFill>
                              <a:schemeClr val="tx1"/>
                            </a:solidFill>
                            <a:latin typeface="Cambria Math" panose="02040503050406030204" pitchFamily="18" charset="0"/>
                          </a:rPr>
                          <m:t>(</m:t>
                        </m:r>
                        <m:r>
                          <a:rPr lang="en-AU" altLang="zh-CN" sz="3200" b="0" i="1" dirty="0" smtClean="0">
                            <a:solidFill>
                              <a:schemeClr val="tx1"/>
                            </a:solidFill>
                            <a:latin typeface="Cambria Math" panose="02040503050406030204" pitchFamily="18" charset="0"/>
                          </a:rPr>
                          <m:t>𝑘</m:t>
                        </m:r>
                        <m:r>
                          <a:rPr lang="en-AU" altLang="zh-CN" sz="3200" b="0" i="1" dirty="0" smtClean="0">
                            <a:solidFill>
                              <a:schemeClr val="tx1"/>
                            </a:solidFill>
                            <a:latin typeface="Cambria Math" panose="02040503050406030204" pitchFamily="18" charset="0"/>
                          </a:rPr>
                          <m:t>)</m:t>
                        </m:r>
                      </m:sup>
                    </m:sSubSup>
                    <m:r>
                      <a:rPr lang="zh-CN" altLang="en-US" i="1" dirty="0" smtClean="0">
                        <a:solidFill>
                          <a:schemeClr val="tx1"/>
                        </a:solidFill>
                        <a:latin typeface="Cambria Math" panose="02040503050406030204" pitchFamily="18" charset="0"/>
                      </a:rPr>
                      <m:t>有</m:t>
                    </m:r>
                  </m:oMath>
                </a14:m>
                <a:r>
                  <a:rPr lang="zh-CN" altLang="en-US" dirty="0"/>
                  <a:t>两种情况：</a:t>
                </a:r>
                <a:endParaRPr lang="en-AU" altLang="zh-CN" dirty="0"/>
              </a:p>
              <a:p>
                <a:pPr lvl="1"/>
                <a:r>
                  <a:rPr lang="zh-CN" altLang="en-US" dirty="0"/>
                  <a:t>不经过状态</a:t>
                </a:r>
                <a14:m>
                  <m:oMath xmlns:m="http://schemas.openxmlformats.org/officeDocument/2006/math">
                    <m:r>
                      <a:rPr lang="en-AU" altLang="zh-CN" i="1" dirty="0" smtClean="0">
                        <a:latin typeface="Cambria Math" panose="02040503050406030204" pitchFamily="18" charset="0"/>
                      </a:rPr>
                      <m:t>𝑘</m:t>
                    </m:r>
                  </m:oMath>
                </a14:m>
                <a:endParaRPr lang="en-AU" altLang="zh-CN" dirty="0"/>
              </a:p>
              <a:p>
                <a:pPr lvl="1"/>
                <a:r>
                  <a:rPr lang="zh-CN" altLang="en-US" dirty="0"/>
                  <a:t>经过状态</a:t>
                </a:r>
                <a14:m>
                  <m:oMath xmlns:m="http://schemas.openxmlformats.org/officeDocument/2006/math">
                    <m:r>
                      <a:rPr lang="en-US" altLang="zh-CN" i="1" dirty="0" smtClean="0">
                        <a:latin typeface="Cambria Math" panose="02040503050406030204" pitchFamily="18" charset="0"/>
                      </a:rPr>
                      <m:t>𝑘</m:t>
                    </m:r>
                  </m:oMath>
                </a14:m>
                <a:r>
                  <a:rPr lang="zh-CN" altLang="en-US" dirty="0"/>
                  <a:t>一次或者多次</a:t>
                </a:r>
                <a:endParaRPr lang="en-AU" altLang="zh-CN" dirty="0"/>
              </a:p>
              <a:p>
                <a14:m>
                  <m:oMath xmlns:m="http://schemas.openxmlformats.org/officeDocument/2006/math">
                    <m:sSubSup>
                      <m:sSubSupPr>
                        <m:ctrlPr>
                          <a:rPr lang="en-US" altLang="zh-CN" sz="3200" i="1" dirty="0" smtClean="0">
                            <a:solidFill>
                              <a:schemeClr val="tx1"/>
                            </a:solidFill>
                            <a:latin typeface="Cambria Math" panose="02040503050406030204" pitchFamily="18" charset="0"/>
                          </a:rPr>
                        </m:ctrlPr>
                      </m:sSubSupPr>
                      <m:e>
                        <m:r>
                          <a:rPr lang="en-AU" altLang="zh-CN" sz="3200" b="0" i="1" dirty="0" smtClean="0">
                            <a:solidFill>
                              <a:schemeClr val="tx1"/>
                            </a:solidFill>
                            <a:latin typeface="Cambria Math" panose="02040503050406030204" pitchFamily="18" charset="0"/>
                          </a:rPr>
                          <m:t>𝑅</m:t>
                        </m:r>
                      </m:e>
                      <m:sub>
                        <m:r>
                          <a:rPr lang="en-AU" altLang="zh-CN" sz="3200" b="0" i="1" dirty="0" smtClean="0">
                            <a:solidFill>
                              <a:schemeClr val="tx1"/>
                            </a:solidFill>
                            <a:latin typeface="Cambria Math" panose="02040503050406030204" pitchFamily="18" charset="0"/>
                          </a:rPr>
                          <m:t>𝑖</m:t>
                        </m:r>
                        <m:r>
                          <a:rPr lang="en-AU" altLang="zh-CN" sz="3200" b="0" i="1" dirty="0" smtClean="0">
                            <a:solidFill>
                              <a:schemeClr val="tx1"/>
                            </a:solidFill>
                            <a:latin typeface="Cambria Math" panose="02040503050406030204" pitchFamily="18" charset="0"/>
                          </a:rPr>
                          <m:t>,</m:t>
                        </m:r>
                        <m:r>
                          <a:rPr lang="en-AU" altLang="zh-CN" sz="3200" b="0" i="1" dirty="0" smtClean="0">
                            <a:solidFill>
                              <a:schemeClr val="tx1"/>
                            </a:solidFill>
                            <a:latin typeface="Cambria Math" panose="02040503050406030204" pitchFamily="18" charset="0"/>
                          </a:rPr>
                          <m:t>𝑗</m:t>
                        </m:r>
                      </m:sub>
                      <m:sup>
                        <m:r>
                          <a:rPr lang="en-AU" altLang="zh-CN" sz="3200" b="0" i="1" dirty="0" smtClean="0">
                            <a:solidFill>
                              <a:schemeClr val="tx1"/>
                            </a:solidFill>
                            <a:latin typeface="Cambria Math" panose="02040503050406030204" pitchFamily="18" charset="0"/>
                          </a:rPr>
                          <m:t>(</m:t>
                        </m:r>
                        <m:r>
                          <a:rPr lang="en-AU" altLang="zh-CN" sz="3200" b="0" i="1" dirty="0" smtClean="0">
                            <a:solidFill>
                              <a:schemeClr val="tx1"/>
                            </a:solidFill>
                            <a:latin typeface="Cambria Math" panose="02040503050406030204" pitchFamily="18" charset="0"/>
                          </a:rPr>
                          <m:t>𝑘</m:t>
                        </m:r>
                        <m:r>
                          <a:rPr lang="en-AU" altLang="zh-CN" sz="3200" b="0" i="1" dirty="0" smtClean="0">
                            <a:solidFill>
                              <a:schemeClr val="tx1"/>
                            </a:solidFill>
                            <a:latin typeface="Cambria Math" panose="02040503050406030204" pitchFamily="18" charset="0"/>
                          </a:rPr>
                          <m:t>)</m:t>
                        </m:r>
                      </m:sup>
                    </m:sSubSup>
                    <m:r>
                      <a:rPr lang="en-US" altLang="zh-CN" i="1" dirty="0">
                        <a:solidFill>
                          <a:schemeClr val="tx1"/>
                        </a:solidFill>
                        <a:latin typeface="Cambria Math" panose="02040503050406030204" pitchFamily="18" charset="0"/>
                      </a:rPr>
                      <m:t>=</m:t>
                    </m:r>
                    <m:sSubSup>
                      <m:sSubSupPr>
                        <m:ctrlPr>
                          <a:rPr lang="en-US" altLang="zh-CN" i="1" dirty="0">
                            <a:solidFill>
                              <a:schemeClr val="tx1"/>
                            </a:solidFill>
                            <a:latin typeface="Cambria Math" panose="02040503050406030204" pitchFamily="18" charset="0"/>
                          </a:rPr>
                        </m:ctrlPr>
                      </m:sSubSupPr>
                      <m:e>
                        <m:r>
                          <a:rPr lang="en-AU" altLang="zh-CN" i="1" dirty="0">
                            <a:solidFill>
                              <a:schemeClr val="tx1"/>
                            </a:solidFill>
                            <a:latin typeface="Cambria Math" panose="02040503050406030204" pitchFamily="18" charset="0"/>
                          </a:rPr>
                          <m:t>𝑅</m:t>
                        </m:r>
                      </m:e>
                      <m:sub>
                        <m:r>
                          <a:rPr lang="en-AU" altLang="zh-CN" i="1" dirty="0">
                            <a:solidFill>
                              <a:schemeClr val="tx1"/>
                            </a:solidFill>
                            <a:latin typeface="Cambria Math" panose="02040503050406030204" pitchFamily="18" charset="0"/>
                          </a:rPr>
                          <m:t>𝑖</m:t>
                        </m:r>
                        <m:r>
                          <a:rPr lang="en-AU" altLang="zh-CN" i="1" dirty="0">
                            <a:solidFill>
                              <a:schemeClr val="tx1"/>
                            </a:solidFill>
                            <a:latin typeface="Cambria Math" panose="02040503050406030204" pitchFamily="18" charset="0"/>
                          </a:rPr>
                          <m:t>,</m:t>
                        </m:r>
                        <m:r>
                          <a:rPr lang="en-AU" altLang="zh-CN" i="1" dirty="0">
                            <a:solidFill>
                              <a:schemeClr val="tx1"/>
                            </a:solidFill>
                            <a:latin typeface="Cambria Math" panose="02040503050406030204" pitchFamily="18" charset="0"/>
                          </a:rPr>
                          <m:t>𝑗</m:t>
                        </m:r>
                      </m:sub>
                      <m:sup>
                        <m:r>
                          <a:rPr lang="en-AU" altLang="zh-CN" i="1" dirty="0">
                            <a:solidFill>
                              <a:schemeClr val="tx1"/>
                            </a:solidFill>
                            <a:latin typeface="Cambria Math" panose="02040503050406030204" pitchFamily="18" charset="0"/>
                          </a:rPr>
                          <m:t>(</m:t>
                        </m:r>
                        <m:r>
                          <a:rPr lang="en-AU" altLang="zh-CN" i="1" dirty="0">
                            <a:solidFill>
                              <a:schemeClr val="tx1"/>
                            </a:solidFill>
                            <a:latin typeface="Cambria Math" panose="02040503050406030204" pitchFamily="18" charset="0"/>
                          </a:rPr>
                          <m:t>𝑘</m:t>
                        </m:r>
                        <m:r>
                          <a:rPr lang="en-US" altLang="zh-CN" i="1" dirty="0" smtClean="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1</m:t>
                        </m:r>
                        <m:r>
                          <a:rPr lang="en-AU" altLang="zh-CN" i="1" dirty="0">
                            <a:solidFill>
                              <a:schemeClr val="tx1"/>
                            </a:solidFill>
                            <a:latin typeface="Cambria Math" panose="02040503050406030204" pitchFamily="18" charset="0"/>
                          </a:rPr>
                          <m:t>)</m:t>
                        </m:r>
                      </m:sup>
                    </m:sSubSup>
                    <m:r>
                      <a:rPr lang="en-US" altLang="zh-CN" i="1" dirty="0" smtClean="0">
                        <a:solidFill>
                          <a:schemeClr val="tx1"/>
                        </a:solidFill>
                        <a:latin typeface="Cambria Math" panose="02040503050406030204" pitchFamily="18" charset="0"/>
                      </a:rPr>
                      <m:t>+</m:t>
                    </m:r>
                    <m:sSubSup>
                      <m:sSubSupPr>
                        <m:ctrlPr>
                          <a:rPr lang="en-US" altLang="zh-CN" i="1" dirty="0">
                            <a:solidFill>
                              <a:schemeClr val="tx1"/>
                            </a:solidFill>
                            <a:latin typeface="Cambria Math" panose="02040503050406030204" pitchFamily="18" charset="0"/>
                          </a:rPr>
                        </m:ctrlPr>
                      </m:sSubSupPr>
                      <m:e>
                        <m:r>
                          <a:rPr lang="en-AU" altLang="zh-CN" i="1" dirty="0">
                            <a:solidFill>
                              <a:schemeClr val="tx1"/>
                            </a:solidFill>
                            <a:latin typeface="Cambria Math" panose="02040503050406030204" pitchFamily="18" charset="0"/>
                          </a:rPr>
                          <m:t>𝑅</m:t>
                        </m:r>
                      </m:e>
                      <m:sub>
                        <m:r>
                          <a:rPr lang="en-AU" altLang="zh-CN" i="1" dirty="0">
                            <a:solidFill>
                              <a:schemeClr val="tx1"/>
                            </a:solidFill>
                            <a:latin typeface="Cambria Math" panose="02040503050406030204" pitchFamily="18" charset="0"/>
                          </a:rPr>
                          <m:t>𝑖</m:t>
                        </m:r>
                        <m:r>
                          <a:rPr lang="en-AU" altLang="zh-CN" i="1" dirty="0">
                            <a:solidFill>
                              <a:schemeClr val="tx1"/>
                            </a:solidFill>
                            <a:latin typeface="Cambria Math" panose="02040503050406030204" pitchFamily="18" charset="0"/>
                          </a:rPr>
                          <m:t>,</m:t>
                        </m:r>
                        <m:r>
                          <a:rPr lang="en-AU" altLang="zh-CN" b="0" i="1" dirty="0" smtClean="0">
                            <a:solidFill>
                              <a:schemeClr val="tx1"/>
                            </a:solidFill>
                            <a:latin typeface="Cambria Math" panose="02040503050406030204" pitchFamily="18" charset="0"/>
                          </a:rPr>
                          <m:t>𝑘</m:t>
                        </m:r>
                      </m:sub>
                      <m:sup>
                        <m:r>
                          <a:rPr lang="en-AU" altLang="zh-CN" i="1" dirty="0">
                            <a:solidFill>
                              <a:schemeClr val="tx1"/>
                            </a:solidFill>
                            <a:latin typeface="Cambria Math" panose="02040503050406030204" pitchFamily="18" charset="0"/>
                          </a:rPr>
                          <m:t>(</m:t>
                        </m:r>
                        <m:r>
                          <a:rPr lang="en-AU" altLang="zh-CN" i="1" dirty="0">
                            <a:solidFill>
                              <a:schemeClr val="tx1"/>
                            </a:solidFill>
                            <a:latin typeface="Cambria Math" panose="02040503050406030204" pitchFamily="18" charset="0"/>
                          </a:rPr>
                          <m:t>𝑘</m:t>
                        </m:r>
                        <m:r>
                          <a:rPr lang="en-AU" altLang="zh-CN" b="0" i="1" dirty="0" smtClean="0">
                            <a:solidFill>
                              <a:schemeClr val="tx1"/>
                            </a:solidFill>
                            <a:latin typeface="Cambria Math" panose="02040503050406030204" pitchFamily="18" charset="0"/>
                          </a:rPr>
                          <m:t>−1</m:t>
                        </m:r>
                        <m:r>
                          <a:rPr lang="en-AU" altLang="zh-CN" i="1" dirty="0">
                            <a:solidFill>
                              <a:schemeClr val="tx1"/>
                            </a:solidFill>
                            <a:latin typeface="Cambria Math" panose="02040503050406030204" pitchFamily="18" charset="0"/>
                          </a:rPr>
                          <m:t>)</m:t>
                        </m:r>
                      </m:sup>
                    </m:sSubSup>
                  </m:oMath>
                </a14:m>
                <a:r>
                  <a:rPr lang="en-US" altLang="zh-CN" dirty="0">
                    <a:solidFill>
                      <a:schemeClr val="tx1"/>
                    </a:solidFill>
                  </a:rPr>
                  <a:t> </a:t>
                </a:r>
                <a14:m>
                  <m:oMath xmlns:m="http://schemas.openxmlformats.org/officeDocument/2006/math">
                    <m:sSup>
                      <m:sSupPr>
                        <m:ctrlPr>
                          <a:rPr lang="en-US" altLang="zh-CN" i="1" dirty="0" smtClean="0">
                            <a:solidFill>
                              <a:schemeClr val="tx1"/>
                            </a:solidFill>
                            <a:latin typeface="Cambria Math" panose="02040503050406030204" pitchFamily="18" charset="0"/>
                          </a:rPr>
                        </m:ctrlPr>
                      </m:sSupPr>
                      <m:e>
                        <m:sSubSup>
                          <m:sSubSupPr>
                            <m:ctrlPr>
                              <a:rPr lang="en-US" altLang="zh-CN" i="1" dirty="0">
                                <a:solidFill>
                                  <a:schemeClr val="tx1"/>
                                </a:solidFill>
                                <a:latin typeface="Cambria Math" panose="02040503050406030204" pitchFamily="18" charset="0"/>
                              </a:rPr>
                            </m:ctrlPr>
                          </m:sSubSupPr>
                          <m:e>
                            <m:r>
                              <a:rPr lang="en-AU" altLang="zh-CN" b="0" i="1" dirty="0" smtClean="0">
                                <a:solidFill>
                                  <a:schemeClr val="tx1"/>
                                </a:solidFill>
                                <a:latin typeface="Cambria Math" panose="02040503050406030204" pitchFamily="18" charset="0"/>
                              </a:rPr>
                              <m:t>(</m:t>
                            </m:r>
                            <m:r>
                              <a:rPr lang="en-AU" altLang="zh-CN" i="1" dirty="0">
                                <a:solidFill>
                                  <a:schemeClr val="tx1"/>
                                </a:solidFill>
                                <a:latin typeface="Cambria Math" panose="02040503050406030204" pitchFamily="18" charset="0"/>
                              </a:rPr>
                              <m:t>𝑅</m:t>
                            </m:r>
                          </m:e>
                          <m:sub>
                            <m:r>
                              <a:rPr lang="en-AU" altLang="zh-CN" i="1" dirty="0">
                                <a:solidFill>
                                  <a:schemeClr val="tx1"/>
                                </a:solidFill>
                                <a:latin typeface="Cambria Math" panose="02040503050406030204" pitchFamily="18" charset="0"/>
                              </a:rPr>
                              <m:t>𝑘</m:t>
                            </m:r>
                            <m:r>
                              <a:rPr lang="en-AU" altLang="zh-CN" i="1" dirty="0">
                                <a:solidFill>
                                  <a:schemeClr val="tx1"/>
                                </a:solidFill>
                                <a:latin typeface="Cambria Math" panose="02040503050406030204" pitchFamily="18" charset="0"/>
                              </a:rPr>
                              <m:t>,</m:t>
                            </m:r>
                            <m:r>
                              <a:rPr lang="en-AU" altLang="zh-CN" i="1" dirty="0">
                                <a:solidFill>
                                  <a:schemeClr val="tx1"/>
                                </a:solidFill>
                                <a:latin typeface="Cambria Math" panose="02040503050406030204" pitchFamily="18" charset="0"/>
                              </a:rPr>
                              <m:t>𝑘</m:t>
                            </m:r>
                          </m:sub>
                          <m:sup>
                            <m:r>
                              <a:rPr lang="en-AU" altLang="zh-CN" i="1" dirty="0">
                                <a:solidFill>
                                  <a:schemeClr val="tx1"/>
                                </a:solidFill>
                                <a:latin typeface="Cambria Math" panose="02040503050406030204" pitchFamily="18" charset="0"/>
                              </a:rPr>
                              <m:t>(</m:t>
                            </m:r>
                            <m:r>
                              <a:rPr lang="en-AU" altLang="zh-CN" i="1" dirty="0">
                                <a:solidFill>
                                  <a:schemeClr val="tx1"/>
                                </a:solidFill>
                                <a:latin typeface="Cambria Math" panose="02040503050406030204" pitchFamily="18" charset="0"/>
                              </a:rPr>
                              <m:t>𝑘</m:t>
                            </m:r>
                            <m:r>
                              <a:rPr lang="en-AU" altLang="zh-CN" i="1" dirty="0">
                                <a:solidFill>
                                  <a:schemeClr val="tx1"/>
                                </a:solidFill>
                                <a:latin typeface="Cambria Math" panose="02040503050406030204" pitchFamily="18" charset="0"/>
                              </a:rPr>
                              <m:t>−1)</m:t>
                            </m:r>
                          </m:sup>
                        </m:sSubSup>
                        <m:r>
                          <a:rPr lang="en-AU" altLang="zh-CN" b="0" i="1" dirty="0" smtClean="0">
                            <a:solidFill>
                              <a:schemeClr val="tx1"/>
                            </a:solidFill>
                            <a:latin typeface="Cambria Math" panose="02040503050406030204" pitchFamily="18" charset="0"/>
                          </a:rPr>
                          <m:t>)</m:t>
                        </m:r>
                      </m:e>
                      <m:sup>
                        <m:r>
                          <a:rPr lang="en-AU" altLang="zh-CN" b="0" i="1" dirty="0" smtClean="0">
                            <a:solidFill>
                              <a:schemeClr val="tx1"/>
                            </a:solidFill>
                            <a:latin typeface="Cambria Math" panose="02040503050406030204" pitchFamily="18" charset="0"/>
                          </a:rPr>
                          <m:t>∗</m:t>
                        </m:r>
                      </m:sup>
                    </m:sSup>
                    <m:sSubSup>
                      <m:sSubSupPr>
                        <m:ctrlPr>
                          <a:rPr lang="en-US" altLang="zh-CN" i="1" dirty="0">
                            <a:solidFill>
                              <a:schemeClr val="tx1"/>
                            </a:solidFill>
                            <a:latin typeface="Cambria Math" panose="02040503050406030204" pitchFamily="18" charset="0"/>
                          </a:rPr>
                        </m:ctrlPr>
                      </m:sSubSupPr>
                      <m:e>
                        <m:r>
                          <a:rPr lang="en-AU" altLang="zh-CN" i="1" dirty="0">
                            <a:solidFill>
                              <a:schemeClr val="tx1"/>
                            </a:solidFill>
                            <a:latin typeface="Cambria Math" panose="02040503050406030204" pitchFamily="18" charset="0"/>
                          </a:rPr>
                          <m:t>𝑅</m:t>
                        </m:r>
                      </m:e>
                      <m:sub>
                        <m:r>
                          <a:rPr lang="en-AU" altLang="zh-CN" b="0" i="1" dirty="0" smtClean="0">
                            <a:solidFill>
                              <a:schemeClr val="tx1"/>
                            </a:solidFill>
                            <a:latin typeface="Cambria Math" panose="02040503050406030204" pitchFamily="18" charset="0"/>
                          </a:rPr>
                          <m:t>𝑘</m:t>
                        </m:r>
                        <m:r>
                          <a:rPr lang="en-AU" altLang="zh-CN" i="1" dirty="0">
                            <a:solidFill>
                              <a:schemeClr val="tx1"/>
                            </a:solidFill>
                            <a:latin typeface="Cambria Math" panose="02040503050406030204" pitchFamily="18" charset="0"/>
                          </a:rPr>
                          <m:t>,</m:t>
                        </m:r>
                        <m:r>
                          <a:rPr lang="en-AU" altLang="zh-CN" i="1" dirty="0">
                            <a:solidFill>
                              <a:schemeClr val="tx1"/>
                            </a:solidFill>
                            <a:latin typeface="Cambria Math" panose="02040503050406030204" pitchFamily="18" charset="0"/>
                          </a:rPr>
                          <m:t>𝑗</m:t>
                        </m:r>
                      </m:sub>
                      <m:sup>
                        <m:r>
                          <a:rPr lang="en-AU" altLang="zh-CN" i="1" dirty="0">
                            <a:solidFill>
                              <a:schemeClr val="tx1"/>
                            </a:solidFill>
                            <a:latin typeface="Cambria Math" panose="02040503050406030204" pitchFamily="18" charset="0"/>
                          </a:rPr>
                          <m:t>(</m:t>
                        </m:r>
                        <m:r>
                          <a:rPr lang="en-AU" altLang="zh-CN" i="1" dirty="0">
                            <a:solidFill>
                              <a:schemeClr val="tx1"/>
                            </a:solidFill>
                            <a:latin typeface="Cambria Math" panose="02040503050406030204" pitchFamily="18" charset="0"/>
                          </a:rPr>
                          <m:t>𝑘</m:t>
                        </m:r>
                        <m:r>
                          <a:rPr lang="en-AU" altLang="zh-CN" b="0" i="1" dirty="0" smtClean="0">
                            <a:solidFill>
                              <a:schemeClr val="tx1"/>
                            </a:solidFill>
                            <a:latin typeface="Cambria Math" panose="02040503050406030204" pitchFamily="18" charset="0"/>
                          </a:rPr>
                          <m:t>−1</m:t>
                        </m:r>
                        <m:r>
                          <a:rPr lang="en-AU" altLang="zh-CN" i="1" dirty="0">
                            <a:solidFill>
                              <a:schemeClr val="tx1"/>
                            </a:solidFill>
                            <a:latin typeface="Cambria Math" panose="02040503050406030204" pitchFamily="18" charset="0"/>
                          </a:rPr>
                          <m:t>)</m:t>
                        </m:r>
                      </m:sup>
                    </m:sSubSup>
                  </m:oMath>
                </a14:m>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913568" y="893941"/>
                <a:ext cx="8229600" cy="4525963"/>
              </a:xfrm>
              <a:blipFill rotWithShape="1">
                <a:blip r:embed="rId3"/>
                <a:stretch>
                  <a:fillRect l="-5" t="-11" r="5" b="4"/>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pPr>
              <a:defRPr/>
            </a:pPr>
            <a:fld id="{A619564F-3A13-4140-9CFC-3B75A7CC7F9C}" type="slidenum">
              <a:rPr lang="en-US" altLang="zh-CN" smtClean="0"/>
              <a:t>21</a:t>
            </a:fld>
            <a:endParaRPr lang="en-US" altLang="zh-CN"/>
          </a:p>
        </p:txBody>
      </p:sp>
      <p:grpSp>
        <p:nvGrpSpPr>
          <p:cNvPr id="6" name="Group 6"/>
          <p:cNvGrpSpPr/>
          <p:nvPr/>
        </p:nvGrpSpPr>
        <p:grpSpPr bwMode="auto">
          <a:xfrm>
            <a:off x="1292645" y="3553849"/>
            <a:ext cx="1595438" cy="1516063"/>
            <a:chOff x="432" y="2640"/>
            <a:chExt cx="1005" cy="955"/>
          </a:xfrm>
        </p:grpSpPr>
        <mc:AlternateContent xmlns:mc="http://schemas.openxmlformats.org/markup-compatibility/2006" xmlns:a14="http://schemas.microsoft.com/office/drawing/2010/main">
          <mc:Choice Requires="a14">
            <p:sp>
              <p:nvSpPr>
                <p:cNvPr id="7" name="Text Box 4"/>
                <p:cNvSpPr txBox="1">
                  <a:spLocks noChangeArrowheads="1"/>
                </p:cNvSpPr>
                <p:nvPr/>
              </p:nvSpPr>
              <p:spPr bwMode="auto">
                <a:xfrm>
                  <a:off x="432" y="3072"/>
                  <a:ext cx="1005" cy="52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zh-CN" altLang="en-US" dirty="0"/>
                    <a:t>不经过</a:t>
                  </a:r>
                  <a14:m>
                    <m:oMath xmlns:m="http://schemas.openxmlformats.org/officeDocument/2006/math">
                      <m:r>
                        <a:rPr lang="en-AU" altLang="zh-CN" i="1" dirty="0" smtClean="0">
                          <a:latin typeface="Cambria Math" panose="02040503050406030204" pitchFamily="18" charset="0"/>
                        </a:rPr>
                        <m:t>𝑘</m:t>
                      </m:r>
                    </m:oMath>
                  </a14:m>
                  <a:r>
                    <a:rPr lang="zh-CN" altLang="en-US" dirty="0"/>
                    <a:t>的</a:t>
                  </a:r>
                  <a:endParaRPr lang="en-AU" altLang="zh-CN" dirty="0"/>
                </a:p>
                <a:p>
                  <a:r>
                    <a:rPr lang="zh-CN" altLang="en-US" dirty="0"/>
                    <a:t>路径集合</a:t>
                  </a:r>
                  <a:endParaRPr lang="en-US" altLang="en-US" dirty="0"/>
                </a:p>
              </p:txBody>
            </p:sp>
          </mc:Choice>
          <mc:Fallback xmlns="">
            <p:sp>
              <p:nvSpPr>
                <p:cNvPr id="7" name="Text Box 4"/>
                <p:cNvSpPr txBox="1">
                  <a:spLocks noRot="1" noChangeAspect="1" noMove="1" noResize="1" noEditPoints="1" noAdjustHandles="1" noChangeArrowheads="1" noChangeShapeType="1" noTextEdit="1"/>
                </p:cNvSpPr>
                <p:nvPr/>
              </p:nvSpPr>
              <p:spPr bwMode="auto">
                <a:xfrm>
                  <a:off x="432" y="3072"/>
                  <a:ext cx="1005" cy="523"/>
                </a:xfrm>
                <a:prstGeom prst="rect">
                  <a:avLst/>
                </a:prstGeom>
                <a:blipFill rotWithShape="1">
                  <a:blip r:embed="rId4"/>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8" name="Line 5"/>
            <p:cNvSpPr>
              <a:spLocks noChangeShapeType="1"/>
            </p:cNvSpPr>
            <p:nvPr/>
          </p:nvSpPr>
          <p:spPr bwMode="auto">
            <a:xfrm flipV="1">
              <a:off x="1104" y="2640"/>
              <a:ext cx="144" cy="38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9" name="Group 11"/>
          <p:cNvGrpSpPr/>
          <p:nvPr/>
        </p:nvGrpSpPr>
        <p:grpSpPr bwMode="auto">
          <a:xfrm>
            <a:off x="3185490" y="3670680"/>
            <a:ext cx="1701803" cy="766763"/>
            <a:chOff x="1536" y="2640"/>
            <a:chExt cx="1072" cy="483"/>
          </a:xfrm>
        </p:grpSpPr>
        <mc:AlternateContent xmlns:mc="http://schemas.openxmlformats.org/markup-compatibility/2006" xmlns:a14="http://schemas.microsoft.com/office/drawing/2010/main">
          <mc:Choice Requires="a14">
            <p:sp>
              <p:nvSpPr>
                <p:cNvPr id="10" name="Text Box 7"/>
                <p:cNvSpPr txBox="1">
                  <a:spLocks noChangeArrowheads="1"/>
                </p:cNvSpPr>
                <p:nvPr/>
              </p:nvSpPr>
              <p:spPr bwMode="auto">
                <a:xfrm>
                  <a:off x="1536" y="2832"/>
                  <a:ext cx="1072" cy="29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zh-CN" altLang="en-US" dirty="0"/>
                    <a:t>首次从</a:t>
                  </a:r>
                  <a14:m>
                    <m:oMath xmlns:m="http://schemas.openxmlformats.org/officeDocument/2006/math">
                      <m:r>
                        <a:rPr lang="en-AU" altLang="zh-CN" i="1" dirty="0" smtClean="0">
                          <a:latin typeface="Cambria Math" panose="02040503050406030204" pitchFamily="18" charset="0"/>
                        </a:rPr>
                        <m:t>𝑖</m:t>
                      </m:r>
                    </m:oMath>
                  </a14:m>
                  <a:r>
                    <a:rPr lang="zh-CN" altLang="en-US" dirty="0"/>
                    <a:t>到</a:t>
                  </a:r>
                  <a14:m>
                    <m:oMath xmlns:m="http://schemas.openxmlformats.org/officeDocument/2006/math">
                      <m:r>
                        <a:rPr lang="en-US" altLang="zh-CN" i="1" dirty="0" smtClean="0">
                          <a:latin typeface="Cambria Math" panose="02040503050406030204" pitchFamily="18" charset="0"/>
                        </a:rPr>
                        <m:t>𝑘</m:t>
                      </m:r>
                    </m:oMath>
                  </a14:m>
                  <a:endParaRPr lang="en-US" altLang="en-US" dirty="0"/>
                </a:p>
              </p:txBody>
            </p:sp>
          </mc:Choice>
          <mc:Fallback xmlns="">
            <p:sp>
              <p:nvSpPr>
                <p:cNvPr id="10" name="Text Box 7"/>
                <p:cNvSpPr txBox="1">
                  <a:spLocks noRot="1" noChangeAspect="1" noMove="1" noResize="1" noEditPoints="1" noAdjustHandles="1" noChangeArrowheads="1" noChangeShapeType="1" noTextEdit="1"/>
                </p:cNvSpPr>
                <p:nvPr/>
              </p:nvSpPr>
              <p:spPr bwMode="auto">
                <a:xfrm>
                  <a:off x="1536" y="2832"/>
                  <a:ext cx="1072" cy="291"/>
                </a:xfrm>
                <a:prstGeom prst="rect">
                  <a:avLst/>
                </a:prstGeom>
                <a:blipFill rotWithShape="1">
                  <a:blip r:embed="rId5"/>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1" name="Line 10"/>
            <p:cNvSpPr>
              <a:spLocks noChangeShapeType="1"/>
            </p:cNvSpPr>
            <p:nvPr/>
          </p:nvSpPr>
          <p:spPr bwMode="auto">
            <a:xfrm flipV="1">
              <a:off x="2064" y="2640"/>
              <a:ext cx="48" cy="19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12" name="Group 13"/>
          <p:cNvGrpSpPr/>
          <p:nvPr/>
        </p:nvGrpSpPr>
        <p:grpSpPr bwMode="auto">
          <a:xfrm>
            <a:off x="4925553" y="3670680"/>
            <a:ext cx="1724028" cy="1744663"/>
            <a:chOff x="2496" y="2640"/>
            <a:chExt cx="1086" cy="1099"/>
          </a:xfrm>
        </p:grpSpPr>
        <mc:AlternateContent xmlns:mc="http://schemas.openxmlformats.org/markup-compatibility/2006" xmlns:a14="http://schemas.microsoft.com/office/drawing/2010/main">
          <mc:Choice Requires="a14">
            <p:sp>
              <p:nvSpPr>
                <p:cNvPr id="13" name="Text Box 8"/>
                <p:cNvSpPr txBox="1">
                  <a:spLocks noChangeArrowheads="1"/>
                </p:cNvSpPr>
                <p:nvPr/>
              </p:nvSpPr>
              <p:spPr bwMode="auto">
                <a:xfrm>
                  <a:off x="2496" y="3216"/>
                  <a:ext cx="1086" cy="52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zh-CN" altLang="en-US" dirty="0"/>
                    <a:t>一次或多次</a:t>
                  </a:r>
                  <a:endParaRPr lang="en-AU" altLang="zh-CN" dirty="0"/>
                </a:p>
                <a:p>
                  <a:r>
                    <a:rPr lang="zh-CN" altLang="en-US" dirty="0"/>
                    <a:t>从</a:t>
                  </a:r>
                  <a14:m>
                    <m:oMath xmlns:m="http://schemas.openxmlformats.org/officeDocument/2006/math">
                      <m:r>
                        <a:rPr lang="en-US" altLang="zh-CN" i="1" dirty="0" smtClean="0">
                          <a:latin typeface="Cambria Math" panose="02040503050406030204" pitchFamily="18" charset="0"/>
                        </a:rPr>
                        <m:t>𝑘</m:t>
                      </m:r>
                    </m:oMath>
                  </a14:m>
                  <a:r>
                    <a:rPr lang="zh-CN" altLang="en-US" dirty="0"/>
                    <a:t>到</a:t>
                  </a:r>
                  <a14:m>
                    <m:oMath xmlns:m="http://schemas.openxmlformats.org/officeDocument/2006/math">
                      <m:r>
                        <a:rPr lang="en-US" altLang="zh-CN" i="1" dirty="0" smtClean="0">
                          <a:latin typeface="Cambria Math" panose="02040503050406030204" pitchFamily="18" charset="0"/>
                        </a:rPr>
                        <m:t>𝑘</m:t>
                      </m:r>
                    </m:oMath>
                  </a14:m>
                  <a:endParaRPr lang="en-US" altLang="en-US" dirty="0"/>
                </a:p>
              </p:txBody>
            </p:sp>
          </mc:Choice>
          <mc:Fallback xmlns="">
            <p:sp>
              <p:nvSpPr>
                <p:cNvPr id="13" name="Text Box 8"/>
                <p:cNvSpPr txBox="1">
                  <a:spLocks noRot="1" noChangeAspect="1" noMove="1" noResize="1" noEditPoints="1" noAdjustHandles="1" noChangeArrowheads="1" noChangeShapeType="1" noTextEdit="1"/>
                </p:cNvSpPr>
                <p:nvPr/>
              </p:nvSpPr>
              <p:spPr bwMode="auto">
                <a:xfrm>
                  <a:off x="2496" y="3216"/>
                  <a:ext cx="1086" cy="523"/>
                </a:xfrm>
                <a:prstGeom prst="rect">
                  <a:avLst/>
                </a:prstGeom>
                <a:blipFill rotWithShape="1">
                  <a:blip r:embed="rId6"/>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4" name="Line 12"/>
            <p:cNvSpPr>
              <a:spLocks noChangeShapeType="1"/>
            </p:cNvSpPr>
            <p:nvPr/>
          </p:nvSpPr>
          <p:spPr bwMode="auto">
            <a:xfrm flipV="1">
              <a:off x="2976" y="2640"/>
              <a:ext cx="0" cy="52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15" name="Group 15"/>
          <p:cNvGrpSpPr/>
          <p:nvPr/>
        </p:nvGrpSpPr>
        <p:grpSpPr bwMode="auto">
          <a:xfrm>
            <a:off x="6820382" y="3703867"/>
            <a:ext cx="2017715" cy="919163"/>
            <a:chOff x="3648" y="2640"/>
            <a:chExt cx="1271" cy="579"/>
          </a:xfrm>
        </p:grpSpPr>
        <mc:AlternateContent xmlns:mc="http://schemas.openxmlformats.org/markup-compatibility/2006" xmlns:a14="http://schemas.microsoft.com/office/drawing/2010/main">
          <mc:Choice Requires="a14">
            <p:sp>
              <p:nvSpPr>
                <p:cNvPr id="16" name="Text Box 9"/>
                <p:cNvSpPr txBox="1">
                  <a:spLocks noChangeArrowheads="1"/>
                </p:cNvSpPr>
                <p:nvPr/>
              </p:nvSpPr>
              <p:spPr bwMode="auto">
                <a:xfrm>
                  <a:off x="3648" y="2928"/>
                  <a:ext cx="1271" cy="29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zh-CN" altLang="en-US" dirty="0"/>
                    <a:t>最后，从</a:t>
                  </a:r>
                  <a14:m>
                    <m:oMath xmlns:m="http://schemas.openxmlformats.org/officeDocument/2006/math">
                      <m:r>
                        <a:rPr lang="en-AU" altLang="zh-CN" i="1" dirty="0" smtClean="0">
                          <a:latin typeface="Cambria Math" panose="02040503050406030204" pitchFamily="18" charset="0"/>
                        </a:rPr>
                        <m:t>𝑘</m:t>
                      </m:r>
                    </m:oMath>
                  </a14:m>
                  <a:r>
                    <a:rPr lang="zh-CN" altLang="en-US" dirty="0"/>
                    <a:t>到</a:t>
                  </a:r>
                  <a14:m>
                    <m:oMath xmlns:m="http://schemas.openxmlformats.org/officeDocument/2006/math">
                      <m:r>
                        <a:rPr lang="en-US" altLang="zh-CN" i="1" dirty="0" smtClean="0">
                          <a:latin typeface="Cambria Math" panose="02040503050406030204" pitchFamily="18" charset="0"/>
                        </a:rPr>
                        <m:t>𝑗</m:t>
                      </m:r>
                    </m:oMath>
                  </a14:m>
                  <a:endParaRPr lang="en-US" altLang="en-US" dirty="0"/>
                </a:p>
              </p:txBody>
            </p:sp>
          </mc:Choice>
          <mc:Fallback xmlns="">
            <p:sp>
              <p:nvSpPr>
                <p:cNvPr id="16" name="Text Box 9"/>
                <p:cNvSpPr txBox="1">
                  <a:spLocks noRot="1" noChangeAspect="1" noMove="1" noResize="1" noEditPoints="1" noAdjustHandles="1" noChangeArrowheads="1" noChangeShapeType="1" noTextEdit="1"/>
                </p:cNvSpPr>
                <p:nvPr/>
              </p:nvSpPr>
              <p:spPr bwMode="auto">
                <a:xfrm>
                  <a:off x="3648" y="2928"/>
                  <a:ext cx="1271" cy="291"/>
                </a:xfrm>
                <a:prstGeom prst="rect">
                  <a:avLst/>
                </a:prstGeom>
                <a:blipFill rotWithShape="1">
                  <a:blip r:embed="rId7"/>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7" name="Line 14"/>
            <p:cNvSpPr>
              <a:spLocks noChangeShapeType="1"/>
            </p:cNvSpPr>
            <p:nvPr/>
          </p:nvSpPr>
          <p:spPr bwMode="auto">
            <a:xfrm flipH="1" flipV="1">
              <a:off x="3888" y="2640"/>
              <a:ext cx="192" cy="24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sp>
        <p:nvSpPr>
          <p:cNvPr id="20" name="Title 1"/>
          <p:cNvSpPr>
            <a:spLocks noGrp="1"/>
          </p:cNvSpPr>
          <p:nvPr>
            <p:ph type="title"/>
          </p:nvPr>
        </p:nvSpPr>
        <p:spPr>
          <a:xfrm>
            <a:off x="685800" y="152400"/>
            <a:ext cx="8229600" cy="393065"/>
          </a:xfrm>
        </p:spPr>
        <p:txBody>
          <a:bodyPr/>
          <a:lstStyle/>
          <a:p>
            <a:pPr algn="r"/>
            <a:r>
              <a:rPr lang="en-US" altLang="zh-CN" sz="3600" dirty="0">
                <a:solidFill>
                  <a:schemeClr val="bg1"/>
                </a:solidFill>
                <a:latin typeface="Times New Roman" panose="02020603050405020304" pitchFamily="18" charset="0"/>
                <a:cs typeface="Times New Roman" panose="02020603050405020304" pitchFamily="18" charset="0"/>
              </a:rPr>
              <a:t>DFA</a:t>
            </a:r>
            <a:r>
              <a:rPr lang="en-US" altLang="zh-CN" sz="3600" dirty="0">
                <a:solidFill>
                  <a:schemeClr val="bg1"/>
                </a:solidFill>
              </a:rPr>
              <a:t>-&gt;</a:t>
            </a:r>
            <a:r>
              <a:rPr lang="zh-CN" altLang="en-US" sz="3600" dirty="0">
                <a:solidFill>
                  <a:schemeClr val="bg1"/>
                </a:solidFill>
              </a:rPr>
              <a:t>正则表达式</a:t>
            </a:r>
            <a:r>
              <a:rPr lang="en-AU" altLang="zh-CN" sz="3600" dirty="0">
                <a:solidFill>
                  <a:schemeClr val="bg1"/>
                </a:solidFill>
              </a:rPr>
              <a:t>:</a:t>
            </a:r>
            <a:r>
              <a:rPr lang="zh-CN" altLang="en-US" sz="3600" dirty="0">
                <a:solidFill>
                  <a:schemeClr val="bg1"/>
                </a:solidFill>
              </a:rPr>
              <a:t>递归法</a:t>
            </a:r>
            <a:endParaRPr lang="en-AU" sz="3600" dirty="0">
              <a:solidFill>
                <a:schemeClr val="bg1"/>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7132"/>
    </mc:Choice>
    <mc:Fallback xmlns="">
      <p:transition spd="slow" advTm="2713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143000"/>
                <a:ext cx="8458200" cy="4548981"/>
              </a:xfrm>
            </p:spPr>
            <p:txBody>
              <a:bodyPr>
                <a:normAutofit/>
              </a:bodyPr>
              <a:lstStyle/>
              <a:p>
                <a:r>
                  <a:rPr lang="zh-CN" altLang="en-US" sz="2400" dirty="0"/>
                  <a:t>递归关系：</a:t>
                </a:r>
                <a14:m>
                  <m:oMath xmlns:m="http://schemas.openxmlformats.org/officeDocument/2006/math">
                    <m:sSubSup>
                      <m:sSubSupPr>
                        <m:ctrlPr>
                          <a:rPr lang="en-US" altLang="zh-CN" sz="2400" i="1" dirty="0" smtClean="0">
                            <a:solidFill>
                              <a:schemeClr val="tx1"/>
                            </a:solidFill>
                            <a:latin typeface="Cambria Math" panose="02040503050406030204" pitchFamily="18" charset="0"/>
                          </a:rPr>
                        </m:ctrlPr>
                      </m:sSubSupPr>
                      <m:e>
                        <m:r>
                          <a:rPr lang="en-AU" altLang="zh-CN" sz="2400" b="0" i="1" dirty="0" smtClean="0">
                            <a:solidFill>
                              <a:schemeClr val="tx1"/>
                            </a:solidFill>
                            <a:latin typeface="Cambria Math" panose="02040503050406030204" pitchFamily="18" charset="0"/>
                          </a:rPr>
                          <m:t>𝑅</m:t>
                        </m:r>
                      </m:e>
                      <m:sub>
                        <m:r>
                          <a:rPr lang="en-AU" altLang="zh-CN" sz="2400" b="0" i="1" dirty="0" smtClean="0">
                            <a:solidFill>
                              <a:schemeClr val="tx1"/>
                            </a:solidFill>
                            <a:latin typeface="Cambria Math" panose="02040503050406030204" pitchFamily="18" charset="0"/>
                          </a:rPr>
                          <m:t>𝑖</m:t>
                        </m:r>
                        <m:r>
                          <a:rPr lang="en-AU" altLang="zh-CN" sz="2400" b="0" i="1" dirty="0" smtClean="0">
                            <a:solidFill>
                              <a:schemeClr val="tx1"/>
                            </a:solidFill>
                            <a:latin typeface="Cambria Math" panose="02040503050406030204" pitchFamily="18" charset="0"/>
                          </a:rPr>
                          <m:t>,</m:t>
                        </m:r>
                        <m:r>
                          <a:rPr lang="en-AU" altLang="zh-CN" sz="2400" b="0" i="1" dirty="0" smtClean="0">
                            <a:solidFill>
                              <a:schemeClr val="tx1"/>
                            </a:solidFill>
                            <a:latin typeface="Cambria Math" panose="02040503050406030204" pitchFamily="18" charset="0"/>
                          </a:rPr>
                          <m:t>𝑗</m:t>
                        </m:r>
                      </m:sub>
                      <m:sup>
                        <m:r>
                          <a:rPr lang="en-AU" altLang="zh-CN" sz="2400" b="0" i="1" dirty="0" smtClean="0">
                            <a:solidFill>
                              <a:schemeClr val="tx1"/>
                            </a:solidFill>
                            <a:latin typeface="Cambria Math" panose="02040503050406030204" pitchFamily="18" charset="0"/>
                          </a:rPr>
                          <m:t>(</m:t>
                        </m:r>
                        <m:r>
                          <a:rPr lang="en-AU" altLang="zh-CN" sz="2400" b="0" i="1" dirty="0" smtClean="0">
                            <a:solidFill>
                              <a:schemeClr val="tx1"/>
                            </a:solidFill>
                            <a:latin typeface="Cambria Math" panose="02040503050406030204" pitchFamily="18" charset="0"/>
                          </a:rPr>
                          <m:t>𝑘</m:t>
                        </m:r>
                        <m:r>
                          <a:rPr lang="en-AU" altLang="zh-CN" sz="2400" b="0" i="1" dirty="0" smtClean="0">
                            <a:solidFill>
                              <a:schemeClr val="tx1"/>
                            </a:solidFill>
                            <a:latin typeface="Cambria Math" panose="02040503050406030204" pitchFamily="18" charset="0"/>
                          </a:rPr>
                          <m:t>)</m:t>
                        </m:r>
                      </m:sup>
                    </m:sSubSup>
                    <m:r>
                      <a:rPr lang="en-US" altLang="zh-CN" sz="2400" i="1" dirty="0">
                        <a:solidFill>
                          <a:schemeClr val="tx1"/>
                        </a:solidFill>
                        <a:latin typeface="Cambria Math" panose="02040503050406030204" pitchFamily="18" charset="0"/>
                      </a:rPr>
                      <m:t>=</m:t>
                    </m:r>
                    <m:sSubSup>
                      <m:sSubSupPr>
                        <m:ctrlPr>
                          <a:rPr lang="en-US" altLang="zh-CN" sz="2400" i="1" dirty="0">
                            <a:solidFill>
                              <a:schemeClr val="tx1"/>
                            </a:solidFill>
                            <a:latin typeface="Cambria Math" panose="02040503050406030204" pitchFamily="18" charset="0"/>
                          </a:rPr>
                        </m:ctrlPr>
                      </m:sSubSupPr>
                      <m:e>
                        <m:r>
                          <a:rPr lang="en-AU" altLang="zh-CN" sz="2400" i="1" dirty="0">
                            <a:solidFill>
                              <a:schemeClr val="tx1"/>
                            </a:solidFill>
                            <a:latin typeface="Cambria Math" panose="02040503050406030204" pitchFamily="18" charset="0"/>
                          </a:rPr>
                          <m:t>𝑅</m:t>
                        </m:r>
                      </m:e>
                      <m:sub>
                        <m:r>
                          <a:rPr lang="en-AU" altLang="zh-CN" sz="2400" i="1" dirty="0">
                            <a:solidFill>
                              <a:schemeClr val="tx1"/>
                            </a:solidFill>
                            <a:latin typeface="Cambria Math" panose="02040503050406030204" pitchFamily="18" charset="0"/>
                          </a:rPr>
                          <m:t>𝑖</m:t>
                        </m:r>
                        <m:r>
                          <a:rPr lang="en-AU" altLang="zh-CN" sz="2400" i="1" dirty="0">
                            <a:solidFill>
                              <a:schemeClr val="tx1"/>
                            </a:solidFill>
                            <a:latin typeface="Cambria Math" panose="02040503050406030204" pitchFamily="18" charset="0"/>
                          </a:rPr>
                          <m:t>,</m:t>
                        </m:r>
                        <m:r>
                          <a:rPr lang="en-AU" altLang="zh-CN" sz="2400" i="1" dirty="0">
                            <a:solidFill>
                              <a:schemeClr val="tx1"/>
                            </a:solidFill>
                            <a:latin typeface="Cambria Math" panose="02040503050406030204" pitchFamily="18" charset="0"/>
                          </a:rPr>
                          <m:t>𝑗</m:t>
                        </m:r>
                      </m:sub>
                      <m:sup>
                        <m:r>
                          <a:rPr lang="en-AU" altLang="zh-CN" sz="2400" i="1" dirty="0">
                            <a:solidFill>
                              <a:schemeClr val="tx1"/>
                            </a:solidFill>
                            <a:latin typeface="Cambria Math" panose="02040503050406030204" pitchFamily="18" charset="0"/>
                          </a:rPr>
                          <m:t>(</m:t>
                        </m:r>
                        <m:r>
                          <a:rPr lang="en-AU" altLang="zh-CN" sz="2400" i="1" dirty="0">
                            <a:solidFill>
                              <a:schemeClr val="tx1"/>
                            </a:solidFill>
                            <a:latin typeface="Cambria Math" panose="02040503050406030204" pitchFamily="18" charset="0"/>
                          </a:rPr>
                          <m:t>𝑘</m:t>
                        </m:r>
                        <m:r>
                          <a:rPr lang="en-US" altLang="zh-CN" sz="2400" i="1" dirty="0" smtClean="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1</m:t>
                        </m:r>
                        <m:r>
                          <a:rPr lang="en-AU" altLang="zh-CN" sz="2400" i="1" dirty="0">
                            <a:solidFill>
                              <a:schemeClr val="tx1"/>
                            </a:solidFill>
                            <a:latin typeface="Cambria Math" panose="02040503050406030204" pitchFamily="18" charset="0"/>
                          </a:rPr>
                          <m:t>)</m:t>
                        </m:r>
                      </m:sup>
                    </m:sSubSup>
                    <m:r>
                      <a:rPr lang="en-US" altLang="zh-CN" sz="2400" i="1" dirty="0" smtClean="0">
                        <a:solidFill>
                          <a:schemeClr val="tx1"/>
                        </a:solidFill>
                        <a:latin typeface="Cambria Math" panose="02040503050406030204" pitchFamily="18" charset="0"/>
                      </a:rPr>
                      <m:t>+</m:t>
                    </m:r>
                    <m:sSubSup>
                      <m:sSubSupPr>
                        <m:ctrlPr>
                          <a:rPr lang="en-US" altLang="zh-CN" sz="2400" i="1" dirty="0">
                            <a:solidFill>
                              <a:schemeClr val="tx1"/>
                            </a:solidFill>
                            <a:latin typeface="Cambria Math" panose="02040503050406030204" pitchFamily="18" charset="0"/>
                          </a:rPr>
                        </m:ctrlPr>
                      </m:sSubSupPr>
                      <m:e>
                        <m:r>
                          <a:rPr lang="en-AU" altLang="zh-CN" sz="2400" i="1" dirty="0">
                            <a:solidFill>
                              <a:schemeClr val="tx1"/>
                            </a:solidFill>
                            <a:latin typeface="Cambria Math" panose="02040503050406030204" pitchFamily="18" charset="0"/>
                          </a:rPr>
                          <m:t>𝑅</m:t>
                        </m:r>
                      </m:e>
                      <m:sub>
                        <m:r>
                          <a:rPr lang="en-AU" altLang="zh-CN" sz="2400" i="1" dirty="0">
                            <a:solidFill>
                              <a:schemeClr val="tx1"/>
                            </a:solidFill>
                            <a:latin typeface="Cambria Math" panose="02040503050406030204" pitchFamily="18" charset="0"/>
                          </a:rPr>
                          <m:t>𝑖</m:t>
                        </m:r>
                        <m:r>
                          <a:rPr lang="en-AU" altLang="zh-CN" sz="2400" i="1" dirty="0">
                            <a:solidFill>
                              <a:schemeClr val="tx1"/>
                            </a:solidFill>
                            <a:latin typeface="Cambria Math" panose="02040503050406030204" pitchFamily="18" charset="0"/>
                          </a:rPr>
                          <m:t>,</m:t>
                        </m:r>
                        <m:r>
                          <a:rPr lang="en-AU" altLang="zh-CN" sz="2400" b="0" i="1" dirty="0" smtClean="0">
                            <a:solidFill>
                              <a:schemeClr val="tx1"/>
                            </a:solidFill>
                            <a:latin typeface="Cambria Math" panose="02040503050406030204" pitchFamily="18" charset="0"/>
                          </a:rPr>
                          <m:t>𝑘</m:t>
                        </m:r>
                      </m:sub>
                      <m:sup>
                        <m:r>
                          <a:rPr lang="en-AU" altLang="zh-CN" sz="2400" i="1" dirty="0">
                            <a:solidFill>
                              <a:schemeClr val="tx1"/>
                            </a:solidFill>
                            <a:latin typeface="Cambria Math" panose="02040503050406030204" pitchFamily="18" charset="0"/>
                          </a:rPr>
                          <m:t>(</m:t>
                        </m:r>
                        <m:r>
                          <a:rPr lang="en-AU" altLang="zh-CN" sz="2400" i="1" dirty="0">
                            <a:solidFill>
                              <a:schemeClr val="tx1"/>
                            </a:solidFill>
                            <a:latin typeface="Cambria Math" panose="02040503050406030204" pitchFamily="18" charset="0"/>
                          </a:rPr>
                          <m:t>𝑘</m:t>
                        </m:r>
                        <m:r>
                          <a:rPr lang="en-AU" altLang="zh-CN" sz="2400" b="0" i="1" dirty="0" smtClean="0">
                            <a:solidFill>
                              <a:schemeClr val="tx1"/>
                            </a:solidFill>
                            <a:latin typeface="Cambria Math" panose="02040503050406030204" pitchFamily="18" charset="0"/>
                          </a:rPr>
                          <m:t>−1</m:t>
                        </m:r>
                        <m:r>
                          <a:rPr lang="en-AU" altLang="zh-CN" sz="2400" i="1" dirty="0">
                            <a:solidFill>
                              <a:schemeClr val="tx1"/>
                            </a:solidFill>
                            <a:latin typeface="Cambria Math" panose="02040503050406030204" pitchFamily="18" charset="0"/>
                          </a:rPr>
                          <m:t>)</m:t>
                        </m:r>
                      </m:sup>
                    </m:sSubSup>
                  </m:oMath>
                </a14:m>
                <a:r>
                  <a:rPr lang="en-US" altLang="zh-CN" sz="2400" dirty="0">
                    <a:solidFill>
                      <a:schemeClr val="tx1"/>
                    </a:solidFill>
                  </a:rPr>
                  <a:t> </a:t>
                </a:r>
                <a14:m>
                  <m:oMath xmlns:m="http://schemas.openxmlformats.org/officeDocument/2006/math">
                    <m:sSup>
                      <m:sSupPr>
                        <m:ctrlPr>
                          <a:rPr lang="en-US" altLang="zh-CN" sz="2400" i="1" dirty="0" smtClean="0">
                            <a:solidFill>
                              <a:schemeClr val="tx1"/>
                            </a:solidFill>
                            <a:latin typeface="Cambria Math" panose="02040503050406030204" pitchFamily="18" charset="0"/>
                          </a:rPr>
                        </m:ctrlPr>
                      </m:sSupPr>
                      <m:e>
                        <m:sSubSup>
                          <m:sSubSupPr>
                            <m:ctrlPr>
                              <a:rPr lang="en-US" altLang="zh-CN" sz="2400" i="1" dirty="0">
                                <a:solidFill>
                                  <a:schemeClr val="tx1"/>
                                </a:solidFill>
                                <a:latin typeface="Cambria Math" panose="02040503050406030204" pitchFamily="18" charset="0"/>
                              </a:rPr>
                            </m:ctrlPr>
                          </m:sSubSupPr>
                          <m:e>
                            <m:r>
                              <a:rPr lang="en-AU" altLang="zh-CN" sz="2400" b="0" i="1" dirty="0" smtClean="0">
                                <a:solidFill>
                                  <a:schemeClr val="tx1"/>
                                </a:solidFill>
                                <a:latin typeface="Cambria Math" panose="02040503050406030204" pitchFamily="18" charset="0"/>
                              </a:rPr>
                              <m:t>(</m:t>
                            </m:r>
                            <m:r>
                              <a:rPr lang="en-AU" altLang="zh-CN" sz="2400" i="1" dirty="0">
                                <a:solidFill>
                                  <a:schemeClr val="tx1"/>
                                </a:solidFill>
                                <a:latin typeface="Cambria Math" panose="02040503050406030204" pitchFamily="18" charset="0"/>
                              </a:rPr>
                              <m:t>𝑅</m:t>
                            </m:r>
                          </m:e>
                          <m:sub>
                            <m:r>
                              <a:rPr lang="en-AU" altLang="zh-CN" sz="2400" i="1" dirty="0">
                                <a:solidFill>
                                  <a:schemeClr val="tx1"/>
                                </a:solidFill>
                                <a:latin typeface="Cambria Math" panose="02040503050406030204" pitchFamily="18" charset="0"/>
                              </a:rPr>
                              <m:t>𝑘</m:t>
                            </m:r>
                            <m:r>
                              <a:rPr lang="en-AU" altLang="zh-CN" sz="2400" i="1" dirty="0">
                                <a:solidFill>
                                  <a:schemeClr val="tx1"/>
                                </a:solidFill>
                                <a:latin typeface="Cambria Math" panose="02040503050406030204" pitchFamily="18" charset="0"/>
                              </a:rPr>
                              <m:t>,</m:t>
                            </m:r>
                            <m:r>
                              <a:rPr lang="en-AU" altLang="zh-CN" sz="2400" i="1" dirty="0">
                                <a:solidFill>
                                  <a:schemeClr val="tx1"/>
                                </a:solidFill>
                                <a:latin typeface="Cambria Math" panose="02040503050406030204" pitchFamily="18" charset="0"/>
                              </a:rPr>
                              <m:t>𝑘</m:t>
                            </m:r>
                          </m:sub>
                          <m:sup>
                            <m:r>
                              <a:rPr lang="en-AU" altLang="zh-CN" sz="2400" i="1" dirty="0">
                                <a:solidFill>
                                  <a:schemeClr val="tx1"/>
                                </a:solidFill>
                                <a:latin typeface="Cambria Math" panose="02040503050406030204" pitchFamily="18" charset="0"/>
                              </a:rPr>
                              <m:t>(</m:t>
                            </m:r>
                            <m:r>
                              <a:rPr lang="en-AU" altLang="zh-CN" sz="2400" i="1" dirty="0">
                                <a:solidFill>
                                  <a:schemeClr val="tx1"/>
                                </a:solidFill>
                                <a:latin typeface="Cambria Math" panose="02040503050406030204" pitchFamily="18" charset="0"/>
                              </a:rPr>
                              <m:t>𝑘</m:t>
                            </m:r>
                            <m:r>
                              <a:rPr lang="en-AU" altLang="zh-CN" sz="2400" i="1" dirty="0">
                                <a:solidFill>
                                  <a:schemeClr val="tx1"/>
                                </a:solidFill>
                                <a:latin typeface="Cambria Math" panose="02040503050406030204" pitchFamily="18" charset="0"/>
                              </a:rPr>
                              <m:t>−1)</m:t>
                            </m:r>
                          </m:sup>
                        </m:sSubSup>
                        <m:r>
                          <a:rPr lang="en-AU" altLang="zh-CN" sz="2400" b="0" i="1" dirty="0" smtClean="0">
                            <a:solidFill>
                              <a:schemeClr val="tx1"/>
                            </a:solidFill>
                            <a:latin typeface="Cambria Math" panose="02040503050406030204" pitchFamily="18" charset="0"/>
                          </a:rPr>
                          <m:t>)</m:t>
                        </m:r>
                      </m:e>
                      <m:sup>
                        <m:r>
                          <a:rPr lang="en-AU" altLang="zh-CN" sz="2400" b="0" i="1" dirty="0" smtClean="0">
                            <a:solidFill>
                              <a:schemeClr val="tx1"/>
                            </a:solidFill>
                            <a:latin typeface="Cambria Math" panose="02040503050406030204" pitchFamily="18" charset="0"/>
                          </a:rPr>
                          <m:t>∗</m:t>
                        </m:r>
                      </m:sup>
                    </m:sSup>
                    <m:sSubSup>
                      <m:sSubSupPr>
                        <m:ctrlPr>
                          <a:rPr lang="en-US" altLang="zh-CN" sz="2400" i="1" dirty="0">
                            <a:solidFill>
                              <a:schemeClr val="tx1"/>
                            </a:solidFill>
                            <a:latin typeface="Cambria Math" panose="02040503050406030204" pitchFamily="18" charset="0"/>
                          </a:rPr>
                        </m:ctrlPr>
                      </m:sSubSupPr>
                      <m:e>
                        <m:r>
                          <a:rPr lang="en-AU" altLang="zh-CN" sz="2400" i="1" dirty="0">
                            <a:solidFill>
                              <a:schemeClr val="tx1"/>
                            </a:solidFill>
                            <a:latin typeface="Cambria Math" panose="02040503050406030204" pitchFamily="18" charset="0"/>
                          </a:rPr>
                          <m:t>𝑅</m:t>
                        </m:r>
                      </m:e>
                      <m:sub>
                        <m:r>
                          <a:rPr lang="en-AU" altLang="zh-CN" sz="2400" b="0" i="1" dirty="0" smtClean="0">
                            <a:solidFill>
                              <a:schemeClr val="tx1"/>
                            </a:solidFill>
                            <a:latin typeface="Cambria Math" panose="02040503050406030204" pitchFamily="18" charset="0"/>
                          </a:rPr>
                          <m:t>𝑘</m:t>
                        </m:r>
                        <m:r>
                          <a:rPr lang="en-AU" altLang="zh-CN" sz="2400" i="1" dirty="0">
                            <a:solidFill>
                              <a:schemeClr val="tx1"/>
                            </a:solidFill>
                            <a:latin typeface="Cambria Math" panose="02040503050406030204" pitchFamily="18" charset="0"/>
                          </a:rPr>
                          <m:t>,</m:t>
                        </m:r>
                        <m:r>
                          <a:rPr lang="en-AU" altLang="zh-CN" sz="2400" i="1" dirty="0">
                            <a:solidFill>
                              <a:schemeClr val="tx1"/>
                            </a:solidFill>
                            <a:latin typeface="Cambria Math" panose="02040503050406030204" pitchFamily="18" charset="0"/>
                          </a:rPr>
                          <m:t>𝑗</m:t>
                        </m:r>
                      </m:sub>
                      <m:sup>
                        <m:r>
                          <a:rPr lang="en-AU" altLang="zh-CN" sz="2400" i="1" dirty="0">
                            <a:solidFill>
                              <a:schemeClr val="tx1"/>
                            </a:solidFill>
                            <a:latin typeface="Cambria Math" panose="02040503050406030204" pitchFamily="18" charset="0"/>
                          </a:rPr>
                          <m:t>(</m:t>
                        </m:r>
                        <m:r>
                          <a:rPr lang="en-AU" altLang="zh-CN" sz="2400" i="1" dirty="0">
                            <a:solidFill>
                              <a:schemeClr val="tx1"/>
                            </a:solidFill>
                            <a:latin typeface="Cambria Math" panose="02040503050406030204" pitchFamily="18" charset="0"/>
                          </a:rPr>
                          <m:t>𝑘</m:t>
                        </m:r>
                        <m:r>
                          <a:rPr lang="en-AU" altLang="zh-CN" sz="2400" b="0" i="1" dirty="0" smtClean="0">
                            <a:solidFill>
                              <a:schemeClr val="tx1"/>
                            </a:solidFill>
                            <a:latin typeface="Cambria Math" panose="02040503050406030204" pitchFamily="18" charset="0"/>
                          </a:rPr>
                          <m:t>−1</m:t>
                        </m:r>
                        <m:r>
                          <a:rPr lang="en-AU" altLang="zh-CN" sz="2400" i="1" dirty="0">
                            <a:solidFill>
                              <a:schemeClr val="tx1"/>
                            </a:solidFill>
                            <a:latin typeface="Cambria Math" panose="02040503050406030204" pitchFamily="18" charset="0"/>
                          </a:rPr>
                          <m:t>)</m:t>
                        </m:r>
                      </m:sup>
                    </m:sSubSup>
                  </m:oMath>
                </a14:m>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685800" y="1143000"/>
                <a:ext cx="8458200" cy="4548981"/>
              </a:xfrm>
              <a:blipFill rotWithShape="1">
                <a:blip r:embed="rId2"/>
                <a:stretch>
                  <a:fillRect b="10"/>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pPr>
              <a:defRPr/>
            </a:pPr>
            <a:fld id="{A619564F-3A13-4140-9CFC-3B75A7CC7F9C}" type="slidenum">
              <a:rPr lang="en-US" altLang="zh-CN" smtClean="0"/>
              <a:t>22</a:t>
            </a:fld>
            <a:endParaRPr lang="en-US" altLang="zh-CN"/>
          </a:p>
        </p:txBody>
      </p:sp>
      <p:pic>
        <p:nvPicPr>
          <p:cNvPr id="26" name="Picture 25"/>
          <p:cNvPicPr>
            <a:picLocks noChangeAspect="1"/>
          </p:cNvPicPr>
          <p:nvPr/>
        </p:nvPicPr>
        <p:blipFill>
          <a:blip r:embed="rId3"/>
          <a:stretch>
            <a:fillRect/>
          </a:stretch>
        </p:blipFill>
        <p:spPr>
          <a:xfrm>
            <a:off x="1489623" y="1981200"/>
            <a:ext cx="6621953" cy="3532671"/>
          </a:xfrm>
          <a:prstGeom prst="rect">
            <a:avLst/>
          </a:prstGeom>
        </p:spPr>
      </p:pic>
      <p:sp>
        <p:nvSpPr>
          <p:cNvPr id="7" name="Title 1"/>
          <p:cNvSpPr>
            <a:spLocks noGrp="1"/>
          </p:cNvSpPr>
          <p:nvPr>
            <p:ph type="title"/>
          </p:nvPr>
        </p:nvSpPr>
        <p:spPr>
          <a:xfrm>
            <a:off x="685800" y="152400"/>
            <a:ext cx="8229600" cy="393065"/>
          </a:xfrm>
        </p:spPr>
        <p:txBody>
          <a:bodyPr/>
          <a:lstStyle/>
          <a:p>
            <a:pPr algn="r"/>
            <a:r>
              <a:rPr lang="en-US" altLang="zh-CN" sz="3600" dirty="0">
                <a:solidFill>
                  <a:schemeClr val="bg1"/>
                </a:solidFill>
                <a:latin typeface="Times New Roman" panose="02020603050405020304" pitchFamily="18" charset="0"/>
                <a:cs typeface="Times New Roman" panose="02020603050405020304" pitchFamily="18" charset="0"/>
              </a:rPr>
              <a:t>DFA</a:t>
            </a:r>
            <a:r>
              <a:rPr lang="en-US" altLang="zh-CN" sz="3600" dirty="0">
                <a:solidFill>
                  <a:schemeClr val="bg1"/>
                </a:solidFill>
              </a:rPr>
              <a:t>-&gt;</a:t>
            </a:r>
            <a:r>
              <a:rPr lang="zh-CN" altLang="en-US" sz="3600" dirty="0">
                <a:solidFill>
                  <a:schemeClr val="bg1"/>
                </a:solidFill>
              </a:rPr>
              <a:t>正则表达式</a:t>
            </a:r>
            <a:r>
              <a:rPr lang="en-AU" altLang="zh-CN" sz="3600" dirty="0">
                <a:solidFill>
                  <a:schemeClr val="bg1"/>
                </a:solidFill>
              </a:rPr>
              <a:t>:</a:t>
            </a:r>
            <a:r>
              <a:rPr lang="zh-CN" altLang="en-US" sz="3600" dirty="0">
                <a:solidFill>
                  <a:schemeClr val="bg1"/>
                </a:solidFill>
              </a:rPr>
              <a:t>递归法</a:t>
            </a:r>
            <a:endParaRPr lang="en-AU" sz="3600" dirty="0">
              <a:solidFill>
                <a:schemeClr val="bg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 name="Rectangle 3"/>
              <p:cNvSpPr txBox="1">
                <a:spLocks noChangeArrowheads="1"/>
              </p:cNvSpPr>
              <p:nvPr/>
            </p:nvSpPr>
            <p:spPr bwMode="auto">
              <a:xfrm>
                <a:off x="484187" y="4267200"/>
                <a:ext cx="8305800" cy="24384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90000"/>
                  </a:lnSpc>
                  <a:buNone/>
                </a:pPr>
                <a:r>
                  <a:rPr lang="zh-CN" altLang="en-US" sz="2400" b="1" kern="0" dirty="0">
                    <a:latin typeface="Times New Roman" panose="02020603050405020304" pitchFamily="18" charset="0"/>
                    <a:ea typeface="黑体" panose="02010609060101010101" pitchFamily="49" charset="-122"/>
                  </a:rPr>
                  <a:t>递推关系为：</a:t>
                </a:r>
                <a:endParaRPr lang="en-US" altLang="zh-CN" sz="2400" b="1" kern="0" dirty="0">
                  <a:latin typeface="Times New Roman" panose="02020603050405020304" pitchFamily="18" charset="0"/>
                  <a:ea typeface="黑体" panose="02010609060101010101" pitchFamily="49" charset="-122"/>
                </a:endParaRPr>
              </a:p>
              <a:p>
                <a:pPr marL="0" indent="0" algn="just" eaLnBrk="1" hangingPunct="1">
                  <a:lnSpc>
                    <a:spcPct val="90000"/>
                  </a:lnSpc>
                  <a:buNone/>
                </a:pPr>
                <a14:m>
                  <m:oMathPara xmlns:m="http://schemas.openxmlformats.org/officeDocument/2006/math">
                    <m:oMathParaPr>
                      <m:jc m:val="left"/>
                    </m:oMathParaPr>
                    <m:oMath xmlns:m="http://schemas.openxmlformats.org/officeDocument/2006/math">
                      <m:sSubSup>
                        <m:sSubSupPr>
                          <m:ctrlPr>
                            <a:rPr lang="en-US" altLang="zh-CN" sz="2400" b="1" i="1" kern="0" smtClean="0">
                              <a:solidFill>
                                <a:srgbClr val="3333FF"/>
                              </a:solidFill>
                              <a:latin typeface="Cambria Math" panose="02040503050406030204" pitchFamily="18" charset="0"/>
                              <a:ea typeface="黑体" panose="02010609060101010101" pitchFamily="49" charset="-122"/>
                            </a:rPr>
                          </m:ctrlPr>
                        </m:sSubSupPr>
                        <m:e>
                          <m:r>
                            <a:rPr lang="en-US" altLang="zh-CN" sz="2400" b="1" i="1" kern="0" smtClean="0">
                              <a:solidFill>
                                <a:srgbClr val="3333FF"/>
                              </a:solidFill>
                              <a:latin typeface="Cambria Math" panose="02040503050406030204"/>
                              <a:ea typeface="黑体" panose="02010609060101010101" pitchFamily="49" charset="-122"/>
                            </a:rPr>
                            <m:t>𝑹</m:t>
                          </m:r>
                        </m:e>
                        <m:sub>
                          <m:r>
                            <a:rPr lang="en-US" altLang="zh-CN" sz="2400" b="1" i="1" kern="0">
                              <a:solidFill>
                                <a:srgbClr val="3333FF"/>
                              </a:solidFill>
                              <a:latin typeface="Cambria Math" panose="02040503050406030204" pitchFamily="18" charset="0"/>
                              <a:ea typeface="黑体" panose="02010609060101010101" pitchFamily="49" charset="-122"/>
                            </a:rPr>
                            <m:t>𝒊𝒋</m:t>
                          </m:r>
                        </m:sub>
                        <m:sup>
                          <m:r>
                            <a:rPr lang="en-US" altLang="zh-CN" sz="2400" b="1" i="1" kern="0" smtClean="0">
                              <a:solidFill>
                                <a:srgbClr val="3333FF"/>
                              </a:solidFill>
                              <a:latin typeface="Cambria Math" panose="02040503050406030204"/>
                              <a:ea typeface="黑体" panose="02010609060101010101" pitchFamily="49" charset="-122"/>
                            </a:rPr>
                            <m:t>(</m:t>
                          </m:r>
                          <m:r>
                            <a:rPr lang="en-US" altLang="zh-CN" sz="2400" b="1" i="1" kern="0" smtClean="0">
                              <a:solidFill>
                                <a:srgbClr val="3333FF"/>
                              </a:solidFill>
                              <a:latin typeface="Cambria Math" panose="02040503050406030204"/>
                              <a:ea typeface="黑体" panose="02010609060101010101" pitchFamily="49" charset="-122"/>
                            </a:rPr>
                            <m:t>𝒌</m:t>
                          </m:r>
                          <m:r>
                            <a:rPr lang="en-US" altLang="zh-CN" sz="2400" b="1" i="1" kern="0" smtClean="0">
                              <a:solidFill>
                                <a:srgbClr val="3333FF"/>
                              </a:solidFill>
                              <a:latin typeface="Cambria Math" panose="02040503050406030204"/>
                              <a:ea typeface="黑体" panose="02010609060101010101" pitchFamily="49" charset="-122"/>
                            </a:rPr>
                            <m:t>)</m:t>
                          </m:r>
                        </m:sup>
                      </m:sSubSup>
                      <m:r>
                        <a:rPr lang="en-US" altLang="zh-CN" sz="2400" b="1" i="1" kern="0" smtClean="0">
                          <a:solidFill>
                            <a:srgbClr val="3333FF"/>
                          </a:solidFill>
                          <a:latin typeface="Cambria Math" panose="02040503050406030204"/>
                          <a:ea typeface="黑体" panose="02010609060101010101" pitchFamily="49" charset="-122"/>
                        </a:rPr>
                        <m:t>=</m:t>
                      </m:r>
                      <m:sSubSup>
                        <m:sSubSupPr>
                          <m:ctrlPr>
                            <a:rPr lang="en-US" altLang="zh-CN" sz="2400" b="1" i="1" kern="0" smtClean="0">
                              <a:solidFill>
                                <a:srgbClr val="3333FF"/>
                              </a:solidFill>
                              <a:latin typeface="Cambria Math" panose="02040503050406030204" pitchFamily="18" charset="0"/>
                              <a:ea typeface="黑体" panose="02010609060101010101" pitchFamily="49" charset="-122"/>
                            </a:rPr>
                          </m:ctrlPr>
                        </m:sSubSupPr>
                        <m:e>
                          <m:r>
                            <a:rPr lang="en-US" altLang="zh-CN" sz="2400" b="1" i="1" kern="0" smtClean="0">
                              <a:solidFill>
                                <a:srgbClr val="3333FF"/>
                              </a:solidFill>
                              <a:latin typeface="Cambria Math" panose="02040503050406030204"/>
                              <a:ea typeface="黑体" panose="02010609060101010101" pitchFamily="49" charset="-122"/>
                            </a:rPr>
                            <m:t>𝑹</m:t>
                          </m:r>
                        </m:e>
                        <m:sub>
                          <m:r>
                            <a:rPr lang="en-US" altLang="zh-CN" sz="2400" b="1" i="1" kern="0">
                              <a:solidFill>
                                <a:srgbClr val="3333FF"/>
                              </a:solidFill>
                              <a:latin typeface="Cambria Math" panose="02040503050406030204" pitchFamily="18" charset="0"/>
                              <a:ea typeface="黑体" panose="02010609060101010101" pitchFamily="49" charset="-122"/>
                            </a:rPr>
                            <m:t>𝒊𝒋</m:t>
                          </m:r>
                        </m:sub>
                        <m:sup>
                          <m:r>
                            <a:rPr lang="en-US" altLang="zh-CN" sz="2400" b="1" i="1" kern="0" smtClean="0">
                              <a:solidFill>
                                <a:srgbClr val="3333FF"/>
                              </a:solidFill>
                              <a:latin typeface="Cambria Math" panose="02040503050406030204"/>
                              <a:ea typeface="黑体" panose="02010609060101010101" pitchFamily="49" charset="-122"/>
                            </a:rPr>
                            <m:t>(</m:t>
                          </m:r>
                          <m:r>
                            <a:rPr lang="en-US" altLang="zh-CN" sz="2400" b="1" i="1" kern="0" smtClean="0">
                              <a:solidFill>
                                <a:srgbClr val="3333FF"/>
                              </a:solidFill>
                              <a:latin typeface="Cambria Math" panose="02040503050406030204"/>
                              <a:ea typeface="黑体" panose="02010609060101010101" pitchFamily="49" charset="-122"/>
                            </a:rPr>
                            <m:t>𝒌</m:t>
                          </m:r>
                          <m:r>
                            <a:rPr lang="en-US" altLang="zh-CN" sz="2400" b="1" i="1" kern="0" smtClean="0">
                              <a:solidFill>
                                <a:srgbClr val="3333FF"/>
                              </a:solidFill>
                              <a:latin typeface="Cambria Math" panose="02040503050406030204"/>
                              <a:ea typeface="黑体" panose="02010609060101010101" pitchFamily="49" charset="-122"/>
                            </a:rPr>
                            <m:t>−</m:t>
                          </m:r>
                          <m:r>
                            <a:rPr lang="en-US" altLang="zh-CN" sz="2400" b="1" i="1" kern="0" smtClean="0">
                              <a:solidFill>
                                <a:srgbClr val="3333FF"/>
                              </a:solidFill>
                              <a:latin typeface="Cambria Math" panose="02040503050406030204"/>
                              <a:ea typeface="黑体" panose="02010609060101010101" pitchFamily="49" charset="-122"/>
                            </a:rPr>
                            <m:t>𝟏</m:t>
                          </m:r>
                          <m:r>
                            <a:rPr lang="en-US" altLang="zh-CN" sz="2400" b="1" i="1" kern="0" smtClean="0">
                              <a:solidFill>
                                <a:srgbClr val="3333FF"/>
                              </a:solidFill>
                              <a:latin typeface="Cambria Math" panose="02040503050406030204"/>
                              <a:ea typeface="黑体" panose="02010609060101010101" pitchFamily="49" charset="-122"/>
                            </a:rPr>
                            <m:t>)</m:t>
                          </m:r>
                        </m:sup>
                      </m:sSubSup>
                      <m:r>
                        <a:rPr lang="en-US" altLang="zh-CN" sz="2400" b="1" i="1" kern="0" smtClean="0">
                          <a:solidFill>
                            <a:srgbClr val="3333FF"/>
                          </a:solidFill>
                          <a:latin typeface="Cambria Math" panose="02040503050406030204"/>
                          <a:ea typeface="Cambria Math" panose="02040503050406030204"/>
                        </a:rPr>
                        <m:t>∪</m:t>
                      </m:r>
                      <m:sSubSup>
                        <m:sSubSupPr>
                          <m:ctrlPr>
                            <a:rPr lang="en-US" altLang="zh-CN" sz="2400" b="1" i="1" kern="0" smtClean="0">
                              <a:solidFill>
                                <a:srgbClr val="3333FF"/>
                              </a:solidFill>
                              <a:latin typeface="Cambria Math" panose="02040503050406030204" pitchFamily="18" charset="0"/>
                              <a:ea typeface="黑体" panose="02010609060101010101" pitchFamily="49" charset="-122"/>
                            </a:rPr>
                          </m:ctrlPr>
                        </m:sSubSupPr>
                        <m:e>
                          <m:r>
                            <a:rPr lang="en-US" altLang="zh-CN" sz="2400" b="1" i="1" kern="0" smtClean="0">
                              <a:solidFill>
                                <a:srgbClr val="3333FF"/>
                              </a:solidFill>
                              <a:latin typeface="Cambria Math" panose="02040503050406030204"/>
                              <a:ea typeface="黑体" panose="02010609060101010101" pitchFamily="49" charset="-122"/>
                            </a:rPr>
                            <m:t>𝑹</m:t>
                          </m:r>
                        </m:e>
                        <m:sub>
                          <m:r>
                            <a:rPr lang="en-US" altLang="zh-CN" sz="2400" b="1" i="1" kern="0">
                              <a:solidFill>
                                <a:srgbClr val="3333FF"/>
                              </a:solidFill>
                              <a:latin typeface="Cambria Math" panose="02040503050406030204" pitchFamily="18" charset="0"/>
                              <a:ea typeface="黑体" panose="02010609060101010101" pitchFamily="49" charset="-122"/>
                            </a:rPr>
                            <m:t>𝒊𝒌</m:t>
                          </m:r>
                        </m:sub>
                        <m:sup>
                          <m:d>
                            <m:dPr>
                              <m:ctrlPr>
                                <a:rPr lang="en-US" altLang="zh-CN" sz="2400" b="1" i="1" kern="0" smtClean="0">
                                  <a:solidFill>
                                    <a:srgbClr val="3333FF"/>
                                  </a:solidFill>
                                  <a:latin typeface="Cambria Math" panose="02040503050406030204" pitchFamily="18" charset="0"/>
                                  <a:ea typeface="黑体" panose="02010609060101010101" pitchFamily="49" charset="-122"/>
                                </a:rPr>
                              </m:ctrlPr>
                            </m:dPr>
                            <m:e>
                              <m:r>
                                <a:rPr lang="en-US" altLang="zh-CN" sz="2400" b="1" i="1" kern="0" smtClean="0">
                                  <a:solidFill>
                                    <a:srgbClr val="3333FF"/>
                                  </a:solidFill>
                                  <a:latin typeface="Cambria Math" panose="02040503050406030204"/>
                                  <a:ea typeface="黑体" panose="02010609060101010101" pitchFamily="49" charset="-122"/>
                                </a:rPr>
                                <m:t>𝒌</m:t>
                              </m:r>
                              <m:r>
                                <a:rPr lang="en-US" altLang="zh-CN" sz="2400" b="1" i="1" kern="0" smtClean="0">
                                  <a:solidFill>
                                    <a:srgbClr val="3333FF"/>
                                  </a:solidFill>
                                  <a:latin typeface="Cambria Math" panose="02040503050406030204"/>
                                  <a:ea typeface="黑体" panose="02010609060101010101" pitchFamily="49" charset="-122"/>
                                </a:rPr>
                                <m:t>−</m:t>
                              </m:r>
                              <m:r>
                                <a:rPr lang="en-US" altLang="zh-CN" sz="2400" b="1" i="1" kern="0" smtClean="0">
                                  <a:solidFill>
                                    <a:srgbClr val="3333FF"/>
                                  </a:solidFill>
                                  <a:latin typeface="Cambria Math" panose="02040503050406030204"/>
                                  <a:ea typeface="黑体" panose="02010609060101010101" pitchFamily="49" charset="-122"/>
                                </a:rPr>
                                <m:t>𝟏</m:t>
                              </m:r>
                            </m:e>
                          </m:d>
                        </m:sup>
                      </m:sSubSup>
                      <m:sSubSup>
                        <m:sSubSupPr>
                          <m:ctrlPr>
                            <a:rPr lang="en-US" altLang="zh-CN" sz="2400" b="1" i="1" kern="0" smtClean="0">
                              <a:solidFill>
                                <a:srgbClr val="3333FF"/>
                              </a:solidFill>
                              <a:latin typeface="Cambria Math" panose="02040503050406030204" pitchFamily="18" charset="0"/>
                              <a:ea typeface="黑体" panose="02010609060101010101" pitchFamily="49" charset="-122"/>
                            </a:rPr>
                          </m:ctrlPr>
                        </m:sSubSupPr>
                        <m:e>
                          <m:r>
                            <a:rPr lang="en-US" altLang="zh-CN" sz="2400" b="1" i="1" kern="0" smtClean="0">
                              <a:solidFill>
                                <a:srgbClr val="3333FF"/>
                              </a:solidFill>
                              <a:latin typeface="Cambria Math" panose="02040503050406030204"/>
                              <a:ea typeface="黑体" panose="02010609060101010101" pitchFamily="49" charset="-122"/>
                            </a:rPr>
                            <m:t>𝑹</m:t>
                          </m:r>
                        </m:e>
                        <m:sub>
                          <m:r>
                            <a:rPr lang="en-US" altLang="zh-CN" sz="2400" b="1" i="1" kern="0">
                              <a:solidFill>
                                <a:srgbClr val="3333FF"/>
                              </a:solidFill>
                              <a:latin typeface="Cambria Math" panose="02040503050406030204" pitchFamily="18" charset="0"/>
                              <a:ea typeface="黑体" panose="02010609060101010101" pitchFamily="49" charset="-122"/>
                            </a:rPr>
                            <m:t>𝒌𝒌</m:t>
                          </m:r>
                        </m:sub>
                        <m:sup>
                          <m:d>
                            <m:dPr>
                              <m:ctrlPr>
                                <a:rPr lang="en-US" altLang="zh-CN" sz="2400" b="1" i="1" kern="0" smtClean="0">
                                  <a:solidFill>
                                    <a:srgbClr val="3333FF"/>
                                  </a:solidFill>
                                  <a:latin typeface="Cambria Math" panose="02040503050406030204" pitchFamily="18" charset="0"/>
                                  <a:ea typeface="黑体" panose="02010609060101010101" pitchFamily="49" charset="-122"/>
                                </a:rPr>
                              </m:ctrlPr>
                            </m:dPr>
                            <m:e>
                              <m:r>
                                <a:rPr lang="en-US" altLang="zh-CN" sz="2400" b="1" i="1" kern="0" smtClean="0">
                                  <a:solidFill>
                                    <a:srgbClr val="3333FF"/>
                                  </a:solidFill>
                                  <a:latin typeface="Cambria Math" panose="02040503050406030204"/>
                                  <a:ea typeface="黑体" panose="02010609060101010101" pitchFamily="49" charset="-122"/>
                                </a:rPr>
                                <m:t>𝒌</m:t>
                              </m:r>
                              <m:r>
                                <a:rPr lang="en-US" altLang="zh-CN" sz="2400" b="1" i="1" kern="0" smtClean="0">
                                  <a:solidFill>
                                    <a:srgbClr val="3333FF"/>
                                  </a:solidFill>
                                  <a:latin typeface="Cambria Math" panose="02040503050406030204"/>
                                  <a:ea typeface="黑体" panose="02010609060101010101" pitchFamily="49" charset="-122"/>
                                </a:rPr>
                                <m:t>−</m:t>
                              </m:r>
                              <m:r>
                                <a:rPr lang="en-US" altLang="zh-CN" sz="2400" b="1" i="1" kern="0" smtClean="0">
                                  <a:solidFill>
                                    <a:srgbClr val="3333FF"/>
                                  </a:solidFill>
                                  <a:latin typeface="Cambria Math" panose="02040503050406030204"/>
                                  <a:ea typeface="黑体" panose="02010609060101010101" pitchFamily="49" charset="-122"/>
                                </a:rPr>
                                <m:t>𝟏</m:t>
                              </m:r>
                            </m:e>
                          </m:d>
                        </m:sup>
                      </m:sSubSup>
                      <m:sSubSup>
                        <m:sSubSupPr>
                          <m:ctrlPr>
                            <a:rPr lang="en-US" altLang="zh-CN" sz="2400" b="1" i="1" kern="0" smtClean="0">
                              <a:solidFill>
                                <a:srgbClr val="3333FF"/>
                              </a:solidFill>
                              <a:latin typeface="Cambria Math" panose="02040503050406030204" pitchFamily="18" charset="0"/>
                              <a:ea typeface="黑体" panose="02010609060101010101" pitchFamily="49" charset="-122"/>
                            </a:rPr>
                          </m:ctrlPr>
                        </m:sSubSupPr>
                        <m:e>
                          <m:r>
                            <a:rPr lang="en-US" altLang="zh-CN" sz="2400" b="1" i="1" kern="0" smtClean="0">
                              <a:solidFill>
                                <a:srgbClr val="3333FF"/>
                              </a:solidFill>
                              <a:latin typeface="Cambria Math" panose="02040503050406030204"/>
                              <a:ea typeface="黑体" panose="02010609060101010101" pitchFamily="49" charset="-122"/>
                            </a:rPr>
                            <m:t>𝑹</m:t>
                          </m:r>
                        </m:e>
                        <m:sub>
                          <m:r>
                            <a:rPr lang="en-US" altLang="zh-CN" sz="2400" b="1" i="1" kern="0">
                              <a:solidFill>
                                <a:srgbClr val="3333FF"/>
                              </a:solidFill>
                              <a:latin typeface="Cambria Math" panose="02040503050406030204" pitchFamily="18" charset="0"/>
                              <a:ea typeface="黑体" panose="02010609060101010101" pitchFamily="49" charset="-122"/>
                            </a:rPr>
                            <m:t>𝒌𝒋</m:t>
                          </m:r>
                        </m:sub>
                        <m:sup>
                          <m:r>
                            <a:rPr lang="en-US" altLang="zh-CN" sz="2400" b="1" i="1" kern="0" smtClean="0">
                              <a:solidFill>
                                <a:srgbClr val="3333FF"/>
                              </a:solidFill>
                              <a:latin typeface="Cambria Math" panose="02040503050406030204"/>
                              <a:ea typeface="黑体" panose="02010609060101010101" pitchFamily="49" charset="-122"/>
                            </a:rPr>
                            <m:t>(</m:t>
                          </m:r>
                          <m:r>
                            <a:rPr lang="en-US" altLang="zh-CN" sz="2400" b="1" i="1" kern="0" smtClean="0">
                              <a:solidFill>
                                <a:srgbClr val="3333FF"/>
                              </a:solidFill>
                              <a:latin typeface="Cambria Math" panose="02040503050406030204"/>
                              <a:ea typeface="黑体" panose="02010609060101010101" pitchFamily="49" charset="-122"/>
                            </a:rPr>
                            <m:t>𝒌</m:t>
                          </m:r>
                          <m:r>
                            <a:rPr lang="en-US" altLang="zh-CN" sz="2400" b="1" i="1" kern="0" smtClean="0">
                              <a:solidFill>
                                <a:srgbClr val="3333FF"/>
                              </a:solidFill>
                              <a:latin typeface="Cambria Math" panose="02040503050406030204"/>
                              <a:ea typeface="黑体" panose="02010609060101010101" pitchFamily="49" charset="-122"/>
                            </a:rPr>
                            <m:t>−</m:t>
                          </m:r>
                          <m:r>
                            <a:rPr lang="en-US" altLang="zh-CN" sz="2400" b="1" i="1" kern="0" smtClean="0">
                              <a:solidFill>
                                <a:srgbClr val="3333FF"/>
                              </a:solidFill>
                              <a:latin typeface="Cambria Math" panose="02040503050406030204"/>
                              <a:ea typeface="黑体" panose="02010609060101010101" pitchFamily="49" charset="-122"/>
                            </a:rPr>
                            <m:t>𝟏</m:t>
                          </m:r>
                          <m:r>
                            <a:rPr lang="en-US" altLang="zh-CN" sz="2400" b="1" i="1" kern="0" smtClean="0">
                              <a:solidFill>
                                <a:srgbClr val="3333FF"/>
                              </a:solidFill>
                              <a:latin typeface="Cambria Math" panose="02040503050406030204"/>
                              <a:ea typeface="黑体" panose="02010609060101010101" pitchFamily="49" charset="-122"/>
                            </a:rPr>
                            <m:t>)</m:t>
                          </m:r>
                        </m:sup>
                      </m:sSubSup>
                    </m:oMath>
                  </m:oMathPara>
                </a14:m>
                <a:endParaRPr lang="en-US" altLang="zh-CN" sz="2400" b="1" kern="0" baseline="30000" dirty="0">
                  <a:solidFill>
                    <a:srgbClr val="3333FF"/>
                  </a:solidFill>
                  <a:latin typeface="Times New Roman" panose="02020603050405020304" pitchFamily="18" charset="0"/>
                  <a:ea typeface="黑体" panose="02010609060101010101" pitchFamily="49" charset="-122"/>
                </a:endParaRPr>
              </a:p>
              <a:p>
                <a:pPr marL="0" indent="0" eaLnBrk="1" hangingPunct="1">
                  <a:lnSpc>
                    <a:spcPct val="90000"/>
                  </a:lnSpc>
                  <a:buNone/>
                </a:pPr>
                <a14:m>
                  <m:oMath xmlns:m="http://schemas.openxmlformats.org/officeDocument/2006/math">
                    <m:sSubSup>
                      <m:sSubSupPr>
                        <m:ctrlPr>
                          <a:rPr lang="en-US" altLang="zh-CN" sz="2400" b="1" i="1" kern="0" smtClean="0">
                            <a:solidFill>
                              <a:srgbClr val="3333FF"/>
                            </a:solidFill>
                            <a:latin typeface="Cambria Math" panose="02040503050406030204" pitchFamily="18" charset="0"/>
                            <a:ea typeface="黑体" panose="02010609060101010101" pitchFamily="49" charset="-122"/>
                          </a:rPr>
                        </m:ctrlPr>
                      </m:sSubSupPr>
                      <m:e>
                        <m:r>
                          <a:rPr lang="en-US" altLang="zh-CN" sz="2400" b="1" i="1" kern="0" smtClean="0">
                            <a:solidFill>
                              <a:srgbClr val="3333FF"/>
                            </a:solidFill>
                            <a:latin typeface="Cambria Math" panose="02040503050406030204"/>
                            <a:ea typeface="黑体" panose="02010609060101010101" pitchFamily="49" charset="-122"/>
                          </a:rPr>
                          <m:t>𝑹</m:t>
                        </m:r>
                      </m:e>
                      <m:sub>
                        <m:r>
                          <a:rPr lang="en-US" altLang="zh-CN" sz="2400" b="1" i="1" kern="0">
                            <a:solidFill>
                              <a:srgbClr val="3333FF"/>
                            </a:solidFill>
                            <a:latin typeface="Cambria Math" panose="02040503050406030204" pitchFamily="18" charset="0"/>
                            <a:ea typeface="黑体" panose="02010609060101010101" pitchFamily="49" charset="-122"/>
                          </a:rPr>
                          <m:t>𝒊𝒋</m:t>
                        </m:r>
                      </m:sub>
                      <m:sup>
                        <m:r>
                          <a:rPr lang="en-US" altLang="zh-CN" sz="2400" b="1" i="1" kern="0" smtClean="0">
                            <a:solidFill>
                              <a:srgbClr val="3333FF"/>
                            </a:solidFill>
                            <a:latin typeface="Cambria Math" panose="02040503050406030204"/>
                            <a:ea typeface="黑体" panose="02010609060101010101" pitchFamily="49" charset="-122"/>
                          </a:rPr>
                          <m:t>(</m:t>
                        </m:r>
                        <m:r>
                          <a:rPr lang="en-US" altLang="zh-CN" sz="2400" b="1" i="1" kern="0" smtClean="0">
                            <a:solidFill>
                              <a:srgbClr val="3333FF"/>
                            </a:solidFill>
                            <a:latin typeface="Cambria Math" panose="02040503050406030204"/>
                            <a:ea typeface="黑体" panose="02010609060101010101" pitchFamily="49" charset="-122"/>
                          </a:rPr>
                          <m:t>𝟎</m:t>
                        </m:r>
                        <m:r>
                          <a:rPr lang="en-US" altLang="zh-CN" sz="2400" b="1" i="1" kern="0" smtClean="0">
                            <a:solidFill>
                              <a:srgbClr val="3333FF"/>
                            </a:solidFill>
                            <a:latin typeface="Cambria Math" panose="02040503050406030204"/>
                            <a:ea typeface="黑体" panose="02010609060101010101" pitchFamily="49" charset="-122"/>
                          </a:rPr>
                          <m:t>)</m:t>
                        </m:r>
                      </m:sup>
                    </m:sSubSup>
                    <m:r>
                      <a:rPr lang="en-US" altLang="zh-CN" sz="2400" b="1" i="1" kern="0" smtClean="0">
                        <a:solidFill>
                          <a:srgbClr val="3333FF"/>
                        </a:solidFill>
                        <a:latin typeface="Cambria Math" panose="02040503050406030204"/>
                        <a:ea typeface="黑体" panose="02010609060101010101" pitchFamily="49" charset="-122"/>
                      </a:rPr>
                      <m:t>=</m:t>
                    </m:r>
                    <m:d>
                      <m:dPr>
                        <m:begChr m:val="{"/>
                        <m:endChr m:val=""/>
                        <m:ctrlPr>
                          <a:rPr lang="en-US" altLang="zh-CN" sz="2400" b="1" i="1" kern="0" smtClean="0">
                            <a:solidFill>
                              <a:srgbClr val="3333FF"/>
                            </a:solidFill>
                            <a:latin typeface="Cambria Math" panose="02040503050406030204" pitchFamily="18" charset="0"/>
                            <a:ea typeface="黑体" panose="02010609060101010101" pitchFamily="49" charset="-122"/>
                          </a:rPr>
                        </m:ctrlPr>
                      </m:dPr>
                      <m:e>
                        <m:eqArr>
                          <m:eqArrPr>
                            <m:ctrlPr>
                              <a:rPr lang="en-US" altLang="zh-CN" sz="2400" b="1" i="1" kern="0" smtClean="0">
                                <a:solidFill>
                                  <a:srgbClr val="3333FF"/>
                                </a:solidFill>
                                <a:latin typeface="Cambria Math" panose="02040503050406030204" pitchFamily="18" charset="0"/>
                                <a:ea typeface="黑体" panose="02010609060101010101" pitchFamily="49" charset="-122"/>
                              </a:rPr>
                            </m:ctrlPr>
                          </m:eqArrPr>
                          <m:e>
                            <m:d>
                              <m:dPr>
                                <m:begChr m:val="{"/>
                                <m:endChr m:val="}"/>
                                <m:ctrlPr>
                                  <a:rPr lang="en-US" altLang="zh-CN" sz="2400" b="1" i="1" kern="0" smtClean="0">
                                    <a:solidFill>
                                      <a:srgbClr val="3333FF"/>
                                    </a:solidFill>
                                    <a:latin typeface="Cambria Math" panose="02040503050406030204" pitchFamily="18" charset="0"/>
                                    <a:ea typeface="黑体" panose="02010609060101010101" pitchFamily="49" charset="-122"/>
                                  </a:rPr>
                                </m:ctrlPr>
                              </m:dPr>
                              <m:e>
                                <m:r>
                                  <a:rPr lang="en-US" altLang="zh-CN" sz="2400" b="1" i="1" kern="0" smtClean="0">
                                    <a:solidFill>
                                      <a:srgbClr val="3333FF"/>
                                    </a:solidFill>
                                    <a:latin typeface="Cambria Math" panose="02040503050406030204"/>
                                    <a:ea typeface="黑体" panose="02010609060101010101" pitchFamily="49" charset="-122"/>
                                  </a:rPr>
                                  <m:t>𝒂</m:t>
                                </m:r>
                              </m:e>
                              <m:e>
                                <m:r>
                                  <a:rPr lang="zh-CN" altLang="en-US" sz="2400" b="1" i="1" kern="0" smtClean="0">
                                    <a:solidFill>
                                      <a:srgbClr val="3333FF"/>
                                    </a:solidFill>
                                    <a:latin typeface="Cambria Math" panose="02040503050406030204"/>
                                    <a:ea typeface="黑体" panose="02010609060101010101" pitchFamily="49" charset="-122"/>
                                  </a:rPr>
                                  <m:t>𝜹</m:t>
                                </m:r>
                                <m:d>
                                  <m:dPr>
                                    <m:ctrlPr>
                                      <a:rPr lang="en-US" altLang="zh-CN" sz="2400" b="1" i="1" kern="0" smtClean="0">
                                        <a:solidFill>
                                          <a:srgbClr val="3333FF"/>
                                        </a:solidFill>
                                        <a:latin typeface="Cambria Math" panose="02040503050406030204" pitchFamily="18" charset="0"/>
                                        <a:ea typeface="黑体" panose="02010609060101010101" pitchFamily="49" charset="-122"/>
                                      </a:rPr>
                                    </m:ctrlPr>
                                  </m:dPr>
                                  <m:e>
                                    <m:sSub>
                                      <m:sSubPr>
                                        <m:ctrlPr>
                                          <a:rPr lang="en-US" altLang="zh-CN" sz="2400" b="1" i="1" kern="0" smtClean="0">
                                            <a:solidFill>
                                              <a:srgbClr val="3333FF"/>
                                            </a:solidFill>
                                            <a:latin typeface="Cambria Math" panose="02040503050406030204" pitchFamily="18" charset="0"/>
                                            <a:ea typeface="黑体" panose="02010609060101010101" pitchFamily="49" charset="-122"/>
                                          </a:rPr>
                                        </m:ctrlPr>
                                      </m:sSubPr>
                                      <m:e>
                                        <m:r>
                                          <a:rPr lang="en-US" altLang="zh-CN" sz="2400" b="1" i="1" kern="0" smtClean="0">
                                            <a:solidFill>
                                              <a:srgbClr val="3333FF"/>
                                            </a:solidFill>
                                            <a:latin typeface="Cambria Math" panose="02040503050406030204"/>
                                            <a:ea typeface="黑体" panose="02010609060101010101" pitchFamily="49" charset="-122"/>
                                          </a:rPr>
                                          <m:t>𝒒</m:t>
                                        </m:r>
                                      </m:e>
                                      <m:sub>
                                        <m:r>
                                          <a:rPr lang="en-US" altLang="zh-CN" sz="2400" b="1" i="1" kern="0" smtClean="0">
                                            <a:solidFill>
                                              <a:srgbClr val="3333FF"/>
                                            </a:solidFill>
                                            <a:latin typeface="Cambria Math" panose="02040503050406030204"/>
                                            <a:ea typeface="黑体" panose="02010609060101010101" pitchFamily="49" charset="-122"/>
                                          </a:rPr>
                                          <m:t>𝒊</m:t>
                                        </m:r>
                                      </m:sub>
                                    </m:sSub>
                                    <m:r>
                                      <a:rPr lang="en-US" altLang="zh-CN" sz="2400" b="1" i="1" kern="0" smtClean="0">
                                        <a:solidFill>
                                          <a:srgbClr val="3333FF"/>
                                        </a:solidFill>
                                        <a:latin typeface="Cambria Math" panose="02040503050406030204"/>
                                        <a:ea typeface="黑体" panose="02010609060101010101" pitchFamily="49" charset="-122"/>
                                      </a:rPr>
                                      <m:t>,</m:t>
                                    </m:r>
                                    <m:r>
                                      <a:rPr lang="en-US" altLang="zh-CN" sz="2400" b="1" i="1" kern="0" smtClean="0">
                                        <a:solidFill>
                                          <a:srgbClr val="3333FF"/>
                                        </a:solidFill>
                                        <a:latin typeface="Cambria Math" panose="02040503050406030204"/>
                                        <a:ea typeface="黑体" panose="02010609060101010101" pitchFamily="49" charset="-122"/>
                                      </a:rPr>
                                      <m:t>𝒙</m:t>
                                    </m:r>
                                  </m:e>
                                </m:d>
                                <m:r>
                                  <a:rPr lang="en-US" altLang="zh-CN" sz="2400" b="1" i="1" kern="0" smtClean="0">
                                    <a:solidFill>
                                      <a:srgbClr val="3333FF"/>
                                    </a:solidFill>
                                    <a:latin typeface="Cambria Math" panose="02040503050406030204"/>
                                    <a:ea typeface="黑体" panose="02010609060101010101" pitchFamily="49" charset="-122"/>
                                  </a:rPr>
                                  <m:t>=</m:t>
                                </m:r>
                                <m:sSub>
                                  <m:sSubPr>
                                    <m:ctrlPr>
                                      <a:rPr lang="en-US" altLang="zh-CN" sz="2400" b="1" i="1" kern="0" smtClean="0">
                                        <a:solidFill>
                                          <a:srgbClr val="3333FF"/>
                                        </a:solidFill>
                                        <a:latin typeface="Cambria Math" panose="02040503050406030204" pitchFamily="18" charset="0"/>
                                        <a:ea typeface="黑体" panose="02010609060101010101" pitchFamily="49" charset="-122"/>
                                      </a:rPr>
                                    </m:ctrlPr>
                                  </m:sSubPr>
                                  <m:e>
                                    <m:r>
                                      <a:rPr lang="en-US" altLang="zh-CN" sz="2400" b="1" i="1" kern="0" smtClean="0">
                                        <a:solidFill>
                                          <a:srgbClr val="3333FF"/>
                                        </a:solidFill>
                                        <a:latin typeface="Cambria Math" panose="02040503050406030204"/>
                                        <a:ea typeface="黑体" panose="02010609060101010101" pitchFamily="49" charset="-122"/>
                                      </a:rPr>
                                      <m:t>𝒒</m:t>
                                    </m:r>
                                  </m:e>
                                  <m:sub>
                                    <m:r>
                                      <a:rPr lang="en-US" altLang="zh-CN" sz="2400" b="1" i="1" kern="0" smtClean="0">
                                        <a:solidFill>
                                          <a:srgbClr val="3333FF"/>
                                        </a:solidFill>
                                        <a:latin typeface="Cambria Math" panose="02040503050406030204"/>
                                        <a:ea typeface="黑体" panose="02010609060101010101" pitchFamily="49" charset="-122"/>
                                      </a:rPr>
                                      <m:t>𝒋</m:t>
                                    </m:r>
                                  </m:sub>
                                </m:sSub>
                              </m:e>
                            </m:d>
                            <m:r>
                              <a:rPr lang="en-US" altLang="zh-CN" sz="2400" b="1" i="1" kern="0" smtClean="0">
                                <a:solidFill>
                                  <a:srgbClr val="3333FF"/>
                                </a:solidFill>
                                <a:latin typeface="Cambria Math" panose="02040503050406030204"/>
                                <a:ea typeface="黑体" panose="02010609060101010101" pitchFamily="49" charset="-122"/>
                              </a:rPr>
                              <m:t>                 </m:t>
                            </m:r>
                            <m:r>
                              <a:rPr lang="en-US" altLang="zh-CN" sz="2400" b="0" i="1" kern="0" smtClean="0">
                                <a:solidFill>
                                  <a:srgbClr val="3333FF"/>
                                </a:solidFill>
                                <a:latin typeface="Cambria Math" panose="02040503050406030204"/>
                                <a:ea typeface="黑体" panose="02010609060101010101" pitchFamily="49" charset="-122"/>
                              </a:rPr>
                              <m:t>𝑖</m:t>
                            </m:r>
                            <m:r>
                              <a:rPr lang="en-US" altLang="zh-CN" sz="2400" b="0" i="1" kern="0" smtClean="0">
                                <a:solidFill>
                                  <a:srgbClr val="3333FF"/>
                                </a:solidFill>
                                <a:latin typeface="Cambria Math" panose="02040503050406030204"/>
                                <a:ea typeface="Cambria Math" panose="02040503050406030204"/>
                              </a:rPr>
                              <m:t>≠</m:t>
                            </m:r>
                            <m:r>
                              <a:rPr lang="en-US" altLang="zh-CN" sz="2400" b="0" i="1" kern="0" smtClean="0">
                                <a:solidFill>
                                  <a:srgbClr val="3333FF"/>
                                </a:solidFill>
                                <a:latin typeface="Cambria Math" panose="02040503050406030204"/>
                                <a:ea typeface="Cambria Math" panose="02040503050406030204"/>
                              </a:rPr>
                              <m:t>𝑗</m:t>
                            </m:r>
                          </m:e>
                          <m:e>
                            <m:d>
                              <m:dPr>
                                <m:begChr m:val="{"/>
                                <m:endChr m:val="}"/>
                                <m:ctrlPr>
                                  <a:rPr lang="en-US" altLang="zh-CN" sz="2400" b="1" i="1" kern="0" smtClean="0">
                                    <a:solidFill>
                                      <a:srgbClr val="3333FF"/>
                                    </a:solidFill>
                                    <a:latin typeface="Cambria Math" panose="02040503050406030204" pitchFamily="18" charset="0"/>
                                    <a:ea typeface="黑体" panose="02010609060101010101" pitchFamily="49" charset="-122"/>
                                  </a:rPr>
                                </m:ctrlPr>
                              </m:dPr>
                              <m:e>
                                <m:r>
                                  <a:rPr lang="en-US" altLang="zh-CN" sz="2400" b="1" i="1" kern="0" smtClean="0">
                                    <a:solidFill>
                                      <a:srgbClr val="3333FF"/>
                                    </a:solidFill>
                                    <a:latin typeface="Cambria Math" panose="02040503050406030204"/>
                                    <a:ea typeface="黑体" panose="02010609060101010101" pitchFamily="49" charset="-122"/>
                                  </a:rPr>
                                  <m:t>𝒂</m:t>
                                </m:r>
                              </m:e>
                              <m:e>
                                <m:r>
                                  <a:rPr lang="zh-CN" altLang="en-US" sz="2400" b="1" i="1" kern="0" smtClean="0">
                                    <a:solidFill>
                                      <a:srgbClr val="3333FF"/>
                                    </a:solidFill>
                                    <a:latin typeface="Cambria Math" panose="02040503050406030204"/>
                                    <a:ea typeface="黑体" panose="02010609060101010101" pitchFamily="49" charset="-122"/>
                                  </a:rPr>
                                  <m:t>𝜹</m:t>
                                </m:r>
                                <m:d>
                                  <m:dPr>
                                    <m:ctrlPr>
                                      <a:rPr lang="en-US" altLang="zh-CN" sz="2400" b="1" i="1" kern="0" smtClean="0">
                                        <a:solidFill>
                                          <a:srgbClr val="3333FF"/>
                                        </a:solidFill>
                                        <a:latin typeface="Cambria Math" panose="02040503050406030204" pitchFamily="18" charset="0"/>
                                        <a:ea typeface="黑体" panose="02010609060101010101" pitchFamily="49" charset="-122"/>
                                      </a:rPr>
                                    </m:ctrlPr>
                                  </m:dPr>
                                  <m:e>
                                    <m:sSub>
                                      <m:sSubPr>
                                        <m:ctrlPr>
                                          <a:rPr lang="en-US" altLang="zh-CN" sz="2400" b="1" i="1" kern="0" smtClean="0">
                                            <a:solidFill>
                                              <a:srgbClr val="3333FF"/>
                                            </a:solidFill>
                                            <a:latin typeface="Cambria Math" panose="02040503050406030204" pitchFamily="18" charset="0"/>
                                            <a:ea typeface="黑体" panose="02010609060101010101" pitchFamily="49" charset="-122"/>
                                          </a:rPr>
                                        </m:ctrlPr>
                                      </m:sSubPr>
                                      <m:e>
                                        <m:r>
                                          <a:rPr lang="en-US" altLang="zh-CN" sz="2400" b="1" i="1" kern="0" smtClean="0">
                                            <a:solidFill>
                                              <a:srgbClr val="3333FF"/>
                                            </a:solidFill>
                                            <a:latin typeface="Cambria Math" panose="02040503050406030204"/>
                                            <a:ea typeface="黑体" panose="02010609060101010101" pitchFamily="49" charset="-122"/>
                                          </a:rPr>
                                          <m:t>𝒒</m:t>
                                        </m:r>
                                      </m:e>
                                      <m:sub>
                                        <m:r>
                                          <a:rPr lang="en-US" altLang="zh-CN" sz="2400" b="1" i="1" kern="0" smtClean="0">
                                            <a:solidFill>
                                              <a:srgbClr val="3333FF"/>
                                            </a:solidFill>
                                            <a:latin typeface="Cambria Math" panose="02040503050406030204"/>
                                            <a:ea typeface="黑体" panose="02010609060101010101" pitchFamily="49" charset="-122"/>
                                          </a:rPr>
                                          <m:t>𝒊</m:t>
                                        </m:r>
                                      </m:sub>
                                    </m:sSub>
                                    <m:r>
                                      <a:rPr lang="en-US" altLang="zh-CN" sz="2400" b="1" i="1" kern="0" smtClean="0">
                                        <a:solidFill>
                                          <a:srgbClr val="3333FF"/>
                                        </a:solidFill>
                                        <a:latin typeface="Cambria Math" panose="02040503050406030204"/>
                                        <a:ea typeface="黑体" panose="02010609060101010101" pitchFamily="49" charset="-122"/>
                                      </a:rPr>
                                      <m:t>,</m:t>
                                    </m:r>
                                    <m:r>
                                      <a:rPr lang="en-US" altLang="zh-CN" sz="2400" b="1" i="1" kern="0" smtClean="0">
                                        <a:solidFill>
                                          <a:srgbClr val="3333FF"/>
                                        </a:solidFill>
                                        <a:latin typeface="Cambria Math" panose="02040503050406030204"/>
                                        <a:ea typeface="黑体" panose="02010609060101010101" pitchFamily="49" charset="-122"/>
                                      </a:rPr>
                                      <m:t>𝒙</m:t>
                                    </m:r>
                                  </m:e>
                                </m:d>
                                <m:r>
                                  <a:rPr lang="en-US" altLang="zh-CN" sz="2400" b="1" i="1" kern="0" smtClean="0">
                                    <a:solidFill>
                                      <a:srgbClr val="3333FF"/>
                                    </a:solidFill>
                                    <a:latin typeface="Cambria Math" panose="02040503050406030204"/>
                                    <a:ea typeface="黑体" panose="02010609060101010101" pitchFamily="49" charset="-122"/>
                                  </a:rPr>
                                  <m:t>=</m:t>
                                </m:r>
                                <m:sSub>
                                  <m:sSubPr>
                                    <m:ctrlPr>
                                      <a:rPr lang="en-US" altLang="zh-CN" sz="2400" b="1" i="1" kern="0" smtClean="0">
                                        <a:solidFill>
                                          <a:srgbClr val="3333FF"/>
                                        </a:solidFill>
                                        <a:latin typeface="Cambria Math" panose="02040503050406030204" pitchFamily="18" charset="0"/>
                                        <a:ea typeface="黑体" panose="02010609060101010101" pitchFamily="49" charset="-122"/>
                                      </a:rPr>
                                    </m:ctrlPr>
                                  </m:sSubPr>
                                  <m:e>
                                    <m:r>
                                      <a:rPr lang="en-US" altLang="zh-CN" sz="2400" b="1" i="1" kern="0" smtClean="0">
                                        <a:solidFill>
                                          <a:srgbClr val="3333FF"/>
                                        </a:solidFill>
                                        <a:latin typeface="Cambria Math" panose="02040503050406030204"/>
                                        <a:ea typeface="黑体" panose="02010609060101010101" pitchFamily="49" charset="-122"/>
                                      </a:rPr>
                                      <m:t>𝒒</m:t>
                                    </m:r>
                                  </m:e>
                                  <m:sub>
                                    <m:r>
                                      <a:rPr lang="en-US" altLang="zh-CN" sz="2400" b="1" i="1" kern="0" smtClean="0">
                                        <a:solidFill>
                                          <a:srgbClr val="3333FF"/>
                                        </a:solidFill>
                                        <a:latin typeface="Cambria Math" panose="02040503050406030204"/>
                                        <a:ea typeface="黑体" panose="02010609060101010101" pitchFamily="49" charset="-122"/>
                                      </a:rPr>
                                      <m:t>𝒋</m:t>
                                    </m:r>
                                  </m:sub>
                                </m:sSub>
                              </m:e>
                            </m:d>
                            <m:r>
                              <a:rPr lang="en-US" altLang="zh-CN" sz="2400" b="1" i="1" kern="0" smtClean="0">
                                <a:solidFill>
                                  <a:srgbClr val="3333FF"/>
                                </a:solidFill>
                                <a:latin typeface="Cambria Math" panose="02040503050406030204"/>
                                <a:ea typeface="Cambria Math" panose="02040503050406030204"/>
                              </a:rPr>
                              <m:t>∪</m:t>
                            </m:r>
                            <m:d>
                              <m:dPr>
                                <m:begChr m:val="{"/>
                                <m:endChr m:val="}"/>
                                <m:ctrlPr>
                                  <a:rPr lang="en-US" altLang="zh-CN" sz="2400" b="1" i="1" kern="0" smtClean="0">
                                    <a:solidFill>
                                      <a:srgbClr val="3333FF"/>
                                    </a:solidFill>
                                    <a:latin typeface="Cambria Math" panose="02040503050406030204" pitchFamily="18" charset="0"/>
                                    <a:ea typeface="Cambria Math" panose="02040503050406030204"/>
                                  </a:rPr>
                                </m:ctrlPr>
                              </m:dPr>
                              <m:e>
                                <m:r>
                                  <a:rPr lang="zh-CN" altLang="en-US" sz="2400" b="1" i="1" kern="0" smtClean="0">
                                    <a:solidFill>
                                      <a:srgbClr val="3333FF"/>
                                    </a:solidFill>
                                    <a:latin typeface="Cambria Math" panose="02040503050406030204"/>
                                    <a:ea typeface="Cambria Math" panose="02040503050406030204"/>
                                  </a:rPr>
                                  <m:t>𝜺</m:t>
                                </m:r>
                              </m:e>
                            </m:d>
                            <m:r>
                              <a:rPr lang="en-US" altLang="zh-CN" sz="2400" b="1" i="1" kern="0" smtClean="0">
                                <a:solidFill>
                                  <a:srgbClr val="3333FF"/>
                                </a:solidFill>
                                <a:latin typeface="Cambria Math" panose="02040503050406030204"/>
                                <a:ea typeface="Cambria Math" panose="02040503050406030204"/>
                              </a:rPr>
                              <m:t>  </m:t>
                            </m:r>
                            <m:r>
                              <a:rPr lang="en-US" altLang="zh-CN" sz="2400" b="0" i="1" kern="0" smtClean="0">
                                <a:solidFill>
                                  <a:srgbClr val="3333FF"/>
                                </a:solidFill>
                                <a:latin typeface="Cambria Math" panose="02040503050406030204"/>
                                <a:ea typeface="Cambria Math" panose="02040503050406030204"/>
                              </a:rPr>
                              <m:t>    </m:t>
                            </m:r>
                            <m:r>
                              <a:rPr lang="en-US" altLang="zh-CN" sz="2400" b="0" i="1" kern="0" smtClean="0">
                                <a:solidFill>
                                  <a:srgbClr val="3333FF"/>
                                </a:solidFill>
                                <a:latin typeface="Cambria Math" panose="02040503050406030204"/>
                                <a:ea typeface="Cambria Math" panose="02040503050406030204"/>
                              </a:rPr>
                              <m:t>𝑖</m:t>
                            </m:r>
                            <m:r>
                              <a:rPr lang="en-US" altLang="zh-CN" sz="2400" b="0" i="1" kern="0" smtClean="0">
                                <a:solidFill>
                                  <a:srgbClr val="3333FF"/>
                                </a:solidFill>
                                <a:latin typeface="Cambria Math" panose="02040503050406030204"/>
                                <a:ea typeface="Cambria Math" panose="02040503050406030204"/>
                              </a:rPr>
                              <m:t>=</m:t>
                            </m:r>
                            <m:r>
                              <a:rPr lang="en-US" altLang="zh-CN" sz="2400" b="0" i="1" kern="0" smtClean="0">
                                <a:solidFill>
                                  <a:srgbClr val="3333FF"/>
                                </a:solidFill>
                                <a:latin typeface="Cambria Math" panose="02040503050406030204"/>
                                <a:ea typeface="Cambria Math" panose="02040503050406030204"/>
                              </a:rPr>
                              <m:t>𝑗</m:t>
                            </m:r>
                          </m:e>
                        </m:eqArr>
                      </m:e>
                    </m:d>
                    <m:r>
                      <a:rPr lang="en-US" altLang="zh-CN" sz="2400" b="1" i="1" kern="0" smtClean="0">
                        <a:solidFill>
                          <a:srgbClr val="3333FF"/>
                        </a:solidFill>
                        <a:latin typeface="Cambria Math" panose="02040503050406030204"/>
                        <a:ea typeface="黑体" panose="02010609060101010101" pitchFamily="49" charset="-122"/>
                      </a:rPr>
                      <m:t>   </m:t>
                    </m:r>
                  </m:oMath>
                </a14:m>
                <a:r>
                  <a:rPr lang="en-US" altLang="zh-CN" b="1" kern="0" dirty="0">
                    <a:solidFill>
                      <a:srgbClr val="3333FF"/>
                    </a:solidFill>
                    <a:latin typeface="Times New Roman" panose="02020603050405020304" pitchFamily="18" charset="0"/>
                    <a:ea typeface="黑体" panose="02010609060101010101" pitchFamily="49" charset="-122"/>
                  </a:rPr>
                  <a:t> </a:t>
                </a:r>
                <a:endParaRPr lang="en-US" altLang="zh-CN" b="1" kern="0" baseline="30000" dirty="0">
                  <a:solidFill>
                    <a:srgbClr val="3333FF"/>
                  </a:solidFill>
                  <a:latin typeface="Times New Roman" panose="02020603050405020304" pitchFamily="18" charset="0"/>
                  <a:ea typeface="黑体" panose="02010609060101010101" pitchFamily="49" charset="-122"/>
                </a:endParaRPr>
              </a:p>
            </p:txBody>
          </p:sp>
        </mc:Choice>
        <mc:Fallback xmlns="">
          <p:sp>
            <p:nvSpPr>
              <p:cNvPr id="18" name="Rectangle 3"/>
              <p:cNvSpPr txBox="1">
                <a:spLocks noRot="1" noChangeAspect="1" noMove="1" noResize="1" noEditPoints="1" noAdjustHandles="1" noChangeArrowheads="1" noChangeShapeType="1" noTextEdit="1"/>
              </p:cNvSpPr>
              <p:nvPr/>
            </p:nvSpPr>
            <p:spPr bwMode="auto">
              <a:xfrm>
                <a:off x="484187" y="4267200"/>
                <a:ext cx="8305800" cy="2438400"/>
              </a:xfrm>
              <a:prstGeom prst="rect">
                <a:avLst/>
              </a:prstGeom>
              <a:blipFill rotWithShape="1">
                <a:blip r:embed="rId3"/>
                <a:stretch>
                  <a:fillRect l="-4" r="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pic>
        <p:nvPicPr>
          <p:cNvPr id="1126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187" y="1333500"/>
            <a:ext cx="8305800" cy="29564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日期占位符 3"/>
          <p:cNvSpPr>
            <a:spLocks noGrp="1"/>
          </p:cNvSpPr>
          <p:nvPr>
            <p:ph type="dt" sz="quarter" idx="10"/>
          </p:nvPr>
        </p:nvSpPr>
        <p:spPr/>
        <p:txBody>
          <a:bodyPr/>
          <a:lstStyle/>
          <a:p>
            <a:pPr>
              <a:defRPr/>
            </a:pPr>
            <a:fld id="{117A3537-6807-4DB9-9C27-CC2CC5635447}" type="datetime1">
              <a:rPr lang="zh-CN" altLang="en-US"/>
              <a:t>2024/4/23</a:t>
            </a:fld>
            <a:endParaRPr lang="en-US" altLang="zh-CN" dirty="0"/>
          </a:p>
        </p:txBody>
      </p:sp>
      <p:sp>
        <p:nvSpPr>
          <p:cNvPr id="6" name="灯片编号占位符 5"/>
          <p:cNvSpPr>
            <a:spLocks noGrp="1"/>
          </p:cNvSpPr>
          <p:nvPr>
            <p:ph type="sldNum" sz="quarter" idx="12"/>
          </p:nvPr>
        </p:nvSpPr>
        <p:spPr/>
        <p:txBody>
          <a:bodyPr/>
          <a:lstStyle/>
          <a:p>
            <a:pPr>
              <a:defRPr/>
            </a:pPr>
            <a:fld id="{B6AB60D2-7AEF-4D86-9E16-9600C6420579}" type="slidenum">
              <a:rPr lang="en-US" altLang="zh-CN"/>
              <a:t>23</a:t>
            </a:fld>
            <a:endParaRPr lang="en-US" altLang="zh-CN"/>
          </a:p>
        </p:txBody>
      </p:sp>
      <p:sp>
        <p:nvSpPr>
          <p:cNvPr id="1127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imes New Roman" panose="02020603050405020304" pitchFamily="18" charset="0"/>
            </a:endParaRPr>
          </a:p>
        </p:txBody>
      </p:sp>
      <p:grpSp>
        <p:nvGrpSpPr>
          <p:cNvPr id="26" name="组合 25"/>
          <p:cNvGrpSpPr/>
          <p:nvPr/>
        </p:nvGrpSpPr>
        <p:grpSpPr bwMode="auto">
          <a:xfrm>
            <a:off x="1459709" y="1524000"/>
            <a:ext cx="5398291" cy="3657600"/>
            <a:chOff x="1459709" y="1524000"/>
            <a:chExt cx="5398291" cy="3657600"/>
          </a:xfrm>
        </p:grpSpPr>
        <p:sp>
          <p:nvSpPr>
            <p:cNvPr id="3" name="矩形 2"/>
            <p:cNvSpPr/>
            <p:nvPr/>
          </p:nvSpPr>
          <p:spPr>
            <a:xfrm>
              <a:off x="1459709" y="4648200"/>
              <a:ext cx="902491" cy="533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矩形 11"/>
            <p:cNvSpPr/>
            <p:nvPr/>
          </p:nvSpPr>
          <p:spPr>
            <a:xfrm>
              <a:off x="2667000" y="4648200"/>
              <a:ext cx="846000" cy="533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矩形 12"/>
            <p:cNvSpPr/>
            <p:nvPr/>
          </p:nvSpPr>
          <p:spPr>
            <a:xfrm>
              <a:off x="3556794" y="4648200"/>
              <a:ext cx="828000" cy="533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矩形 13"/>
            <p:cNvSpPr/>
            <p:nvPr/>
          </p:nvSpPr>
          <p:spPr>
            <a:xfrm>
              <a:off x="4428589" y="4648200"/>
              <a:ext cx="836999" cy="533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7" name="直接箭头连接符 6"/>
            <p:cNvCxnSpPr>
              <a:stCxn id="3" idx="0"/>
            </p:cNvCxnSpPr>
            <p:nvPr/>
          </p:nvCxnSpPr>
          <p:spPr>
            <a:xfrm flipV="1">
              <a:off x="1910955" y="1828800"/>
              <a:ext cx="4794645" cy="2819400"/>
            </a:xfrm>
            <a:prstGeom prst="straightConnector1">
              <a:avLst/>
            </a:prstGeom>
            <a:ln w="19050">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2" idx="0"/>
            </p:cNvCxnSpPr>
            <p:nvPr/>
          </p:nvCxnSpPr>
          <p:spPr>
            <a:xfrm flipV="1">
              <a:off x="3090000" y="1905000"/>
              <a:ext cx="2663896" cy="2743200"/>
            </a:xfrm>
            <a:prstGeom prst="straightConnector1">
              <a:avLst/>
            </a:prstGeom>
            <a:ln w="19050">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13" idx="0"/>
            </p:cNvCxnSpPr>
            <p:nvPr/>
          </p:nvCxnSpPr>
          <p:spPr>
            <a:xfrm flipV="1">
              <a:off x="3970794" y="1828800"/>
              <a:ext cx="982206" cy="2819400"/>
            </a:xfrm>
            <a:prstGeom prst="straightConnector1">
              <a:avLst/>
            </a:prstGeom>
            <a:ln w="19050">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14" idx="0"/>
            </p:cNvCxnSpPr>
            <p:nvPr/>
          </p:nvCxnSpPr>
          <p:spPr>
            <a:xfrm flipV="1">
              <a:off x="4847089" y="1524000"/>
              <a:ext cx="2010911" cy="3124200"/>
            </a:xfrm>
            <a:prstGeom prst="straightConnector1">
              <a:avLst/>
            </a:prstGeom>
            <a:ln w="19050">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grpSp>
      <p:sp>
        <p:nvSpPr>
          <p:cNvPr id="19" name="Title 1"/>
          <p:cNvSpPr>
            <a:spLocks noGrp="1"/>
          </p:cNvSpPr>
          <p:nvPr>
            <p:ph type="title"/>
          </p:nvPr>
        </p:nvSpPr>
        <p:spPr>
          <a:xfrm>
            <a:off x="685800" y="152400"/>
            <a:ext cx="8229600" cy="393065"/>
          </a:xfrm>
        </p:spPr>
        <p:txBody>
          <a:bodyPr/>
          <a:lstStyle/>
          <a:p>
            <a:pPr algn="r"/>
            <a:r>
              <a:rPr lang="en-US" altLang="zh-CN" sz="3600" dirty="0">
                <a:solidFill>
                  <a:schemeClr val="bg1"/>
                </a:solidFill>
                <a:latin typeface="Times New Roman" panose="02020603050405020304" pitchFamily="18" charset="0"/>
                <a:cs typeface="Times New Roman" panose="02020603050405020304" pitchFamily="18" charset="0"/>
              </a:rPr>
              <a:t>DFA</a:t>
            </a:r>
            <a:r>
              <a:rPr lang="en-US" altLang="zh-CN" sz="3600" dirty="0">
                <a:solidFill>
                  <a:schemeClr val="bg1"/>
                </a:solidFill>
              </a:rPr>
              <a:t>-&gt;</a:t>
            </a:r>
            <a:r>
              <a:rPr lang="zh-CN" altLang="en-US" sz="3600" dirty="0">
                <a:solidFill>
                  <a:schemeClr val="bg1"/>
                </a:solidFill>
              </a:rPr>
              <a:t>正则表达式</a:t>
            </a:r>
            <a:r>
              <a:rPr lang="en-AU" altLang="zh-CN" sz="3600" dirty="0">
                <a:solidFill>
                  <a:schemeClr val="bg1"/>
                </a:solidFill>
              </a:rPr>
              <a:t>:</a:t>
            </a:r>
            <a:r>
              <a:rPr lang="zh-CN" altLang="en-US" sz="3600" dirty="0">
                <a:solidFill>
                  <a:schemeClr val="bg1"/>
                </a:solidFill>
              </a:rPr>
              <a:t>递归法</a:t>
            </a:r>
            <a:endParaRPr lang="en-AU" sz="36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229600" cy="393065"/>
          </a:xfrm>
        </p:spPr>
        <p:txBody>
          <a:bodyPr/>
          <a:lstStyle/>
          <a:p>
            <a:pPr algn="r"/>
            <a:r>
              <a:rPr lang="en-US" altLang="zh-CN" sz="3600" dirty="0">
                <a:solidFill>
                  <a:schemeClr val="bg1"/>
                </a:solidFill>
                <a:latin typeface="Times New Roman" panose="02020603050405020304" pitchFamily="18" charset="0"/>
                <a:cs typeface="Times New Roman" panose="02020603050405020304" pitchFamily="18" charset="0"/>
              </a:rPr>
              <a:t>DFA</a:t>
            </a:r>
            <a:r>
              <a:rPr lang="zh-CN" altLang="en-US" sz="3600" dirty="0">
                <a:solidFill>
                  <a:schemeClr val="bg1"/>
                </a:solidFill>
                <a:latin typeface="Times New Roman" panose="02020603050405020304" pitchFamily="18" charset="0"/>
                <a:cs typeface="Times New Roman" panose="02020603050405020304" pitchFamily="18" charset="0"/>
              </a:rPr>
              <a:t>到正则表达式</a:t>
            </a:r>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t>24</a:t>
            </a:fld>
            <a:endParaRPr lang="en-US" altLang="zh-CN"/>
          </a:p>
        </p:txBody>
      </p:sp>
      <p:sp>
        <p:nvSpPr>
          <p:cNvPr id="6" name="Content Placeholder 2"/>
          <p:cNvSpPr>
            <a:spLocks noGrp="1"/>
          </p:cNvSpPr>
          <p:nvPr>
            <p:ph idx="1"/>
          </p:nvPr>
        </p:nvSpPr>
        <p:spPr>
          <a:xfrm>
            <a:off x="228600" y="838200"/>
            <a:ext cx="8229600" cy="6515100"/>
          </a:xfrm>
        </p:spPr>
        <p:txBody>
          <a:bodyPr>
            <a:normAutofit/>
          </a:bodyPr>
          <a:lstStyle/>
          <a:p>
            <a:r>
              <a:rPr lang="zh-CN" altLang="en-US" sz="2400" dirty="0">
                <a:latin typeface="Times New Roman" panose="02020603050405020304" pitchFamily="18" charset="0"/>
                <a:cs typeface="Times New Roman" panose="02020603050405020304" pitchFamily="18" charset="0"/>
              </a:rPr>
              <a:t>递归法</a:t>
            </a:r>
            <a:endParaRPr lang="en-AU" altLang="zh-CN" sz="2400" dirty="0"/>
          </a:p>
          <a:p>
            <a:r>
              <a:rPr lang="zh-CN" altLang="en-US" sz="2400" dirty="0">
                <a:solidFill>
                  <a:srgbClr val="C00000"/>
                </a:solidFill>
                <a:latin typeface="Times New Roman" panose="02020603050405020304" pitchFamily="18" charset="0"/>
                <a:cs typeface="Times New Roman" panose="02020603050405020304" pitchFamily="18" charset="0"/>
              </a:rPr>
              <a:t>状态消除法</a:t>
            </a:r>
            <a:endParaRPr lang="en-AU" altLang="zh-CN" sz="2400" dirty="0">
              <a:solidFill>
                <a:srgbClr val="C00000"/>
              </a:solidFill>
              <a:latin typeface="Times New Roman" panose="02020603050405020304" pitchFamily="18" charset="0"/>
              <a:cs typeface="Times New Roman" panose="02020603050405020304" pitchFamily="18" charset="0"/>
            </a:endParaRPr>
          </a:p>
          <a:p>
            <a:pPr marL="457200" lvl="1" indent="0">
              <a:buNone/>
            </a:pPr>
            <a:endParaRPr lang="zh-CN" alt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zh-CN" altLang="en-US" dirty="0"/>
              <a:t>从</a:t>
            </a:r>
            <a:r>
              <a:rPr lang="en-US" altLang="zh-CN" dirty="0">
                <a:latin typeface="Times New Roman" panose="02020603050405020304" pitchFamily="18" charset="0"/>
                <a:cs typeface="Times New Roman" panose="02020603050405020304" pitchFamily="18" charset="0"/>
              </a:rPr>
              <a:t>DFA</a:t>
            </a:r>
            <a:r>
              <a:rPr lang="zh-CN" altLang="en-US" dirty="0"/>
              <a:t>中逐个删除状态</a:t>
            </a:r>
            <a:endParaRPr lang="en-AU" altLang="zh-CN" dirty="0"/>
          </a:p>
          <a:p>
            <a:pPr lvl="1"/>
            <a:r>
              <a:rPr lang="zh-CN" altLang="en-US" dirty="0"/>
              <a:t>会消除掉状态的原有路径，因此要补上等价的路径</a:t>
            </a:r>
          </a:p>
          <a:p>
            <a:r>
              <a:rPr lang="zh-CN" altLang="en-US" dirty="0"/>
              <a:t>用标记了正则表达式的新路径替换被删掉的路径</a:t>
            </a:r>
          </a:p>
          <a:p>
            <a:r>
              <a:rPr lang="zh-CN" altLang="en-US" dirty="0"/>
              <a:t>保持“自动机”等价</a:t>
            </a:r>
          </a:p>
          <a:p>
            <a:endParaRPr lang="en-AU" dirty="0"/>
          </a:p>
        </p:txBody>
      </p:sp>
      <p:sp>
        <p:nvSpPr>
          <p:cNvPr id="5" name="Slide Number Placeholder 4"/>
          <p:cNvSpPr>
            <a:spLocks noGrp="1"/>
          </p:cNvSpPr>
          <p:nvPr>
            <p:ph type="sldNum" sz="quarter" idx="12"/>
          </p:nvPr>
        </p:nvSpPr>
        <p:spPr/>
        <p:txBody>
          <a:bodyPr/>
          <a:lstStyle/>
          <a:p>
            <a:pPr>
              <a:defRPr/>
            </a:pPr>
            <a:fld id="{A619564F-3A13-4140-9CFC-3B75A7CC7F9C}" type="slidenum">
              <a:rPr lang="en-US" altLang="zh-CN" smtClean="0"/>
              <a:t>25</a:t>
            </a:fld>
            <a:endParaRPr lang="en-US" altLang="zh-CN"/>
          </a:p>
        </p:txBody>
      </p:sp>
      <p:sp>
        <p:nvSpPr>
          <p:cNvPr id="6" name="Title 1"/>
          <p:cNvSpPr>
            <a:spLocks noGrp="1"/>
          </p:cNvSpPr>
          <p:nvPr>
            <p:ph type="title"/>
          </p:nvPr>
        </p:nvSpPr>
        <p:spPr>
          <a:xfrm>
            <a:off x="685800" y="152400"/>
            <a:ext cx="8229600" cy="393065"/>
          </a:xfrm>
        </p:spPr>
        <p:txBody>
          <a:bodyPr/>
          <a:lstStyle/>
          <a:p>
            <a:pPr algn="r"/>
            <a:r>
              <a:rPr lang="en-US" altLang="zh-CN" sz="3600" dirty="0">
                <a:solidFill>
                  <a:schemeClr val="bg1"/>
                </a:solidFill>
                <a:latin typeface="Times New Roman" panose="02020603050405020304" pitchFamily="18" charset="0"/>
                <a:cs typeface="Times New Roman" panose="02020603050405020304" pitchFamily="18" charset="0"/>
              </a:rPr>
              <a:t>DFA</a:t>
            </a:r>
            <a:r>
              <a:rPr lang="en-US" altLang="zh-CN" sz="3600" dirty="0">
                <a:solidFill>
                  <a:schemeClr val="bg1"/>
                </a:solidFill>
              </a:rPr>
              <a:t>-&gt;</a:t>
            </a:r>
            <a:r>
              <a:rPr lang="zh-CN" altLang="en-US" sz="3600" dirty="0">
                <a:solidFill>
                  <a:schemeClr val="bg1"/>
                </a:solidFill>
              </a:rPr>
              <a:t>正则表达式</a:t>
            </a:r>
            <a:r>
              <a:rPr lang="en-AU" altLang="zh-CN" sz="3600" dirty="0">
                <a:solidFill>
                  <a:schemeClr val="bg1"/>
                </a:solidFill>
              </a:rPr>
              <a:t>:</a:t>
            </a:r>
            <a:r>
              <a:rPr lang="zh-CN" altLang="en-US" sz="3600" dirty="0">
                <a:solidFill>
                  <a:schemeClr val="bg1"/>
                </a:solidFill>
              </a:rPr>
              <a:t>状态消除法</a:t>
            </a:r>
            <a:endParaRPr lang="en-AU" sz="3600" dirty="0">
              <a:solidFill>
                <a:schemeClr val="bg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094" y="995833"/>
            <a:ext cx="8229600" cy="4525963"/>
          </a:xfrm>
        </p:spPr>
        <p:txBody>
          <a:bodyPr>
            <a:normAutofit/>
          </a:bodyPr>
          <a:lstStyle/>
          <a:p>
            <a:r>
              <a:rPr lang="zh-CN" altLang="en-US" sz="2800" dirty="0"/>
              <a:t>正则表达式运算（连接，加，闭包）和</a:t>
            </a:r>
            <a:r>
              <a:rPr lang="en-AU" altLang="zh-CN" sz="2800" dirty="0">
                <a:latin typeface="Times New Roman" panose="02020603050405020304" pitchFamily="18" charset="0"/>
                <a:cs typeface="Times New Roman" panose="02020603050405020304" pitchFamily="18" charset="0"/>
              </a:rPr>
              <a:t>DFA</a:t>
            </a:r>
            <a:r>
              <a:rPr lang="zh-CN" altLang="en-US" sz="2800" dirty="0"/>
              <a:t>中路径的关系</a:t>
            </a:r>
            <a:endParaRPr lang="en-AU" sz="2800" dirty="0"/>
          </a:p>
        </p:txBody>
      </p:sp>
      <p:sp>
        <p:nvSpPr>
          <p:cNvPr id="5" name="Slide Number Placeholder 4"/>
          <p:cNvSpPr>
            <a:spLocks noGrp="1"/>
          </p:cNvSpPr>
          <p:nvPr>
            <p:ph type="sldNum" sz="quarter" idx="12"/>
          </p:nvPr>
        </p:nvSpPr>
        <p:spPr/>
        <p:txBody>
          <a:bodyPr/>
          <a:lstStyle/>
          <a:p>
            <a:pPr>
              <a:defRPr/>
            </a:pPr>
            <a:fld id="{A619564F-3A13-4140-9CFC-3B75A7CC7F9C}" type="slidenum">
              <a:rPr lang="en-US" altLang="zh-CN" smtClean="0"/>
              <a:t>26</a:t>
            </a:fld>
            <a:endParaRPr lang="en-US" altLang="zh-CN"/>
          </a:p>
        </p:txBody>
      </p:sp>
      <p:pic>
        <p:nvPicPr>
          <p:cNvPr id="6" name="Picture 9"/>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43000" y="2362200"/>
            <a:ext cx="7340684" cy="28262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itle 1"/>
          <p:cNvSpPr>
            <a:spLocks noGrp="1"/>
          </p:cNvSpPr>
          <p:nvPr>
            <p:ph type="title"/>
          </p:nvPr>
        </p:nvSpPr>
        <p:spPr>
          <a:xfrm>
            <a:off x="685800" y="152400"/>
            <a:ext cx="8229600" cy="393065"/>
          </a:xfrm>
        </p:spPr>
        <p:txBody>
          <a:bodyPr/>
          <a:lstStyle/>
          <a:p>
            <a:pPr algn="r"/>
            <a:r>
              <a:rPr lang="en-US" altLang="zh-CN" sz="3600" dirty="0">
                <a:solidFill>
                  <a:schemeClr val="bg1"/>
                </a:solidFill>
                <a:latin typeface="Times New Roman" panose="02020603050405020304" pitchFamily="18" charset="0"/>
                <a:cs typeface="Times New Roman" panose="02020603050405020304" pitchFamily="18" charset="0"/>
              </a:rPr>
              <a:t>DFA</a:t>
            </a:r>
            <a:r>
              <a:rPr lang="en-US" altLang="zh-CN" sz="3600" dirty="0">
                <a:solidFill>
                  <a:schemeClr val="bg1"/>
                </a:solidFill>
              </a:rPr>
              <a:t>-&gt;</a:t>
            </a:r>
            <a:r>
              <a:rPr lang="zh-CN" altLang="en-US" sz="3600" dirty="0">
                <a:solidFill>
                  <a:schemeClr val="bg1"/>
                </a:solidFill>
              </a:rPr>
              <a:t>正则表达式</a:t>
            </a:r>
            <a:r>
              <a:rPr lang="en-AU" altLang="zh-CN" sz="3600" dirty="0">
                <a:solidFill>
                  <a:schemeClr val="bg1"/>
                </a:solidFill>
              </a:rPr>
              <a:t>:</a:t>
            </a:r>
            <a:r>
              <a:rPr lang="zh-CN" altLang="en-US" sz="3600" dirty="0">
                <a:solidFill>
                  <a:schemeClr val="bg1"/>
                </a:solidFill>
              </a:rPr>
              <a:t>状态消除法</a:t>
            </a:r>
            <a:endParaRPr lang="en-AU" sz="3600" dirty="0">
              <a:solidFill>
                <a:schemeClr val="bg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43000"/>
                <a:ext cx="8229600" cy="4525963"/>
              </a:xfrm>
            </p:spPr>
            <p:txBody>
              <a:bodyPr>
                <a:normAutofit fontScale="92500" lnSpcReduction="10000"/>
              </a:bodyPr>
              <a:lstStyle/>
              <a:p>
                <a:r>
                  <a:rPr kumimoji="0" lang="zh-CN" altLang="en-US" dirty="0"/>
                  <a:t>更一般的情况，要为被删除的状态</a:t>
                </a:r>
                <a14:m>
                  <m:oMath xmlns:m="http://schemas.openxmlformats.org/officeDocument/2006/math">
                    <m:r>
                      <a:rPr kumimoji="0" lang="en-US" altLang="zh-CN" i="1" dirty="0" smtClean="0">
                        <a:latin typeface="Cambria Math" panose="02040503050406030204" pitchFamily="18" charset="0"/>
                      </a:rPr>
                      <m:t>𝑆</m:t>
                    </m:r>
                  </m:oMath>
                </a14:m>
                <a:r>
                  <a:rPr kumimoji="0" lang="zh-CN" altLang="en-US" dirty="0"/>
                  <a:t>的每个“入”和“出”路径的组合</a:t>
                </a:r>
                <a:r>
                  <a:rPr kumimoji="0" lang="en-US" altLang="zh-CN" dirty="0"/>
                  <a:t>, </a:t>
                </a:r>
                <a:r>
                  <a:rPr kumimoji="0" lang="zh-CN" altLang="en-US" dirty="0"/>
                  <a:t>补一条等价的新路径</a:t>
                </a:r>
                <a:r>
                  <a:rPr kumimoji="0" lang="en-US" altLang="zh-CN" dirty="0"/>
                  <a:t>, </a:t>
                </a:r>
                <a:r>
                  <a:rPr kumimoji="0" lang="zh-CN" altLang="en-US" dirty="0"/>
                  <a:t>并用新的正则表达式表示</a:t>
                </a:r>
                <a:endParaRPr kumimoji="0" lang="en-AU" altLang="zh-CN" dirty="0"/>
              </a:p>
              <a:p>
                <a:endParaRPr lang="en-AU" altLang="zh-CN" dirty="0"/>
              </a:p>
              <a:p>
                <a:endParaRPr kumimoji="0" lang="en-AU" altLang="zh-CN" dirty="0"/>
              </a:p>
              <a:p>
                <a:endParaRPr lang="en-AU" altLang="zh-CN" dirty="0"/>
              </a:p>
              <a:p>
                <a:endParaRPr kumimoji="0" lang="en-AU" altLang="zh-CN" dirty="0"/>
              </a:p>
              <a:p>
                <a:endParaRPr lang="en-AU" altLang="zh-CN" dirty="0"/>
              </a:p>
              <a:p>
                <a:endParaRPr lang="en-AU" altLang="zh-CN" dirty="0"/>
              </a:p>
              <a:p>
                <a:r>
                  <a:rPr lang="en-AU" altLang="zh-CN" dirty="0"/>
                  <a:t>2</a:t>
                </a:r>
                <a:r>
                  <a:rPr kumimoji="0" lang="zh-CN" altLang="en-US" dirty="0"/>
                  <a:t>条入，</a:t>
                </a:r>
                <a:r>
                  <a:rPr kumimoji="0" lang="en-AU" altLang="zh-CN" dirty="0"/>
                  <a:t>2</a:t>
                </a:r>
                <a:r>
                  <a:rPr kumimoji="0" lang="zh-CN" altLang="en-US" dirty="0"/>
                  <a:t>条出，要补</a:t>
                </a:r>
                <a:r>
                  <a:rPr kumimoji="0" lang="en-AU" altLang="zh-CN" dirty="0"/>
                  <a:t>4</a:t>
                </a:r>
                <a:r>
                  <a:rPr kumimoji="0" lang="zh-CN" altLang="en-US" dirty="0"/>
                  <a:t>条（</a:t>
                </a:r>
                <a14:m>
                  <m:oMath xmlns:m="http://schemas.openxmlformats.org/officeDocument/2006/math">
                    <m:r>
                      <a:rPr lang="en-AU" altLang="zh-CN" i="1" dirty="0" smtClean="0">
                        <a:latin typeface="Cambria Math" panose="02040503050406030204" pitchFamily="18" charset="0"/>
                      </a:rPr>
                      <m:t>𝑃</m:t>
                    </m:r>
                  </m:oMath>
                </a14:m>
                <a:r>
                  <a:rPr lang="zh-CN" altLang="en-US" dirty="0"/>
                  <a:t>到</a:t>
                </a:r>
                <a14:m>
                  <m:oMath xmlns:m="http://schemas.openxmlformats.org/officeDocument/2006/math">
                    <m:r>
                      <a:rPr lang="en-AU" altLang="zh-CN" i="1" dirty="0" smtClean="0">
                        <a:latin typeface="Cambria Math" panose="02040503050406030204" pitchFamily="18" charset="0"/>
                      </a:rPr>
                      <m:t>𝑄</m:t>
                    </m:r>
                  </m:oMath>
                </a14:m>
                <a:r>
                  <a:rPr lang="en-AU" altLang="zh-CN" dirty="0"/>
                  <a:t>,</a:t>
                </a:r>
                <a14:m>
                  <m:oMath xmlns:m="http://schemas.openxmlformats.org/officeDocument/2006/math">
                    <m:r>
                      <a:rPr lang="en-AU" altLang="zh-CN" i="1" dirty="0" smtClean="0">
                        <a:latin typeface="Cambria Math" panose="02040503050406030204" pitchFamily="18" charset="0"/>
                      </a:rPr>
                      <m:t>𝑃</m:t>
                    </m:r>
                  </m:oMath>
                </a14:m>
                <a:r>
                  <a:rPr lang="zh-CN" altLang="en-US" dirty="0"/>
                  <a:t>到</a:t>
                </a:r>
                <a14:m>
                  <m:oMath xmlns:m="http://schemas.openxmlformats.org/officeDocument/2006/math">
                    <m:r>
                      <a:rPr lang="en-AU" altLang="zh-CN" i="1" dirty="0" smtClean="0">
                        <a:latin typeface="Cambria Math" panose="02040503050406030204" pitchFamily="18" charset="0"/>
                      </a:rPr>
                      <m:t>𝑇</m:t>
                    </m:r>
                  </m:oMath>
                </a14:m>
                <a:r>
                  <a:rPr lang="en-AU" altLang="zh-CN" dirty="0"/>
                  <a:t>,</a:t>
                </a:r>
                <a14:m>
                  <m:oMath xmlns:m="http://schemas.openxmlformats.org/officeDocument/2006/math">
                    <m:r>
                      <a:rPr lang="en-AU" altLang="zh-CN" i="1" dirty="0" smtClean="0">
                        <a:latin typeface="Cambria Math" panose="02040503050406030204" pitchFamily="18" charset="0"/>
                      </a:rPr>
                      <m:t>𝑅</m:t>
                    </m:r>
                  </m:oMath>
                </a14:m>
                <a:r>
                  <a:rPr lang="zh-CN" altLang="en-US" dirty="0"/>
                  <a:t>到</a:t>
                </a:r>
                <a14:m>
                  <m:oMath xmlns:m="http://schemas.openxmlformats.org/officeDocument/2006/math">
                    <m:r>
                      <a:rPr lang="en-AU" altLang="zh-CN" i="1" dirty="0" smtClean="0">
                        <a:latin typeface="Cambria Math" panose="02040503050406030204" pitchFamily="18" charset="0"/>
                      </a:rPr>
                      <m:t>𝑄</m:t>
                    </m:r>
                  </m:oMath>
                </a14:m>
                <a:r>
                  <a:rPr lang="en-AU" altLang="zh-CN" dirty="0"/>
                  <a:t>,</a:t>
                </a:r>
                <a14:m>
                  <m:oMath xmlns:m="http://schemas.openxmlformats.org/officeDocument/2006/math">
                    <m:r>
                      <a:rPr lang="en-AU" altLang="zh-CN" i="1" dirty="0" smtClean="0">
                        <a:latin typeface="Cambria Math" panose="02040503050406030204" pitchFamily="18" charset="0"/>
                      </a:rPr>
                      <m:t>𝑅</m:t>
                    </m:r>
                  </m:oMath>
                </a14:m>
                <a:r>
                  <a:rPr lang="zh-CN" altLang="en-US" dirty="0"/>
                  <a:t>到</a:t>
                </a:r>
                <a14:m>
                  <m:oMath xmlns:m="http://schemas.openxmlformats.org/officeDocument/2006/math">
                    <m:r>
                      <a:rPr lang="en-AU" altLang="zh-CN" i="1" dirty="0" smtClean="0">
                        <a:latin typeface="Cambria Math" panose="02040503050406030204" pitchFamily="18" charset="0"/>
                      </a:rPr>
                      <m:t>𝑇</m:t>
                    </m:r>
                  </m:oMath>
                </a14:m>
                <a:r>
                  <a:rPr kumimoji="0" lang="zh-CN" altLang="en-US" dirty="0"/>
                  <a:t>）</a:t>
                </a:r>
                <a:endParaRPr kumimoji="0" lang="en-US" altLang="zh-CN"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43000"/>
                <a:ext cx="8229600" cy="4525963"/>
              </a:xfrm>
              <a:blipFill rotWithShape="1">
                <a:blip r:embed="rId2"/>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pPr>
              <a:defRPr/>
            </a:pPr>
            <a:fld id="{A619564F-3A13-4140-9CFC-3B75A7CC7F9C}" type="slidenum">
              <a:rPr lang="en-US" altLang="zh-CN" smtClean="0"/>
              <a:t>27</a:t>
            </a:fld>
            <a:endParaRPr lang="en-US" altLang="zh-CN"/>
          </a:p>
        </p:txBody>
      </p:sp>
      <p:pic>
        <p:nvPicPr>
          <p:cNvPr id="5"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55259" y="2591594"/>
            <a:ext cx="6633482" cy="190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itle 1"/>
          <p:cNvSpPr>
            <a:spLocks noGrp="1"/>
          </p:cNvSpPr>
          <p:nvPr>
            <p:ph type="title"/>
          </p:nvPr>
        </p:nvSpPr>
        <p:spPr>
          <a:xfrm>
            <a:off x="685800" y="152400"/>
            <a:ext cx="8229600" cy="393065"/>
          </a:xfrm>
        </p:spPr>
        <p:txBody>
          <a:bodyPr/>
          <a:lstStyle/>
          <a:p>
            <a:pPr algn="r"/>
            <a:r>
              <a:rPr lang="en-US" altLang="zh-CN" sz="3600" dirty="0">
                <a:solidFill>
                  <a:schemeClr val="bg1"/>
                </a:solidFill>
                <a:latin typeface="Times New Roman" panose="02020603050405020304" pitchFamily="18" charset="0"/>
                <a:cs typeface="Times New Roman" panose="02020603050405020304" pitchFamily="18" charset="0"/>
              </a:rPr>
              <a:t>DFA</a:t>
            </a:r>
            <a:r>
              <a:rPr lang="en-US" altLang="zh-CN" sz="3600" dirty="0">
                <a:solidFill>
                  <a:schemeClr val="bg1"/>
                </a:solidFill>
              </a:rPr>
              <a:t>-&gt;</a:t>
            </a:r>
            <a:r>
              <a:rPr lang="zh-CN" altLang="en-US" sz="3600" dirty="0">
                <a:solidFill>
                  <a:schemeClr val="bg1"/>
                </a:solidFill>
              </a:rPr>
              <a:t>正则表达式</a:t>
            </a:r>
            <a:r>
              <a:rPr lang="en-AU" altLang="zh-CN" sz="3600" dirty="0">
                <a:solidFill>
                  <a:schemeClr val="bg1"/>
                </a:solidFill>
              </a:rPr>
              <a:t>:</a:t>
            </a:r>
            <a:r>
              <a:rPr lang="zh-CN" altLang="en-US" sz="3600" dirty="0">
                <a:solidFill>
                  <a:schemeClr val="bg1"/>
                </a:solidFill>
              </a:rPr>
              <a:t>状态消除法</a:t>
            </a:r>
            <a:endParaRPr lang="en-AU" sz="3600" dirty="0">
              <a:solidFill>
                <a:schemeClr val="bg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A619564F-3A13-4140-9CFC-3B75A7CC7F9C}" type="slidenum">
              <a:rPr lang="en-US" altLang="zh-CN" smtClean="0"/>
              <a:t>28</a:t>
            </a:fld>
            <a:endParaRPr lang="en-US" altLang="zh-CN"/>
          </a:p>
        </p:txBody>
      </p:sp>
      <p:sp>
        <p:nvSpPr>
          <p:cNvPr id="7"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正则表达式</a:t>
            </a:r>
            <a:r>
              <a:rPr lang="en-US" altLang="zh-CN" sz="3600" dirty="0">
                <a:solidFill>
                  <a:schemeClr val="bg1"/>
                </a:solidFill>
              </a:rPr>
              <a:t>-&gt;</a:t>
            </a:r>
            <a:r>
              <a:rPr lang="en-US" altLang="zh-CN" sz="3600" dirty="0">
                <a:solidFill>
                  <a:schemeClr val="bg1"/>
                </a:solidFill>
                <a:latin typeface="Times New Roman" panose="02020603050405020304" pitchFamily="18" charset="0"/>
                <a:cs typeface="Times New Roman" panose="02020603050405020304" pitchFamily="18" charset="0"/>
              </a:rPr>
              <a:t>DFA</a:t>
            </a:r>
            <a:r>
              <a:rPr lang="en-AU" altLang="zh-CN" sz="3600" dirty="0">
                <a:solidFill>
                  <a:schemeClr val="bg1"/>
                </a:solidFill>
              </a:rPr>
              <a:t>:</a:t>
            </a:r>
            <a:r>
              <a:rPr lang="zh-CN" altLang="en-US" sz="3600" dirty="0">
                <a:solidFill>
                  <a:schemeClr val="bg1"/>
                </a:solidFill>
              </a:rPr>
              <a:t>递推构造法</a:t>
            </a:r>
            <a:endParaRPr lang="en-AU" sz="3600" dirty="0">
              <a:solidFill>
                <a:schemeClr val="bg1"/>
              </a:solidFill>
            </a:endParaRPr>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457200" y="685800"/>
                <a:ext cx="8229600" cy="4525963"/>
              </a:xfrm>
            </p:spPr>
            <p:txBody>
              <a:bodyPr>
                <a:normAutofit/>
              </a:bodyPr>
              <a:lstStyle/>
              <a:p>
                <a:r>
                  <a:rPr lang="zh-CN" altLang="en-US" dirty="0"/>
                  <a:t>定理</a:t>
                </a:r>
                <a:r>
                  <a:rPr lang="en-AU" altLang="zh-CN" dirty="0"/>
                  <a:t>:</a:t>
                </a:r>
                <a:r>
                  <a:rPr lang="zh-CN" altLang="en-US" dirty="0"/>
                  <a:t>每个正则表达式定义的语言，都可被有穷自动机识别。</a:t>
                </a:r>
                <a:endParaRPr lang="en-US" altLang="zh-CN" dirty="0"/>
              </a:p>
              <a:p>
                <a:r>
                  <a:rPr lang="zh-CN" altLang="en-US" dirty="0">
                    <a:latin typeface="Times New Roman" panose="02020603050405020304" pitchFamily="18" charset="0"/>
                    <a:ea typeface="宋体" panose="02010600030101010101" pitchFamily="2" charset="-122"/>
                    <a:sym typeface="Wingdings" panose="05000000000000000000" pitchFamily="2" charset="2"/>
                  </a:rPr>
                  <a:t></a:t>
                </a:r>
                <a:r>
                  <a:rPr lang="zh-CN" altLang="en-US" dirty="0"/>
                  <a:t>任何正则表达式</a:t>
                </a:r>
                <a14:m>
                  <m:oMath xmlns:m="http://schemas.openxmlformats.org/officeDocument/2006/math">
                    <m:r>
                      <a:rPr lang="en-US" altLang="zh-CN" b="0" i="1" smtClean="0">
                        <a:latin typeface="Cambria Math" panose="02040503050406030204" pitchFamily="18" charset="0"/>
                      </a:rPr>
                      <m:t>𝑅</m:t>
                    </m:r>
                  </m:oMath>
                </a14:m>
                <a:r>
                  <a:rPr lang="zh-CN" altLang="en-US" dirty="0"/>
                  <a:t>，都存在与其等价的</a:t>
                </a:r>
                <a14:m>
                  <m:oMath xmlns:m="http://schemas.openxmlformats.org/officeDocument/2006/math">
                    <m:r>
                      <a:rPr lang="zh-CN" altLang="en-US" i="1" smtClean="0">
                        <a:latin typeface="Cambria Math" panose="02040503050406030204" pitchFamily="18" charset="0"/>
                      </a:rPr>
                      <m:t>𝜀</m:t>
                    </m:r>
                  </m:oMath>
                </a14:m>
                <a:r>
                  <a:rPr lang="en-AU" altLang="zh-CN" dirty="0"/>
                  <a:t>-</a:t>
                </a:r>
                <a:r>
                  <a:rPr lang="en-AU" altLang="zh-CN" dirty="0">
                    <a:latin typeface="Times New Roman" panose="02020603050405020304" pitchFamily="18" charset="0"/>
                    <a:cs typeface="Times New Roman" panose="02020603050405020304" pitchFamily="18" charset="0"/>
                  </a:rPr>
                  <a:t>NFA  </a:t>
                </a:r>
                <a14:m>
                  <m:oMath xmlns:m="http://schemas.openxmlformats.org/officeDocument/2006/math">
                    <m:r>
                      <a:rPr lang="en-AU" altLang="zh-CN" i="1" dirty="0" smtClean="0">
                        <a:latin typeface="Cambria Math" panose="02040503050406030204" pitchFamily="18" charset="0"/>
                      </a:rPr>
                      <m:t>𝐴</m:t>
                    </m:r>
                  </m:oMath>
                </a14:m>
                <a:r>
                  <a:rPr lang="en-AU" altLang="zh-CN" dirty="0"/>
                  <a:t>,</a:t>
                </a:r>
                <a:r>
                  <a:rPr lang="zh-CN" altLang="en-US" dirty="0"/>
                  <a:t>即</a:t>
                </a:r>
                <a14:m>
                  <m:oMath xmlns:m="http://schemas.openxmlformats.org/officeDocument/2006/math">
                    <m:r>
                      <a:rPr lang="en-AU" altLang="zh-CN" b="1" i="0" smtClean="0">
                        <a:latin typeface="Cambria Math" panose="02040503050406030204" pitchFamily="18" charset="0"/>
                      </a:rPr>
                      <m:t>𝐋</m:t>
                    </m:r>
                    <m:d>
                      <m:dPr>
                        <m:ctrlPr>
                          <a:rPr lang="en-AU" altLang="zh-CN" b="0" i="1" smtClean="0">
                            <a:latin typeface="Cambria Math" panose="02040503050406030204" pitchFamily="18" charset="0"/>
                          </a:rPr>
                        </m:ctrlPr>
                      </m:dPr>
                      <m:e>
                        <m:r>
                          <a:rPr lang="en-AU" altLang="zh-CN" b="0" i="1" smtClean="0">
                            <a:latin typeface="Cambria Math" panose="02040503050406030204" pitchFamily="18" charset="0"/>
                          </a:rPr>
                          <m:t>𝐴</m:t>
                        </m:r>
                      </m:e>
                    </m:d>
                    <m:r>
                      <a:rPr lang="en-AU" altLang="zh-CN" b="0" i="1" smtClean="0">
                        <a:latin typeface="Cambria Math" panose="02040503050406030204" pitchFamily="18" charset="0"/>
                      </a:rPr>
                      <m:t>=</m:t>
                    </m:r>
                    <m:r>
                      <a:rPr lang="en-AU" altLang="zh-CN" b="1" i="0" smtClean="0">
                        <a:latin typeface="Cambria Math" panose="02040503050406030204" pitchFamily="18" charset="0"/>
                      </a:rPr>
                      <m:t>𝐋</m:t>
                    </m:r>
                    <m:r>
                      <a:rPr lang="en-AU" altLang="zh-CN" b="0" i="1" smtClean="0">
                        <a:latin typeface="Cambria Math" panose="02040503050406030204" pitchFamily="18" charset="0"/>
                      </a:rPr>
                      <m:t>(</m:t>
                    </m:r>
                    <m:r>
                      <a:rPr lang="en-US" altLang="zh-CN" b="0" i="1" smtClean="0">
                        <a:latin typeface="Cambria Math" panose="02040503050406030204" pitchFamily="18" charset="0"/>
                      </a:rPr>
                      <m:t>𝑅</m:t>
                    </m:r>
                    <m:r>
                      <a:rPr lang="en-AU" altLang="zh-CN" b="0" i="1" smtClean="0">
                        <a:latin typeface="Cambria Math" panose="02040503050406030204" pitchFamily="18" charset="0"/>
                      </a:rPr>
                      <m:t>)</m:t>
                    </m:r>
                  </m:oMath>
                </a14:m>
                <a:r>
                  <a:rPr lang="zh-CN" altLang="en-US" dirty="0"/>
                  <a:t>，并且</a:t>
                </a:r>
                <a14:m>
                  <m:oMath xmlns:m="http://schemas.openxmlformats.org/officeDocument/2006/math">
                    <m:r>
                      <a:rPr lang="en-US" altLang="zh-CN" i="1" dirty="0" smtClean="0">
                        <a:latin typeface="Cambria Math" panose="02040503050406030204" pitchFamily="18" charset="0"/>
                      </a:rPr>
                      <m:t>𝐴</m:t>
                    </m:r>
                  </m:oMath>
                </a14:m>
                <a:r>
                  <a:rPr lang="zh-CN" altLang="en-US" dirty="0"/>
                  <a:t>满足</a:t>
                </a:r>
                <a:r>
                  <a:rPr lang="en-AU" altLang="zh-CN" dirty="0"/>
                  <a:t>:</a:t>
                </a:r>
              </a:p>
              <a:p>
                <a:pPr lvl="1"/>
                <a:r>
                  <a:rPr lang="zh-CN" altLang="en-US" sz="2400" dirty="0"/>
                  <a:t>仅有一个接受状态；</a:t>
                </a:r>
                <a:endParaRPr lang="en-AU" altLang="zh-CN" sz="2400" dirty="0"/>
              </a:p>
              <a:p>
                <a:pPr lvl="1"/>
                <a:r>
                  <a:rPr lang="zh-CN" altLang="en-US" sz="2400" dirty="0"/>
                  <a:t>没有进入开始状态的边；</a:t>
                </a:r>
                <a:endParaRPr lang="en-AU" altLang="zh-CN" sz="2400" dirty="0"/>
              </a:p>
              <a:p>
                <a:pPr lvl="1"/>
                <a:r>
                  <a:rPr lang="zh-CN" altLang="en-US" sz="2400" dirty="0"/>
                  <a:t>没有离开接受状态的边。</a:t>
                </a:r>
                <a:endParaRPr lang="en-AU" altLang="zh-CN" sz="2400" dirty="0"/>
              </a:p>
              <a:p>
                <a:pPr marL="0" indent="0">
                  <a:buNone/>
                </a:pPr>
                <a:endParaRPr lang="en-AU" altLang="zh-CN" dirty="0"/>
              </a:p>
            </p:txBody>
          </p:sp>
        </mc:Choice>
        <mc:Fallback xmlns="">
          <p:sp>
            <p:nvSpPr>
              <p:cNvPr id="8" name="Content Placeholder 2"/>
              <p:cNvSpPr>
                <a:spLocks noRot="1" noChangeAspect="1" noMove="1" noResize="1" noEditPoints="1" noAdjustHandles="1" noChangeArrowheads="1" noChangeShapeType="1" noTextEdit="1"/>
              </p:cNvSpPr>
              <p:nvPr>
                <p:ph idx="1"/>
              </p:nvPr>
            </p:nvSpPr>
            <p:spPr>
              <a:xfrm>
                <a:off x="457200" y="685800"/>
                <a:ext cx="8229600" cy="4525963"/>
              </a:xfrm>
              <a:blipFill rotWithShape="1">
                <a:blip r:embed="rId2"/>
                <a:stretch>
                  <a:fillRect b="7"/>
                </a:stretch>
              </a:blipFill>
            </p:spPr>
            <p:txBody>
              <a:bodyPr/>
              <a:lstStyle/>
              <a:p>
                <a:r>
                  <a:rPr lang="zh-CN" altLang="en-US">
                    <a:noFill/>
                  </a:rPr>
                  <a:t> </a:t>
                </a:r>
              </a:p>
            </p:txBody>
          </p:sp>
        </mc:Fallback>
      </mc:AlternateContent>
      <p:sp>
        <p:nvSpPr>
          <p:cNvPr id="9" name="Oval 4"/>
          <p:cNvSpPr/>
          <p:nvPr/>
        </p:nvSpPr>
        <p:spPr>
          <a:xfrm>
            <a:off x="1962150" y="4425164"/>
            <a:ext cx="628650" cy="60959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dirty="0"/>
          </a:p>
        </p:txBody>
      </p:sp>
      <p:cxnSp>
        <p:nvCxnSpPr>
          <p:cNvPr id="10" name="Straight Arrow Connector 6"/>
          <p:cNvCxnSpPr/>
          <p:nvPr/>
        </p:nvCxnSpPr>
        <p:spPr>
          <a:xfrm>
            <a:off x="609600" y="4719328"/>
            <a:ext cx="13525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Oval 7"/>
          <p:cNvSpPr/>
          <p:nvPr/>
        </p:nvSpPr>
        <p:spPr>
          <a:xfrm>
            <a:off x="5743579" y="4175768"/>
            <a:ext cx="685800" cy="60959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dirty="0"/>
          </a:p>
        </p:txBody>
      </p:sp>
      <p:sp>
        <p:nvSpPr>
          <p:cNvPr id="12" name="Oval 8"/>
          <p:cNvSpPr/>
          <p:nvPr/>
        </p:nvSpPr>
        <p:spPr>
          <a:xfrm>
            <a:off x="5819779" y="4251967"/>
            <a:ext cx="5334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dirty="0"/>
          </a:p>
        </p:txBody>
      </p:sp>
      <p:cxnSp>
        <p:nvCxnSpPr>
          <p:cNvPr id="13" name="Straight Arrow Connector 9"/>
          <p:cNvCxnSpPr/>
          <p:nvPr/>
        </p:nvCxnSpPr>
        <p:spPr>
          <a:xfrm flipH="1">
            <a:off x="2543176" y="4229105"/>
            <a:ext cx="922018" cy="3429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Multiplication Sign 11"/>
          <p:cNvSpPr/>
          <p:nvPr/>
        </p:nvSpPr>
        <p:spPr>
          <a:xfrm>
            <a:off x="2762250" y="4182436"/>
            <a:ext cx="483869" cy="48545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cxnSp>
        <p:nvCxnSpPr>
          <p:cNvPr id="15" name="Straight Arrow Connector 12"/>
          <p:cNvCxnSpPr/>
          <p:nvPr/>
        </p:nvCxnSpPr>
        <p:spPr>
          <a:xfrm>
            <a:off x="4391029" y="4480567"/>
            <a:ext cx="13525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3"/>
          <p:cNvCxnSpPr/>
          <p:nvPr/>
        </p:nvCxnSpPr>
        <p:spPr>
          <a:xfrm>
            <a:off x="6429379" y="4480567"/>
            <a:ext cx="13525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Multiplication Sign 14"/>
          <p:cNvSpPr/>
          <p:nvPr/>
        </p:nvSpPr>
        <p:spPr>
          <a:xfrm>
            <a:off x="6968494" y="4202170"/>
            <a:ext cx="483869" cy="485455"/>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Rectangle: Rounded Corners 15"/>
          <p:cNvSpPr/>
          <p:nvPr/>
        </p:nvSpPr>
        <p:spPr>
          <a:xfrm>
            <a:off x="3280412" y="5257805"/>
            <a:ext cx="3585212" cy="12191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19" name="Oval 16"/>
          <p:cNvSpPr/>
          <p:nvPr/>
        </p:nvSpPr>
        <p:spPr>
          <a:xfrm>
            <a:off x="3489965" y="5562603"/>
            <a:ext cx="628650" cy="60959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dirty="0"/>
          </a:p>
        </p:txBody>
      </p:sp>
      <p:sp>
        <p:nvSpPr>
          <p:cNvPr id="20" name="Oval 18"/>
          <p:cNvSpPr/>
          <p:nvPr/>
        </p:nvSpPr>
        <p:spPr>
          <a:xfrm>
            <a:off x="5695954" y="5460689"/>
            <a:ext cx="937257" cy="84227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dirty="0"/>
          </a:p>
        </p:txBody>
      </p:sp>
      <p:sp>
        <p:nvSpPr>
          <p:cNvPr id="21" name="Oval 17"/>
          <p:cNvSpPr/>
          <p:nvPr/>
        </p:nvSpPr>
        <p:spPr>
          <a:xfrm>
            <a:off x="5812800" y="5562603"/>
            <a:ext cx="685800" cy="60959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dirty="0"/>
          </a:p>
        </p:txBody>
      </p:sp>
      <p:cxnSp>
        <p:nvCxnSpPr>
          <p:cNvPr id="22" name="Straight Arrow Connector 19"/>
          <p:cNvCxnSpPr/>
          <p:nvPr/>
        </p:nvCxnSpPr>
        <p:spPr>
          <a:xfrm>
            <a:off x="2137415" y="5867405"/>
            <a:ext cx="13525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TextBox 20"/>
          <p:cNvSpPr txBox="1"/>
          <p:nvPr/>
        </p:nvSpPr>
        <p:spPr>
          <a:xfrm flipH="1">
            <a:off x="1396366" y="5636568"/>
            <a:ext cx="1577339" cy="461665"/>
          </a:xfrm>
          <a:prstGeom prst="rect">
            <a:avLst/>
          </a:prstGeom>
          <a:noFill/>
        </p:spPr>
        <p:txBody>
          <a:bodyPr wrap="square" rtlCol="0">
            <a:spAutoFit/>
          </a:bodyPr>
          <a:lstStyle/>
          <a:p>
            <a:r>
              <a:rPr lang="en-AU" sz="2400" dirty="0">
                <a:latin typeface="Times New Roman" panose="02020603050405020304" pitchFamily="18" charset="0"/>
                <a:cs typeface="Times New Roman" panose="02020603050405020304" pitchFamily="18" charset="0"/>
              </a:rPr>
              <a:t>Start</a:t>
            </a:r>
          </a:p>
        </p:txBody>
      </p:sp>
      <mc:AlternateContent xmlns:mc="http://schemas.openxmlformats.org/markup-compatibility/2006" xmlns:a14="http://schemas.microsoft.com/office/drawing/2010/main">
        <mc:Choice Requires="a14">
          <p:sp>
            <p:nvSpPr>
              <p:cNvPr id="24" name="TextBox 22"/>
              <p:cNvSpPr txBox="1"/>
              <p:nvPr/>
            </p:nvSpPr>
            <p:spPr>
              <a:xfrm>
                <a:off x="2667000" y="5729052"/>
                <a:ext cx="4572000"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000" i="1" smtClean="0">
                          <a:latin typeface="Cambria Math" panose="02040503050406030204" pitchFamily="18" charset="0"/>
                        </a:rPr>
                        <m:t>𝜀</m:t>
                      </m:r>
                      <m:r>
                        <a:rPr lang="en-AU" altLang="zh-CN" sz="2000" b="0" i="1" smtClean="0">
                          <a:latin typeface="Cambria Math" panose="02040503050406030204" pitchFamily="18" charset="0"/>
                        </a:rPr>
                        <m:t>−</m:t>
                      </m:r>
                      <m:r>
                        <a:rPr lang="en-AU" altLang="zh-CN" sz="2000" b="0" i="1" smtClean="0">
                          <a:latin typeface="Cambria Math" panose="02040503050406030204" pitchFamily="18" charset="0"/>
                        </a:rPr>
                        <m:t>𝑁𝐹𝐴</m:t>
                      </m:r>
                    </m:oMath>
                  </m:oMathPara>
                </a14:m>
                <a:endParaRPr lang="en-AU" sz="2000" dirty="0"/>
              </a:p>
            </p:txBody>
          </p:sp>
        </mc:Choice>
        <mc:Fallback xmlns="">
          <p:sp>
            <p:nvSpPr>
              <p:cNvPr id="24" name="TextBox 22"/>
              <p:cNvSpPr txBox="1">
                <a:spLocks noRot="1" noChangeAspect="1" noMove="1" noResize="1" noEditPoints="1" noAdjustHandles="1" noChangeArrowheads="1" noChangeShapeType="1" noTextEdit="1"/>
              </p:cNvSpPr>
              <p:nvPr/>
            </p:nvSpPr>
            <p:spPr>
              <a:xfrm>
                <a:off x="2667000" y="5729052"/>
                <a:ext cx="4572000" cy="400110"/>
              </a:xfrm>
              <a:prstGeom prst="rect">
                <a:avLst/>
              </a:prstGeom>
              <a:blipFill rotWithShape="1">
                <a:blip r:embed="rId3"/>
                <a:stretch>
                  <a:fillRect t="-20" b="35"/>
                </a:stretch>
              </a:blipFill>
            </p:spPr>
            <p:txBody>
              <a:bodyPr/>
              <a:lstStyle/>
              <a:p>
                <a:r>
                  <a:rPr lang="zh-CN"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A619564F-3A13-4140-9CFC-3B75A7CC7F9C}" type="slidenum">
              <a:rPr lang="en-US" altLang="zh-CN" smtClean="0"/>
              <a:t>29</a:t>
            </a:fld>
            <a:endParaRPr lang="en-US" altLang="zh-CN"/>
          </a:p>
        </p:txBody>
      </p:sp>
      <p:sp>
        <p:nvSpPr>
          <p:cNvPr id="7"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正则表达式</a:t>
            </a:r>
            <a:r>
              <a:rPr lang="en-US" altLang="zh-CN" sz="3600" dirty="0">
                <a:solidFill>
                  <a:schemeClr val="bg1"/>
                </a:solidFill>
              </a:rPr>
              <a:t>-&gt;</a:t>
            </a:r>
            <a:r>
              <a:rPr lang="en-US" altLang="zh-CN" sz="3600" dirty="0">
                <a:solidFill>
                  <a:schemeClr val="bg1"/>
                </a:solidFill>
                <a:latin typeface="Times New Roman" panose="02020603050405020304" pitchFamily="18" charset="0"/>
                <a:cs typeface="Times New Roman" panose="02020603050405020304" pitchFamily="18" charset="0"/>
              </a:rPr>
              <a:t>DFA</a:t>
            </a:r>
            <a:r>
              <a:rPr lang="en-AU" altLang="zh-CN" sz="3600" dirty="0">
                <a:solidFill>
                  <a:schemeClr val="bg1"/>
                </a:solidFill>
              </a:rPr>
              <a:t>:</a:t>
            </a:r>
            <a:r>
              <a:rPr lang="zh-CN" altLang="en-US" sz="3600" dirty="0">
                <a:solidFill>
                  <a:schemeClr val="bg1"/>
                </a:solidFill>
              </a:rPr>
              <a:t>递推构造法</a:t>
            </a:r>
            <a:endParaRPr lang="en-AU" sz="3600" dirty="0">
              <a:solidFill>
                <a:schemeClr val="bg1"/>
              </a:solidFill>
            </a:endParaRPr>
          </a:p>
        </p:txBody>
      </p:sp>
      <mc:AlternateContent xmlns:mc="http://schemas.openxmlformats.org/markup-compatibility/2006" xmlns:a14="http://schemas.microsoft.com/office/drawing/2010/main">
        <mc:Choice Requires="a14">
          <p:sp>
            <p:nvSpPr>
              <p:cNvPr id="25" name="Content Placeholder 2"/>
              <p:cNvSpPr>
                <a:spLocks noGrp="1"/>
              </p:cNvSpPr>
              <p:nvPr>
                <p:ph idx="1"/>
              </p:nvPr>
            </p:nvSpPr>
            <p:spPr>
              <a:xfrm>
                <a:off x="533400" y="988646"/>
                <a:ext cx="8229600" cy="4525963"/>
              </a:xfrm>
            </p:spPr>
            <p:txBody>
              <a:bodyPr/>
              <a:lstStyle/>
              <a:p>
                <a:r>
                  <a:rPr lang="zh-CN" altLang="en-US" dirty="0"/>
                  <a:t>归纳基础：</a:t>
                </a:r>
                <a:endParaRPr lang="en-AU" altLang="zh-CN" dirty="0"/>
              </a:p>
              <a:p>
                <a:pPr marL="0" indent="0">
                  <a:buNone/>
                </a:pPr>
                <a:r>
                  <a:rPr lang="en-AU" altLang="zh-CN" dirty="0"/>
                  <a:t>1. </a:t>
                </a:r>
                <a:r>
                  <a:rPr lang="zh-CN" altLang="en-US" dirty="0"/>
                  <a:t>对正则表达式</a:t>
                </a:r>
                <a14:m>
                  <m:oMath xmlns:m="http://schemas.openxmlformats.org/officeDocument/2006/math">
                    <m:r>
                      <a:rPr lang="zh-CN" altLang="en-US" i="1" smtClean="0">
                        <a:latin typeface="Cambria Math" panose="02040503050406030204" pitchFamily="18" charset="0"/>
                      </a:rPr>
                      <m:t>∅</m:t>
                    </m:r>
                  </m:oMath>
                </a14:m>
                <a:r>
                  <a:rPr lang="zh-CN" altLang="en-US" dirty="0"/>
                  <a:t>，有</a:t>
                </a:r>
                <a14:m>
                  <m:oMath xmlns:m="http://schemas.openxmlformats.org/officeDocument/2006/math">
                    <m:r>
                      <a:rPr lang="en-US" altLang="zh-CN" i="1" dirty="0">
                        <a:latin typeface="Cambria Math" panose="02040503050406030204" pitchFamily="18" charset="0"/>
                      </a:rPr>
                      <m:t>𝜀</m:t>
                    </m:r>
                    <m:r>
                      <m:rPr>
                        <m:nor/>
                      </m:rPr>
                      <a:rPr lang="en-US" altLang="zh-CN" dirty="0">
                        <a:latin typeface="Cambria Math" panose="02040503050406030204" pitchFamily="18" charset="0"/>
                      </a:rPr>
                      <m:t>−</m:t>
                    </m:r>
                    <m:r>
                      <m:rPr>
                        <m:nor/>
                      </m:rPr>
                      <a:rPr lang="en-US" altLang="zh-CN" dirty="0">
                        <a:latin typeface="Times New Roman" panose="02020603050405020304" pitchFamily="18" charset="0"/>
                        <a:cs typeface="Times New Roman" panose="02020603050405020304" pitchFamily="18" charset="0"/>
                      </a:rPr>
                      <m:t>NFA</m:t>
                    </m:r>
                  </m:oMath>
                </a14:m>
                <a:endParaRPr lang="en-AU" altLang="zh-CN" dirty="0"/>
              </a:p>
              <a:p>
                <a:endParaRPr lang="en-AU" dirty="0"/>
              </a:p>
              <a:p>
                <a:endParaRPr lang="en-AU" dirty="0"/>
              </a:p>
              <a:p>
                <a:pPr marL="0" indent="0">
                  <a:buNone/>
                </a:pPr>
                <a:r>
                  <a:rPr lang="en-AU" dirty="0"/>
                  <a:t>2. </a:t>
                </a:r>
                <a:r>
                  <a:rPr lang="zh-CN" altLang="en-US" dirty="0"/>
                  <a:t>对正则表达式</a:t>
                </a:r>
                <a14:m>
                  <m:oMath xmlns:m="http://schemas.openxmlformats.org/officeDocument/2006/math">
                    <m:r>
                      <a:rPr lang="en-US" altLang="zh-CN" i="1" dirty="0" smtClean="0">
                        <a:latin typeface="Cambria Math" panose="02040503050406030204" pitchFamily="18" charset="0"/>
                      </a:rPr>
                      <m:t>𝜀</m:t>
                    </m:r>
                  </m:oMath>
                </a14:m>
                <a:r>
                  <a:rPr lang="zh-CN" altLang="en-US" dirty="0"/>
                  <a:t>，有</a:t>
                </a:r>
                <a14:m>
                  <m:oMath xmlns:m="http://schemas.openxmlformats.org/officeDocument/2006/math">
                    <m:r>
                      <a:rPr lang="en-US" altLang="zh-CN" i="1" dirty="0">
                        <a:latin typeface="Cambria Math" panose="02040503050406030204" pitchFamily="18" charset="0"/>
                      </a:rPr>
                      <m:t>𝜀</m:t>
                    </m:r>
                    <m:r>
                      <m:rPr>
                        <m:nor/>
                      </m:rPr>
                      <a:rPr lang="en-US" altLang="zh-CN" dirty="0">
                        <a:latin typeface="Cambria Math" panose="02040503050406030204" pitchFamily="18" charset="0"/>
                      </a:rPr>
                      <m:t>−</m:t>
                    </m:r>
                    <m:r>
                      <m:rPr>
                        <m:nor/>
                      </m:rPr>
                      <a:rPr lang="en-US" altLang="zh-CN" dirty="0">
                        <a:latin typeface="Times New Roman" panose="02020603050405020304" pitchFamily="18" charset="0"/>
                        <a:cs typeface="Times New Roman" panose="02020603050405020304" pitchFamily="18" charset="0"/>
                      </a:rPr>
                      <m:t>NFA</m:t>
                    </m:r>
                  </m:oMath>
                </a14:m>
                <a:endParaRPr lang="en-AU" dirty="0"/>
              </a:p>
              <a:p>
                <a:pPr marL="0" indent="0">
                  <a:buNone/>
                </a:pPr>
                <a:endParaRPr lang="en-AU" dirty="0"/>
              </a:p>
              <a:p>
                <a:pPr marL="0" indent="0">
                  <a:buNone/>
                </a:pPr>
                <a:endParaRPr lang="en-AU" dirty="0"/>
              </a:p>
              <a:p>
                <a:pPr marL="0" indent="0">
                  <a:buNone/>
                </a:pPr>
                <a:r>
                  <a:rPr lang="en-AU" dirty="0"/>
                  <a:t>3. </a:t>
                </a:r>
                <a14:m>
                  <m:oMath xmlns:m="http://schemas.openxmlformats.org/officeDocument/2006/math">
                    <m:r>
                      <a:rPr kumimoji="0" lang="zh-CN" altLang="en-US" sz="2800" i="1" smtClean="0">
                        <a:latin typeface="Cambria Math" panose="02040503050406030204" pitchFamily="18" charset="0"/>
                        <a:ea typeface="宋体" panose="02010600030101010101" pitchFamily="2" charset="-122"/>
                        <a:cs typeface="Times New Roman" panose="02020603050405020304" pitchFamily="18" charset="0"/>
                      </a:rPr>
                      <m:t>∀</m:t>
                    </m:r>
                    <m:r>
                      <a:rPr kumimoji="0" lang="en-AU" altLang="zh-CN" sz="2800" b="0" i="1" smtClean="0">
                        <a:latin typeface="Cambria Math" panose="02040503050406030204" pitchFamily="18" charset="0"/>
                        <a:ea typeface="宋体" panose="02010600030101010101" pitchFamily="2" charset="-122"/>
                        <a:cs typeface="Times New Roman" panose="02020603050405020304" pitchFamily="18" charset="0"/>
                      </a:rPr>
                      <m:t>𝑎</m:t>
                    </m:r>
                    <m:r>
                      <a:rPr kumimoji="0" lang="en-AU" altLang="zh-CN" sz="2800" b="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kumimoji="0" lang="el-GR" altLang="zh-CN" sz="2800" b="0" i="1" smtClean="0">
                        <a:latin typeface="Cambria Math" panose="02040503050406030204" pitchFamily="18" charset="0"/>
                        <a:ea typeface="Cambria Math" panose="02040503050406030204" pitchFamily="18" charset="0"/>
                        <a:cs typeface="Times New Roman" panose="02020603050405020304" pitchFamily="18" charset="0"/>
                      </a:rPr>
                      <m:t>Σ</m:t>
                    </m:r>
                  </m:oMath>
                </a14:m>
                <a:r>
                  <a:rPr kumimoji="0" lang="zh-CN" altLang="zh-TW" sz="2800" dirty="0">
                    <a:latin typeface="Times New Roman" panose="02020603050405020304" pitchFamily="18" charset="0"/>
                    <a:ea typeface="宋体" panose="02010600030101010101" pitchFamily="2" charset="-122"/>
                    <a:cs typeface="Times New Roman" panose="02020603050405020304" pitchFamily="18" charset="0"/>
                  </a:rPr>
                  <a:t>，</a:t>
                </a:r>
                <a:r>
                  <a:rPr kumimoji="0" lang="zh-TW" altLang="en-US" sz="2800" dirty="0">
                    <a:latin typeface="Times New Roman" panose="02020603050405020304" pitchFamily="18" charset="0"/>
                    <a:ea typeface="宋体" panose="02010600030101010101" pitchFamily="2" charset="-122"/>
                    <a:cs typeface="Times New Roman" panose="02020603050405020304" pitchFamily="18" charset="0"/>
                  </a:rPr>
                  <a:t>对正则表达式</a:t>
                </a:r>
                <a:r>
                  <a:rPr kumimoji="0" lang="en-US" altLang="zh-TW" sz="2800" b="1" i="1" dirty="0">
                    <a:latin typeface="Times New Roman" panose="02020603050405020304" pitchFamily="18" charset="0"/>
                    <a:ea typeface="宋体" panose="02010600030101010101" pitchFamily="2" charset="-122"/>
                    <a:cs typeface="Times New Roman" panose="02020603050405020304" pitchFamily="18" charset="0"/>
                  </a:rPr>
                  <a:t>a</a:t>
                </a:r>
                <a:r>
                  <a:rPr kumimoji="0"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kumimoji="0" lang="zh-TW" altLang="en-US" sz="2800" dirty="0">
                    <a:latin typeface="Times New Roman" panose="02020603050405020304" pitchFamily="18" charset="0"/>
                    <a:ea typeface="宋体" panose="02010600030101010101" pitchFamily="2" charset="-122"/>
                    <a:cs typeface="Times New Roman" panose="02020603050405020304" pitchFamily="18" charset="0"/>
                  </a:rPr>
                  <a:t>有</a:t>
                </a:r>
                <a14:m>
                  <m:oMath xmlns:m="http://schemas.openxmlformats.org/officeDocument/2006/math">
                    <m:r>
                      <a:rPr lang="en-US" altLang="zh-CN" i="1" dirty="0">
                        <a:latin typeface="Cambria Math" panose="02040503050406030204" pitchFamily="18" charset="0"/>
                      </a:rPr>
                      <m:t>𝜀</m:t>
                    </m:r>
                    <m:r>
                      <m:rPr>
                        <m:nor/>
                      </m:rPr>
                      <a:rPr lang="en-US" altLang="zh-CN" dirty="0">
                        <a:latin typeface="Cambria Math" panose="02040503050406030204" pitchFamily="18" charset="0"/>
                      </a:rPr>
                      <m:t>−</m:t>
                    </m:r>
                    <m:r>
                      <m:rPr>
                        <m:nor/>
                      </m:rPr>
                      <a:rPr lang="en-US" altLang="zh-CN" dirty="0">
                        <a:latin typeface="Times New Roman" panose="02020603050405020304" pitchFamily="18" charset="0"/>
                        <a:cs typeface="Times New Roman" panose="02020603050405020304" pitchFamily="18" charset="0"/>
                      </a:rPr>
                      <m:t>NFA</m:t>
                    </m:r>
                  </m:oMath>
                </a14:m>
                <a:endParaRPr lang="en-AU" dirty="0"/>
              </a:p>
            </p:txBody>
          </p:sp>
        </mc:Choice>
        <mc:Fallback xmlns="">
          <p:sp>
            <p:nvSpPr>
              <p:cNvPr id="25" name="Content Placeholder 2"/>
              <p:cNvSpPr>
                <a:spLocks noRot="1" noChangeAspect="1" noMove="1" noResize="1" noEditPoints="1" noAdjustHandles="1" noChangeArrowheads="1" noChangeShapeType="1" noTextEdit="1"/>
              </p:cNvSpPr>
              <p:nvPr>
                <p:ph idx="1"/>
              </p:nvPr>
            </p:nvSpPr>
            <p:spPr>
              <a:xfrm>
                <a:off x="533400" y="988646"/>
                <a:ext cx="8229600" cy="4525963"/>
              </a:xfrm>
              <a:blipFill rotWithShape="1">
                <a:blip r:embed="rId2"/>
                <a:stretch>
                  <a:fillRect t="-13" b="6"/>
                </a:stretch>
              </a:blipFill>
            </p:spPr>
            <p:txBody>
              <a:bodyPr/>
              <a:lstStyle/>
              <a:p>
                <a:r>
                  <a:rPr lang="zh-CN" altLang="en-US">
                    <a:noFill/>
                  </a:rPr>
                  <a:t> </a:t>
                </a:r>
              </a:p>
            </p:txBody>
          </p:sp>
        </mc:Fallback>
      </mc:AlternateContent>
      <p:pic>
        <p:nvPicPr>
          <p:cNvPr id="26"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2284046"/>
            <a:ext cx="3048000"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06076" y="3718215"/>
            <a:ext cx="2903047" cy="72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图片 4"/>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406445" y="5233156"/>
            <a:ext cx="2743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A619564F-3A13-4140-9CFC-3B75A7CC7F9C}" type="slidenum">
              <a:rPr lang="en-US" altLang="zh-CN" smtClean="0"/>
              <a:t>30</a:t>
            </a:fld>
            <a:endParaRPr lang="en-US" altLang="zh-CN"/>
          </a:p>
        </p:txBody>
      </p:sp>
      <p:sp>
        <p:nvSpPr>
          <p:cNvPr id="7"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正则表达式</a:t>
            </a:r>
            <a:r>
              <a:rPr lang="en-US" altLang="zh-CN" sz="3600" dirty="0">
                <a:solidFill>
                  <a:schemeClr val="bg1"/>
                </a:solidFill>
              </a:rPr>
              <a:t>-&gt;</a:t>
            </a:r>
            <a:r>
              <a:rPr lang="en-US" altLang="zh-CN" sz="3600" dirty="0">
                <a:solidFill>
                  <a:schemeClr val="bg1"/>
                </a:solidFill>
                <a:latin typeface="Times New Roman" panose="02020603050405020304" pitchFamily="18" charset="0"/>
                <a:cs typeface="Times New Roman" panose="02020603050405020304" pitchFamily="18" charset="0"/>
              </a:rPr>
              <a:t>DFA</a:t>
            </a:r>
            <a:r>
              <a:rPr lang="en-AU" altLang="zh-CN" sz="3600" dirty="0">
                <a:solidFill>
                  <a:schemeClr val="bg1"/>
                </a:solidFill>
              </a:rPr>
              <a:t>:</a:t>
            </a:r>
            <a:r>
              <a:rPr lang="zh-CN" altLang="en-US" sz="3600" dirty="0">
                <a:solidFill>
                  <a:schemeClr val="bg1"/>
                </a:solidFill>
              </a:rPr>
              <a:t>递推构造法</a:t>
            </a:r>
            <a:endParaRPr lang="en-AU" sz="3600" dirty="0">
              <a:solidFill>
                <a:schemeClr val="bg1"/>
              </a:solidFill>
            </a:endParaRPr>
          </a:p>
        </p:txBody>
      </p:sp>
      <mc:AlternateContent xmlns:mc="http://schemas.openxmlformats.org/markup-compatibility/2006" xmlns:a14="http://schemas.microsoft.com/office/drawing/2010/main">
        <mc:Choice Requires="a14">
          <p:sp>
            <p:nvSpPr>
              <p:cNvPr id="9" name="Content Placeholder 2"/>
              <p:cNvSpPr>
                <a:spLocks noGrp="1"/>
              </p:cNvSpPr>
              <p:nvPr>
                <p:ph idx="1"/>
              </p:nvPr>
            </p:nvSpPr>
            <p:spPr>
              <a:xfrm>
                <a:off x="457200" y="1066800"/>
                <a:ext cx="8229600" cy="4525963"/>
              </a:xfrm>
            </p:spPr>
            <p:txBody>
              <a:bodyPr/>
              <a:lstStyle/>
              <a:p>
                <a:r>
                  <a:rPr lang="zh-CN" altLang="en-US" dirty="0"/>
                  <a:t>归纳递推</a:t>
                </a:r>
                <a:r>
                  <a:rPr lang="en-AU" altLang="zh-CN" dirty="0"/>
                  <a:t>:</a:t>
                </a:r>
              </a:p>
              <a:p>
                <a:pPr marL="0" indent="0">
                  <a:buNone/>
                </a:pPr>
                <a:r>
                  <a:rPr lang="zh-CN" altLang="en-US" dirty="0"/>
                  <a:t>若</a:t>
                </a:r>
                <a14:m>
                  <m:oMath xmlns:m="http://schemas.openxmlformats.org/officeDocument/2006/math">
                    <m:r>
                      <a:rPr lang="en-US" altLang="zh-CN" i="1" dirty="0" smtClean="0">
                        <a:latin typeface="Cambria Math" panose="02040503050406030204" pitchFamily="18" charset="0"/>
                      </a:rPr>
                      <m:t>𝑟</m:t>
                    </m:r>
                  </m:oMath>
                </a14:m>
                <a:r>
                  <a:rPr lang="zh-CN" altLang="en-US" dirty="0"/>
                  <a:t>和</a:t>
                </a:r>
                <a14:m>
                  <m:oMath xmlns:m="http://schemas.openxmlformats.org/officeDocument/2006/math">
                    <m:r>
                      <a:rPr lang="en-US" altLang="zh-CN" i="1" dirty="0" smtClean="0">
                        <a:latin typeface="Cambria Math" panose="02040503050406030204" pitchFamily="18" charset="0"/>
                      </a:rPr>
                      <m:t>𝑠</m:t>
                    </m:r>
                  </m:oMath>
                </a14:m>
                <a:r>
                  <a:rPr lang="zh-CN" altLang="en-US" dirty="0"/>
                  <a:t>为正则表达式，则它们对应的</a:t>
                </a:r>
                <a14:m>
                  <m:oMath xmlns:m="http://schemas.openxmlformats.org/officeDocument/2006/math">
                    <m:r>
                      <a:rPr lang="en-US" altLang="zh-CN" i="1" dirty="0" smtClean="0">
                        <a:latin typeface="Cambria Math" panose="02040503050406030204" pitchFamily="18" charset="0"/>
                      </a:rPr>
                      <m:t>𝜀</m:t>
                    </m:r>
                  </m:oMath>
                </a14:m>
                <a:r>
                  <a:rPr lang="en-US" altLang="zh-CN" dirty="0"/>
                  <a:t>-</a:t>
                </a:r>
                <a:r>
                  <a:rPr lang="en-US" altLang="zh-CN" dirty="0">
                    <a:latin typeface="Times New Roman" panose="02020603050405020304" pitchFamily="18" charset="0"/>
                    <a:cs typeface="Times New Roman" panose="02020603050405020304" pitchFamily="18" charset="0"/>
                  </a:rPr>
                  <a:t>NFA</a:t>
                </a:r>
                <a:r>
                  <a:rPr lang="zh-CN" altLang="en-US" dirty="0"/>
                  <a:t>别为𝑅和𝑆。</a:t>
                </a:r>
                <a:endParaRPr lang="en-AU" dirty="0"/>
              </a:p>
            </p:txBody>
          </p:sp>
        </mc:Choice>
        <mc:Fallback xmlns="">
          <p:sp>
            <p:nvSpPr>
              <p:cNvPr id="9" name="Content Placeholder 2"/>
              <p:cNvSpPr>
                <a:spLocks noRot="1" noChangeAspect="1" noMove="1" noResize="1" noEditPoints="1" noAdjustHandles="1" noChangeArrowheads="1" noChangeShapeType="1" noTextEdit="1"/>
              </p:cNvSpPr>
              <p:nvPr>
                <p:ph idx="1"/>
              </p:nvPr>
            </p:nvSpPr>
            <p:spPr>
              <a:xfrm>
                <a:off x="457200" y="1066800"/>
                <a:ext cx="8229600" cy="4525963"/>
              </a:xfrm>
              <a:blipFill rotWithShape="1">
                <a:blip r:embed="rId2"/>
                <a:stretch>
                  <a:fillRect b="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Rectangle 6"/>
              <p:cNvSpPr/>
              <p:nvPr/>
            </p:nvSpPr>
            <p:spPr>
              <a:xfrm>
                <a:off x="1219200" y="2514600"/>
                <a:ext cx="6934200" cy="264277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14:m>
                  <m:oMath xmlns:m="http://schemas.openxmlformats.org/officeDocument/2006/math">
                    <m:r>
                      <a:rPr lang="en-AU" sz="2400" i="1" dirty="0" smtClean="0">
                        <a:latin typeface="Cambria Math" panose="02040503050406030204" pitchFamily="18" charset="0"/>
                      </a:rPr>
                      <m:t>𝑟</m:t>
                    </m:r>
                    <m:r>
                      <a:rPr lang="en-AU" sz="2400" i="1" dirty="0" smtClean="0">
                        <a:latin typeface="Cambria Math" panose="02040503050406030204" pitchFamily="18" charset="0"/>
                      </a:rPr>
                      <m:t>+</m:t>
                    </m:r>
                    <m:r>
                      <a:rPr lang="en-AU" sz="2400" i="1" dirty="0" smtClean="0">
                        <a:latin typeface="Cambria Math" panose="02040503050406030204" pitchFamily="18" charset="0"/>
                      </a:rPr>
                      <m:t>𝑠</m:t>
                    </m:r>
                  </m:oMath>
                </a14:m>
                <a:r>
                  <a:rPr lang="zh-CN" altLang="en-US" sz="2400" dirty="0"/>
                  <a:t>的</a:t>
                </a:r>
                <a14:m>
                  <m:oMath xmlns:m="http://schemas.openxmlformats.org/officeDocument/2006/math">
                    <m:r>
                      <a:rPr lang="en-US" altLang="zh-CN" sz="2400" i="1" dirty="0">
                        <a:latin typeface="Cambria Math" panose="02040503050406030204" pitchFamily="18" charset="0"/>
                      </a:rPr>
                      <m:t>𝜀</m:t>
                    </m:r>
                    <m:r>
                      <m:rPr>
                        <m:nor/>
                      </m:rPr>
                      <a:rPr lang="en-US" altLang="zh-CN" sz="2400" dirty="0">
                        <a:latin typeface="Cambria Math" panose="02040503050406030204" pitchFamily="18" charset="0"/>
                      </a:rPr>
                      <m:t>−</m:t>
                    </m:r>
                    <m:r>
                      <m:rPr>
                        <m:nor/>
                      </m:rPr>
                      <a:rPr lang="en-US" altLang="zh-CN" sz="2400" dirty="0">
                        <a:latin typeface="Times New Roman" panose="02020603050405020304" pitchFamily="18" charset="0"/>
                        <a:cs typeface="Times New Roman" panose="02020603050405020304" pitchFamily="18" charset="0"/>
                      </a:rPr>
                      <m:t>NFA</m:t>
                    </m:r>
                    <m:r>
                      <a:rPr lang="en-AU" altLang="zh-CN" sz="2400" b="0" i="1" dirty="0" smtClean="0">
                        <a:latin typeface="Cambria Math" panose="02040503050406030204" pitchFamily="18" charset="0"/>
                      </a:rPr>
                      <m:t>:</m:t>
                    </m:r>
                  </m:oMath>
                </a14:m>
                <a:endParaRPr lang="en-AU" altLang="zh-CN" sz="2400" dirty="0"/>
              </a:p>
              <a:p>
                <a:endParaRPr lang="en-AU" altLang="zh-CN" sz="2400" dirty="0"/>
              </a:p>
              <a:p>
                <a14:m>
                  <m:oMath xmlns:m="http://schemas.openxmlformats.org/officeDocument/2006/math">
                    <m:r>
                      <a:rPr lang="en-AU" altLang="zh-CN" sz="2400" b="0" i="1" smtClean="0">
                        <a:latin typeface="Cambria Math" panose="02040503050406030204" pitchFamily="18" charset="0"/>
                      </a:rPr>
                      <m:t>𝑟𝑠</m:t>
                    </m:r>
                    <m:r>
                      <m:rPr>
                        <m:nor/>
                      </m:rPr>
                      <a:rPr lang="zh-CN" altLang="en-US" sz="2400" dirty="0">
                        <a:latin typeface="Cambria Math" panose="02040503050406030204" pitchFamily="18" charset="0"/>
                      </a:rPr>
                      <m:t>的</m:t>
                    </m:r>
                    <m:r>
                      <a:rPr lang="en-US" altLang="zh-CN" sz="2400" i="1" dirty="0">
                        <a:latin typeface="Cambria Math" panose="02040503050406030204" pitchFamily="18" charset="0"/>
                      </a:rPr>
                      <m:t>𝜀</m:t>
                    </m:r>
                    <m:r>
                      <m:rPr>
                        <m:nor/>
                      </m:rPr>
                      <a:rPr lang="en-US" altLang="zh-CN" sz="2400" dirty="0">
                        <a:latin typeface="Cambria Math" panose="02040503050406030204" pitchFamily="18" charset="0"/>
                      </a:rPr>
                      <m:t>−</m:t>
                    </m:r>
                    <m:r>
                      <m:rPr>
                        <m:nor/>
                      </m:rPr>
                      <a:rPr lang="en-US" altLang="zh-CN" sz="2400" dirty="0">
                        <a:latin typeface="Times New Roman" panose="02020603050405020304" pitchFamily="18" charset="0"/>
                        <a:cs typeface="Times New Roman" panose="02020603050405020304" pitchFamily="18" charset="0"/>
                      </a:rPr>
                      <m:t>NFA</m:t>
                    </m:r>
                  </m:oMath>
                </a14:m>
                <a:r>
                  <a:rPr lang="en-AU" altLang="zh-CN" sz="2400" dirty="0"/>
                  <a:t>: </a:t>
                </a:r>
                <a:r>
                  <a:rPr lang="zh-CN" altLang="en-US" sz="2400" dirty="0"/>
                  <a:t> </a:t>
                </a:r>
                <a:endParaRPr lang="en-AU" sz="2400" dirty="0"/>
              </a:p>
              <a:p>
                <a:endParaRPr lang="en-AU" sz="1600" dirty="0"/>
              </a:p>
              <a:p>
                <a:endParaRPr lang="en-AU" sz="1600" dirty="0"/>
              </a:p>
              <a:p>
                <a14:m>
                  <m:oMath xmlns:m="http://schemas.openxmlformats.org/officeDocument/2006/math">
                    <m:sSup>
                      <m:sSupPr>
                        <m:ctrlPr>
                          <a:rPr lang="en-AU" sz="2400" i="1" smtClean="0">
                            <a:latin typeface="Cambria Math" panose="02040503050406030204" pitchFamily="18" charset="0"/>
                          </a:rPr>
                        </m:ctrlPr>
                      </m:sSupPr>
                      <m:e>
                        <m:r>
                          <a:rPr lang="en-AU" sz="2400" b="0" i="1" smtClean="0">
                            <a:latin typeface="Cambria Math" panose="02040503050406030204" pitchFamily="18" charset="0"/>
                          </a:rPr>
                          <m:t>𝑟</m:t>
                        </m:r>
                      </m:e>
                      <m:sup>
                        <m:r>
                          <a:rPr lang="en-AU" sz="2400" b="0" i="1" smtClean="0">
                            <a:latin typeface="Cambria Math" panose="02040503050406030204" pitchFamily="18" charset="0"/>
                          </a:rPr>
                          <m:t>∗</m:t>
                        </m:r>
                      </m:sup>
                    </m:sSup>
                    <m:r>
                      <a:rPr lang="zh-CN" altLang="en-US" sz="2400" i="1">
                        <a:latin typeface="Cambria Math" panose="02040503050406030204" pitchFamily="18" charset="0"/>
                      </a:rPr>
                      <m:t>的</m:t>
                    </m:r>
                    <m:r>
                      <a:rPr lang="en-US" altLang="zh-CN" sz="2400" i="1" dirty="0">
                        <a:latin typeface="Cambria Math" panose="02040503050406030204" pitchFamily="18" charset="0"/>
                      </a:rPr>
                      <m:t>𝜀</m:t>
                    </m:r>
                    <m:r>
                      <m:rPr>
                        <m:nor/>
                      </m:rPr>
                      <a:rPr lang="en-US" altLang="zh-CN" sz="2400" dirty="0">
                        <a:latin typeface="Cambria Math" panose="02040503050406030204" pitchFamily="18" charset="0"/>
                      </a:rPr>
                      <m:t>−</m:t>
                    </m:r>
                    <m:r>
                      <m:rPr>
                        <m:nor/>
                      </m:rPr>
                      <a:rPr lang="en-US" altLang="zh-CN" sz="2400" dirty="0">
                        <a:latin typeface="Times New Roman" panose="02020603050405020304" pitchFamily="18" charset="0"/>
                        <a:cs typeface="Times New Roman" panose="02020603050405020304" pitchFamily="18" charset="0"/>
                      </a:rPr>
                      <m:t>NFA</m:t>
                    </m:r>
                  </m:oMath>
                </a14:m>
                <a:r>
                  <a:rPr lang="en-AU" sz="2400" dirty="0"/>
                  <a:t>:</a:t>
                </a:r>
              </a:p>
            </p:txBody>
          </p:sp>
        </mc:Choice>
        <mc:Fallback xmlns="">
          <p:sp>
            <p:nvSpPr>
              <p:cNvPr id="10" name="Rectangle 6"/>
              <p:cNvSpPr>
                <a:spLocks noRot="1" noChangeAspect="1" noMove="1" noResize="1" noEditPoints="1" noAdjustHandles="1" noChangeArrowheads="1" noChangeShapeType="1" noTextEdit="1"/>
              </p:cNvSpPr>
              <p:nvPr/>
            </p:nvSpPr>
            <p:spPr>
              <a:xfrm>
                <a:off x="1219200" y="2514600"/>
                <a:ext cx="6934200" cy="2642772"/>
              </a:xfrm>
              <a:prstGeom prst="rect">
                <a:avLst/>
              </a:prstGeom>
              <a:blipFill rotWithShape="1">
                <a:blip r:embed="rId3"/>
                <a:stretch>
                  <a:fillRect b="20"/>
                </a:stretch>
              </a:blipFill>
              <a:ln>
                <a:noFill/>
              </a:ln>
            </p:spPr>
            <p:style>
              <a:lnRef idx="2">
                <a:schemeClr val="dk1"/>
              </a:lnRef>
              <a:fillRef idx="1">
                <a:schemeClr val="lt1"/>
              </a:fillRef>
              <a:effectRef idx="0">
                <a:schemeClr val="dk1"/>
              </a:effectRef>
              <a:fontRef idx="minor">
                <a:schemeClr val="dk1"/>
              </a:fontRef>
            </p:style>
            <p:txBody>
              <a:bodyPr/>
              <a:lstStyle/>
              <a:p>
                <a:r>
                  <a:rPr lang="zh-CN" altLang="en-US">
                    <a:noFill/>
                  </a:rPr>
                  <a:t> </a:t>
                </a:r>
              </a:p>
            </p:txBody>
          </p:sp>
        </mc:Fallback>
      </mc:AlternateContent>
      <p:pic>
        <p:nvPicPr>
          <p:cNvPr id="11" name="Picture 7" descr="Diagram&#10;&#10;Description automatically generated"/>
          <p:cNvPicPr>
            <a:picLocks noChangeAspect="1"/>
          </p:cNvPicPr>
          <p:nvPr/>
        </p:nvPicPr>
        <p:blipFill rotWithShape="1">
          <a:blip r:embed="rId4">
            <a:extLst>
              <a:ext uri="{28A0092B-C50C-407E-A947-70E740481C1C}">
                <a14:useLocalDpi xmlns:a14="http://schemas.microsoft.com/office/drawing/2010/main" val="0"/>
              </a:ext>
            </a:extLst>
          </a:blip>
          <a:srcRect t="5932" b="7983"/>
          <a:stretch>
            <a:fillRect/>
          </a:stretch>
        </p:blipFill>
        <p:spPr>
          <a:xfrm>
            <a:off x="3880137" y="2514600"/>
            <a:ext cx="3871295" cy="990600"/>
          </a:xfrm>
          <a:prstGeom prst="rect">
            <a:avLst/>
          </a:prstGeom>
        </p:spPr>
      </p:pic>
      <p:pic>
        <p:nvPicPr>
          <p:cNvPr id="12" name="Picture 8" descr="Diagram&#10;&#10;Description automatically generated"/>
          <p:cNvPicPr>
            <a:picLocks noChangeAspect="1"/>
          </p:cNvPicPr>
          <p:nvPr/>
        </p:nvPicPr>
        <p:blipFill rotWithShape="1">
          <a:blip r:embed="rId5">
            <a:extLst>
              <a:ext uri="{28A0092B-C50C-407E-A947-70E740481C1C}">
                <a14:useLocalDpi xmlns:a14="http://schemas.microsoft.com/office/drawing/2010/main" val="0"/>
              </a:ext>
            </a:extLst>
          </a:blip>
          <a:srcRect t="5201" b="29384"/>
          <a:stretch>
            <a:fillRect/>
          </a:stretch>
        </p:blipFill>
        <p:spPr>
          <a:xfrm>
            <a:off x="3948722" y="3505199"/>
            <a:ext cx="3909399" cy="533401"/>
          </a:xfrm>
          <a:prstGeom prst="rect">
            <a:avLst/>
          </a:prstGeom>
        </p:spPr>
      </p:pic>
      <p:pic>
        <p:nvPicPr>
          <p:cNvPr id="13" name="Picture 9" descr="Diagram&#10;&#10;Description automatically generated"/>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48722" y="4000398"/>
            <a:ext cx="3802710" cy="1181202"/>
          </a:xfrm>
          <a:prstGeom prst="rect">
            <a:avLst/>
          </a:prstGeom>
        </p:spPr>
      </p:pic>
      <mc:AlternateContent xmlns:mc="http://schemas.openxmlformats.org/markup-compatibility/2006" xmlns:a14="http://schemas.microsoft.com/office/drawing/2010/main">
        <mc:Choice Requires="a14">
          <p:sp>
            <p:nvSpPr>
              <p:cNvPr id="14" name="TextBox 10"/>
              <p:cNvSpPr txBox="1"/>
              <p:nvPr/>
            </p:nvSpPr>
            <p:spPr>
              <a:xfrm>
                <a:off x="898803" y="5550793"/>
                <a:ext cx="7616547" cy="523220"/>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因此对于任何正则表达式，可以构造等价的</a:t>
                </a:r>
                <a14:m>
                  <m:oMath xmlns:m="http://schemas.openxmlformats.org/officeDocument/2006/math">
                    <m:r>
                      <a:rPr lang="en-US" altLang="zh-CN" sz="2800" i="1" dirty="0" smtClean="0">
                        <a:latin typeface="Cambria Math" panose="02040503050406030204" pitchFamily="18" charset="0"/>
                      </a:rPr>
                      <m:t>𝜀</m:t>
                    </m:r>
                  </m:oMath>
                </a14:m>
                <a:r>
                  <a:rPr lang="en-US" altLang="zh-CN" sz="2800" dirty="0"/>
                  <a:t>-</a:t>
                </a:r>
                <a:r>
                  <a:rPr lang="en-US" altLang="zh-CN" sz="2800" dirty="0">
                    <a:latin typeface="Times New Roman" panose="02020603050405020304" pitchFamily="18" charset="0"/>
                    <a:cs typeface="Times New Roman" panose="02020603050405020304" pitchFamily="18" charset="0"/>
                  </a:rPr>
                  <a:t>NFA</a:t>
                </a:r>
                <a:r>
                  <a:rPr kumimoji="0" lang="en-US" altLang="zh-TW" dirty="0">
                    <a:latin typeface="楷体" panose="02010609060101010101" pitchFamily="49" charset="-122"/>
                    <a:ea typeface="楷体" panose="02010609060101010101" pitchFamily="49" charset="-122"/>
                    <a:cs typeface="Times New Roman" panose="02020603050405020304" pitchFamily="18" charset="0"/>
                  </a:rPr>
                  <a:t> </a:t>
                </a:r>
                <a:r>
                  <a:rPr lang="zh-CN" altLang="en-US" sz="2400" dirty="0">
                    <a:latin typeface="楷体" panose="02010609060101010101" pitchFamily="49" charset="-122"/>
                    <a:ea typeface="楷体" panose="02010609060101010101" pitchFamily="49" charset="-122"/>
                  </a:rPr>
                  <a:t>。</a:t>
                </a:r>
                <a:endParaRPr lang="en-AU" sz="2400" dirty="0">
                  <a:latin typeface="楷体" panose="02010609060101010101" pitchFamily="49" charset="-122"/>
                  <a:ea typeface="楷体" panose="02010609060101010101" pitchFamily="49" charset="-122"/>
                </a:endParaRPr>
              </a:p>
            </p:txBody>
          </p:sp>
        </mc:Choice>
        <mc:Fallback xmlns="">
          <p:sp>
            <p:nvSpPr>
              <p:cNvPr id="14" name="TextBox 10"/>
              <p:cNvSpPr txBox="1">
                <a:spLocks noRot="1" noChangeAspect="1" noMove="1" noResize="1" noEditPoints="1" noAdjustHandles="1" noChangeArrowheads="1" noChangeShapeType="1" noTextEdit="1"/>
              </p:cNvSpPr>
              <p:nvPr/>
            </p:nvSpPr>
            <p:spPr>
              <a:xfrm>
                <a:off x="898803" y="5550793"/>
                <a:ext cx="7616547" cy="523220"/>
              </a:xfrm>
              <a:prstGeom prst="rect">
                <a:avLst/>
              </a:prstGeom>
              <a:blipFill rotWithShape="1">
                <a:blip r:embed="rId7"/>
                <a:stretch>
                  <a:fillRect l="-4" t="-49" b="45"/>
                </a:stretch>
              </a:blipFill>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A619564F-3A13-4140-9CFC-3B75A7CC7F9C}" type="slidenum">
              <a:rPr lang="en-US" altLang="zh-CN" smtClean="0"/>
              <a:t>31</a:t>
            </a:fld>
            <a:endParaRPr lang="en-US" altLang="zh-CN"/>
          </a:p>
        </p:txBody>
      </p:sp>
      <p:sp>
        <p:nvSpPr>
          <p:cNvPr id="7" name="Title 1"/>
          <p:cNvSpPr>
            <a:spLocks noGrp="1"/>
          </p:cNvSpPr>
          <p:nvPr>
            <p:ph type="title"/>
          </p:nvPr>
        </p:nvSpPr>
        <p:spPr>
          <a:xfrm>
            <a:off x="685800" y="152400"/>
            <a:ext cx="8229600" cy="393065"/>
          </a:xfrm>
        </p:spPr>
        <p:txBody>
          <a:bodyPr/>
          <a:lstStyle/>
          <a:p>
            <a:pPr algn="r"/>
            <a:r>
              <a:rPr lang="en-US" altLang="zh-CN" sz="3600" dirty="0">
                <a:solidFill>
                  <a:schemeClr val="bg1"/>
                </a:solidFill>
                <a:latin typeface="Times New Roman" panose="02020603050405020304" pitchFamily="18" charset="0"/>
                <a:cs typeface="Times New Roman" panose="02020603050405020304" pitchFamily="18" charset="0"/>
              </a:rPr>
              <a:t>DFA</a:t>
            </a:r>
            <a:r>
              <a:rPr lang="zh-CN" altLang="en-US" sz="3600" dirty="0">
                <a:solidFill>
                  <a:schemeClr val="bg1"/>
                </a:solidFill>
                <a:latin typeface="Times New Roman" panose="02020603050405020304" pitchFamily="18" charset="0"/>
                <a:cs typeface="Times New Roman" panose="02020603050405020304" pitchFamily="18" charset="0"/>
              </a:rPr>
              <a:t>的化简</a:t>
            </a:r>
            <a:endParaRPr lang="en-AU" sz="3600"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Content Placeholder 2"/>
              <p:cNvSpPr>
                <a:spLocks noGrp="1"/>
              </p:cNvSpPr>
              <p:nvPr>
                <p:ph idx="1"/>
              </p:nvPr>
            </p:nvSpPr>
            <p:spPr>
              <a:xfrm>
                <a:off x="457200" y="1313121"/>
                <a:ext cx="8229600" cy="4525963"/>
              </a:xfrm>
            </p:spPr>
            <p:txBody>
              <a:bodyPr>
                <a:normAutofit/>
              </a:bodyPr>
              <a:lstStyle/>
              <a:p>
                <a:r>
                  <a:rPr lang="zh-CN" altLang="en-US" dirty="0"/>
                  <a:t>定义</a:t>
                </a:r>
                <a:r>
                  <a:rPr lang="en-AU" altLang="zh-CN" dirty="0"/>
                  <a:t>: </a:t>
                </a:r>
                <a:r>
                  <a:rPr lang="en-AU" altLang="zh-CN" dirty="0">
                    <a:latin typeface="Times New Roman" panose="02020603050405020304" pitchFamily="18" charset="0"/>
                    <a:cs typeface="Times New Roman" panose="02020603050405020304" pitchFamily="18" charset="0"/>
                  </a:rPr>
                  <a:t>DFA</a:t>
                </a:r>
                <a:r>
                  <a:rPr lang="en-AU" altLang="zh-CN" dirty="0"/>
                  <a:t> </a:t>
                </a:r>
                <a14:m>
                  <m:oMath xmlns:m="http://schemas.openxmlformats.org/officeDocument/2006/math">
                    <m:r>
                      <a:rPr lang="en-AU" altLang="zh-CN" i="1" dirty="0" smtClean="0">
                        <a:latin typeface="Cambria Math" panose="02040503050406030204" pitchFamily="18" charset="0"/>
                      </a:rPr>
                      <m:t>𝐴</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𝑄</m:t>
                    </m:r>
                    <m:r>
                      <a:rPr lang="en-AU" altLang="zh-CN" i="1" dirty="0" smtClean="0">
                        <a:latin typeface="Cambria Math" panose="02040503050406030204" pitchFamily="18" charset="0"/>
                      </a:rPr>
                      <m:t>, </m:t>
                    </m:r>
                    <m:r>
                      <m:rPr>
                        <m:sty m:val="p"/>
                      </m:rPr>
                      <a:rPr lang="el-GR" altLang="zh-CN" i="0" dirty="0" smtClean="0">
                        <a:latin typeface="Cambria Math" panose="02040503050406030204" pitchFamily="18" charset="0"/>
                      </a:rPr>
                      <m:t>Σ</m:t>
                    </m:r>
                    <m:r>
                      <a:rPr lang="el-GR" altLang="zh-CN" i="1" dirty="0" smtClean="0">
                        <a:latin typeface="Cambria Math" panose="02040503050406030204" pitchFamily="18" charset="0"/>
                      </a:rPr>
                      <m:t>, </m:t>
                    </m:r>
                    <m:r>
                      <a:rPr lang="el-GR" altLang="zh-CN" i="1" dirty="0" smtClean="0">
                        <a:latin typeface="Cambria Math" panose="02040503050406030204" pitchFamily="18" charset="0"/>
                      </a:rPr>
                      <m:t>𝛿</m:t>
                    </m:r>
                    <m:r>
                      <a:rPr lang="el-GR" altLang="zh-CN" i="1" dirty="0" smtClean="0">
                        <a:latin typeface="Cambria Math" panose="02040503050406030204" pitchFamily="18" charset="0"/>
                      </a:rPr>
                      <m:t>, </m:t>
                    </m:r>
                    <m:sSub>
                      <m:sSubPr>
                        <m:ctrlPr>
                          <a:rPr lang="el-GR" altLang="zh-CN" i="1" dirty="0" smtClean="0">
                            <a:latin typeface="Cambria Math" panose="02040503050406030204" pitchFamily="18" charset="0"/>
                          </a:rPr>
                        </m:ctrlPr>
                      </m:sSubPr>
                      <m:e>
                        <m:r>
                          <a:rPr lang="en-AU" altLang="zh-CN" b="0" i="1" dirty="0" smtClean="0">
                            <a:latin typeface="Cambria Math" panose="02040503050406030204" pitchFamily="18" charset="0"/>
                          </a:rPr>
                          <m:t>𝑞</m:t>
                        </m:r>
                      </m:e>
                      <m:sub>
                        <m:r>
                          <a:rPr lang="en-AU" altLang="zh-CN" b="0" i="1" dirty="0" smtClean="0">
                            <a:latin typeface="Cambria Math" panose="02040503050406030204" pitchFamily="18" charset="0"/>
                          </a:rPr>
                          <m:t>0</m:t>
                        </m:r>
                      </m:sub>
                    </m:sSub>
                    <m:r>
                      <a:rPr lang="en-AU" altLang="zh-CN" i="1" dirty="0" smtClean="0">
                        <a:latin typeface="Cambria Math" panose="02040503050406030204" pitchFamily="18" charset="0"/>
                      </a:rPr>
                      <m:t>, </m:t>
                    </m:r>
                    <m:r>
                      <a:rPr lang="en-AU" altLang="zh-CN" i="1" dirty="0" smtClean="0">
                        <a:latin typeface="Cambria Math" panose="02040503050406030204" pitchFamily="18" charset="0"/>
                      </a:rPr>
                      <m:t>𝐹</m:t>
                    </m:r>
                    <m:r>
                      <a:rPr lang="en-AU" altLang="zh-CN" i="1" dirty="0" smtClean="0">
                        <a:latin typeface="Cambria Math" panose="02040503050406030204" pitchFamily="18" charset="0"/>
                      </a:rPr>
                      <m:t> )</m:t>
                    </m:r>
                  </m:oMath>
                </a14:m>
                <a:r>
                  <a:rPr lang="zh-CN" altLang="en-US" dirty="0"/>
                  <a:t>中两个状态 </a:t>
                </a:r>
                <a14:m>
                  <m:oMath xmlns:m="http://schemas.openxmlformats.org/officeDocument/2006/math">
                    <m:r>
                      <a:rPr lang="en-AU" altLang="zh-CN" i="1" dirty="0" smtClean="0">
                        <a:latin typeface="Cambria Math" panose="02040503050406030204" pitchFamily="18" charset="0"/>
                      </a:rPr>
                      <m:t>𝑝</m:t>
                    </m:r>
                  </m:oMath>
                </a14:m>
                <a:r>
                  <a:rPr lang="en-AU" altLang="zh-CN" dirty="0"/>
                  <a:t> </a:t>
                </a:r>
                <a:r>
                  <a:rPr lang="zh-CN" altLang="en-US" dirty="0"/>
                  <a:t>和</a:t>
                </a:r>
                <a14:m>
                  <m:oMath xmlns:m="http://schemas.openxmlformats.org/officeDocument/2006/math">
                    <m:r>
                      <a:rPr lang="en-AU" altLang="zh-CN" i="1" dirty="0" smtClean="0">
                        <a:latin typeface="Cambria Math" panose="02040503050406030204" pitchFamily="18" charset="0"/>
                      </a:rPr>
                      <m:t>𝑞</m:t>
                    </m:r>
                  </m:oMath>
                </a14:m>
                <a:r>
                  <a:rPr lang="en-AU" altLang="zh-CN" dirty="0"/>
                  <a:t>,</a:t>
                </a:r>
                <a:r>
                  <a:rPr lang="zh-CN" altLang="en-US" dirty="0"/>
                  <a:t>对 </a:t>
                </a:r>
                <a14:m>
                  <m:oMath xmlns:m="http://schemas.openxmlformats.org/officeDocument/2006/math">
                    <m:r>
                      <a:rPr lang="zh-CN" altLang="en-US" i="1" dirty="0" smtClean="0">
                        <a:latin typeface="Cambria Math" panose="02040503050406030204" pitchFamily="18" charset="0"/>
                      </a:rPr>
                      <m:t>∀</m:t>
                    </m:r>
                    <m:r>
                      <a:rPr lang="en-AU" altLang="zh-CN" i="1" dirty="0" smtClean="0">
                        <a:latin typeface="Cambria Math" panose="02040503050406030204" pitchFamily="18" charset="0"/>
                      </a:rPr>
                      <m:t>𝑤</m:t>
                    </m:r>
                    <m:r>
                      <a:rPr lang="en-AU" altLang="zh-CN" i="1" dirty="0" smtClean="0">
                        <a:latin typeface="Cambria Math" panose="02040503050406030204" pitchFamily="18" charset="0"/>
                      </a:rPr>
                      <m:t> ∈ </m:t>
                    </m:r>
                    <m:sSup>
                      <m:sSupPr>
                        <m:ctrlPr>
                          <a:rPr lang="en-AU" altLang="zh-CN" i="1" dirty="0" smtClean="0">
                            <a:latin typeface="Cambria Math" panose="02040503050406030204" pitchFamily="18" charset="0"/>
                          </a:rPr>
                        </m:ctrlPr>
                      </m:sSupPr>
                      <m:e>
                        <m:r>
                          <m:rPr>
                            <m:sty m:val="p"/>
                          </m:rPr>
                          <a:rPr lang="el-GR" altLang="zh-CN" i="1" dirty="0" smtClean="0">
                            <a:latin typeface="Cambria Math" panose="02040503050406030204" pitchFamily="18" charset="0"/>
                            <a:ea typeface="Cambria Math" panose="02040503050406030204" pitchFamily="18" charset="0"/>
                          </a:rPr>
                          <m:t>Σ</m:t>
                        </m:r>
                      </m:e>
                      <m:sup>
                        <m:r>
                          <a:rPr lang="en-AU" altLang="zh-CN" b="0" i="1" dirty="0" smtClean="0">
                            <a:latin typeface="Cambria Math" panose="02040503050406030204" pitchFamily="18" charset="0"/>
                          </a:rPr>
                          <m:t>∗</m:t>
                        </m:r>
                      </m:sup>
                    </m:sSup>
                  </m:oMath>
                </a14:m>
                <a:r>
                  <a:rPr lang="el-GR" altLang="zh-CN" dirty="0"/>
                  <a:t>:</a:t>
                </a:r>
                <a:endParaRPr lang="en-AU" altLang="zh-CN" dirty="0"/>
              </a:p>
              <a:p>
                <a:pPr marL="0" indent="0">
                  <a:buNone/>
                </a:pPr>
                <a14:m>
                  <m:oMathPara xmlns:m="http://schemas.openxmlformats.org/officeDocument/2006/math">
                    <m:oMathParaPr>
                      <m:jc m:val="centerGroup"/>
                    </m:oMathParaPr>
                    <m:oMath xmlns:m="http://schemas.openxmlformats.org/officeDocument/2006/math">
                      <m:acc>
                        <m:accPr>
                          <m:chr m:val="̂"/>
                          <m:ctrlPr>
                            <a:rPr lang="en-AU" i="1" smtClean="0">
                              <a:latin typeface="Cambria Math" panose="02040503050406030204" pitchFamily="18" charset="0"/>
                            </a:rPr>
                          </m:ctrlPr>
                        </m:accPr>
                        <m:e>
                          <m:r>
                            <a:rPr lang="en-AU" i="1" smtClean="0">
                              <a:latin typeface="Cambria Math" panose="02040503050406030204" pitchFamily="18" charset="0"/>
                              <a:ea typeface="Cambria Math" panose="02040503050406030204" pitchFamily="18" charset="0"/>
                            </a:rPr>
                            <m:t>𝛿</m:t>
                          </m:r>
                        </m:e>
                      </m:acc>
                      <m:r>
                        <a:rPr lang="en-AU" b="0" i="1" smtClean="0">
                          <a:latin typeface="Cambria Math" panose="02040503050406030204" pitchFamily="18" charset="0"/>
                        </a:rPr>
                        <m:t>(</m:t>
                      </m:r>
                      <m:r>
                        <a:rPr lang="en-AU" b="0" i="1" smtClean="0">
                          <a:latin typeface="Cambria Math" panose="02040503050406030204" pitchFamily="18" charset="0"/>
                        </a:rPr>
                        <m:t>𝑝</m:t>
                      </m:r>
                      <m:r>
                        <a:rPr lang="en-AU" b="0" i="1" smtClean="0">
                          <a:latin typeface="Cambria Math" panose="02040503050406030204" pitchFamily="18" charset="0"/>
                        </a:rPr>
                        <m:t>,</m:t>
                      </m:r>
                      <m:r>
                        <a:rPr lang="en-AU" b="0" i="1" smtClean="0">
                          <a:latin typeface="Cambria Math" panose="02040503050406030204" pitchFamily="18" charset="0"/>
                        </a:rPr>
                        <m:t>𝑤</m:t>
                      </m:r>
                      <m:r>
                        <a:rPr lang="en-AU" b="0" i="1" smtClean="0">
                          <a:latin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𝐹</m:t>
                      </m:r>
                      <m:r>
                        <a:rPr lang="en-AU" b="0" i="1" smtClean="0">
                          <a:latin typeface="Cambria Math" panose="02040503050406030204" pitchFamily="18" charset="0"/>
                          <a:ea typeface="Cambria Math" panose="02040503050406030204" pitchFamily="18" charset="0"/>
                        </a:rPr>
                        <m:t>⟺</m:t>
                      </m:r>
                      <m:acc>
                        <m:accPr>
                          <m:chr m:val="̂"/>
                          <m:ctrlPr>
                            <a:rPr lang="en-AU" i="1">
                              <a:latin typeface="Cambria Math" panose="02040503050406030204" pitchFamily="18" charset="0"/>
                            </a:rPr>
                          </m:ctrlPr>
                        </m:accPr>
                        <m:e>
                          <m:r>
                            <a:rPr lang="en-AU" i="1">
                              <a:latin typeface="Cambria Math" panose="02040503050406030204" pitchFamily="18" charset="0"/>
                              <a:ea typeface="Cambria Math" panose="02040503050406030204" pitchFamily="18" charset="0"/>
                            </a:rPr>
                            <m:t>𝛿</m:t>
                          </m:r>
                        </m:e>
                      </m:acc>
                      <m:r>
                        <a:rPr lang="en-AU" i="1">
                          <a:latin typeface="Cambria Math" panose="02040503050406030204" pitchFamily="18" charset="0"/>
                        </a:rPr>
                        <m:t>(</m:t>
                      </m:r>
                      <m:r>
                        <a:rPr lang="en-AU" b="0" i="1" smtClean="0">
                          <a:latin typeface="Cambria Math" panose="02040503050406030204" pitchFamily="18" charset="0"/>
                        </a:rPr>
                        <m:t>𝑞</m:t>
                      </m:r>
                      <m:r>
                        <a:rPr lang="en-AU" i="1">
                          <a:latin typeface="Cambria Math" panose="02040503050406030204" pitchFamily="18" charset="0"/>
                        </a:rPr>
                        <m:t>,</m:t>
                      </m:r>
                      <m:r>
                        <a:rPr lang="en-AU" i="1">
                          <a:latin typeface="Cambria Math" panose="02040503050406030204" pitchFamily="18" charset="0"/>
                        </a:rPr>
                        <m:t>𝑤</m:t>
                      </m:r>
                      <m:r>
                        <a:rPr lang="en-AU" i="1">
                          <a:latin typeface="Cambria Math" panose="02040503050406030204" pitchFamily="18" charset="0"/>
                        </a:rPr>
                        <m:t>)∈</m:t>
                      </m:r>
                      <m:r>
                        <a:rPr lang="en-AU" i="1">
                          <a:latin typeface="Cambria Math" panose="02040503050406030204" pitchFamily="18" charset="0"/>
                          <a:ea typeface="Cambria Math" panose="02040503050406030204" pitchFamily="18" charset="0"/>
                        </a:rPr>
                        <m:t>𝐹</m:t>
                      </m:r>
                    </m:oMath>
                  </m:oMathPara>
                </a14:m>
                <a:endParaRPr lang="en-AU" dirty="0"/>
              </a:p>
              <a:p>
                <a:pPr marL="0" indent="0">
                  <a:buNone/>
                </a:pPr>
                <a:r>
                  <a:rPr lang="zh-CN" altLang="en-US" dirty="0"/>
                  <a:t>则称这两个状态是等价的</a:t>
                </a:r>
                <a:r>
                  <a:rPr lang="en-US" altLang="zh-CN" dirty="0"/>
                  <a:t>, </a:t>
                </a:r>
                <a:r>
                  <a:rPr lang="zh-CN" altLang="en-US" dirty="0"/>
                  <a:t>否则称为可区分的。</a:t>
                </a:r>
                <a:endParaRPr lang="en-AU" altLang="zh-CN" dirty="0"/>
              </a:p>
              <a:p>
                <a:pPr marL="0" indent="0">
                  <a:buNone/>
                </a:pPr>
                <a:r>
                  <a:rPr lang="zh-CN" altLang="en-US" dirty="0"/>
                  <a:t>即，从</a:t>
                </a:r>
                <a14:m>
                  <m:oMath xmlns:m="http://schemas.openxmlformats.org/officeDocument/2006/math">
                    <m:r>
                      <a:rPr lang="en-AU" altLang="zh-CN" i="1" dirty="0" smtClean="0">
                        <a:latin typeface="Cambria Math" panose="02040503050406030204" pitchFamily="18" charset="0"/>
                      </a:rPr>
                      <m:t>𝑝</m:t>
                    </m:r>
                  </m:oMath>
                </a14:m>
                <a:r>
                  <a:rPr lang="zh-CN" altLang="en-US" dirty="0"/>
                  <a:t>开始而被接受的串</a:t>
                </a:r>
                <a:r>
                  <a:rPr lang="en-AU" altLang="zh-CN" dirty="0"/>
                  <a:t>w,</a:t>
                </a:r>
                <a:r>
                  <a:rPr lang="zh-CN" altLang="en-US" dirty="0"/>
                  <a:t>从</a:t>
                </a:r>
                <a14:m>
                  <m:oMath xmlns:m="http://schemas.openxmlformats.org/officeDocument/2006/math">
                    <m:r>
                      <a:rPr lang="en-AU" altLang="zh-CN" i="1" dirty="0" smtClean="0">
                        <a:latin typeface="Cambria Math" panose="02040503050406030204" pitchFamily="18" charset="0"/>
                      </a:rPr>
                      <m:t>𝑞</m:t>
                    </m:r>
                  </m:oMath>
                </a14:m>
                <a:r>
                  <a:rPr lang="zh-CN" altLang="en-US" dirty="0"/>
                  <a:t>开始也会被接受。</a:t>
                </a:r>
                <a:endParaRPr lang="en-AU" altLang="zh-CN" dirty="0"/>
              </a:p>
              <a:p>
                <a:pPr marL="0" indent="0">
                  <a:buNone/>
                </a:pPr>
                <a:endParaRPr lang="en-AU" dirty="0"/>
              </a:p>
              <a:p>
                <a:r>
                  <a:rPr lang="zh-CN" altLang="en-US" dirty="0"/>
                  <a:t>等价性只要求</a:t>
                </a:r>
                <a14:m>
                  <m:oMath xmlns:m="http://schemas.openxmlformats.org/officeDocument/2006/math">
                    <m:acc>
                      <m:accPr>
                        <m:chr m:val="̂"/>
                        <m:ctrlPr>
                          <a:rPr lang="en-AU" i="1" smtClean="0">
                            <a:latin typeface="Cambria Math" panose="02040503050406030204" pitchFamily="18" charset="0"/>
                          </a:rPr>
                        </m:ctrlPr>
                      </m:accPr>
                      <m:e>
                        <m:r>
                          <a:rPr lang="en-AU" i="1" smtClean="0">
                            <a:latin typeface="Cambria Math" panose="02040503050406030204" pitchFamily="18" charset="0"/>
                            <a:ea typeface="Cambria Math" panose="02040503050406030204" pitchFamily="18" charset="0"/>
                          </a:rPr>
                          <m:t>𝛿</m:t>
                        </m:r>
                      </m:e>
                    </m:acc>
                    <m:r>
                      <a:rPr lang="en-AU" b="0" i="1" smtClean="0">
                        <a:latin typeface="Cambria Math" panose="02040503050406030204" pitchFamily="18" charset="0"/>
                      </a:rPr>
                      <m:t>(</m:t>
                    </m:r>
                    <m:r>
                      <a:rPr lang="en-AU" b="0" i="1" smtClean="0">
                        <a:latin typeface="Cambria Math" panose="02040503050406030204" pitchFamily="18" charset="0"/>
                      </a:rPr>
                      <m:t>𝑝</m:t>
                    </m:r>
                    <m:r>
                      <a:rPr lang="en-AU" b="0" i="1" smtClean="0">
                        <a:latin typeface="Cambria Math" panose="02040503050406030204" pitchFamily="18" charset="0"/>
                      </a:rPr>
                      <m:t>,</m:t>
                    </m:r>
                    <m:r>
                      <a:rPr lang="en-AU" b="0" i="1" smtClean="0">
                        <a:latin typeface="Cambria Math" panose="02040503050406030204" pitchFamily="18" charset="0"/>
                      </a:rPr>
                      <m:t>𝑤</m:t>
                    </m:r>
                    <m:r>
                      <a:rPr lang="en-AU" b="0" i="1" smtClean="0">
                        <a:latin typeface="Cambria Math" panose="02040503050406030204" pitchFamily="18" charset="0"/>
                      </a:rPr>
                      <m:t>)</m:t>
                    </m:r>
                  </m:oMath>
                </a14:m>
                <a:r>
                  <a:rPr lang="zh-CN" altLang="en-US" dirty="0"/>
                  <a:t> 和 </a:t>
                </a:r>
                <a14:m>
                  <m:oMath xmlns:m="http://schemas.openxmlformats.org/officeDocument/2006/math">
                    <m:acc>
                      <m:accPr>
                        <m:chr m:val="̂"/>
                        <m:ctrlPr>
                          <a:rPr lang="en-AU" i="1">
                            <a:latin typeface="Cambria Math" panose="02040503050406030204" pitchFamily="18" charset="0"/>
                          </a:rPr>
                        </m:ctrlPr>
                      </m:accPr>
                      <m:e>
                        <m:r>
                          <a:rPr lang="en-AU" i="1">
                            <a:latin typeface="Cambria Math" panose="02040503050406030204" pitchFamily="18" charset="0"/>
                            <a:ea typeface="Cambria Math" panose="02040503050406030204" pitchFamily="18" charset="0"/>
                          </a:rPr>
                          <m:t>𝛿</m:t>
                        </m:r>
                      </m:e>
                    </m:acc>
                    <m:r>
                      <a:rPr lang="en-AU" i="1">
                        <a:latin typeface="Cambria Math" panose="02040503050406030204" pitchFamily="18" charset="0"/>
                      </a:rPr>
                      <m:t>(</m:t>
                    </m:r>
                    <m:r>
                      <a:rPr lang="en-AU" i="1">
                        <a:latin typeface="Cambria Math" panose="02040503050406030204" pitchFamily="18" charset="0"/>
                      </a:rPr>
                      <m:t>𝑞</m:t>
                    </m:r>
                    <m:r>
                      <a:rPr lang="en-AU" i="1">
                        <a:latin typeface="Cambria Math" panose="02040503050406030204" pitchFamily="18" charset="0"/>
                      </a:rPr>
                      <m:t>,</m:t>
                    </m:r>
                    <m:r>
                      <a:rPr lang="en-AU" i="1">
                        <a:latin typeface="Cambria Math" panose="02040503050406030204" pitchFamily="18" charset="0"/>
                      </a:rPr>
                      <m:t>𝑤</m:t>
                    </m:r>
                    <m:r>
                      <a:rPr lang="en-AU" i="1">
                        <a:latin typeface="Cambria Math" panose="02040503050406030204" pitchFamily="18" charset="0"/>
                      </a:rPr>
                      <m:t>)</m:t>
                    </m:r>
                  </m:oMath>
                </a14:m>
                <a:r>
                  <a:rPr lang="zh-CN" altLang="en-US" dirty="0"/>
                  <a:t>同时在或不在</a:t>
                </a:r>
                <a14:m>
                  <m:oMath xmlns:m="http://schemas.openxmlformats.org/officeDocument/2006/math">
                    <m:r>
                      <a:rPr lang="en-AU" i="1" dirty="0" smtClean="0">
                        <a:latin typeface="Cambria Math" panose="02040503050406030204" pitchFamily="18" charset="0"/>
                      </a:rPr>
                      <m:t>𝐹</m:t>
                    </m:r>
                  </m:oMath>
                </a14:m>
                <a:r>
                  <a:rPr lang="en-AU" dirty="0"/>
                  <a:t> </a:t>
                </a:r>
                <a:r>
                  <a:rPr lang="zh-CN" altLang="en-US" dirty="0"/>
                  <a:t>中</a:t>
                </a:r>
                <a:r>
                  <a:rPr lang="en-US" altLang="zh-CN" dirty="0"/>
                  <a:t>, </a:t>
                </a:r>
                <a:r>
                  <a:rPr lang="zh-CN" altLang="en-US" dirty="0"/>
                  <a:t>而不必是相同状态。</a:t>
                </a:r>
                <a:endParaRPr lang="en-AU" dirty="0"/>
              </a:p>
            </p:txBody>
          </p:sp>
        </mc:Choice>
        <mc:Fallback xmlns="">
          <p:sp>
            <p:nvSpPr>
              <p:cNvPr id="15" name="Content Placeholder 2"/>
              <p:cNvSpPr>
                <a:spLocks noRot="1" noChangeAspect="1" noMove="1" noResize="1" noEditPoints="1" noAdjustHandles="1" noChangeArrowheads="1" noChangeShapeType="1" noTextEdit="1"/>
              </p:cNvSpPr>
              <p:nvPr>
                <p:ph idx="1"/>
              </p:nvPr>
            </p:nvSpPr>
            <p:spPr>
              <a:xfrm>
                <a:off x="457200" y="1313121"/>
                <a:ext cx="8229600" cy="4525963"/>
              </a:xfrm>
              <a:blipFill rotWithShape="1">
                <a:blip r:embed="rId2"/>
                <a:stretch>
                  <a:fillRect t="-13" b="6"/>
                </a:stretch>
              </a:blipFill>
            </p:spPr>
            <p:txBody>
              <a:bodyPr/>
              <a:lstStyle/>
              <a:p>
                <a:r>
                  <a:rPr lang="zh-CN"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A619564F-3A13-4140-9CFC-3B75A7CC7F9C}" type="slidenum">
              <a:rPr lang="en-US" altLang="zh-CN" smtClean="0"/>
              <a:t>32</a:t>
            </a:fld>
            <a:endParaRPr lang="en-US" altLang="zh-CN"/>
          </a:p>
        </p:txBody>
      </p:sp>
      <p:sp>
        <p:nvSpPr>
          <p:cNvPr id="7" name="Title 1"/>
          <p:cNvSpPr>
            <a:spLocks noGrp="1"/>
          </p:cNvSpPr>
          <p:nvPr>
            <p:ph type="title"/>
          </p:nvPr>
        </p:nvSpPr>
        <p:spPr>
          <a:xfrm>
            <a:off x="685800" y="152400"/>
            <a:ext cx="8229600" cy="393065"/>
          </a:xfrm>
        </p:spPr>
        <p:txBody>
          <a:bodyPr/>
          <a:lstStyle/>
          <a:p>
            <a:pPr algn="r"/>
            <a:r>
              <a:rPr lang="en-US" altLang="zh-CN" sz="3600" dirty="0">
                <a:solidFill>
                  <a:schemeClr val="bg1"/>
                </a:solidFill>
                <a:latin typeface="Times New Roman" panose="02020603050405020304" pitchFamily="18" charset="0"/>
                <a:cs typeface="Times New Roman" panose="02020603050405020304" pitchFamily="18" charset="0"/>
              </a:rPr>
              <a:t>DFA</a:t>
            </a:r>
            <a:r>
              <a:rPr lang="zh-CN" altLang="en-US" sz="3600" dirty="0">
                <a:solidFill>
                  <a:schemeClr val="bg1"/>
                </a:solidFill>
                <a:latin typeface="Times New Roman" panose="02020603050405020304" pitchFamily="18" charset="0"/>
                <a:cs typeface="Times New Roman" panose="02020603050405020304" pitchFamily="18" charset="0"/>
              </a:rPr>
              <a:t>的化简</a:t>
            </a:r>
            <a:endParaRPr lang="en-AU" sz="3600"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457200" y="1600200"/>
                <a:ext cx="8229600" cy="4525963"/>
              </a:xfrm>
            </p:spPr>
            <p:txBody>
              <a:bodyPr/>
              <a:lstStyle/>
              <a:p>
                <a:r>
                  <a:rPr lang="zh-CN" altLang="en-US" dirty="0">
                    <a:solidFill>
                      <a:srgbClr val="FF0000"/>
                    </a:solidFill>
                  </a:rPr>
                  <a:t>填表算法</a:t>
                </a:r>
                <a:r>
                  <a:rPr lang="zh-CN" altLang="en-US" dirty="0"/>
                  <a:t>递归寻找</a:t>
                </a:r>
                <a:r>
                  <a:rPr lang="en-AU" altLang="zh-CN" dirty="0">
                    <a:latin typeface="Times New Roman" panose="02020603050405020304" pitchFamily="18" charset="0"/>
                    <a:cs typeface="Times New Roman" panose="02020603050405020304" pitchFamily="18" charset="0"/>
                  </a:rPr>
                  <a:t>DFA</a:t>
                </a:r>
                <a:r>
                  <a:rPr lang="zh-CN" altLang="en-US" dirty="0"/>
                  <a:t>中全部的可区分状态对</a:t>
                </a:r>
                <a:r>
                  <a:rPr lang="en-AU" altLang="zh-CN" dirty="0"/>
                  <a:t>:</a:t>
                </a:r>
              </a:p>
              <a:p>
                <a:pPr lvl="1"/>
                <a:r>
                  <a:rPr lang="zh-CN" altLang="en-US" dirty="0"/>
                  <a:t>如果</a:t>
                </a:r>
                <a14:m>
                  <m:oMath xmlns:m="http://schemas.openxmlformats.org/officeDocument/2006/math">
                    <m:r>
                      <a:rPr lang="en-AU" b="0" i="1" smtClean="0">
                        <a:latin typeface="Cambria Math" panose="02040503050406030204" pitchFamily="18" charset="0"/>
                      </a:rPr>
                      <m:t>𝑝</m:t>
                    </m:r>
                    <m:r>
                      <a:rPr lang="en-AU" b="0" i="1" smtClean="0">
                        <a:latin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𝐹</m:t>
                    </m:r>
                  </m:oMath>
                </a14:m>
                <a:r>
                  <a:rPr lang="zh-CN" altLang="en-US" dirty="0"/>
                  <a:t>而</a:t>
                </a:r>
                <a14:m>
                  <m:oMath xmlns:m="http://schemas.openxmlformats.org/officeDocument/2006/math">
                    <m:r>
                      <a:rPr lang="en-AU" i="1">
                        <a:latin typeface="Cambria Math" panose="02040503050406030204" pitchFamily="18" charset="0"/>
                      </a:rPr>
                      <m:t>𝑞</m:t>
                    </m:r>
                    <m:r>
                      <a:rPr lang="en-AU" i="1" smtClean="0">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𝐹</m:t>
                    </m:r>
                  </m:oMath>
                </a14:m>
                <a:r>
                  <a:rPr lang="zh-CN" altLang="en-US" dirty="0"/>
                  <a:t>，则</a:t>
                </a:r>
                <a14:m>
                  <m:oMath xmlns:m="http://schemas.openxmlformats.org/officeDocument/2006/math">
                    <m:r>
                      <a:rPr lang="en-AU" altLang="zh-CN" b="0" i="1" smtClean="0">
                        <a:latin typeface="Cambria Math" panose="02040503050406030204" pitchFamily="18" charset="0"/>
                      </a:rPr>
                      <m:t>[</m:t>
                    </m:r>
                    <m:r>
                      <a:rPr lang="en-AU" altLang="zh-CN" b="0" i="1" smtClean="0">
                        <a:latin typeface="Cambria Math" panose="02040503050406030204" pitchFamily="18" charset="0"/>
                      </a:rPr>
                      <m:t>𝑝</m:t>
                    </m:r>
                    <m:r>
                      <a:rPr lang="en-AU" altLang="zh-CN" b="0" i="1" smtClean="0">
                        <a:latin typeface="Cambria Math" panose="02040503050406030204" pitchFamily="18" charset="0"/>
                      </a:rPr>
                      <m:t>,</m:t>
                    </m:r>
                    <m:r>
                      <a:rPr lang="en-AU" altLang="zh-CN" b="0" i="1" smtClean="0">
                        <a:latin typeface="Cambria Math" panose="02040503050406030204" pitchFamily="18" charset="0"/>
                      </a:rPr>
                      <m:t>𝑞</m:t>
                    </m:r>
                    <m:r>
                      <a:rPr lang="en-AU" altLang="zh-CN" b="0" i="1" smtClean="0">
                        <a:latin typeface="Cambria Math" panose="02040503050406030204" pitchFamily="18" charset="0"/>
                      </a:rPr>
                      <m:t>]</m:t>
                    </m:r>
                  </m:oMath>
                </a14:m>
                <a:r>
                  <a:rPr lang="zh-CN" altLang="en-US" dirty="0"/>
                  <a:t>是可区分的；</a:t>
                </a:r>
                <a:endParaRPr lang="en-AU" altLang="zh-CN" dirty="0"/>
              </a:p>
              <a:p>
                <a:pPr lvl="1"/>
                <a14:m>
                  <m:oMath xmlns:m="http://schemas.openxmlformats.org/officeDocument/2006/math">
                    <m:r>
                      <a:rPr lang="en-AU"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𝑎</m:t>
                    </m:r>
                    <m:r>
                      <a:rPr lang="en-AU" i="1">
                        <a:latin typeface="Cambria Math" panose="02040503050406030204" pitchFamily="18" charset="0"/>
                      </a:rPr>
                      <m:t>∈</m:t>
                    </m:r>
                    <m:r>
                      <m:rPr>
                        <m:sty m:val="p"/>
                      </m:rPr>
                      <a:rPr lang="el-GR" i="1" smtClean="0">
                        <a:latin typeface="Cambria Math" panose="02040503050406030204" pitchFamily="18" charset="0"/>
                        <a:ea typeface="Cambria Math" panose="02040503050406030204" pitchFamily="18" charset="0"/>
                      </a:rPr>
                      <m:t>Σ</m:t>
                    </m:r>
                  </m:oMath>
                </a14:m>
                <a:r>
                  <a:rPr lang="zh-CN" altLang="en-US" dirty="0"/>
                  <a:t>，如果</a:t>
                </a:r>
                <a14:m>
                  <m:oMath xmlns:m="http://schemas.openxmlformats.org/officeDocument/2006/math">
                    <m:r>
                      <a:rPr lang="en-AU" altLang="zh-CN" b="0" i="1" smtClean="0">
                        <a:latin typeface="Cambria Math" panose="02040503050406030204" pitchFamily="18" charset="0"/>
                      </a:rPr>
                      <m:t>[</m:t>
                    </m:r>
                    <m:r>
                      <a:rPr lang="en-AU" altLang="zh-CN" b="0" i="1" smtClean="0">
                        <a:latin typeface="Cambria Math" panose="02040503050406030204" pitchFamily="18" charset="0"/>
                      </a:rPr>
                      <m:t>𝑟</m:t>
                    </m:r>
                    <m:r>
                      <a:rPr lang="en-AU" altLang="zh-CN" b="0" i="1" smtClean="0">
                        <a:latin typeface="Cambria Math" panose="02040503050406030204" pitchFamily="18" charset="0"/>
                      </a:rPr>
                      <m:t>=</m:t>
                    </m:r>
                    <m:r>
                      <a:rPr lang="el-GR" altLang="zh-CN" i="1" dirty="0">
                        <a:latin typeface="Cambria Math" panose="02040503050406030204" pitchFamily="18" charset="0"/>
                      </a:rPr>
                      <m:t>𝛿</m:t>
                    </m:r>
                    <m:d>
                      <m:dPr>
                        <m:ctrlPr>
                          <a:rPr lang="en-AU" altLang="zh-CN" b="0" i="1" dirty="0" smtClean="0">
                            <a:latin typeface="Cambria Math" panose="02040503050406030204" pitchFamily="18" charset="0"/>
                          </a:rPr>
                        </m:ctrlPr>
                      </m:dPr>
                      <m:e>
                        <m:r>
                          <a:rPr lang="en-AU" altLang="zh-CN" b="0" i="1" dirty="0" smtClean="0">
                            <a:latin typeface="Cambria Math" panose="02040503050406030204" pitchFamily="18" charset="0"/>
                          </a:rPr>
                          <m:t>𝑝</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𝑎</m:t>
                        </m:r>
                      </m:e>
                    </m:d>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𝑠</m:t>
                    </m:r>
                    <m:r>
                      <a:rPr lang="en-AU" altLang="zh-CN" b="0" i="1" dirty="0" smtClean="0">
                        <a:latin typeface="Cambria Math" panose="02040503050406030204" pitchFamily="18" charset="0"/>
                      </a:rPr>
                      <m:t>=</m:t>
                    </m:r>
                    <m:r>
                      <a:rPr lang="el-GR" altLang="zh-CN" i="1" dirty="0">
                        <a:latin typeface="Cambria Math" panose="02040503050406030204" pitchFamily="18" charset="0"/>
                      </a:rPr>
                      <m:t>𝛿</m:t>
                    </m:r>
                    <m:d>
                      <m:dPr>
                        <m:ctrlPr>
                          <a:rPr lang="en-AU" altLang="zh-CN" i="1" dirty="0">
                            <a:latin typeface="Cambria Math" panose="02040503050406030204" pitchFamily="18" charset="0"/>
                          </a:rPr>
                        </m:ctrlPr>
                      </m:dPr>
                      <m:e>
                        <m:r>
                          <a:rPr lang="en-AU" altLang="zh-CN" b="0" i="1" dirty="0" smtClean="0">
                            <a:latin typeface="Cambria Math" panose="02040503050406030204" pitchFamily="18" charset="0"/>
                          </a:rPr>
                          <m:t>𝑞</m:t>
                        </m:r>
                        <m:r>
                          <a:rPr lang="en-AU" altLang="zh-CN" i="1" dirty="0">
                            <a:latin typeface="Cambria Math" panose="02040503050406030204" pitchFamily="18" charset="0"/>
                          </a:rPr>
                          <m:t>,</m:t>
                        </m:r>
                        <m:r>
                          <a:rPr lang="en-AU" altLang="zh-CN" b="0" i="1" dirty="0" smtClean="0">
                            <a:latin typeface="Cambria Math" panose="02040503050406030204" pitchFamily="18" charset="0"/>
                          </a:rPr>
                          <m:t>𝑎</m:t>
                        </m:r>
                      </m:e>
                    </m:d>
                    <m:r>
                      <a:rPr lang="en-AU" altLang="zh-CN" b="0" i="1" smtClean="0">
                        <a:latin typeface="Cambria Math" panose="02040503050406030204" pitchFamily="18" charset="0"/>
                      </a:rPr>
                      <m:t>]</m:t>
                    </m:r>
                  </m:oMath>
                </a14:m>
                <a:r>
                  <a:rPr lang="zh-CN" altLang="en-US" dirty="0"/>
                  <a:t>是可区分的，则</a:t>
                </a:r>
                <a14:m>
                  <m:oMath xmlns:m="http://schemas.openxmlformats.org/officeDocument/2006/math">
                    <m:r>
                      <a:rPr lang="en-AU" altLang="zh-CN" i="1">
                        <a:latin typeface="Cambria Math" panose="02040503050406030204" pitchFamily="18" charset="0"/>
                      </a:rPr>
                      <m:t>[</m:t>
                    </m:r>
                    <m:r>
                      <a:rPr lang="en-AU" altLang="zh-CN" i="1">
                        <a:latin typeface="Cambria Math" panose="02040503050406030204" pitchFamily="18" charset="0"/>
                      </a:rPr>
                      <m:t>𝑝</m:t>
                    </m:r>
                    <m:r>
                      <a:rPr lang="en-AU" altLang="zh-CN" i="1">
                        <a:latin typeface="Cambria Math" panose="02040503050406030204" pitchFamily="18" charset="0"/>
                      </a:rPr>
                      <m:t>,</m:t>
                    </m:r>
                    <m:r>
                      <a:rPr lang="en-AU" altLang="zh-CN" i="1">
                        <a:latin typeface="Cambria Math" panose="02040503050406030204" pitchFamily="18" charset="0"/>
                      </a:rPr>
                      <m:t>𝑞</m:t>
                    </m:r>
                    <m:r>
                      <a:rPr lang="en-AU" altLang="zh-CN" i="1">
                        <a:latin typeface="Cambria Math" panose="02040503050406030204" pitchFamily="18" charset="0"/>
                      </a:rPr>
                      <m:t>]</m:t>
                    </m:r>
                  </m:oMath>
                </a14:m>
                <a:r>
                  <a:rPr lang="zh-CN" altLang="en-US" dirty="0"/>
                  <a:t>是可区分的。</a:t>
                </a:r>
                <a:endParaRPr lang="en-AU" altLang="zh-CN" dirty="0"/>
              </a:p>
              <a:p>
                <a:pPr lvl="1"/>
                <a:endParaRPr lang="en-AU" dirty="0"/>
              </a:p>
            </p:txBody>
          </p:sp>
        </mc:Choice>
        <mc:Fallback xmlns="">
          <p:sp>
            <p:nvSpPr>
              <p:cNvPr id="8" name="Content Placeholder 2"/>
              <p:cNvSpPr>
                <a:spLocks noRot="1" noChangeAspect="1" noMove="1" noResize="1" noEditPoints="1" noAdjustHandles="1" noChangeArrowheads="1" noChangeShapeType="1" noTextEdit="1"/>
              </p:cNvSpPr>
              <p:nvPr>
                <p:ph idx="1"/>
              </p:nvPr>
            </p:nvSpPr>
            <p:spPr>
              <a:xfrm>
                <a:off x="457200" y="1600200"/>
                <a:ext cx="8229600" cy="4525963"/>
              </a:xfrm>
              <a:blipFill rotWithShape="1">
                <a:blip r:embed="rId2"/>
                <a:stretch>
                  <a:fillRect b="7"/>
                </a:stretch>
              </a:blipFill>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662E1F6-9BD6-474C-A82E-E07C3DB67AAE}" type="slidenum">
              <a:rPr lang="en-AU" smtClean="0"/>
              <a:t>33</a:t>
            </a:fld>
            <a:endParaRPr lang="en-AU"/>
          </a:p>
        </p:txBody>
      </p:sp>
      <p:sp>
        <p:nvSpPr>
          <p:cNvPr id="7" name="Title 1"/>
          <p:cNvSpPr>
            <a:spLocks noGrp="1"/>
          </p:cNvSpPr>
          <p:nvPr>
            <p:ph type="title"/>
          </p:nvPr>
        </p:nvSpPr>
        <p:spPr>
          <a:xfrm>
            <a:off x="457200" y="-107315"/>
            <a:ext cx="8229600" cy="91567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形式语言与自动机</a:t>
            </a:r>
            <a:endParaRPr lang="en-US" altLang="zh-CN" sz="3600" dirty="0">
              <a:solidFill>
                <a:schemeClr val="bg1"/>
              </a:solidFill>
              <a:effectLst>
                <a:outerShdw blurRad="38100" dist="38100" dir="2700000" algn="tl">
                  <a:srgbClr val="000000">
                    <a:alpha val="43137"/>
                  </a:srgbClr>
                </a:outerShdw>
              </a:effectLst>
            </a:endParaRPr>
          </a:p>
        </p:txBody>
      </p:sp>
      <p:sp>
        <p:nvSpPr>
          <p:cNvPr id="9" name="文本框 8"/>
          <p:cNvSpPr txBox="1"/>
          <p:nvPr/>
        </p:nvSpPr>
        <p:spPr>
          <a:xfrm>
            <a:off x="533400" y="762000"/>
            <a:ext cx="8382000" cy="1568450"/>
          </a:xfrm>
          <a:prstGeom prst="rect">
            <a:avLst/>
          </a:prstGeom>
          <a:noFill/>
        </p:spPr>
        <p:txBody>
          <a:bodyPr wrap="square">
            <a:spAutoFit/>
          </a:bodyPr>
          <a:lstStyle/>
          <a:p>
            <a:r>
              <a:rPr lang="zh-CN" altLang="en-US" sz="2400" b="1" dirty="0"/>
              <a:t>比较以下三个语言对应的自动机</a:t>
            </a:r>
            <a:endParaRPr lang="en-US" altLang="zh-CN" sz="2400" b="1" dirty="0"/>
          </a:p>
          <a:p>
            <a:r>
              <a:rPr lang="en-US" altLang="zh-CN" sz="2400" b="1" i="1" dirty="0">
                <a:solidFill>
                  <a:schemeClr val="tx1"/>
                </a:solidFill>
                <a:latin typeface="Times New Roman" panose="02020603050405020304" pitchFamily="18" charset="0"/>
                <a:cs typeface="Times New Roman" panose="02020603050405020304" pitchFamily="18" charset="0"/>
              </a:rPr>
              <a:t>L</a:t>
            </a:r>
            <a:r>
              <a:rPr lang="en-US" altLang="zh-CN" sz="2400" b="1" baseline="-25000" dirty="0">
                <a:solidFill>
                  <a:schemeClr val="tx1"/>
                </a:solidFill>
                <a:latin typeface="Times New Roman" panose="02020603050405020304" pitchFamily="18" charset="0"/>
                <a:cs typeface="Times New Roman" panose="02020603050405020304" pitchFamily="18" charset="0"/>
              </a:rPr>
              <a:t>1</a:t>
            </a:r>
            <a:r>
              <a:rPr lang="en-US" altLang="zh-CN" sz="2400" b="1" i="1" dirty="0">
                <a:solidFill>
                  <a:schemeClr val="tx1"/>
                </a:solidFill>
                <a:latin typeface="Times New Roman" panose="02020603050405020304" pitchFamily="18" charset="0"/>
                <a:cs typeface="Times New Roman" panose="02020603050405020304" pitchFamily="18" charset="0"/>
              </a:rPr>
              <a:t>=</a:t>
            </a:r>
            <a:r>
              <a:rPr lang="en-US" altLang="zh-CN" sz="2400" b="1" dirty="0">
                <a:solidFill>
                  <a:schemeClr val="tx1"/>
                </a:solidFill>
                <a:latin typeface="Times New Roman" panose="02020603050405020304" pitchFamily="18" charset="0"/>
                <a:cs typeface="Times New Roman" panose="02020603050405020304" pitchFamily="18" charset="0"/>
              </a:rPr>
              <a:t>{</a:t>
            </a:r>
            <a:r>
              <a:rPr lang="en-US" altLang="zh-CN" sz="2400" b="1" i="1" dirty="0" err="1">
                <a:solidFill>
                  <a:schemeClr val="tx1"/>
                </a:solidFill>
                <a:latin typeface="Times New Roman" panose="02020603050405020304" pitchFamily="18" charset="0"/>
                <a:cs typeface="Times New Roman" panose="02020603050405020304" pitchFamily="18" charset="0"/>
              </a:rPr>
              <a:t>a</a:t>
            </a:r>
            <a:r>
              <a:rPr lang="en-US" altLang="zh-CN" sz="2400" b="1" i="1" baseline="30000" dirty="0" err="1">
                <a:solidFill>
                  <a:schemeClr val="tx1"/>
                </a:solidFill>
                <a:latin typeface="Times New Roman" panose="02020603050405020304" pitchFamily="18" charset="0"/>
                <a:cs typeface="Times New Roman" panose="02020603050405020304" pitchFamily="18" charset="0"/>
              </a:rPr>
              <a:t>m</a:t>
            </a:r>
            <a:r>
              <a:rPr lang="en-US" altLang="zh-CN" sz="2400" b="1" i="1" dirty="0" err="1">
                <a:solidFill>
                  <a:schemeClr val="tx1"/>
                </a:solidFill>
                <a:latin typeface="Times New Roman" panose="02020603050405020304" pitchFamily="18" charset="0"/>
                <a:cs typeface="Times New Roman" panose="02020603050405020304" pitchFamily="18" charset="0"/>
              </a:rPr>
              <a:t>b</a:t>
            </a:r>
            <a:r>
              <a:rPr lang="en-US" altLang="zh-CN" sz="2400" b="1" i="1" baseline="30000" dirty="0" err="1">
                <a:solidFill>
                  <a:schemeClr val="tx1"/>
                </a:solidFill>
                <a:latin typeface="Times New Roman" panose="02020603050405020304" pitchFamily="18" charset="0"/>
                <a:cs typeface="Times New Roman" panose="02020603050405020304" pitchFamily="18" charset="0"/>
              </a:rPr>
              <a:t>n</a:t>
            </a:r>
            <a:r>
              <a:rPr lang="en-US" altLang="zh-CN" sz="2400" b="1" i="1" dirty="0" err="1">
                <a:solidFill>
                  <a:schemeClr val="tx1"/>
                </a:solidFill>
                <a:latin typeface="Times New Roman" panose="02020603050405020304" pitchFamily="18" charset="0"/>
                <a:cs typeface="Times New Roman" panose="02020603050405020304" pitchFamily="18" charset="0"/>
              </a:rPr>
              <a:t>c</a:t>
            </a:r>
            <a:r>
              <a:rPr lang="en-US" altLang="zh-CN" sz="2400" b="1" i="1" baseline="30000" dirty="0" err="1">
                <a:solidFill>
                  <a:schemeClr val="tx1"/>
                </a:solidFill>
                <a:latin typeface="Times New Roman" panose="02020603050405020304" pitchFamily="18" charset="0"/>
                <a:cs typeface="Times New Roman" panose="02020603050405020304" pitchFamily="18" charset="0"/>
              </a:rPr>
              <a:t>k</a:t>
            </a:r>
            <a:r>
              <a:rPr lang="en-US" altLang="zh-CN" sz="2400" b="1" i="1" dirty="0" err="1">
                <a:solidFill>
                  <a:schemeClr val="tx1"/>
                </a:solidFill>
                <a:latin typeface="Times New Roman" panose="02020603050405020304" pitchFamily="18" charset="0"/>
                <a:cs typeface="Times New Roman" panose="02020603050405020304" pitchFamily="18" charset="0"/>
              </a:rPr>
              <a:t>|m</a:t>
            </a:r>
            <a:r>
              <a:rPr lang="en-US" altLang="zh-CN" sz="2400" b="1" i="1" dirty="0">
                <a:solidFill>
                  <a:schemeClr val="tx1"/>
                </a:solidFill>
                <a:latin typeface="Times New Roman" panose="02020603050405020304" pitchFamily="18" charset="0"/>
                <a:cs typeface="Times New Roman" panose="02020603050405020304" pitchFamily="18" charset="0"/>
              </a:rPr>
              <a:t>, n, k≥</a:t>
            </a:r>
            <a:r>
              <a:rPr lang="en-US" altLang="zh-CN" sz="2400" b="1" dirty="0">
                <a:solidFill>
                  <a:schemeClr val="tx1"/>
                </a:solidFill>
                <a:latin typeface="Times New Roman" panose="02020603050405020304" pitchFamily="18" charset="0"/>
                <a:cs typeface="Times New Roman" panose="02020603050405020304" pitchFamily="18" charset="0"/>
              </a:rPr>
              <a:t>1}</a:t>
            </a:r>
          </a:p>
          <a:p>
            <a:r>
              <a:rPr lang="en-US" altLang="zh-CN" sz="2400" b="1" i="1" dirty="0">
                <a:solidFill>
                  <a:srgbClr val="FF0000"/>
                </a:solidFill>
                <a:latin typeface="Times New Roman" panose="02020603050405020304" pitchFamily="18" charset="0"/>
                <a:cs typeface="Times New Roman" panose="02020603050405020304" pitchFamily="18" charset="0"/>
              </a:rPr>
              <a:t>L</a:t>
            </a:r>
            <a:r>
              <a:rPr lang="en-US" altLang="zh-CN" sz="2400" b="1" baseline="-25000" dirty="0">
                <a:solidFill>
                  <a:srgbClr val="FF0000"/>
                </a:solidFill>
                <a:latin typeface="Times New Roman" panose="02020603050405020304" pitchFamily="18" charset="0"/>
                <a:cs typeface="Times New Roman" panose="02020603050405020304" pitchFamily="18" charset="0"/>
              </a:rPr>
              <a:t>2</a:t>
            </a:r>
            <a:r>
              <a:rPr lang="en-US" altLang="zh-CN" sz="2400" b="1" i="1" dirty="0">
                <a:solidFill>
                  <a:srgbClr val="FF0000"/>
                </a:solidFill>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a:t>
            </a:r>
            <a:r>
              <a:rPr lang="en-US" altLang="zh-CN" sz="2400" b="1" i="1" dirty="0" err="1">
                <a:solidFill>
                  <a:srgbClr val="FF0000"/>
                </a:solidFill>
                <a:latin typeface="Times New Roman" panose="02020603050405020304" pitchFamily="18" charset="0"/>
                <a:cs typeface="Times New Roman" panose="02020603050405020304" pitchFamily="18" charset="0"/>
              </a:rPr>
              <a:t>a</a:t>
            </a:r>
            <a:r>
              <a:rPr lang="en-US" altLang="zh-CN" sz="2400" b="1" i="1" baseline="30000" dirty="0" err="1">
                <a:solidFill>
                  <a:srgbClr val="FF0000"/>
                </a:solidFill>
                <a:latin typeface="Times New Roman" panose="02020603050405020304" pitchFamily="18" charset="0"/>
                <a:cs typeface="Times New Roman" panose="02020603050405020304" pitchFamily="18" charset="0"/>
              </a:rPr>
              <a:t>m</a:t>
            </a:r>
            <a:r>
              <a:rPr lang="en-US" altLang="zh-CN" sz="2400" b="1" i="1" dirty="0" err="1">
                <a:solidFill>
                  <a:srgbClr val="FF0000"/>
                </a:solidFill>
                <a:latin typeface="Times New Roman" panose="02020603050405020304" pitchFamily="18" charset="0"/>
                <a:cs typeface="Times New Roman" panose="02020603050405020304" pitchFamily="18" charset="0"/>
              </a:rPr>
              <a:t>b</a:t>
            </a:r>
            <a:r>
              <a:rPr lang="en-US" altLang="zh-CN" sz="2400" b="1" i="1" baseline="30000" dirty="0" err="1">
                <a:solidFill>
                  <a:srgbClr val="FF0000"/>
                </a:solidFill>
                <a:latin typeface="Times New Roman" panose="02020603050405020304" pitchFamily="18" charset="0"/>
                <a:cs typeface="Times New Roman" panose="02020603050405020304" pitchFamily="18" charset="0"/>
              </a:rPr>
              <a:t>m</a:t>
            </a:r>
            <a:r>
              <a:rPr lang="en-US" altLang="zh-CN" sz="2400" b="1" i="1" dirty="0" err="1">
                <a:solidFill>
                  <a:srgbClr val="FF0000"/>
                </a:solidFill>
                <a:latin typeface="Times New Roman" panose="02020603050405020304" pitchFamily="18" charset="0"/>
                <a:cs typeface="Times New Roman" panose="02020603050405020304" pitchFamily="18" charset="0"/>
              </a:rPr>
              <a:t>c</a:t>
            </a:r>
            <a:r>
              <a:rPr lang="en-US" altLang="zh-CN" sz="2400" b="1" i="1" baseline="30000" dirty="0" err="1">
                <a:solidFill>
                  <a:srgbClr val="FF0000"/>
                </a:solidFill>
                <a:latin typeface="Times New Roman" panose="02020603050405020304" pitchFamily="18" charset="0"/>
                <a:cs typeface="Times New Roman" panose="02020603050405020304" pitchFamily="18" charset="0"/>
              </a:rPr>
              <a:t>k</a:t>
            </a:r>
            <a:r>
              <a:rPr lang="en-US" altLang="zh-CN" sz="2400" b="1" i="1" dirty="0" err="1">
                <a:solidFill>
                  <a:srgbClr val="FF0000"/>
                </a:solidFill>
                <a:latin typeface="Times New Roman" panose="02020603050405020304" pitchFamily="18" charset="0"/>
                <a:cs typeface="Times New Roman" panose="02020603050405020304" pitchFamily="18" charset="0"/>
              </a:rPr>
              <a:t>|m</a:t>
            </a:r>
            <a:r>
              <a:rPr lang="en-US" altLang="zh-CN" sz="2400" b="1" i="1" dirty="0">
                <a:solidFill>
                  <a:srgbClr val="FF0000"/>
                </a:solidFill>
                <a:latin typeface="Times New Roman" panose="02020603050405020304" pitchFamily="18" charset="0"/>
                <a:cs typeface="Times New Roman" panose="02020603050405020304" pitchFamily="18" charset="0"/>
              </a:rPr>
              <a:t>, k≥</a:t>
            </a:r>
            <a:r>
              <a:rPr lang="en-US" altLang="zh-CN" sz="2400" b="1" dirty="0">
                <a:solidFill>
                  <a:srgbClr val="FF0000"/>
                </a:solidFill>
                <a:latin typeface="Times New Roman" panose="02020603050405020304" pitchFamily="18" charset="0"/>
                <a:cs typeface="Times New Roman" panose="02020603050405020304" pitchFamily="18" charset="0"/>
              </a:rPr>
              <a:t>1}</a:t>
            </a:r>
          </a:p>
          <a:p>
            <a:r>
              <a:rPr lang="en-US" altLang="zh-CN" sz="2400" b="1" i="1" dirty="0">
                <a:latin typeface="Times New Roman" panose="02020603050405020304" pitchFamily="18" charset="0"/>
                <a:cs typeface="Times New Roman" panose="02020603050405020304" pitchFamily="18" charset="0"/>
              </a:rPr>
              <a:t>L</a:t>
            </a:r>
            <a:r>
              <a:rPr lang="en-US" altLang="zh-CN" sz="2400" b="1" baseline="-25000" dirty="0">
                <a:latin typeface="Times New Roman" panose="02020603050405020304" pitchFamily="18" charset="0"/>
                <a:cs typeface="Times New Roman" panose="02020603050405020304" pitchFamily="18" charset="0"/>
              </a:rPr>
              <a:t>3</a:t>
            </a:r>
            <a:r>
              <a:rPr lang="en-US" altLang="zh-CN" sz="2400" b="1" i="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a</a:t>
            </a:r>
            <a:r>
              <a:rPr lang="en-US" altLang="zh-CN" sz="2400" b="1" i="1" baseline="30000" dirty="0">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b</a:t>
            </a:r>
            <a:r>
              <a:rPr lang="en-US" altLang="zh-CN" sz="2400" b="1" i="1" baseline="30000" dirty="0">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c</a:t>
            </a:r>
            <a:r>
              <a:rPr lang="en-US" altLang="zh-CN" sz="2400" b="1" i="1" baseline="30000" dirty="0">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|m≥</a:t>
            </a:r>
            <a:r>
              <a:rPr lang="en-US" altLang="zh-CN" sz="2400" b="1" dirty="0">
                <a:latin typeface="Times New Roman" panose="02020603050405020304" pitchFamily="18" charset="0"/>
                <a:cs typeface="Times New Roman" panose="02020603050405020304" pitchFamily="18" charset="0"/>
              </a:rPr>
              <a:t>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662E1F6-9BD6-474C-A82E-E07C3DB67AAE}" type="slidenum">
              <a:rPr lang="en-AU" smtClean="0"/>
              <a:t>34</a:t>
            </a:fld>
            <a:endParaRPr lang="en-AU"/>
          </a:p>
        </p:txBody>
      </p:sp>
      <p:sp>
        <p:nvSpPr>
          <p:cNvPr id="7" name="Title 1"/>
          <p:cNvSpPr>
            <a:spLocks noGrp="1"/>
          </p:cNvSpPr>
          <p:nvPr>
            <p:ph type="title"/>
          </p:nvPr>
        </p:nvSpPr>
        <p:spPr>
          <a:xfrm>
            <a:off x="457200" y="-107315"/>
            <a:ext cx="8229600" cy="91567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文法化简</a:t>
            </a:r>
            <a:endParaRPr lang="en-US" altLang="zh-CN" sz="3600" dirty="0">
              <a:solidFill>
                <a:schemeClr val="bg1"/>
              </a:solidFill>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5" name="Content Placeholder 2"/>
              <p:cNvSpPr>
                <a:spLocks noGrp="1"/>
              </p:cNvSpPr>
              <p:nvPr>
                <p:ph idx="1"/>
              </p:nvPr>
            </p:nvSpPr>
            <p:spPr>
              <a:xfrm>
                <a:off x="457200" y="1600200"/>
                <a:ext cx="8229600" cy="4525963"/>
              </a:xfrm>
            </p:spPr>
            <p:txBody>
              <a:bodyPr/>
              <a:lstStyle/>
              <a:p>
                <a:r>
                  <a:rPr lang="zh-CN" altLang="en-US" dirty="0"/>
                  <a:t>文法简化步骤的顺序是重要的</a:t>
                </a:r>
                <a:r>
                  <a:rPr lang="en-US" altLang="zh-CN" dirty="0"/>
                  <a:t>, </a:t>
                </a:r>
                <a:r>
                  <a:rPr lang="zh-CN" altLang="en-US" dirty="0"/>
                  <a:t>一个可靠的顺序是</a:t>
                </a:r>
              </a:p>
              <a:p>
                <a:pPr lvl="1"/>
                <a:r>
                  <a:rPr lang="zh-CN" altLang="en-US" dirty="0"/>
                  <a:t>消除</a:t>
                </a:r>
                <a14:m>
                  <m:oMath xmlns:m="http://schemas.openxmlformats.org/officeDocument/2006/math">
                    <m:r>
                      <a:rPr lang="en-US" altLang="zh-CN" i="1" dirty="0" smtClean="0">
                        <a:latin typeface="Cambria Math" panose="02040503050406030204" pitchFamily="18" charset="0"/>
                      </a:rPr>
                      <m:t>𝜀</m:t>
                    </m:r>
                    <m:r>
                      <a:rPr lang="en-US" altLang="zh-CN" i="1" dirty="0" smtClean="0">
                        <a:latin typeface="Cambria Math" panose="02040503050406030204" pitchFamily="18" charset="0"/>
                      </a:rPr>
                      <m:t>−</m:t>
                    </m:r>
                  </m:oMath>
                </a14:m>
                <a:r>
                  <a:rPr lang="zh-CN" altLang="en-US" dirty="0"/>
                  <a:t>产生式</a:t>
                </a:r>
              </a:p>
              <a:p>
                <a:pPr lvl="1"/>
                <a:r>
                  <a:rPr lang="zh-CN" altLang="en-US" dirty="0"/>
                  <a:t>消除单元产生式</a:t>
                </a:r>
              </a:p>
              <a:p>
                <a:pPr lvl="1"/>
                <a:r>
                  <a:rPr lang="zh-CN" altLang="en-US" dirty="0"/>
                  <a:t>消除非产生的无用符号</a:t>
                </a:r>
              </a:p>
              <a:p>
                <a:pPr lvl="1"/>
                <a:r>
                  <a:rPr lang="zh-CN" altLang="en-US" dirty="0"/>
                  <a:t>消除非可达的无用符号</a:t>
                </a:r>
              </a:p>
              <a:p>
                <a:endParaRPr lang="en-AU" dirty="0"/>
              </a:p>
            </p:txBody>
          </p:sp>
        </mc:Choice>
        <mc:Fallback xmlns="">
          <p:sp>
            <p:nvSpPr>
              <p:cNvPr id="5" name="Content Placeholder 2"/>
              <p:cNvSpPr>
                <a:spLocks noRot="1" noChangeAspect="1" noMove="1" noResize="1" noEditPoints="1" noAdjustHandles="1" noChangeArrowheads="1" noChangeShapeType="1" noTextEdit="1"/>
              </p:cNvSpPr>
              <p:nvPr>
                <p:ph idx="1"/>
              </p:nvPr>
            </p:nvSpPr>
            <p:spPr>
              <a:xfrm>
                <a:off x="457200" y="1600200"/>
                <a:ext cx="8229600" cy="4525963"/>
              </a:xfrm>
              <a:blipFill rotWithShape="1">
                <a:blip r:embed="rId2"/>
                <a:stretch>
                  <a:fillRect b="7"/>
                </a:stretch>
              </a:blipFill>
            </p:spPr>
            <p:txBody>
              <a:bodyPr/>
              <a:lstStyle/>
              <a:p>
                <a:r>
                  <a:rPr lang="zh-CN"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7807124" cy="4525963"/>
          </a:xfrm>
        </p:spPr>
        <p:txBody>
          <a:bodyPr/>
          <a:lstStyle/>
          <a:p>
            <a:r>
              <a:rPr lang="zh-CN" altLang="en-US" sz="2400" dirty="0"/>
              <a:t>思路</a:t>
            </a:r>
            <a:r>
              <a:rPr lang="en-AU" altLang="zh-CN" sz="2400" dirty="0"/>
              <a:t>:</a:t>
            </a:r>
            <a:r>
              <a:rPr lang="en-AU" altLang="zh-CN" sz="2400" dirty="0">
                <a:latin typeface="Times New Roman" panose="02020603050405020304" pitchFamily="18" charset="0"/>
                <a:cs typeface="Times New Roman" panose="02020603050405020304" pitchFamily="18" charset="0"/>
              </a:rPr>
              <a:t>PDA</a:t>
            </a:r>
            <a:r>
              <a:rPr lang="zh-CN" altLang="en-US" sz="2400" dirty="0"/>
              <a:t>模拟文法的最左派生，当输入的符号串消耗完时，处于按空栈接受的状态或者非接受的状态。</a:t>
            </a:r>
            <a:endParaRPr lang="en-AU" altLang="zh-CN" sz="2400" dirty="0"/>
          </a:p>
          <a:p>
            <a:r>
              <a:rPr lang="zh-CN" altLang="en-US" sz="2400" dirty="0"/>
              <a:t>步骤：</a:t>
            </a:r>
            <a:endParaRPr lang="en-AU" altLang="zh-CN" sz="2400" dirty="0"/>
          </a:p>
          <a:p>
            <a:pPr lvl="1"/>
            <a:r>
              <a:rPr lang="en-AU" sz="2400" dirty="0"/>
              <a:t>1. </a:t>
            </a:r>
            <a:r>
              <a:rPr lang="zh-CN" altLang="en-US" sz="2400" dirty="0"/>
              <a:t>把产生式的右部压栈，此时栈顶符号为该右部的第一个符号</a:t>
            </a:r>
            <a:endParaRPr lang="en-AU" altLang="zh-CN" sz="2400" dirty="0"/>
          </a:p>
          <a:p>
            <a:pPr lvl="1"/>
            <a:r>
              <a:rPr lang="en-AU" sz="2400" dirty="0"/>
              <a:t>2. </a:t>
            </a:r>
            <a:r>
              <a:rPr lang="zh-CN" altLang="en-US" sz="2400" dirty="0"/>
              <a:t>如果栈顶符号是最左变元</a:t>
            </a:r>
            <a:r>
              <a:rPr lang="en-AU" altLang="zh-CN" sz="2400" dirty="0"/>
              <a:t>(leftmost variable)</a:t>
            </a:r>
            <a:r>
              <a:rPr lang="zh-CN" altLang="en-US" sz="2400" dirty="0"/>
              <a:t> ，则把它用所有对应的产生式代替（每个代替可能各自产生一条</a:t>
            </a:r>
            <a:r>
              <a:rPr lang="en-US" altLang="zh-CN" sz="2400" dirty="0"/>
              <a:t>ID</a:t>
            </a:r>
            <a:r>
              <a:rPr lang="zh-CN" altLang="en-US" sz="2400" dirty="0"/>
              <a:t>转移路径）</a:t>
            </a:r>
            <a:endParaRPr lang="en-AU" altLang="zh-CN" sz="2400" dirty="0"/>
          </a:p>
          <a:p>
            <a:pPr lvl="1"/>
            <a:r>
              <a:rPr lang="en-AU" sz="2400" dirty="0"/>
              <a:t>3. </a:t>
            </a:r>
            <a:r>
              <a:rPr lang="zh-CN" altLang="en-US" sz="2400" dirty="0"/>
              <a:t>如果栈顶符号是终结符，且它和要输入的符号匹配，则弹出该终结符</a:t>
            </a:r>
            <a:endParaRPr lang="en-AU" sz="2400" dirty="0"/>
          </a:p>
        </p:txBody>
      </p:sp>
      <p:sp>
        <p:nvSpPr>
          <p:cNvPr id="4" name="Slide Number Placeholder 3"/>
          <p:cNvSpPr>
            <a:spLocks noGrp="1"/>
          </p:cNvSpPr>
          <p:nvPr>
            <p:ph type="sldNum" sz="quarter" idx="12"/>
          </p:nvPr>
        </p:nvSpPr>
        <p:spPr/>
        <p:txBody>
          <a:bodyPr/>
          <a:lstStyle/>
          <a:p>
            <a:fld id="{0662E1F6-9BD6-474C-A82E-E07C3DB67AAE}" type="slidenum">
              <a:rPr lang="en-AU" smtClean="0"/>
              <a:t>35</a:t>
            </a:fld>
            <a:endParaRPr lang="en-AU"/>
          </a:p>
        </p:txBody>
      </p:sp>
      <p:sp>
        <p:nvSpPr>
          <p:cNvPr id="6"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由</a:t>
            </a:r>
            <a:r>
              <a:rPr lang="en-AU" altLang="zh-CN" sz="3600" dirty="0">
                <a:solidFill>
                  <a:schemeClr val="bg1"/>
                </a:solidFill>
                <a:latin typeface="Times New Roman" panose="02020603050405020304" pitchFamily="18" charset="0"/>
                <a:cs typeface="Times New Roman" panose="02020603050405020304" pitchFamily="18" charset="0"/>
              </a:rPr>
              <a:t>CFG</a:t>
            </a:r>
            <a:r>
              <a:rPr lang="zh-CN" altLang="en-US" sz="3600" dirty="0">
                <a:solidFill>
                  <a:schemeClr val="bg1"/>
                </a:solidFill>
              </a:rPr>
              <a:t>到</a:t>
            </a:r>
            <a:r>
              <a:rPr lang="en-AU" altLang="zh-CN" sz="3600" dirty="0">
                <a:solidFill>
                  <a:schemeClr val="bg1"/>
                </a:solidFill>
                <a:latin typeface="Times New Roman" panose="02020603050405020304" pitchFamily="18" charset="0"/>
                <a:cs typeface="Times New Roman" panose="02020603050405020304" pitchFamily="18" charset="0"/>
              </a:rPr>
              <a:t>PDA</a:t>
            </a:r>
            <a:endParaRPr lang="en-AU" sz="3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17600"/>
                <a:ext cx="8229600" cy="4525963"/>
              </a:xfrm>
            </p:spPr>
            <p:txBody>
              <a:bodyPr>
                <a:normAutofit/>
              </a:bodyPr>
              <a:lstStyle/>
              <a:p>
                <a:r>
                  <a:rPr lang="zh-CN" altLang="en-US" sz="2400" dirty="0">
                    <a:latin typeface="Times New Roman" panose="02020603050405020304" pitchFamily="18" charset="0"/>
                    <a:cs typeface="Times New Roman" panose="02020603050405020304" pitchFamily="18" charset="0"/>
                  </a:rPr>
                  <a:t>给定</a:t>
                </a:r>
                <a:r>
                  <a:rPr lang="en-AU" altLang="zh-CN" sz="2400" dirty="0">
                    <a:latin typeface="Times New Roman" panose="02020603050405020304" pitchFamily="18" charset="0"/>
                    <a:cs typeface="Times New Roman" panose="02020603050405020304" pitchFamily="18" charset="0"/>
                  </a:rPr>
                  <a:t>CFG</a:t>
                </a:r>
                <a:r>
                  <a:rPr lang="en-AU" altLang="zh-CN" sz="2400" dirty="0"/>
                  <a:t> </a:t>
                </a:r>
                <a14:m>
                  <m:oMath xmlns:m="http://schemas.openxmlformats.org/officeDocument/2006/math">
                    <m:r>
                      <a:rPr lang="en-AU" altLang="zh-CN" sz="2400" i="1" dirty="0" smtClean="0">
                        <a:latin typeface="Cambria Math" panose="02040503050406030204" pitchFamily="18" charset="0"/>
                      </a:rPr>
                      <m:t>𝐺</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𝑉</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𝑇</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 </m:t>
                    </m:r>
                    <m:r>
                      <a:rPr lang="en-AU" altLang="zh-CN" sz="2400" i="1" dirty="0" smtClean="0">
                        <a:solidFill>
                          <a:srgbClr val="7030A0"/>
                        </a:solidFill>
                        <a:latin typeface="Cambria Math" panose="02040503050406030204" pitchFamily="18" charset="0"/>
                      </a:rPr>
                      <m:t>𝑆</m:t>
                    </m:r>
                    <m:r>
                      <a:rPr lang="en-AU" altLang="zh-CN" sz="2400" i="1" dirty="0" smtClean="0">
                        <a:latin typeface="Cambria Math" panose="02040503050406030204" pitchFamily="18" charset="0"/>
                      </a:rPr>
                      <m:t>) </m:t>
                    </m:r>
                  </m:oMath>
                </a14:m>
                <a:r>
                  <a:rPr lang="en-AU" altLang="zh-CN" sz="2400" dirty="0"/>
                  <a:t>,</a:t>
                </a:r>
                <a:r>
                  <a:rPr lang="zh-CN" altLang="en-US" sz="2400" dirty="0"/>
                  <a:t>构造</a:t>
                </a:r>
                <a:r>
                  <a:rPr lang="en-AU" altLang="zh-CN" sz="2400" dirty="0">
                    <a:latin typeface="Times New Roman" panose="02020603050405020304" pitchFamily="18" charset="0"/>
                    <a:cs typeface="Times New Roman" panose="02020603050405020304" pitchFamily="18" charset="0"/>
                  </a:rPr>
                  <a:t>PDA</a:t>
                </a:r>
              </a:p>
              <a:p>
                <a:pPr marL="0" indent="0" algn="ctr">
                  <a:buNone/>
                </a:pPr>
                <a14:m>
                  <m:oMath xmlns:m="http://schemas.openxmlformats.org/officeDocument/2006/math">
                    <m:sSub>
                      <m:sSubPr>
                        <m:ctrlPr>
                          <a:rPr lang="en-AU" altLang="zh-CN" sz="2400" b="0" i="1" dirty="0" smtClean="0">
                            <a:latin typeface="Cambria Math" panose="02040503050406030204" pitchFamily="18" charset="0"/>
                          </a:rPr>
                        </m:ctrlPr>
                      </m:sSubPr>
                      <m:e>
                        <m:r>
                          <a:rPr lang="en-AU" altLang="zh-CN" sz="2400" b="0" i="1" dirty="0" smtClean="0">
                            <a:latin typeface="Cambria Math" panose="02040503050406030204" pitchFamily="18" charset="0"/>
                          </a:rPr>
                          <m:t>𝑃</m:t>
                        </m:r>
                      </m:e>
                      <m:sub>
                        <m:r>
                          <a:rPr lang="en-AU" altLang="zh-CN" sz="2400" b="0" i="1" dirty="0" smtClean="0">
                            <a:latin typeface="Cambria Math" panose="02040503050406030204" pitchFamily="18" charset="0"/>
                          </a:rPr>
                          <m:t>𝑁</m:t>
                        </m:r>
                      </m:sub>
                    </m:sSub>
                    <m:r>
                      <a:rPr lang="en-AU" altLang="zh-CN" sz="2400" i="1" dirty="0" smtClean="0">
                        <a:latin typeface="Cambria Math" panose="02040503050406030204" pitchFamily="18" charset="0"/>
                      </a:rPr>
                      <m:t>=({</m:t>
                    </m:r>
                    <m:r>
                      <a:rPr lang="en-AU" altLang="zh-CN" sz="2400" i="1" dirty="0" smtClean="0">
                        <a:latin typeface="Cambria Math" panose="02040503050406030204" pitchFamily="18" charset="0"/>
                      </a:rPr>
                      <m:t>𝑞</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𝑇</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𝑉</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𝑇</m:t>
                    </m:r>
                    <m:r>
                      <a:rPr lang="en-AU" altLang="zh-CN" sz="2400" i="1" dirty="0" smtClean="0">
                        <a:latin typeface="Cambria Math" panose="02040503050406030204" pitchFamily="18" charset="0"/>
                      </a:rPr>
                      <m:t>, </m:t>
                    </m:r>
                    <m:r>
                      <a:rPr lang="el-GR" altLang="zh-CN" sz="2400" i="1" dirty="0" smtClean="0">
                        <a:latin typeface="Cambria Math" panose="02040503050406030204" pitchFamily="18" charset="0"/>
                      </a:rPr>
                      <m:t>𝛿</m:t>
                    </m:r>
                    <m:r>
                      <a:rPr lang="el-GR" altLang="zh-CN" sz="2400" i="1" dirty="0" smtClean="0">
                        <a:latin typeface="Cambria Math" panose="02040503050406030204" pitchFamily="18" charset="0"/>
                      </a:rPr>
                      <m:t>, </m:t>
                    </m:r>
                    <m:r>
                      <a:rPr lang="en-AU" altLang="zh-CN" sz="2400" i="1" dirty="0" smtClean="0">
                        <a:latin typeface="Cambria Math" panose="02040503050406030204" pitchFamily="18" charset="0"/>
                      </a:rPr>
                      <m:t>𝑞</m:t>
                    </m:r>
                    <m:r>
                      <a:rPr lang="en-AU" altLang="zh-CN" sz="2400" i="1" dirty="0" smtClean="0">
                        <a:latin typeface="Cambria Math" panose="02040503050406030204" pitchFamily="18" charset="0"/>
                      </a:rPr>
                      <m:t>, </m:t>
                    </m:r>
                    <m:r>
                      <a:rPr lang="en-AU" altLang="zh-CN" sz="2400" i="1" dirty="0" smtClean="0">
                        <a:solidFill>
                          <a:srgbClr val="7030A0"/>
                        </a:solidFill>
                        <a:latin typeface="Cambria Math" panose="02040503050406030204" pitchFamily="18" charset="0"/>
                      </a:rPr>
                      <m:t>𝑆</m:t>
                    </m:r>
                    <m:r>
                      <a:rPr lang="en-AU" altLang="zh-CN" sz="2400" i="1" dirty="0" smtClean="0">
                        <a:latin typeface="Cambria Math" panose="02040503050406030204" pitchFamily="18" charset="0"/>
                      </a:rPr>
                      <m:t>, ∅)</m:t>
                    </m:r>
                  </m:oMath>
                </a14:m>
                <a:r>
                  <a:rPr lang="en-AU" sz="2400" dirty="0"/>
                  <a:t>,</a:t>
                </a:r>
              </a:p>
              <a:p>
                <a:r>
                  <a:rPr lang="zh-CN" altLang="en-US" sz="2400" dirty="0"/>
                  <a:t>其中</a:t>
                </a:r>
                <a14:m>
                  <m:oMath xmlns:m="http://schemas.openxmlformats.org/officeDocument/2006/math">
                    <m:r>
                      <a:rPr lang="el-GR" altLang="zh-CN" sz="2400" i="1" dirty="0" smtClean="0">
                        <a:latin typeface="Cambria Math" panose="02040503050406030204" pitchFamily="18" charset="0"/>
                      </a:rPr>
                      <m:t>𝛿</m:t>
                    </m:r>
                  </m:oMath>
                </a14:m>
                <a:r>
                  <a:rPr kumimoji="0"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kumimoji="0"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400" dirty="0">
                    <a:cs typeface="Times New Roman" panose="02020603050405020304" pitchFamily="18" charset="0"/>
                  </a:rPr>
                  <a:t>对每个变元</a:t>
                </a:r>
                <a14:m>
                  <m:oMath xmlns:m="http://schemas.openxmlformats.org/officeDocument/2006/math">
                    <m:r>
                      <a:rPr kumimoji="0" lang="en-AU" altLang="zh-CN" sz="2400" b="0" i="1" smtClean="0">
                        <a:latin typeface="Cambria Math" panose="02040503050406030204" pitchFamily="18" charset="0"/>
                        <a:cs typeface="Times New Roman" panose="02020603050405020304" pitchFamily="18" charset="0"/>
                      </a:rPr>
                      <m:t>𝐴</m:t>
                    </m:r>
                  </m:oMath>
                </a14:m>
                <a:r>
                  <a:rPr kumimoji="0" lang="en-AU" altLang="zh-CN" sz="2400" dirty="0">
                    <a:cs typeface="Times New Roman" panose="02020603050405020304" pitchFamily="18" charset="0"/>
                  </a:rPr>
                  <a:t>: (</a:t>
                </a:r>
                <a:r>
                  <a:rPr kumimoji="0" lang="zh-CN" altLang="en-US" sz="2400" dirty="0">
                    <a:cs typeface="Times New Roman" panose="02020603050405020304" pitchFamily="18" charset="0"/>
                  </a:rPr>
                  <a:t>输入空串，压入产生式）</a:t>
                </a:r>
                <a:endParaRPr kumimoji="0" lang="en-US" altLang="zh-CN" sz="2400" dirty="0">
                  <a:cs typeface="Times New Roman" panose="02020603050405020304" pitchFamily="18" charset="0"/>
                </a:endParaRPr>
              </a:p>
              <a:p>
                <a:pPr marL="0" lvl="1" indent="0">
                  <a:buNone/>
                  <a:defRPr/>
                </a:pP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a:t>
                </a:r>
                <a:endParaRPr kumimoji="0" lang="en-AU" altLang="zh-CN" dirty="0">
                  <a:latin typeface="Times New Roman" panose="02020603050405020304" pitchFamily="18" charset="0"/>
                  <a:ea typeface="宋体" panose="02010600030101010101" pitchFamily="2" charset="-122"/>
                  <a:cs typeface="Times New Roman" panose="02020603050405020304" pitchFamily="18" charset="0"/>
                </a:endParaRPr>
              </a:p>
              <a:p>
                <a:pPr marL="0" lvl="1" indent="0">
                  <a:buNone/>
                  <a:defRPr/>
                </a:pPr>
                <a:endParaRPr lang="en-AU" altLang="zh-CN" dirty="0">
                  <a:latin typeface="Times New Roman" panose="02020603050405020304" pitchFamily="18" charset="0"/>
                  <a:ea typeface="宋体" panose="02010600030101010101" pitchFamily="2" charset="-122"/>
                  <a:cs typeface="Times New Roman" panose="02020603050405020304" pitchFamily="18" charset="0"/>
                </a:endParaRPr>
              </a:p>
              <a:p>
                <a:pPr marL="0" lvl="1" indent="0">
                  <a:buNone/>
                  <a:defRPr/>
                </a:pPr>
                <a:endParaRPr lang="en-AU" altLang="zh-CN" dirty="0">
                  <a:latin typeface="Times New Roman" panose="02020603050405020304" pitchFamily="18" charset="0"/>
                  <a:ea typeface="宋体" panose="02010600030101010101" pitchFamily="2" charset="-122"/>
                  <a:cs typeface="Times New Roman" panose="02020603050405020304" pitchFamily="18" charset="0"/>
                </a:endParaRPr>
              </a:p>
              <a:p>
                <a:pPr marL="0" lvl="1" indent="0">
                  <a:buNone/>
                  <a:defRPr/>
                </a:pPr>
                <a:r>
                  <a:rPr kumimoji="0" lang="zh-CN" altLang="en-US" dirty="0">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dirty="0">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dirty="0">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dirty="0">
                    <a:cs typeface="Times New Roman" panose="02020603050405020304" pitchFamily="18" charset="0"/>
                  </a:rPr>
                  <a:t>对每个终结符</a:t>
                </a:r>
                <a14:m>
                  <m:oMath xmlns:m="http://schemas.openxmlformats.org/officeDocument/2006/math">
                    <m:r>
                      <a:rPr kumimoji="0" lang="en-AU" altLang="zh-CN" b="0" i="1" smtClean="0">
                        <a:latin typeface="Cambria Math" panose="02040503050406030204" pitchFamily="18" charset="0"/>
                        <a:ea typeface="宋体" panose="02010600030101010101" pitchFamily="2" charset="-122"/>
                        <a:cs typeface="Times New Roman" panose="02020603050405020304" pitchFamily="18" charset="0"/>
                      </a:rPr>
                      <m:t>𝑎</m:t>
                    </m:r>
                  </m:oMath>
                </a14:m>
                <a:r>
                  <a:rPr kumimoji="0"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AU" altLang="zh-CN" dirty="0">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dirty="0">
                    <a:cs typeface="Times New Roman" panose="02020603050405020304" pitchFamily="18" charset="0"/>
                  </a:rPr>
                  <a:t>输入字符</a:t>
                </a:r>
                <a14:m>
                  <m:oMath xmlns:m="http://schemas.openxmlformats.org/officeDocument/2006/math">
                    <m:r>
                      <a:rPr lang="en-AU" altLang="zh-CN" i="1">
                        <a:latin typeface="Cambria Math" panose="02040503050406030204" pitchFamily="18" charset="0"/>
                        <a:ea typeface="宋体" panose="02010600030101010101" pitchFamily="2" charset="-122"/>
                        <a:cs typeface="Times New Roman" panose="02020603050405020304" pitchFamily="18" charset="0"/>
                      </a:rPr>
                      <m:t>𝑎</m:t>
                    </m:r>
                    <m:r>
                      <a:rPr lang="en-AU" altLang="zh-CN" i="1">
                        <a:latin typeface="Cambria Math" panose="02040503050406030204" pitchFamily="18" charset="0"/>
                        <a:ea typeface="宋体" panose="02010600030101010101" pitchFamily="2" charset="-122"/>
                        <a:cs typeface="Times New Roman" panose="02020603050405020304" pitchFamily="18" charset="0"/>
                      </a:rPr>
                      <m:t> </m:t>
                    </m:r>
                  </m:oMath>
                </a14:m>
                <a:r>
                  <a:rPr kumimoji="0" lang="zh-CN" altLang="en-US" dirty="0">
                    <a:cs typeface="Times New Roman" panose="02020603050405020304" pitchFamily="18" charset="0"/>
                  </a:rPr>
                  <a:t>，弹出字符</a:t>
                </a:r>
                <a14:m>
                  <m:oMath xmlns:m="http://schemas.openxmlformats.org/officeDocument/2006/math">
                    <m:r>
                      <a:rPr lang="en-AU" altLang="zh-CN" i="1">
                        <a:latin typeface="Cambria Math" panose="02040503050406030204" pitchFamily="18" charset="0"/>
                        <a:ea typeface="宋体" panose="02010600030101010101" pitchFamily="2" charset="-122"/>
                        <a:cs typeface="Times New Roman" panose="02020603050405020304" pitchFamily="18" charset="0"/>
                      </a:rPr>
                      <m:t>𝑎</m:t>
                    </m:r>
                  </m:oMath>
                </a14:m>
                <a:r>
                  <a:rPr kumimoji="0" lang="en-US" altLang="zh-CN" dirty="0">
                    <a:cs typeface="Times New Roman" panose="02020603050405020304" pitchFamily="18" charset="0"/>
                  </a:rPr>
                  <a:t>)</a:t>
                </a:r>
              </a:p>
              <a:p>
                <a:pPr marL="0" lvl="1" indent="0">
                  <a:buNone/>
                  <a:defRPr/>
                </a:pPr>
                <a:r>
                  <a:rPr kumimoji="0"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l-GR" altLang="zh-CN" sz="2000" dirty="0"/>
                  <a:t> </a:t>
                </a:r>
                <a:endParaRPr lang="en-AU" altLang="zh-CN" sz="2000" dirty="0"/>
              </a:p>
              <a:p>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17600"/>
                <a:ext cx="8229600" cy="4525963"/>
              </a:xfrm>
              <a:blipFill rotWithShape="1">
                <a:blip r:embed="rId2"/>
                <a:stretch>
                  <a:fillRect b="-1186"/>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36</a:t>
            </a:fld>
            <a:endParaRPr lang="en-AU"/>
          </a:p>
        </p:txBody>
      </p:sp>
      <p:grpSp>
        <p:nvGrpSpPr>
          <p:cNvPr id="5" name="Group 20"/>
          <p:cNvGrpSpPr/>
          <p:nvPr/>
        </p:nvGrpSpPr>
        <p:grpSpPr bwMode="auto">
          <a:xfrm>
            <a:off x="1522427" y="3100709"/>
            <a:ext cx="1023037" cy="1217345"/>
            <a:chOff x="155171" y="3659023"/>
            <a:chExt cx="1023037" cy="1217777"/>
          </a:xfrm>
        </p:grpSpPr>
        <p:cxnSp>
          <p:nvCxnSpPr>
            <p:cNvPr id="6" name="Straight Connector 5"/>
            <p:cNvCxnSpPr>
              <a:cxnSpLocks noChangeShapeType="1"/>
            </p:cNvCxnSpPr>
            <p:nvPr/>
          </p:nvCxnSpPr>
          <p:spPr bwMode="auto">
            <a:xfrm rot="5400000">
              <a:off x="266700" y="4381500"/>
              <a:ext cx="685800" cy="0"/>
            </a:xfrm>
            <a:prstGeom prst="line">
              <a:avLst/>
            </a:prstGeom>
            <a:noFill/>
            <a:ln w="9525" algn="ctr">
              <a:solidFill>
                <a:schemeClr val="tx1"/>
              </a:solidFill>
              <a:round/>
            </a:ln>
          </p:spPr>
        </p:cxnSp>
        <p:cxnSp>
          <p:nvCxnSpPr>
            <p:cNvPr id="7" name="Straight Connector 7"/>
            <p:cNvCxnSpPr>
              <a:cxnSpLocks noChangeShapeType="1"/>
            </p:cNvCxnSpPr>
            <p:nvPr/>
          </p:nvCxnSpPr>
          <p:spPr bwMode="auto">
            <a:xfrm>
              <a:off x="609600" y="4724400"/>
              <a:ext cx="304800" cy="0"/>
            </a:xfrm>
            <a:prstGeom prst="line">
              <a:avLst/>
            </a:prstGeom>
            <a:noFill/>
            <a:ln w="9525" algn="ctr">
              <a:solidFill>
                <a:schemeClr val="tx1"/>
              </a:solidFill>
              <a:round/>
            </a:ln>
          </p:spPr>
        </p:cxnSp>
        <p:cxnSp>
          <p:nvCxnSpPr>
            <p:cNvPr id="8" name="Straight Connector 9"/>
            <p:cNvCxnSpPr>
              <a:cxnSpLocks noChangeShapeType="1"/>
            </p:cNvCxnSpPr>
            <p:nvPr/>
          </p:nvCxnSpPr>
          <p:spPr bwMode="auto">
            <a:xfrm rot="5400000" flipH="1" flipV="1">
              <a:off x="571500" y="4381500"/>
              <a:ext cx="685800" cy="0"/>
            </a:xfrm>
            <a:prstGeom prst="line">
              <a:avLst/>
            </a:prstGeom>
            <a:noFill/>
            <a:ln w="9525" algn="ctr">
              <a:solidFill>
                <a:schemeClr val="tx1"/>
              </a:solidFill>
              <a:round/>
            </a:ln>
          </p:spPr>
        </p:cxnSp>
        <p:cxnSp>
          <p:nvCxnSpPr>
            <p:cNvPr id="9" name="Straight Connector 11"/>
            <p:cNvCxnSpPr>
              <a:cxnSpLocks noChangeShapeType="1"/>
            </p:cNvCxnSpPr>
            <p:nvPr/>
          </p:nvCxnSpPr>
          <p:spPr bwMode="auto">
            <a:xfrm>
              <a:off x="609600" y="4495800"/>
              <a:ext cx="304800" cy="0"/>
            </a:xfrm>
            <a:prstGeom prst="line">
              <a:avLst/>
            </a:prstGeom>
            <a:noFill/>
            <a:ln w="9525" algn="ctr">
              <a:solidFill>
                <a:schemeClr val="tx1"/>
              </a:solidFill>
              <a:round/>
            </a:ln>
          </p:spPr>
        </p:cxnSp>
        <p:sp>
          <p:nvSpPr>
            <p:cNvPr id="10" name="TextBox 12"/>
            <p:cNvSpPr txBox="1">
              <a:spLocks noChangeArrowheads="1"/>
            </p:cNvSpPr>
            <p:nvPr/>
          </p:nvSpPr>
          <p:spPr bwMode="auto">
            <a:xfrm>
              <a:off x="609600" y="4157246"/>
              <a:ext cx="320922" cy="338554"/>
            </a:xfrm>
            <a:prstGeom prst="rect">
              <a:avLst/>
            </a:prstGeom>
            <a:noFill/>
            <a:ln w="9525">
              <a:noFill/>
              <a:miter lim="800000"/>
            </a:ln>
          </p:spPr>
          <p:txBody>
            <a:bodyPr wrap="none">
              <a:spAutoFit/>
            </a:bodyPr>
            <a:lstStyle/>
            <a:p>
              <a:r>
                <a:rPr lang="en-US" sz="1600">
                  <a:solidFill>
                    <a:srgbClr val="FF0000"/>
                  </a:solidFill>
                </a:rPr>
                <a:t>A</a:t>
              </a:r>
            </a:p>
          </p:txBody>
        </p:sp>
        <p:cxnSp>
          <p:nvCxnSpPr>
            <p:cNvPr id="11" name="Straight Connector 15"/>
            <p:cNvCxnSpPr>
              <a:cxnSpLocks noChangeShapeType="1"/>
            </p:cNvCxnSpPr>
            <p:nvPr/>
          </p:nvCxnSpPr>
          <p:spPr bwMode="auto">
            <a:xfrm>
              <a:off x="609600" y="4191000"/>
              <a:ext cx="304800" cy="0"/>
            </a:xfrm>
            <a:prstGeom prst="line">
              <a:avLst/>
            </a:prstGeom>
            <a:noFill/>
            <a:ln w="9525" algn="ctr">
              <a:solidFill>
                <a:schemeClr val="tx1"/>
              </a:solidFill>
              <a:round/>
            </a:ln>
          </p:spPr>
        </p:cxnSp>
        <p:cxnSp>
          <p:nvCxnSpPr>
            <p:cNvPr id="12" name="Straight Arrow Connector 17"/>
            <p:cNvCxnSpPr>
              <a:cxnSpLocks noChangeShapeType="1"/>
              <a:endCxn id="10" idx="1"/>
            </p:cNvCxnSpPr>
            <p:nvPr/>
          </p:nvCxnSpPr>
          <p:spPr bwMode="auto">
            <a:xfrm flipV="1">
              <a:off x="381000" y="4326523"/>
              <a:ext cx="228600" cy="16877"/>
            </a:xfrm>
            <a:prstGeom prst="straightConnector1">
              <a:avLst/>
            </a:prstGeom>
            <a:noFill/>
            <a:ln w="9525" algn="ctr">
              <a:solidFill>
                <a:schemeClr val="tx1"/>
              </a:solidFill>
              <a:round/>
              <a:tailEnd type="arrow" w="med" len="med"/>
            </a:ln>
          </p:spPr>
        </p:cxnSp>
        <p:sp>
          <p:nvSpPr>
            <p:cNvPr id="13" name="TextBox 18"/>
            <p:cNvSpPr txBox="1">
              <a:spLocks noChangeArrowheads="1"/>
            </p:cNvSpPr>
            <p:nvPr/>
          </p:nvSpPr>
          <p:spPr bwMode="auto">
            <a:xfrm>
              <a:off x="155171" y="3659023"/>
              <a:ext cx="1023037" cy="400252"/>
            </a:xfrm>
            <a:prstGeom prst="rect">
              <a:avLst/>
            </a:prstGeom>
            <a:noFill/>
            <a:ln w="9525">
              <a:noFill/>
              <a:miter lim="800000"/>
            </a:ln>
          </p:spPr>
          <p:txBody>
            <a:bodyPr wrap="none">
              <a:spAutoFit/>
            </a:bodyPr>
            <a:lstStyle/>
            <a:p>
              <a:r>
                <a:rPr lang="zh-CN" altLang="en-US" sz="2000" u="sng" dirty="0">
                  <a:solidFill>
                    <a:srgbClr val="FF0000"/>
                  </a:solidFill>
                </a:rPr>
                <a:t>变化前</a:t>
              </a:r>
              <a:r>
                <a:rPr lang="en-US" sz="2000" u="sng" dirty="0">
                  <a:solidFill>
                    <a:srgbClr val="FF0000"/>
                  </a:solidFill>
                </a:rPr>
                <a:t>:</a:t>
              </a:r>
            </a:p>
          </p:txBody>
        </p:sp>
        <p:sp>
          <p:nvSpPr>
            <p:cNvPr id="14" name="TextBox 19"/>
            <p:cNvSpPr txBox="1">
              <a:spLocks noChangeArrowheads="1"/>
            </p:cNvSpPr>
            <p:nvPr/>
          </p:nvSpPr>
          <p:spPr bwMode="auto">
            <a:xfrm rot="5400000">
              <a:off x="646172" y="4456172"/>
              <a:ext cx="441146" cy="400110"/>
            </a:xfrm>
            <a:prstGeom prst="rect">
              <a:avLst/>
            </a:prstGeom>
            <a:noFill/>
            <a:ln w="9525">
              <a:noFill/>
              <a:miter lim="800000"/>
            </a:ln>
          </p:spPr>
          <p:txBody>
            <a:bodyPr wrap="none">
              <a:spAutoFit/>
            </a:bodyPr>
            <a:lstStyle/>
            <a:p>
              <a:r>
                <a:rPr lang="en-US" dirty="0">
                  <a:solidFill>
                    <a:srgbClr val="FF0000"/>
                  </a:solidFill>
                </a:rPr>
                <a:t>…</a:t>
              </a:r>
            </a:p>
          </p:txBody>
        </p:sp>
      </p:grpSp>
      <p:grpSp>
        <p:nvGrpSpPr>
          <p:cNvPr id="15" name="Group 21"/>
          <p:cNvGrpSpPr/>
          <p:nvPr/>
        </p:nvGrpSpPr>
        <p:grpSpPr bwMode="auto">
          <a:xfrm>
            <a:off x="1709656" y="4905382"/>
            <a:ext cx="1023037" cy="1254885"/>
            <a:chOff x="155171" y="3621471"/>
            <a:chExt cx="1023037" cy="1255329"/>
          </a:xfrm>
        </p:grpSpPr>
        <p:cxnSp>
          <p:nvCxnSpPr>
            <p:cNvPr id="16" name="Straight Connector 22"/>
            <p:cNvCxnSpPr>
              <a:cxnSpLocks noChangeShapeType="1"/>
            </p:cNvCxnSpPr>
            <p:nvPr/>
          </p:nvCxnSpPr>
          <p:spPr bwMode="auto">
            <a:xfrm rot="5400000">
              <a:off x="266700" y="4381500"/>
              <a:ext cx="685800" cy="0"/>
            </a:xfrm>
            <a:prstGeom prst="line">
              <a:avLst/>
            </a:prstGeom>
            <a:noFill/>
            <a:ln w="9525" algn="ctr">
              <a:solidFill>
                <a:schemeClr val="tx1"/>
              </a:solidFill>
              <a:round/>
            </a:ln>
          </p:spPr>
        </p:cxnSp>
        <p:cxnSp>
          <p:nvCxnSpPr>
            <p:cNvPr id="17" name="Straight Connector 23"/>
            <p:cNvCxnSpPr>
              <a:cxnSpLocks noChangeShapeType="1"/>
            </p:cNvCxnSpPr>
            <p:nvPr/>
          </p:nvCxnSpPr>
          <p:spPr bwMode="auto">
            <a:xfrm>
              <a:off x="609600" y="4724400"/>
              <a:ext cx="304800" cy="0"/>
            </a:xfrm>
            <a:prstGeom prst="line">
              <a:avLst/>
            </a:prstGeom>
            <a:noFill/>
            <a:ln w="9525" algn="ctr">
              <a:solidFill>
                <a:schemeClr val="tx1"/>
              </a:solidFill>
              <a:round/>
            </a:ln>
          </p:spPr>
        </p:cxnSp>
        <p:cxnSp>
          <p:nvCxnSpPr>
            <p:cNvPr id="18" name="Straight Connector 24"/>
            <p:cNvCxnSpPr>
              <a:cxnSpLocks noChangeShapeType="1"/>
            </p:cNvCxnSpPr>
            <p:nvPr/>
          </p:nvCxnSpPr>
          <p:spPr bwMode="auto">
            <a:xfrm rot="5400000" flipH="1" flipV="1">
              <a:off x="571500" y="4381500"/>
              <a:ext cx="685800" cy="0"/>
            </a:xfrm>
            <a:prstGeom prst="line">
              <a:avLst/>
            </a:prstGeom>
            <a:noFill/>
            <a:ln w="9525" algn="ctr">
              <a:solidFill>
                <a:schemeClr val="tx1"/>
              </a:solidFill>
              <a:round/>
            </a:ln>
          </p:spPr>
        </p:cxnSp>
        <p:cxnSp>
          <p:nvCxnSpPr>
            <p:cNvPr id="19" name="Straight Connector 25"/>
            <p:cNvCxnSpPr>
              <a:cxnSpLocks noChangeShapeType="1"/>
            </p:cNvCxnSpPr>
            <p:nvPr/>
          </p:nvCxnSpPr>
          <p:spPr bwMode="auto">
            <a:xfrm>
              <a:off x="609600" y="4495800"/>
              <a:ext cx="304800" cy="0"/>
            </a:xfrm>
            <a:prstGeom prst="line">
              <a:avLst/>
            </a:prstGeom>
            <a:noFill/>
            <a:ln w="9525" algn="ctr">
              <a:solidFill>
                <a:schemeClr val="tx1"/>
              </a:solidFill>
              <a:round/>
            </a:ln>
          </p:spPr>
        </p:cxnSp>
        <p:sp>
          <p:nvSpPr>
            <p:cNvPr id="20" name="TextBox 26"/>
            <p:cNvSpPr txBox="1">
              <a:spLocks noChangeArrowheads="1"/>
            </p:cNvSpPr>
            <p:nvPr/>
          </p:nvSpPr>
          <p:spPr bwMode="auto">
            <a:xfrm>
              <a:off x="609600" y="4157246"/>
              <a:ext cx="298480" cy="338554"/>
            </a:xfrm>
            <a:prstGeom prst="rect">
              <a:avLst/>
            </a:prstGeom>
            <a:noFill/>
            <a:ln w="9525">
              <a:noFill/>
              <a:miter lim="800000"/>
            </a:ln>
          </p:spPr>
          <p:txBody>
            <a:bodyPr wrap="none">
              <a:spAutoFit/>
            </a:bodyPr>
            <a:lstStyle/>
            <a:p>
              <a:r>
                <a:rPr lang="en-US" sz="1600">
                  <a:solidFill>
                    <a:srgbClr val="FF0000"/>
                  </a:solidFill>
                </a:rPr>
                <a:t>a</a:t>
              </a:r>
            </a:p>
          </p:txBody>
        </p:sp>
        <p:cxnSp>
          <p:nvCxnSpPr>
            <p:cNvPr id="21" name="Straight Connector 27"/>
            <p:cNvCxnSpPr>
              <a:cxnSpLocks noChangeShapeType="1"/>
            </p:cNvCxnSpPr>
            <p:nvPr/>
          </p:nvCxnSpPr>
          <p:spPr bwMode="auto">
            <a:xfrm>
              <a:off x="609600" y="4191000"/>
              <a:ext cx="304800" cy="0"/>
            </a:xfrm>
            <a:prstGeom prst="line">
              <a:avLst/>
            </a:prstGeom>
            <a:noFill/>
            <a:ln w="9525" algn="ctr">
              <a:solidFill>
                <a:schemeClr val="tx1"/>
              </a:solidFill>
              <a:round/>
            </a:ln>
          </p:spPr>
        </p:cxnSp>
        <p:cxnSp>
          <p:nvCxnSpPr>
            <p:cNvPr id="22" name="Straight Arrow Connector 28"/>
            <p:cNvCxnSpPr>
              <a:cxnSpLocks noChangeShapeType="1"/>
              <a:endCxn id="20" idx="1"/>
            </p:cNvCxnSpPr>
            <p:nvPr/>
          </p:nvCxnSpPr>
          <p:spPr bwMode="auto">
            <a:xfrm flipV="1">
              <a:off x="381000" y="4326523"/>
              <a:ext cx="228600" cy="16878"/>
            </a:xfrm>
            <a:prstGeom prst="straightConnector1">
              <a:avLst/>
            </a:prstGeom>
            <a:noFill/>
            <a:ln w="9525" algn="ctr">
              <a:solidFill>
                <a:schemeClr val="tx1"/>
              </a:solidFill>
              <a:round/>
              <a:tailEnd type="arrow" w="med" len="med"/>
            </a:ln>
          </p:spPr>
        </p:cxnSp>
        <p:sp>
          <p:nvSpPr>
            <p:cNvPr id="23" name="TextBox 29"/>
            <p:cNvSpPr txBox="1">
              <a:spLocks noChangeArrowheads="1"/>
            </p:cNvSpPr>
            <p:nvPr/>
          </p:nvSpPr>
          <p:spPr bwMode="auto">
            <a:xfrm>
              <a:off x="155171" y="3621471"/>
              <a:ext cx="1023037" cy="400251"/>
            </a:xfrm>
            <a:prstGeom prst="rect">
              <a:avLst/>
            </a:prstGeom>
            <a:noFill/>
            <a:ln w="9525">
              <a:noFill/>
              <a:miter lim="800000"/>
            </a:ln>
          </p:spPr>
          <p:txBody>
            <a:bodyPr wrap="none">
              <a:spAutoFit/>
            </a:bodyPr>
            <a:lstStyle/>
            <a:p>
              <a:r>
                <a:rPr lang="zh-CN" altLang="en-US" sz="2000" u="sng" dirty="0">
                  <a:solidFill>
                    <a:srgbClr val="FF0000"/>
                  </a:solidFill>
                </a:rPr>
                <a:t>变化前</a:t>
              </a:r>
              <a:r>
                <a:rPr lang="en-US" sz="2000" u="sng" dirty="0">
                  <a:solidFill>
                    <a:srgbClr val="FF0000"/>
                  </a:solidFill>
                </a:rPr>
                <a:t>:</a:t>
              </a:r>
            </a:p>
          </p:txBody>
        </p:sp>
        <p:sp>
          <p:nvSpPr>
            <p:cNvPr id="24" name="TextBox 30"/>
            <p:cNvSpPr txBox="1">
              <a:spLocks noChangeArrowheads="1"/>
            </p:cNvSpPr>
            <p:nvPr/>
          </p:nvSpPr>
          <p:spPr bwMode="auto">
            <a:xfrm rot="5400000">
              <a:off x="646172" y="4456172"/>
              <a:ext cx="441146" cy="400110"/>
            </a:xfrm>
            <a:prstGeom prst="rect">
              <a:avLst/>
            </a:prstGeom>
            <a:noFill/>
            <a:ln w="9525">
              <a:noFill/>
              <a:miter lim="800000"/>
            </a:ln>
          </p:spPr>
          <p:txBody>
            <a:bodyPr wrap="none">
              <a:spAutoFit/>
            </a:bodyPr>
            <a:lstStyle/>
            <a:p>
              <a:r>
                <a:rPr lang="en-US">
                  <a:solidFill>
                    <a:srgbClr val="FF0000"/>
                  </a:solidFill>
                </a:rPr>
                <a:t>…</a:t>
              </a:r>
            </a:p>
          </p:txBody>
        </p:sp>
      </p:grpSp>
      <p:grpSp>
        <p:nvGrpSpPr>
          <p:cNvPr id="25" name="Group 31"/>
          <p:cNvGrpSpPr/>
          <p:nvPr/>
        </p:nvGrpSpPr>
        <p:grpSpPr bwMode="auto">
          <a:xfrm>
            <a:off x="6709946" y="2973569"/>
            <a:ext cx="1023037" cy="1238132"/>
            <a:chOff x="147581" y="3638229"/>
            <a:chExt cx="1023037" cy="1238571"/>
          </a:xfrm>
        </p:grpSpPr>
        <p:cxnSp>
          <p:nvCxnSpPr>
            <p:cNvPr id="26" name="Straight Connector 32"/>
            <p:cNvCxnSpPr>
              <a:cxnSpLocks noChangeShapeType="1"/>
            </p:cNvCxnSpPr>
            <p:nvPr/>
          </p:nvCxnSpPr>
          <p:spPr bwMode="auto">
            <a:xfrm rot="5400000">
              <a:off x="266700" y="4381500"/>
              <a:ext cx="685800" cy="0"/>
            </a:xfrm>
            <a:prstGeom prst="line">
              <a:avLst/>
            </a:prstGeom>
            <a:noFill/>
            <a:ln w="9525" algn="ctr">
              <a:solidFill>
                <a:schemeClr val="tx1"/>
              </a:solidFill>
              <a:round/>
            </a:ln>
          </p:spPr>
        </p:cxnSp>
        <p:cxnSp>
          <p:nvCxnSpPr>
            <p:cNvPr id="27" name="Straight Connector 33"/>
            <p:cNvCxnSpPr>
              <a:cxnSpLocks noChangeShapeType="1"/>
            </p:cNvCxnSpPr>
            <p:nvPr/>
          </p:nvCxnSpPr>
          <p:spPr bwMode="auto">
            <a:xfrm>
              <a:off x="609600" y="4724400"/>
              <a:ext cx="304800" cy="0"/>
            </a:xfrm>
            <a:prstGeom prst="line">
              <a:avLst/>
            </a:prstGeom>
            <a:noFill/>
            <a:ln w="9525" algn="ctr">
              <a:solidFill>
                <a:schemeClr val="tx1"/>
              </a:solidFill>
              <a:round/>
            </a:ln>
          </p:spPr>
        </p:cxnSp>
        <p:cxnSp>
          <p:nvCxnSpPr>
            <p:cNvPr id="28" name="Straight Connector 34"/>
            <p:cNvCxnSpPr>
              <a:cxnSpLocks noChangeShapeType="1"/>
            </p:cNvCxnSpPr>
            <p:nvPr/>
          </p:nvCxnSpPr>
          <p:spPr bwMode="auto">
            <a:xfrm rot="5400000" flipH="1" flipV="1">
              <a:off x="571500" y="4381500"/>
              <a:ext cx="685800" cy="0"/>
            </a:xfrm>
            <a:prstGeom prst="line">
              <a:avLst/>
            </a:prstGeom>
            <a:noFill/>
            <a:ln w="9525" algn="ctr">
              <a:solidFill>
                <a:schemeClr val="tx1"/>
              </a:solidFill>
              <a:round/>
            </a:ln>
          </p:spPr>
        </p:cxnSp>
        <p:cxnSp>
          <p:nvCxnSpPr>
            <p:cNvPr id="29" name="Straight Connector 35"/>
            <p:cNvCxnSpPr>
              <a:cxnSpLocks noChangeShapeType="1"/>
            </p:cNvCxnSpPr>
            <p:nvPr/>
          </p:nvCxnSpPr>
          <p:spPr bwMode="auto">
            <a:xfrm>
              <a:off x="609600" y="4495800"/>
              <a:ext cx="304800" cy="0"/>
            </a:xfrm>
            <a:prstGeom prst="line">
              <a:avLst/>
            </a:prstGeom>
            <a:noFill/>
            <a:ln w="9525" algn="ctr">
              <a:solidFill>
                <a:schemeClr val="tx1"/>
              </a:solidFill>
              <a:round/>
            </a:ln>
          </p:spPr>
        </p:cxnSp>
        <p:sp>
          <p:nvSpPr>
            <p:cNvPr id="30" name="TextBox 36"/>
            <p:cNvSpPr txBox="1">
              <a:spLocks noChangeArrowheads="1"/>
            </p:cNvSpPr>
            <p:nvPr/>
          </p:nvSpPr>
          <p:spPr bwMode="auto">
            <a:xfrm>
              <a:off x="609600" y="4157246"/>
              <a:ext cx="314510" cy="338554"/>
            </a:xfrm>
            <a:prstGeom prst="rect">
              <a:avLst/>
            </a:prstGeom>
            <a:noFill/>
            <a:ln w="9525">
              <a:noFill/>
              <a:miter lim="800000"/>
            </a:ln>
          </p:spPr>
          <p:txBody>
            <a:bodyPr wrap="none">
              <a:spAutoFit/>
            </a:bodyPr>
            <a:lstStyle/>
            <a:p>
              <a:r>
                <a:rPr lang="en-US" sz="1600" dirty="0">
                  <a:solidFill>
                    <a:srgbClr val="FF0000"/>
                  </a:solidFill>
                  <a:sym typeface="Symbol" panose="05050102010706020507" pitchFamily="18" charset="2"/>
                </a:rPr>
                <a:t></a:t>
              </a:r>
              <a:endParaRPr lang="en-US" sz="1600" dirty="0">
                <a:solidFill>
                  <a:srgbClr val="FF0000"/>
                </a:solidFill>
              </a:endParaRPr>
            </a:p>
          </p:txBody>
        </p:sp>
        <p:cxnSp>
          <p:nvCxnSpPr>
            <p:cNvPr id="31" name="Straight Connector 37"/>
            <p:cNvCxnSpPr>
              <a:cxnSpLocks noChangeShapeType="1"/>
            </p:cNvCxnSpPr>
            <p:nvPr/>
          </p:nvCxnSpPr>
          <p:spPr bwMode="auto">
            <a:xfrm>
              <a:off x="609600" y="4191000"/>
              <a:ext cx="304800" cy="0"/>
            </a:xfrm>
            <a:prstGeom prst="line">
              <a:avLst/>
            </a:prstGeom>
            <a:noFill/>
            <a:ln w="9525" algn="ctr">
              <a:solidFill>
                <a:schemeClr val="tx1"/>
              </a:solidFill>
              <a:round/>
            </a:ln>
          </p:spPr>
        </p:cxnSp>
        <p:cxnSp>
          <p:nvCxnSpPr>
            <p:cNvPr id="32" name="Straight Arrow Connector 38"/>
            <p:cNvCxnSpPr>
              <a:cxnSpLocks noChangeShapeType="1"/>
            </p:cNvCxnSpPr>
            <p:nvPr/>
          </p:nvCxnSpPr>
          <p:spPr bwMode="auto">
            <a:xfrm flipV="1">
              <a:off x="381000" y="4233446"/>
              <a:ext cx="228600" cy="16878"/>
            </a:xfrm>
            <a:prstGeom prst="straightConnector1">
              <a:avLst/>
            </a:prstGeom>
            <a:noFill/>
            <a:ln w="9525" algn="ctr">
              <a:solidFill>
                <a:schemeClr val="tx1"/>
              </a:solidFill>
              <a:round/>
              <a:tailEnd type="arrow" w="med" len="med"/>
            </a:ln>
          </p:spPr>
        </p:cxnSp>
        <p:sp>
          <p:nvSpPr>
            <p:cNvPr id="33" name="TextBox 39"/>
            <p:cNvSpPr txBox="1">
              <a:spLocks noChangeArrowheads="1"/>
            </p:cNvSpPr>
            <p:nvPr/>
          </p:nvSpPr>
          <p:spPr bwMode="auto">
            <a:xfrm>
              <a:off x="147581" y="3638229"/>
              <a:ext cx="1023037" cy="400252"/>
            </a:xfrm>
            <a:prstGeom prst="rect">
              <a:avLst/>
            </a:prstGeom>
            <a:noFill/>
            <a:ln w="9525">
              <a:noFill/>
              <a:miter lim="800000"/>
            </a:ln>
          </p:spPr>
          <p:txBody>
            <a:bodyPr wrap="none">
              <a:spAutoFit/>
            </a:bodyPr>
            <a:lstStyle/>
            <a:p>
              <a:r>
                <a:rPr lang="zh-CN" altLang="en-US" sz="2000" u="sng" dirty="0">
                  <a:solidFill>
                    <a:srgbClr val="FF0000"/>
                  </a:solidFill>
                </a:rPr>
                <a:t>变化后</a:t>
              </a:r>
              <a:r>
                <a:rPr lang="en-US" sz="2000" u="sng" dirty="0">
                  <a:solidFill>
                    <a:srgbClr val="FF0000"/>
                  </a:solidFill>
                </a:rPr>
                <a:t>:</a:t>
              </a:r>
            </a:p>
          </p:txBody>
        </p:sp>
        <p:sp>
          <p:nvSpPr>
            <p:cNvPr id="34" name="TextBox 40"/>
            <p:cNvSpPr txBox="1">
              <a:spLocks noChangeArrowheads="1"/>
            </p:cNvSpPr>
            <p:nvPr/>
          </p:nvSpPr>
          <p:spPr bwMode="auto">
            <a:xfrm rot="5400000">
              <a:off x="646172" y="4456172"/>
              <a:ext cx="441146" cy="400110"/>
            </a:xfrm>
            <a:prstGeom prst="rect">
              <a:avLst/>
            </a:prstGeom>
            <a:noFill/>
            <a:ln w="9525">
              <a:noFill/>
              <a:miter lim="800000"/>
            </a:ln>
          </p:spPr>
          <p:txBody>
            <a:bodyPr wrap="none">
              <a:spAutoFit/>
            </a:bodyPr>
            <a:lstStyle/>
            <a:p>
              <a:r>
                <a:rPr lang="en-US">
                  <a:solidFill>
                    <a:srgbClr val="FF0000"/>
                  </a:solidFill>
                </a:rPr>
                <a:t>…</a:t>
              </a:r>
            </a:p>
          </p:txBody>
        </p:sp>
      </p:grpSp>
      <p:grpSp>
        <p:nvGrpSpPr>
          <p:cNvPr id="35" name="Group 45"/>
          <p:cNvGrpSpPr/>
          <p:nvPr/>
        </p:nvGrpSpPr>
        <p:grpSpPr bwMode="auto">
          <a:xfrm>
            <a:off x="6432833" y="4903234"/>
            <a:ext cx="1023037" cy="1278281"/>
            <a:chOff x="113904" y="3598066"/>
            <a:chExt cx="1023037" cy="1278734"/>
          </a:xfrm>
        </p:grpSpPr>
        <p:cxnSp>
          <p:nvCxnSpPr>
            <p:cNvPr id="36" name="Straight Connector 46"/>
            <p:cNvCxnSpPr>
              <a:cxnSpLocks noChangeShapeType="1"/>
            </p:cNvCxnSpPr>
            <p:nvPr/>
          </p:nvCxnSpPr>
          <p:spPr bwMode="auto">
            <a:xfrm rot="5400000">
              <a:off x="266700" y="4381500"/>
              <a:ext cx="685800" cy="0"/>
            </a:xfrm>
            <a:prstGeom prst="line">
              <a:avLst/>
            </a:prstGeom>
            <a:noFill/>
            <a:ln w="9525" algn="ctr">
              <a:solidFill>
                <a:schemeClr val="tx1"/>
              </a:solidFill>
              <a:round/>
            </a:ln>
          </p:spPr>
        </p:cxnSp>
        <p:cxnSp>
          <p:nvCxnSpPr>
            <p:cNvPr id="37" name="Straight Connector 47"/>
            <p:cNvCxnSpPr>
              <a:cxnSpLocks noChangeShapeType="1"/>
            </p:cNvCxnSpPr>
            <p:nvPr/>
          </p:nvCxnSpPr>
          <p:spPr bwMode="auto">
            <a:xfrm>
              <a:off x="609600" y="4724400"/>
              <a:ext cx="304800" cy="0"/>
            </a:xfrm>
            <a:prstGeom prst="line">
              <a:avLst/>
            </a:prstGeom>
            <a:noFill/>
            <a:ln w="9525" algn="ctr">
              <a:solidFill>
                <a:schemeClr val="tx1"/>
              </a:solidFill>
              <a:round/>
            </a:ln>
          </p:spPr>
        </p:cxnSp>
        <p:cxnSp>
          <p:nvCxnSpPr>
            <p:cNvPr id="38" name="Straight Connector 48"/>
            <p:cNvCxnSpPr>
              <a:cxnSpLocks noChangeShapeType="1"/>
            </p:cNvCxnSpPr>
            <p:nvPr/>
          </p:nvCxnSpPr>
          <p:spPr bwMode="auto">
            <a:xfrm rot="5400000" flipH="1" flipV="1">
              <a:off x="571500" y="4381500"/>
              <a:ext cx="685800" cy="0"/>
            </a:xfrm>
            <a:prstGeom prst="line">
              <a:avLst/>
            </a:prstGeom>
            <a:noFill/>
            <a:ln w="9525" algn="ctr">
              <a:solidFill>
                <a:schemeClr val="tx1"/>
              </a:solidFill>
              <a:round/>
            </a:ln>
          </p:spPr>
        </p:cxnSp>
        <p:cxnSp>
          <p:nvCxnSpPr>
            <p:cNvPr id="39" name="Straight Connector 49"/>
            <p:cNvCxnSpPr>
              <a:cxnSpLocks noChangeShapeType="1"/>
            </p:cNvCxnSpPr>
            <p:nvPr/>
          </p:nvCxnSpPr>
          <p:spPr bwMode="auto">
            <a:xfrm>
              <a:off x="609600" y="4495800"/>
              <a:ext cx="304800" cy="0"/>
            </a:xfrm>
            <a:prstGeom prst="line">
              <a:avLst/>
            </a:prstGeom>
            <a:noFill/>
            <a:ln w="9525" algn="ctr">
              <a:solidFill>
                <a:schemeClr val="tx1"/>
              </a:solidFill>
              <a:round/>
            </a:ln>
          </p:spPr>
        </p:cxnSp>
        <p:sp>
          <p:nvSpPr>
            <p:cNvPr id="40" name="TextBox 50"/>
            <p:cNvSpPr txBox="1">
              <a:spLocks noChangeArrowheads="1"/>
            </p:cNvSpPr>
            <p:nvPr/>
          </p:nvSpPr>
          <p:spPr bwMode="auto">
            <a:xfrm>
              <a:off x="609600" y="4157246"/>
              <a:ext cx="298480" cy="338674"/>
            </a:xfrm>
            <a:prstGeom prst="rect">
              <a:avLst/>
            </a:prstGeom>
            <a:noFill/>
            <a:ln w="9525">
              <a:noFill/>
              <a:miter lim="800000"/>
            </a:ln>
          </p:spPr>
          <p:txBody>
            <a:bodyPr wrap="none">
              <a:spAutoFit/>
            </a:bodyPr>
            <a:lstStyle/>
            <a:p>
              <a:r>
                <a:rPr lang="en-US" sz="1600">
                  <a:solidFill>
                    <a:srgbClr val="FF0000"/>
                  </a:solidFill>
                  <a:sym typeface="Symbol" panose="05050102010706020507" pitchFamily="18" charset="2"/>
                </a:rPr>
                <a:t>a</a:t>
              </a:r>
              <a:endParaRPr lang="en-US" sz="1600">
                <a:solidFill>
                  <a:srgbClr val="FF0000"/>
                </a:solidFill>
              </a:endParaRPr>
            </a:p>
          </p:txBody>
        </p:sp>
        <p:cxnSp>
          <p:nvCxnSpPr>
            <p:cNvPr id="41" name="Straight Connector 51"/>
            <p:cNvCxnSpPr>
              <a:cxnSpLocks noChangeShapeType="1"/>
            </p:cNvCxnSpPr>
            <p:nvPr/>
          </p:nvCxnSpPr>
          <p:spPr bwMode="auto">
            <a:xfrm>
              <a:off x="609600" y="4191000"/>
              <a:ext cx="304800" cy="0"/>
            </a:xfrm>
            <a:prstGeom prst="line">
              <a:avLst/>
            </a:prstGeom>
            <a:noFill/>
            <a:ln w="9525" algn="ctr">
              <a:solidFill>
                <a:schemeClr val="tx1"/>
              </a:solidFill>
              <a:round/>
            </a:ln>
          </p:spPr>
        </p:cxnSp>
        <p:cxnSp>
          <p:nvCxnSpPr>
            <p:cNvPr id="42" name="Straight Arrow Connector 52"/>
            <p:cNvCxnSpPr>
              <a:cxnSpLocks noChangeShapeType="1"/>
            </p:cNvCxnSpPr>
            <p:nvPr/>
          </p:nvCxnSpPr>
          <p:spPr bwMode="auto">
            <a:xfrm flipV="1">
              <a:off x="381000" y="4521368"/>
              <a:ext cx="228600" cy="16878"/>
            </a:xfrm>
            <a:prstGeom prst="straightConnector1">
              <a:avLst/>
            </a:prstGeom>
            <a:noFill/>
            <a:ln w="9525" algn="ctr">
              <a:solidFill>
                <a:schemeClr val="tx1"/>
              </a:solidFill>
              <a:round/>
              <a:tailEnd type="arrow" w="med" len="med"/>
            </a:ln>
          </p:spPr>
        </p:cxnSp>
        <p:sp>
          <p:nvSpPr>
            <p:cNvPr id="43" name="TextBox 53"/>
            <p:cNvSpPr txBox="1">
              <a:spLocks noChangeArrowheads="1"/>
            </p:cNvSpPr>
            <p:nvPr/>
          </p:nvSpPr>
          <p:spPr bwMode="auto">
            <a:xfrm>
              <a:off x="113904" y="3598066"/>
              <a:ext cx="1023037" cy="400252"/>
            </a:xfrm>
            <a:prstGeom prst="rect">
              <a:avLst/>
            </a:prstGeom>
            <a:noFill/>
            <a:ln w="9525">
              <a:noFill/>
              <a:miter lim="800000"/>
            </a:ln>
          </p:spPr>
          <p:txBody>
            <a:bodyPr wrap="none">
              <a:spAutoFit/>
            </a:bodyPr>
            <a:lstStyle/>
            <a:p>
              <a:r>
                <a:rPr lang="zh-CN" altLang="en-US" sz="2000" u="sng" dirty="0">
                  <a:solidFill>
                    <a:srgbClr val="FF0000"/>
                  </a:solidFill>
                </a:rPr>
                <a:t>变化后</a:t>
              </a:r>
              <a:r>
                <a:rPr lang="en-US" sz="2000" u="sng" dirty="0">
                  <a:solidFill>
                    <a:srgbClr val="FF0000"/>
                  </a:solidFill>
                </a:rPr>
                <a:t>:</a:t>
              </a:r>
            </a:p>
          </p:txBody>
        </p:sp>
        <p:sp>
          <p:nvSpPr>
            <p:cNvPr id="44" name="TextBox 54"/>
            <p:cNvSpPr txBox="1">
              <a:spLocks noChangeArrowheads="1"/>
            </p:cNvSpPr>
            <p:nvPr/>
          </p:nvSpPr>
          <p:spPr bwMode="auto">
            <a:xfrm rot="5400000">
              <a:off x="646172" y="4456172"/>
              <a:ext cx="441146" cy="400110"/>
            </a:xfrm>
            <a:prstGeom prst="rect">
              <a:avLst/>
            </a:prstGeom>
            <a:noFill/>
            <a:ln w="9525">
              <a:noFill/>
              <a:miter lim="800000"/>
            </a:ln>
          </p:spPr>
          <p:txBody>
            <a:bodyPr wrap="none">
              <a:spAutoFit/>
            </a:bodyPr>
            <a:lstStyle/>
            <a:p>
              <a:r>
                <a:rPr lang="en-US" dirty="0">
                  <a:solidFill>
                    <a:srgbClr val="FF0000"/>
                  </a:solidFill>
                </a:rPr>
                <a:t>…</a:t>
              </a:r>
            </a:p>
          </p:txBody>
        </p:sp>
      </p:grpSp>
      <p:grpSp>
        <p:nvGrpSpPr>
          <p:cNvPr id="45" name="Group 58"/>
          <p:cNvGrpSpPr/>
          <p:nvPr/>
        </p:nvGrpSpPr>
        <p:grpSpPr bwMode="auto">
          <a:xfrm>
            <a:off x="7462189" y="4863084"/>
            <a:ext cx="685800" cy="476250"/>
            <a:chOff x="8305800" y="5257800"/>
            <a:chExt cx="685800" cy="476310"/>
          </a:xfrm>
        </p:grpSpPr>
        <p:sp>
          <p:nvSpPr>
            <p:cNvPr id="46" name="TextBox 55"/>
            <p:cNvSpPr txBox="1">
              <a:spLocks noChangeArrowheads="1"/>
            </p:cNvSpPr>
            <p:nvPr/>
          </p:nvSpPr>
          <p:spPr bwMode="auto">
            <a:xfrm>
              <a:off x="8305800" y="5334000"/>
              <a:ext cx="685800" cy="400110"/>
            </a:xfrm>
            <a:prstGeom prst="rect">
              <a:avLst/>
            </a:prstGeom>
            <a:noFill/>
            <a:ln w="9525">
              <a:noFill/>
              <a:miter lim="800000"/>
            </a:ln>
          </p:spPr>
          <p:txBody>
            <a:bodyPr>
              <a:spAutoFit/>
            </a:bodyPr>
            <a:lstStyle/>
            <a:p>
              <a:r>
                <a:rPr lang="en-US" dirty="0">
                  <a:solidFill>
                    <a:srgbClr val="7030A0"/>
                  </a:solidFill>
                </a:rPr>
                <a:t>a…</a:t>
              </a:r>
            </a:p>
          </p:txBody>
        </p:sp>
        <p:cxnSp>
          <p:nvCxnSpPr>
            <p:cNvPr id="47" name="Straight Arrow Connector 57"/>
            <p:cNvCxnSpPr>
              <a:cxnSpLocks noChangeShapeType="1"/>
            </p:cNvCxnSpPr>
            <p:nvPr/>
          </p:nvCxnSpPr>
          <p:spPr bwMode="auto">
            <a:xfrm flipH="1">
              <a:off x="8534400" y="5257800"/>
              <a:ext cx="76200" cy="152400"/>
            </a:xfrm>
            <a:prstGeom prst="straightConnector1">
              <a:avLst/>
            </a:prstGeom>
            <a:noFill/>
            <a:ln w="9525" algn="ctr">
              <a:solidFill>
                <a:schemeClr val="tx1"/>
              </a:solidFill>
              <a:round/>
              <a:tailEnd type="arrow" w="med" len="med"/>
            </a:ln>
          </p:spPr>
        </p:cxnSp>
      </p:grpSp>
      <p:cxnSp>
        <p:nvCxnSpPr>
          <p:cNvPr id="48" name="Straight Connector 47"/>
          <p:cNvCxnSpPr>
            <a:cxnSpLocks noChangeShapeType="1"/>
          </p:cNvCxnSpPr>
          <p:nvPr/>
        </p:nvCxnSpPr>
        <p:spPr bwMode="auto">
          <a:xfrm flipH="1">
            <a:off x="6788769" y="5550066"/>
            <a:ext cx="609600" cy="152400"/>
          </a:xfrm>
          <a:prstGeom prst="line">
            <a:avLst/>
          </a:prstGeom>
          <a:noFill/>
          <a:ln w="9525" algn="ctr">
            <a:solidFill>
              <a:srgbClr val="FF0000"/>
            </a:solidFill>
            <a:round/>
          </a:ln>
        </p:spPr>
      </p:cxnSp>
      <p:sp>
        <p:nvSpPr>
          <p:cNvPr id="49" name="TextBox 48"/>
          <p:cNvSpPr txBox="1">
            <a:spLocks noChangeArrowheads="1"/>
          </p:cNvSpPr>
          <p:nvPr/>
        </p:nvSpPr>
        <p:spPr bwMode="auto">
          <a:xfrm>
            <a:off x="7402907" y="5323382"/>
            <a:ext cx="646331" cy="369332"/>
          </a:xfrm>
          <a:prstGeom prst="rect">
            <a:avLst/>
          </a:prstGeom>
          <a:noFill/>
          <a:ln w="9525">
            <a:noFill/>
            <a:miter lim="800000"/>
          </a:ln>
        </p:spPr>
        <p:txBody>
          <a:bodyPr wrap="none">
            <a:spAutoFit/>
          </a:bodyPr>
          <a:lstStyle/>
          <a:p>
            <a:r>
              <a:rPr lang="zh-CN" altLang="en-US" dirty="0">
                <a:solidFill>
                  <a:srgbClr val="FF0000"/>
                </a:solidFill>
              </a:rPr>
              <a:t>弹出</a:t>
            </a:r>
            <a:endParaRPr lang="en-US" dirty="0">
              <a:solidFill>
                <a:srgbClr val="FF0000"/>
              </a:solidFill>
            </a:endParaRPr>
          </a:p>
        </p:txBody>
      </p:sp>
      <mc:AlternateContent xmlns:mc="http://schemas.openxmlformats.org/markup-compatibility/2006" xmlns:a14="http://schemas.microsoft.com/office/drawing/2010/main">
        <mc:Choice Requires="a14">
          <p:sp>
            <p:nvSpPr>
              <p:cNvPr id="51" name="TextBox 50"/>
              <p:cNvSpPr txBox="1"/>
              <p:nvPr/>
            </p:nvSpPr>
            <p:spPr>
              <a:xfrm>
                <a:off x="2574009" y="3582648"/>
                <a:ext cx="4572000" cy="461665"/>
              </a:xfrm>
              <a:prstGeom prst="rect">
                <a:avLst/>
              </a:prstGeom>
              <a:noFill/>
            </p:spPr>
            <p:txBody>
              <a:bodyPr wrap="square">
                <a:spAutoFit/>
              </a:bodyPr>
              <a:lstStyle/>
              <a:p>
                <a:r>
                  <a:rPr lang="el-GR" altLang="zh-CN" sz="2400" dirty="0"/>
                  <a:t> </a:t>
                </a:r>
                <a14:m>
                  <m:oMath xmlns:m="http://schemas.openxmlformats.org/officeDocument/2006/math">
                    <m:r>
                      <a:rPr lang="el-GR" altLang="zh-CN" sz="2400" i="1" dirty="0" smtClean="0">
                        <a:latin typeface="Cambria Math" panose="02040503050406030204" pitchFamily="18" charset="0"/>
                      </a:rPr>
                      <m:t>𝛿</m:t>
                    </m:r>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rPr>
                      <m:t>𝑞</m:t>
                    </m:r>
                    <m:r>
                      <a:rPr lang="en-AU" altLang="zh-CN" sz="2400" b="0" i="1" dirty="0" smtClean="0">
                        <a:latin typeface="Cambria Math" panose="02040503050406030204" pitchFamily="18" charset="0"/>
                      </a:rPr>
                      <m:t>,</m:t>
                    </m:r>
                    <m:r>
                      <a:rPr lang="zh-CN" altLang="en-AU" sz="2400" b="0" i="1" dirty="0" smtClean="0">
                        <a:latin typeface="Cambria Math" panose="02040503050406030204" pitchFamily="18" charset="0"/>
                      </a:rPr>
                      <m:t>𝜀</m:t>
                    </m:r>
                    <m:r>
                      <a:rPr lang="en-AU" altLang="zh-CN" sz="2400" i="1" dirty="0">
                        <a:latin typeface="Cambria Math" panose="02040503050406030204" pitchFamily="18" charset="0"/>
                      </a:rPr>
                      <m:t>,</m:t>
                    </m:r>
                    <m:r>
                      <a:rPr lang="en-AU" altLang="zh-CN" sz="2400" i="1" dirty="0">
                        <a:latin typeface="Cambria Math" panose="02040503050406030204" pitchFamily="18" charset="0"/>
                      </a:rPr>
                      <m:t>𝐴</m:t>
                    </m:r>
                    <m:r>
                      <a:rPr lang="en-AU" altLang="zh-CN" sz="2400" i="1" dirty="0">
                        <a:latin typeface="Cambria Math" panose="02040503050406030204" pitchFamily="18" charset="0"/>
                      </a:rPr>
                      <m:t>)={(</m:t>
                    </m:r>
                    <m:r>
                      <a:rPr lang="en-AU" altLang="zh-CN" sz="2400" i="1" dirty="0">
                        <a:latin typeface="Cambria Math" panose="02040503050406030204" pitchFamily="18" charset="0"/>
                      </a:rPr>
                      <m:t>𝑞</m:t>
                    </m:r>
                    <m:r>
                      <a:rPr lang="en-AU" altLang="zh-CN" sz="2400" i="1" dirty="0">
                        <a:latin typeface="Cambria Math" panose="02040503050406030204" pitchFamily="18" charset="0"/>
                      </a:rPr>
                      <m:t>,</m:t>
                    </m:r>
                    <m:r>
                      <a:rPr lang="zh-CN" altLang="en-AU" sz="2400" i="1" dirty="0">
                        <a:latin typeface="Cambria Math" panose="02040503050406030204" pitchFamily="18" charset="0"/>
                        <a:ea typeface="Cambria Math" panose="02040503050406030204" pitchFamily="18" charset="0"/>
                      </a:rPr>
                      <m:t>𝛼</m:t>
                    </m:r>
                    <m:r>
                      <a:rPr lang="en-AU" altLang="zh-CN" sz="2400" i="1" dirty="0">
                        <a:latin typeface="Cambria Math" panose="02040503050406030204" pitchFamily="18" charset="0"/>
                      </a:rPr>
                      <m:t>)|</m:t>
                    </m:r>
                    <m:r>
                      <a:rPr lang="en-AU" altLang="zh-CN" sz="2400" i="1" dirty="0">
                        <a:latin typeface="Cambria Math" panose="02040503050406030204" pitchFamily="18" charset="0"/>
                      </a:rPr>
                      <m:t>𝐴</m:t>
                    </m:r>
                    <m:r>
                      <a:rPr lang="en-AU" altLang="zh-CN" sz="2400" i="1" dirty="0" smtClean="0">
                        <a:latin typeface="Cambria Math" panose="02040503050406030204" pitchFamily="18" charset="0"/>
                        <a:ea typeface="Cambria Math" panose="02040503050406030204" pitchFamily="18" charset="0"/>
                      </a:rPr>
                      <m:t>→</m:t>
                    </m:r>
                    <m:r>
                      <a:rPr lang="zh-CN" altLang="en-AU" sz="2400" i="1" dirty="0" smtClean="0">
                        <a:latin typeface="Cambria Math" panose="02040503050406030204" pitchFamily="18" charset="0"/>
                        <a:ea typeface="Cambria Math" panose="02040503050406030204" pitchFamily="18" charset="0"/>
                      </a:rPr>
                      <m:t>𝛼</m:t>
                    </m:r>
                    <m:r>
                      <a:rPr lang="zh-CN" altLang="en-US" sz="2400" i="1" dirty="0" smtClean="0">
                        <a:latin typeface="Cambria Math" panose="02040503050406030204" pitchFamily="18" charset="0"/>
                        <a:ea typeface="Cambria Math" panose="02040503050406030204" pitchFamily="18" charset="0"/>
                      </a:rPr>
                      <m:t>∈</m:t>
                    </m:r>
                    <m:r>
                      <a:rPr lang="en-AU" altLang="zh-CN" sz="2400" b="0" i="1" dirty="0" smtClean="0">
                        <a:latin typeface="Cambria Math" panose="02040503050406030204" pitchFamily="18" charset="0"/>
                        <a:ea typeface="Cambria Math" panose="02040503050406030204" pitchFamily="18" charset="0"/>
                      </a:rPr>
                      <m:t>𝑃</m:t>
                    </m:r>
                    <m:r>
                      <a:rPr lang="en-AU" altLang="zh-CN" sz="2400" i="1" dirty="0">
                        <a:latin typeface="Cambria Math" panose="02040503050406030204" pitchFamily="18" charset="0"/>
                      </a:rPr>
                      <m:t>}</m:t>
                    </m:r>
                  </m:oMath>
                </a14:m>
                <a:endParaRPr lang="en-AU" sz="2400" dirty="0"/>
              </a:p>
            </p:txBody>
          </p:sp>
        </mc:Choice>
        <mc:Fallback xmlns="">
          <p:sp>
            <p:nvSpPr>
              <p:cNvPr id="51" name="TextBox 50"/>
              <p:cNvSpPr txBox="1">
                <a:spLocks noRot="1" noChangeAspect="1" noMove="1" noResize="1" noEditPoints="1" noAdjustHandles="1" noChangeArrowheads="1" noChangeShapeType="1" noTextEdit="1"/>
              </p:cNvSpPr>
              <p:nvPr/>
            </p:nvSpPr>
            <p:spPr>
              <a:xfrm>
                <a:off x="2574009" y="3582648"/>
                <a:ext cx="4572000" cy="461665"/>
              </a:xfrm>
              <a:prstGeom prst="rect">
                <a:avLst/>
              </a:prstGeom>
              <a:blipFill rotWithShape="1">
                <a:blip r:embed="rId3"/>
                <a:stretch>
                  <a:fillRect l="-8" t="-133" r="8" b="1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2362201" y="5143473"/>
                <a:ext cx="4572000" cy="461665"/>
              </a:xfrm>
              <a:prstGeom prst="rect">
                <a:avLst/>
              </a:prstGeom>
              <a:noFill/>
            </p:spPr>
            <p:txBody>
              <a:bodyPr wrap="square">
                <a:spAutoFit/>
              </a:bodyPr>
              <a:lstStyle/>
              <a:p>
                <a:pPr marL="0" lvl="1" indent="0">
                  <a:buNone/>
                  <a:defRPr/>
                </a:pPr>
                <a14:m>
                  <m:oMathPara xmlns:m="http://schemas.openxmlformats.org/officeDocument/2006/math">
                    <m:oMathParaPr>
                      <m:jc m:val="centerGroup"/>
                    </m:oMathParaPr>
                    <m:oMath xmlns:m="http://schemas.openxmlformats.org/officeDocument/2006/math">
                      <m:r>
                        <a:rPr lang="el-GR" altLang="zh-CN" sz="2400" i="1" dirty="0" smtClean="0">
                          <a:latin typeface="Cambria Math" panose="02040503050406030204" pitchFamily="18" charset="0"/>
                        </a:rPr>
                        <m:t>𝛿</m:t>
                      </m:r>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rPr>
                        <m:t>𝑞</m:t>
                      </m:r>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rPr>
                        <m:t>𝑎</m:t>
                      </m:r>
                      <m:r>
                        <a:rPr lang="en-AU" altLang="zh-CN" sz="2400" i="1" dirty="0">
                          <a:latin typeface="Cambria Math" panose="02040503050406030204" pitchFamily="18" charset="0"/>
                        </a:rPr>
                        <m:t>,</m:t>
                      </m:r>
                      <m:r>
                        <a:rPr lang="en-AU" altLang="zh-CN" sz="2400" b="0" i="1" dirty="0" smtClean="0">
                          <a:latin typeface="Cambria Math" panose="02040503050406030204" pitchFamily="18" charset="0"/>
                        </a:rPr>
                        <m:t>𝑎</m:t>
                      </m:r>
                      <m:r>
                        <a:rPr lang="en-AU" altLang="zh-CN" sz="2400" i="1" dirty="0">
                          <a:latin typeface="Cambria Math" panose="02040503050406030204" pitchFamily="18" charset="0"/>
                        </a:rPr>
                        <m:t>)={(</m:t>
                      </m:r>
                      <m:r>
                        <a:rPr lang="en-AU" altLang="zh-CN" sz="2400" i="1" dirty="0">
                          <a:latin typeface="Cambria Math" panose="02040503050406030204" pitchFamily="18" charset="0"/>
                        </a:rPr>
                        <m:t>𝑞</m:t>
                      </m:r>
                      <m:r>
                        <a:rPr lang="en-AU" altLang="zh-CN" sz="2400" i="1" dirty="0">
                          <a:latin typeface="Cambria Math" panose="02040503050406030204" pitchFamily="18" charset="0"/>
                        </a:rPr>
                        <m:t>,</m:t>
                      </m:r>
                      <m:r>
                        <a:rPr lang="zh-CN" altLang="en-AU" sz="2400" i="1" dirty="0" smtClean="0">
                          <a:latin typeface="Cambria Math" panose="02040503050406030204" pitchFamily="18" charset="0"/>
                        </a:rPr>
                        <m:t>𝜀</m:t>
                      </m:r>
                      <m:r>
                        <a:rPr lang="en-AU" altLang="zh-CN" sz="2400" i="1" dirty="0">
                          <a:latin typeface="Cambria Math" panose="02040503050406030204" pitchFamily="18" charset="0"/>
                        </a:rPr>
                        <m:t>)}</m:t>
                      </m:r>
                    </m:oMath>
                  </m:oMathPara>
                </a14:m>
                <a:endParaRPr lang="en-US" altLang="zh-CN" sz="24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2362201" y="5143473"/>
                <a:ext cx="4572000" cy="461665"/>
              </a:xfrm>
              <a:prstGeom prst="rect">
                <a:avLst/>
              </a:prstGeom>
              <a:blipFill rotWithShape="1">
                <a:blip r:embed="rId4"/>
                <a:stretch>
                  <a:fillRect t="-132" b="136"/>
                </a:stretch>
              </a:blipFill>
            </p:spPr>
            <p:txBody>
              <a:bodyPr/>
              <a:lstStyle/>
              <a:p>
                <a:r>
                  <a:rPr lang="zh-CN" altLang="en-US">
                    <a:noFill/>
                  </a:rPr>
                  <a:t> </a:t>
                </a:r>
              </a:p>
            </p:txBody>
          </p:sp>
        </mc:Fallback>
      </mc:AlternateContent>
      <p:cxnSp>
        <p:nvCxnSpPr>
          <p:cNvPr id="55" name="Straight Arrow Connector 54"/>
          <p:cNvCxnSpPr/>
          <p:nvPr/>
        </p:nvCxnSpPr>
        <p:spPr>
          <a:xfrm flipV="1">
            <a:off x="6014574" y="1187679"/>
            <a:ext cx="387457" cy="418454"/>
          </a:xfrm>
          <a:prstGeom prst="straightConnector1">
            <a:avLst/>
          </a:prstGeom>
          <a:ln>
            <a:solidFill>
              <a:srgbClr val="7030A0"/>
            </a:solidFill>
            <a:tailEnd type="triangle"/>
          </a:ln>
        </p:spPr>
        <p:style>
          <a:lnRef idx="3">
            <a:schemeClr val="dk1"/>
          </a:lnRef>
          <a:fillRef idx="0">
            <a:schemeClr val="dk1"/>
          </a:fillRef>
          <a:effectRef idx="2">
            <a:schemeClr val="dk1"/>
          </a:effectRef>
          <a:fontRef idx="minor">
            <a:schemeClr val="tx1"/>
          </a:fontRef>
        </p:style>
      </p:cxnSp>
      <p:sp>
        <p:nvSpPr>
          <p:cNvPr id="56" name="TextBox 55"/>
          <p:cNvSpPr txBox="1"/>
          <p:nvPr/>
        </p:nvSpPr>
        <p:spPr>
          <a:xfrm>
            <a:off x="6402031" y="890643"/>
            <a:ext cx="2031325" cy="461665"/>
          </a:xfrm>
          <a:prstGeom prst="rect">
            <a:avLst/>
          </a:prstGeom>
          <a:noFill/>
        </p:spPr>
        <p:txBody>
          <a:bodyPr wrap="none" rtlCol="0">
            <a:spAutoFit/>
          </a:bodyPr>
          <a:lstStyle/>
          <a:p>
            <a:r>
              <a:rPr lang="zh-CN" altLang="en-US" sz="2400" dirty="0">
                <a:solidFill>
                  <a:srgbClr val="7030A0"/>
                </a:solidFill>
                <a:latin typeface="楷体" panose="02010609060101010101" pitchFamily="49" charset="-122"/>
                <a:ea typeface="楷体" panose="02010609060101010101" pitchFamily="49" charset="-122"/>
              </a:rPr>
              <a:t>初始栈底符号</a:t>
            </a:r>
            <a:endParaRPr lang="en-AU" sz="2400" dirty="0">
              <a:solidFill>
                <a:srgbClr val="7030A0"/>
              </a:solidFill>
              <a:latin typeface="楷体" panose="02010609060101010101" pitchFamily="49" charset="-122"/>
              <a:ea typeface="楷体" panose="02010609060101010101" pitchFamily="49" charset="-122"/>
            </a:endParaRPr>
          </a:p>
        </p:txBody>
      </p:sp>
      <p:sp>
        <p:nvSpPr>
          <p:cNvPr id="57"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由</a:t>
            </a:r>
            <a:r>
              <a:rPr lang="en-AU" altLang="zh-CN" sz="3600" dirty="0">
                <a:solidFill>
                  <a:schemeClr val="bg1"/>
                </a:solidFill>
                <a:latin typeface="Times New Roman" panose="02020603050405020304" pitchFamily="18" charset="0"/>
                <a:cs typeface="Times New Roman" panose="02020603050405020304" pitchFamily="18" charset="0"/>
              </a:rPr>
              <a:t>CFG</a:t>
            </a:r>
            <a:r>
              <a:rPr lang="zh-CN" altLang="en-US" sz="3600" dirty="0">
                <a:solidFill>
                  <a:schemeClr val="bg1"/>
                </a:solidFill>
              </a:rPr>
              <a:t>到</a:t>
            </a:r>
            <a:r>
              <a:rPr lang="en-AU" altLang="zh-CN" sz="3600" dirty="0">
                <a:solidFill>
                  <a:schemeClr val="bg1"/>
                </a:solidFill>
                <a:latin typeface="Times New Roman" panose="02020603050405020304" pitchFamily="18" charset="0"/>
                <a:cs typeface="Times New Roman" panose="02020603050405020304" pitchFamily="18" charset="0"/>
              </a:rPr>
              <a:t>PDA</a:t>
            </a:r>
            <a:endParaRPr lang="en-AU" sz="3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66018"/>
                <a:ext cx="8229600" cy="4525963"/>
              </a:xfrm>
            </p:spPr>
            <p:txBody>
              <a:bodyPr>
                <a:normAutofit/>
              </a:bodyPr>
              <a:lstStyle/>
              <a:p>
                <a:r>
                  <a:rPr lang="zh-CN" altLang="en-US" sz="2400" dirty="0"/>
                  <a:t>定理</a:t>
                </a:r>
                <a:r>
                  <a:rPr lang="en-AU" altLang="zh-CN" sz="2400" dirty="0"/>
                  <a:t>:</a:t>
                </a:r>
                <a:r>
                  <a:rPr lang="zh-CN" altLang="en-US" sz="2400" dirty="0"/>
                  <a:t>如果 </a:t>
                </a:r>
                <a:r>
                  <a:rPr lang="en-AU" altLang="zh-CN" sz="2400" dirty="0">
                    <a:latin typeface="Times New Roman" panose="02020603050405020304" pitchFamily="18" charset="0"/>
                    <a:cs typeface="Times New Roman" panose="02020603050405020304" pitchFamily="18" charset="0"/>
                  </a:rPr>
                  <a:t>PDA</a:t>
                </a:r>
                <a:r>
                  <a:rPr lang="en-AU" altLang="zh-CN" sz="2400" dirty="0"/>
                  <a:t> </a:t>
                </a:r>
                <a14:m>
                  <m:oMath xmlns:m="http://schemas.openxmlformats.org/officeDocument/2006/math">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𝑃</m:t>
                        </m:r>
                      </m:e>
                      <m:sub>
                        <m:r>
                          <a:rPr lang="en-AU" altLang="zh-CN" sz="2400" b="0" i="1" dirty="0" smtClean="0">
                            <a:latin typeface="Cambria Math" panose="02040503050406030204" pitchFamily="18" charset="0"/>
                          </a:rPr>
                          <m:t>𝑁</m:t>
                        </m:r>
                      </m:sub>
                    </m:sSub>
                  </m:oMath>
                </a14:m>
                <a:r>
                  <a:rPr lang="en-AU" altLang="zh-CN" sz="2400" dirty="0"/>
                  <a:t>, </a:t>
                </a:r>
                <a:r>
                  <a:rPr lang="zh-CN" altLang="en-US" sz="2400" dirty="0"/>
                  <a:t>有</a:t>
                </a:r>
                <a14:m>
                  <m:oMath xmlns:m="http://schemas.openxmlformats.org/officeDocument/2006/math">
                    <m:r>
                      <a:rPr lang="en-AU" altLang="zh-CN" sz="2400" i="1" dirty="0" smtClean="0">
                        <a:latin typeface="Cambria Math" panose="02040503050406030204" pitchFamily="18" charset="0"/>
                      </a:rPr>
                      <m:t>𝐿</m:t>
                    </m:r>
                    <m:r>
                      <a:rPr lang="en-AU" altLang="zh-CN" sz="2400" i="1" dirty="0" smtClean="0">
                        <a:latin typeface="Cambria Math" panose="02040503050406030204" pitchFamily="18" charset="0"/>
                      </a:rPr>
                      <m:t>= </m:t>
                    </m:r>
                    <m:r>
                      <a:rPr lang="en-AU" altLang="zh-CN" sz="2400" b="1" i="0" dirty="0" smtClean="0">
                        <a:latin typeface="Cambria Math" panose="02040503050406030204" pitchFamily="18" charset="0"/>
                      </a:rPr>
                      <m:t>𝐍</m:t>
                    </m:r>
                    <m:r>
                      <a:rPr lang="en-AU" altLang="zh-CN" sz="2400" i="1" dirty="0" smtClean="0">
                        <a:latin typeface="Cambria Math" panose="02040503050406030204" pitchFamily="18" charset="0"/>
                      </a:rPr>
                      <m:t>(</m:t>
                    </m:r>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 </m:t>
                    </m:r>
                  </m:oMath>
                </a14:m>
                <a:r>
                  <a:rPr lang="zh-CN" altLang="en-US" sz="2400" dirty="0"/>
                  <a:t>那么</a:t>
                </a:r>
                <a14:m>
                  <m:oMath xmlns:m="http://schemas.openxmlformats.org/officeDocument/2006/math">
                    <m:r>
                      <a:rPr lang="en-AU" altLang="zh-CN" sz="2400" i="1" dirty="0" smtClean="0">
                        <a:latin typeface="Cambria Math" panose="02040503050406030204" pitchFamily="18" charset="0"/>
                      </a:rPr>
                      <m:t>𝐿</m:t>
                    </m:r>
                  </m:oMath>
                </a14:m>
                <a:r>
                  <a:rPr lang="zh-CN" altLang="en-US" sz="2400" dirty="0"/>
                  <a:t>是上下文无关语言。</a:t>
                </a:r>
                <a:endParaRPr lang="en-AU" altLang="zh-CN" sz="2400" dirty="0"/>
              </a:p>
              <a:p>
                <a:pPr marL="0" indent="0">
                  <a:buNone/>
                </a:pPr>
                <a:r>
                  <a:rPr lang="zh-CN" altLang="en-US" sz="2400" dirty="0"/>
                  <a:t>证明要点</a:t>
                </a:r>
                <a:r>
                  <a:rPr lang="en-AU" altLang="zh-CN" sz="2400" dirty="0"/>
                  <a:t>:</a:t>
                </a:r>
                <a:r>
                  <a:rPr lang="zh-CN" altLang="en-US" sz="2400" dirty="0"/>
                  <a:t>设</a:t>
                </a:r>
                <a:r>
                  <a:rPr lang="en-AU" altLang="zh-CN" sz="2400" dirty="0">
                    <a:latin typeface="Times New Roman" panose="02020603050405020304" pitchFamily="18" charset="0"/>
                    <a:cs typeface="Times New Roman" panose="02020603050405020304" pitchFamily="18" charset="0"/>
                  </a:rPr>
                  <a:t>PDA</a:t>
                </a:r>
                <a:r>
                  <a:rPr lang="en-AU" altLang="zh-CN" sz="2400" dirty="0"/>
                  <a:t> </a:t>
                </a:r>
                <a14:m>
                  <m:oMath xmlns:m="http://schemas.openxmlformats.org/officeDocument/2006/math">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𝑃</m:t>
                        </m:r>
                      </m:e>
                      <m:sub>
                        <m:r>
                          <a:rPr lang="en-AU" altLang="zh-CN" sz="2400" i="1" dirty="0">
                            <a:latin typeface="Cambria Math" panose="02040503050406030204" pitchFamily="18" charset="0"/>
                          </a:rPr>
                          <m:t>𝑁</m:t>
                        </m:r>
                      </m:sub>
                    </m:sSub>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𝑄</m:t>
                    </m:r>
                    <m:r>
                      <a:rPr lang="en-AU"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Σ</m:t>
                    </m:r>
                    <m:r>
                      <a:rPr lang="el-GR"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Γ</m:t>
                    </m:r>
                    <m:r>
                      <a:rPr lang="el-GR" altLang="zh-CN" sz="2400" i="1" dirty="0" smtClean="0">
                        <a:latin typeface="Cambria Math" panose="02040503050406030204" pitchFamily="18" charset="0"/>
                      </a:rPr>
                      <m:t>, </m:t>
                    </m:r>
                    <m:r>
                      <a:rPr lang="el-GR" altLang="zh-CN" sz="2400" i="1" dirty="0" smtClean="0">
                        <a:latin typeface="Cambria Math" panose="02040503050406030204" pitchFamily="18" charset="0"/>
                      </a:rPr>
                      <m:t>𝛿</m:t>
                    </m:r>
                    <m:r>
                      <a:rPr lang="el-GR" altLang="zh-CN" sz="2400" i="1" dirty="0" smtClean="0">
                        <a:latin typeface="Cambria Math" panose="02040503050406030204" pitchFamily="18" charset="0"/>
                      </a:rPr>
                      <m:t>, </m:t>
                    </m:r>
                    <m:sSub>
                      <m:sSubPr>
                        <m:ctrlPr>
                          <a:rPr lang="el-GR"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𝑍</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oMath>
                </a14:m>
                <a:r>
                  <a:rPr lang="en-AU" altLang="zh-CN" sz="2400" dirty="0"/>
                  <a:t>, </a:t>
                </a:r>
                <a:r>
                  <a:rPr lang="zh-CN" altLang="en-US" sz="2400" dirty="0"/>
                  <a:t>那么构造</a:t>
                </a:r>
                <a:r>
                  <a:rPr lang="en-AU" altLang="zh-CN" sz="2400" dirty="0">
                    <a:latin typeface="Times New Roman" panose="02020603050405020304" pitchFamily="18" charset="0"/>
                    <a:cs typeface="Times New Roman" panose="02020603050405020304" pitchFamily="18" charset="0"/>
                  </a:rPr>
                  <a:t>CFG</a:t>
                </a:r>
                <a:r>
                  <a:rPr lang="en-AU" altLang="zh-CN" sz="2400" dirty="0"/>
                  <a:t> </a:t>
                </a:r>
                <a14:m>
                  <m:oMath xmlns:m="http://schemas.openxmlformats.org/officeDocument/2006/math">
                    <m:r>
                      <a:rPr lang="en-AU" altLang="zh-CN" sz="2400" i="1" dirty="0" smtClean="0">
                        <a:latin typeface="Cambria Math" panose="02040503050406030204" pitchFamily="18" charset="0"/>
                      </a:rPr>
                      <m:t>𝐺</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𝑉</m:t>
                    </m:r>
                    <m:r>
                      <a:rPr lang="en-AU"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Σ</m:t>
                    </m:r>
                    <m:r>
                      <a:rPr lang="el-GR" altLang="zh-CN" sz="2400" i="1" dirty="0" smtClean="0">
                        <a:latin typeface="Cambria Math" panose="02040503050406030204" pitchFamily="18" charset="0"/>
                      </a:rPr>
                      <m:t>, </m:t>
                    </m:r>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𝑆</m:t>
                    </m:r>
                    <m:r>
                      <a:rPr lang="en-AU" altLang="zh-CN" sz="2400" i="1" dirty="0" smtClean="0">
                        <a:latin typeface="Cambria Math" panose="02040503050406030204" pitchFamily="18" charset="0"/>
                      </a:rPr>
                      <m:t>), </m:t>
                    </m:r>
                    <m:r>
                      <a:rPr lang="zh-CN" altLang="en-US" sz="2400" i="1" dirty="0">
                        <a:latin typeface="Cambria Math" panose="02040503050406030204" pitchFamily="18" charset="0"/>
                      </a:rPr>
                      <m:t>希望</m:t>
                    </m:r>
                  </m:oMath>
                </a14:m>
                <a:r>
                  <a:rPr lang="zh-CN" altLang="en-US" sz="2400" dirty="0"/>
                  <a:t>实现</a:t>
                </a:r>
                <a:r>
                  <a:rPr lang="zh-CN" altLang="en-US" sz="2400" dirty="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i="1" baseline="-30000" dirty="0">
                    <a:latin typeface="Times New Roman" panose="02020603050405020304" pitchFamily="18" charset="0"/>
                    <a:ea typeface="宋体" panose="02010600030101010101" pitchFamily="2" charset="-122"/>
                  </a:rPr>
                  <a:t>n</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δ</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q</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a</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a:t>
                </a:r>
                <a:r>
                  <a:rPr lang="zh-CN" altLang="en-US" sz="2400" dirty="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q</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Q</a:t>
                </a:r>
                <a:r>
                  <a:rPr lang="zh-CN" altLang="en-US"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X</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i="1" baseline="-25000"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endParaRPr>
              </a:p>
              <a:p>
                <a:pPr marL="0" indent="0">
                  <a:buNone/>
                </a:pPr>
                <a:r>
                  <a:rPr lang="zh-CN" altLang="en-US" sz="2400" dirty="0">
                    <a:solidFill>
                      <a:srgbClr val="FF0000"/>
                    </a:solidFill>
                    <a:ea typeface="宋体" panose="02010600030101010101" pitchFamily="2" charset="-122"/>
                  </a:rPr>
                  <a:t>×</a:t>
                </a:r>
                <a:r>
                  <a:rPr lang="zh-CN" altLang="en-US" sz="2400" dirty="0">
                    <a:ea typeface="宋体" panose="02010600030101010101" pitchFamily="2" charset="-122"/>
                  </a:rPr>
                  <a:t>难以用产生式</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q</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r>
                  <a:rPr lang="en-US" altLang="zh-CN" sz="2400" i="1" dirty="0">
                    <a:latin typeface="Times New Roman" panose="02020603050405020304" pitchFamily="18" charset="0"/>
                    <a:ea typeface="宋体" panose="02010600030101010101" pitchFamily="2" charset="-122"/>
                  </a:rPr>
                  <a:t>a</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p</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30000" dirty="0">
                    <a:latin typeface="Times New Roman" panose="02020603050405020304" pitchFamily="18" charset="0"/>
                    <a:ea typeface="宋体" panose="02010600030101010101" pitchFamily="2" charset="-122"/>
                  </a:rPr>
                  <a:t>1</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i="1" baseline="-30000" dirty="0" err="1">
                    <a:latin typeface="Times New Roman" panose="02020603050405020304" pitchFamily="18" charset="0"/>
                    <a:ea typeface="宋体" panose="02010600030101010101" pitchFamily="2" charset="-122"/>
                  </a:rPr>
                  <a:t>n</a:t>
                </a:r>
                <a:r>
                  <a:rPr lang="en-US" altLang="zh-CN" sz="2400" dirty="0">
                    <a:latin typeface="Times New Roman" panose="02020603050405020304" pitchFamily="18" charset="0"/>
                    <a:ea typeface="宋体" panose="02010600030101010101" pitchFamily="2" charset="-122"/>
                  </a:rPr>
                  <a:t>]</a:t>
                </a:r>
                <a:r>
                  <a:rPr lang="zh-CN" altLang="en-US" sz="2400" dirty="0">
                    <a:ea typeface="宋体" panose="02010600030101010101" pitchFamily="2" charset="-122"/>
                  </a:rPr>
                  <a:t>模拟。</a:t>
                </a:r>
              </a:p>
              <a:p>
                <a:pPr marL="0" indent="0">
                  <a:buNone/>
                </a:pPr>
                <a:r>
                  <a:rPr lang="zh-CN" altLang="en-US" sz="2400" dirty="0">
                    <a:solidFill>
                      <a:srgbClr val="FF0000"/>
                    </a:solidFill>
                    <a:ea typeface="宋体" panose="02010600030101010101" pitchFamily="2" charset="-122"/>
                  </a:rPr>
                  <a:t>×</a:t>
                </a:r>
                <a:r>
                  <a:rPr lang="zh-CN" altLang="en-US" sz="2400" dirty="0">
                    <a:ea typeface="宋体" panose="02010600030101010101" pitchFamily="2" charset="-122"/>
                  </a:rPr>
                  <a:t>难以用</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q</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r>
                  <a:rPr lang="en-US" altLang="zh-CN" sz="2400" i="1" dirty="0">
                    <a:latin typeface="Times New Roman" panose="02020603050405020304" pitchFamily="18" charset="0"/>
                    <a:ea typeface="宋体" panose="02010600030101010101" pitchFamily="2" charset="-122"/>
                  </a:rPr>
                  <a:t>a</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p</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30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r</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2</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t>
                </a:r>
                <a:r>
                  <a:rPr lang="en-US" altLang="zh-CN" sz="2400" i="1" dirty="0" err="1">
                    <a:latin typeface="Times New Roman" panose="02020603050405020304" pitchFamily="18" charset="0"/>
                    <a:ea typeface="宋体" panose="02010600030101010101" pitchFamily="2" charset="-122"/>
                  </a:rPr>
                  <a:t>r</a:t>
                </a:r>
                <a:r>
                  <a:rPr lang="en-US" altLang="zh-CN" sz="2400" i="1" baseline="-30000" dirty="0" err="1">
                    <a:latin typeface="Times New Roman" panose="02020603050405020304" pitchFamily="18" charset="0"/>
                    <a:ea typeface="宋体" panose="02010600030101010101" pitchFamily="2" charset="-122"/>
                  </a:rPr>
                  <a:t>n</a:t>
                </a:r>
                <a:r>
                  <a:rPr lang="en-US" altLang="zh-CN" sz="2400" dirty="0">
                    <a:latin typeface="Times New Roman" panose="02020603050405020304" pitchFamily="18" charset="0"/>
                    <a:ea typeface="宋体" panose="02010600030101010101" pitchFamily="2" charset="-122"/>
                  </a:rPr>
                  <a:t>, </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i="1" baseline="-30000" dirty="0" err="1">
                    <a:latin typeface="Times New Roman" panose="02020603050405020304" pitchFamily="18" charset="0"/>
                    <a:ea typeface="宋体" panose="02010600030101010101" pitchFamily="2" charset="-122"/>
                  </a:rPr>
                  <a:t>n</a:t>
                </a:r>
                <a:r>
                  <a:rPr lang="en-US" altLang="zh-CN" sz="2400" dirty="0">
                    <a:latin typeface="Times New Roman" panose="02020603050405020304" pitchFamily="18" charset="0"/>
                    <a:ea typeface="宋体" panose="02010600030101010101" pitchFamily="2" charset="-122"/>
                  </a:rPr>
                  <a:t>]</a:t>
                </a:r>
                <a:r>
                  <a:rPr lang="zh-CN" altLang="en-US" sz="2400" dirty="0">
                    <a:ea typeface="宋体" panose="02010600030101010101" pitchFamily="2" charset="-122"/>
                  </a:rPr>
                  <a:t>模拟。</a:t>
                </a:r>
                <a:endParaRPr lang="en-US" altLang="zh-CN" sz="2400" dirty="0">
                  <a:ea typeface="宋体" panose="02010600030101010101" pitchFamily="2" charset="-122"/>
                </a:endParaRPr>
              </a:p>
              <a:p>
                <a:pPr marL="0" indent="0">
                  <a:buNone/>
                </a:pPr>
                <a:r>
                  <a:rPr lang="zh-CN" altLang="en-US" sz="2400" dirty="0">
                    <a:latin typeface="Times New Roman" panose="02020603050405020304" pitchFamily="18" charset="0"/>
                    <a:ea typeface="宋体" panose="02010600030101010101" pitchFamily="2" charset="-122"/>
                  </a:rPr>
                  <a:t>希望处理完（弹出）</a:t>
                </a:r>
                <a:r>
                  <a:rPr lang="en-US" altLang="zh-CN" sz="2400" i="1" dirty="0">
                    <a:latin typeface="Times New Roman" panose="02020603050405020304" pitchFamily="18" charset="0"/>
                    <a:ea typeface="宋体" panose="02010600030101010101" pitchFamily="2" charset="-122"/>
                  </a:rPr>
                  <a:t>X</a:t>
                </a:r>
                <a:r>
                  <a:rPr lang="zh-CN" altLang="en-US" sz="2400" dirty="0">
                    <a:latin typeface="Times New Roman" panose="02020603050405020304" pitchFamily="18" charset="0"/>
                    <a:ea typeface="宋体" panose="02010600030101010101" pitchFamily="2" charset="-122"/>
                  </a:rPr>
                  <a:t>和处理完</a:t>
                </a:r>
                <a:r>
                  <a:rPr lang="en-US" altLang="zh-CN" sz="2400" i="1" dirty="0">
                    <a:latin typeface="Times New Roman" panose="02020603050405020304" pitchFamily="18" charset="0"/>
                    <a:ea typeface="宋体" panose="02010600030101010101" pitchFamily="2" charset="-122"/>
                  </a:rPr>
                  <a:t>a</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30000" dirty="0">
                    <a:latin typeface="Times New Roman" panose="02020603050405020304" pitchFamily="18" charset="0"/>
                    <a:ea typeface="宋体" panose="02010600030101010101" pitchFamily="2" charset="-122"/>
                  </a:rPr>
                  <a:t>1</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i="1" baseline="-30000" dirty="0" err="1">
                    <a:latin typeface="Times New Roman" panose="02020603050405020304" pitchFamily="18" charset="0"/>
                    <a:ea typeface="宋体" panose="02010600030101010101" pitchFamily="2" charset="-122"/>
                  </a:rPr>
                  <a:t>n</a:t>
                </a:r>
                <a:r>
                  <a:rPr lang="zh-CN" altLang="en-US" sz="2400" dirty="0">
                    <a:latin typeface="Times New Roman" panose="02020603050405020304" pitchFamily="18" charset="0"/>
                    <a:ea typeface="宋体" panose="02010600030101010101" pitchFamily="2" charset="-122"/>
                  </a:rPr>
                  <a:t>（压入之后弹出）之后到达相同状态，</a:t>
                </a:r>
                <a:r>
                  <a:rPr lang="zh-CN" altLang="en-US"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构造一组产生式：</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q</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X</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r</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n</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p</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r</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1</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r</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1</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r</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2</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r</a:t>
                </a:r>
                <a:r>
                  <a:rPr lang="en-US" altLang="zh-CN" sz="2400" i="1"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n-</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1</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Y</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r</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n</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，用简化形式</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qXp</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表示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q</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X</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p</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，其意义为从状态</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q</a:t>
                </a:r>
                <a:r>
                  <a:rPr lang="zh-CN" altLang="en-US"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出发，处理完</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X</a:t>
                </a:r>
                <a:r>
                  <a:rPr lang="zh-CN" altLang="en-US"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到达</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p</a:t>
                </a:r>
                <a:r>
                  <a:rPr lang="zh-CN" altLang="en-US" sz="1800" dirty="0">
                    <a:sym typeface="Symbol" panose="05050102010706020507"/>
                  </a:rPr>
                  <a:t>。</a:t>
                </a:r>
                <a:endParaRPr lang="en-US" altLang="zh-CN" sz="2400" i="1" dirty="0">
                  <a:latin typeface="Times New Roman" panose="02020603050405020304" pitchFamily="18" charset="0"/>
                  <a:ea typeface="宋体" panose="02010600030101010101" pitchFamily="2" charset="-122"/>
                </a:endParaRPr>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66018"/>
                <a:ext cx="8229600" cy="4525963"/>
              </a:xfrm>
              <a:blipFill rotWithShape="1">
                <a:blip r:embed="rId3"/>
                <a:stretch>
                  <a:fillRect t="-3" b="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37</a:t>
            </a:fld>
            <a:endParaRPr lang="en-AU"/>
          </a:p>
        </p:txBody>
      </p:sp>
      <p:sp>
        <p:nvSpPr>
          <p:cNvPr id="6"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由</a:t>
            </a:r>
            <a:r>
              <a:rPr lang="en-AU" altLang="zh-CN" sz="3600" dirty="0">
                <a:solidFill>
                  <a:schemeClr val="bg1"/>
                </a:solidFill>
                <a:latin typeface="Times New Roman" panose="02020603050405020304" pitchFamily="18" charset="0"/>
                <a:cs typeface="Times New Roman" panose="02020603050405020304" pitchFamily="18" charset="0"/>
              </a:rPr>
              <a:t>PDA</a:t>
            </a:r>
            <a:r>
              <a:rPr lang="zh-CN" altLang="en-US" sz="3600" dirty="0">
                <a:solidFill>
                  <a:schemeClr val="bg1"/>
                </a:solidFill>
              </a:rPr>
              <a:t>到</a:t>
            </a:r>
            <a:r>
              <a:rPr lang="en-US" altLang="zh-CN" sz="3600" dirty="0">
                <a:solidFill>
                  <a:schemeClr val="bg1"/>
                </a:solidFill>
                <a:latin typeface="Times New Roman" panose="02020603050405020304" pitchFamily="18" charset="0"/>
                <a:cs typeface="Times New Roman" panose="02020603050405020304" pitchFamily="18" charset="0"/>
              </a:rPr>
              <a:t>CFG</a:t>
            </a:r>
            <a:endParaRPr lang="en-AU" sz="3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66018"/>
                <a:ext cx="8229600" cy="4525963"/>
              </a:xfrm>
            </p:spPr>
            <p:txBody>
              <a:bodyPr>
                <a:normAutofit/>
              </a:bodyPr>
              <a:lstStyle/>
              <a:p>
                <a:r>
                  <a:rPr lang="zh-CN" altLang="en-US" sz="2400" dirty="0"/>
                  <a:t>定理</a:t>
                </a:r>
                <a:r>
                  <a:rPr lang="en-AU" altLang="zh-CN" sz="2400" dirty="0"/>
                  <a:t>:</a:t>
                </a:r>
                <a:r>
                  <a:rPr lang="zh-CN" altLang="en-US" sz="2400" dirty="0"/>
                  <a:t>如果 </a:t>
                </a:r>
                <a:r>
                  <a:rPr lang="en-AU" altLang="zh-CN" sz="2400" dirty="0">
                    <a:latin typeface="Times New Roman" panose="02020603050405020304" pitchFamily="18" charset="0"/>
                    <a:cs typeface="Times New Roman" panose="02020603050405020304" pitchFamily="18" charset="0"/>
                  </a:rPr>
                  <a:t>PDA</a:t>
                </a:r>
                <a:r>
                  <a:rPr lang="en-AU" altLang="zh-CN" sz="2400" dirty="0"/>
                  <a:t> </a:t>
                </a:r>
                <a14:m>
                  <m:oMath xmlns:m="http://schemas.openxmlformats.org/officeDocument/2006/math">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𝑃</m:t>
                        </m:r>
                      </m:e>
                      <m:sub>
                        <m:r>
                          <a:rPr lang="en-AU" altLang="zh-CN" sz="2400" b="0" i="1" dirty="0" smtClean="0">
                            <a:latin typeface="Cambria Math" panose="02040503050406030204" pitchFamily="18" charset="0"/>
                          </a:rPr>
                          <m:t>𝑁</m:t>
                        </m:r>
                      </m:sub>
                    </m:sSub>
                  </m:oMath>
                </a14:m>
                <a:r>
                  <a:rPr lang="en-AU" altLang="zh-CN" sz="2400" dirty="0"/>
                  <a:t>, </a:t>
                </a:r>
                <a:r>
                  <a:rPr lang="zh-CN" altLang="en-US" sz="2400" dirty="0"/>
                  <a:t>有</a:t>
                </a:r>
                <a14:m>
                  <m:oMath xmlns:m="http://schemas.openxmlformats.org/officeDocument/2006/math">
                    <m:r>
                      <a:rPr lang="en-AU" altLang="zh-CN" sz="2400" i="1" dirty="0" smtClean="0">
                        <a:latin typeface="Cambria Math" panose="02040503050406030204" pitchFamily="18" charset="0"/>
                      </a:rPr>
                      <m:t>𝐿</m:t>
                    </m:r>
                    <m:r>
                      <a:rPr lang="en-AU" altLang="zh-CN" sz="2400" i="1" dirty="0" smtClean="0">
                        <a:latin typeface="Cambria Math" panose="02040503050406030204" pitchFamily="18" charset="0"/>
                      </a:rPr>
                      <m:t>= </m:t>
                    </m:r>
                    <m:r>
                      <a:rPr lang="en-AU" altLang="zh-CN" sz="2400" b="1" i="0" dirty="0" smtClean="0">
                        <a:latin typeface="Cambria Math" panose="02040503050406030204" pitchFamily="18" charset="0"/>
                      </a:rPr>
                      <m:t>𝐍</m:t>
                    </m:r>
                    <m:r>
                      <a:rPr lang="en-AU" altLang="zh-CN" sz="2400" i="1" dirty="0" smtClean="0">
                        <a:latin typeface="Cambria Math" panose="02040503050406030204" pitchFamily="18" charset="0"/>
                      </a:rPr>
                      <m:t>(</m:t>
                    </m:r>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 </m:t>
                    </m:r>
                  </m:oMath>
                </a14:m>
                <a:r>
                  <a:rPr lang="zh-CN" altLang="en-US" sz="2400" dirty="0"/>
                  <a:t>那么</a:t>
                </a:r>
                <a14:m>
                  <m:oMath xmlns:m="http://schemas.openxmlformats.org/officeDocument/2006/math">
                    <m:r>
                      <a:rPr lang="en-AU" altLang="zh-CN" sz="2400" i="1" dirty="0" smtClean="0">
                        <a:latin typeface="Cambria Math" panose="02040503050406030204" pitchFamily="18" charset="0"/>
                      </a:rPr>
                      <m:t>𝐿</m:t>
                    </m:r>
                  </m:oMath>
                </a14:m>
                <a:r>
                  <a:rPr lang="zh-CN" altLang="en-US" sz="2400" dirty="0"/>
                  <a:t>是上下文无关语言。</a:t>
                </a:r>
                <a:endParaRPr lang="en-AU" altLang="zh-CN" sz="2400" dirty="0"/>
              </a:p>
              <a:p>
                <a:r>
                  <a:rPr lang="zh-CN" altLang="en-US" sz="2400" dirty="0"/>
                  <a:t>构造</a:t>
                </a:r>
                <a:r>
                  <a:rPr lang="en-AU" altLang="zh-CN" sz="2400" dirty="0"/>
                  <a:t>:</a:t>
                </a:r>
                <a:r>
                  <a:rPr lang="zh-CN" altLang="en-US" sz="2400" dirty="0"/>
                  <a:t>设</a:t>
                </a:r>
                <a:r>
                  <a:rPr lang="en-AU" altLang="zh-CN" sz="2400" dirty="0">
                    <a:latin typeface="Times New Roman" panose="02020603050405020304" pitchFamily="18" charset="0"/>
                    <a:cs typeface="Times New Roman" panose="02020603050405020304" pitchFamily="18" charset="0"/>
                  </a:rPr>
                  <a:t>PDA</a:t>
                </a:r>
                <a:r>
                  <a:rPr lang="en-AU" altLang="zh-CN" sz="2400" dirty="0"/>
                  <a:t> </a:t>
                </a:r>
                <a14:m>
                  <m:oMath xmlns:m="http://schemas.openxmlformats.org/officeDocument/2006/math">
                    <m:sSub>
                      <m:sSubPr>
                        <m:ctrlPr>
                          <a:rPr lang="en-AU" altLang="zh-CN" sz="2400" i="1" dirty="0">
                            <a:latin typeface="Cambria Math" panose="02040503050406030204" pitchFamily="18" charset="0"/>
                          </a:rPr>
                        </m:ctrlPr>
                      </m:sSubPr>
                      <m:e>
                        <m:r>
                          <a:rPr lang="en-AU" altLang="zh-CN" sz="2400" i="1" dirty="0">
                            <a:latin typeface="Cambria Math" panose="02040503050406030204" pitchFamily="18" charset="0"/>
                          </a:rPr>
                          <m:t>𝑃</m:t>
                        </m:r>
                      </m:e>
                      <m:sub>
                        <m:r>
                          <a:rPr lang="en-AU" altLang="zh-CN" sz="2400" i="1" dirty="0">
                            <a:latin typeface="Cambria Math" panose="02040503050406030204" pitchFamily="18" charset="0"/>
                          </a:rPr>
                          <m:t>𝑁</m:t>
                        </m:r>
                      </m:sub>
                    </m:sSub>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𝑄</m:t>
                    </m:r>
                    <m:r>
                      <a:rPr lang="en-AU"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Σ</m:t>
                    </m:r>
                    <m:r>
                      <a:rPr lang="el-GR"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Γ</m:t>
                    </m:r>
                    <m:r>
                      <a:rPr lang="el-GR" altLang="zh-CN" sz="2400" i="1" dirty="0" smtClean="0">
                        <a:latin typeface="Cambria Math" panose="02040503050406030204" pitchFamily="18" charset="0"/>
                      </a:rPr>
                      <m:t>, </m:t>
                    </m:r>
                    <m:r>
                      <a:rPr lang="el-GR" altLang="zh-CN" sz="2400" i="1" dirty="0" smtClean="0">
                        <a:latin typeface="Cambria Math" panose="02040503050406030204" pitchFamily="18" charset="0"/>
                      </a:rPr>
                      <m:t>𝛿</m:t>
                    </m:r>
                    <m:r>
                      <a:rPr lang="el-GR" altLang="zh-CN" sz="2400" i="1" dirty="0" smtClean="0">
                        <a:latin typeface="Cambria Math" panose="02040503050406030204" pitchFamily="18" charset="0"/>
                      </a:rPr>
                      <m:t>, </m:t>
                    </m:r>
                    <m:sSub>
                      <m:sSubPr>
                        <m:ctrlPr>
                          <a:rPr lang="el-GR"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𝑞</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sSub>
                      <m:sSubPr>
                        <m:ctrlPr>
                          <a:rPr lang="en-AU"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𝑍</m:t>
                        </m:r>
                      </m:e>
                      <m:sub>
                        <m:r>
                          <a:rPr lang="en-AU" altLang="zh-CN" sz="2400" b="0" i="1" dirty="0" smtClean="0">
                            <a:latin typeface="Cambria Math" panose="02040503050406030204" pitchFamily="18" charset="0"/>
                          </a:rPr>
                          <m:t>0</m:t>
                        </m:r>
                      </m:sub>
                    </m:sSub>
                    <m:r>
                      <a:rPr lang="en-AU" altLang="zh-CN" sz="2400" i="1" dirty="0" smtClean="0">
                        <a:latin typeface="Cambria Math" panose="02040503050406030204" pitchFamily="18" charset="0"/>
                      </a:rPr>
                      <m:t>, ∅)</m:t>
                    </m:r>
                  </m:oMath>
                </a14:m>
                <a:r>
                  <a:rPr lang="en-AU" altLang="zh-CN" sz="2400" dirty="0"/>
                  <a:t>, </a:t>
                </a:r>
                <a:r>
                  <a:rPr lang="zh-CN" altLang="en-US" sz="2400" dirty="0"/>
                  <a:t>那么构造</a:t>
                </a:r>
                <a:r>
                  <a:rPr lang="en-AU" altLang="zh-CN" sz="2400" dirty="0">
                    <a:latin typeface="Times New Roman" panose="02020603050405020304" pitchFamily="18" charset="0"/>
                    <a:cs typeface="Times New Roman" panose="02020603050405020304" pitchFamily="18" charset="0"/>
                  </a:rPr>
                  <a:t>CFG</a:t>
                </a:r>
                <a:r>
                  <a:rPr lang="en-AU" altLang="zh-CN" sz="2400" dirty="0"/>
                  <a:t> </a:t>
                </a:r>
                <a14:m>
                  <m:oMath xmlns:m="http://schemas.openxmlformats.org/officeDocument/2006/math">
                    <m:r>
                      <a:rPr lang="en-AU" altLang="zh-CN" sz="2400" i="1" dirty="0" smtClean="0">
                        <a:latin typeface="Cambria Math" panose="02040503050406030204" pitchFamily="18" charset="0"/>
                      </a:rPr>
                      <m:t>𝐺</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𝑉</m:t>
                    </m:r>
                    <m:r>
                      <a:rPr lang="en-AU" altLang="zh-CN" sz="2400" i="1" dirty="0" smtClean="0">
                        <a:latin typeface="Cambria Math" panose="02040503050406030204" pitchFamily="18" charset="0"/>
                      </a:rPr>
                      <m:t>, </m:t>
                    </m:r>
                    <m:r>
                      <m:rPr>
                        <m:sty m:val="p"/>
                      </m:rPr>
                      <a:rPr lang="el-GR" altLang="zh-CN" sz="2400" i="0" dirty="0" smtClean="0">
                        <a:latin typeface="Cambria Math" panose="02040503050406030204" pitchFamily="18" charset="0"/>
                      </a:rPr>
                      <m:t>Σ</m:t>
                    </m:r>
                    <m:r>
                      <a:rPr lang="el-GR" altLang="zh-CN" sz="2400" i="1" dirty="0" smtClean="0">
                        <a:latin typeface="Cambria Math" panose="02040503050406030204" pitchFamily="18" charset="0"/>
                      </a:rPr>
                      <m:t>, </m:t>
                    </m:r>
                    <m:r>
                      <a:rPr lang="en-AU" altLang="zh-CN" sz="2400" i="1" dirty="0" smtClean="0">
                        <a:latin typeface="Cambria Math" panose="02040503050406030204" pitchFamily="18" charset="0"/>
                      </a:rPr>
                      <m:t>𝑃</m:t>
                    </m:r>
                    <m:r>
                      <a:rPr lang="en-AU" altLang="zh-CN" sz="2400" i="1" dirty="0" smtClean="0">
                        <a:latin typeface="Cambria Math" panose="02040503050406030204" pitchFamily="18" charset="0"/>
                      </a:rPr>
                      <m:t>, </m:t>
                    </m:r>
                    <m:r>
                      <a:rPr lang="en-AU" altLang="zh-CN" sz="2400" i="1" dirty="0" smtClean="0">
                        <a:latin typeface="Cambria Math" panose="02040503050406030204" pitchFamily="18" charset="0"/>
                      </a:rPr>
                      <m:t>𝑆</m:t>
                    </m:r>
                    <m:r>
                      <a:rPr lang="en-AU" altLang="zh-CN" sz="2400" i="1" dirty="0" smtClean="0">
                        <a:latin typeface="Cambria Math" panose="02040503050406030204" pitchFamily="18" charset="0"/>
                      </a:rPr>
                      <m:t>), </m:t>
                    </m:r>
                  </m:oMath>
                </a14:m>
                <a:r>
                  <a:rPr lang="zh-CN" altLang="en-US" sz="2400" dirty="0"/>
                  <a:t>其中</a:t>
                </a:r>
                <a14:m>
                  <m:oMath xmlns:m="http://schemas.openxmlformats.org/officeDocument/2006/math">
                    <m:r>
                      <a:rPr lang="en-AU" altLang="zh-CN" sz="2400" i="1" dirty="0" smtClean="0">
                        <a:latin typeface="Cambria Math" panose="02040503050406030204" pitchFamily="18" charset="0"/>
                      </a:rPr>
                      <m:t>𝑉</m:t>
                    </m:r>
                  </m:oMath>
                </a14:m>
                <a:r>
                  <a:rPr lang="zh-CN" altLang="en-US" sz="2400" dirty="0"/>
                  <a:t>和</a:t>
                </a:r>
                <a14:m>
                  <m:oMath xmlns:m="http://schemas.openxmlformats.org/officeDocument/2006/math">
                    <m:r>
                      <a:rPr lang="en-AU" altLang="zh-CN" sz="2400" i="1" dirty="0" smtClean="0">
                        <a:latin typeface="Cambria Math" panose="02040503050406030204" pitchFamily="18" charset="0"/>
                      </a:rPr>
                      <m:t>𝑃</m:t>
                    </m:r>
                  </m:oMath>
                </a14:m>
                <a:r>
                  <a:rPr lang="zh-CN" altLang="en-US" sz="2400" dirty="0"/>
                  <a:t>为</a:t>
                </a:r>
                <a:endParaRPr lang="en-AU" altLang="zh-CN" sz="2400" dirty="0"/>
              </a:p>
              <a:p>
                <a:r>
                  <a:rPr lang="en-AU" sz="2400" dirty="0"/>
                  <a:t>(1)</a:t>
                </a:r>
                <a:r>
                  <a:rPr lang="zh-CN" altLang="en-US" sz="2400" dirty="0"/>
                  <a:t>变元</a:t>
                </a:r>
                <a14:m>
                  <m:oMath xmlns:m="http://schemas.openxmlformats.org/officeDocument/2006/math">
                    <m:r>
                      <a:rPr lang="en-AU" sz="2400" i="1" dirty="0" smtClean="0">
                        <a:latin typeface="Cambria Math" panose="02040503050406030204" pitchFamily="18" charset="0"/>
                      </a:rPr>
                      <m:t>𝑉</m:t>
                    </m:r>
                    <m:r>
                      <a:rPr lang="en-AU" sz="2400" i="1" dirty="0" smtClean="0">
                        <a:latin typeface="Cambria Math" panose="02040503050406030204" pitchFamily="18" charset="0"/>
                      </a:rPr>
                      <m:t> = {[</m:t>
                    </m:r>
                    <m:r>
                      <a:rPr lang="en-AU" sz="2400" i="1" dirty="0" err="1" smtClean="0">
                        <a:latin typeface="Cambria Math" panose="02040503050406030204" pitchFamily="18" charset="0"/>
                      </a:rPr>
                      <m:t>𝑞𝑋𝑝</m:t>
                    </m:r>
                    <m:r>
                      <a:rPr lang="en-AU" sz="2400" i="1" dirty="0" smtClean="0">
                        <a:latin typeface="Cambria Math" panose="02040503050406030204" pitchFamily="18" charset="0"/>
                      </a:rPr>
                      <m:t>] | </m:t>
                    </m:r>
                    <m:r>
                      <a:rPr lang="en-AU" sz="2400" i="1" dirty="0" err="1" smtClean="0">
                        <a:latin typeface="Cambria Math" panose="02040503050406030204" pitchFamily="18" charset="0"/>
                      </a:rPr>
                      <m:t>𝑝</m:t>
                    </m:r>
                    <m:r>
                      <a:rPr lang="en-AU" sz="2400" i="1" dirty="0" err="1" smtClean="0">
                        <a:latin typeface="Cambria Math" panose="02040503050406030204" pitchFamily="18" charset="0"/>
                      </a:rPr>
                      <m:t>,</m:t>
                    </m:r>
                    <m:r>
                      <a:rPr lang="en-AU" sz="2400" i="1" dirty="0" err="1" smtClean="0">
                        <a:latin typeface="Cambria Math" panose="02040503050406030204" pitchFamily="18" charset="0"/>
                      </a:rPr>
                      <m:t>𝑞</m:t>
                    </m:r>
                    <m:r>
                      <a:rPr lang="en-AU" sz="2400" i="1" dirty="0" smtClean="0">
                        <a:latin typeface="Cambria Math" panose="02040503050406030204" pitchFamily="18" charset="0"/>
                      </a:rPr>
                      <m:t> ∈</m:t>
                    </m:r>
                    <m:r>
                      <a:rPr lang="en-AU" sz="2400" i="1" dirty="0" smtClean="0">
                        <a:latin typeface="Cambria Math" panose="02040503050406030204" pitchFamily="18" charset="0"/>
                      </a:rPr>
                      <m:t>𝑄</m:t>
                    </m:r>
                    <m:r>
                      <a:rPr lang="en-AU" sz="2400" i="1" dirty="0" smtClean="0">
                        <a:latin typeface="Cambria Math" panose="02040503050406030204" pitchFamily="18" charset="0"/>
                      </a:rPr>
                      <m:t>, </m:t>
                    </m:r>
                    <m:r>
                      <a:rPr lang="en-AU" sz="2400" i="1" dirty="0" smtClean="0">
                        <a:latin typeface="Cambria Math" panose="02040503050406030204" pitchFamily="18" charset="0"/>
                      </a:rPr>
                      <m:t>𝑋</m:t>
                    </m:r>
                    <m:r>
                      <a:rPr lang="en-AU" sz="2400" i="1" dirty="0" smtClean="0">
                        <a:latin typeface="Cambria Math" panose="02040503050406030204" pitchFamily="18" charset="0"/>
                      </a:rPr>
                      <m:t> ∈ </m:t>
                    </m:r>
                    <m:r>
                      <m:rPr>
                        <m:sty m:val="p"/>
                      </m:rPr>
                      <a:rPr lang="el-GR" sz="2400" i="0" dirty="0" smtClean="0">
                        <a:latin typeface="Cambria Math" panose="02040503050406030204" pitchFamily="18" charset="0"/>
                      </a:rPr>
                      <m:t>Γ</m:t>
                    </m:r>
                    <m:r>
                      <a:rPr lang="el-GR" sz="2400" i="1" dirty="0" smtClean="0">
                        <a:latin typeface="Cambria Math" panose="02040503050406030204" pitchFamily="18" charset="0"/>
                      </a:rPr>
                      <m:t>} ∪ {</m:t>
                    </m:r>
                    <m:r>
                      <a:rPr lang="en-AU" sz="2400" i="1" dirty="0" smtClean="0">
                        <a:latin typeface="Cambria Math" panose="02040503050406030204" pitchFamily="18" charset="0"/>
                      </a:rPr>
                      <m:t>𝑆</m:t>
                    </m:r>
                    <m:r>
                      <a:rPr lang="en-AU" sz="2400" i="1" dirty="0" smtClean="0">
                        <a:latin typeface="Cambria Math" panose="02040503050406030204" pitchFamily="18" charset="0"/>
                      </a:rPr>
                      <m:t>};</m:t>
                    </m:r>
                  </m:oMath>
                </a14:m>
                <a:r>
                  <a:rPr lang="en-AU" sz="2400" dirty="0"/>
                  <a:t> (</a:t>
                </a:r>
                <a14:m>
                  <m:oMath xmlns:m="http://schemas.openxmlformats.org/officeDocument/2006/math">
                    <m:r>
                      <a:rPr lang="en-AU" sz="2400" i="1" dirty="0">
                        <a:latin typeface="Cambria Math" panose="02040503050406030204" pitchFamily="18" charset="0"/>
                      </a:rPr>
                      <m:t>[</m:t>
                    </m:r>
                    <m:r>
                      <a:rPr lang="en-AU" sz="2400" i="1" dirty="0" err="1">
                        <a:latin typeface="Cambria Math" panose="02040503050406030204" pitchFamily="18" charset="0"/>
                      </a:rPr>
                      <m:t>𝑞𝑋𝑝</m:t>
                    </m:r>
                    <m:r>
                      <a:rPr lang="en-AU" sz="2400" i="1" dirty="0">
                        <a:latin typeface="Cambria Math" panose="02040503050406030204" pitchFamily="18" charset="0"/>
                      </a:rPr>
                      <m:t>] </m:t>
                    </m:r>
                  </m:oMath>
                </a14:m>
                <a:r>
                  <a:rPr lang="zh-CN" altLang="en-US" sz="2400" dirty="0"/>
                  <a:t>的意义为从状态</a:t>
                </a:r>
                <a14:m>
                  <m:oMath xmlns:m="http://schemas.openxmlformats.org/officeDocument/2006/math">
                    <m:r>
                      <a:rPr lang="en-AU" altLang="zh-CN" sz="2400" i="1" dirty="0" smtClean="0">
                        <a:latin typeface="Cambria Math" panose="02040503050406030204" pitchFamily="18" charset="0"/>
                      </a:rPr>
                      <m:t>𝑞</m:t>
                    </m:r>
                  </m:oMath>
                </a14:m>
                <a:r>
                  <a:rPr lang="zh-CN" altLang="en-US" sz="2400" dirty="0"/>
                  <a:t>出发，处理完</a:t>
                </a:r>
                <a:r>
                  <a:rPr lang="en-AU" altLang="zh-CN" sz="2400" dirty="0"/>
                  <a:t>(</a:t>
                </a:r>
                <a:r>
                  <a:rPr lang="zh-CN" altLang="en-US" sz="2400" dirty="0"/>
                  <a:t>弹出</a:t>
                </a:r>
                <a:r>
                  <a:rPr lang="en-AU" altLang="zh-CN" sz="2400" dirty="0"/>
                  <a:t>)</a:t>
                </a:r>
                <a:r>
                  <a:rPr lang="zh-CN" altLang="en-US" sz="2400" dirty="0"/>
                  <a:t>栈符号串</a:t>
                </a:r>
                <a14:m>
                  <m:oMath xmlns:m="http://schemas.openxmlformats.org/officeDocument/2006/math">
                    <m:r>
                      <a:rPr lang="en-AU" altLang="zh-CN" sz="2400" b="0" i="1" smtClean="0">
                        <a:latin typeface="Cambria Math" panose="02040503050406030204" pitchFamily="18" charset="0"/>
                      </a:rPr>
                      <m:t>𝑋</m:t>
                    </m:r>
                  </m:oMath>
                </a14:m>
                <a:r>
                  <a:rPr lang="zh-CN" altLang="en-US" sz="2400" dirty="0"/>
                  <a:t>，到达状态</a:t>
                </a:r>
                <a14:m>
                  <m:oMath xmlns:m="http://schemas.openxmlformats.org/officeDocument/2006/math">
                    <m:r>
                      <a:rPr lang="en-AU" altLang="zh-CN" sz="2400" b="0" i="1" smtClean="0">
                        <a:latin typeface="Cambria Math" panose="02040503050406030204" pitchFamily="18" charset="0"/>
                      </a:rPr>
                      <m:t>𝑝</m:t>
                    </m:r>
                  </m:oMath>
                </a14:m>
                <a:r>
                  <a:rPr lang="en-AU" sz="2400" dirty="0"/>
                  <a:t>)</a:t>
                </a:r>
              </a:p>
              <a:p>
                <a:pPr marL="0" indent="0">
                  <a:buNone/>
                </a:pPr>
                <a:endParaRPr lang="en-AU" sz="18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166018"/>
                <a:ext cx="8229600" cy="4525963"/>
              </a:xfrm>
              <a:blipFill rotWithShape="1">
                <a:blip r:embed="rId3"/>
                <a:stretch>
                  <a:fillRect t="-3" b="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38</a:t>
            </a:fld>
            <a:endParaRPr lang="en-AU"/>
          </a:p>
        </p:txBody>
      </p:sp>
      <p:sp>
        <p:nvSpPr>
          <p:cNvPr id="6" name="TextBox 5"/>
          <p:cNvSpPr txBox="1"/>
          <p:nvPr/>
        </p:nvSpPr>
        <p:spPr>
          <a:xfrm>
            <a:off x="4343400" y="4399162"/>
            <a:ext cx="3276600" cy="923330"/>
          </a:xfrm>
          <a:prstGeom prst="rect">
            <a:avLst/>
          </a:prstGeom>
          <a:solidFill>
            <a:srgbClr val="FFC000"/>
          </a:solidFill>
        </p:spPr>
        <p:txBody>
          <a:bodyPr wrap="square">
            <a:spAutoFit/>
          </a:bodyPr>
          <a:lstStyle/>
          <a:p>
            <a:r>
              <a:rPr lang="zh-CN" altLang="en-US" dirty="0">
                <a:latin typeface="楷体" panose="02010609060101010101" pitchFamily="49" charset="-122"/>
                <a:ea typeface="楷体" panose="02010609060101010101" pitchFamily="49" charset="-122"/>
              </a:rPr>
              <a:t>这个过程会消耗输入带上某部分的符号串，也就是该变元能派生出的符号串。</a:t>
            </a:r>
            <a:endParaRPr lang="en-AU" dirty="0">
              <a:latin typeface="楷体" panose="02010609060101010101" pitchFamily="49" charset="-122"/>
              <a:ea typeface="楷体" panose="02010609060101010101" pitchFamily="49" charset="-122"/>
            </a:endParaRPr>
          </a:p>
        </p:txBody>
      </p:sp>
      <p:cxnSp>
        <p:nvCxnSpPr>
          <p:cNvPr id="8" name="Straight Arrow Connector 7"/>
          <p:cNvCxnSpPr/>
          <p:nvPr/>
        </p:nvCxnSpPr>
        <p:spPr>
          <a:xfrm flipH="1" flipV="1">
            <a:off x="4572000" y="3664558"/>
            <a:ext cx="533400" cy="5319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由</a:t>
            </a:r>
            <a:r>
              <a:rPr lang="en-AU" altLang="zh-CN" sz="3600" dirty="0">
                <a:solidFill>
                  <a:schemeClr val="bg1"/>
                </a:solidFill>
                <a:latin typeface="Times New Roman" panose="02020603050405020304" pitchFamily="18" charset="0"/>
                <a:cs typeface="Times New Roman" panose="02020603050405020304" pitchFamily="18" charset="0"/>
              </a:rPr>
              <a:t>PDA</a:t>
            </a:r>
            <a:r>
              <a:rPr lang="zh-CN" altLang="en-US" sz="3600" dirty="0">
                <a:solidFill>
                  <a:schemeClr val="bg1"/>
                </a:solidFill>
              </a:rPr>
              <a:t>到</a:t>
            </a:r>
            <a:r>
              <a:rPr lang="en-US" altLang="zh-CN" sz="3600" dirty="0">
                <a:solidFill>
                  <a:schemeClr val="bg1"/>
                </a:solidFill>
                <a:latin typeface="Times New Roman" panose="02020603050405020304" pitchFamily="18" charset="0"/>
                <a:cs typeface="Times New Roman" panose="02020603050405020304" pitchFamily="18" charset="0"/>
              </a:rPr>
              <a:t>CFG</a:t>
            </a:r>
            <a:endParaRPr lang="en-AU" sz="3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033041"/>
                <a:ext cx="8229600" cy="5323309"/>
              </a:xfrm>
            </p:spPr>
            <p:txBody>
              <a:bodyPr>
                <a:normAutofit/>
              </a:bodyPr>
              <a:lstStyle/>
              <a:p>
                <a:pPr>
                  <a:lnSpc>
                    <a:spcPct val="120000"/>
                  </a:lnSpc>
                </a:pPr>
                <a:r>
                  <a:rPr lang="zh-CN" altLang="en-US" dirty="0"/>
                  <a:t>构造</a:t>
                </a:r>
                <a:r>
                  <a:rPr lang="en-AU" altLang="zh-CN" dirty="0"/>
                  <a:t>:</a:t>
                </a:r>
                <a:r>
                  <a:rPr lang="zh-CN" altLang="en-US" dirty="0"/>
                  <a:t>设</a:t>
                </a:r>
                <a:r>
                  <a:rPr lang="en-AU" altLang="zh-CN" dirty="0">
                    <a:latin typeface="Times New Roman" panose="02020603050405020304" pitchFamily="18" charset="0"/>
                    <a:cs typeface="Times New Roman" panose="02020603050405020304" pitchFamily="18" charset="0"/>
                  </a:rPr>
                  <a:t>PDA</a:t>
                </a:r>
                <a:r>
                  <a:rPr lang="en-AU" altLang="zh-CN" dirty="0"/>
                  <a:t> </a:t>
                </a:r>
                <a14:m>
                  <m:oMath xmlns:m="http://schemas.openxmlformats.org/officeDocument/2006/math">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𝑃</m:t>
                        </m:r>
                      </m:e>
                      <m:sub>
                        <m:r>
                          <a:rPr lang="en-AU" altLang="zh-CN" i="1" dirty="0">
                            <a:latin typeface="Cambria Math" panose="02040503050406030204" pitchFamily="18" charset="0"/>
                          </a:rPr>
                          <m:t>𝑁</m:t>
                        </m:r>
                      </m:sub>
                    </m:sSub>
                    <m:r>
                      <a:rPr lang="en-AU" altLang="zh-CN" i="1" dirty="0">
                        <a:latin typeface="Cambria Math" panose="02040503050406030204" pitchFamily="18" charset="0"/>
                      </a:rPr>
                      <m:t>= (</m:t>
                    </m:r>
                    <m:r>
                      <a:rPr lang="en-AU" altLang="zh-CN" i="1" dirty="0">
                        <a:latin typeface="Cambria Math" panose="02040503050406030204" pitchFamily="18" charset="0"/>
                      </a:rPr>
                      <m:t>𝑄</m:t>
                    </m:r>
                    <m:r>
                      <a:rPr lang="en-AU" altLang="zh-CN" i="1" dirty="0">
                        <a:latin typeface="Cambria Math" panose="02040503050406030204" pitchFamily="18" charset="0"/>
                      </a:rPr>
                      <m:t>, </m:t>
                    </m:r>
                    <m:r>
                      <m:rPr>
                        <m:sty m:val="p"/>
                      </m:rPr>
                      <a:rPr lang="el-GR" altLang="zh-CN" dirty="0">
                        <a:latin typeface="Cambria Math" panose="02040503050406030204" pitchFamily="18" charset="0"/>
                      </a:rPr>
                      <m:t>Σ</m:t>
                    </m:r>
                    <m:r>
                      <a:rPr lang="el-GR" altLang="zh-CN" i="1" dirty="0">
                        <a:latin typeface="Cambria Math" panose="02040503050406030204" pitchFamily="18" charset="0"/>
                      </a:rPr>
                      <m:t>, </m:t>
                    </m:r>
                    <m:r>
                      <m:rPr>
                        <m:sty m:val="p"/>
                      </m:rPr>
                      <a:rPr lang="el-GR" altLang="zh-CN" dirty="0">
                        <a:latin typeface="Cambria Math" panose="02040503050406030204" pitchFamily="18" charset="0"/>
                      </a:rPr>
                      <m:t>Γ</m:t>
                    </m:r>
                    <m:r>
                      <a:rPr lang="el-GR" altLang="zh-CN" i="1" dirty="0">
                        <a:latin typeface="Cambria Math" panose="02040503050406030204" pitchFamily="18" charset="0"/>
                      </a:rPr>
                      <m:t>, </m:t>
                    </m:r>
                    <m:r>
                      <a:rPr lang="el-GR" altLang="zh-CN" i="1" dirty="0">
                        <a:latin typeface="Cambria Math" panose="02040503050406030204" pitchFamily="18" charset="0"/>
                      </a:rPr>
                      <m:t>𝛿</m:t>
                    </m:r>
                    <m:r>
                      <a:rPr lang="el-GR" altLang="zh-CN" i="1" dirty="0">
                        <a:latin typeface="Cambria Math" panose="02040503050406030204" pitchFamily="18" charset="0"/>
                      </a:rPr>
                      <m:t>, </m:t>
                    </m:r>
                    <m:sSub>
                      <m:sSubPr>
                        <m:ctrlPr>
                          <a:rPr lang="el-GR" altLang="zh-CN" i="1" dirty="0">
                            <a:latin typeface="Cambria Math" panose="02040503050406030204" pitchFamily="18" charset="0"/>
                          </a:rPr>
                        </m:ctrlPr>
                      </m:sSubPr>
                      <m:e>
                        <m:r>
                          <a:rPr lang="en-AU" altLang="zh-CN" i="1" dirty="0">
                            <a:latin typeface="Cambria Math" panose="02040503050406030204" pitchFamily="18" charset="0"/>
                          </a:rPr>
                          <m:t>𝑞</m:t>
                        </m:r>
                      </m:e>
                      <m:sub>
                        <m:r>
                          <a:rPr lang="en-AU" altLang="zh-CN" i="1" dirty="0">
                            <a:latin typeface="Cambria Math" panose="02040503050406030204" pitchFamily="18" charset="0"/>
                          </a:rPr>
                          <m:t>0</m:t>
                        </m:r>
                      </m:sub>
                    </m:sSub>
                    <m:r>
                      <a:rPr lang="en-AU" altLang="zh-CN" i="1" dirty="0">
                        <a:latin typeface="Cambria Math" panose="02040503050406030204" pitchFamily="18" charset="0"/>
                      </a:rPr>
                      <m:t>, </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𝑍</m:t>
                        </m:r>
                      </m:e>
                      <m:sub>
                        <m:r>
                          <a:rPr lang="en-AU" altLang="zh-CN" i="1" dirty="0">
                            <a:latin typeface="Cambria Math" panose="02040503050406030204" pitchFamily="18" charset="0"/>
                          </a:rPr>
                          <m:t>0</m:t>
                        </m:r>
                      </m:sub>
                    </m:sSub>
                    <m:r>
                      <a:rPr lang="en-AU" altLang="zh-CN" i="1" dirty="0">
                        <a:latin typeface="Cambria Math" panose="02040503050406030204" pitchFamily="18" charset="0"/>
                      </a:rPr>
                      <m:t>, ∅)</m:t>
                    </m:r>
                  </m:oMath>
                </a14:m>
                <a:r>
                  <a:rPr lang="en-AU" altLang="zh-CN" dirty="0"/>
                  <a:t>, </a:t>
                </a:r>
                <a:r>
                  <a:rPr lang="zh-CN" altLang="en-US" dirty="0"/>
                  <a:t>那么构造</a:t>
                </a:r>
                <a:r>
                  <a:rPr lang="en-AU" altLang="zh-CN" dirty="0">
                    <a:latin typeface="Times New Roman" panose="02020603050405020304" pitchFamily="18" charset="0"/>
                    <a:cs typeface="Times New Roman" panose="02020603050405020304" pitchFamily="18" charset="0"/>
                  </a:rPr>
                  <a:t>CFG</a:t>
                </a:r>
                <a:r>
                  <a:rPr lang="en-AU" altLang="zh-CN" dirty="0"/>
                  <a:t> </a:t>
                </a:r>
                <a14:m>
                  <m:oMath xmlns:m="http://schemas.openxmlformats.org/officeDocument/2006/math">
                    <m:r>
                      <a:rPr lang="en-AU" altLang="zh-CN" i="1" dirty="0">
                        <a:latin typeface="Cambria Math" panose="02040503050406030204" pitchFamily="18" charset="0"/>
                      </a:rPr>
                      <m:t>𝐺</m:t>
                    </m:r>
                    <m:r>
                      <a:rPr lang="en-AU" altLang="zh-CN" i="1" dirty="0">
                        <a:latin typeface="Cambria Math" panose="02040503050406030204" pitchFamily="18" charset="0"/>
                      </a:rPr>
                      <m:t> = (</m:t>
                    </m:r>
                    <m:r>
                      <a:rPr lang="en-AU" altLang="zh-CN" i="1" dirty="0">
                        <a:latin typeface="Cambria Math" panose="02040503050406030204" pitchFamily="18" charset="0"/>
                      </a:rPr>
                      <m:t>𝑉</m:t>
                    </m:r>
                    <m:r>
                      <a:rPr lang="en-AU" altLang="zh-CN" i="1" dirty="0">
                        <a:latin typeface="Cambria Math" panose="02040503050406030204" pitchFamily="18" charset="0"/>
                      </a:rPr>
                      <m:t>, </m:t>
                    </m:r>
                    <m:r>
                      <m:rPr>
                        <m:sty m:val="p"/>
                      </m:rPr>
                      <a:rPr lang="el-GR" altLang="zh-CN" dirty="0">
                        <a:latin typeface="Cambria Math" panose="02040503050406030204" pitchFamily="18" charset="0"/>
                      </a:rPr>
                      <m:t>Σ</m:t>
                    </m:r>
                    <m:r>
                      <a:rPr lang="el-GR" altLang="zh-CN" i="1" dirty="0">
                        <a:latin typeface="Cambria Math" panose="02040503050406030204" pitchFamily="18" charset="0"/>
                      </a:rPr>
                      <m:t>, </m:t>
                    </m:r>
                    <m:r>
                      <a:rPr lang="en-AU" altLang="zh-CN" i="1" dirty="0">
                        <a:latin typeface="Cambria Math" panose="02040503050406030204" pitchFamily="18" charset="0"/>
                      </a:rPr>
                      <m:t>𝑃</m:t>
                    </m:r>
                    <m:r>
                      <a:rPr lang="en-AU" altLang="zh-CN" i="1" dirty="0">
                        <a:latin typeface="Cambria Math" panose="02040503050406030204" pitchFamily="18" charset="0"/>
                      </a:rPr>
                      <m:t>, </m:t>
                    </m:r>
                    <m:r>
                      <a:rPr lang="en-AU" altLang="zh-CN" i="1" dirty="0">
                        <a:latin typeface="Cambria Math" panose="02040503050406030204" pitchFamily="18" charset="0"/>
                      </a:rPr>
                      <m:t>𝑆</m:t>
                    </m:r>
                    <m:r>
                      <a:rPr lang="en-AU" altLang="zh-CN" i="1" dirty="0">
                        <a:latin typeface="Cambria Math" panose="02040503050406030204" pitchFamily="18" charset="0"/>
                      </a:rPr>
                      <m:t>) </m:t>
                    </m:r>
                  </m:oMath>
                </a14:m>
                <a:r>
                  <a:rPr lang="zh-CN" altLang="en-US" sz="2400" dirty="0"/>
                  <a:t>。</a:t>
                </a:r>
                <a:r>
                  <a:rPr lang="zh-CN" altLang="en-US" dirty="0"/>
                  <a:t>产生式集合</a:t>
                </a:r>
                <a14:m>
                  <m:oMath xmlns:m="http://schemas.openxmlformats.org/officeDocument/2006/math">
                    <m:r>
                      <a:rPr lang="en-AU" altLang="zh-CN" b="0" i="1" smtClean="0">
                        <a:latin typeface="Cambria Math" panose="02040503050406030204" pitchFamily="18" charset="0"/>
                      </a:rPr>
                      <m:t>𝑃</m:t>
                    </m:r>
                    <m:r>
                      <a:rPr lang="zh-CN" altLang="en-US" i="1">
                        <a:latin typeface="Cambria Math" panose="02040503050406030204" pitchFamily="18" charset="0"/>
                      </a:rPr>
                      <m:t>包括</m:t>
                    </m:r>
                  </m:oMath>
                </a14:m>
                <a:r>
                  <a:rPr lang="zh-CN" altLang="en-US" sz="2400" dirty="0"/>
                  <a:t>：</a:t>
                </a:r>
                <a:endParaRPr lang="en-AU" altLang="zh-CN" sz="2400" dirty="0"/>
              </a:p>
              <a:p>
                <a:pPr marL="0" indent="0">
                  <a:lnSpc>
                    <a:spcPct val="120000"/>
                  </a:lnSpc>
                  <a:buNone/>
                </a:pPr>
                <a:r>
                  <a:rPr lang="zh-CN" altLang="en-US" sz="2400" dirty="0"/>
                  <a:t>（</a:t>
                </a:r>
                <a:r>
                  <a:rPr lang="en-AU" altLang="zh-CN" sz="2400" dirty="0"/>
                  <a:t>1</a:t>
                </a:r>
                <a:r>
                  <a:rPr lang="zh-CN" altLang="en-US" sz="2400" dirty="0"/>
                  <a:t>）对</a:t>
                </a:r>
                <a14:m>
                  <m:oMath xmlns:m="http://schemas.openxmlformats.org/officeDocument/2006/math">
                    <m:r>
                      <a:rPr lang="zh-CN" altLang="en-US" sz="2400" i="1" dirty="0" smtClean="0">
                        <a:latin typeface="Cambria Math" panose="02040503050406030204" pitchFamily="18" charset="0"/>
                      </a:rPr>
                      <m:t>∀</m:t>
                    </m:r>
                    <m:r>
                      <a:rPr lang="en-AU" sz="2400" i="1" dirty="0" smtClean="0">
                        <a:latin typeface="Cambria Math" panose="02040503050406030204" pitchFamily="18" charset="0"/>
                      </a:rPr>
                      <m:t>𝑝</m:t>
                    </m:r>
                    <m:r>
                      <a:rPr lang="en-AU" sz="2400" i="1" dirty="0" smtClean="0">
                        <a:latin typeface="Cambria Math" panose="02040503050406030204" pitchFamily="18" charset="0"/>
                      </a:rPr>
                      <m:t> ∈ </m:t>
                    </m:r>
                    <m:r>
                      <a:rPr lang="en-AU" sz="2400" i="1" dirty="0" smtClean="0">
                        <a:latin typeface="Cambria Math" panose="02040503050406030204" pitchFamily="18" charset="0"/>
                      </a:rPr>
                      <m:t>𝑄</m:t>
                    </m:r>
                  </m:oMath>
                </a14:m>
                <a:r>
                  <a:rPr lang="en-AU" sz="2400" dirty="0"/>
                  <a:t>, </a:t>
                </a:r>
                <a:r>
                  <a:rPr lang="zh-CN" altLang="en-US" sz="2400" dirty="0"/>
                  <a:t>构造产生式</a:t>
                </a:r>
                <a14:m>
                  <m:oMath xmlns:m="http://schemas.openxmlformats.org/officeDocument/2006/math">
                    <m:r>
                      <a:rPr lang="en-AU" sz="2400" i="1" dirty="0" smtClean="0">
                        <a:latin typeface="Cambria Math" panose="02040503050406030204" pitchFamily="18" charset="0"/>
                      </a:rPr>
                      <m:t>𝑆</m:t>
                    </m:r>
                    <m:r>
                      <a:rPr lang="en-AU" sz="2400" i="1" dirty="0" smtClean="0">
                        <a:latin typeface="Cambria Math" panose="02040503050406030204" pitchFamily="18" charset="0"/>
                      </a:rPr>
                      <m:t> → [</m:t>
                    </m:r>
                    <m:sSub>
                      <m:sSubPr>
                        <m:ctrlPr>
                          <a:rPr lang="en-AU" sz="2400" i="1" dirty="0" smtClean="0">
                            <a:latin typeface="Cambria Math" panose="02040503050406030204" pitchFamily="18" charset="0"/>
                          </a:rPr>
                        </m:ctrlPr>
                      </m:sSubPr>
                      <m:e>
                        <m:r>
                          <a:rPr lang="en-AU" sz="2400" b="0" i="1" dirty="0" smtClean="0">
                            <a:latin typeface="Cambria Math" panose="02040503050406030204" pitchFamily="18" charset="0"/>
                          </a:rPr>
                          <m:t>𝑞</m:t>
                        </m:r>
                      </m:e>
                      <m:sub>
                        <m:r>
                          <a:rPr lang="en-AU" sz="2400" b="0" i="1" dirty="0" smtClean="0">
                            <a:latin typeface="Cambria Math" panose="02040503050406030204" pitchFamily="18" charset="0"/>
                          </a:rPr>
                          <m:t>0</m:t>
                        </m:r>
                      </m:sub>
                    </m:sSub>
                    <m:sSub>
                      <m:sSubPr>
                        <m:ctrlPr>
                          <a:rPr lang="en-AU" sz="2400" i="1" dirty="0">
                            <a:latin typeface="Cambria Math" panose="02040503050406030204" pitchFamily="18" charset="0"/>
                          </a:rPr>
                        </m:ctrlPr>
                      </m:sSubPr>
                      <m:e>
                        <m:r>
                          <a:rPr lang="en-AU" sz="2400" b="0" i="1" dirty="0" smtClean="0">
                            <a:latin typeface="Cambria Math" panose="02040503050406030204" pitchFamily="18" charset="0"/>
                          </a:rPr>
                          <m:t>𝑍</m:t>
                        </m:r>
                      </m:e>
                      <m:sub>
                        <m:r>
                          <a:rPr lang="en-AU" sz="2400" i="1" dirty="0">
                            <a:latin typeface="Cambria Math" panose="02040503050406030204" pitchFamily="18" charset="0"/>
                          </a:rPr>
                          <m:t>0</m:t>
                        </m:r>
                      </m:sub>
                    </m:sSub>
                    <m:r>
                      <a:rPr lang="en-AU" sz="2400" b="0" i="1" dirty="0" smtClean="0">
                        <a:latin typeface="Cambria Math" panose="02040503050406030204" pitchFamily="18" charset="0"/>
                      </a:rPr>
                      <m:t>𝑝</m:t>
                    </m:r>
                    <m:r>
                      <a:rPr lang="en-AU" sz="2400" i="1" dirty="0" smtClean="0">
                        <a:latin typeface="Cambria Math" panose="02040503050406030204" pitchFamily="18" charset="0"/>
                      </a:rPr>
                      <m:t>];</m:t>
                    </m:r>
                  </m:oMath>
                </a14:m>
                <a:endParaRPr lang="en-AU" sz="2400" dirty="0"/>
              </a:p>
              <a:p>
                <a:pPr marL="0" indent="0">
                  <a:lnSpc>
                    <a:spcPct val="120000"/>
                  </a:lnSpc>
                  <a:buNone/>
                </a:pPr>
                <a:r>
                  <a:rPr lang="zh-CN" altLang="en-US" sz="2400" dirty="0"/>
                  <a:t>（</a:t>
                </a:r>
                <a:r>
                  <a:rPr lang="en-AU" altLang="zh-CN" sz="2400" dirty="0"/>
                  <a:t>2</a:t>
                </a:r>
                <a:r>
                  <a:rPr lang="zh-CN" altLang="en-US" sz="2400" dirty="0"/>
                  <a:t>）对 </a:t>
                </a:r>
                <a14:m>
                  <m:oMath xmlns:m="http://schemas.openxmlformats.org/officeDocument/2006/math">
                    <m:r>
                      <a:rPr lang="zh-CN" altLang="en-US" sz="2400" i="1" dirty="0" smtClean="0">
                        <a:latin typeface="Cambria Math" panose="02040503050406030204" pitchFamily="18" charset="0"/>
                      </a:rPr>
                      <m:t>∀</m:t>
                    </m:r>
                    <m:r>
                      <a:rPr lang="en-US" altLang="zh-CN" sz="2400" i="1" dirty="0" smtClean="0">
                        <a:latin typeface="Cambria Math" panose="02040503050406030204" pitchFamily="18" charset="0"/>
                      </a:rPr>
                      <m:t>(</m:t>
                    </m:r>
                    <m:r>
                      <a:rPr lang="en-AU" sz="2400" i="1" dirty="0" smtClean="0">
                        <a:latin typeface="Cambria Math" panose="02040503050406030204" pitchFamily="18" charset="0"/>
                      </a:rPr>
                      <m:t>𝑝</m:t>
                    </m:r>
                    <m:r>
                      <a:rPr lang="en-AU" sz="2400" i="1" dirty="0" smtClean="0">
                        <a:latin typeface="Cambria Math" panose="02040503050406030204" pitchFamily="18" charset="0"/>
                      </a:rPr>
                      <m:t>,</m:t>
                    </m:r>
                    <m:sSub>
                      <m:sSubPr>
                        <m:ctrlPr>
                          <a:rPr lang="en-AU" altLang="zh-CN" sz="2400" i="1" dirty="0">
                            <a:latin typeface="Cambria Math" panose="02040503050406030204" pitchFamily="18" charset="0"/>
                            <a:ea typeface="Cambria Math" panose="02040503050406030204" pitchFamily="18" charset="0"/>
                          </a:rPr>
                        </m:ctrlPr>
                      </m:sSubPr>
                      <m:e>
                        <m:r>
                          <a:rPr lang="en-AU" altLang="zh-CN" sz="2400" i="1" dirty="0">
                            <a:latin typeface="Cambria Math" panose="02040503050406030204" pitchFamily="18" charset="0"/>
                            <a:ea typeface="Cambria Math" panose="02040503050406030204" pitchFamily="18" charset="0"/>
                          </a:rPr>
                          <m:t>𝑌</m:t>
                        </m:r>
                      </m:e>
                      <m:sub>
                        <m:r>
                          <a:rPr lang="en-AU" altLang="zh-CN" sz="2400" i="1" dirty="0">
                            <a:latin typeface="Cambria Math" panose="02040503050406030204" pitchFamily="18" charset="0"/>
                            <a:ea typeface="Cambria Math" panose="02040503050406030204" pitchFamily="18" charset="0"/>
                          </a:rPr>
                          <m:t>1</m:t>
                        </m:r>
                      </m:sub>
                    </m:sSub>
                    <m:sSub>
                      <m:sSubPr>
                        <m:ctrlPr>
                          <a:rPr lang="en-AU" altLang="zh-CN" sz="2400" i="1" dirty="0">
                            <a:latin typeface="Cambria Math" panose="02040503050406030204" pitchFamily="18" charset="0"/>
                            <a:ea typeface="Cambria Math" panose="02040503050406030204" pitchFamily="18" charset="0"/>
                          </a:rPr>
                        </m:ctrlPr>
                      </m:sSubPr>
                      <m:e>
                        <m:r>
                          <a:rPr lang="en-AU" altLang="zh-CN" sz="2400" i="1" dirty="0">
                            <a:latin typeface="Cambria Math" panose="02040503050406030204" pitchFamily="18" charset="0"/>
                            <a:ea typeface="Cambria Math" panose="02040503050406030204" pitchFamily="18" charset="0"/>
                          </a:rPr>
                          <m:t>𝑌</m:t>
                        </m:r>
                      </m:e>
                      <m:sub>
                        <m:r>
                          <a:rPr lang="en-AU" altLang="zh-CN" sz="2400" i="1" dirty="0">
                            <a:latin typeface="Cambria Math" panose="02040503050406030204" pitchFamily="18" charset="0"/>
                            <a:ea typeface="Cambria Math" panose="02040503050406030204" pitchFamily="18" charset="0"/>
                          </a:rPr>
                          <m:t>2</m:t>
                        </m:r>
                      </m:sub>
                    </m:sSub>
                    <m:sSub>
                      <m:sSubPr>
                        <m:ctrlPr>
                          <a:rPr lang="en-AU" altLang="zh-CN" sz="2400" i="1" dirty="0">
                            <a:latin typeface="Cambria Math" panose="02040503050406030204" pitchFamily="18" charset="0"/>
                            <a:ea typeface="Cambria Math" panose="02040503050406030204" pitchFamily="18" charset="0"/>
                          </a:rPr>
                        </m:ctrlPr>
                      </m:sSubPr>
                      <m:e>
                        <m:r>
                          <a:rPr lang="en-AU" altLang="zh-CN" sz="2400" i="1" dirty="0">
                            <a:latin typeface="Cambria Math" panose="02040503050406030204" pitchFamily="18" charset="0"/>
                            <a:ea typeface="Cambria Math" panose="02040503050406030204" pitchFamily="18" charset="0"/>
                          </a:rPr>
                          <m:t>…</m:t>
                        </m:r>
                        <m:r>
                          <a:rPr lang="en-AU" altLang="zh-CN" sz="2400" i="1" dirty="0">
                            <a:latin typeface="Cambria Math" panose="02040503050406030204" pitchFamily="18" charset="0"/>
                            <a:ea typeface="Cambria Math" panose="02040503050406030204" pitchFamily="18" charset="0"/>
                          </a:rPr>
                          <m:t>𝑌</m:t>
                        </m:r>
                      </m:e>
                      <m:sub>
                        <m:r>
                          <a:rPr lang="en-AU" altLang="zh-CN" sz="2400" b="0" i="1" dirty="0" smtClean="0">
                            <a:latin typeface="Cambria Math" panose="02040503050406030204" pitchFamily="18" charset="0"/>
                            <a:ea typeface="Cambria Math" panose="02040503050406030204" pitchFamily="18" charset="0"/>
                          </a:rPr>
                          <m:t>𝑛</m:t>
                        </m:r>
                      </m:sub>
                    </m:sSub>
                    <m:r>
                      <a:rPr lang="en-AU" sz="2400" i="1" dirty="0" smtClean="0">
                        <a:latin typeface="Cambria Math" panose="02040503050406030204" pitchFamily="18" charset="0"/>
                      </a:rPr>
                      <m:t>) ∈ </m:t>
                    </m:r>
                    <m:r>
                      <a:rPr lang="el-GR" sz="2400" i="1" dirty="0" smtClean="0">
                        <a:latin typeface="Cambria Math" panose="02040503050406030204" pitchFamily="18" charset="0"/>
                      </a:rPr>
                      <m:t>𝛿</m:t>
                    </m:r>
                    <m:r>
                      <a:rPr lang="el-GR" sz="2400" i="1" dirty="0" smtClean="0">
                        <a:latin typeface="Cambria Math" panose="02040503050406030204" pitchFamily="18" charset="0"/>
                      </a:rPr>
                      <m:t>(</m:t>
                    </m:r>
                    <m:r>
                      <a:rPr lang="en-AU" sz="2400" i="1" dirty="0" smtClean="0">
                        <a:latin typeface="Cambria Math" panose="02040503050406030204" pitchFamily="18" charset="0"/>
                      </a:rPr>
                      <m:t>𝑞</m:t>
                    </m:r>
                    <m:r>
                      <a:rPr lang="en-AU" sz="2400" i="1" dirty="0" smtClean="0">
                        <a:latin typeface="Cambria Math" panose="02040503050406030204" pitchFamily="18" charset="0"/>
                      </a:rPr>
                      <m:t>, </m:t>
                    </m:r>
                    <m:r>
                      <a:rPr lang="en-AU" sz="2400" i="1" dirty="0" smtClean="0">
                        <a:latin typeface="Cambria Math" panose="02040503050406030204" pitchFamily="18" charset="0"/>
                      </a:rPr>
                      <m:t>𝑎</m:t>
                    </m:r>
                    <m:r>
                      <a:rPr lang="en-AU" sz="2400" i="1" dirty="0" smtClean="0">
                        <a:latin typeface="Cambria Math" panose="02040503050406030204" pitchFamily="18" charset="0"/>
                      </a:rPr>
                      <m:t>, </m:t>
                    </m:r>
                    <m:r>
                      <a:rPr lang="en-AU" sz="2400" i="1" dirty="0" smtClean="0">
                        <a:latin typeface="Cambria Math" panose="02040503050406030204" pitchFamily="18" charset="0"/>
                      </a:rPr>
                      <m:t>𝑋</m:t>
                    </m:r>
                    <m:r>
                      <a:rPr lang="en-AU" sz="2400" i="1" dirty="0" smtClean="0">
                        <a:latin typeface="Cambria Math" panose="02040503050406030204" pitchFamily="18" charset="0"/>
                      </a:rPr>
                      <m:t>), </m:t>
                    </m:r>
                  </m:oMath>
                </a14:m>
                <a:r>
                  <a:rPr lang="zh-CN" altLang="en-US" sz="2400" dirty="0"/>
                  <a:t>构造</a:t>
                </a:r>
                <a14:m>
                  <m:oMath xmlns:m="http://schemas.openxmlformats.org/officeDocument/2006/math">
                    <m:sSup>
                      <m:sSupPr>
                        <m:ctrlPr>
                          <a:rPr lang="en-US" altLang="zh-CN" sz="2400" i="1" smtClean="0">
                            <a:latin typeface="Cambria Math" panose="02040503050406030204" pitchFamily="18" charset="0"/>
                          </a:rPr>
                        </m:ctrlPr>
                      </m:sSupPr>
                      <m:e>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𝑄</m:t>
                        </m:r>
                        <m:r>
                          <a:rPr lang="en-AU" altLang="zh-CN" sz="2400" b="0" i="1" smtClean="0">
                            <a:latin typeface="Cambria Math" panose="02040503050406030204" pitchFamily="18" charset="0"/>
                          </a:rPr>
                          <m:t>|</m:t>
                        </m:r>
                      </m:e>
                      <m:sup>
                        <m:r>
                          <a:rPr lang="en-AU" altLang="zh-CN" sz="2400" b="0" i="1" smtClean="0">
                            <a:latin typeface="Cambria Math" panose="02040503050406030204" pitchFamily="18" charset="0"/>
                          </a:rPr>
                          <m:t>𝑛</m:t>
                        </m:r>
                      </m:sup>
                    </m:sSup>
                  </m:oMath>
                </a14:m>
                <a:r>
                  <a:rPr lang="zh-CN" altLang="en-US" sz="2400" dirty="0"/>
                  <a:t>个产生式</a:t>
                </a:r>
                <a14:m>
                  <m:oMath xmlns:m="http://schemas.openxmlformats.org/officeDocument/2006/math">
                    <m:r>
                      <a:rPr lang="pt-BR" altLang="zh-CN" sz="2400" i="1" dirty="0" smtClean="0">
                        <a:latin typeface="Cambria Math" panose="02040503050406030204" pitchFamily="18" charset="0"/>
                      </a:rPr>
                      <m:t>[</m:t>
                    </m:r>
                    <m:r>
                      <a:rPr lang="pt-BR" altLang="zh-CN" sz="2400" i="1" dirty="0" smtClean="0">
                        <a:latin typeface="Cambria Math" panose="02040503050406030204" pitchFamily="18" charset="0"/>
                      </a:rPr>
                      <m:t>𝑞𝑋</m:t>
                    </m:r>
                    <m:sSub>
                      <m:sSubPr>
                        <m:ctrlPr>
                          <a:rPr lang="pt-BR" altLang="zh-CN" sz="2400" i="1" dirty="0" smtClean="0">
                            <a:solidFill>
                              <a:srgbClr val="0070C0"/>
                            </a:solidFill>
                            <a:latin typeface="Cambria Math" panose="02040503050406030204" pitchFamily="18" charset="0"/>
                          </a:rPr>
                        </m:ctrlPr>
                      </m:sSubPr>
                      <m:e>
                        <m:r>
                          <a:rPr lang="en-AU" altLang="zh-CN" sz="2400" b="0" i="1" dirty="0" smtClean="0">
                            <a:solidFill>
                              <a:srgbClr val="0070C0"/>
                            </a:solidFill>
                            <a:latin typeface="Cambria Math" panose="02040503050406030204" pitchFamily="18" charset="0"/>
                          </a:rPr>
                          <m:t>𝑟</m:t>
                        </m:r>
                      </m:e>
                      <m:sub>
                        <m:r>
                          <a:rPr lang="en-AU" altLang="zh-CN" sz="2400" b="0" i="1" dirty="0" smtClean="0">
                            <a:solidFill>
                              <a:srgbClr val="0070C0"/>
                            </a:solidFill>
                            <a:latin typeface="Cambria Math" panose="02040503050406030204" pitchFamily="18" charset="0"/>
                          </a:rPr>
                          <m:t>𝑛</m:t>
                        </m:r>
                      </m:sub>
                    </m:sSub>
                    <m:r>
                      <a:rPr lang="pt-BR" altLang="zh-CN" sz="2400" i="1" dirty="0" smtClean="0">
                        <a:latin typeface="Cambria Math" panose="02040503050406030204" pitchFamily="18" charset="0"/>
                      </a:rPr>
                      <m:t>] → </m:t>
                    </m:r>
                    <m:r>
                      <a:rPr lang="pt-BR" altLang="zh-CN" sz="2400" i="1" dirty="0" smtClean="0">
                        <a:latin typeface="Cambria Math" panose="02040503050406030204" pitchFamily="18" charset="0"/>
                      </a:rPr>
                      <m:t>𝑎</m:t>
                    </m:r>
                    <m:r>
                      <a:rPr lang="pt-BR" altLang="zh-CN" sz="2400" i="1" dirty="0" smtClean="0">
                        <a:latin typeface="Cambria Math" panose="02040503050406030204" pitchFamily="18" charset="0"/>
                      </a:rPr>
                      <m:t>[</m:t>
                    </m:r>
                    <m:r>
                      <a:rPr lang="pt-BR" altLang="zh-CN" sz="2400" i="1" dirty="0" smtClean="0">
                        <a:latin typeface="Cambria Math" panose="02040503050406030204" pitchFamily="18" charset="0"/>
                      </a:rPr>
                      <m:t>𝑝</m:t>
                    </m:r>
                    <m:sSub>
                      <m:sSubPr>
                        <m:ctrlPr>
                          <a:rPr lang="pt-BR"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𝑌</m:t>
                        </m:r>
                      </m:e>
                      <m:sub>
                        <m:r>
                          <a:rPr lang="en-AU" altLang="zh-CN" sz="2400" b="0" i="1" dirty="0" smtClean="0">
                            <a:latin typeface="Cambria Math" panose="02040503050406030204" pitchFamily="18" charset="0"/>
                          </a:rPr>
                          <m:t>1</m:t>
                        </m:r>
                      </m:sub>
                    </m:sSub>
                    <m:sSub>
                      <m:sSubPr>
                        <m:ctrlPr>
                          <a:rPr lang="pt-BR" altLang="zh-CN" sz="2400" i="1" dirty="0" smtClean="0">
                            <a:solidFill>
                              <a:srgbClr val="7030A0"/>
                            </a:solidFill>
                            <a:latin typeface="Cambria Math" panose="02040503050406030204" pitchFamily="18" charset="0"/>
                          </a:rPr>
                        </m:ctrlPr>
                      </m:sSubPr>
                      <m:e>
                        <m:r>
                          <a:rPr lang="en-AU" altLang="zh-CN" sz="2400" i="1" dirty="0">
                            <a:solidFill>
                              <a:srgbClr val="7030A0"/>
                            </a:solidFill>
                            <a:latin typeface="Cambria Math" panose="02040503050406030204" pitchFamily="18" charset="0"/>
                          </a:rPr>
                          <m:t>𝑟</m:t>
                        </m:r>
                      </m:e>
                      <m:sub>
                        <m:r>
                          <a:rPr lang="en-AU" altLang="zh-CN" sz="2400" b="0" i="1" dirty="0" smtClean="0">
                            <a:solidFill>
                              <a:srgbClr val="7030A0"/>
                            </a:solidFill>
                            <a:latin typeface="Cambria Math" panose="02040503050406030204" pitchFamily="18" charset="0"/>
                          </a:rPr>
                          <m:t>1</m:t>
                        </m:r>
                      </m:sub>
                    </m:sSub>
                    <m:r>
                      <a:rPr lang="pt-BR" altLang="zh-CN" sz="2400" i="1" dirty="0" smtClean="0">
                        <a:latin typeface="Cambria Math" panose="02040503050406030204" pitchFamily="18" charset="0"/>
                      </a:rPr>
                      <m:t>][</m:t>
                    </m:r>
                    <m:sSub>
                      <m:sSubPr>
                        <m:ctrlPr>
                          <a:rPr lang="pt-BR" altLang="zh-CN" sz="2400" i="1" dirty="0" smtClean="0">
                            <a:solidFill>
                              <a:srgbClr val="7030A0"/>
                            </a:solidFill>
                            <a:latin typeface="Cambria Math" panose="02040503050406030204" pitchFamily="18" charset="0"/>
                          </a:rPr>
                        </m:ctrlPr>
                      </m:sSubPr>
                      <m:e>
                        <m:r>
                          <a:rPr lang="en-AU" altLang="zh-CN" sz="2400" i="1" dirty="0">
                            <a:solidFill>
                              <a:srgbClr val="7030A0"/>
                            </a:solidFill>
                            <a:latin typeface="Cambria Math" panose="02040503050406030204" pitchFamily="18" charset="0"/>
                          </a:rPr>
                          <m:t>𝑟</m:t>
                        </m:r>
                      </m:e>
                      <m:sub>
                        <m:r>
                          <a:rPr lang="en-AU" altLang="zh-CN" sz="2400" b="0" i="1" dirty="0" smtClean="0">
                            <a:solidFill>
                              <a:srgbClr val="7030A0"/>
                            </a:solidFill>
                            <a:latin typeface="Cambria Math" panose="02040503050406030204" pitchFamily="18" charset="0"/>
                          </a:rPr>
                          <m:t>1</m:t>
                        </m:r>
                      </m:sub>
                    </m:sSub>
                    <m:sSub>
                      <m:sSubPr>
                        <m:ctrlPr>
                          <a:rPr lang="pt-BR" altLang="zh-CN" sz="2400" i="1" dirty="0" smtClean="0">
                            <a:latin typeface="Cambria Math" panose="02040503050406030204" pitchFamily="18" charset="0"/>
                          </a:rPr>
                        </m:ctrlPr>
                      </m:sSubPr>
                      <m:e>
                        <m:r>
                          <a:rPr lang="en-AU" altLang="zh-CN" sz="2400" i="1" dirty="0">
                            <a:latin typeface="Cambria Math" panose="02040503050406030204" pitchFamily="18" charset="0"/>
                          </a:rPr>
                          <m:t>𝑌</m:t>
                        </m:r>
                      </m:e>
                      <m:sub>
                        <m:r>
                          <a:rPr lang="en-AU" altLang="zh-CN" sz="2400" b="0" i="1" dirty="0" smtClean="0">
                            <a:latin typeface="Cambria Math" panose="02040503050406030204" pitchFamily="18" charset="0"/>
                          </a:rPr>
                          <m:t>2</m:t>
                        </m:r>
                      </m:sub>
                    </m:sSub>
                    <m:sSub>
                      <m:sSubPr>
                        <m:ctrlPr>
                          <a:rPr lang="pt-BR" altLang="zh-CN" sz="2400" i="1" dirty="0">
                            <a:latin typeface="Cambria Math" panose="02040503050406030204" pitchFamily="18" charset="0"/>
                          </a:rPr>
                        </m:ctrlPr>
                      </m:sSubPr>
                      <m:e>
                        <m:r>
                          <a:rPr lang="en-AU" altLang="zh-CN" sz="2400" i="1" dirty="0">
                            <a:latin typeface="Cambria Math" panose="02040503050406030204" pitchFamily="18" charset="0"/>
                          </a:rPr>
                          <m:t>𝑟</m:t>
                        </m:r>
                      </m:e>
                      <m:sub>
                        <m:r>
                          <a:rPr lang="en-AU" altLang="zh-CN" sz="2400" b="0" i="1" dirty="0" smtClean="0">
                            <a:latin typeface="Cambria Math" panose="02040503050406030204" pitchFamily="18" charset="0"/>
                          </a:rPr>
                          <m:t>2</m:t>
                        </m:r>
                      </m:sub>
                    </m:sSub>
                    <m:r>
                      <a:rPr lang="pt-BR" altLang="zh-CN" sz="2400" i="1" dirty="0" smtClean="0">
                        <a:latin typeface="Cambria Math" panose="02040503050406030204" pitchFamily="18" charset="0"/>
                      </a:rPr>
                      <m:t>] · · · [</m:t>
                    </m:r>
                    <m:sSub>
                      <m:sSubPr>
                        <m:ctrlPr>
                          <a:rPr lang="pt-BR" altLang="zh-CN" sz="2400" i="1" dirty="0">
                            <a:latin typeface="Cambria Math" panose="02040503050406030204" pitchFamily="18" charset="0"/>
                          </a:rPr>
                        </m:ctrlPr>
                      </m:sSubPr>
                      <m:e>
                        <m:r>
                          <a:rPr lang="en-AU" altLang="zh-CN" sz="2400" i="1" dirty="0">
                            <a:latin typeface="Cambria Math" panose="02040503050406030204" pitchFamily="18" charset="0"/>
                          </a:rPr>
                          <m:t>𝑟</m:t>
                        </m:r>
                      </m:e>
                      <m:sub>
                        <m:r>
                          <a:rPr lang="en-AU" altLang="zh-CN" sz="2400" b="0" i="1" dirty="0" smtClean="0">
                            <a:latin typeface="Cambria Math" panose="02040503050406030204" pitchFamily="18" charset="0"/>
                          </a:rPr>
                          <m:t>𝑛</m:t>
                        </m:r>
                        <m:r>
                          <a:rPr lang="en-AU" altLang="zh-CN" sz="2400" b="0" i="1" dirty="0" smtClean="0">
                            <a:latin typeface="Cambria Math" panose="02040503050406030204" pitchFamily="18" charset="0"/>
                          </a:rPr>
                          <m:t>−1</m:t>
                        </m:r>
                      </m:sub>
                    </m:sSub>
                    <m:sSub>
                      <m:sSubPr>
                        <m:ctrlPr>
                          <a:rPr lang="pt-BR" altLang="zh-CN" sz="2400" i="1" dirty="0">
                            <a:latin typeface="Cambria Math" panose="02040503050406030204" pitchFamily="18" charset="0"/>
                          </a:rPr>
                        </m:ctrlPr>
                      </m:sSubPr>
                      <m:e>
                        <m:r>
                          <a:rPr lang="en-AU" altLang="zh-CN" sz="2400" b="0" i="1" dirty="0" smtClean="0">
                            <a:latin typeface="Cambria Math" panose="02040503050406030204" pitchFamily="18" charset="0"/>
                          </a:rPr>
                          <m:t>𝑌</m:t>
                        </m:r>
                      </m:e>
                      <m:sub>
                        <m:r>
                          <a:rPr lang="en-AU" altLang="zh-CN" sz="2400" b="0" i="1" dirty="0" smtClean="0">
                            <a:latin typeface="Cambria Math" panose="02040503050406030204" pitchFamily="18" charset="0"/>
                          </a:rPr>
                          <m:t>𝑛</m:t>
                        </m:r>
                      </m:sub>
                    </m:sSub>
                    <m:sSub>
                      <m:sSubPr>
                        <m:ctrlPr>
                          <a:rPr lang="pt-BR" altLang="zh-CN" sz="2400" i="1" dirty="0" smtClean="0">
                            <a:solidFill>
                              <a:srgbClr val="0070C0"/>
                            </a:solidFill>
                            <a:latin typeface="Cambria Math" panose="02040503050406030204" pitchFamily="18" charset="0"/>
                          </a:rPr>
                        </m:ctrlPr>
                      </m:sSubPr>
                      <m:e>
                        <m:r>
                          <a:rPr lang="en-AU" altLang="zh-CN" sz="2400" i="1" dirty="0">
                            <a:solidFill>
                              <a:srgbClr val="0070C0"/>
                            </a:solidFill>
                            <a:latin typeface="Cambria Math" panose="02040503050406030204" pitchFamily="18" charset="0"/>
                          </a:rPr>
                          <m:t>𝑟</m:t>
                        </m:r>
                      </m:e>
                      <m:sub>
                        <m:r>
                          <a:rPr lang="en-AU" altLang="zh-CN" sz="2400" b="0" i="1" dirty="0" smtClean="0">
                            <a:solidFill>
                              <a:srgbClr val="0070C0"/>
                            </a:solidFill>
                            <a:latin typeface="Cambria Math" panose="02040503050406030204" pitchFamily="18" charset="0"/>
                          </a:rPr>
                          <m:t>𝑛</m:t>
                        </m:r>
                      </m:sub>
                    </m:sSub>
                    <m:r>
                      <a:rPr lang="pt-BR" altLang="zh-CN" sz="2400" i="1" dirty="0" smtClean="0">
                        <a:latin typeface="Cambria Math" panose="02040503050406030204" pitchFamily="18" charset="0"/>
                      </a:rPr>
                      <m:t>]</m:t>
                    </m:r>
                  </m:oMath>
                </a14:m>
                <a:r>
                  <a:rPr lang="en-AU" sz="2400" dirty="0"/>
                  <a:t>,</a:t>
                </a:r>
              </a:p>
              <a:p>
                <a:pPr marL="0" indent="0">
                  <a:lnSpc>
                    <a:spcPct val="120000"/>
                  </a:lnSpc>
                  <a:buNone/>
                </a:pPr>
                <a:r>
                  <a:rPr lang="zh-CN" altLang="en-US" sz="2400" dirty="0"/>
                  <a:t>其中 </a:t>
                </a:r>
                <a14:m>
                  <m:oMath xmlns:m="http://schemas.openxmlformats.org/officeDocument/2006/math">
                    <m:r>
                      <a:rPr lang="en-AU" sz="2400" i="1" dirty="0" smtClean="0">
                        <a:latin typeface="Cambria Math" panose="02040503050406030204" pitchFamily="18" charset="0"/>
                      </a:rPr>
                      <m:t>𝑎</m:t>
                    </m:r>
                    <m:r>
                      <a:rPr lang="en-AU" sz="2400" i="1" dirty="0" smtClean="0">
                        <a:latin typeface="Cambria Math" panose="02040503050406030204" pitchFamily="18" charset="0"/>
                      </a:rPr>
                      <m:t> ∈ </m:t>
                    </m:r>
                    <m:r>
                      <m:rPr>
                        <m:sty m:val="p"/>
                      </m:rPr>
                      <a:rPr lang="el-GR" sz="2400" i="0" dirty="0" smtClean="0">
                        <a:latin typeface="Cambria Math" panose="02040503050406030204" pitchFamily="18" charset="0"/>
                      </a:rPr>
                      <m:t>Σ</m:t>
                    </m:r>
                    <m:r>
                      <a:rPr lang="el-GR" sz="2400" i="1" dirty="0" smtClean="0">
                        <a:latin typeface="Cambria Math" panose="02040503050406030204" pitchFamily="18" charset="0"/>
                      </a:rPr>
                      <m:t> ∪ {</m:t>
                    </m:r>
                    <m:r>
                      <a:rPr lang="el-GR" sz="2400" i="1" dirty="0" smtClean="0">
                        <a:latin typeface="Cambria Math" panose="02040503050406030204" pitchFamily="18" charset="0"/>
                      </a:rPr>
                      <m:t>𝜀</m:t>
                    </m:r>
                    <m:r>
                      <a:rPr lang="el-GR" sz="2400" i="1" dirty="0" smtClean="0">
                        <a:latin typeface="Cambria Math" panose="02040503050406030204" pitchFamily="18" charset="0"/>
                      </a:rPr>
                      <m:t>}, </m:t>
                    </m:r>
                    <m:r>
                      <a:rPr lang="en-AU" sz="2400" i="1" dirty="0" err="1" smtClean="0">
                        <a:latin typeface="Cambria Math" panose="02040503050406030204" pitchFamily="18" charset="0"/>
                      </a:rPr>
                      <m:t>𝑋</m:t>
                    </m:r>
                    <m:r>
                      <a:rPr lang="en-AU" sz="2400" i="1" dirty="0" err="1" smtClean="0">
                        <a:latin typeface="Cambria Math" panose="02040503050406030204" pitchFamily="18" charset="0"/>
                      </a:rPr>
                      <m:t>,</m:t>
                    </m:r>
                    <m:sSub>
                      <m:sSubPr>
                        <m:ctrlPr>
                          <a:rPr lang="pt-BR" altLang="zh-CN" sz="2400" i="1" dirty="0">
                            <a:latin typeface="Cambria Math" panose="02040503050406030204" pitchFamily="18" charset="0"/>
                          </a:rPr>
                        </m:ctrlPr>
                      </m:sSubPr>
                      <m:e>
                        <m:r>
                          <a:rPr lang="en-AU" altLang="zh-CN" sz="2400" i="1" dirty="0">
                            <a:latin typeface="Cambria Math" panose="02040503050406030204" pitchFamily="18" charset="0"/>
                          </a:rPr>
                          <m:t>𝑌</m:t>
                        </m:r>
                      </m:e>
                      <m:sub>
                        <m:r>
                          <a:rPr lang="en-AU" altLang="zh-CN" sz="2400" b="0" i="1" dirty="0" smtClean="0">
                            <a:latin typeface="Cambria Math" panose="02040503050406030204" pitchFamily="18" charset="0"/>
                          </a:rPr>
                          <m:t>𝑖</m:t>
                        </m:r>
                      </m:sub>
                    </m:sSub>
                    <m:r>
                      <a:rPr lang="en-AU" sz="2400" i="1" dirty="0" smtClean="0">
                        <a:latin typeface="Cambria Math" panose="02040503050406030204" pitchFamily="18" charset="0"/>
                      </a:rPr>
                      <m:t>∈ </m:t>
                    </m:r>
                    <m:r>
                      <m:rPr>
                        <m:sty m:val="p"/>
                      </m:rPr>
                      <a:rPr lang="el-GR" sz="2400" i="0" dirty="0" smtClean="0">
                        <a:latin typeface="Cambria Math" panose="02040503050406030204" pitchFamily="18" charset="0"/>
                      </a:rPr>
                      <m:t>Γ</m:t>
                    </m:r>
                  </m:oMath>
                </a14:m>
                <a:r>
                  <a:rPr lang="en-AU" sz="2400" dirty="0"/>
                  <a:t>,</a:t>
                </a:r>
                <a:r>
                  <a:rPr lang="pt-BR" altLang="zh-CN" sz="2400" dirty="0"/>
                  <a:t> </a:t>
                </a:r>
                <a14:m>
                  <m:oMath xmlns:m="http://schemas.openxmlformats.org/officeDocument/2006/math">
                    <m:sSub>
                      <m:sSubPr>
                        <m:ctrlPr>
                          <a:rPr lang="pt-BR" altLang="zh-CN" sz="2400" i="1" dirty="0">
                            <a:latin typeface="Cambria Math" panose="02040503050406030204" pitchFamily="18" charset="0"/>
                          </a:rPr>
                        </m:ctrlPr>
                      </m:sSubPr>
                      <m:e>
                        <m:r>
                          <a:rPr lang="en-AU" altLang="zh-CN" sz="2400" i="1" dirty="0">
                            <a:latin typeface="Cambria Math" panose="02040503050406030204" pitchFamily="18" charset="0"/>
                          </a:rPr>
                          <m:t>𝑟</m:t>
                        </m:r>
                      </m:e>
                      <m:sub>
                        <m:r>
                          <a:rPr lang="en-AU" altLang="zh-CN" sz="2400" i="1" dirty="0">
                            <a:latin typeface="Cambria Math" panose="02040503050406030204" pitchFamily="18" charset="0"/>
                          </a:rPr>
                          <m:t>1</m:t>
                        </m:r>
                      </m:sub>
                    </m:sSub>
                    <m:r>
                      <a:rPr lang="en-AU" altLang="zh-CN" sz="2400" b="0" i="0" dirty="0" smtClean="0">
                        <a:latin typeface="Cambria Math" panose="02040503050406030204" pitchFamily="18" charset="0"/>
                      </a:rPr>
                      <m:t>,</m:t>
                    </m:r>
                    <m:sSub>
                      <m:sSubPr>
                        <m:ctrlPr>
                          <a:rPr lang="pt-BR" altLang="zh-CN" sz="2400" i="1" dirty="0">
                            <a:latin typeface="Cambria Math" panose="02040503050406030204" pitchFamily="18" charset="0"/>
                          </a:rPr>
                        </m:ctrlPr>
                      </m:sSubPr>
                      <m:e>
                        <m:r>
                          <a:rPr lang="en-AU" altLang="zh-CN" sz="2400" i="1" dirty="0">
                            <a:latin typeface="Cambria Math" panose="02040503050406030204" pitchFamily="18" charset="0"/>
                          </a:rPr>
                          <m:t>𝑟</m:t>
                        </m:r>
                      </m:e>
                      <m:sub>
                        <m:r>
                          <a:rPr lang="en-AU" altLang="zh-CN" sz="2400" b="0" i="1" dirty="0" smtClean="0">
                            <a:latin typeface="Cambria Math" panose="02040503050406030204" pitchFamily="18" charset="0"/>
                          </a:rPr>
                          <m:t>2</m:t>
                        </m:r>
                      </m:sub>
                    </m:sSub>
                    <m:r>
                      <a:rPr lang="en-AU" altLang="zh-CN" sz="2400" b="0" i="1" dirty="0" smtClean="0">
                        <a:latin typeface="Cambria Math" panose="02040503050406030204" pitchFamily="18" charset="0"/>
                      </a:rPr>
                      <m:t>,</m:t>
                    </m:r>
                    <m:r>
                      <a:rPr lang="en-AU" altLang="zh-CN" sz="2400" b="0" i="1" dirty="0" smtClean="0">
                        <a:latin typeface="Cambria Math" panose="02040503050406030204" pitchFamily="18" charset="0"/>
                        <a:ea typeface="Cambria Math" panose="02040503050406030204" pitchFamily="18" charset="0"/>
                      </a:rPr>
                      <m:t>⋯,</m:t>
                    </m:r>
                    <m:sSub>
                      <m:sSubPr>
                        <m:ctrlPr>
                          <a:rPr lang="pt-BR" altLang="zh-CN" sz="2400" i="1" dirty="0">
                            <a:latin typeface="Cambria Math" panose="02040503050406030204" pitchFamily="18" charset="0"/>
                          </a:rPr>
                        </m:ctrlPr>
                      </m:sSubPr>
                      <m:e>
                        <m:r>
                          <a:rPr lang="en-AU" altLang="zh-CN" sz="2400" i="1" dirty="0">
                            <a:latin typeface="Cambria Math" panose="02040503050406030204" pitchFamily="18" charset="0"/>
                          </a:rPr>
                          <m:t>𝑟</m:t>
                        </m:r>
                      </m:e>
                      <m:sub>
                        <m:r>
                          <a:rPr lang="en-AU" altLang="zh-CN" sz="2400" b="0" i="1" dirty="0" smtClean="0">
                            <a:latin typeface="Cambria Math" panose="02040503050406030204" pitchFamily="18" charset="0"/>
                          </a:rPr>
                          <m:t>𝑛</m:t>
                        </m:r>
                      </m:sub>
                    </m:sSub>
                  </m:oMath>
                </a14:m>
                <a:r>
                  <a:rPr lang="zh-CN" altLang="en-US" sz="2400" dirty="0"/>
                  <a:t>是</a:t>
                </a:r>
                <a14:m>
                  <m:oMath xmlns:m="http://schemas.openxmlformats.org/officeDocument/2006/math">
                    <m:r>
                      <a:rPr lang="en-AU" sz="2400" i="1" dirty="0" smtClean="0">
                        <a:latin typeface="Cambria Math" panose="02040503050406030204" pitchFamily="18" charset="0"/>
                      </a:rPr>
                      <m:t>𝑄</m:t>
                    </m:r>
                  </m:oMath>
                </a14:m>
                <a:r>
                  <a:rPr lang="zh-CN" altLang="en-US" sz="2400" dirty="0"/>
                  <a:t>中各种可能组合的</a:t>
                </a:r>
                <a14:m>
                  <m:oMath xmlns:m="http://schemas.openxmlformats.org/officeDocument/2006/math">
                    <m:r>
                      <a:rPr lang="en-AU" sz="2400" i="1" dirty="0" smtClean="0">
                        <a:latin typeface="Cambria Math" panose="02040503050406030204" pitchFamily="18" charset="0"/>
                      </a:rPr>
                      <m:t>𝑛</m:t>
                    </m:r>
                  </m:oMath>
                </a14:m>
                <a:r>
                  <a:rPr lang="zh-CN" altLang="en-US" sz="2400" dirty="0"/>
                  <a:t>个状态，即</a:t>
                </a:r>
                <a14:m>
                  <m:oMath xmlns:m="http://schemas.openxmlformats.org/officeDocument/2006/math">
                    <m:sSub>
                      <m:sSubPr>
                        <m:ctrlPr>
                          <a:rPr lang="pt-BR" altLang="zh-CN" sz="2400" i="1" dirty="0">
                            <a:latin typeface="Cambria Math" panose="02040503050406030204" pitchFamily="18" charset="0"/>
                          </a:rPr>
                        </m:ctrlPr>
                      </m:sSubPr>
                      <m:e>
                        <m:r>
                          <a:rPr lang="en-AU" altLang="zh-CN" sz="2400" i="1" dirty="0">
                            <a:latin typeface="Cambria Math" panose="02040503050406030204" pitchFamily="18" charset="0"/>
                          </a:rPr>
                          <m:t>𝑟</m:t>
                        </m:r>
                      </m:e>
                      <m:sub>
                        <m:r>
                          <a:rPr lang="en-AU" altLang="zh-CN" sz="2400" b="0" i="1" dirty="0" smtClean="0">
                            <a:latin typeface="Cambria Math" panose="02040503050406030204" pitchFamily="18" charset="0"/>
                          </a:rPr>
                          <m:t>𝑖</m:t>
                        </m:r>
                      </m:sub>
                    </m:sSub>
                    <m:r>
                      <a:rPr lang="en-AU" altLang="zh-CN" sz="2400" i="1" dirty="0">
                        <a:latin typeface="Cambria Math" panose="02040503050406030204" pitchFamily="18" charset="0"/>
                      </a:rPr>
                      <m:t> </m:t>
                    </m:r>
                  </m:oMath>
                </a14:m>
                <a:r>
                  <a:rPr lang="zh-CN" altLang="en-US" sz="2400" dirty="0"/>
                  <a:t>可以是</a:t>
                </a:r>
                <a14:m>
                  <m:oMath xmlns:m="http://schemas.openxmlformats.org/officeDocument/2006/math">
                    <m:r>
                      <a:rPr lang="en-AU" sz="2400" i="1" dirty="0">
                        <a:latin typeface="Cambria Math" panose="02040503050406030204" pitchFamily="18" charset="0"/>
                      </a:rPr>
                      <m:t>𝑄</m:t>
                    </m:r>
                    <m:r>
                      <a:rPr lang="en-AU" sz="2400" i="1" dirty="0">
                        <a:latin typeface="Cambria Math" panose="02040503050406030204" pitchFamily="18" charset="0"/>
                      </a:rPr>
                      <m:t> </m:t>
                    </m:r>
                    <m:r>
                      <a:rPr lang="zh-CN" altLang="en-US" sz="2400" i="1" dirty="0" smtClean="0">
                        <a:latin typeface="Cambria Math" panose="02040503050406030204" pitchFamily="18" charset="0"/>
                      </a:rPr>
                      <m:t>中</m:t>
                    </m:r>
                  </m:oMath>
                </a14:m>
                <a:r>
                  <a:rPr lang="zh-CN" altLang="en-US" sz="2400" dirty="0"/>
                  <a:t>任意一个状态。</a:t>
                </a:r>
                <a:endParaRPr lang="en-AU" altLang="zh-CN" sz="2400" dirty="0"/>
              </a:p>
              <a:p>
                <a:pPr marL="0" indent="0">
                  <a:lnSpc>
                    <a:spcPct val="120000"/>
                  </a:lnSpc>
                  <a:buNone/>
                </a:pPr>
                <a:endParaRPr lang="en-AU" altLang="zh-CN" sz="2400" dirty="0"/>
              </a:p>
              <a:p>
                <a:pPr marL="0" indent="0">
                  <a:lnSpc>
                    <a:spcPct val="120000"/>
                  </a:lnSpc>
                  <a:buNone/>
                </a:pPr>
                <a:endParaRPr lang="en-US" altLang="zh-CN" sz="2400" dirty="0"/>
              </a:p>
              <a:p>
                <a:pPr marL="0" indent="0">
                  <a:lnSpc>
                    <a:spcPct val="120000"/>
                  </a:lnSpc>
                  <a:buNone/>
                </a:pPr>
                <a:r>
                  <a:rPr lang="en-AU" altLang="zh-CN" sz="2400" dirty="0"/>
                  <a:t>(3)</a:t>
                </a:r>
                <a:r>
                  <a:rPr lang="zh-CN" altLang="en-US" sz="2400" dirty="0"/>
                  <a:t>若</a:t>
                </a:r>
                <a14:m>
                  <m:oMath xmlns:m="http://schemas.openxmlformats.org/officeDocument/2006/math">
                    <m:sSub>
                      <m:sSubPr>
                        <m:ctrlPr>
                          <a:rPr lang="en-AU" altLang="zh-CN" sz="2400" i="1" dirty="0">
                            <a:latin typeface="Cambria Math" panose="02040503050406030204" pitchFamily="18" charset="0"/>
                            <a:ea typeface="Cambria Math" panose="02040503050406030204" pitchFamily="18" charset="0"/>
                          </a:rPr>
                        </m:ctrlPr>
                      </m:sSubPr>
                      <m:e>
                        <m:r>
                          <a:rPr lang="en-AU" altLang="zh-CN" sz="2400" i="1" dirty="0">
                            <a:latin typeface="Cambria Math" panose="02040503050406030204" pitchFamily="18" charset="0"/>
                            <a:ea typeface="Cambria Math" panose="02040503050406030204" pitchFamily="18" charset="0"/>
                          </a:rPr>
                          <m:t>𝑌</m:t>
                        </m:r>
                      </m:e>
                      <m:sub>
                        <m:r>
                          <a:rPr lang="en-AU" altLang="zh-CN" sz="2400" i="1" dirty="0">
                            <a:latin typeface="Cambria Math" panose="02040503050406030204" pitchFamily="18" charset="0"/>
                            <a:ea typeface="Cambria Math" panose="02040503050406030204" pitchFamily="18" charset="0"/>
                          </a:rPr>
                          <m:t>1</m:t>
                        </m:r>
                      </m:sub>
                    </m:sSub>
                    <m:sSub>
                      <m:sSubPr>
                        <m:ctrlPr>
                          <a:rPr lang="en-AU" altLang="zh-CN" sz="2400" i="1" dirty="0">
                            <a:latin typeface="Cambria Math" panose="02040503050406030204" pitchFamily="18" charset="0"/>
                            <a:ea typeface="Cambria Math" panose="02040503050406030204" pitchFamily="18" charset="0"/>
                          </a:rPr>
                        </m:ctrlPr>
                      </m:sSubPr>
                      <m:e>
                        <m:r>
                          <a:rPr lang="en-AU" altLang="zh-CN" sz="2400" i="1" dirty="0">
                            <a:latin typeface="Cambria Math" panose="02040503050406030204" pitchFamily="18" charset="0"/>
                            <a:ea typeface="Cambria Math" panose="02040503050406030204" pitchFamily="18" charset="0"/>
                          </a:rPr>
                          <m:t>𝑌</m:t>
                        </m:r>
                      </m:e>
                      <m:sub>
                        <m:r>
                          <a:rPr lang="en-AU" altLang="zh-CN" sz="2400" i="1" dirty="0">
                            <a:latin typeface="Cambria Math" panose="02040503050406030204" pitchFamily="18" charset="0"/>
                            <a:ea typeface="Cambria Math" panose="02040503050406030204" pitchFamily="18" charset="0"/>
                          </a:rPr>
                          <m:t>2</m:t>
                        </m:r>
                      </m:sub>
                    </m:sSub>
                    <m:sSub>
                      <m:sSubPr>
                        <m:ctrlPr>
                          <a:rPr lang="en-AU" altLang="zh-CN" sz="2400" i="1" dirty="0">
                            <a:latin typeface="Cambria Math" panose="02040503050406030204" pitchFamily="18" charset="0"/>
                            <a:ea typeface="Cambria Math" panose="02040503050406030204" pitchFamily="18" charset="0"/>
                          </a:rPr>
                        </m:ctrlPr>
                      </m:sSubPr>
                      <m:e>
                        <m:r>
                          <a:rPr lang="en-AU" altLang="zh-CN" sz="2400" i="1" dirty="0">
                            <a:latin typeface="Cambria Math" panose="02040503050406030204" pitchFamily="18" charset="0"/>
                            <a:ea typeface="Cambria Math" panose="02040503050406030204" pitchFamily="18" charset="0"/>
                          </a:rPr>
                          <m:t>…</m:t>
                        </m:r>
                        <m:r>
                          <a:rPr lang="en-AU" altLang="zh-CN" sz="2400" i="1" dirty="0">
                            <a:latin typeface="Cambria Math" panose="02040503050406030204" pitchFamily="18" charset="0"/>
                            <a:ea typeface="Cambria Math" panose="02040503050406030204" pitchFamily="18" charset="0"/>
                          </a:rPr>
                          <m:t>𝑌</m:t>
                        </m:r>
                      </m:e>
                      <m:sub>
                        <m:r>
                          <a:rPr lang="en-AU" altLang="zh-CN" sz="2400" i="1" dirty="0">
                            <a:latin typeface="Cambria Math" panose="02040503050406030204" pitchFamily="18" charset="0"/>
                            <a:ea typeface="Cambria Math" panose="02040503050406030204" pitchFamily="18" charset="0"/>
                          </a:rPr>
                          <m:t>𝑛</m:t>
                        </m:r>
                      </m:sub>
                    </m:sSub>
                    <m:r>
                      <a:rPr lang="en-AU" altLang="zh-CN" sz="2400" b="0" i="1" dirty="0" smtClean="0">
                        <a:latin typeface="Cambria Math" panose="02040503050406030204" pitchFamily="18" charset="0"/>
                        <a:ea typeface="Cambria Math" panose="02040503050406030204" pitchFamily="18" charset="0"/>
                      </a:rPr>
                      <m:t>=</m:t>
                    </m:r>
                    <m:r>
                      <a:rPr lang="el-GR" sz="2400" i="1" dirty="0">
                        <a:latin typeface="Cambria Math" panose="02040503050406030204" pitchFamily="18" charset="0"/>
                      </a:rPr>
                      <m:t>𝜀</m:t>
                    </m:r>
                  </m:oMath>
                </a14:m>
                <a:r>
                  <a:rPr lang="en-AU" sz="2400" dirty="0"/>
                  <a:t>, </a:t>
                </a:r>
                <a:r>
                  <a:rPr lang="zh-CN" altLang="en-US" sz="2400" dirty="0"/>
                  <a:t>则有产生式</a:t>
                </a:r>
                <a14:m>
                  <m:oMath xmlns:m="http://schemas.openxmlformats.org/officeDocument/2006/math">
                    <m:d>
                      <m:dPr>
                        <m:begChr m:val="["/>
                        <m:endChr m:val="]"/>
                        <m:ctrlPr>
                          <a:rPr lang="en-US" altLang="zh-CN" sz="2400" i="1" dirty="0" smtClean="0">
                            <a:latin typeface="Cambria Math" panose="02040503050406030204" pitchFamily="18" charset="0"/>
                          </a:rPr>
                        </m:ctrlPr>
                      </m:dPr>
                      <m:e>
                        <m:r>
                          <a:rPr lang="en-AU" sz="2400" i="1" dirty="0" err="1" smtClean="0">
                            <a:latin typeface="Cambria Math" panose="02040503050406030204" pitchFamily="18" charset="0"/>
                          </a:rPr>
                          <m:t>𝑞</m:t>
                        </m:r>
                        <m:r>
                          <a:rPr lang="en-AU" sz="2400" b="0" i="1" dirty="0" smtClean="0">
                            <a:latin typeface="Cambria Math" panose="02040503050406030204" pitchFamily="18" charset="0"/>
                          </a:rPr>
                          <m:t>𝑋𝑝</m:t>
                        </m:r>
                      </m:e>
                    </m:d>
                    <m:r>
                      <a:rPr lang="en-AU" sz="2400" i="1" dirty="0" smtClean="0">
                        <a:latin typeface="Cambria Math" panose="02040503050406030204" pitchFamily="18" charset="0"/>
                      </a:rPr>
                      <m:t>→</m:t>
                    </m:r>
                    <m:r>
                      <a:rPr lang="en-AU" sz="2400" i="1" dirty="0" smtClean="0">
                        <a:latin typeface="Cambria Math" panose="02040503050406030204" pitchFamily="18" charset="0"/>
                      </a:rPr>
                      <m:t>𝑎</m:t>
                    </m:r>
                  </m:oMath>
                </a14:m>
                <a:r>
                  <a:rPr lang="zh-CN" altLang="en-US" sz="2400" dirty="0"/>
                  <a:t>。</a:t>
                </a:r>
                <a:endParaRPr lang="en-AU"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457200" y="1033041"/>
                <a:ext cx="8229600" cy="5323309"/>
              </a:xfrm>
              <a:blipFill rotWithShape="1">
                <a:blip r:embed="rId3"/>
                <a:stretch>
                  <a:fillRect t="-10"/>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39</a:t>
            </a:fld>
            <a:endParaRPr lang="en-AU"/>
          </a:p>
        </p:txBody>
      </p:sp>
      <mc:AlternateContent xmlns:mc="http://schemas.openxmlformats.org/markup-compatibility/2006" xmlns:a14="http://schemas.microsoft.com/office/drawing/2010/main">
        <mc:Choice Requires="a14">
          <p:sp>
            <p:nvSpPr>
              <p:cNvPr id="6" name="TextBox 5"/>
              <p:cNvSpPr txBox="1"/>
              <p:nvPr/>
            </p:nvSpPr>
            <p:spPr>
              <a:xfrm>
                <a:off x="3078125" y="4613902"/>
                <a:ext cx="5837275" cy="923330"/>
              </a:xfrm>
              <a:prstGeom prst="rect">
                <a:avLst/>
              </a:prstGeom>
              <a:solidFill>
                <a:srgbClr val="FFC000"/>
              </a:solidFill>
            </p:spPr>
            <p:txBody>
              <a:bodyPr wrap="square">
                <a:spAutoFit/>
              </a:bodyPr>
              <a:lstStyle/>
              <a:p>
                <a:r>
                  <a:rPr lang="zh-CN" altLang="en-US" dirty="0">
                    <a:latin typeface="楷体" panose="02010609060101010101" pitchFamily="49" charset="-122"/>
                    <a:ea typeface="楷体" panose="02010609060101010101" pitchFamily="49" charset="-122"/>
                  </a:rPr>
                  <a:t>为了弹出某个栈符号</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𝑋</m:t>
                    </m:r>
                  </m:oMath>
                </a14:m>
                <a:r>
                  <a:rPr lang="zh-CN" altLang="en-US" dirty="0">
                    <a:latin typeface="楷体" panose="02010609060101010101" pitchFamily="49" charset="-122"/>
                    <a:ea typeface="楷体" panose="02010609060101010101" pitchFamily="49" charset="-122"/>
                  </a:rPr>
                  <a:t>，第一步是利用某个动作将</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𝑋</m:t>
                    </m:r>
                  </m:oMath>
                </a14:m>
                <a:r>
                  <a:rPr lang="zh-CN" altLang="en-US" dirty="0">
                    <a:latin typeface="楷体" panose="02010609060101010101" pitchFamily="49" charset="-122"/>
                    <a:ea typeface="楷体" panose="02010609060101010101" pitchFamily="49" charset="-122"/>
                  </a:rPr>
                  <a:t>替换为其他栈符号串</a:t>
                </a:r>
                <a14:m>
                  <m:oMath xmlns:m="http://schemas.openxmlformats.org/officeDocument/2006/math">
                    <m:sSub>
                      <m:sSubPr>
                        <m:ctrlPr>
                          <a:rPr lang="en-AU" altLang="zh-CN" sz="1800" i="1" dirty="0" smtClean="0">
                            <a:latin typeface="Cambria Math" panose="02040503050406030204" pitchFamily="18" charset="0"/>
                            <a:ea typeface="Cambria Math" panose="02040503050406030204" pitchFamily="18" charset="0"/>
                          </a:rPr>
                        </m:ctrlPr>
                      </m:sSubPr>
                      <m:e>
                        <m:r>
                          <a:rPr lang="en-AU" altLang="zh-CN" sz="1800" i="1" dirty="0">
                            <a:latin typeface="Cambria Math" panose="02040503050406030204" pitchFamily="18" charset="0"/>
                            <a:ea typeface="Cambria Math" panose="02040503050406030204" pitchFamily="18" charset="0"/>
                          </a:rPr>
                          <m:t>𝑌</m:t>
                        </m:r>
                      </m:e>
                      <m:sub>
                        <m:r>
                          <a:rPr lang="en-AU" altLang="zh-CN" sz="1800" i="1" dirty="0">
                            <a:latin typeface="Cambria Math" panose="02040503050406030204" pitchFamily="18" charset="0"/>
                            <a:ea typeface="Cambria Math" panose="02040503050406030204" pitchFamily="18" charset="0"/>
                          </a:rPr>
                          <m:t>1</m:t>
                        </m:r>
                      </m:sub>
                    </m:sSub>
                    <m:sSub>
                      <m:sSubPr>
                        <m:ctrlPr>
                          <a:rPr lang="en-AU" altLang="zh-CN" sz="1800" i="1" dirty="0">
                            <a:latin typeface="Cambria Math" panose="02040503050406030204" pitchFamily="18" charset="0"/>
                            <a:ea typeface="Cambria Math" panose="02040503050406030204" pitchFamily="18" charset="0"/>
                          </a:rPr>
                        </m:ctrlPr>
                      </m:sSubPr>
                      <m:e>
                        <m:r>
                          <a:rPr lang="en-AU" altLang="zh-CN" sz="1800" i="1" dirty="0">
                            <a:latin typeface="Cambria Math" panose="02040503050406030204" pitchFamily="18" charset="0"/>
                            <a:ea typeface="Cambria Math" panose="02040503050406030204" pitchFamily="18" charset="0"/>
                          </a:rPr>
                          <m:t>𝑌</m:t>
                        </m:r>
                      </m:e>
                      <m:sub>
                        <m:r>
                          <a:rPr lang="en-AU" altLang="zh-CN" sz="1800" i="1" dirty="0">
                            <a:latin typeface="Cambria Math" panose="02040503050406030204" pitchFamily="18" charset="0"/>
                            <a:ea typeface="Cambria Math" panose="02040503050406030204" pitchFamily="18" charset="0"/>
                          </a:rPr>
                          <m:t>2</m:t>
                        </m:r>
                      </m:sub>
                    </m:sSub>
                    <m:sSub>
                      <m:sSubPr>
                        <m:ctrlPr>
                          <a:rPr lang="en-AU" altLang="zh-CN" sz="1800" i="1" dirty="0">
                            <a:latin typeface="Cambria Math" panose="02040503050406030204" pitchFamily="18" charset="0"/>
                            <a:ea typeface="Cambria Math" panose="02040503050406030204" pitchFamily="18" charset="0"/>
                          </a:rPr>
                        </m:ctrlPr>
                      </m:sSubPr>
                      <m:e>
                        <m:r>
                          <a:rPr lang="en-AU" altLang="zh-CN" sz="1800" i="1" dirty="0">
                            <a:latin typeface="Cambria Math" panose="02040503050406030204" pitchFamily="18" charset="0"/>
                            <a:ea typeface="Cambria Math" panose="02040503050406030204" pitchFamily="18" charset="0"/>
                          </a:rPr>
                          <m:t>…</m:t>
                        </m:r>
                        <m:r>
                          <a:rPr lang="en-AU" altLang="zh-CN" sz="1800" i="1" dirty="0">
                            <a:latin typeface="Cambria Math" panose="02040503050406030204" pitchFamily="18" charset="0"/>
                            <a:ea typeface="Cambria Math" panose="02040503050406030204" pitchFamily="18" charset="0"/>
                          </a:rPr>
                          <m:t>𝑌</m:t>
                        </m:r>
                      </m:e>
                      <m:sub>
                        <m:r>
                          <a:rPr lang="en-AU" altLang="zh-CN" sz="1800" b="0" i="1" dirty="0" smtClean="0">
                            <a:latin typeface="Cambria Math" panose="02040503050406030204" pitchFamily="18" charset="0"/>
                            <a:ea typeface="Cambria Math" panose="02040503050406030204" pitchFamily="18" charset="0"/>
                          </a:rPr>
                          <m:t>𝑛</m:t>
                        </m:r>
                      </m:sub>
                    </m:sSub>
                    <m:r>
                      <a:rPr lang="en-AU" altLang="zh-CN" sz="1800" b="0" i="1" dirty="0" smtClean="0">
                        <a:latin typeface="Cambria Math" panose="02040503050406030204" pitchFamily="18" charset="0"/>
                        <a:ea typeface="Cambria Math" panose="02040503050406030204" pitchFamily="18" charset="0"/>
                      </a:rPr>
                      <m:t> </m:t>
                    </m:r>
                  </m:oMath>
                </a14:m>
                <a:r>
                  <a:rPr lang="zh-CN" altLang="en-US" dirty="0">
                    <a:latin typeface="楷体" panose="02010609060101010101" pitchFamily="49" charset="-122"/>
                    <a:ea typeface="楷体" panose="02010609060101010101" pitchFamily="49" charset="-122"/>
                  </a:rPr>
                  <a:t>，然后再一步一步地弹出这些栈符号串。利用这一个动作便可以定义一组产生式。</a:t>
                </a:r>
              </a:p>
            </p:txBody>
          </p:sp>
        </mc:Choice>
        <mc:Fallback xmlns="">
          <p:sp>
            <p:nvSpPr>
              <p:cNvPr id="6" name="TextBox 5"/>
              <p:cNvSpPr txBox="1">
                <a:spLocks noRot="1" noChangeAspect="1" noMove="1" noResize="1" noEditPoints="1" noAdjustHandles="1" noChangeArrowheads="1" noChangeShapeType="1" noTextEdit="1"/>
              </p:cNvSpPr>
              <p:nvPr/>
            </p:nvSpPr>
            <p:spPr>
              <a:xfrm>
                <a:off x="3078125" y="4613902"/>
                <a:ext cx="5837275" cy="923330"/>
              </a:xfrm>
              <a:prstGeom prst="rect">
                <a:avLst/>
              </a:prstGeom>
              <a:blipFill rotWithShape="1">
                <a:blip r:embed="rId4"/>
                <a:stretch>
                  <a:fillRect l="-5" t="-68" b="3"/>
                </a:stretch>
              </a:blipFill>
            </p:spPr>
            <p:txBody>
              <a:bodyPr/>
              <a:lstStyle/>
              <a:p>
                <a:r>
                  <a:rPr lang="zh-CN" altLang="en-US">
                    <a:noFill/>
                  </a:rPr>
                  <a:t> </a:t>
                </a:r>
              </a:p>
            </p:txBody>
          </p:sp>
        </mc:Fallback>
      </mc:AlternateContent>
      <p:sp>
        <p:nvSpPr>
          <p:cNvPr id="7"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由</a:t>
            </a:r>
            <a:r>
              <a:rPr lang="en-AU" altLang="zh-CN" sz="3600" dirty="0">
                <a:solidFill>
                  <a:schemeClr val="bg1"/>
                </a:solidFill>
                <a:latin typeface="Times New Roman" panose="02020603050405020304" pitchFamily="18" charset="0"/>
                <a:cs typeface="Times New Roman" panose="02020603050405020304" pitchFamily="18" charset="0"/>
              </a:rPr>
              <a:t>PDA</a:t>
            </a:r>
            <a:r>
              <a:rPr lang="zh-CN" altLang="en-US" sz="3600" dirty="0">
                <a:solidFill>
                  <a:schemeClr val="bg1"/>
                </a:solidFill>
              </a:rPr>
              <a:t>到</a:t>
            </a:r>
            <a:r>
              <a:rPr lang="en-US" altLang="zh-CN" sz="3600" dirty="0">
                <a:solidFill>
                  <a:schemeClr val="bg1"/>
                </a:solidFill>
                <a:latin typeface="Times New Roman" panose="02020603050405020304" pitchFamily="18" charset="0"/>
                <a:cs typeface="Times New Roman" panose="02020603050405020304" pitchFamily="18" charset="0"/>
              </a:rPr>
              <a:t>CFG</a:t>
            </a:r>
            <a:endParaRPr lang="en-AU" sz="3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662E1F6-9BD6-474C-A82E-E07C3DB67AAE}" type="slidenum">
              <a:rPr lang="en-AU" smtClean="0"/>
              <a:t>40</a:t>
            </a:fld>
            <a:endParaRPr lang="en-AU"/>
          </a:p>
        </p:txBody>
      </p:sp>
      <p:sp>
        <p:nvSpPr>
          <p:cNvPr id="7" name="Title 1"/>
          <p:cNvSpPr>
            <a:spLocks noGrp="1"/>
          </p:cNvSpPr>
          <p:nvPr>
            <p:ph type="title"/>
          </p:nvPr>
        </p:nvSpPr>
        <p:spPr>
          <a:xfrm>
            <a:off x="457200" y="-107315"/>
            <a:ext cx="8229600" cy="91567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形式语言与自动机</a:t>
            </a:r>
            <a:endParaRPr lang="en-US" altLang="zh-CN" sz="3600" dirty="0">
              <a:solidFill>
                <a:schemeClr val="bg1"/>
              </a:solidFill>
              <a:effectLst>
                <a:outerShdw blurRad="38100" dist="38100" dir="2700000" algn="tl">
                  <a:srgbClr val="000000">
                    <a:alpha val="43137"/>
                  </a:srgbClr>
                </a:outerShdw>
              </a:effectLst>
            </a:endParaRPr>
          </a:p>
        </p:txBody>
      </p:sp>
      <p:sp>
        <p:nvSpPr>
          <p:cNvPr id="9" name="文本框 8"/>
          <p:cNvSpPr txBox="1"/>
          <p:nvPr/>
        </p:nvSpPr>
        <p:spPr>
          <a:xfrm>
            <a:off x="533400" y="762000"/>
            <a:ext cx="8382000" cy="1568450"/>
          </a:xfrm>
          <a:prstGeom prst="rect">
            <a:avLst/>
          </a:prstGeom>
          <a:noFill/>
        </p:spPr>
        <p:txBody>
          <a:bodyPr wrap="square">
            <a:spAutoFit/>
          </a:bodyPr>
          <a:lstStyle/>
          <a:p>
            <a:r>
              <a:rPr lang="zh-CN" altLang="en-US" sz="2400" b="1" dirty="0"/>
              <a:t>比较以下三个语言对应的自动机</a:t>
            </a:r>
            <a:endParaRPr lang="en-US" altLang="zh-CN" sz="2400" b="1" dirty="0"/>
          </a:p>
          <a:p>
            <a:r>
              <a:rPr lang="en-US" altLang="zh-CN" sz="2400" b="1" i="1" dirty="0">
                <a:solidFill>
                  <a:schemeClr val="tx1"/>
                </a:solidFill>
                <a:latin typeface="Times New Roman" panose="02020603050405020304" pitchFamily="18" charset="0"/>
                <a:cs typeface="Times New Roman" panose="02020603050405020304" pitchFamily="18" charset="0"/>
              </a:rPr>
              <a:t>L</a:t>
            </a:r>
            <a:r>
              <a:rPr lang="en-US" altLang="zh-CN" sz="2400" b="1" baseline="-25000" dirty="0">
                <a:solidFill>
                  <a:schemeClr val="tx1"/>
                </a:solidFill>
                <a:latin typeface="Times New Roman" panose="02020603050405020304" pitchFamily="18" charset="0"/>
                <a:cs typeface="Times New Roman" panose="02020603050405020304" pitchFamily="18" charset="0"/>
              </a:rPr>
              <a:t>1</a:t>
            </a:r>
            <a:r>
              <a:rPr lang="en-US" altLang="zh-CN" sz="2400" b="1" i="1" dirty="0">
                <a:solidFill>
                  <a:schemeClr val="tx1"/>
                </a:solidFill>
                <a:latin typeface="Times New Roman" panose="02020603050405020304" pitchFamily="18" charset="0"/>
                <a:cs typeface="Times New Roman" panose="02020603050405020304" pitchFamily="18" charset="0"/>
              </a:rPr>
              <a:t>=</a:t>
            </a:r>
            <a:r>
              <a:rPr lang="en-US" altLang="zh-CN" sz="2400" b="1" dirty="0">
                <a:solidFill>
                  <a:schemeClr val="tx1"/>
                </a:solidFill>
                <a:latin typeface="Times New Roman" panose="02020603050405020304" pitchFamily="18" charset="0"/>
                <a:cs typeface="Times New Roman" panose="02020603050405020304" pitchFamily="18" charset="0"/>
              </a:rPr>
              <a:t>{</a:t>
            </a:r>
            <a:r>
              <a:rPr lang="en-US" altLang="zh-CN" sz="2400" b="1" i="1" dirty="0" err="1">
                <a:solidFill>
                  <a:schemeClr val="tx1"/>
                </a:solidFill>
                <a:latin typeface="Times New Roman" panose="02020603050405020304" pitchFamily="18" charset="0"/>
                <a:cs typeface="Times New Roman" panose="02020603050405020304" pitchFamily="18" charset="0"/>
              </a:rPr>
              <a:t>a</a:t>
            </a:r>
            <a:r>
              <a:rPr lang="en-US" altLang="zh-CN" sz="2400" b="1" i="1" baseline="30000" dirty="0" err="1">
                <a:solidFill>
                  <a:schemeClr val="tx1"/>
                </a:solidFill>
                <a:latin typeface="Times New Roman" panose="02020603050405020304" pitchFamily="18" charset="0"/>
                <a:cs typeface="Times New Roman" panose="02020603050405020304" pitchFamily="18" charset="0"/>
              </a:rPr>
              <a:t>m</a:t>
            </a:r>
            <a:r>
              <a:rPr lang="en-US" altLang="zh-CN" sz="2400" b="1" i="1" dirty="0" err="1">
                <a:solidFill>
                  <a:schemeClr val="tx1"/>
                </a:solidFill>
                <a:latin typeface="Times New Roman" panose="02020603050405020304" pitchFamily="18" charset="0"/>
                <a:cs typeface="Times New Roman" panose="02020603050405020304" pitchFamily="18" charset="0"/>
              </a:rPr>
              <a:t>b</a:t>
            </a:r>
            <a:r>
              <a:rPr lang="en-US" altLang="zh-CN" sz="2400" b="1" i="1" baseline="30000" dirty="0" err="1">
                <a:solidFill>
                  <a:schemeClr val="tx1"/>
                </a:solidFill>
                <a:latin typeface="Times New Roman" panose="02020603050405020304" pitchFamily="18" charset="0"/>
                <a:cs typeface="Times New Roman" panose="02020603050405020304" pitchFamily="18" charset="0"/>
              </a:rPr>
              <a:t>n</a:t>
            </a:r>
            <a:r>
              <a:rPr lang="en-US" altLang="zh-CN" sz="2400" b="1" i="1" dirty="0" err="1">
                <a:solidFill>
                  <a:schemeClr val="tx1"/>
                </a:solidFill>
                <a:latin typeface="Times New Roman" panose="02020603050405020304" pitchFamily="18" charset="0"/>
                <a:cs typeface="Times New Roman" panose="02020603050405020304" pitchFamily="18" charset="0"/>
              </a:rPr>
              <a:t>c</a:t>
            </a:r>
            <a:r>
              <a:rPr lang="en-US" altLang="zh-CN" sz="2400" b="1" i="1" baseline="30000" dirty="0" err="1">
                <a:solidFill>
                  <a:schemeClr val="tx1"/>
                </a:solidFill>
                <a:latin typeface="Times New Roman" panose="02020603050405020304" pitchFamily="18" charset="0"/>
                <a:cs typeface="Times New Roman" panose="02020603050405020304" pitchFamily="18" charset="0"/>
              </a:rPr>
              <a:t>k</a:t>
            </a:r>
            <a:r>
              <a:rPr lang="en-US" altLang="zh-CN" sz="2400" b="1" i="1" dirty="0" err="1">
                <a:solidFill>
                  <a:schemeClr val="tx1"/>
                </a:solidFill>
                <a:latin typeface="Times New Roman" panose="02020603050405020304" pitchFamily="18" charset="0"/>
                <a:cs typeface="Times New Roman" panose="02020603050405020304" pitchFamily="18" charset="0"/>
              </a:rPr>
              <a:t>|m</a:t>
            </a:r>
            <a:r>
              <a:rPr lang="en-US" altLang="zh-CN" sz="2400" b="1" i="1" dirty="0">
                <a:solidFill>
                  <a:schemeClr val="tx1"/>
                </a:solidFill>
                <a:latin typeface="Times New Roman" panose="02020603050405020304" pitchFamily="18" charset="0"/>
                <a:cs typeface="Times New Roman" panose="02020603050405020304" pitchFamily="18" charset="0"/>
              </a:rPr>
              <a:t>, n, k≥</a:t>
            </a:r>
            <a:r>
              <a:rPr lang="en-US" altLang="zh-CN" sz="2400" b="1" dirty="0">
                <a:solidFill>
                  <a:schemeClr val="tx1"/>
                </a:solidFill>
                <a:latin typeface="Times New Roman" panose="02020603050405020304" pitchFamily="18" charset="0"/>
                <a:cs typeface="Times New Roman" panose="02020603050405020304" pitchFamily="18" charset="0"/>
              </a:rPr>
              <a:t>1}</a:t>
            </a:r>
          </a:p>
          <a:p>
            <a:r>
              <a:rPr lang="en-US" altLang="zh-CN" sz="2400" b="1" i="1" dirty="0">
                <a:latin typeface="Times New Roman" panose="02020603050405020304" pitchFamily="18" charset="0"/>
                <a:cs typeface="Times New Roman" panose="02020603050405020304" pitchFamily="18" charset="0"/>
              </a:rPr>
              <a:t>L</a:t>
            </a:r>
            <a:r>
              <a:rPr lang="en-US" altLang="zh-CN" sz="2400" b="1" baseline="-25000" dirty="0">
                <a:latin typeface="Times New Roman" panose="02020603050405020304" pitchFamily="18" charset="0"/>
                <a:cs typeface="Times New Roman" panose="02020603050405020304" pitchFamily="18" charset="0"/>
              </a:rPr>
              <a:t>2</a:t>
            </a:r>
            <a:r>
              <a:rPr lang="en-US" altLang="zh-CN" sz="2400" b="1" i="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a</a:t>
            </a:r>
            <a:r>
              <a:rPr lang="en-US" altLang="zh-CN" sz="2400" b="1" i="1" baseline="30000" dirty="0" err="1">
                <a:latin typeface="Times New Roman" panose="02020603050405020304" pitchFamily="18" charset="0"/>
                <a:cs typeface="Times New Roman" panose="02020603050405020304" pitchFamily="18" charset="0"/>
              </a:rPr>
              <a:t>m</a:t>
            </a:r>
            <a:r>
              <a:rPr lang="en-US" altLang="zh-CN" sz="2400" b="1" i="1" dirty="0" err="1">
                <a:latin typeface="Times New Roman" panose="02020603050405020304" pitchFamily="18" charset="0"/>
                <a:cs typeface="Times New Roman" panose="02020603050405020304" pitchFamily="18" charset="0"/>
              </a:rPr>
              <a:t>b</a:t>
            </a:r>
            <a:r>
              <a:rPr lang="en-US" altLang="zh-CN" sz="2400" b="1" i="1" baseline="30000" dirty="0" err="1">
                <a:latin typeface="Times New Roman" panose="02020603050405020304" pitchFamily="18" charset="0"/>
                <a:cs typeface="Times New Roman" panose="02020603050405020304" pitchFamily="18" charset="0"/>
              </a:rPr>
              <a:t>m</a:t>
            </a:r>
            <a:r>
              <a:rPr lang="en-US" altLang="zh-CN" sz="2400" b="1" i="1" dirty="0" err="1">
                <a:latin typeface="Times New Roman" panose="02020603050405020304" pitchFamily="18" charset="0"/>
                <a:cs typeface="Times New Roman" panose="02020603050405020304" pitchFamily="18" charset="0"/>
              </a:rPr>
              <a:t>c</a:t>
            </a:r>
            <a:r>
              <a:rPr lang="en-US" altLang="zh-CN" sz="2400" b="1" i="1" baseline="30000" dirty="0" err="1">
                <a:latin typeface="Times New Roman" panose="02020603050405020304" pitchFamily="18" charset="0"/>
                <a:cs typeface="Times New Roman" panose="02020603050405020304" pitchFamily="18" charset="0"/>
              </a:rPr>
              <a:t>k</a:t>
            </a:r>
            <a:r>
              <a:rPr lang="en-US" altLang="zh-CN" sz="2400" b="1" i="1" dirty="0" err="1">
                <a:latin typeface="Times New Roman" panose="02020603050405020304" pitchFamily="18" charset="0"/>
                <a:cs typeface="Times New Roman" panose="02020603050405020304" pitchFamily="18" charset="0"/>
              </a:rPr>
              <a:t>|m</a:t>
            </a:r>
            <a:r>
              <a:rPr lang="en-US" altLang="zh-CN" sz="2400" b="1" i="1" dirty="0">
                <a:latin typeface="Times New Roman" panose="02020603050405020304" pitchFamily="18" charset="0"/>
                <a:cs typeface="Times New Roman" panose="02020603050405020304" pitchFamily="18" charset="0"/>
              </a:rPr>
              <a:t>, k≥</a:t>
            </a:r>
            <a:r>
              <a:rPr lang="en-US" altLang="zh-CN" sz="2400" b="1" dirty="0">
                <a:latin typeface="Times New Roman" panose="02020603050405020304" pitchFamily="18" charset="0"/>
                <a:cs typeface="Times New Roman" panose="02020603050405020304" pitchFamily="18" charset="0"/>
              </a:rPr>
              <a:t>1}</a:t>
            </a:r>
          </a:p>
          <a:p>
            <a:r>
              <a:rPr lang="en-US" altLang="zh-CN" sz="2400" b="1" i="1" dirty="0">
                <a:solidFill>
                  <a:srgbClr val="FF0000"/>
                </a:solidFill>
                <a:latin typeface="Times New Roman" panose="02020603050405020304" pitchFamily="18" charset="0"/>
                <a:cs typeface="Times New Roman" panose="02020603050405020304" pitchFamily="18" charset="0"/>
              </a:rPr>
              <a:t>L</a:t>
            </a:r>
            <a:r>
              <a:rPr lang="en-US" altLang="zh-CN" sz="2400" b="1" baseline="-25000" dirty="0">
                <a:solidFill>
                  <a:srgbClr val="FF0000"/>
                </a:solidFill>
                <a:latin typeface="Times New Roman" panose="02020603050405020304" pitchFamily="18" charset="0"/>
                <a:cs typeface="Times New Roman" panose="02020603050405020304" pitchFamily="18" charset="0"/>
              </a:rPr>
              <a:t>3</a:t>
            </a:r>
            <a:r>
              <a:rPr lang="en-US" altLang="zh-CN" sz="2400" b="1" i="1" dirty="0">
                <a:solidFill>
                  <a:srgbClr val="FF0000"/>
                </a:solidFill>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a:t>
            </a:r>
            <a:r>
              <a:rPr lang="en-US" altLang="zh-CN" sz="2400" b="1" i="1" dirty="0">
                <a:solidFill>
                  <a:srgbClr val="FF0000"/>
                </a:solidFill>
                <a:latin typeface="Times New Roman" panose="02020603050405020304" pitchFamily="18" charset="0"/>
                <a:cs typeface="Times New Roman" panose="02020603050405020304" pitchFamily="18" charset="0"/>
              </a:rPr>
              <a:t>a</a:t>
            </a:r>
            <a:r>
              <a:rPr lang="en-US" altLang="zh-CN" sz="2400" b="1" i="1" baseline="30000" dirty="0">
                <a:solidFill>
                  <a:srgbClr val="FF0000"/>
                </a:solidFill>
                <a:latin typeface="Times New Roman" panose="02020603050405020304" pitchFamily="18" charset="0"/>
                <a:cs typeface="Times New Roman" panose="02020603050405020304" pitchFamily="18" charset="0"/>
              </a:rPr>
              <a:t>m</a:t>
            </a:r>
            <a:r>
              <a:rPr lang="en-US" altLang="zh-CN" sz="2400" b="1" i="1" dirty="0">
                <a:solidFill>
                  <a:srgbClr val="FF0000"/>
                </a:solidFill>
                <a:latin typeface="Times New Roman" panose="02020603050405020304" pitchFamily="18" charset="0"/>
                <a:cs typeface="Times New Roman" panose="02020603050405020304" pitchFamily="18" charset="0"/>
              </a:rPr>
              <a:t>b</a:t>
            </a:r>
            <a:r>
              <a:rPr lang="en-US" altLang="zh-CN" sz="2400" b="1" i="1" baseline="30000" dirty="0">
                <a:solidFill>
                  <a:srgbClr val="FF0000"/>
                </a:solidFill>
                <a:latin typeface="Times New Roman" panose="02020603050405020304" pitchFamily="18" charset="0"/>
                <a:cs typeface="Times New Roman" panose="02020603050405020304" pitchFamily="18" charset="0"/>
              </a:rPr>
              <a:t>m</a:t>
            </a:r>
            <a:r>
              <a:rPr lang="en-US" altLang="zh-CN" sz="2400" b="1" i="1" dirty="0">
                <a:solidFill>
                  <a:srgbClr val="FF0000"/>
                </a:solidFill>
                <a:latin typeface="Times New Roman" panose="02020603050405020304" pitchFamily="18" charset="0"/>
                <a:cs typeface="Times New Roman" panose="02020603050405020304" pitchFamily="18" charset="0"/>
              </a:rPr>
              <a:t>c</a:t>
            </a:r>
            <a:r>
              <a:rPr lang="en-US" altLang="zh-CN" sz="2400" b="1" i="1" baseline="30000" dirty="0">
                <a:solidFill>
                  <a:srgbClr val="FF0000"/>
                </a:solidFill>
                <a:latin typeface="Times New Roman" panose="02020603050405020304" pitchFamily="18" charset="0"/>
                <a:cs typeface="Times New Roman" panose="02020603050405020304" pitchFamily="18" charset="0"/>
              </a:rPr>
              <a:t>m</a:t>
            </a:r>
            <a:r>
              <a:rPr lang="en-US" altLang="zh-CN" sz="2400" b="1" i="1" dirty="0">
                <a:solidFill>
                  <a:srgbClr val="FF0000"/>
                </a:solidFill>
                <a:latin typeface="Times New Roman" panose="02020603050405020304" pitchFamily="18" charset="0"/>
                <a:cs typeface="Times New Roman" panose="02020603050405020304" pitchFamily="18" charset="0"/>
              </a:rPr>
              <a:t>|m≥</a:t>
            </a:r>
            <a:r>
              <a:rPr lang="en-US" altLang="zh-CN" sz="2400" b="1" dirty="0">
                <a:solidFill>
                  <a:srgbClr val="FF0000"/>
                </a:solidFill>
                <a:latin typeface="Times New Roman" panose="02020603050405020304" pitchFamily="18" charset="0"/>
                <a:cs typeface="Times New Roman" panose="02020603050405020304" pitchFamily="18" charset="0"/>
              </a:rPr>
              <a:t>1}</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2450" y="3206750"/>
            <a:ext cx="8229600" cy="4525963"/>
          </a:xfrm>
        </p:spPr>
        <p:txBody>
          <a:bodyPr>
            <a:normAutofit/>
          </a:bodyPr>
          <a:lstStyle/>
          <a:p>
            <a:r>
              <a:rPr lang="zh-CN" altLang="en-US" sz="2400" dirty="0"/>
              <a:t>图灵机有一个</a:t>
            </a:r>
            <a:r>
              <a:rPr lang="zh-CN" altLang="en-US" sz="2400" dirty="0">
                <a:solidFill>
                  <a:srgbClr val="7030A0"/>
                </a:solidFill>
              </a:rPr>
              <a:t>有穷控制器</a:t>
            </a:r>
            <a:r>
              <a:rPr lang="zh-CN" altLang="en-US" sz="2400" dirty="0"/>
              <a:t>，一条</a:t>
            </a:r>
            <a:r>
              <a:rPr lang="zh-CN" altLang="en-US" sz="2400" dirty="0">
                <a:solidFill>
                  <a:srgbClr val="7030A0"/>
                </a:solidFill>
              </a:rPr>
              <a:t>两端无穷的输入输出带</a:t>
            </a:r>
            <a:r>
              <a:rPr lang="zh-CN" altLang="en-US" sz="2400" dirty="0"/>
              <a:t>和一个</a:t>
            </a:r>
            <a:r>
              <a:rPr lang="zh-CN" altLang="en-US" sz="2400" dirty="0">
                <a:solidFill>
                  <a:srgbClr val="7030A0"/>
                </a:solidFill>
              </a:rPr>
              <a:t>带头</a:t>
            </a:r>
            <a:r>
              <a:rPr lang="en-AU" altLang="zh-CN" sz="2400" dirty="0">
                <a:latin typeface="Times New Roman" panose="02020603050405020304" pitchFamily="18" charset="0"/>
                <a:cs typeface="Times New Roman" panose="02020603050405020304" pitchFamily="18" charset="0"/>
              </a:rPr>
              <a:t>(tape head)</a:t>
            </a:r>
            <a:r>
              <a:rPr lang="zh-CN" altLang="en-US" sz="2400" dirty="0"/>
              <a:t>。</a:t>
            </a:r>
            <a:endParaRPr lang="en-AU" altLang="zh-CN" sz="2400" dirty="0"/>
          </a:p>
          <a:p>
            <a:r>
              <a:rPr lang="zh-CN" altLang="en-US" sz="2400" dirty="0"/>
              <a:t>带划分为单元格，每个单元格可以放置一个符号。</a:t>
            </a:r>
            <a:endParaRPr lang="en-AU" altLang="zh-CN" sz="2400" dirty="0"/>
          </a:p>
          <a:p>
            <a:r>
              <a:rPr lang="zh-CN" altLang="en-US" sz="2400" dirty="0"/>
              <a:t>带头每次根据当前状态和带头处单元格的符号内容，根据转移规则选择下一个动作。</a:t>
            </a:r>
            <a:endParaRPr lang="en-AU" altLang="zh-CN" sz="2400" dirty="0"/>
          </a:p>
          <a:p>
            <a:pPr lvl="1"/>
            <a:r>
              <a:rPr lang="zh-CN" altLang="en-US" sz="2400" dirty="0"/>
              <a:t>每个动作都包括下一个状态，修改带头处单元格的符号以及带头向左或向右移动一个单元格。</a:t>
            </a:r>
          </a:p>
          <a:p>
            <a:endParaRPr lang="en-AU" sz="2400" dirty="0"/>
          </a:p>
        </p:txBody>
      </p:sp>
      <p:sp>
        <p:nvSpPr>
          <p:cNvPr id="4" name="Slide Number Placeholder 3"/>
          <p:cNvSpPr>
            <a:spLocks noGrp="1"/>
          </p:cNvSpPr>
          <p:nvPr>
            <p:ph type="sldNum" sz="quarter" idx="12"/>
          </p:nvPr>
        </p:nvSpPr>
        <p:spPr/>
        <p:txBody>
          <a:bodyPr/>
          <a:lstStyle/>
          <a:p>
            <a:fld id="{0662E1F6-9BD6-474C-A82E-E07C3DB67AAE}" type="slidenum">
              <a:rPr lang="en-AU" smtClean="0"/>
              <a:t>41</a:t>
            </a:fld>
            <a:endParaRPr lang="en-AU"/>
          </a:p>
        </p:txBody>
      </p:sp>
      <p:pic>
        <p:nvPicPr>
          <p:cNvPr id="6" name="Picture 5" descr="Diagram&#10;&#10;Description automatically generated"/>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784855" y="999227"/>
            <a:ext cx="5574290" cy="2028956"/>
          </a:xfrm>
          <a:prstGeom prst="rect">
            <a:avLst/>
          </a:prstGeom>
        </p:spPr>
      </p:pic>
      <p:sp>
        <p:nvSpPr>
          <p:cNvPr id="7"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图灵机简介与定义</a:t>
            </a:r>
            <a:endParaRPr lang="en-AU" sz="3600" dirty="0">
              <a:solidFill>
                <a:schemeClr val="bg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87400" y="1384300"/>
                <a:ext cx="8229600" cy="4525963"/>
              </a:xfrm>
            </p:spPr>
            <p:txBody>
              <a:bodyPr>
                <a:normAutofit fontScale="92500"/>
              </a:bodyPr>
              <a:lstStyle/>
              <a:p>
                <a:r>
                  <a:rPr lang="zh-CN" altLang="en-US" dirty="0"/>
                  <a:t>图灵机</a:t>
                </a:r>
                <a:r>
                  <a:rPr lang="en-US" altLang="zh-CN" dirty="0"/>
                  <a:t>(</a:t>
                </a:r>
                <a:r>
                  <a:rPr lang="en-AU" dirty="0">
                    <a:latin typeface="Times New Roman" panose="02020603050405020304" pitchFamily="18" charset="0"/>
                    <a:cs typeface="Times New Roman" panose="02020603050405020304" pitchFamily="18" charset="0"/>
                  </a:rPr>
                  <a:t>TM, Turing Machine</a:t>
                </a:r>
                <a:r>
                  <a:rPr lang="en-AU" dirty="0"/>
                  <a:t>) </a:t>
                </a:r>
                <a14:m>
                  <m:oMath xmlns:m="http://schemas.openxmlformats.org/officeDocument/2006/math">
                    <m:r>
                      <a:rPr lang="en-AU" i="1" dirty="0" smtClean="0">
                        <a:latin typeface="Cambria Math" panose="02040503050406030204" pitchFamily="18" charset="0"/>
                      </a:rPr>
                      <m:t>𝑀</m:t>
                    </m:r>
                  </m:oMath>
                </a14:m>
                <a:r>
                  <a:rPr lang="zh-CN" altLang="en-US" dirty="0"/>
                  <a:t>为七元组</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l-GR" i="1" dirty="0" smtClean="0">
                          <a:latin typeface="Cambria Math" panose="02040503050406030204" pitchFamily="18" charset="0"/>
                        </a:rPr>
                        <m:t>𝑀</m:t>
                      </m:r>
                      <m:r>
                        <a:rPr lang="el-GR" i="1" dirty="0" smtClean="0">
                          <a:latin typeface="Cambria Math" panose="02040503050406030204" pitchFamily="18" charset="0"/>
                        </a:rPr>
                        <m:t> = (</m:t>
                      </m:r>
                      <m:r>
                        <a:rPr lang="el-GR" i="1" dirty="0" smtClean="0">
                          <a:latin typeface="Cambria Math" panose="02040503050406030204" pitchFamily="18" charset="0"/>
                        </a:rPr>
                        <m:t>𝑄</m:t>
                      </m:r>
                      <m:r>
                        <a:rPr lang="el-GR" i="1" dirty="0" smtClean="0">
                          <a:latin typeface="Cambria Math" panose="02040503050406030204" pitchFamily="18" charset="0"/>
                        </a:rPr>
                        <m:t>, </m:t>
                      </m:r>
                      <m:r>
                        <m:rPr>
                          <m:sty m:val="p"/>
                        </m:rPr>
                        <a:rPr lang="el-GR" i="0" dirty="0" smtClean="0">
                          <a:latin typeface="Cambria Math" panose="02040503050406030204" pitchFamily="18" charset="0"/>
                        </a:rPr>
                        <m:t>Σ</m:t>
                      </m:r>
                      <m:r>
                        <a:rPr lang="el-GR" i="1" dirty="0" smtClean="0">
                          <a:latin typeface="Cambria Math" panose="02040503050406030204" pitchFamily="18" charset="0"/>
                        </a:rPr>
                        <m:t>, </m:t>
                      </m:r>
                      <m:r>
                        <m:rPr>
                          <m:sty m:val="p"/>
                        </m:rPr>
                        <a:rPr lang="el-GR" i="0" dirty="0" smtClean="0">
                          <a:latin typeface="Cambria Math" panose="02040503050406030204" pitchFamily="18" charset="0"/>
                        </a:rPr>
                        <m:t>Γ</m:t>
                      </m:r>
                      <m:r>
                        <a:rPr lang="el-GR" i="1" dirty="0" smtClean="0">
                          <a:latin typeface="Cambria Math" panose="02040503050406030204" pitchFamily="18" charset="0"/>
                        </a:rPr>
                        <m:t>, </m:t>
                      </m:r>
                      <m:r>
                        <a:rPr lang="el-GR" i="1" dirty="0" smtClean="0">
                          <a:latin typeface="Cambria Math" panose="02040503050406030204" pitchFamily="18" charset="0"/>
                        </a:rPr>
                        <m:t>𝛿</m:t>
                      </m:r>
                      <m:r>
                        <a:rPr lang="el-GR" i="1" dirty="0" smtClean="0">
                          <a:latin typeface="Cambria Math" panose="02040503050406030204" pitchFamily="18" charset="0"/>
                        </a:rPr>
                        <m:t>, </m:t>
                      </m:r>
                      <m:sSub>
                        <m:sSubPr>
                          <m:ctrlPr>
                            <a:rPr lang="el-GR" i="1" dirty="0" smtClean="0">
                              <a:latin typeface="Cambria Math" panose="02040503050406030204" pitchFamily="18" charset="0"/>
                            </a:rPr>
                          </m:ctrlPr>
                        </m:sSubPr>
                        <m:e>
                          <m:r>
                            <a:rPr lang="en-AU" b="0" i="1" dirty="0" smtClean="0">
                              <a:latin typeface="Cambria Math" panose="02040503050406030204" pitchFamily="18" charset="0"/>
                            </a:rPr>
                            <m:t>𝑞</m:t>
                          </m:r>
                        </m:e>
                        <m:sub>
                          <m:r>
                            <a:rPr lang="en-AU" b="0" i="1" dirty="0" smtClean="0">
                              <a:latin typeface="Cambria Math" panose="02040503050406030204" pitchFamily="18" charset="0"/>
                            </a:rPr>
                            <m:t>0</m:t>
                          </m:r>
                        </m:sub>
                      </m:sSub>
                      <m:r>
                        <a:rPr lang="el-GR" i="1" dirty="0" smtClean="0">
                          <a:latin typeface="Cambria Math" panose="02040503050406030204" pitchFamily="18" charset="0"/>
                        </a:rPr>
                        <m:t>, </m:t>
                      </m:r>
                      <m:r>
                        <a:rPr lang="el-GR" i="1" dirty="0" smtClean="0">
                          <a:latin typeface="Cambria Math" panose="02040503050406030204" pitchFamily="18" charset="0"/>
                        </a:rPr>
                        <m:t>𝐵</m:t>
                      </m:r>
                      <m:r>
                        <a:rPr lang="el-GR" i="1" dirty="0" smtClean="0">
                          <a:latin typeface="Cambria Math" panose="02040503050406030204" pitchFamily="18" charset="0"/>
                        </a:rPr>
                        <m:t>, </m:t>
                      </m:r>
                      <m:r>
                        <a:rPr lang="el-GR" i="1" dirty="0" smtClean="0">
                          <a:latin typeface="Cambria Math" panose="02040503050406030204" pitchFamily="18" charset="0"/>
                        </a:rPr>
                        <m:t>𝐹</m:t>
                      </m:r>
                      <m:r>
                        <a:rPr lang="el-GR" i="1" dirty="0" smtClean="0">
                          <a:latin typeface="Cambria Math" panose="02040503050406030204" pitchFamily="18" charset="0"/>
                        </a:rPr>
                        <m:t>)</m:t>
                      </m:r>
                    </m:oMath>
                  </m:oMathPara>
                </a14:m>
                <a:endParaRPr lang="en-AU" dirty="0"/>
              </a:p>
              <a:p>
                <a:pPr marL="0" indent="0">
                  <a:buNone/>
                </a:pPr>
                <a:r>
                  <a:rPr lang="en-AU" dirty="0"/>
                  <a:t>(1)</a:t>
                </a:r>
                <a:r>
                  <a:rPr lang="el-GR" dirty="0"/>
                  <a:t> </a:t>
                </a:r>
                <a14:m>
                  <m:oMath xmlns:m="http://schemas.openxmlformats.org/officeDocument/2006/math">
                    <m:r>
                      <a:rPr lang="el-GR" i="1" dirty="0" smtClean="0">
                        <a:latin typeface="Cambria Math" panose="02040503050406030204" pitchFamily="18" charset="0"/>
                      </a:rPr>
                      <m:t>𝑄</m:t>
                    </m:r>
                  </m:oMath>
                </a14:m>
                <a:r>
                  <a:rPr lang="en-AU" dirty="0"/>
                  <a:t>:</a:t>
                </a:r>
                <a:r>
                  <a:rPr lang="zh-CN" altLang="en-US" dirty="0"/>
                  <a:t>有穷状态集</a:t>
                </a:r>
                <a:endParaRPr lang="en-AU" dirty="0"/>
              </a:p>
              <a:p>
                <a:pPr marL="0" indent="0">
                  <a:buNone/>
                </a:pPr>
                <a:r>
                  <a:rPr lang="en-AU" dirty="0"/>
                  <a:t>(2)</a:t>
                </a:r>
                <a:r>
                  <a:rPr lang="el-GR" dirty="0"/>
                  <a:t> </a:t>
                </a:r>
                <a14:m>
                  <m:oMath xmlns:m="http://schemas.openxmlformats.org/officeDocument/2006/math">
                    <m:r>
                      <m:rPr>
                        <m:sty m:val="p"/>
                      </m:rPr>
                      <a:rPr lang="el-GR" i="0" dirty="0" smtClean="0">
                        <a:latin typeface="Cambria Math" panose="02040503050406030204" pitchFamily="18" charset="0"/>
                      </a:rPr>
                      <m:t>Σ</m:t>
                    </m:r>
                  </m:oMath>
                </a14:m>
                <a:r>
                  <a:rPr lang="en-AU" dirty="0"/>
                  <a:t>:</a:t>
                </a:r>
                <a:r>
                  <a:rPr lang="zh-CN" altLang="en-US" dirty="0"/>
                  <a:t>有穷输入符号集</a:t>
                </a:r>
                <a:r>
                  <a:rPr lang="en-AU" altLang="zh-CN" dirty="0"/>
                  <a:t>(input alphabet)</a:t>
                </a:r>
                <a:endParaRPr lang="en-AU" dirty="0"/>
              </a:p>
              <a:p>
                <a:pPr marL="0" indent="0">
                  <a:buNone/>
                </a:pPr>
                <a:r>
                  <a:rPr lang="en-AU" dirty="0"/>
                  <a:t>(3)</a:t>
                </a:r>
                <a:r>
                  <a:rPr lang="el-GR" dirty="0"/>
                  <a:t> </a:t>
                </a:r>
                <a14:m>
                  <m:oMath xmlns:m="http://schemas.openxmlformats.org/officeDocument/2006/math">
                    <m:r>
                      <m:rPr>
                        <m:sty m:val="p"/>
                      </m:rPr>
                      <a:rPr lang="el-GR" i="0" dirty="0" smtClean="0">
                        <a:latin typeface="Cambria Math" panose="02040503050406030204" pitchFamily="18" charset="0"/>
                      </a:rPr>
                      <m:t>Γ</m:t>
                    </m:r>
                  </m:oMath>
                </a14:m>
                <a:r>
                  <a:rPr lang="en-AU" dirty="0"/>
                  <a:t>:</a:t>
                </a:r>
                <a:r>
                  <a:rPr lang="zh-CN" altLang="en-US" dirty="0"/>
                  <a:t>有穷带符号集</a:t>
                </a:r>
                <a:r>
                  <a:rPr lang="en-AU" altLang="zh-CN" dirty="0"/>
                  <a:t>(tape alphabet)</a:t>
                </a:r>
                <a:r>
                  <a:rPr lang="zh-CN" altLang="en-US" dirty="0"/>
                  <a:t>，且总有</a:t>
                </a:r>
                <a14:m>
                  <m:oMath xmlns:m="http://schemas.openxmlformats.org/officeDocument/2006/math">
                    <m:r>
                      <m:rPr>
                        <m:sty m:val="p"/>
                      </m:rPr>
                      <a:rPr lang="el-GR" dirty="0">
                        <a:latin typeface="Cambria Math" panose="02040503050406030204" pitchFamily="18" charset="0"/>
                      </a:rPr>
                      <m:t>Σ</m:t>
                    </m:r>
                    <m:r>
                      <a:rPr lang="el-GR" i="1" dirty="0" smtClean="0">
                        <a:latin typeface="Cambria Math" panose="02040503050406030204" pitchFamily="18" charset="0"/>
                        <a:ea typeface="Cambria Math" panose="02040503050406030204" pitchFamily="18" charset="0"/>
                      </a:rPr>
                      <m:t>⊆</m:t>
                    </m:r>
                    <m:r>
                      <m:rPr>
                        <m:sty m:val="p"/>
                      </m:rPr>
                      <a:rPr lang="el-GR" dirty="0">
                        <a:latin typeface="Cambria Math" panose="02040503050406030204" pitchFamily="18" charset="0"/>
                      </a:rPr>
                      <m:t>Γ</m:t>
                    </m:r>
                  </m:oMath>
                </a14:m>
                <a:endParaRPr lang="en-AU" dirty="0"/>
              </a:p>
              <a:p>
                <a:pPr marL="0" indent="0">
                  <a:buNone/>
                </a:pPr>
                <a:r>
                  <a:rPr lang="en-AU" dirty="0"/>
                  <a:t>(4)</a:t>
                </a:r>
                <a:r>
                  <a:rPr lang="el-GR" dirty="0"/>
                  <a:t> </a:t>
                </a:r>
                <a14:m>
                  <m:oMath xmlns:m="http://schemas.openxmlformats.org/officeDocument/2006/math">
                    <m:r>
                      <a:rPr lang="el-GR" i="1" dirty="0" smtClean="0">
                        <a:latin typeface="Cambria Math" panose="02040503050406030204" pitchFamily="18" charset="0"/>
                      </a:rPr>
                      <m:t>𝛿</m:t>
                    </m:r>
                  </m:oMath>
                </a14:m>
                <a:r>
                  <a:rPr lang="en-AU" dirty="0"/>
                  <a:t>:</a:t>
                </a:r>
                <a:r>
                  <a:rPr lang="el-GR" dirty="0"/>
                  <a:t> </a:t>
                </a:r>
                <a14:m>
                  <m:oMath xmlns:m="http://schemas.openxmlformats.org/officeDocument/2006/math">
                    <m:r>
                      <a:rPr lang="el-GR" i="1" dirty="0">
                        <a:latin typeface="Cambria Math" panose="02040503050406030204" pitchFamily="18" charset="0"/>
                      </a:rPr>
                      <m:t>𝑄</m:t>
                    </m:r>
                    <m:r>
                      <a:rPr lang="el-GR" i="1" dirty="0" smtClean="0">
                        <a:latin typeface="Cambria Math" panose="02040503050406030204" pitchFamily="18" charset="0"/>
                        <a:ea typeface="Cambria Math" panose="02040503050406030204" pitchFamily="18" charset="0"/>
                      </a:rPr>
                      <m:t>×</m:t>
                    </m:r>
                    <m:r>
                      <m:rPr>
                        <m:sty m:val="p"/>
                      </m:rPr>
                      <a:rPr lang="el-GR" dirty="0">
                        <a:latin typeface="Cambria Math" panose="02040503050406030204" pitchFamily="18" charset="0"/>
                      </a:rPr>
                      <m:t>Γ</m:t>
                    </m:r>
                    <m:r>
                      <a:rPr lang="el-GR" i="1" dirty="0" smtClean="0">
                        <a:latin typeface="Cambria Math" panose="02040503050406030204" pitchFamily="18" charset="0"/>
                        <a:ea typeface="Cambria Math" panose="02040503050406030204" pitchFamily="18" charset="0"/>
                      </a:rPr>
                      <m:t>→</m:t>
                    </m:r>
                    <m:r>
                      <a:rPr lang="el-GR" i="1" dirty="0">
                        <a:latin typeface="Cambria Math" panose="02040503050406030204" pitchFamily="18" charset="0"/>
                      </a:rPr>
                      <m:t>𝑄</m:t>
                    </m:r>
                    <m:r>
                      <a:rPr lang="el-GR" i="1" dirty="0">
                        <a:latin typeface="Cambria Math" panose="02040503050406030204" pitchFamily="18" charset="0"/>
                        <a:ea typeface="Cambria Math" panose="02040503050406030204" pitchFamily="18" charset="0"/>
                      </a:rPr>
                      <m:t>×</m:t>
                    </m:r>
                    <m:r>
                      <m:rPr>
                        <m:sty m:val="p"/>
                      </m:rPr>
                      <a:rPr lang="el-GR" dirty="0">
                        <a:latin typeface="Cambria Math" panose="02040503050406030204" pitchFamily="18" charset="0"/>
                      </a:rPr>
                      <m:t>Γ</m:t>
                    </m:r>
                    <m:r>
                      <a:rPr lang="el-GR" i="1" dirty="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𝐿</m:t>
                    </m:r>
                    <m:r>
                      <a:rPr lang="en-AU" b="0" i="1" dirty="0" smtClean="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𝑅</m:t>
                    </m:r>
                    <m:r>
                      <a:rPr lang="en-AU" b="0" i="1" dirty="0" smtClean="0">
                        <a:latin typeface="Cambria Math" panose="02040503050406030204" pitchFamily="18" charset="0"/>
                        <a:ea typeface="Cambria Math" panose="02040503050406030204" pitchFamily="18" charset="0"/>
                      </a:rPr>
                      <m:t>}</m:t>
                    </m:r>
                  </m:oMath>
                </a14:m>
                <a:r>
                  <a:rPr lang="en-AU" altLang="zh-CN" dirty="0"/>
                  <a:t>:</a:t>
                </a:r>
                <a:r>
                  <a:rPr lang="zh-CN" altLang="en-US" dirty="0"/>
                  <a:t>转移函数</a:t>
                </a:r>
                <a:endParaRPr lang="en-AU" dirty="0"/>
              </a:p>
              <a:p>
                <a:pPr marL="0" indent="0">
                  <a:buNone/>
                </a:pPr>
                <a:r>
                  <a:rPr lang="en-AU" dirty="0"/>
                  <a:t>(5)</a:t>
                </a:r>
                <a:r>
                  <a:rPr lang="el-GR" dirty="0"/>
                  <a:t> </a:t>
                </a:r>
                <a14:m>
                  <m:oMath xmlns:m="http://schemas.openxmlformats.org/officeDocument/2006/math">
                    <m:sSub>
                      <m:sSubPr>
                        <m:ctrlPr>
                          <a:rPr lang="el-GR" i="1" dirty="0" smtClean="0">
                            <a:latin typeface="Cambria Math" panose="02040503050406030204" pitchFamily="18" charset="0"/>
                          </a:rPr>
                        </m:ctrlPr>
                      </m:sSubPr>
                      <m:e>
                        <m:r>
                          <a:rPr lang="en-AU" b="0" i="1" dirty="0" smtClean="0">
                            <a:latin typeface="Cambria Math" panose="02040503050406030204" pitchFamily="18" charset="0"/>
                          </a:rPr>
                          <m:t>𝑞</m:t>
                        </m:r>
                      </m:e>
                      <m:sub>
                        <m:r>
                          <a:rPr lang="en-AU" b="0" i="1" dirty="0" smtClean="0">
                            <a:latin typeface="Cambria Math" panose="02040503050406030204" pitchFamily="18" charset="0"/>
                          </a:rPr>
                          <m:t>0</m:t>
                        </m:r>
                      </m:sub>
                    </m:sSub>
                    <m:r>
                      <a:rPr lang="en-AU" b="0" i="1" dirty="0" smtClean="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𝑄</m:t>
                    </m:r>
                  </m:oMath>
                </a14:m>
                <a:r>
                  <a:rPr lang="zh-CN" altLang="en-US" dirty="0"/>
                  <a:t>：初始状态</a:t>
                </a:r>
                <a:endParaRPr lang="en-AU" dirty="0"/>
              </a:p>
              <a:p>
                <a:pPr marL="0" indent="0">
                  <a:buNone/>
                </a:pPr>
                <a:r>
                  <a:rPr lang="en-AU" dirty="0"/>
                  <a:t>(6)</a:t>
                </a:r>
                <a:r>
                  <a:rPr lang="el-GR" dirty="0"/>
                  <a:t> </a:t>
                </a:r>
                <a14:m>
                  <m:oMath xmlns:m="http://schemas.openxmlformats.org/officeDocument/2006/math">
                    <m:r>
                      <a:rPr lang="el-GR" i="1" dirty="0" smtClean="0">
                        <a:latin typeface="Cambria Math" panose="02040503050406030204" pitchFamily="18" charset="0"/>
                      </a:rPr>
                      <m:t>𝐵</m:t>
                    </m:r>
                    <m:r>
                      <a:rPr lang="en-AU" i="1" dirty="0">
                        <a:latin typeface="Cambria Math" panose="02040503050406030204" pitchFamily="18" charset="0"/>
                        <a:ea typeface="Cambria Math" panose="02040503050406030204" pitchFamily="18" charset="0"/>
                      </a:rPr>
                      <m:t>∈</m:t>
                    </m:r>
                    <m:r>
                      <m:rPr>
                        <m:sty m:val="p"/>
                      </m:rPr>
                      <a:rPr lang="el-GR" dirty="0">
                        <a:latin typeface="Cambria Math" panose="02040503050406030204" pitchFamily="18" charset="0"/>
                      </a:rPr>
                      <m:t>Γ</m:t>
                    </m:r>
                    <m:r>
                      <a:rPr lang="en-AU" b="0" i="0" dirty="0" smtClean="0">
                        <a:latin typeface="Cambria Math" panose="02040503050406030204" pitchFamily="18" charset="0"/>
                      </a:rPr>
                      <m:t>−</m:t>
                    </m:r>
                    <m:r>
                      <m:rPr>
                        <m:sty m:val="p"/>
                      </m:rPr>
                      <a:rPr lang="el-GR" dirty="0">
                        <a:latin typeface="Cambria Math" panose="02040503050406030204" pitchFamily="18" charset="0"/>
                      </a:rPr>
                      <m:t>Σ</m:t>
                    </m:r>
                    <m:r>
                      <a:rPr lang="en-AU" b="0" i="0" dirty="0" smtClean="0">
                        <a:latin typeface="Cambria Math" panose="02040503050406030204" pitchFamily="18" charset="0"/>
                      </a:rPr>
                      <m:t>:</m:t>
                    </m:r>
                  </m:oMath>
                </a14:m>
                <a:r>
                  <a:rPr lang="zh-CN" altLang="en-US" dirty="0"/>
                  <a:t>空格</a:t>
                </a:r>
                <a:r>
                  <a:rPr lang="en-AU" altLang="zh-CN" dirty="0"/>
                  <a:t>/</a:t>
                </a:r>
                <a:r>
                  <a:rPr lang="zh-CN" altLang="en-US" dirty="0"/>
                  <a:t>空白符号</a:t>
                </a:r>
                <a:r>
                  <a:rPr lang="en-AU" altLang="zh-CN" dirty="0"/>
                  <a:t>(Blank Symbol)</a:t>
                </a:r>
                <a:endParaRPr lang="en-AU" dirty="0"/>
              </a:p>
              <a:p>
                <a:pPr marL="0" indent="0">
                  <a:buNone/>
                </a:pPr>
                <a:r>
                  <a:rPr lang="en-AU" dirty="0"/>
                  <a:t>(7)</a:t>
                </a:r>
                <a:r>
                  <a:rPr lang="el-GR" dirty="0"/>
                  <a:t> </a:t>
                </a:r>
                <a14:m>
                  <m:oMath xmlns:m="http://schemas.openxmlformats.org/officeDocument/2006/math">
                    <m:r>
                      <a:rPr lang="el-GR" i="1" dirty="0" smtClean="0">
                        <a:latin typeface="Cambria Math" panose="02040503050406030204" pitchFamily="18" charset="0"/>
                      </a:rPr>
                      <m:t>𝐹</m:t>
                    </m:r>
                    <m:r>
                      <a:rPr lang="el-GR" i="1" dirty="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𝑄</m:t>
                    </m:r>
                  </m:oMath>
                </a14:m>
                <a:r>
                  <a:rPr lang="zh-CN" altLang="en-US" dirty="0"/>
                  <a:t>：接受状态集</a:t>
                </a:r>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787400" y="1384300"/>
                <a:ext cx="8229600" cy="4525963"/>
              </a:xfrm>
              <a:blipFill rotWithShape="1">
                <a:blip r:embed="rId3"/>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42</a:t>
            </a:fld>
            <a:endParaRPr lang="en-AU"/>
          </a:p>
        </p:txBody>
      </p:sp>
      <p:sp>
        <p:nvSpPr>
          <p:cNvPr id="6"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图灵机的形式化定义</a:t>
            </a:r>
            <a:endParaRPr lang="en-AU" sz="3600" dirty="0">
              <a:solidFill>
                <a:schemeClr val="bg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71500" y="1117600"/>
                <a:ext cx="8229600" cy="4525963"/>
              </a:xfrm>
            </p:spPr>
            <p:txBody>
              <a:bodyPr>
                <a:normAutofit fontScale="92500"/>
              </a:bodyPr>
              <a:lstStyle/>
              <a:p>
                <a:r>
                  <a:rPr lang="zh-CN" altLang="en-US" dirty="0"/>
                  <a:t>有穷控制器状态为</a:t>
                </a:r>
                <a14:m>
                  <m:oMath xmlns:m="http://schemas.openxmlformats.org/officeDocument/2006/math">
                    <m:r>
                      <a:rPr lang="en-AU" altLang="zh-CN" b="0" i="1" smtClean="0">
                        <a:latin typeface="Cambria Math" panose="02040503050406030204" pitchFamily="18" charset="0"/>
                      </a:rPr>
                      <m:t>𝑞</m:t>
                    </m:r>
                  </m:oMath>
                </a14:m>
                <a:r>
                  <a:rPr lang="zh-CN" altLang="en-US" dirty="0"/>
                  <a:t>且带头读入符号</a:t>
                </a:r>
                <a14:m>
                  <m:oMath xmlns:m="http://schemas.openxmlformats.org/officeDocument/2006/math">
                    <m:r>
                      <a:rPr lang="en-AU" altLang="zh-CN" b="0" i="1" smtClean="0">
                        <a:latin typeface="Cambria Math" panose="02040503050406030204" pitchFamily="18" charset="0"/>
                      </a:rPr>
                      <m:t>𝑋</m:t>
                    </m:r>
                  </m:oMath>
                </a14:m>
                <a:r>
                  <a:rPr lang="zh-CN" altLang="en-US" dirty="0"/>
                  <a:t>时，若有</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l-GR" i="1" dirty="0">
                          <a:latin typeface="Cambria Math" panose="02040503050406030204" pitchFamily="18" charset="0"/>
                        </a:rPr>
                        <m:t>𝛿</m:t>
                      </m:r>
                      <m:d>
                        <m:dPr>
                          <m:ctrlPr>
                            <a:rPr lang="en-AU" b="0" i="1" dirty="0" smtClean="0">
                              <a:latin typeface="Cambria Math" panose="02040503050406030204" pitchFamily="18" charset="0"/>
                            </a:rPr>
                          </m:ctrlPr>
                        </m:dPr>
                        <m:e>
                          <m:r>
                            <a:rPr lang="en-AU" b="0" i="1" dirty="0" smtClean="0">
                              <a:latin typeface="Cambria Math" panose="02040503050406030204" pitchFamily="18" charset="0"/>
                            </a:rPr>
                            <m:t>𝑞</m:t>
                          </m:r>
                          <m:r>
                            <a:rPr lang="en-AU" b="0" i="1" dirty="0" smtClean="0">
                              <a:latin typeface="Cambria Math" panose="02040503050406030204" pitchFamily="18" charset="0"/>
                            </a:rPr>
                            <m:t>,</m:t>
                          </m:r>
                          <m:r>
                            <a:rPr lang="en-AU" b="0" i="1" dirty="0" smtClean="0">
                              <a:latin typeface="Cambria Math" panose="02040503050406030204" pitchFamily="18" charset="0"/>
                            </a:rPr>
                            <m:t>𝑋</m:t>
                          </m:r>
                        </m:e>
                      </m:d>
                      <m:r>
                        <a:rPr lang="en-AU" b="0" i="1" dirty="0" smtClean="0">
                          <a:latin typeface="Cambria Math" panose="02040503050406030204" pitchFamily="18" charset="0"/>
                        </a:rPr>
                        <m:t>=(</m:t>
                      </m:r>
                      <m:r>
                        <a:rPr lang="en-AU" b="0" i="1" dirty="0" smtClean="0">
                          <a:latin typeface="Cambria Math" panose="02040503050406030204" pitchFamily="18" charset="0"/>
                        </a:rPr>
                        <m:t>𝑝</m:t>
                      </m:r>
                      <m:r>
                        <a:rPr lang="en-AU" b="0" i="1" dirty="0" smtClean="0">
                          <a:latin typeface="Cambria Math" panose="02040503050406030204" pitchFamily="18" charset="0"/>
                        </a:rPr>
                        <m:t>,</m:t>
                      </m:r>
                      <m:r>
                        <a:rPr lang="en-AU" b="0" i="1" dirty="0" smtClean="0">
                          <a:latin typeface="Cambria Math" panose="02040503050406030204" pitchFamily="18" charset="0"/>
                        </a:rPr>
                        <m:t>𝑌</m:t>
                      </m:r>
                      <m:r>
                        <a:rPr lang="en-AU" b="0" i="1" dirty="0" smtClean="0">
                          <a:latin typeface="Cambria Math" panose="02040503050406030204" pitchFamily="18" charset="0"/>
                        </a:rPr>
                        <m:t>,</m:t>
                      </m:r>
                      <m:r>
                        <a:rPr lang="en-AU" b="0" i="1" dirty="0" smtClean="0">
                          <a:latin typeface="Cambria Math" panose="02040503050406030204" pitchFamily="18" charset="0"/>
                        </a:rPr>
                        <m:t>𝐿</m:t>
                      </m:r>
                      <m:r>
                        <a:rPr lang="en-AU" b="0" i="1" dirty="0" smtClean="0">
                          <a:latin typeface="Cambria Math" panose="02040503050406030204" pitchFamily="18" charset="0"/>
                        </a:rPr>
                        <m:t>/</m:t>
                      </m:r>
                      <m:r>
                        <a:rPr lang="en-AU" b="0" i="1" dirty="0" smtClean="0">
                          <a:latin typeface="Cambria Math" panose="02040503050406030204" pitchFamily="18" charset="0"/>
                        </a:rPr>
                        <m:t>𝑅</m:t>
                      </m:r>
                      <m:r>
                        <a:rPr lang="en-AU" b="0" i="1" dirty="0" smtClean="0">
                          <a:latin typeface="Cambria Math" panose="02040503050406030204" pitchFamily="18" charset="0"/>
                        </a:rPr>
                        <m:t>)</m:t>
                      </m:r>
                    </m:oMath>
                  </m:oMathPara>
                </a14:m>
                <a:endParaRPr lang="en-AU" dirty="0"/>
              </a:p>
              <a:p>
                <a:pPr marL="0" indent="0">
                  <a:buNone/>
                </a:pPr>
                <a:r>
                  <a:rPr lang="zh-CN" altLang="en-US" dirty="0"/>
                  <a:t>则状态移到</a:t>
                </a:r>
                <a14:m>
                  <m:oMath xmlns:m="http://schemas.openxmlformats.org/officeDocument/2006/math">
                    <m:r>
                      <a:rPr lang="en-AU" altLang="zh-CN" b="0" i="1" smtClean="0">
                        <a:latin typeface="Cambria Math" panose="02040503050406030204" pitchFamily="18" charset="0"/>
                      </a:rPr>
                      <m:t>𝑝</m:t>
                    </m:r>
                  </m:oMath>
                </a14:m>
                <a:r>
                  <a:rPr lang="en-AU" dirty="0"/>
                  <a:t>,</a:t>
                </a:r>
                <a:r>
                  <a:rPr lang="zh-CN" altLang="en-US" dirty="0"/>
                  <a:t>带头写符号</a:t>
                </a:r>
                <a14:m>
                  <m:oMath xmlns:m="http://schemas.openxmlformats.org/officeDocument/2006/math">
                    <m:r>
                      <a:rPr lang="en-AU" altLang="zh-CN" b="0" i="1" smtClean="0">
                        <a:latin typeface="Cambria Math" panose="02040503050406030204" pitchFamily="18" charset="0"/>
                      </a:rPr>
                      <m:t>𝑌</m:t>
                    </m:r>
                  </m:oMath>
                </a14:m>
                <a:r>
                  <a:rPr lang="zh-CN" altLang="en-US" dirty="0"/>
                  <a:t>并左或右移一格。图示为</a:t>
                </a:r>
                <a:endParaRPr lang="en-AU" altLang="zh-CN" dirty="0"/>
              </a:p>
              <a:p>
                <a:pPr marL="0" indent="0">
                  <a:buNone/>
                </a:pPr>
                <a:endParaRPr lang="en-AU" altLang="zh-CN" dirty="0"/>
              </a:p>
              <a:p>
                <a:pPr marL="0" indent="0">
                  <a:buNone/>
                </a:pPr>
                <a:endParaRPr lang="en-AU" altLang="zh-CN" dirty="0"/>
              </a:p>
              <a:p>
                <a:pPr marL="0" indent="0">
                  <a:buNone/>
                </a:pPr>
                <a:endParaRPr lang="en-AU" dirty="0"/>
              </a:p>
              <a:p>
                <a:pPr marL="0" indent="0">
                  <a:buNone/>
                </a:pPr>
                <a:endParaRPr lang="en-AU" dirty="0"/>
              </a:p>
              <a:p>
                <a:pPr marL="0" indent="0">
                  <a:buNone/>
                </a:pPr>
                <a:endParaRPr lang="en-AU" dirty="0"/>
              </a:p>
              <a:p>
                <a:pPr marL="0" indent="0">
                  <a:buNone/>
                </a:pPr>
                <a:r>
                  <a:rPr lang="zh-CN" altLang="en-US" dirty="0"/>
                  <a:t>因为每个动作都是确定的，因此是确定的图灵机。</a:t>
                </a:r>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571500" y="1117600"/>
                <a:ext cx="8229600" cy="4525963"/>
              </a:xfrm>
              <a:blipFill rotWithShape="1">
                <a:blip r:embed="rId2"/>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43</a:t>
            </a:fld>
            <a:endParaRPr lang="en-AU"/>
          </a:p>
        </p:txBody>
      </p:sp>
      <p:sp>
        <p:nvSpPr>
          <p:cNvPr id="5" name="Oval 4"/>
          <p:cNvSpPr/>
          <p:nvPr/>
        </p:nvSpPr>
        <p:spPr>
          <a:xfrm>
            <a:off x="2401784" y="3050032"/>
            <a:ext cx="719328" cy="7162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dirty="0"/>
          </a:p>
        </p:txBody>
      </p:sp>
      <p:sp>
        <p:nvSpPr>
          <p:cNvPr id="6" name="Oval 5"/>
          <p:cNvSpPr/>
          <p:nvPr/>
        </p:nvSpPr>
        <p:spPr>
          <a:xfrm>
            <a:off x="5666480" y="2982585"/>
            <a:ext cx="873211" cy="77229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cxnSp>
        <p:nvCxnSpPr>
          <p:cNvPr id="8" name="Straight Arrow Connector 7"/>
          <p:cNvCxnSpPr/>
          <p:nvPr/>
        </p:nvCxnSpPr>
        <p:spPr>
          <a:xfrm>
            <a:off x="3181081" y="3380163"/>
            <a:ext cx="246888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 name="TextBox 8"/>
              <p:cNvSpPr txBox="1"/>
              <p:nvPr/>
            </p:nvSpPr>
            <p:spPr>
              <a:xfrm>
                <a:off x="2513626" y="3149330"/>
                <a:ext cx="42800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𝑞</m:t>
                      </m:r>
                    </m:oMath>
                  </m:oMathPara>
                </a14:m>
                <a:endParaRPr lang="en-AU" sz="2400" dirty="0"/>
              </a:p>
            </p:txBody>
          </p:sp>
        </mc:Choice>
        <mc:Fallback xmlns="">
          <p:sp>
            <p:nvSpPr>
              <p:cNvPr id="9" name="TextBox 8"/>
              <p:cNvSpPr txBox="1">
                <a:spLocks noRot="1" noChangeAspect="1" noMove="1" noResize="1" noEditPoints="1" noAdjustHandles="1" noChangeArrowheads="1" noChangeShapeType="1" noTextEdit="1"/>
              </p:cNvSpPr>
              <p:nvPr/>
            </p:nvSpPr>
            <p:spPr>
              <a:xfrm>
                <a:off x="2513626" y="3149330"/>
                <a:ext cx="428002" cy="461665"/>
              </a:xfrm>
              <a:prstGeom prst="rect">
                <a:avLst/>
              </a:prstGeom>
              <a:blipFill rotWithShape="1">
                <a:blip r:embed="rId3"/>
                <a:stretch>
                  <a:fillRect l="-69" t="-79" r="72" b="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905182" y="3101532"/>
                <a:ext cx="42890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𝑝</m:t>
                      </m:r>
                    </m:oMath>
                  </m:oMathPara>
                </a14:m>
                <a:endParaRPr lang="en-AU" sz="2400" dirty="0"/>
              </a:p>
            </p:txBody>
          </p:sp>
        </mc:Choice>
        <mc:Fallback xmlns="">
          <p:sp>
            <p:nvSpPr>
              <p:cNvPr id="10" name="TextBox 9"/>
              <p:cNvSpPr txBox="1">
                <a:spLocks noRot="1" noChangeAspect="1" noMove="1" noResize="1" noEditPoints="1" noAdjustHandles="1" noChangeArrowheads="1" noChangeShapeType="1" noTextEdit="1"/>
              </p:cNvSpPr>
              <p:nvPr/>
            </p:nvSpPr>
            <p:spPr>
              <a:xfrm>
                <a:off x="5905182" y="3101532"/>
                <a:ext cx="428900" cy="461665"/>
              </a:xfrm>
              <a:prstGeom prst="rect">
                <a:avLst/>
              </a:prstGeom>
              <a:blipFill rotWithShape="1">
                <a:blip r:embed="rId4"/>
                <a:stretch>
                  <a:fillRect l="-74" t="-42" r="138" b="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333182" y="2872334"/>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altLang="zh-CN" sz="2400" b="0" i="1" smtClean="0">
                          <a:latin typeface="Cambria Math" panose="02040503050406030204" pitchFamily="18" charset="0"/>
                        </a:rPr>
                        <m:t>𝑋</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𝑌</m:t>
                      </m:r>
                    </m:oMath>
                  </m:oMathPara>
                </a14:m>
                <a:endParaRPr lang="en-AU" sz="2400" dirty="0"/>
              </a:p>
            </p:txBody>
          </p:sp>
        </mc:Choice>
        <mc:Fallback xmlns="">
          <p:sp>
            <p:nvSpPr>
              <p:cNvPr id="12" name="TextBox 11"/>
              <p:cNvSpPr txBox="1">
                <a:spLocks noRot="1" noChangeAspect="1" noMove="1" noResize="1" noEditPoints="1" noAdjustHandles="1" noChangeArrowheads="1" noChangeShapeType="1" noTextEdit="1"/>
              </p:cNvSpPr>
              <p:nvPr/>
            </p:nvSpPr>
            <p:spPr>
              <a:xfrm>
                <a:off x="1333182" y="2872334"/>
                <a:ext cx="4572000" cy="461665"/>
              </a:xfrm>
              <a:prstGeom prst="rect">
                <a:avLst/>
              </a:prstGeom>
              <a:blipFill rotWithShape="1">
                <a:blip r:embed="rId5"/>
                <a:stretch>
                  <a:fillRect l="-7" t="-50" r="7" b="54"/>
                </a:stretch>
              </a:blipFill>
            </p:spPr>
            <p:txBody>
              <a:bodyPr/>
              <a:lstStyle/>
              <a:p>
                <a:r>
                  <a:rPr lang="zh-CN" altLang="en-US">
                    <a:noFill/>
                  </a:rPr>
                  <a:t> </a:t>
                </a:r>
              </a:p>
            </p:txBody>
          </p:sp>
        </mc:Fallback>
      </mc:AlternateContent>
      <p:cxnSp>
        <p:nvCxnSpPr>
          <p:cNvPr id="14" name="Straight Arrow Connector 13"/>
          <p:cNvCxnSpPr/>
          <p:nvPr/>
        </p:nvCxnSpPr>
        <p:spPr>
          <a:xfrm flipH="1">
            <a:off x="3882296" y="3137005"/>
            <a:ext cx="283207"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3" name="Oval 12"/>
          <p:cNvSpPr/>
          <p:nvPr/>
        </p:nvSpPr>
        <p:spPr>
          <a:xfrm>
            <a:off x="2401784" y="4059408"/>
            <a:ext cx="719328" cy="7162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dirty="0"/>
          </a:p>
        </p:txBody>
      </p:sp>
      <p:sp>
        <p:nvSpPr>
          <p:cNvPr id="15" name="Oval 14"/>
          <p:cNvSpPr/>
          <p:nvPr/>
        </p:nvSpPr>
        <p:spPr>
          <a:xfrm>
            <a:off x="5708872" y="3956562"/>
            <a:ext cx="873211" cy="77229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cxnSp>
        <p:nvCxnSpPr>
          <p:cNvPr id="16" name="Straight Arrow Connector 15"/>
          <p:cNvCxnSpPr/>
          <p:nvPr/>
        </p:nvCxnSpPr>
        <p:spPr>
          <a:xfrm>
            <a:off x="3181082" y="4389539"/>
            <a:ext cx="246888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2513626" y="4158706"/>
                <a:ext cx="42800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𝑞</m:t>
                      </m:r>
                    </m:oMath>
                  </m:oMathPara>
                </a14:m>
                <a:endParaRPr lang="en-AU" sz="2400" dirty="0"/>
              </a:p>
            </p:txBody>
          </p:sp>
        </mc:Choice>
        <mc:Fallback xmlns="">
          <p:sp>
            <p:nvSpPr>
              <p:cNvPr id="17" name="TextBox 16"/>
              <p:cNvSpPr txBox="1">
                <a:spLocks noRot="1" noChangeAspect="1" noMove="1" noResize="1" noEditPoints="1" noAdjustHandles="1" noChangeArrowheads="1" noChangeShapeType="1" noTextEdit="1"/>
              </p:cNvSpPr>
              <p:nvPr/>
            </p:nvSpPr>
            <p:spPr>
              <a:xfrm>
                <a:off x="2513626" y="4158706"/>
                <a:ext cx="428002" cy="461665"/>
              </a:xfrm>
              <a:prstGeom prst="rect">
                <a:avLst/>
              </a:prstGeom>
              <a:blipFill rotWithShape="1">
                <a:blip r:embed="rId3"/>
                <a:stretch>
                  <a:fillRect l="-69" t="-20" r="72" b="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5907410" y="4126781"/>
                <a:ext cx="42890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𝑝</m:t>
                      </m:r>
                    </m:oMath>
                  </m:oMathPara>
                </a14:m>
                <a:endParaRPr lang="en-AU" sz="2400" dirty="0"/>
              </a:p>
            </p:txBody>
          </p:sp>
        </mc:Choice>
        <mc:Fallback xmlns="">
          <p:sp>
            <p:nvSpPr>
              <p:cNvPr id="18" name="TextBox 17"/>
              <p:cNvSpPr txBox="1">
                <a:spLocks noRot="1" noChangeAspect="1" noMove="1" noResize="1" noEditPoints="1" noAdjustHandles="1" noChangeArrowheads="1" noChangeShapeType="1" noTextEdit="1"/>
              </p:cNvSpPr>
              <p:nvPr/>
            </p:nvSpPr>
            <p:spPr>
              <a:xfrm>
                <a:off x="5907410" y="4126781"/>
                <a:ext cx="428900" cy="461665"/>
              </a:xfrm>
              <a:prstGeom prst="rect">
                <a:avLst/>
              </a:prstGeom>
              <a:blipFill rotWithShape="1">
                <a:blip r:embed="rId4"/>
                <a:stretch>
                  <a:fillRect l="-1" t="-119" r="65" b="1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1305955" y="3901798"/>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altLang="zh-CN" sz="2400" b="0" i="1" smtClean="0">
                          <a:latin typeface="Cambria Math" panose="02040503050406030204" pitchFamily="18" charset="0"/>
                        </a:rPr>
                        <m:t>𝑋</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𝑌</m:t>
                      </m:r>
                    </m:oMath>
                  </m:oMathPara>
                </a14:m>
                <a:endParaRPr lang="en-AU" sz="2400" dirty="0"/>
              </a:p>
            </p:txBody>
          </p:sp>
        </mc:Choice>
        <mc:Fallback xmlns="">
          <p:sp>
            <p:nvSpPr>
              <p:cNvPr id="19" name="TextBox 18"/>
              <p:cNvSpPr txBox="1">
                <a:spLocks noRot="1" noChangeAspect="1" noMove="1" noResize="1" noEditPoints="1" noAdjustHandles="1" noChangeArrowheads="1" noChangeShapeType="1" noTextEdit="1"/>
              </p:cNvSpPr>
              <p:nvPr/>
            </p:nvSpPr>
            <p:spPr>
              <a:xfrm>
                <a:off x="1305955" y="3901798"/>
                <a:ext cx="4572000" cy="461665"/>
              </a:xfrm>
              <a:prstGeom prst="rect">
                <a:avLst/>
              </a:prstGeom>
              <a:blipFill rotWithShape="1">
                <a:blip r:embed="rId5"/>
                <a:stretch>
                  <a:fillRect l="-9" t="-78" r="9" b="82"/>
                </a:stretch>
              </a:blipFill>
            </p:spPr>
            <p:txBody>
              <a:bodyPr/>
              <a:lstStyle/>
              <a:p>
                <a:r>
                  <a:rPr lang="zh-CN" altLang="en-US">
                    <a:noFill/>
                  </a:rPr>
                  <a:t> </a:t>
                </a:r>
              </a:p>
            </p:txBody>
          </p:sp>
        </mc:Fallback>
      </mc:AlternateContent>
      <p:cxnSp>
        <p:nvCxnSpPr>
          <p:cNvPr id="20" name="Straight Arrow Connector 19"/>
          <p:cNvCxnSpPr/>
          <p:nvPr/>
        </p:nvCxnSpPr>
        <p:spPr>
          <a:xfrm>
            <a:off x="3864517" y="4158706"/>
            <a:ext cx="283207"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p:cNvSpPr txBox="1"/>
              <p:nvPr/>
            </p:nvSpPr>
            <p:spPr>
              <a:xfrm>
                <a:off x="4164217" y="2837599"/>
                <a:ext cx="2136772" cy="461665"/>
              </a:xfrm>
              <a:prstGeom prst="rect">
                <a:avLst/>
              </a:prstGeom>
              <a:noFill/>
            </p:spPr>
            <p:txBody>
              <a:bodyPr wrap="square">
                <a:spAutoFit/>
              </a:bodyPr>
              <a:lstStyle/>
              <a:p>
                <a:r>
                  <a:rPr lang="zh-CN" altLang="en-US" sz="2400" b="0" dirty="0"/>
                  <a:t>或</a:t>
                </a:r>
                <a14:m>
                  <m:oMath xmlns:m="http://schemas.openxmlformats.org/officeDocument/2006/math">
                    <m:r>
                      <a:rPr lang="en-AU" altLang="zh-CN" sz="2400" b="0" i="1" smtClean="0">
                        <a:latin typeface="Cambria Math" panose="02040503050406030204" pitchFamily="18" charset="0"/>
                      </a:rPr>
                      <m:t>𝑋</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𝑌</m:t>
                    </m:r>
                  </m:oMath>
                </a14:m>
                <a:r>
                  <a:rPr lang="en-AU" sz="2400" dirty="0"/>
                  <a:t>,</a:t>
                </a:r>
                <a14:m>
                  <m:oMath xmlns:m="http://schemas.openxmlformats.org/officeDocument/2006/math">
                    <m:r>
                      <a:rPr lang="en-AU" sz="2400" i="1" dirty="0" smtClean="0">
                        <a:latin typeface="Cambria Math" panose="02040503050406030204" pitchFamily="18" charset="0"/>
                      </a:rPr>
                      <m:t> </m:t>
                    </m:r>
                    <m:r>
                      <a:rPr lang="en-AU" sz="2400" b="0" i="1" dirty="0" smtClean="0">
                        <a:latin typeface="Cambria Math" panose="02040503050406030204" pitchFamily="18" charset="0"/>
                      </a:rPr>
                      <m:t> </m:t>
                    </m:r>
                    <m:r>
                      <a:rPr lang="en-AU" sz="2400" i="1" dirty="0" smtClean="0">
                        <a:latin typeface="Cambria Math" panose="02040503050406030204" pitchFamily="18" charset="0"/>
                      </a:rPr>
                      <m:t>𝐿</m:t>
                    </m:r>
                  </m:oMath>
                </a14:m>
                <a:endParaRPr lang="en-AU" sz="2400" dirty="0"/>
              </a:p>
            </p:txBody>
          </p:sp>
        </mc:Choice>
        <mc:Fallback xmlns="">
          <p:sp>
            <p:nvSpPr>
              <p:cNvPr id="22" name="TextBox 21"/>
              <p:cNvSpPr txBox="1">
                <a:spLocks noRot="1" noChangeAspect="1" noMove="1" noResize="1" noEditPoints="1" noAdjustHandles="1" noChangeArrowheads="1" noChangeShapeType="1" noTextEdit="1"/>
              </p:cNvSpPr>
              <p:nvPr/>
            </p:nvSpPr>
            <p:spPr>
              <a:xfrm>
                <a:off x="4164217" y="2837599"/>
                <a:ext cx="2136772" cy="461665"/>
              </a:xfrm>
              <a:prstGeom prst="rect">
                <a:avLst/>
              </a:prstGeom>
              <a:blipFill rotWithShape="1">
                <a:blip r:embed="rId6"/>
                <a:stretch>
                  <a:fillRect l="-24" t="-91" r="24" b="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4156492" y="3889818"/>
                <a:ext cx="2136772" cy="461665"/>
              </a:xfrm>
              <a:prstGeom prst="rect">
                <a:avLst/>
              </a:prstGeom>
              <a:noFill/>
            </p:spPr>
            <p:txBody>
              <a:bodyPr wrap="square">
                <a:spAutoFit/>
              </a:bodyPr>
              <a:lstStyle/>
              <a:p>
                <a:r>
                  <a:rPr lang="zh-CN" altLang="en-US" sz="2400" b="0" dirty="0"/>
                  <a:t>或</a:t>
                </a:r>
                <a14:m>
                  <m:oMath xmlns:m="http://schemas.openxmlformats.org/officeDocument/2006/math">
                    <m:r>
                      <a:rPr lang="en-AU" altLang="zh-CN" sz="2400" b="0" i="1" smtClean="0">
                        <a:latin typeface="Cambria Math" panose="02040503050406030204" pitchFamily="18" charset="0"/>
                      </a:rPr>
                      <m:t>𝑋</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𝑌</m:t>
                    </m:r>
                  </m:oMath>
                </a14:m>
                <a:r>
                  <a:rPr lang="en-AU" sz="2400" dirty="0"/>
                  <a:t>, </a:t>
                </a:r>
                <a14:m>
                  <m:oMath xmlns:m="http://schemas.openxmlformats.org/officeDocument/2006/math">
                    <m:r>
                      <a:rPr lang="en-US" altLang="zh-CN" sz="2400" i="1" dirty="0" smtClean="0">
                        <a:latin typeface="Cambria Math" panose="02040503050406030204" pitchFamily="18" charset="0"/>
                      </a:rPr>
                      <m:t>𝑅</m:t>
                    </m:r>
                  </m:oMath>
                </a14:m>
                <a:endParaRPr lang="en-AU" sz="2400" dirty="0"/>
              </a:p>
            </p:txBody>
          </p:sp>
        </mc:Choice>
        <mc:Fallback xmlns="">
          <p:sp>
            <p:nvSpPr>
              <p:cNvPr id="23" name="TextBox 22"/>
              <p:cNvSpPr txBox="1">
                <a:spLocks noRot="1" noChangeAspect="1" noMove="1" noResize="1" noEditPoints="1" noAdjustHandles="1" noChangeArrowheads="1" noChangeShapeType="1" noTextEdit="1"/>
              </p:cNvSpPr>
              <p:nvPr/>
            </p:nvSpPr>
            <p:spPr>
              <a:xfrm>
                <a:off x="4156492" y="3889818"/>
                <a:ext cx="2136772" cy="461665"/>
              </a:xfrm>
              <a:prstGeom prst="rect">
                <a:avLst/>
              </a:prstGeom>
              <a:blipFill rotWithShape="1">
                <a:blip r:embed="rId7"/>
                <a:stretch>
                  <a:fillRect l="-20" t="-96" r="19" b="100"/>
                </a:stretch>
              </a:blipFill>
            </p:spPr>
            <p:txBody>
              <a:bodyPr/>
              <a:lstStyle/>
              <a:p>
                <a:r>
                  <a:rPr lang="zh-CN" altLang="en-US">
                    <a:noFill/>
                  </a:rPr>
                  <a:t> </a:t>
                </a:r>
              </a:p>
            </p:txBody>
          </p:sp>
        </mc:Fallback>
      </mc:AlternateContent>
      <p:sp>
        <p:nvSpPr>
          <p:cNvPr id="25"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图灵机的动作及状态转移图</a:t>
            </a:r>
            <a:endParaRPr lang="en-AU" sz="3600" dirty="0">
              <a:solidFill>
                <a:schemeClr val="bg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a:t>语言类型判断：</a:t>
            </a:r>
            <a:r>
              <a:rPr lang="zh-CN" altLang="en-US" dirty="0"/>
              <a:t>泵引理</a:t>
            </a:r>
            <a:endParaRPr lang="en-US" altLang="zh-CN" dirty="0"/>
          </a:p>
          <a:p>
            <a:r>
              <a:rPr lang="zh-CN" altLang="en-US" dirty="0"/>
              <a:t>判断性质：空、非空、成员性、不可判断性</a:t>
            </a:r>
            <a:endParaRPr lang="en-US" altLang="zh-CN" dirty="0"/>
          </a:p>
          <a:p>
            <a:r>
              <a:rPr lang="zh-CN" altLang="en-US" dirty="0"/>
              <a:t>封闭性：交、并、补、连接、闭包、同态映射、逆同态映射、代换</a:t>
            </a:r>
          </a:p>
        </p:txBody>
      </p:sp>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44</a:t>
            </a:fld>
            <a:endParaRPr lang="en-US" altLang="zh-CN"/>
          </a:p>
        </p:txBody>
      </p:sp>
      <p:sp>
        <p:nvSpPr>
          <p:cNvPr id="5"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几个重要的问题</a:t>
            </a:r>
            <a:endParaRPr lang="en-AU" sz="3600" dirty="0">
              <a:solidFill>
                <a:schemeClr val="bg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dirty="0">
                <a:solidFill>
                  <a:srgbClr val="FF0000"/>
                </a:solidFill>
              </a:rPr>
              <a:t>方法一</a:t>
            </a:r>
            <a:r>
              <a:rPr lang="zh-CN" altLang="en-US" dirty="0"/>
              <a:t>、（</a:t>
            </a:r>
            <a:r>
              <a:rPr lang="en-US" altLang="zh-CN" dirty="0"/>
              <a:t>1</a:t>
            </a:r>
            <a:r>
              <a:rPr lang="zh-CN" altLang="en-US" dirty="0"/>
              <a:t>）从初始状态开始，对每个状态，依次确定每个字符作为输入时，可能到达的状态：</a:t>
            </a:r>
            <a:endParaRPr lang="en-US" altLang="zh-CN" dirty="0"/>
          </a:p>
          <a:p>
            <a:pPr marL="0" indent="0">
              <a:buNone/>
            </a:pPr>
            <a:r>
              <a:rPr lang="en-US" altLang="zh-CN" dirty="0"/>
              <a:t>	</a:t>
            </a:r>
            <a:r>
              <a:rPr lang="zh-CN" altLang="en-US" dirty="0"/>
              <a:t>（</a:t>
            </a:r>
            <a:r>
              <a:rPr lang="en-US" altLang="zh-CN" dirty="0"/>
              <a:t>a</a:t>
            </a:r>
            <a:r>
              <a:rPr lang="zh-CN" altLang="en-US" dirty="0"/>
              <a:t>）如果到达的状态是之前已出现的状态，建立当前状态到应到达状态的边；</a:t>
            </a:r>
            <a:endParaRPr lang="en-US" altLang="zh-CN" dirty="0"/>
          </a:p>
          <a:p>
            <a:pPr marL="0" indent="0">
              <a:buNone/>
            </a:pPr>
            <a:r>
              <a:rPr lang="en-US" altLang="zh-CN" dirty="0"/>
              <a:t>	</a:t>
            </a:r>
            <a:r>
              <a:rPr lang="zh-CN" altLang="en-US" dirty="0"/>
              <a:t>（</a:t>
            </a:r>
            <a:r>
              <a:rPr lang="en-US" altLang="zh-CN" dirty="0"/>
              <a:t>b</a:t>
            </a:r>
            <a:r>
              <a:rPr lang="zh-CN" altLang="en-US" dirty="0"/>
              <a:t>）如果到达的状态是之前未出现的状态，增加新的状态，建立当前状态到新增状态的边。</a:t>
            </a:r>
            <a:endParaRPr lang="en-US" altLang="zh-CN" dirty="0"/>
          </a:p>
          <a:p>
            <a:pPr marL="0" indent="0">
              <a:buNone/>
            </a:pPr>
            <a:r>
              <a:rPr lang="zh-CN" altLang="en-US" dirty="0"/>
              <a:t>（</a:t>
            </a:r>
            <a:r>
              <a:rPr lang="en-US" altLang="zh-CN" dirty="0"/>
              <a:t>2</a:t>
            </a:r>
            <a:r>
              <a:rPr lang="zh-CN" altLang="en-US" dirty="0"/>
              <a:t>）确定终止状态</a:t>
            </a:r>
            <a:endParaRPr lang="en-US" altLang="zh-CN" dirty="0"/>
          </a:p>
          <a:p>
            <a:pPr marL="0" indent="0">
              <a:buNone/>
            </a:pPr>
            <a:r>
              <a:rPr lang="zh-CN" altLang="en-US" dirty="0">
                <a:solidFill>
                  <a:srgbClr val="FF0000"/>
                </a:solidFill>
              </a:rPr>
              <a:t>方法二</a:t>
            </a:r>
            <a:r>
              <a:rPr lang="zh-CN" altLang="en-US" dirty="0"/>
              <a:t>：从初始状态开始，重点关注可以到达结束状态的路径，然后对每个节点补充其他字符作为输入时的边和状态</a:t>
            </a:r>
          </a:p>
        </p:txBody>
      </p:sp>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45</a:t>
            </a:fld>
            <a:endParaRPr lang="en-US" altLang="zh-CN"/>
          </a:p>
        </p:txBody>
      </p:sp>
      <p:sp>
        <p:nvSpPr>
          <p:cNvPr id="5"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习题练习</a:t>
            </a:r>
            <a:r>
              <a:rPr lang="en-US" altLang="zh-CN" sz="3600" dirty="0">
                <a:solidFill>
                  <a:schemeClr val="bg1"/>
                </a:solidFill>
              </a:rPr>
              <a:t>-</a:t>
            </a:r>
            <a:r>
              <a:rPr lang="zh-CN" altLang="en-US" sz="3600" dirty="0">
                <a:solidFill>
                  <a:schemeClr val="bg1"/>
                </a:solidFill>
              </a:rPr>
              <a:t>确定有限自动机的设计</a:t>
            </a:r>
            <a:endParaRPr lang="en-AU" sz="36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46</a:t>
            </a:fld>
            <a:endParaRPr lang="en-US" altLang="zh-CN"/>
          </a:p>
        </p:txBody>
      </p:sp>
      <p:sp>
        <p:nvSpPr>
          <p:cNvPr id="7" name="文本框 6"/>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algn="l"/>
            <a:r>
              <a:rPr kumimoji="1" lang="zh-CN" altLang="en-US" sz="2800" b="0" i="0" dirty="0">
                <a:solidFill>
                  <a:srgbClr val="000000"/>
                </a:solidFill>
              </a:rPr>
              <a:t>例</a:t>
            </a:r>
            <a:r>
              <a:rPr kumimoji="1" lang="en-US" altLang="zh-CN" sz="2800" b="0" i="0" dirty="0">
                <a:solidFill>
                  <a:srgbClr val="000000"/>
                </a:solidFill>
              </a:rPr>
              <a:t>1</a:t>
            </a:r>
            <a:r>
              <a:rPr kumimoji="1" lang="zh-CN" altLang="en-US" sz="2800" b="0" i="0" dirty="0">
                <a:solidFill>
                  <a:srgbClr val="000000"/>
                </a:solidFill>
              </a:rPr>
              <a:t>：设计定义在字母表</a:t>
            </a:r>
            <a:r>
              <a:rPr kumimoji="1" lang="en-US" altLang="zh-CN" sz="2800" b="0" i="0" dirty="0">
                <a:solidFill>
                  <a:srgbClr val="000000"/>
                </a:solidFill>
              </a:rPr>
              <a:t>{0, 1}</a:t>
            </a:r>
            <a:r>
              <a:rPr kumimoji="1" lang="zh-CN" altLang="en-US" sz="2800" b="0" i="0" dirty="0">
                <a:solidFill>
                  <a:srgbClr val="000000"/>
                </a:solidFill>
              </a:rPr>
              <a:t>上的所有以</a:t>
            </a:r>
            <a:r>
              <a:rPr kumimoji="1" lang="en-US" altLang="zh-CN" sz="2800" b="0" i="0" dirty="0">
                <a:solidFill>
                  <a:srgbClr val="000000"/>
                </a:solidFill>
              </a:rPr>
              <a:t>00</a:t>
            </a:r>
            <a:r>
              <a:rPr kumimoji="1" lang="zh-CN" altLang="en-US" sz="2800" b="0" i="0" dirty="0">
                <a:solidFill>
                  <a:srgbClr val="000000"/>
                </a:solidFill>
              </a:rPr>
              <a:t>结尾的串的集合的</a:t>
            </a:r>
            <a:r>
              <a:rPr kumimoji="1" lang="en-US" altLang="zh-CN" sz="2800" b="0" i="0" dirty="0">
                <a:solidFill>
                  <a:srgbClr val="000000"/>
                </a:solidFill>
              </a:rPr>
              <a:t>DFA</a:t>
            </a:r>
            <a:endParaRPr kumimoji="1" lang="zh-CN" altLang="en-US" sz="2800" b="0" i="0" dirty="0">
              <a:solidFill>
                <a:srgbClr val="000000"/>
              </a:solidFill>
            </a:endParaRPr>
          </a:p>
        </p:txBody>
      </p:sp>
      <p:sp>
        <p:nvSpPr>
          <p:cNvPr id="8" name="矩形: 圆角 7"/>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13" name="组合 12"/>
          <p:cNvGrpSpPr/>
          <p:nvPr>
            <p:custDataLst>
              <p:tags r:id="rId5"/>
            </p:custDataLst>
          </p:nvPr>
        </p:nvGrpSpPr>
        <p:grpSpPr>
          <a:xfrm>
            <a:off x="0" y="0"/>
            <a:ext cx="9144000" cy="635000"/>
            <a:chOff x="0" y="0"/>
            <a:chExt cx="9144000" cy="635000"/>
          </a:xfrm>
        </p:grpSpPr>
        <p:sp>
          <p:nvSpPr>
            <p:cNvPr id="9" name="TitleBackground"/>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10"/>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3887788" cy="641350"/>
          </a:xfrm>
          <a:prstGeom prst="rect">
            <a:avLst/>
          </a:prstGeom>
          <a:noFill/>
          <a:ln w="9525" algn="ctr">
            <a:noFill/>
            <a:miter lim="800000"/>
          </a:ln>
          <a:effectLst/>
        </p:spPr>
        <p:txBody>
          <a:bodyPr>
            <a:spAutoFit/>
          </a:bodyPr>
          <a:lstStyle/>
          <a:p>
            <a:pPr>
              <a:lnSpc>
                <a:spcPct val="90000"/>
              </a:lnSpc>
            </a:pPr>
            <a:r>
              <a:rPr lang="zh-CN" altLang="en-US" sz="4000" i="0" dirty="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33</a:t>
            </a:r>
            <a:endParaRPr kumimoji="1" lang="zh-CN" altLang="en-US" sz="2000" b="0" i="0" dirty="0">
              <a:solidFill>
                <a:srgbClr val="000066"/>
              </a:solidFill>
            </a:endParaRPr>
          </a:p>
        </p:txBody>
      </p:sp>
      <p:grpSp>
        <p:nvGrpSpPr>
          <p:cNvPr id="25" name="组合 24"/>
          <p:cNvGrpSpPr/>
          <p:nvPr/>
        </p:nvGrpSpPr>
        <p:grpSpPr>
          <a:xfrm>
            <a:off x="3037886" y="2747827"/>
            <a:ext cx="3120268" cy="823006"/>
            <a:chOff x="3037886" y="2747827"/>
            <a:chExt cx="3120268" cy="823006"/>
          </a:xfrm>
        </p:grpSpPr>
        <p:sp>
          <p:nvSpPr>
            <p:cNvPr id="4" name="椭圆 3"/>
            <p:cNvSpPr/>
            <p:nvPr/>
          </p:nvSpPr>
          <p:spPr bwMode="auto">
            <a:xfrm>
              <a:off x="4345992" y="3051068"/>
              <a:ext cx="504056" cy="519765"/>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7" name="椭圆 6"/>
            <p:cNvSpPr/>
            <p:nvPr/>
          </p:nvSpPr>
          <p:spPr bwMode="auto">
            <a:xfrm>
              <a:off x="3037886" y="3049932"/>
              <a:ext cx="504056" cy="519765"/>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8" name="椭圆 7"/>
            <p:cNvSpPr/>
            <p:nvPr/>
          </p:nvSpPr>
          <p:spPr bwMode="auto">
            <a:xfrm>
              <a:off x="5654098" y="3049931"/>
              <a:ext cx="504056" cy="519765"/>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cxnSp>
          <p:nvCxnSpPr>
            <p:cNvPr id="6" name="直线箭头连接符 5"/>
            <p:cNvCxnSpPr>
              <a:stCxn id="7" idx="6"/>
              <a:endCxn id="4" idx="2"/>
            </p:cNvCxnSpPr>
            <p:nvPr/>
          </p:nvCxnSpPr>
          <p:spPr bwMode="auto">
            <a:xfrm>
              <a:off x="3541942" y="3309815"/>
              <a:ext cx="804050" cy="1136"/>
            </a:xfrm>
            <a:prstGeom prst="straightConnector1">
              <a:avLst/>
            </a:prstGeom>
            <a:solidFill>
              <a:schemeClr val="accent1"/>
            </a:solidFill>
            <a:ln w="9525" cap="flat" cmpd="sng" algn="ctr">
              <a:solidFill>
                <a:srgbClr val="000000"/>
              </a:solidFill>
              <a:prstDash val="solid"/>
              <a:round/>
              <a:headEnd type="none" w="med" len="med"/>
              <a:tailEnd type="triangle"/>
            </a:ln>
            <a:effectLst/>
          </p:spPr>
        </p:cxnSp>
        <p:cxnSp>
          <p:nvCxnSpPr>
            <p:cNvPr id="11" name="直线箭头连接符 10"/>
            <p:cNvCxnSpPr/>
            <p:nvPr/>
          </p:nvCxnSpPr>
          <p:spPr bwMode="auto">
            <a:xfrm>
              <a:off x="4850048" y="3308677"/>
              <a:ext cx="804050" cy="1136"/>
            </a:xfrm>
            <a:prstGeom prst="straightConnector1">
              <a:avLst/>
            </a:prstGeom>
            <a:solidFill>
              <a:schemeClr val="accent1"/>
            </a:solidFill>
            <a:ln w="9525" cap="flat" cmpd="sng" algn="ctr">
              <a:solidFill>
                <a:srgbClr val="000000"/>
              </a:solidFill>
              <a:prstDash val="solid"/>
              <a:round/>
              <a:headEnd type="none" w="med" len="med"/>
              <a:tailEnd type="triangle"/>
            </a:ln>
            <a:effectLst/>
          </p:spPr>
        </p:cxnSp>
        <p:sp>
          <p:nvSpPr>
            <p:cNvPr id="12" name="椭圆 11"/>
            <p:cNvSpPr/>
            <p:nvPr/>
          </p:nvSpPr>
          <p:spPr bwMode="auto">
            <a:xfrm>
              <a:off x="5730298" y="3127266"/>
              <a:ext cx="351656" cy="362821"/>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9" name="文本框 8"/>
            <p:cNvSpPr txBox="1"/>
            <p:nvPr/>
          </p:nvSpPr>
          <p:spPr>
            <a:xfrm>
              <a:off x="3727943" y="2747827"/>
              <a:ext cx="432048" cy="461665"/>
            </a:xfrm>
            <a:prstGeom prst="rect">
              <a:avLst/>
            </a:prstGeom>
            <a:noFill/>
          </p:spPr>
          <p:txBody>
            <a:bodyPr wrap="square" rtlCol="0">
              <a:spAutoFit/>
            </a:bodyPr>
            <a:lstStyle/>
            <a:p>
              <a:r>
                <a:rPr kumimoji="1" lang="en-US" altLang="zh-CN" sz="2400" b="0" i="0" dirty="0">
                  <a:solidFill>
                    <a:srgbClr val="000000"/>
                  </a:solidFill>
                </a:rPr>
                <a:t>0</a:t>
              </a:r>
              <a:endParaRPr kumimoji="1" lang="zh-CN" altLang="en-US" sz="2400" b="0" i="0" dirty="0">
                <a:solidFill>
                  <a:srgbClr val="000000"/>
                </a:solidFill>
              </a:endParaRPr>
            </a:p>
          </p:txBody>
        </p:sp>
        <p:sp>
          <p:nvSpPr>
            <p:cNvPr id="15" name="文本框 14"/>
            <p:cNvSpPr txBox="1"/>
            <p:nvPr/>
          </p:nvSpPr>
          <p:spPr>
            <a:xfrm>
              <a:off x="5045884" y="2757024"/>
              <a:ext cx="432048" cy="461665"/>
            </a:xfrm>
            <a:prstGeom prst="rect">
              <a:avLst/>
            </a:prstGeom>
            <a:noFill/>
          </p:spPr>
          <p:txBody>
            <a:bodyPr wrap="square" rtlCol="0">
              <a:spAutoFit/>
            </a:bodyPr>
            <a:lstStyle/>
            <a:p>
              <a:r>
                <a:rPr kumimoji="1" lang="en-US" altLang="zh-CN" sz="2400" b="0" i="0" dirty="0">
                  <a:solidFill>
                    <a:srgbClr val="000000"/>
                  </a:solidFill>
                </a:rPr>
                <a:t>0</a:t>
              </a:r>
              <a:endParaRPr kumimoji="1" lang="zh-CN" altLang="en-US" sz="2400" b="0" i="0" dirty="0">
                <a:solidFill>
                  <a:srgbClr val="000000"/>
                </a:solidFill>
              </a:endParaRPr>
            </a:p>
          </p:txBody>
        </p:sp>
      </p:grpSp>
      <p:grpSp>
        <p:nvGrpSpPr>
          <p:cNvPr id="32" name="组合 31"/>
          <p:cNvGrpSpPr/>
          <p:nvPr/>
        </p:nvGrpSpPr>
        <p:grpSpPr>
          <a:xfrm>
            <a:off x="3073890" y="3550646"/>
            <a:ext cx="432048" cy="886466"/>
            <a:chOff x="3073890" y="3550646"/>
            <a:chExt cx="432048" cy="886466"/>
          </a:xfrm>
        </p:grpSpPr>
        <p:sp>
          <p:nvSpPr>
            <p:cNvPr id="10" name="弧 9"/>
            <p:cNvSpPr/>
            <p:nvPr/>
          </p:nvSpPr>
          <p:spPr bwMode="auto">
            <a:xfrm>
              <a:off x="3093777" y="3550646"/>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17" name="文本框 16"/>
            <p:cNvSpPr txBox="1"/>
            <p:nvPr/>
          </p:nvSpPr>
          <p:spPr>
            <a:xfrm>
              <a:off x="3073890" y="3975447"/>
              <a:ext cx="432048" cy="461665"/>
            </a:xfrm>
            <a:prstGeom prst="rect">
              <a:avLst/>
            </a:prstGeom>
            <a:noFill/>
          </p:spPr>
          <p:txBody>
            <a:bodyPr wrap="square" rtlCol="0">
              <a:spAutoFit/>
            </a:bodyPr>
            <a:lstStyle/>
            <a:p>
              <a:r>
                <a:rPr kumimoji="1" lang="en-US" altLang="zh-CN" sz="2400" b="0" i="0" dirty="0">
                  <a:solidFill>
                    <a:srgbClr val="000000"/>
                  </a:solidFill>
                </a:rPr>
                <a:t>1</a:t>
              </a:r>
              <a:endParaRPr kumimoji="1" lang="zh-CN" altLang="en-US" sz="2400" b="0" i="0" dirty="0">
                <a:solidFill>
                  <a:srgbClr val="000000"/>
                </a:solidFill>
              </a:endParaRPr>
            </a:p>
          </p:txBody>
        </p:sp>
      </p:grpSp>
      <p:grpSp>
        <p:nvGrpSpPr>
          <p:cNvPr id="33" name="组合 32"/>
          <p:cNvGrpSpPr/>
          <p:nvPr/>
        </p:nvGrpSpPr>
        <p:grpSpPr>
          <a:xfrm>
            <a:off x="3592355" y="3335053"/>
            <a:ext cx="1029706" cy="483749"/>
            <a:chOff x="3592355" y="3335053"/>
            <a:chExt cx="1029706" cy="483749"/>
          </a:xfrm>
        </p:grpSpPr>
        <p:sp>
          <p:nvSpPr>
            <p:cNvPr id="13" name="弧 12"/>
            <p:cNvSpPr/>
            <p:nvPr/>
          </p:nvSpPr>
          <p:spPr bwMode="auto">
            <a:xfrm rot="10800000">
              <a:off x="3592355" y="3335053"/>
              <a:ext cx="1029706" cy="461666"/>
            </a:xfrm>
            <a:prstGeom prst="arc">
              <a:avLst>
                <a:gd name="adj1" fmla="val 10807855"/>
                <a:gd name="adj2" fmla="val 21415475"/>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19" name="文本框 18"/>
            <p:cNvSpPr txBox="1"/>
            <p:nvPr/>
          </p:nvSpPr>
          <p:spPr>
            <a:xfrm>
              <a:off x="3863531" y="3357137"/>
              <a:ext cx="432048" cy="461665"/>
            </a:xfrm>
            <a:prstGeom prst="rect">
              <a:avLst/>
            </a:prstGeom>
            <a:noFill/>
          </p:spPr>
          <p:txBody>
            <a:bodyPr wrap="square" rtlCol="0">
              <a:spAutoFit/>
            </a:bodyPr>
            <a:lstStyle/>
            <a:p>
              <a:r>
                <a:rPr kumimoji="1" lang="en-US" altLang="zh-CN" sz="2400" b="0" i="0" dirty="0">
                  <a:solidFill>
                    <a:srgbClr val="000000"/>
                  </a:solidFill>
                </a:rPr>
                <a:t>1</a:t>
              </a:r>
              <a:endParaRPr kumimoji="1" lang="zh-CN" altLang="en-US" sz="2400" b="0" i="0" dirty="0">
                <a:solidFill>
                  <a:srgbClr val="000000"/>
                </a:solidFill>
              </a:endParaRPr>
            </a:p>
          </p:txBody>
        </p:sp>
      </p:grpSp>
      <p:grpSp>
        <p:nvGrpSpPr>
          <p:cNvPr id="34" name="组合 33"/>
          <p:cNvGrpSpPr/>
          <p:nvPr/>
        </p:nvGrpSpPr>
        <p:grpSpPr>
          <a:xfrm>
            <a:off x="3486051" y="3010795"/>
            <a:ext cx="2423380" cy="1157335"/>
            <a:chOff x="3486051" y="3010795"/>
            <a:chExt cx="2423380" cy="1157335"/>
          </a:xfrm>
        </p:grpSpPr>
        <p:sp>
          <p:nvSpPr>
            <p:cNvPr id="20" name="弧 19"/>
            <p:cNvSpPr/>
            <p:nvPr/>
          </p:nvSpPr>
          <p:spPr bwMode="auto">
            <a:xfrm rot="10800000">
              <a:off x="3486051" y="3010795"/>
              <a:ext cx="2423380" cy="1127717"/>
            </a:xfrm>
            <a:prstGeom prst="arc">
              <a:avLst>
                <a:gd name="adj1" fmla="val 10840689"/>
                <a:gd name="adj2" fmla="val 21126575"/>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21" name="文本框 20"/>
            <p:cNvSpPr txBox="1"/>
            <p:nvPr/>
          </p:nvSpPr>
          <p:spPr>
            <a:xfrm>
              <a:off x="4638177" y="3706465"/>
              <a:ext cx="432048" cy="461665"/>
            </a:xfrm>
            <a:prstGeom prst="rect">
              <a:avLst/>
            </a:prstGeom>
            <a:noFill/>
          </p:spPr>
          <p:txBody>
            <a:bodyPr wrap="square" rtlCol="0">
              <a:spAutoFit/>
            </a:bodyPr>
            <a:lstStyle/>
            <a:p>
              <a:r>
                <a:rPr kumimoji="1" lang="en-US" altLang="zh-CN" sz="2400" b="0" i="0" dirty="0">
                  <a:solidFill>
                    <a:srgbClr val="000000"/>
                  </a:solidFill>
                </a:rPr>
                <a:t>1</a:t>
              </a:r>
              <a:endParaRPr kumimoji="1" lang="zh-CN" altLang="en-US" sz="2400" b="0" i="0" dirty="0">
                <a:solidFill>
                  <a:srgbClr val="000000"/>
                </a:solidFill>
              </a:endParaRPr>
            </a:p>
          </p:txBody>
        </p:sp>
      </p:grpSp>
      <p:grpSp>
        <p:nvGrpSpPr>
          <p:cNvPr id="35" name="组合 34"/>
          <p:cNvGrpSpPr/>
          <p:nvPr/>
        </p:nvGrpSpPr>
        <p:grpSpPr>
          <a:xfrm>
            <a:off x="5731492" y="2211145"/>
            <a:ext cx="432048" cy="856606"/>
            <a:chOff x="5731492" y="2211145"/>
            <a:chExt cx="432048" cy="856606"/>
          </a:xfrm>
        </p:grpSpPr>
        <p:sp>
          <p:nvSpPr>
            <p:cNvPr id="22" name="弧 21"/>
            <p:cNvSpPr/>
            <p:nvPr/>
          </p:nvSpPr>
          <p:spPr bwMode="auto">
            <a:xfrm rot="11190199">
              <a:off x="5736256" y="2642950"/>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23" name="文本框 22"/>
            <p:cNvSpPr txBox="1"/>
            <p:nvPr/>
          </p:nvSpPr>
          <p:spPr>
            <a:xfrm>
              <a:off x="5731492" y="2211145"/>
              <a:ext cx="432048" cy="461665"/>
            </a:xfrm>
            <a:prstGeom prst="rect">
              <a:avLst/>
            </a:prstGeom>
            <a:noFill/>
          </p:spPr>
          <p:txBody>
            <a:bodyPr wrap="square" rtlCol="0">
              <a:spAutoFit/>
            </a:bodyPr>
            <a:lstStyle/>
            <a:p>
              <a:r>
                <a:rPr kumimoji="1" lang="en-US" altLang="zh-CN" sz="2400" b="0" i="0" dirty="0">
                  <a:solidFill>
                    <a:srgbClr val="000000"/>
                  </a:solidFill>
                </a:rPr>
                <a:t>0</a:t>
              </a:r>
              <a:endParaRPr kumimoji="1" lang="zh-CN" altLang="en-US" sz="2400" b="0" i="0" dirty="0">
                <a:solidFill>
                  <a:srgbClr val="000000"/>
                </a:solidFill>
              </a:endParaRPr>
            </a:p>
          </p:txBody>
        </p:sp>
      </p:grpSp>
      <p:cxnSp>
        <p:nvCxnSpPr>
          <p:cNvPr id="24" name="直线箭头连接符 23"/>
          <p:cNvCxnSpPr/>
          <p:nvPr/>
        </p:nvCxnSpPr>
        <p:spPr bwMode="auto">
          <a:xfrm>
            <a:off x="2195736" y="3307540"/>
            <a:ext cx="804050" cy="1136"/>
          </a:xfrm>
          <a:prstGeom prst="straightConnector1">
            <a:avLst/>
          </a:prstGeom>
          <a:solidFill>
            <a:schemeClr val="accent1"/>
          </a:solidFill>
          <a:ln w="9525" cap="flat" cmpd="sng" algn="ctr">
            <a:solidFill>
              <a:srgbClr val="000000"/>
            </a:solidFill>
            <a:prstDash val="solid"/>
            <a:round/>
            <a:headEnd type="none" w="med" len="med"/>
            <a:tailEnd type="triangle"/>
          </a:ln>
          <a:effectLst/>
        </p:spPr>
      </p:cxnSp>
      <p:sp>
        <p:nvSpPr>
          <p:cNvPr id="18" name="文本框 17"/>
          <p:cNvSpPr txBox="1"/>
          <p:nvPr/>
        </p:nvSpPr>
        <p:spPr>
          <a:xfrm>
            <a:off x="523586" y="4573880"/>
            <a:ext cx="7936845" cy="461665"/>
          </a:xfrm>
          <a:prstGeom prst="rect">
            <a:avLst/>
          </a:prstGeom>
          <a:noFill/>
        </p:spPr>
        <p:txBody>
          <a:bodyPr wrap="square" rtlCol="0">
            <a:spAutoFit/>
          </a:bodyPr>
          <a:lstStyle/>
          <a:p>
            <a:pPr algn="l"/>
            <a:r>
              <a:rPr kumimoji="1" lang="zh-CN" altLang="en-US" sz="2400" b="0" i="0" dirty="0">
                <a:solidFill>
                  <a:srgbClr val="000000"/>
                </a:solidFill>
              </a:rPr>
              <a:t>解：首先画出三个状态，接受两个连续的</a:t>
            </a:r>
            <a:r>
              <a:rPr kumimoji="1" lang="en-US" altLang="zh-CN" sz="2400" b="0" i="0" dirty="0">
                <a:solidFill>
                  <a:srgbClr val="000000"/>
                </a:solidFill>
              </a:rPr>
              <a:t>0</a:t>
            </a:r>
            <a:r>
              <a:rPr kumimoji="1" lang="zh-CN" altLang="en-US" sz="2400" b="0" i="0" dirty="0">
                <a:solidFill>
                  <a:srgbClr val="000000"/>
                </a:solidFill>
              </a:rPr>
              <a:t>到达终止状态。</a:t>
            </a:r>
          </a:p>
        </p:txBody>
      </p:sp>
      <p:sp>
        <p:nvSpPr>
          <p:cNvPr id="27" name="文本框 26"/>
          <p:cNvSpPr txBox="1"/>
          <p:nvPr/>
        </p:nvSpPr>
        <p:spPr>
          <a:xfrm>
            <a:off x="514340" y="1237026"/>
            <a:ext cx="8234124" cy="830997"/>
          </a:xfrm>
          <a:prstGeom prst="rect">
            <a:avLst/>
          </a:prstGeom>
          <a:noFill/>
        </p:spPr>
        <p:txBody>
          <a:bodyPr wrap="square" rtlCol="0">
            <a:spAutoFit/>
          </a:bodyPr>
          <a:lstStyle/>
          <a:p>
            <a:r>
              <a:rPr kumimoji="1" lang="zh-CN" altLang="en-US" sz="2400" b="0" i="0" dirty="0">
                <a:solidFill>
                  <a:srgbClr val="000000"/>
                </a:solidFill>
              </a:rPr>
              <a:t>例</a:t>
            </a:r>
            <a:r>
              <a:rPr kumimoji="1" lang="en-US" altLang="zh-CN" sz="2400" b="0" i="0" dirty="0">
                <a:solidFill>
                  <a:srgbClr val="000000"/>
                </a:solidFill>
              </a:rPr>
              <a:t>1</a:t>
            </a:r>
            <a:r>
              <a:rPr kumimoji="1" lang="zh-CN" altLang="en-US" sz="2400" b="0" i="0" dirty="0">
                <a:solidFill>
                  <a:srgbClr val="000000"/>
                </a:solidFill>
              </a:rPr>
              <a:t>：设计定义在字母表</a:t>
            </a:r>
            <a:r>
              <a:rPr kumimoji="1" lang="en-US" altLang="zh-CN" sz="2400" b="0" i="0" dirty="0">
                <a:solidFill>
                  <a:srgbClr val="000000"/>
                </a:solidFill>
              </a:rPr>
              <a:t>{0, 1}</a:t>
            </a:r>
            <a:r>
              <a:rPr kumimoji="1" lang="zh-CN" altLang="en-US" sz="2400" b="0" i="0" dirty="0">
                <a:solidFill>
                  <a:srgbClr val="000000"/>
                </a:solidFill>
              </a:rPr>
              <a:t>上的所有以</a:t>
            </a:r>
            <a:r>
              <a:rPr kumimoji="1" lang="en-US" altLang="zh-CN" sz="2400" b="0" i="0" dirty="0">
                <a:solidFill>
                  <a:srgbClr val="000000"/>
                </a:solidFill>
              </a:rPr>
              <a:t>00</a:t>
            </a:r>
            <a:r>
              <a:rPr kumimoji="1" lang="zh-CN" altLang="en-US" sz="2400" b="0" i="0" dirty="0">
                <a:solidFill>
                  <a:srgbClr val="000000"/>
                </a:solidFill>
              </a:rPr>
              <a:t>结尾的串的集合的</a:t>
            </a:r>
            <a:r>
              <a:rPr kumimoji="1" lang="en-US" altLang="zh-CN" sz="2400" b="0" i="0" dirty="0">
                <a:solidFill>
                  <a:srgbClr val="000000"/>
                </a:solidFill>
              </a:rPr>
              <a:t>DFA</a:t>
            </a:r>
            <a:r>
              <a:rPr kumimoji="1" lang="zh-CN" altLang="en-US" sz="2400" b="0" i="0" dirty="0">
                <a:solidFill>
                  <a:srgbClr val="000000"/>
                </a:solidFill>
              </a:rPr>
              <a:t>。</a:t>
            </a:r>
          </a:p>
        </p:txBody>
      </p:sp>
      <p:grpSp>
        <p:nvGrpSpPr>
          <p:cNvPr id="31" name="组合 30"/>
          <p:cNvGrpSpPr/>
          <p:nvPr/>
        </p:nvGrpSpPr>
        <p:grpSpPr>
          <a:xfrm>
            <a:off x="514340" y="5108354"/>
            <a:ext cx="8234124" cy="1506043"/>
            <a:chOff x="514340" y="5108354"/>
            <a:chExt cx="8234124" cy="1506043"/>
          </a:xfrm>
        </p:grpSpPr>
        <p:sp>
          <p:nvSpPr>
            <p:cNvPr id="26" name="文本框 25"/>
            <p:cNvSpPr txBox="1"/>
            <p:nvPr/>
          </p:nvSpPr>
          <p:spPr>
            <a:xfrm>
              <a:off x="522410" y="5108354"/>
              <a:ext cx="8226054" cy="461665"/>
            </a:xfrm>
            <a:prstGeom prst="rect">
              <a:avLst/>
            </a:prstGeom>
            <a:noFill/>
          </p:spPr>
          <p:txBody>
            <a:bodyPr wrap="square" rtlCol="0">
              <a:spAutoFit/>
            </a:bodyPr>
            <a:lstStyle/>
            <a:p>
              <a:pPr algn="l"/>
              <a:r>
                <a:rPr kumimoji="1" lang="zh-CN" altLang="en-US" sz="2400" b="0" i="0" dirty="0">
                  <a:solidFill>
                    <a:srgbClr val="000000"/>
                  </a:solidFill>
                </a:rPr>
                <a:t>由于</a:t>
              </a:r>
              <a:r>
                <a:rPr kumimoji="1" lang="en-US" altLang="zh-CN" sz="2400" b="0" i="0" dirty="0">
                  <a:solidFill>
                    <a:srgbClr val="000000"/>
                  </a:solidFill>
                </a:rPr>
                <a:t>DFA</a:t>
              </a:r>
              <a:r>
                <a:rPr kumimoji="1" lang="zh-CN" altLang="en-US" sz="2400" b="0" i="0" dirty="0">
                  <a:solidFill>
                    <a:srgbClr val="000000"/>
                  </a:solidFill>
                </a:rPr>
                <a:t>要求每个节点的出边必须包含字母表上的所有符号，</a:t>
              </a:r>
            </a:p>
          </p:txBody>
        </p:sp>
        <p:sp>
          <p:nvSpPr>
            <p:cNvPr id="29" name="文本框 28"/>
            <p:cNvSpPr txBox="1"/>
            <p:nvPr/>
          </p:nvSpPr>
          <p:spPr>
            <a:xfrm>
              <a:off x="518375" y="5623438"/>
              <a:ext cx="8226054" cy="461665"/>
            </a:xfrm>
            <a:prstGeom prst="rect">
              <a:avLst/>
            </a:prstGeom>
            <a:noFill/>
          </p:spPr>
          <p:txBody>
            <a:bodyPr wrap="square" rtlCol="0">
              <a:spAutoFit/>
            </a:bodyPr>
            <a:lstStyle/>
            <a:p>
              <a:pPr algn="l"/>
              <a:r>
                <a:rPr kumimoji="1" lang="zh-CN" altLang="en-US" sz="2400" b="0" i="0" dirty="0">
                  <a:solidFill>
                    <a:srgbClr val="000000"/>
                  </a:solidFill>
                </a:rPr>
                <a:t>因此，必须要补上所缺的标为</a:t>
              </a:r>
              <a:r>
                <a:rPr kumimoji="1" lang="en-US" altLang="zh-CN" sz="2400" b="0" i="0" dirty="0">
                  <a:solidFill>
                    <a:srgbClr val="000000"/>
                  </a:solidFill>
                </a:rPr>
                <a:t>1</a:t>
              </a:r>
              <a:r>
                <a:rPr kumimoji="1" lang="zh-CN" altLang="en-US" sz="2400" b="0" i="0" dirty="0">
                  <a:solidFill>
                    <a:srgbClr val="000000"/>
                  </a:solidFill>
                </a:rPr>
                <a:t>出边，同时也不能忘记终止</a:t>
              </a:r>
            </a:p>
          </p:txBody>
        </p:sp>
        <p:sp>
          <p:nvSpPr>
            <p:cNvPr id="30" name="文本框 29"/>
            <p:cNvSpPr txBox="1"/>
            <p:nvPr/>
          </p:nvSpPr>
          <p:spPr>
            <a:xfrm>
              <a:off x="514340" y="6152732"/>
              <a:ext cx="8226054" cy="461665"/>
            </a:xfrm>
            <a:prstGeom prst="rect">
              <a:avLst/>
            </a:prstGeom>
            <a:noFill/>
          </p:spPr>
          <p:txBody>
            <a:bodyPr wrap="square" rtlCol="0">
              <a:spAutoFit/>
            </a:bodyPr>
            <a:lstStyle/>
            <a:p>
              <a:pPr algn="l"/>
              <a:r>
                <a:rPr kumimoji="1" lang="zh-CN" altLang="en-US" sz="2400" b="0" i="0" dirty="0">
                  <a:solidFill>
                    <a:srgbClr val="000000"/>
                  </a:solidFill>
                </a:rPr>
                <a:t>状态还有一个标为</a:t>
              </a:r>
              <a:r>
                <a:rPr kumimoji="1" lang="en-US" altLang="zh-CN" sz="2400" b="0" i="0" dirty="0">
                  <a:solidFill>
                    <a:srgbClr val="000000"/>
                  </a:solidFill>
                </a:rPr>
                <a:t>0</a:t>
              </a:r>
              <a:r>
                <a:rPr kumimoji="1" lang="zh-CN" altLang="en-US" sz="2400" b="0" i="0" dirty="0">
                  <a:solidFill>
                    <a:srgbClr val="000000"/>
                  </a:solidFill>
                </a:rPr>
                <a:t>的出边。</a:t>
              </a:r>
              <a:r>
                <a:rPr lang="zh-CN" altLang="en-US" sz="2400" b="0" i="0" dirty="0">
                  <a:solidFill>
                    <a:srgbClr val="000000"/>
                  </a:solidFill>
                </a:rPr>
                <a:t>最后补上状态编号。</a:t>
              </a:r>
              <a:endParaRPr kumimoji="1" lang="zh-CN" altLang="en-US" sz="2400" b="0" i="0" dirty="0">
                <a:solidFill>
                  <a:srgbClr val="000000"/>
                </a:solidFill>
              </a:endParaRPr>
            </a:p>
          </p:txBody>
        </p:sp>
      </p:grpSp>
      <p:pic>
        <p:nvPicPr>
          <p:cNvPr id="36" name="图片 35"/>
          <p:cNvPicPr>
            <a:picLocks noChangeAspect="1"/>
          </p:cNvPicPr>
          <p:nvPr/>
        </p:nvPicPr>
        <p:blipFill>
          <a:blip r:embed="rId2"/>
          <a:stretch>
            <a:fillRect/>
          </a:stretch>
        </p:blipFill>
        <p:spPr>
          <a:xfrm>
            <a:off x="2537569" y="3220561"/>
            <a:ext cx="1511300" cy="203200"/>
          </a:xfrm>
          <a:prstGeom prst="rect">
            <a:avLst/>
          </a:prstGeom>
        </p:spPr>
      </p:pic>
      <p:pic>
        <p:nvPicPr>
          <p:cNvPr id="37" name="图片 36"/>
          <p:cNvPicPr>
            <a:picLocks noChangeAspect="1"/>
          </p:cNvPicPr>
          <p:nvPr/>
        </p:nvPicPr>
        <p:blipFill>
          <a:blip r:embed="rId3"/>
          <a:stretch>
            <a:fillRect/>
          </a:stretch>
        </p:blipFill>
        <p:spPr>
          <a:xfrm>
            <a:off x="3848720" y="3236714"/>
            <a:ext cx="1498600" cy="203200"/>
          </a:xfrm>
          <a:prstGeom prst="rect">
            <a:avLst/>
          </a:prstGeom>
        </p:spPr>
      </p:pic>
      <p:pic>
        <p:nvPicPr>
          <p:cNvPr id="38" name="图片 37"/>
          <p:cNvPicPr>
            <a:picLocks noChangeAspect="1"/>
          </p:cNvPicPr>
          <p:nvPr/>
        </p:nvPicPr>
        <p:blipFill>
          <a:blip r:embed="rId4"/>
          <a:stretch>
            <a:fillRect/>
          </a:stretch>
        </p:blipFill>
        <p:spPr>
          <a:xfrm>
            <a:off x="5161839" y="3207776"/>
            <a:ext cx="1511300" cy="203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3887788" cy="641350"/>
          </a:xfrm>
          <a:prstGeom prst="rect">
            <a:avLst/>
          </a:prstGeom>
          <a:noFill/>
          <a:ln w="9525" algn="ctr">
            <a:noFill/>
            <a:miter lim="800000"/>
          </a:ln>
          <a:effectLst/>
        </p:spPr>
        <p:txBody>
          <a:bodyPr>
            <a:spAutoFit/>
          </a:bodyPr>
          <a:lstStyle/>
          <a:p>
            <a:pPr>
              <a:lnSpc>
                <a:spcPct val="90000"/>
              </a:lnSpc>
            </a:pPr>
            <a:r>
              <a:rPr lang="zh-CN" altLang="en-US" sz="4000" i="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34</a:t>
            </a:r>
            <a:endParaRPr kumimoji="1" lang="zh-CN" altLang="en-US" sz="2000" b="0" i="0" dirty="0">
              <a:solidFill>
                <a:srgbClr val="000066"/>
              </a:solidFill>
            </a:endParaRPr>
          </a:p>
        </p:txBody>
      </p:sp>
      <p:sp>
        <p:nvSpPr>
          <p:cNvPr id="4" name="椭圆 3"/>
          <p:cNvSpPr/>
          <p:nvPr/>
        </p:nvSpPr>
        <p:spPr bwMode="auto">
          <a:xfrm>
            <a:off x="4345992" y="3051068"/>
            <a:ext cx="504056" cy="519765"/>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7" name="椭圆 6"/>
          <p:cNvSpPr/>
          <p:nvPr/>
        </p:nvSpPr>
        <p:spPr bwMode="auto">
          <a:xfrm>
            <a:off x="3037886" y="3049932"/>
            <a:ext cx="504056" cy="519765"/>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8" name="椭圆 7"/>
          <p:cNvSpPr/>
          <p:nvPr/>
        </p:nvSpPr>
        <p:spPr bwMode="auto">
          <a:xfrm>
            <a:off x="5654098" y="3049931"/>
            <a:ext cx="504056" cy="519765"/>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cxnSp>
        <p:nvCxnSpPr>
          <p:cNvPr id="6" name="直线箭头连接符 5"/>
          <p:cNvCxnSpPr>
            <a:stCxn id="7" idx="6"/>
            <a:endCxn id="4" idx="2"/>
          </p:cNvCxnSpPr>
          <p:nvPr/>
        </p:nvCxnSpPr>
        <p:spPr bwMode="auto">
          <a:xfrm>
            <a:off x="3541942" y="3309815"/>
            <a:ext cx="804050" cy="1136"/>
          </a:xfrm>
          <a:prstGeom prst="straightConnector1">
            <a:avLst/>
          </a:prstGeom>
          <a:solidFill>
            <a:schemeClr val="accent1"/>
          </a:solidFill>
          <a:ln w="9525" cap="flat" cmpd="sng" algn="ctr">
            <a:solidFill>
              <a:srgbClr val="000000"/>
            </a:solidFill>
            <a:prstDash val="solid"/>
            <a:round/>
            <a:headEnd type="none" w="med" len="med"/>
            <a:tailEnd type="triangle"/>
          </a:ln>
          <a:effectLst/>
        </p:spPr>
      </p:cxnSp>
      <p:cxnSp>
        <p:nvCxnSpPr>
          <p:cNvPr id="11" name="直线箭头连接符 10"/>
          <p:cNvCxnSpPr/>
          <p:nvPr/>
        </p:nvCxnSpPr>
        <p:spPr bwMode="auto">
          <a:xfrm>
            <a:off x="4850048" y="3308677"/>
            <a:ext cx="804050" cy="1136"/>
          </a:xfrm>
          <a:prstGeom prst="straightConnector1">
            <a:avLst/>
          </a:prstGeom>
          <a:solidFill>
            <a:schemeClr val="accent1"/>
          </a:solidFill>
          <a:ln w="9525" cap="flat" cmpd="sng" algn="ctr">
            <a:solidFill>
              <a:srgbClr val="000000"/>
            </a:solidFill>
            <a:prstDash val="solid"/>
            <a:round/>
            <a:headEnd type="none" w="med" len="med"/>
            <a:tailEnd type="triangle"/>
          </a:ln>
          <a:effectLst/>
        </p:spPr>
      </p:cxnSp>
      <p:sp>
        <p:nvSpPr>
          <p:cNvPr id="12" name="椭圆 11"/>
          <p:cNvSpPr/>
          <p:nvPr/>
        </p:nvSpPr>
        <p:spPr bwMode="auto">
          <a:xfrm>
            <a:off x="5730298" y="3127266"/>
            <a:ext cx="351656" cy="362821"/>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9" name="文本框 8"/>
          <p:cNvSpPr txBox="1"/>
          <p:nvPr/>
        </p:nvSpPr>
        <p:spPr>
          <a:xfrm>
            <a:off x="3727943" y="2747827"/>
            <a:ext cx="432048" cy="461665"/>
          </a:xfrm>
          <a:prstGeom prst="rect">
            <a:avLst/>
          </a:prstGeom>
          <a:noFill/>
        </p:spPr>
        <p:txBody>
          <a:bodyPr wrap="square" rtlCol="0">
            <a:spAutoFit/>
          </a:bodyPr>
          <a:lstStyle/>
          <a:p>
            <a:r>
              <a:rPr kumimoji="1" lang="en-US" altLang="zh-CN" sz="2400" b="0" i="0" dirty="0">
                <a:solidFill>
                  <a:srgbClr val="000000"/>
                </a:solidFill>
              </a:rPr>
              <a:t>0</a:t>
            </a:r>
            <a:endParaRPr kumimoji="1" lang="zh-CN" altLang="en-US" sz="2400" b="0" i="0" dirty="0">
              <a:solidFill>
                <a:srgbClr val="000000"/>
              </a:solidFill>
            </a:endParaRPr>
          </a:p>
        </p:txBody>
      </p:sp>
      <p:sp>
        <p:nvSpPr>
          <p:cNvPr id="15" name="文本框 14"/>
          <p:cNvSpPr txBox="1"/>
          <p:nvPr/>
        </p:nvSpPr>
        <p:spPr>
          <a:xfrm>
            <a:off x="5045884" y="2757024"/>
            <a:ext cx="432048" cy="461665"/>
          </a:xfrm>
          <a:prstGeom prst="rect">
            <a:avLst/>
          </a:prstGeom>
          <a:noFill/>
        </p:spPr>
        <p:txBody>
          <a:bodyPr wrap="square" rtlCol="0">
            <a:spAutoFit/>
          </a:bodyPr>
          <a:lstStyle/>
          <a:p>
            <a:r>
              <a:rPr kumimoji="1" lang="en-US" altLang="zh-CN" sz="2400" b="0" i="0" dirty="0">
                <a:solidFill>
                  <a:srgbClr val="000000"/>
                </a:solidFill>
              </a:rPr>
              <a:t>0</a:t>
            </a:r>
            <a:endParaRPr kumimoji="1" lang="zh-CN" altLang="en-US" sz="2400" b="0" i="0" dirty="0">
              <a:solidFill>
                <a:srgbClr val="000000"/>
              </a:solidFill>
            </a:endParaRPr>
          </a:p>
        </p:txBody>
      </p:sp>
      <p:sp>
        <p:nvSpPr>
          <p:cNvPr id="10" name="弧 9"/>
          <p:cNvSpPr/>
          <p:nvPr/>
        </p:nvSpPr>
        <p:spPr bwMode="auto">
          <a:xfrm>
            <a:off x="3093777" y="3550646"/>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17" name="文本框 16"/>
          <p:cNvSpPr txBox="1"/>
          <p:nvPr/>
        </p:nvSpPr>
        <p:spPr>
          <a:xfrm>
            <a:off x="3073890" y="3975447"/>
            <a:ext cx="432048" cy="461665"/>
          </a:xfrm>
          <a:prstGeom prst="rect">
            <a:avLst/>
          </a:prstGeom>
          <a:noFill/>
        </p:spPr>
        <p:txBody>
          <a:bodyPr wrap="square" rtlCol="0">
            <a:spAutoFit/>
          </a:bodyPr>
          <a:lstStyle/>
          <a:p>
            <a:r>
              <a:rPr kumimoji="1" lang="en-US" altLang="zh-CN" sz="2400" b="0" i="0" dirty="0">
                <a:solidFill>
                  <a:srgbClr val="000000"/>
                </a:solidFill>
              </a:rPr>
              <a:t>1</a:t>
            </a:r>
            <a:endParaRPr kumimoji="1" lang="zh-CN" altLang="en-US" sz="2400" b="0" i="0" dirty="0">
              <a:solidFill>
                <a:srgbClr val="000000"/>
              </a:solidFill>
            </a:endParaRPr>
          </a:p>
        </p:txBody>
      </p:sp>
      <p:sp>
        <p:nvSpPr>
          <p:cNvPr id="13" name="弧 12"/>
          <p:cNvSpPr/>
          <p:nvPr/>
        </p:nvSpPr>
        <p:spPr bwMode="auto">
          <a:xfrm rot="10800000">
            <a:off x="3592355" y="3335053"/>
            <a:ext cx="1029706" cy="461666"/>
          </a:xfrm>
          <a:prstGeom prst="arc">
            <a:avLst>
              <a:gd name="adj1" fmla="val 10807855"/>
              <a:gd name="adj2" fmla="val 21415475"/>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19" name="文本框 18"/>
          <p:cNvSpPr txBox="1"/>
          <p:nvPr/>
        </p:nvSpPr>
        <p:spPr>
          <a:xfrm>
            <a:off x="3863531" y="3357137"/>
            <a:ext cx="432048" cy="461665"/>
          </a:xfrm>
          <a:prstGeom prst="rect">
            <a:avLst/>
          </a:prstGeom>
          <a:noFill/>
        </p:spPr>
        <p:txBody>
          <a:bodyPr wrap="square" rtlCol="0">
            <a:spAutoFit/>
          </a:bodyPr>
          <a:lstStyle/>
          <a:p>
            <a:r>
              <a:rPr kumimoji="1" lang="en-US" altLang="zh-CN" sz="2400" b="0" i="0" dirty="0">
                <a:solidFill>
                  <a:srgbClr val="000000"/>
                </a:solidFill>
              </a:rPr>
              <a:t>1</a:t>
            </a:r>
            <a:endParaRPr kumimoji="1" lang="zh-CN" altLang="en-US" sz="2400" b="0" i="0" dirty="0">
              <a:solidFill>
                <a:srgbClr val="000000"/>
              </a:solidFill>
            </a:endParaRPr>
          </a:p>
        </p:txBody>
      </p:sp>
      <p:sp>
        <p:nvSpPr>
          <p:cNvPr id="20" name="弧 19"/>
          <p:cNvSpPr/>
          <p:nvPr/>
        </p:nvSpPr>
        <p:spPr bwMode="auto">
          <a:xfrm rot="10800000">
            <a:off x="3486051" y="3010795"/>
            <a:ext cx="2423380" cy="1127717"/>
          </a:xfrm>
          <a:prstGeom prst="arc">
            <a:avLst>
              <a:gd name="adj1" fmla="val 10840689"/>
              <a:gd name="adj2" fmla="val 21126575"/>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21" name="文本框 20"/>
          <p:cNvSpPr txBox="1"/>
          <p:nvPr/>
        </p:nvSpPr>
        <p:spPr>
          <a:xfrm>
            <a:off x="4638177" y="3706465"/>
            <a:ext cx="432048" cy="461665"/>
          </a:xfrm>
          <a:prstGeom prst="rect">
            <a:avLst/>
          </a:prstGeom>
          <a:noFill/>
        </p:spPr>
        <p:txBody>
          <a:bodyPr wrap="square" rtlCol="0">
            <a:spAutoFit/>
          </a:bodyPr>
          <a:lstStyle/>
          <a:p>
            <a:r>
              <a:rPr kumimoji="1" lang="en-US" altLang="zh-CN" sz="2400" b="0" i="0" dirty="0">
                <a:solidFill>
                  <a:srgbClr val="000000"/>
                </a:solidFill>
              </a:rPr>
              <a:t>1</a:t>
            </a:r>
            <a:endParaRPr kumimoji="1" lang="zh-CN" altLang="en-US" sz="2400" b="0" i="0" dirty="0">
              <a:solidFill>
                <a:srgbClr val="000000"/>
              </a:solidFill>
            </a:endParaRPr>
          </a:p>
        </p:txBody>
      </p:sp>
      <p:sp>
        <p:nvSpPr>
          <p:cNvPr id="22" name="弧 21"/>
          <p:cNvSpPr/>
          <p:nvPr/>
        </p:nvSpPr>
        <p:spPr bwMode="auto">
          <a:xfrm rot="11190199">
            <a:off x="5736256" y="2642950"/>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23" name="文本框 22"/>
          <p:cNvSpPr txBox="1"/>
          <p:nvPr/>
        </p:nvSpPr>
        <p:spPr>
          <a:xfrm>
            <a:off x="5731492" y="2211145"/>
            <a:ext cx="432048" cy="461665"/>
          </a:xfrm>
          <a:prstGeom prst="rect">
            <a:avLst/>
          </a:prstGeom>
          <a:noFill/>
        </p:spPr>
        <p:txBody>
          <a:bodyPr wrap="square" rtlCol="0">
            <a:spAutoFit/>
          </a:bodyPr>
          <a:lstStyle/>
          <a:p>
            <a:r>
              <a:rPr kumimoji="1" lang="en-US" altLang="zh-CN" sz="2400" b="0" i="0" dirty="0">
                <a:solidFill>
                  <a:srgbClr val="000000"/>
                </a:solidFill>
              </a:rPr>
              <a:t>0</a:t>
            </a:r>
            <a:endParaRPr kumimoji="1" lang="zh-CN" altLang="en-US" sz="2400" b="0" i="0" dirty="0">
              <a:solidFill>
                <a:srgbClr val="000000"/>
              </a:solidFill>
            </a:endParaRPr>
          </a:p>
        </p:txBody>
      </p:sp>
      <p:cxnSp>
        <p:nvCxnSpPr>
          <p:cNvPr id="24" name="直线箭头连接符 23"/>
          <p:cNvCxnSpPr/>
          <p:nvPr/>
        </p:nvCxnSpPr>
        <p:spPr bwMode="auto">
          <a:xfrm>
            <a:off x="2195736" y="3307540"/>
            <a:ext cx="804050" cy="1136"/>
          </a:xfrm>
          <a:prstGeom prst="straightConnector1">
            <a:avLst/>
          </a:prstGeom>
          <a:solidFill>
            <a:schemeClr val="accent1"/>
          </a:solidFill>
          <a:ln w="9525" cap="flat" cmpd="sng" algn="ctr">
            <a:solidFill>
              <a:srgbClr val="000000"/>
            </a:solidFill>
            <a:prstDash val="solid"/>
            <a:round/>
            <a:headEnd type="none" w="med" len="med"/>
            <a:tailEnd type="triangle"/>
          </a:ln>
          <a:effectLst/>
        </p:spPr>
      </p:cxnSp>
      <p:sp>
        <p:nvSpPr>
          <p:cNvPr id="18" name="文本框 17"/>
          <p:cNvSpPr txBox="1"/>
          <p:nvPr/>
        </p:nvSpPr>
        <p:spPr>
          <a:xfrm>
            <a:off x="523586" y="4573880"/>
            <a:ext cx="8216808" cy="461665"/>
          </a:xfrm>
          <a:prstGeom prst="rect">
            <a:avLst/>
          </a:prstGeom>
          <a:noFill/>
        </p:spPr>
        <p:txBody>
          <a:bodyPr wrap="square" rtlCol="0">
            <a:spAutoFit/>
          </a:bodyPr>
          <a:lstStyle/>
          <a:p>
            <a:pPr algn="l"/>
            <a:r>
              <a:rPr kumimoji="1" lang="zh-CN" altLang="en-US" sz="2400" b="0" i="0" dirty="0">
                <a:solidFill>
                  <a:srgbClr val="000000"/>
                </a:solidFill>
              </a:rPr>
              <a:t>解：三个状态其实都有明确的含义。    表示出现第一对连续</a:t>
            </a:r>
          </a:p>
        </p:txBody>
      </p:sp>
      <p:sp>
        <p:nvSpPr>
          <p:cNvPr id="27" name="文本框 26"/>
          <p:cNvSpPr txBox="1"/>
          <p:nvPr/>
        </p:nvSpPr>
        <p:spPr>
          <a:xfrm>
            <a:off x="514340" y="1237026"/>
            <a:ext cx="8234124" cy="461665"/>
          </a:xfrm>
          <a:prstGeom prst="rect">
            <a:avLst/>
          </a:prstGeom>
          <a:noFill/>
        </p:spPr>
        <p:txBody>
          <a:bodyPr wrap="square" rtlCol="0">
            <a:spAutoFit/>
          </a:bodyPr>
          <a:lstStyle/>
          <a:p>
            <a:pPr algn="l"/>
            <a:r>
              <a:rPr kumimoji="1" lang="zh-CN" altLang="en-US" sz="2400" b="0" i="0" dirty="0">
                <a:solidFill>
                  <a:srgbClr val="000000"/>
                </a:solidFill>
              </a:rPr>
              <a:t>例</a:t>
            </a:r>
            <a:r>
              <a:rPr kumimoji="1" lang="en-US" altLang="zh-CN" sz="2400" b="0" i="0" dirty="0">
                <a:solidFill>
                  <a:srgbClr val="000000"/>
                </a:solidFill>
              </a:rPr>
              <a:t>1</a:t>
            </a:r>
            <a:r>
              <a:rPr kumimoji="1" lang="zh-CN" altLang="en-US" sz="2400" b="0" i="0" dirty="0">
                <a:solidFill>
                  <a:srgbClr val="000000"/>
                </a:solidFill>
              </a:rPr>
              <a:t>：设计定义在字母表</a:t>
            </a:r>
            <a:r>
              <a:rPr kumimoji="1" lang="en-US" altLang="zh-CN" sz="2400" b="0" i="0" dirty="0">
                <a:solidFill>
                  <a:srgbClr val="000000"/>
                </a:solidFill>
              </a:rPr>
              <a:t>{0, 1}</a:t>
            </a:r>
            <a:r>
              <a:rPr kumimoji="1" lang="zh-CN" altLang="en-US" sz="2400" b="0" i="0" dirty="0">
                <a:solidFill>
                  <a:srgbClr val="000000"/>
                </a:solidFill>
              </a:rPr>
              <a:t>上的所有以</a:t>
            </a:r>
            <a:r>
              <a:rPr kumimoji="1" lang="en-US" altLang="zh-CN" sz="2400" b="0" i="0" dirty="0">
                <a:solidFill>
                  <a:srgbClr val="000000"/>
                </a:solidFill>
              </a:rPr>
              <a:t>00</a:t>
            </a:r>
            <a:r>
              <a:rPr kumimoji="1" lang="zh-CN" altLang="en-US" sz="2400" b="0" i="0" dirty="0">
                <a:solidFill>
                  <a:srgbClr val="000000"/>
                </a:solidFill>
              </a:rPr>
              <a:t>结尾的串的集合</a:t>
            </a:r>
          </a:p>
        </p:txBody>
      </p:sp>
      <p:sp>
        <p:nvSpPr>
          <p:cNvPr id="28" name="文本框 27"/>
          <p:cNvSpPr txBox="1"/>
          <p:nvPr/>
        </p:nvSpPr>
        <p:spPr>
          <a:xfrm>
            <a:off x="529996" y="1729562"/>
            <a:ext cx="8234124" cy="461665"/>
          </a:xfrm>
          <a:prstGeom prst="rect">
            <a:avLst/>
          </a:prstGeom>
          <a:noFill/>
        </p:spPr>
        <p:txBody>
          <a:bodyPr wrap="square" rtlCol="0">
            <a:spAutoFit/>
          </a:bodyPr>
          <a:lstStyle/>
          <a:p>
            <a:pPr algn="l"/>
            <a:r>
              <a:rPr kumimoji="1" lang="zh-CN" altLang="en-US" sz="2400" b="0" i="0" dirty="0">
                <a:solidFill>
                  <a:srgbClr val="000000"/>
                </a:solidFill>
              </a:rPr>
              <a:t>的</a:t>
            </a:r>
            <a:r>
              <a:rPr kumimoji="1" lang="en-US" altLang="zh-CN" sz="2400" b="0" i="0" dirty="0">
                <a:solidFill>
                  <a:srgbClr val="000000"/>
                </a:solidFill>
              </a:rPr>
              <a:t>DFA</a:t>
            </a:r>
            <a:r>
              <a:rPr kumimoji="1" lang="zh-CN" altLang="en-US" sz="2400" b="0" i="0" dirty="0">
                <a:solidFill>
                  <a:srgbClr val="000000"/>
                </a:solidFill>
              </a:rPr>
              <a:t>。</a:t>
            </a:r>
          </a:p>
        </p:txBody>
      </p:sp>
      <p:grpSp>
        <p:nvGrpSpPr>
          <p:cNvPr id="31" name="组合 30"/>
          <p:cNvGrpSpPr/>
          <p:nvPr/>
        </p:nvGrpSpPr>
        <p:grpSpPr>
          <a:xfrm>
            <a:off x="514340" y="5108354"/>
            <a:ext cx="8234124" cy="1506043"/>
            <a:chOff x="514340" y="5108354"/>
            <a:chExt cx="8234124" cy="1506043"/>
          </a:xfrm>
        </p:grpSpPr>
        <p:sp>
          <p:nvSpPr>
            <p:cNvPr id="26" name="文本框 25"/>
            <p:cNvSpPr txBox="1"/>
            <p:nvPr/>
          </p:nvSpPr>
          <p:spPr>
            <a:xfrm>
              <a:off x="522410" y="5108354"/>
              <a:ext cx="8226054" cy="461665"/>
            </a:xfrm>
            <a:prstGeom prst="rect">
              <a:avLst/>
            </a:prstGeom>
            <a:noFill/>
          </p:spPr>
          <p:txBody>
            <a:bodyPr wrap="square" rtlCol="0">
              <a:spAutoFit/>
            </a:bodyPr>
            <a:lstStyle/>
            <a:p>
              <a:pPr algn="l"/>
              <a:r>
                <a:rPr kumimoji="1" lang="zh-CN" altLang="en-US" sz="2400" b="0" i="0" dirty="0">
                  <a:solidFill>
                    <a:srgbClr val="000000"/>
                  </a:solidFill>
                </a:rPr>
                <a:t>的</a:t>
              </a:r>
              <a:r>
                <a:rPr kumimoji="1" lang="en-US" altLang="zh-CN" sz="2400" b="0" i="0" dirty="0">
                  <a:solidFill>
                    <a:srgbClr val="000000"/>
                  </a:solidFill>
                </a:rPr>
                <a:t>0</a:t>
              </a:r>
              <a:r>
                <a:rPr kumimoji="1" lang="zh-CN" altLang="en-US" sz="2400" b="0" i="0" dirty="0">
                  <a:solidFill>
                    <a:srgbClr val="000000"/>
                  </a:solidFill>
                </a:rPr>
                <a:t>之前的任意字符串。     表示第一对连续的</a:t>
              </a:r>
              <a:r>
                <a:rPr kumimoji="1" lang="en-US" altLang="zh-CN" sz="2400" b="0" i="0" dirty="0">
                  <a:solidFill>
                    <a:srgbClr val="000000"/>
                  </a:solidFill>
                </a:rPr>
                <a:t>0</a:t>
              </a:r>
              <a:r>
                <a:rPr kumimoji="1" lang="zh-CN" altLang="en-US" sz="2400" b="0" i="0" dirty="0">
                  <a:solidFill>
                    <a:srgbClr val="000000"/>
                  </a:solidFill>
                </a:rPr>
                <a:t>之中的第一个</a:t>
              </a:r>
            </a:p>
          </p:txBody>
        </p:sp>
        <p:sp>
          <p:nvSpPr>
            <p:cNvPr id="29" name="文本框 28"/>
            <p:cNvSpPr txBox="1"/>
            <p:nvPr/>
          </p:nvSpPr>
          <p:spPr>
            <a:xfrm>
              <a:off x="518375" y="5623438"/>
              <a:ext cx="8226054" cy="461665"/>
            </a:xfrm>
            <a:prstGeom prst="rect">
              <a:avLst/>
            </a:prstGeom>
            <a:noFill/>
          </p:spPr>
          <p:txBody>
            <a:bodyPr wrap="square" rtlCol="0">
              <a:spAutoFit/>
            </a:bodyPr>
            <a:lstStyle/>
            <a:p>
              <a:pPr algn="l"/>
              <a:r>
                <a:rPr kumimoji="1" lang="en-US" altLang="zh-CN" sz="2400" b="0" i="0" dirty="0">
                  <a:solidFill>
                    <a:srgbClr val="000000"/>
                  </a:solidFill>
                </a:rPr>
                <a:t>0</a:t>
              </a:r>
              <a:r>
                <a:rPr lang="zh-CN" altLang="en-US" sz="2400" b="0" i="0" dirty="0">
                  <a:solidFill>
                    <a:srgbClr val="000000"/>
                  </a:solidFill>
                </a:rPr>
                <a:t>，一旦在该状态下碰到了</a:t>
              </a:r>
              <a:r>
                <a:rPr lang="en-US" altLang="zh-CN" sz="2400" b="0" i="0" dirty="0">
                  <a:solidFill>
                    <a:srgbClr val="000000"/>
                  </a:solidFill>
                </a:rPr>
                <a:t>1</a:t>
              </a:r>
              <a:r>
                <a:rPr lang="zh-CN" altLang="en-US" sz="2400" b="0" i="0" dirty="0">
                  <a:solidFill>
                    <a:srgbClr val="000000"/>
                  </a:solidFill>
                </a:rPr>
                <a:t>，必须转回到     。    则是终止状</a:t>
              </a:r>
              <a:endParaRPr kumimoji="1" lang="zh-CN" altLang="en-US" sz="2400" b="0" i="0" dirty="0">
                <a:solidFill>
                  <a:srgbClr val="000000"/>
                </a:solidFill>
              </a:endParaRPr>
            </a:p>
          </p:txBody>
        </p:sp>
        <p:sp>
          <p:nvSpPr>
            <p:cNvPr id="30" name="文本框 29"/>
            <p:cNvSpPr txBox="1"/>
            <p:nvPr/>
          </p:nvSpPr>
          <p:spPr>
            <a:xfrm>
              <a:off x="514340" y="6152732"/>
              <a:ext cx="8226054" cy="461665"/>
            </a:xfrm>
            <a:prstGeom prst="rect">
              <a:avLst/>
            </a:prstGeom>
            <a:noFill/>
          </p:spPr>
          <p:txBody>
            <a:bodyPr wrap="square" rtlCol="0">
              <a:spAutoFit/>
            </a:bodyPr>
            <a:lstStyle/>
            <a:p>
              <a:pPr algn="l"/>
              <a:r>
                <a:rPr kumimoji="1" lang="zh-CN" altLang="en-US" sz="2400" b="0" i="0" dirty="0">
                  <a:solidFill>
                    <a:srgbClr val="000000"/>
                  </a:solidFill>
                </a:rPr>
                <a:t>态，可以接受一对连续的</a:t>
              </a:r>
              <a:r>
                <a:rPr kumimoji="1" lang="en-US" altLang="zh-CN" sz="2400" b="0" i="0" dirty="0">
                  <a:solidFill>
                    <a:srgbClr val="000000"/>
                  </a:solidFill>
                </a:rPr>
                <a:t>0</a:t>
              </a:r>
              <a:r>
                <a:rPr kumimoji="1" lang="zh-CN" altLang="en-US" sz="2400" b="0" i="0" dirty="0">
                  <a:solidFill>
                    <a:srgbClr val="000000"/>
                  </a:solidFill>
                </a:rPr>
                <a:t>，也可以接受更多的连续的</a:t>
              </a:r>
              <a:r>
                <a:rPr kumimoji="1" lang="en-US" altLang="zh-CN" sz="2400" b="0" i="0" dirty="0">
                  <a:solidFill>
                    <a:srgbClr val="000000"/>
                  </a:solidFill>
                </a:rPr>
                <a:t>0</a:t>
              </a:r>
              <a:r>
                <a:rPr kumimoji="1" lang="zh-CN" altLang="en-US" sz="2400" b="0" i="0" dirty="0">
                  <a:solidFill>
                    <a:srgbClr val="000000"/>
                  </a:solidFill>
                </a:rPr>
                <a:t>。</a:t>
              </a:r>
            </a:p>
          </p:txBody>
        </p:sp>
      </p:grpSp>
      <p:pic>
        <p:nvPicPr>
          <p:cNvPr id="36" name="图片 35"/>
          <p:cNvPicPr>
            <a:picLocks noChangeAspect="1"/>
          </p:cNvPicPr>
          <p:nvPr/>
        </p:nvPicPr>
        <p:blipFill>
          <a:blip r:embed="rId2"/>
          <a:stretch>
            <a:fillRect/>
          </a:stretch>
        </p:blipFill>
        <p:spPr>
          <a:xfrm>
            <a:off x="2537569" y="3220561"/>
            <a:ext cx="1511300" cy="203200"/>
          </a:xfrm>
          <a:prstGeom prst="rect">
            <a:avLst/>
          </a:prstGeom>
        </p:spPr>
      </p:pic>
      <p:pic>
        <p:nvPicPr>
          <p:cNvPr id="37" name="图片 36"/>
          <p:cNvPicPr>
            <a:picLocks noChangeAspect="1"/>
          </p:cNvPicPr>
          <p:nvPr/>
        </p:nvPicPr>
        <p:blipFill>
          <a:blip r:embed="rId3"/>
          <a:stretch>
            <a:fillRect/>
          </a:stretch>
        </p:blipFill>
        <p:spPr>
          <a:xfrm>
            <a:off x="3848720" y="3236714"/>
            <a:ext cx="1498600" cy="203200"/>
          </a:xfrm>
          <a:prstGeom prst="rect">
            <a:avLst/>
          </a:prstGeom>
        </p:spPr>
      </p:pic>
      <p:pic>
        <p:nvPicPr>
          <p:cNvPr id="38" name="图片 37"/>
          <p:cNvPicPr>
            <a:picLocks noChangeAspect="1"/>
          </p:cNvPicPr>
          <p:nvPr/>
        </p:nvPicPr>
        <p:blipFill>
          <a:blip r:embed="rId4"/>
          <a:stretch>
            <a:fillRect/>
          </a:stretch>
        </p:blipFill>
        <p:spPr>
          <a:xfrm>
            <a:off x="5161839" y="3207776"/>
            <a:ext cx="1511300" cy="203200"/>
          </a:xfrm>
          <a:prstGeom prst="rect">
            <a:avLst/>
          </a:prstGeom>
        </p:spPr>
      </p:pic>
      <p:pic>
        <p:nvPicPr>
          <p:cNvPr id="2" name="图片 1"/>
          <p:cNvPicPr>
            <a:picLocks noChangeAspect="1"/>
          </p:cNvPicPr>
          <p:nvPr/>
        </p:nvPicPr>
        <p:blipFill>
          <a:blip r:embed="rId5"/>
          <a:stretch>
            <a:fillRect/>
          </a:stretch>
        </p:blipFill>
        <p:spPr>
          <a:xfrm>
            <a:off x="4850048" y="4712808"/>
            <a:ext cx="1511300" cy="203200"/>
          </a:xfrm>
          <a:prstGeom prst="rect">
            <a:avLst/>
          </a:prstGeom>
        </p:spPr>
      </p:pic>
      <p:pic>
        <p:nvPicPr>
          <p:cNvPr id="3" name="图片 2"/>
          <p:cNvPicPr>
            <a:picLocks noChangeAspect="1"/>
          </p:cNvPicPr>
          <p:nvPr/>
        </p:nvPicPr>
        <p:blipFill>
          <a:blip r:embed="rId6"/>
          <a:stretch>
            <a:fillRect/>
          </a:stretch>
        </p:blipFill>
        <p:spPr>
          <a:xfrm>
            <a:off x="3217416" y="5241631"/>
            <a:ext cx="1498600" cy="203200"/>
          </a:xfrm>
          <a:prstGeom prst="rect">
            <a:avLst/>
          </a:prstGeom>
        </p:spPr>
      </p:pic>
      <p:pic>
        <p:nvPicPr>
          <p:cNvPr id="39" name="图片 38"/>
          <p:cNvPicPr>
            <a:picLocks noChangeAspect="1"/>
          </p:cNvPicPr>
          <p:nvPr/>
        </p:nvPicPr>
        <p:blipFill>
          <a:blip r:embed="rId5"/>
          <a:stretch>
            <a:fillRect/>
          </a:stretch>
        </p:blipFill>
        <p:spPr>
          <a:xfrm>
            <a:off x="5580980" y="5752670"/>
            <a:ext cx="1511300" cy="203200"/>
          </a:xfrm>
          <a:prstGeom prst="rect">
            <a:avLst/>
          </a:prstGeom>
        </p:spPr>
      </p:pic>
      <p:pic>
        <p:nvPicPr>
          <p:cNvPr id="5" name="图片 4"/>
          <p:cNvPicPr>
            <a:picLocks noChangeAspect="1"/>
          </p:cNvPicPr>
          <p:nvPr/>
        </p:nvPicPr>
        <p:blipFill>
          <a:blip r:embed="rId7"/>
          <a:stretch>
            <a:fillRect/>
          </a:stretch>
        </p:blipFill>
        <p:spPr>
          <a:xfrm>
            <a:off x="6050703" y="5746290"/>
            <a:ext cx="1617641" cy="217498"/>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49</a:t>
            </a:fld>
            <a:endParaRPr lang="en-US" altLang="zh-CN"/>
          </a:p>
        </p:txBody>
      </p:sp>
      <p:sp>
        <p:nvSpPr>
          <p:cNvPr id="7" name="文本框 6"/>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algn="l"/>
            <a:r>
              <a:rPr kumimoji="1" lang="zh-CN" altLang="en-US" sz="2800" b="0" i="0" dirty="0">
                <a:solidFill>
                  <a:srgbClr val="000000"/>
                </a:solidFill>
              </a:rPr>
              <a:t>例</a:t>
            </a:r>
            <a:r>
              <a:rPr lang="en-US" altLang="zh-CN" sz="2800" b="0" i="0" dirty="0">
                <a:solidFill>
                  <a:srgbClr val="000000"/>
                </a:solidFill>
              </a:rPr>
              <a:t>2</a:t>
            </a:r>
            <a:r>
              <a:rPr kumimoji="1" lang="zh-CN" altLang="en-US" sz="2800" b="0" i="0" dirty="0">
                <a:solidFill>
                  <a:srgbClr val="000000"/>
                </a:solidFill>
              </a:rPr>
              <a:t>：设计</a:t>
            </a:r>
            <a:r>
              <a:rPr kumimoji="1" lang="en-US" altLang="zh-CN" sz="2800" b="0" i="0" dirty="0">
                <a:solidFill>
                  <a:srgbClr val="000000"/>
                </a:solidFill>
              </a:rPr>
              <a:t>DFA</a:t>
            </a:r>
            <a:r>
              <a:rPr kumimoji="1" lang="zh-CN" altLang="en-US" sz="2800" b="0" i="0" dirty="0">
                <a:solidFill>
                  <a:srgbClr val="000000"/>
                </a:solidFill>
              </a:rPr>
              <a:t>接受以下语言</a:t>
            </a:r>
          </a:p>
        </p:txBody>
      </p:sp>
      <p:sp>
        <p:nvSpPr>
          <p:cNvPr id="8" name="矩形: 圆角 7"/>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pic>
        <p:nvPicPr>
          <p:cNvPr id="15" name="图片 14"/>
          <p:cNvPicPr>
            <a:picLocks noChangeAspect="1"/>
          </p:cNvPicPr>
          <p:nvPr/>
        </p:nvPicPr>
        <p:blipFill>
          <a:blip r:embed="rId12"/>
          <a:stretch>
            <a:fillRect/>
          </a:stretch>
        </p:blipFill>
        <p:spPr>
          <a:xfrm>
            <a:off x="838200" y="2285926"/>
            <a:ext cx="7228284" cy="340727"/>
          </a:xfrm>
          <a:prstGeom prst="rect">
            <a:avLst/>
          </a:prstGeom>
        </p:spPr>
      </p:pic>
      <p:grpSp>
        <p:nvGrpSpPr>
          <p:cNvPr id="13" name="组合 12"/>
          <p:cNvGrpSpPr/>
          <p:nvPr>
            <p:custDataLst>
              <p:tags r:id="rId5"/>
            </p:custDataLst>
          </p:nvPr>
        </p:nvGrpSpPr>
        <p:grpSpPr>
          <a:xfrm>
            <a:off x="0" y="0"/>
            <a:ext cx="9144000" cy="635000"/>
            <a:chOff x="0" y="0"/>
            <a:chExt cx="9144000" cy="635000"/>
          </a:xfrm>
        </p:grpSpPr>
        <p:sp>
          <p:nvSpPr>
            <p:cNvPr id="9" name="TitleBackground"/>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10"/>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3887788" cy="641350"/>
          </a:xfrm>
          <a:prstGeom prst="rect">
            <a:avLst/>
          </a:prstGeom>
          <a:noFill/>
          <a:ln w="9525" algn="ctr">
            <a:noFill/>
            <a:miter lim="800000"/>
          </a:ln>
          <a:effectLst/>
        </p:spPr>
        <p:txBody>
          <a:bodyPr>
            <a:spAutoFit/>
          </a:bodyPr>
          <a:lstStyle/>
          <a:p>
            <a:pPr>
              <a:lnSpc>
                <a:spcPct val="90000"/>
              </a:lnSpc>
            </a:pPr>
            <a:r>
              <a:rPr lang="zh-CN" altLang="en-US" sz="4000" i="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35</a:t>
            </a:r>
            <a:endParaRPr kumimoji="1" lang="zh-CN" altLang="en-US" sz="2000" b="0" i="0" dirty="0">
              <a:solidFill>
                <a:srgbClr val="000066"/>
              </a:solidFill>
            </a:endParaRPr>
          </a:p>
        </p:txBody>
      </p:sp>
      <p:sp>
        <p:nvSpPr>
          <p:cNvPr id="27" name="文本框 26"/>
          <p:cNvSpPr txBox="1"/>
          <p:nvPr/>
        </p:nvSpPr>
        <p:spPr>
          <a:xfrm>
            <a:off x="514340" y="1237026"/>
            <a:ext cx="8234124" cy="461665"/>
          </a:xfrm>
          <a:prstGeom prst="rect">
            <a:avLst/>
          </a:prstGeom>
          <a:noFill/>
        </p:spPr>
        <p:txBody>
          <a:bodyPr wrap="square" rtlCol="0">
            <a:spAutoFit/>
          </a:bodyPr>
          <a:lstStyle/>
          <a:p>
            <a:pPr algn="l"/>
            <a:r>
              <a:rPr kumimoji="1" lang="zh-CN" altLang="en-US" sz="2400" b="0" i="0" dirty="0">
                <a:solidFill>
                  <a:srgbClr val="000000"/>
                </a:solidFill>
              </a:rPr>
              <a:t>例</a:t>
            </a:r>
            <a:r>
              <a:rPr lang="en-US" altLang="zh-CN" sz="2400" b="0" i="0" dirty="0">
                <a:solidFill>
                  <a:srgbClr val="000000"/>
                </a:solidFill>
              </a:rPr>
              <a:t>2</a:t>
            </a:r>
            <a:r>
              <a:rPr kumimoji="1" lang="zh-CN" altLang="en-US" sz="2400" b="0" i="0" dirty="0">
                <a:solidFill>
                  <a:srgbClr val="000000"/>
                </a:solidFill>
              </a:rPr>
              <a:t>：设计</a:t>
            </a:r>
            <a:r>
              <a:rPr kumimoji="1" lang="en-US" altLang="zh-CN" sz="2400" b="0" i="0" dirty="0">
                <a:solidFill>
                  <a:srgbClr val="000000"/>
                </a:solidFill>
              </a:rPr>
              <a:t>DFA</a:t>
            </a:r>
            <a:r>
              <a:rPr kumimoji="1" lang="zh-CN" altLang="en-US" sz="2400" b="0" i="0" dirty="0">
                <a:solidFill>
                  <a:srgbClr val="000000"/>
                </a:solidFill>
              </a:rPr>
              <a:t>接受以下语言</a:t>
            </a:r>
          </a:p>
        </p:txBody>
      </p:sp>
      <p:pic>
        <p:nvPicPr>
          <p:cNvPr id="16" name="图片 15"/>
          <p:cNvPicPr>
            <a:picLocks noChangeAspect="1"/>
          </p:cNvPicPr>
          <p:nvPr/>
        </p:nvPicPr>
        <p:blipFill>
          <a:blip r:embed="rId2"/>
          <a:stretch>
            <a:fillRect/>
          </a:stretch>
        </p:blipFill>
        <p:spPr>
          <a:xfrm>
            <a:off x="800100" y="1828413"/>
            <a:ext cx="7228284" cy="340727"/>
          </a:xfrm>
          <a:prstGeom prst="rect">
            <a:avLst/>
          </a:prstGeom>
        </p:spPr>
      </p:pic>
      <p:grpSp>
        <p:nvGrpSpPr>
          <p:cNvPr id="75" name="组合 74"/>
          <p:cNvGrpSpPr/>
          <p:nvPr/>
        </p:nvGrpSpPr>
        <p:grpSpPr>
          <a:xfrm>
            <a:off x="2502188" y="3123979"/>
            <a:ext cx="4390112" cy="738456"/>
            <a:chOff x="2502188" y="3123979"/>
            <a:chExt cx="4390112" cy="738456"/>
          </a:xfrm>
        </p:grpSpPr>
        <p:sp>
          <p:nvSpPr>
            <p:cNvPr id="41" name="椭圆 40"/>
            <p:cNvSpPr/>
            <p:nvPr/>
          </p:nvSpPr>
          <p:spPr bwMode="auto">
            <a:xfrm>
              <a:off x="2502188" y="3341858"/>
              <a:ext cx="504056" cy="519765"/>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42" name="椭圆 41"/>
            <p:cNvSpPr/>
            <p:nvPr/>
          </p:nvSpPr>
          <p:spPr bwMode="auto">
            <a:xfrm>
              <a:off x="3797540" y="3342670"/>
              <a:ext cx="504056" cy="519765"/>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43" name="椭圆 42"/>
            <p:cNvSpPr/>
            <p:nvPr/>
          </p:nvSpPr>
          <p:spPr bwMode="auto">
            <a:xfrm>
              <a:off x="5092892" y="3342669"/>
              <a:ext cx="504056" cy="519765"/>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44" name="椭圆 43"/>
            <p:cNvSpPr/>
            <p:nvPr/>
          </p:nvSpPr>
          <p:spPr bwMode="auto">
            <a:xfrm>
              <a:off x="6388244" y="3341858"/>
              <a:ext cx="504056" cy="519765"/>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45" name="椭圆 44"/>
            <p:cNvSpPr/>
            <p:nvPr/>
          </p:nvSpPr>
          <p:spPr bwMode="auto">
            <a:xfrm>
              <a:off x="6461441" y="3420329"/>
              <a:ext cx="351656" cy="362821"/>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cxnSp>
          <p:nvCxnSpPr>
            <p:cNvPr id="46" name="直线箭头连接符 45"/>
            <p:cNvCxnSpPr>
              <a:stCxn id="41" idx="6"/>
              <a:endCxn id="42" idx="2"/>
            </p:cNvCxnSpPr>
            <p:nvPr/>
          </p:nvCxnSpPr>
          <p:spPr bwMode="auto">
            <a:xfrm>
              <a:off x="3006244" y="3601741"/>
              <a:ext cx="791296" cy="812"/>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8" name="直线箭头连接符 47"/>
            <p:cNvCxnSpPr>
              <a:stCxn id="42" idx="6"/>
              <a:endCxn id="43" idx="2"/>
            </p:cNvCxnSpPr>
            <p:nvPr/>
          </p:nvCxnSpPr>
          <p:spPr bwMode="auto">
            <a:xfrm flipV="1">
              <a:off x="4301596" y="3602552"/>
              <a:ext cx="791296" cy="1"/>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51" name="直线箭头连接符 50"/>
            <p:cNvCxnSpPr>
              <a:stCxn id="43" idx="6"/>
              <a:endCxn id="44" idx="2"/>
            </p:cNvCxnSpPr>
            <p:nvPr/>
          </p:nvCxnSpPr>
          <p:spPr bwMode="auto">
            <a:xfrm flipV="1">
              <a:off x="5596948" y="3601741"/>
              <a:ext cx="791296" cy="811"/>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53" name="文本框 52"/>
            <p:cNvSpPr txBox="1"/>
            <p:nvPr/>
          </p:nvSpPr>
          <p:spPr>
            <a:xfrm flipH="1">
              <a:off x="3338210" y="3123980"/>
              <a:ext cx="143906" cy="461665"/>
            </a:xfrm>
            <a:prstGeom prst="rect">
              <a:avLst/>
            </a:prstGeom>
            <a:noFill/>
          </p:spPr>
          <p:txBody>
            <a:bodyPr wrap="square" rtlCol="0">
              <a:spAutoFit/>
            </a:bodyPr>
            <a:lstStyle/>
            <a:p>
              <a:r>
                <a:rPr kumimoji="1" lang="en-US" altLang="zh-CN" sz="2400" b="0" i="0" dirty="0">
                  <a:solidFill>
                    <a:srgbClr val="000000"/>
                  </a:solidFill>
                </a:rPr>
                <a:t>0</a:t>
              </a:r>
              <a:endParaRPr kumimoji="1" lang="zh-CN" altLang="en-US" b="0" i="0" dirty="0">
                <a:solidFill>
                  <a:srgbClr val="000000"/>
                </a:solidFill>
              </a:endParaRPr>
            </a:p>
          </p:txBody>
        </p:sp>
        <p:sp>
          <p:nvSpPr>
            <p:cNvPr id="56" name="文本框 55"/>
            <p:cNvSpPr txBox="1"/>
            <p:nvPr/>
          </p:nvSpPr>
          <p:spPr>
            <a:xfrm flipH="1">
              <a:off x="4617020" y="3132103"/>
              <a:ext cx="143906" cy="461665"/>
            </a:xfrm>
            <a:prstGeom prst="rect">
              <a:avLst/>
            </a:prstGeom>
            <a:noFill/>
          </p:spPr>
          <p:txBody>
            <a:bodyPr wrap="square" rtlCol="0">
              <a:spAutoFit/>
            </a:bodyPr>
            <a:lstStyle/>
            <a:p>
              <a:r>
                <a:rPr kumimoji="1" lang="en-US" altLang="zh-CN" sz="2400" b="0" i="0" dirty="0">
                  <a:solidFill>
                    <a:srgbClr val="000000"/>
                  </a:solidFill>
                </a:rPr>
                <a:t>1</a:t>
              </a:r>
              <a:endParaRPr kumimoji="1" lang="zh-CN" altLang="en-US" b="0" i="0" dirty="0">
                <a:solidFill>
                  <a:srgbClr val="000000"/>
                </a:solidFill>
              </a:endParaRPr>
            </a:p>
          </p:txBody>
        </p:sp>
        <p:sp>
          <p:nvSpPr>
            <p:cNvPr id="57" name="文本框 56"/>
            <p:cNvSpPr txBox="1"/>
            <p:nvPr/>
          </p:nvSpPr>
          <p:spPr>
            <a:xfrm flipH="1">
              <a:off x="5928914" y="3123979"/>
              <a:ext cx="143906" cy="461665"/>
            </a:xfrm>
            <a:prstGeom prst="rect">
              <a:avLst/>
            </a:prstGeom>
            <a:noFill/>
          </p:spPr>
          <p:txBody>
            <a:bodyPr wrap="square" rtlCol="0">
              <a:spAutoFit/>
            </a:bodyPr>
            <a:lstStyle/>
            <a:p>
              <a:r>
                <a:rPr kumimoji="1" lang="en-US" altLang="zh-CN" sz="2400" b="0" i="0" dirty="0">
                  <a:solidFill>
                    <a:srgbClr val="000000"/>
                  </a:solidFill>
                </a:rPr>
                <a:t>0</a:t>
              </a:r>
              <a:endParaRPr kumimoji="1" lang="zh-CN" altLang="en-US" b="0" i="0" dirty="0">
                <a:solidFill>
                  <a:srgbClr val="000000"/>
                </a:solidFill>
              </a:endParaRPr>
            </a:p>
          </p:txBody>
        </p:sp>
      </p:grpSp>
      <p:grpSp>
        <p:nvGrpSpPr>
          <p:cNvPr id="76" name="组合 75"/>
          <p:cNvGrpSpPr/>
          <p:nvPr/>
        </p:nvGrpSpPr>
        <p:grpSpPr>
          <a:xfrm>
            <a:off x="2575545" y="3849696"/>
            <a:ext cx="392274" cy="875448"/>
            <a:chOff x="2575545" y="3849696"/>
            <a:chExt cx="392274" cy="875448"/>
          </a:xfrm>
        </p:grpSpPr>
        <p:sp>
          <p:nvSpPr>
            <p:cNvPr id="58" name="弧 57"/>
            <p:cNvSpPr/>
            <p:nvPr/>
          </p:nvSpPr>
          <p:spPr bwMode="auto">
            <a:xfrm>
              <a:off x="2575545" y="3849696"/>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59" name="文本框 58"/>
            <p:cNvSpPr txBox="1"/>
            <p:nvPr/>
          </p:nvSpPr>
          <p:spPr>
            <a:xfrm flipH="1">
              <a:off x="2699729" y="4263479"/>
              <a:ext cx="143906" cy="461665"/>
            </a:xfrm>
            <a:prstGeom prst="rect">
              <a:avLst/>
            </a:prstGeom>
            <a:noFill/>
          </p:spPr>
          <p:txBody>
            <a:bodyPr wrap="square" rtlCol="0">
              <a:spAutoFit/>
            </a:bodyPr>
            <a:lstStyle/>
            <a:p>
              <a:r>
                <a:rPr kumimoji="1" lang="en-US" altLang="zh-CN" sz="2400" b="0" i="0" dirty="0">
                  <a:solidFill>
                    <a:srgbClr val="000000"/>
                  </a:solidFill>
                </a:rPr>
                <a:t>1</a:t>
              </a:r>
              <a:endParaRPr kumimoji="1" lang="zh-CN" altLang="en-US" b="0" i="0" dirty="0">
                <a:solidFill>
                  <a:srgbClr val="000000"/>
                </a:solidFill>
              </a:endParaRPr>
            </a:p>
          </p:txBody>
        </p:sp>
      </p:grpSp>
      <p:grpSp>
        <p:nvGrpSpPr>
          <p:cNvPr id="77" name="组合 76"/>
          <p:cNvGrpSpPr/>
          <p:nvPr/>
        </p:nvGrpSpPr>
        <p:grpSpPr>
          <a:xfrm>
            <a:off x="3863763" y="3849696"/>
            <a:ext cx="392274" cy="875448"/>
            <a:chOff x="3863763" y="3849696"/>
            <a:chExt cx="392274" cy="875448"/>
          </a:xfrm>
        </p:grpSpPr>
        <p:sp>
          <p:nvSpPr>
            <p:cNvPr id="60" name="弧 59"/>
            <p:cNvSpPr/>
            <p:nvPr/>
          </p:nvSpPr>
          <p:spPr bwMode="auto">
            <a:xfrm>
              <a:off x="3863763" y="3849696"/>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61" name="文本框 60"/>
            <p:cNvSpPr txBox="1"/>
            <p:nvPr/>
          </p:nvSpPr>
          <p:spPr>
            <a:xfrm flipH="1">
              <a:off x="3987947" y="4263479"/>
              <a:ext cx="143906" cy="461665"/>
            </a:xfrm>
            <a:prstGeom prst="rect">
              <a:avLst/>
            </a:prstGeom>
            <a:noFill/>
          </p:spPr>
          <p:txBody>
            <a:bodyPr wrap="square" rtlCol="0">
              <a:spAutoFit/>
            </a:bodyPr>
            <a:lstStyle/>
            <a:p>
              <a:r>
                <a:rPr lang="en-US" altLang="zh-CN" sz="2400" b="0" i="0" dirty="0">
                  <a:solidFill>
                    <a:srgbClr val="000000"/>
                  </a:solidFill>
                </a:rPr>
                <a:t>0</a:t>
              </a:r>
              <a:endParaRPr kumimoji="1" lang="zh-CN" altLang="en-US" b="0" i="0" dirty="0">
                <a:solidFill>
                  <a:srgbClr val="000000"/>
                </a:solidFill>
              </a:endParaRPr>
            </a:p>
          </p:txBody>
        </p:sp>
      </p:grpSp>
      <p:grpSp>
        <p:nvGrpSpPr>
          <p:cNvPr id="78" name="组合 77"/>
          <p:cNvGrpSpPr/>
          <p:nvPr/>
        </p:nvGrpSpPr>
        <p:grpSpPr>
          <a:xfrm>
            <a:off x="2714588" y="2433888"/>
            <a:ext cx="2652353" cy="1645438"/>
            <a:chOff x="2714588" y="2433888"/>
            <a:chExt cx="2652353" cy="1645438"/>
          </a:xfrm>
        </p:grpSpPr>
        <p:sp>
          <p:nvSpPr>
            <p:cNvPr id="62" name="弧 61"/>
            <p:cNvSpPr/>
            <p:nvPr/>
          </p:nvSpPr>
          <p:spPr bwMode="auto">
            <a:xfrm rot="21302931" flipH="1">
              <a:off x="2714588" y="2859892"/>
              <a:ext cx="2652353" cy="1219434"/>
            </a:xfrm>
            <a:prstGeom prst="arc">
              <a:avLst>
                <a:gd name="adj1" fmla="val 10923734"/>
                <a:gd name="adj2" fmla="val 20917571"/>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63" name="文本框 62"/>
            <p:cNvSpPr txBox="1"/>
            <p:nvPr/>
          </p:nvSpPr>
          <p:spPr>
            <a:xfrm flipH="1">
              <a:off x="4145393" y="2433888"/>
              <a:ext cx="143906" cy="461665"/>
            </a:xfrm>
            <a:prstGeom prst="rect">
              <a:avLst/>
            </a:prstGeom>
            <a:noFill/>
          </p:spPr>
          <p:txBody>
            <a:bodyPr wrap="square" rtlCol="0">
              <a:spAutoFit/>
            </a:bodyPr>
            <a:lstStyle/>
            <a:p>
              <a:r>
                <a:rPr kumimoji="1" lang="en-US" altLang="zh-CN" sz="2400" b="0" i="0" dirty="0">
                  <a:solidFill>
                    <a:srgbClr val="000000"/>
                  </a:solidFill>
                </a:rPr>
                <a:t>1</a:t>
              </a:r>
              <a:endParaRPr kumimoji="1" lang="zh-CN" altLang="en-US" b="0" i="0" dirty="0">
                <a:solidFill>
                  <a:srgbClr val="000000"/>
                </a:solidFill>
              </a:endParaRPr>
            </a:p>
          </p:txBody>
        </p:sp>
      </p:grpSp>
      <p:grpSp>
        <p:nvGrpSpPr>
          <p:cNvPr id="79" name="组合 78"/>
          <p:cNvGrpSpPr/>
          <p:nvPr/>
        </p:nvGrpSpPr>
        <p:grpSpPr>
          <a:xfrm>
            <a:off x="6323654" y="3861621"/>
            <a:ext cx="667847" cy="859683"/>
            <a:chOff x="6323654" y="3861621"/>
            <a:chExt cx="667847" cy="859683"/>
          </a:xfrm>
        </p:grpSpPr>
        <p:sp>
          <p:nvSpPr>
            <p:cNvPr id="64" name="弧 63"/>
            <p:cNvSpPr/>
            <p:nvPr/>
          </p:nvSpPr>
          <p:spPr bwMode="auto">
            <a:xfrm>
              <a:off x="6461441" y="3861621"/>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65" name="文本框 64"/>
            <p:cNvSpPr txBox="1"/>
            <p:nvPr/>
          </p:nvSpPr>
          <p:spPr>
            <a:xfrm flipH="1">
              <a:off x="6323654" y="4259639"/>
              <a:ext cx="667847" cy="461665"/>
            </a:xfrm>
            <a:prstGeom prst="rect">
              <a:avLst/>
            </a:prstGeom>
            <a:noFill/>
          </p:spPr>
          <p:txBody>
            <a:bodyPr wrap="square" rtlCol="0">
              <a:spAutoFit/>
            </a:bodyPr>
            <a:lstStyle/>
            <a:p>
              <a:r>
                <a:rPr lang="en-US" altLang="zh-CN" sz="2400" b="0" i="0" dirty="0">
                  <a:solidFill>
                    <a:srgbClr val="000000"/>
                  </a:solidFill>
                </a:rPr>
                <a:t>0, 1</a:t>
              </a:r>
              <a:endParaRPr kumimoji="1" lang="zh-CN" altLang="en-US" b="0" i="0" dirty="0">
                <a:solidFill>
                  <a:srgbClr val="000000"/>
                </a:solidFill>
              </a:endParaRPr>
            </a:p>
          </p:txBody>
        </p:sp>
      </p:grpSp>
      <p:cxnSp>
        <p:nvCxnSpPr>
          <p:cNvPr id="66" name="直线箭头连接符 65"/>
          <p:cNvCxnSpPr/>
          <p:nvPr/>
        </p:nvCxnSpPr>
        <p:spPr bwMode="auto">
          <a:xfrm flipV="1">
            <a:off x="1691680" y="3605987"/>
            <a:ext cx="791296" cy="1"/>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grpSp>
        <p:nvGrpSpPr>
          <p:cNvPr id="80" name="组合 79"/>
          <p:cNvGrpSpPr/>
          <p:nvPr/>
        </p:nvGrpSpPr>
        <p:grpSpPr>
          <a:xfrm>
            <a:off x="1998476" y="3492168"/>
            <a:ext cx="5397012" cy="219943"/>
            <a:chOff x="1998476" y="3492168"/>
            <a:chExt cx="5397012" cy="219943"/>
          </a:xfrm>
        </p:grpSpPr>
        <p:pic>
          <p:nvPicPr>
            <p:cNvPr id="54" name="图片 53"/>
            <p:cNvPicPr>
              <a:picLocks noChangeAspect="1"/>
            </p:cNvPicPr>
            <p:nvPr/>
          </p:nvPicPr>
          <p:blipFill>
            <a:blip r:embed="rId3"/>
            <a:stretch>
              <a:fillRect/>
            </a:stretch>
          </p:blipFill>
          <p:spPr>
            <a:xfrm>
              <a:off x="1998476" y="3508911"/>
              <a:ext cx="1511300" cy="203200"/>
            </a:xfrm>
            <a:prstGeom prst="rect">
              <a:avLst/>
            </a:prstGeom>
          </p:spPr>
        </p:pic>
        <p:pic>
          <p:nvPicPr>
            <p:cNvPr id="67" name="图片 66"/>
            <p:cNvPicPr>
              <a:picLocks noChangeAspect="1"/>
            </p:cNvPicPr>
            <p:nvPr/>
          </p:nvPicPr>
          <p:blipFill>
            <a:blip r:embed="rId4"/>
            <a:stretch>
              <a:fillRect/>
            </a:stretch>
          </p:blipFill>
          <p:spPr>
            <a:xfrm>
              <a:off x="3305389" y="3492168"/>
              <a:ext cx="1498600" cy="203200"/>
            </a:xfrm>
            <a:prstGeom prst="rect">
              <a:avLst/>
            </a:prstGeom>
          </p:spPr>
        </p:pic>
        <p:pic>
          <p:nvPicPr>
            <p:cNvPr id="68" name="图片 67"/>
            <p:cNvPicPr>
              <a:picLocks noChangeAspect="1"/>
            </p:cNvPicPr>
            <p:nvPr/>
          </p:nvPicPr>
          <p:blipFill>
            <a:blip r:embed="rId5"/>
            <a:stretch>
              <a:fillRect/>
            </a:stretch>
          </p:blipFill>
          <p:spPr>
            <a:xfrm>
              <a:off x="4608513" y="3492168"/>
              <a:ext cx="1511300" cy="203200"/>
            </a:xfrm>
            <a:prstGeom prst="rect">
              <a:avLst/>
            </a:prstGeom>
          </p:spPr>
        </p:pic>
        <p:pic>
          <p:nvPicPr>
            <p:cNvPr id="69" name="图片 68"/>
            <p:cNvPicPr>
              <a:picLocks noChangeAspect="1"/>
            </p:cNvPicPr>
            <p:nvPr/>
          </p:nvPicPr>
          <p:blipFill>
            <a:blip r:embed="rId6"/>
            <a:stretch>
              <a:fillRect/>
            </a:stretch>
          </p:blipFill>
          <p:spPr>
            <a:xfrm>
              <a:off x="5884188" y="3503148"/>
              <a:ext cx="1511300" cy="203200"/>
            </a:xfrm>
            <a:prstGeom prst="rect">
              <a:avLst/>
            </a:prstGeom>
          </p:spPr>
        </p:pic>
      </p:grpSp>
      <p:grpSp>
        <p:nvGrpSpPr>
          <p:cNvPr id="70" name="组合 69"/>
          <p:cNvGrpSpPr/>
          <p:nvPr/>
        </p:nvGrpSpPr>
        <p:grpSpPr>
          <a:xfrm>
            <a:off x="549554" y="4929024"/>
            <a:ext cx="8238634" cy="1553870"/>
            <a:chOff x="549554" y="4929024"/>
            <a:chExt cx="8238634" cy="1553870"/>
          </a:xfrm>
        </p:grpSpPr>
        <p:sp>
          <p:nvSpPr>
            <p:cNvPr id="71" name="文本框 70"/>
            <p:cNvSpPr txBox="1"/>
            <p:nvPr/>
          </p:nvSpPr>
          <p:spPr>
            <a:xfrm>
              <a:off x="549554" y="4929024"/>
              <a:ext cx="8216808" cy="461665"/>
            </a:xfrm>
            <a:prstGeom prst="rect">
              <a:avLst/>
            </a:prstGeom>
            <a:noFill/>
          </p:spPr>
          <p:txBody>
            <a:bodyPr wrap="square" rtlCol="0">
              <a:spAutoFit/>
            </a:bodyPr>
            <a:lstStyle/>
            <a:p>
              <a:pPr algn="l"/>
              <a:r>
                <a:rPr kumimoji="1" lang="zh-CN" altLang="en-US" sz="2400" b="0" i="0" dirty="0">
                  <a:solidFill>
                    <a:srgbClr val="000000"/>
                  </a:solidFill>
                </a:rPr>
                <a:t>解：</a:t>
              </a:r>
              <a:r>
                <a:rPr lang="zh-CN" altLang="en-US" sz="2400" b="0" i="0" dirty="0">
                  <a:solidFill>
                    <a:srgbClr val="000000"/>
                  </a:solidFill>
                </a:rPr>
                <a:t>这道题可以采用类似与例</a:t>
              </a:r>
              <a:r>
                <a:rPr lang="en-US" altLang="zh-CN" sz="2400" b="0" i="0" dirty="0">
                  <a:solidFill>
                    <a:srgbClr val="000000"/>
                  </a:solidFill>
                </a:rPr>
                <a:t>1</a:t>
              </a:r>
              <a:r>
                <a:rPr lang="zh-CN" altLang="en-US" sz="2400" b="0" i="0" dirty="0">
                  <a:solidFill>
                    <a:srgbClr val="000000"/>
                  </a:solidFill>
                </a:rPr>
                <a:t>的技巧，首先确定主线上的</a:t>
              </a:r>
              <a:endParaRPr kumimoji="1" lang="zh-CN" altLang="en-US" sz="2400" b="0" i="0" dirty="0">
                <a:solidFill>
                  <a:srgbClr val="000000"/>
                </a:solidFill>
              </a:endParaRPr>
            </a:p>
          </p:txBody>
        </p:sp>
        <p:sp>
          <p:nvSpPr>
            <p:cNvPr id="72" name="文本框 71"/>
            <p:cNvSpPr txBox="1"/>
            <p:nvPr/>
          </p:nvSpPr>
          <p:spPr>
            <a:xfrm>
              <a:off x="571380" y="5471783"/>
              <a:ext cx="8216808" cy="461665"/>
            </a:xfrm>
            <a:prstGeom prst="rect">
              <a:avLst/>
            </a:prstGeom>
            <a:noFill/>
          </p:spPr>
          <p:txBody>
            <a:bodyPr wrap="square" rtlCol="0">
              <a:spAutoFit/>
            </a:bodyPr>
            <a:lstStyle/>
            <a:p>
              <a:pPr algn="l"/>
              <a:r>
                <a:rPr kumimoji="1" lang="zh-CN" altLang="en-US" sz="2400" b="0" i="0" dirty="0">
                  <a:solidFill>
                    <a:srgbClr val="000000"/>
                  </a:solidFill>
                </a:rPr>
                <a:t>节点和边，然后再补所缺的出边。一定要想清楚出边应该</a:t>
              </a:r>
            </a:p>
          </p:txBody>
        </p:sp>
        <p:sp>
          <p:nvSpPr>
            <p:cNvPr id="73" name="文本框 72"/>
            <p:cNvSpPr txBox="1"/>
            <p:nvPr/>
          </p:nvSpPr>
          <p:spPr>
            <a:xfrm>
              <a:off x="571380" y="6021229"/>
              <a:ext cx="8216808" cy="461665"/>
            </a:xfrm>
            <a:prstGeom prst="rect">
              <a:avLst/>
            </a:prstGeom>
            <a:noFill/>
          </p:spPr>
          <p:txBody>
            <a:bodyPr wrap="square" rtlCol="0">
              <a:spAutoFit/>
            </a:bodyPr>
            <a:lstStyle/>
            <a:p>
              <a:pPr algn="l"/>
              <a:r>
                <a:rPr kumimoji="1" lang="zh-CN" altLang="en-US" sz="2400" b="0" i="0" dirty="0">
                  <a:solidFill>
                    <a:srgbClr val="000000"/>
                  </a:solidFill>
                </a:rPr>
                <a:t>指向哪个节点。做完后可以列举几个符合条件的串检查一下。</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51</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6" name="文本框 15"/>
          <p:cNvSpPr txBox="1"/>
          <p:nvPr/>
        </p:nvSpPr>
        <p:spPr>
          <a:xfrm>
            <a:off x="514340" y="1237026"/>
            <a:ext cx="8234124" cy="461665"/>
          </a:xfrm>
          <a:prstGeom prst="rect">
            <a:avLst/>
          </a:prstGeom>
          <a:noFill/>
        </p:spPr>
        <p:txBody>
          <a:bodyPr wrap="square" rtlCol="0">
            <a:spAutoFit/>
          </a:bodyPr>
          <a:lstStyle/>
          <a:p>
            <a:pPr algn="l"/>
            <a:r>
              <a:rPr kumimoji="1" lang="zh-CN" altLang="en-US" sz="2400" b="0" i="0" dirty="0">
                <a:solidFill>
                  <a:srgbClr val="000000"/>
                </a:solidFill>
              </a:rPr>
              <a:t>例</a:t>
            </a:r>
            <a:r>
              <a:rPr lang="en-US" altLang="zh-CN" sz="2400" b="0" i="0" dirty="0">
                <a:solidFill>
                  <a:srgbClr val="000000"/>
                </a:solidFill>
              </a:rPr>
              <a:t>3</a:t>
            </a:r>
            <a:r>
              <a:rPr kumimoji="1" lang="zh-CN" altLang="en-US" sz="2400" b="0" i="0" dirty="0">
                <a:solidFill>
                  <a:srgbClr val="000000"/>
                </a:solidFill>
              </a:rPr>
              <a:t>：设计</a:t>
            </a:r>
            <a:r>
              <a:rPr kumimoji="1" lang="en-US" altLang="zh-CN" sz="2400" b="0" i="0" dirty="0">
                <a:solidFill>
                  <a:srgbClr val="000000"/>
                </a:solidFill>
              </a:rPr>
              <a:t>DFA</a:t>
            </a:r>
            <a:r>
              <a:rPr kumimoji="1" lang="zh-CN" altLang="en-US" sz="2400" b="0" i="0" dirty="0">
                <a:solidFill>
                  <a:srgbClr val="000000"/>
                </a:solidFill>
              </a:rPr>
              <a:t>接受以下语言</a:t>
            </a:r>
          </a:p>
        </p:txBody>
      </p:sp>
      <p:pic>
        <p:nvPicPr>
          <p:cNvPr id="17" name="图片 16"/>
          <p:cNvPicPr>
            <a:picLocks noChangeAspect="1"/>
          </p:cNvPicPr>
          <p:nvPr/>
        </p:nvPicPr>
        <p:blipFill>
          <a:blip r:embed="rId11"/>
          <a:stretch>
            <a:fillRect/>
          </a:stretch>
        </p:blipFill>
        <p:spPr>
          <a:xfrm>
            <a:off x="1257300" y="1866443"/>
            <a:ext cx="6629400" cy="355600"/>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3887788" cy="641350"/>
          </a:xfrm>
          <a:prstGeom prst="rect">
            <a:avLst/>
          </a:prstGeom>
          <a:noFill/>
          <a:ln w="9525" algn="ctr">
            <a:noFill/>
            <a:miter lim="800000"/>
          </a:ln>
          <a:effectLst/>
        </p:spPr>
        <p:txBody>
          <a:bodyPr>
            <a:spAutoFit/>
          </a:bodyPr>
          <a:lstStyle/>
          <a:p>
            <a:pPr>
              <a:lnSpc>
                <a:spcPct val="90000"/>
              </a:lnSpc>
            </a:pPr>
            <a:r>
              <a:rPr lang="zh-CN" altLang="en-US" sz="4000" i="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36</a:t>
            </a:r>
            <a:endParaRPr kumimoji="1" lang="zh-CN" altLang="en-US" sz="2000" b="0" i="0" dirty="0">
              <a:solidFill>
                <a:srgbClr val="000066"/>
              </a:solidFill>
            </a:endParaRPr>
          </a:p>
        </p:txBody>
      </p:sp>
      <p:sp>
        <p:nvSpPr>
          <p:cNvPr id="27" name="文本框 26"/>
          <p:cNvSpPr txBox="1"/>
          <p:nvPr/>
        </p:nvSpPr>
        <p:spPr>
          <a:xfrm>
            <a:off x="514340" y="1237026"/>
            <a:ext cx="8234124" cy="461665"/>
          </a:xfrm>
          <a:prstGeom prst="rect">
            <a:avLst/>
          </a:prstGeom>
          <a:noFill/>
        </p:spPr>
        <p:txBody>
          <a:bodyPr wrap="square" rtlCol="0">
            <a:spAutoFit/>
          </a:bodyPr>
          <a:lstStyle/>
          <a:p>
            <a:pPr algn="l"/>
            <a:r>
              <a:rPr kumimoji="1" lang="zh-CN" altLang="en-US" sz="2400" b="0" i="0" dirty="0">
                <a:solidFill>
                  <a:srgbClr val="000000"/>
                </a:solidFill>
              </a:rPr>
              <a:t>例</a:t>
            </a:r>
            <a:r>
              <a:rPr lang="en-US" altLang="zh-CN" sz="2400" b="0" i="0" dirty="0">
                <a:solidFill>
                  <a:srgbClr val="000000"/>
                </a:solidFill>
              </a:rPr>
              <a:t>3</a:t>
            </a:r>
            <a:r>
              <a:rPr kumimoji="1" lang="zh-CN" altLang="en-US" sz="2400" b="0" i="0" dirty="0">
                <a:solidFill>
                  <a:srgbClr val="000000"/>
                </a:solidFill>
              </a:rPr>
              <a:t>：设计</a:t>
            </a:r>
            <a:r>
              <a:rPr kumimoji="1" lang="en-US" altLang="zh-CN" sz="2400" b="0" i="0" dirty="0">
                <a:solidFill>
                  <a:srgbClr val="000000"/>
                </a:solidFill>
              </a:rPr>
              <a:t>DFA</a:t>
            </a:r>
            <a:r>
              <a:rPr kumimoji="1" lang="zh-CN" altLang="en-US" sz="2400" b="0" i="0" dirty="0">
                <a:solidFill>
                  <a:srgbClr val="000000"/>
                </a:solidFill>
              </a:rPr>
              <a:t>接受以下语言</a:t>
            </a:r>
          </a:p>
        </p:txBody>
      </p:sp>
      <p:grpSp>
        <p:nvGrpSpPr>
          <p:cNvPr id="70" name="组合 69"/>
          <p:cNvGrpSpPr/>
          <p:nvPr/>
        </p:nvGrpSpPr>
        <p:grpSpPr>
          <a:xfrm>
            <a:off x="549554" y="4929024"/>
            <a:ext cx="8238634" cy="1553870"/>
            <a:chOff x="549554" y="4929024"/>
            <a:chExt cx="8238634" cy="1553870"/>
          </a:xfrm>
        </p:grpSpPr>
        <p:sp>
          <p:nvSpPr>
            <p:cNvPr id="71" name="文本框 70"/>
            <p:cNvSpPr txBox="1"/>
            <p:nvPr/>
          </p:nvSpPr>
          <p:spPr>
            <a:xfrm>
              <a:off x="549554" y="4929024"/>
              <a:ext cx="8216808" cy="461665"/>
            </a:xfrm>
            <a:prstGeom prst="rect">
              <a:avLst/>
            </a:prstGeom>
            <a:noFill/>
          </p:spPr>
          <p:txBody>
            <a:bodyPr wrap="square" rtlCol="0">
              <a:spAutoFit/>
            </a:bodyPr>
            <a:lstStyle/>
            <a:p>
              <a:pPr algn="l"/>
              <a:r>
                <a:rPr kumimoji="1" lang="zh-CN" altLang="en-US" sz="2400" b="0" i="0" dirty="0">
                  <a:solidFill>
                    <a:srgbClr val="000000"/>
                  </a:solidFill>
                </a:rPr>
                <a:t>解：</a:t>
              </a:r>
              <a:r>
                <a:rPr lang="zh-CN" altLang="en-US" sz="2400" b="0" i="0" dirty="0">
                  <a:solidFill>
                    <a:srgbClr val="000000"/>
                  </a:solidFill>
                </a:rPr>
                <a:t>这道题看上去似乎无从下手，怎么表示“不包含”？其</a:t>
              </a:r>
              <a:endParaRPr kumimoji="1" lang="zh-CN" altLang="en-US" sz="2400" b="0" i="0" dirty="0">
                <a:solidFill>
                  <a:srgbClr val="000000"/>
                </a:solidFill>
              </a:endParaRPr>
            </a:p>
          </p:txBody>
        </p:sp>
        <p:sp>
          <p:nvSpPr>
            <p:cNvPr id="72" name="文本框 71"/>
            <p:cNvSpPr txBox="1"/>
            <p:nvPr/>
          </p:nvSpPr>
          <p:spPr>
            <a:xfrm>
              <a:off x="571380" y="5471783"/>
              <a:ext cx="8216808" cy="461665"/>
            </a:xfrm>
            <a:prstGeom prst="rect">
              <a:avLst/>
            </a:prstGeom>
            <a:noFill/>
          </p:spPr>
          <p:txBody>
            <a:bodyPr wrap="square" rtlCol="0">
              <a:spAutoFit/>
            </a:bodyPr>
            <a:lstStyle/>
            <a:p>
              <a:pPr algn="l"/>
              <a:r>
                <a:rPr lang="zh-CN" altLang="en-US" sz="2400" b="0" i="0" dirty="0">
                  <a:solidFill>
                    <a:srgbClr val="000000"/>
                  </a:solidFill>
                </a:rPr>
                <a:t>实可以从补集的角度去考虑，体现在</a:t>
              </a:r>
              <a:r>
                <a:rPr lang="en-US" altLang="zh-CN" sz="2400" b="0" i="0" dirty="0">
                  <a:solidFill>
                    <a:srgbClr val="000000"/>
                  </a:solidFill>
                </a:rPr>
                <a:t>DFA</a:t>
              </a:r>
              <a:r>
                <a:rPr lang="zh-CN" altLang="en-US" sz="2400" b="0" i="0" dirty="0">
                  <a:solidFill>
                    <a:srgbClr val="000000"/>
                  </a:solidFill>
                </a:rPr>
                <a:t>上，就是保留例</a:t>
              </a:r>
              <a:r>
                <a:rPr lang="en-US" altLang="zh-CN" sz="2400" b="0" i="0" dirty="0">
                  <a:solidFill>
                    <a:srgbClr val="000000"/>
                  </a:solidFill>
                </a:rPr>
                <a:t>2</a:t>
              </a:r>
              <a:endParaRPr kumimoji="1" lang="zh-CN" altLang="en-US" sz="2400" b="0" i="0" dirty="0">
                <a:solidFill>
                  <a:srgbClr val="000000"/>
                </a:solidFill>
              </a:endParaRPr>
            </a:p>
          </p:txBody>
        </p:sp>
        <p:sp>
          <p:nvSpPr>
            <p:cNvPr id="73" name="文本框 72"/>
            <p:cNvSpPr txBox="1"/>
            <p:nvPr/>
          </p:nvSpPr>
          <p:spPr>
            <a:xfrm>
              <a:off x="571380" y="6021229"/>
              <a:ext cx="8216808" cy="461665"/>
            </a:xfrm>
            <a:prstGeom prst="rect">
              <a:avLst/>
            </a:prstGeom>
            <a:noFill/>
          </p:spPr>
          <p:txBody>
            <a:bodyPr wrap="square" rtlCol="0">
              <a:spAutoFit/>
            </a:bodyPr>
            <a:lstStyle/>
            <a:p>
              <a:pPr algn="l"/>
              <a:r>
                <a:rPr kumimoji="1" lang="zh-CN" altLang="en-US" sz="2400" b="0" i="0" dirty="0">
                  <a:solidFill>
                    <a:srgbClr val="000000"/>
                  </a:solidFill>
                </a:rPr>
                <a:t>中</a:t>
              </a:r>
              <a:r>
                <a:rPr kumimoji="1" lang="en-US" altLang="zh-CN" sz="2400" b="0" i="0" dirty="0">
                  <a:solidFill>
                    <a:srgbClr val="000000"/>
                  </a:solidFill>
                </a:rPr>
                <a:t>DFA</a:t>
              </a:r>
              <a:r>
                <a:rPr kumimoji="1" lang="zh-CN" altLang="en-US" sz="2400" b="0" i="0" dirty="0">
                  <a:solidFill>
                    <a:srgbClr val="000000"/>
                  </a:solidFill>
                </a:rPr>
                <a:t>的结构，只不过互换终结状态和非终结状态。</a:t>
              </a:r>
            </a:p>
          </p:txBody>
        </p:sp>
      </p:grpSp>
      <p:grpSp>
        <p:nvGrpSpPr>
          <p:cNvPr id="3" name="组合 2"/>
          <p:cNvGrpSpPr/>
          <p:nvPr/>
        </p:nvGrpSpPr>
        <p:grpSpPr>
          <a:xfrm>
            <a:off x="1691680" y="2433888"/>
            <a:ext cx="5703808" cy="2291256"/>
            <a:chOff x="1691680" y="2433888"/>
            <a:chExt cx="5703808" cy="2291256"/>
          </a:xfrm>
        </p:grpSpPr>
        <p:sp>
          <p:nvSpPr>
            <p:cNvPr id="41" name="椭圆 40"/>
            <p:cNvSpPr/>
            <p:nvPr/>
          </p:nvSpPr>
          <p:spPr bwMode="auto">
            <a:xfrm>
              <a:off x="2502188" y="3341858"/>
              <a:ext cx="504056" cy="519765"/>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42" name="椭圆 41"/>
            <p:cNvSpPr/>
            <p:nvPr/>
          </p:nvSpPr>
          <p:spPr bwMode="auto">
            <a:xfrm>
              <a:off x="3797540" y="3342670"/>
              <a:ext cx="504056" cy="519765"/>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43" name="椭圆 42"/>
            <p:cNvSpPr/>
            <p:nvPr/>
          </p:nvSpPr>
          <p:spPr bwMode="auto">
            <a:xfrm>
              <a:off x="5092892" y="3342669"/>
              <a:ext cx="504056" cy="519765"/>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44" name="椭圆 43"/>
            <p:cNvSpPr/>
            <p:nvPr/>
          </p:nvSpPr>
          <p:spPr bwMode="auto">
            <a:xfrm>
              <a:off x="6388244" y="3341858"/>
              <a:ext cx="504056" cy="519765"/>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45" name="椭圆 44"/>
            <p:cNvSpPr/>
            <p:nvPr/>
          </p:nvSpPr>
          <p:spPr bwMode="auto">
            <a:xfrm>
              <a:off x="5155652" y="3428842"/>
              <a:ext cx="351656" cy="360198"/>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cxnSp>
          <p:nvCxnSpPr>
            <p:cNvPr id="46" name="直线箭头连接符 45"/>
            <p:cNvCxnSpPr>
              <a:stCxn id="41" idx="6"/>
              <a:endCxn id="42" idx="2"/>
            </p:cNvCxnSpPr>
            <p:nvPr/>
          </p:nvCxnSpPr>
          <p:spPr bwMode="auto">
            <a:xfrm>
              <a:off x="3006244" y="3601741"/>
              <a:ext cx="791296" cy="812"/>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8" name="直线箭头连接符 47"/>
            <p:cNvCxnSpPr>
              <a:stCxn id="42" idx="6"/>
              <a:endCxn id="43" idx="2"/>
            </p:cNvCxnSpPr>
            <p:nvPr/>
          </p:nvCxnSpPr>
          <p:spPr bwMode="auto">
            <a:xfrm flipV="1">
              <a:off x="4301596" y="3602552"/>
              <a:ext cx="791296" cy="1"/>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51" name="直线箭头连接符 50"/>
            <p:cNvCxnSpPr>
              <a:stCxn id="43" idx="6"/>
              <a:endCxn id="44" idx="2"/>
            </p:cNvCxnSpPr>
            <p:nvPr/>
          </p:nvCxnSpPr>
          <p:spPr bwMode="auto">
            <a:xfrm flipV="1">
              <a:off x="5596948" y="3601741"/>
              <a:ext cx="791296" cy="811"/>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53" name="文本框 52"/>
            <p:cNvSpPr txBox="1"/>
            <p:nvPr/>
          </p:nvSpPr>
          <p:spPr>
            <a:xfrm flipH="1">
              <a:off x="3338210" y="3123980"/>
              <a:ext cx="143906" cy="461665"/>
            </a:xfrm>
            <a:prstGeom prst="rect">
              <a:avLst/>
            </a:prstGeom>
            <a:noFill/>
          </p:spPr>
          <p:txBody>
            <a:bodyPr wrap="square" rtlCol="0">
              <a:spAutoFit/>
            </a:bodyPr>
            <a:lstStyle/>
            <a:p>
              <a:r>
                <a:rPr kumimoji="1" lang="en-US" altLang="zh-CN" sz="2400" b="0" i="0" dirty="0">
                  <a:solidFill>
                    <a:srgbClr val="000000"/>
                  </a:solidFill>
                </a:rPr>
                <a:t>0</a:t>
              </a:r>
              <a:endParaRPr kumimoji="1" lang="zh-CN" altLang="en-US" b="0" i="0" dirty="0">
                <a:solidFill>
                  <a:srgbClr val="000000"/>
                </a:solidFill>
              </a:endParaRPr>
            </a:p>
          </p:txBody>
        </p:sp>
        <p:sp>
          <p:nvSpPr>
            <p:cNvPr id="56" name="文本框 55"/>
            <p:cNvSpPr txBox="1"/>
            <p:nvPr/>
          </p:nvSpPr>
          <p:spPr>
            <a:xfrm flipH="1">
              <a:off x="4617020" y="3132103"/>
              <a:ext cx="143906" cy="461665"/>
            </a:xfrm>
            <a:prstGeom prst="rect">
              <a:avLst/>
            </a:prstGeom>
            <a:noFill/>
          </p:spPr>
          <p:txBody>
            <a:bodyPr wrap="square" rtlCol="0">
              <a:spAutoFit/>
            </a:bodyPr>
            <a:lstStyle/>
            <a:p>
              <a:r>
                <a:rPr kumimoji="1" lang="en-US" altLang="zh-CN" sz="2400" b="0" i="0" dirty="0">
                  <a:solidFill>
                    <a:srgbClr val="000000"/>
                  </a:solidFill>
                </a:rPr>
                <a:t>1</a:t>
              </a:r>
              <a:endParaRPr kumimoji="1" lang="zh-CN" altLang="en-US" b="0" i="0" dirty="0">
                <a:solidFill>
                  <a:srgbClr val="000000"/>
                </a:solidFill>
              </a:endParaRPr>
            </a:p>
          </p:txBody>
        </p:sp>
        <p:sp>
          <p:nvSpPr>
            <p:cNvPr id="57" name="文本框 56"/>
            <p:cNvSpPr txBox="1"/>
            <p:nvPr/>
          </p:nvSpPr>
          <p:spPr>
            <a:xfrm flipH="1">
              <a:off x="5928914" y="3123979"/>
              <a:ext cx="143906" cy="461665"/>
            </a:xfrm>
            <a:prstGeom prst="rect">
              <a:avLst/>
            </a:prstGeom>
            <a:noFill/>
          </p:spPr>
          <p:txBody>
            <a:bodyPr wrap="square" rtlCol="0">
              <a:spAutoFit/>
            </a:bodyPr>
            <a:lstStyle/>
            <a:p>
              <a:r>
                <a:rPr kumimoji="1" lang="en-US" altLang="zh-CN" sz="2400" b="0" i="0" dirty="0">
                  <a:solidFill>
                    <a:srgbClr val="000000"/>
                  </a:solidFill>
                </a:rPr>
                <a:t>0</a:t>
              </a:r>
              <a:endParaRPr kumimoji="1" lang="zh-CN" altLang="en-US" b="0" i="0" dirty="0">
                <a:solidFill>
                  <a:srgbClr val="000000"/>
                </a:solidFill>
              </a:endParaRPr>
            </a:p>
          </p:txBody>
        </p:sp>
        <p:sp>
          <p:nvSpPr>
            <p:cNvPr id="58" name="弧 57"/>
            <p:cNvSpPr/>
            <p:nvPr/>
          </p:nvSpPr>
          <p:spPr bwMode="auto">
            <a:xfrm>
              <a:off x="2575545" y="3849696"/>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59" name="文本框 58"/>
            <p:cNvSpPr txBox="1"/>
            <p:nvPr/>
          </p:nvSpPr>
          <p:spPr>
            <a:xfrm flipH="1">
              <a:off x="2699729" y="4263479"/>
              <a:ext cx="143906" cy="461665"/>
            </a:xfrm>
            <a:prstGeom prst="rect">
              <a:avLst/>
            </a:prstGeom>
            <a:noFill/>
          </p:spPr>
          <p:txBody>
            <a:bodyPr wrap="square" rtlCol="0">
              <a:spAutoFit/>
            </a:bodyPr>
            <a:lstStyle/>
            <a:p>
              <a:r>
                <a:rPr kumimoji="1" lang="en-US" altLang="zh-CN" sz="2400" b="0" i="0" dirty="0">
                  <a:solidFill>
                    <a:srgbClr val="000000"/>
                  </a:solidFill>
                </a:rPr>
                <a:t>1</a:t>
              </a:r>
              <a:endParaRPr kumimoji="1" lang="zh-CN" altLang="en-US" b="0" i="0" dirty="0">
                <a:solidFill>
                  <a:srgbClr val="000000"/>
                </a:solidFill>
              </a:endParaRPr>
            </a:p>
          </p:txBody>
        </p:sp>
        <p:sp>
          <p:nvSpPr>
            <p:cNvPr id="60" name="弧 59"/>
            <p:cNvSpPr/>
            <p:nvPr/>
          </p:nvSpPr>
          <p:spPr bwMode="auto">
            <a:xfrm>
              <a:off x="3863763" y="3849696"/>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61" name="文本框 60"/>
            <p:cNvSpPr txBox="1"/>
            <p:nvPr/>
          </p:nvSpPr>
          <p:spPr>
            <a:xfrm flipH="1">
              <a:off x="3987947" y="4263479"/>
              <a:ext cx="143906" cy="461665"/>
            </a:xfrm>
            <a:prstGeom prst="rect">
              <a:avLst/>
            </a:prstGeom>
            <a:noFill/>
          </p:spPr>
          <p:txBody>
            <a:bodyPr wrap="square" rtlCol="0">
              <a:spAutoFit/>
            </a:bodyPr>
            <a:lstStyle/>
            <a:p>
              <a:r>
                <a:rPr lang="en-US" altLang="zh-CN" sz="2400" b="0" i="0" dirty="0">
                  <a:solidFill>
                    <a:srgbClr val="000000"/>
                  </a:solidFill>
                </a:rPr>
                <a:t>0</a:t>
              </a:r>
              <a:endParaRPr kumimoji="1" lang="zh-CN" altLang="en-US" b="0" i="0" dirty="0">
                <a:solidFill>
                  <a:srgbClr val="000000"/>
                </a:solidFill>
              </a:endParaRPr>
            </a:p>
          </p:txBody>
        </p:sp>
        <p:sp>
          <p:nvSpPr>
            <p:cNvPr id="62" name="弧 61"/>
            <p:cNvSpPr/>
            <p:nvPr/>
          </p:nvSpPr>
          <p:spPr bwMode="auto">
            <a:xfrm rot="21302931" flipH="1">
              <a:off x="2714588" y="2859892"/>
              <a:ext cx="2652353" cy="1219434"/>
            </a:xfrm>
            <a:prstGeom prst="arc">
              <a:avLst>
                <a:gd name="adj1" fmla="val 10923734"/>
                <a:gd name="adj2" fmla="val 20917571"/>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63" name="文本框 62"/>
            <p:cNvSpPr txBox="1"/>
            <p:nvPr/>
          </p:nvSpPr>
          <p:spPr>
            <a:xfrm flipH="1">
              <a:off x="4145393" y="2433888"/>
              <a:ext cx="143906" cy="461665"/>
            </a:xfrm>
            <a:prstGeom prst="rect">
              <a:avLst/>
            </a:prstGeom>
            <a:noFill/>
          </p:spPr>
          <p:txBody>
            <a:bodyPr wrap="square" rtlCol="0">
              <a:spAutoFit/>
            </a:bodyPr>
            <a:lstStyle/>
            <a:p>
              <a:r>
                <a:rPr kumimoji="1" lang="en-US" altLang="zh-CN" sz="2400" b="0" i="0" dirty="0">
                  <a:solidFill>
                    <a:srgbClr val="000000"/>
                  </a:solidFill>
                </a:rPr>
                <a:t>1</a:t>
              </a:r>
              <a:endParaRPr kumimoji="1" lang="zh-CN" altLang="en-US" b="0" i="0" dirty="0">
                <a:solidFill>
                  <a:srgbClr val="000000"/>
                </a:solidFill>
              </a:endParaRPr>
            </a:p>
          </p:txBody>
        </p:sp>
        <p:sp>
          <p:nvSpPr>
            <p:cNvPr id="64" name="弧 63"/>
            <p:cNvSpPr/>
            <p:nvPr/>
          </p:nvSpPr>
          <p:spPr bwMode="auto">
            <a:xfrm>
              <a:off x="6461441" y="3861621"/>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65" name="文本框 64"/>
            <p:cNvSpPr txBox="1"/>
            <p:nvPr/>
          </p:nvSpPr>
          <p:spPr>
            <a:xfrm flipH="1">
              <a:off x="6323654" y="4259639"/>
              <a:ext cx="667847" cy="461665"/>
            </a:xfrm>
            <a:prstGeom prst="rect">
              <a:avLst/>
            </a:prstGeom>
            <a:noFill/>
          </p:spPr>
          <p:txBody>
            <a:bodyPr wrap="square" rtlCol="0">
              <a:spAutoFit/>
            </a:bodyPr>
            <a:lstStyle/>
            <a:p>
              <a:r>
                <a:rPr lang="en-US" altLang="zh-CN" sz="2400" b="0" i="0" dirty="0">
                  <a:solidFill>
                    <a:srgbClr val="000000"/>
                  </a:solidFill>
                </a:rPr>
                <a:t>0, 1</a:t>
              </a:r>
              <a:endParaRPr kumimoji="1" lang="zh-CN" altLang="en-US" b="0" i="0" dirty="0">
                <a:solidFill>
                  <a:srgbClr val="000000"/>
                </a:solidFill>
              </a:endParaRPr>
            </a:p>
          </p:txBody>
        </p:sp>
        <p:cxnSp>
          <p:nvCxnSpPr>
            <p:cNvPr id="66" name="直线箭头连接符 65"/>
            <p:cNvCxnSpPr/>
            <p:nvPr/>
          </p:nvCxnSpPr>
          <p:spPr bwMode="auto">
            <a:xfrm flipV="1">
              <a:off x="1691680" y="3605987"/>
              <a:ext cx="791296" cy="1"/>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pic>
          <p:nvPicPr>
            <p:cNvPr id="54" name="图片 53"/>
            <p:cNvPicPr>
              <a:picLocks noChangeAspect="1"/>
            </p:cNvPicPr>
            <p:nvPr/>
          </p:nvPicPr>
          <p:blipFill>
            <a:blip r:embed="rId2"/>
            <a:stretch>
              <a:fillRect/>
            </a:stretch>
          </p:blipFill>
          <p:spPr>
            <a:xfrm>
              <a:off x="1998476" y="3508911"/>
              <a:ext cx="1511300" cy="203200"/>
            </a:xfrm>
            <a:prstGeom prst="rect">
              <a:avLst/>
            </a:prstGeom>
          </p:spPr>
        </p:pic>
        <p:pic>
          <p:nvPicPr>
            <p:cNvPr id="67" name="图片 66"/>
            <p:cNvPicPr>
              <a:picLocks noChangeAspect="1"/>
            </p:cNvPicPr>
            <p:nvPr/>
          </p:nvPicPr>
          <p:blipFill>
            <a:blip r:embed="rId3"/>
            <a:stretch>
              <a:fillRect/>
            </a:stretch>
          </p:blipFill>
          <p:spPr>
            <a:xfrm>
              <a:off x="3305389" y="3492168"/>
              <a:ext cx="1498600" cy="203200"/>
            </a:xfrm>
            <a:prstGeom prst="rect">
              <a:avLst/>
            </a:prstGeom>
          </p:spPr>
        </p:pic>
        <p:pic>
          <p:nvPicPr>
            <p:cNvPr id="68" name="图片 67"/>
            <p:cNvPicPr>
              <a:picLocks noChangeAspect="1"/>
            </p:cNvPicPr>
            <p:nvPr/>
          </p:nvPicPr>
          <p:blipFill>
            <a:blip r:embed="rId4"/>
            <a:stretch>
              <a:fillRect/>
            </a:stretch>
          </p:blipFill>
          <p:spPr>
            <a:xfrm>
              <a:off x="4608513" y="3492168"/>
              <a:ext cx="1511300" cy="203200"/>
            </a:xfrm>
            <a:prstGeom prst="rect">
              <a:avLst/>
            </a:prstGeom>
          </p:spPr>
        </p:pic>
        <p:pic>
          <p:nvPicPr>
            <p:cNvPr id="69" name="图片 68"/>
            <p:cNvPicPr>
              <a:picLocks noChangeAspect="1"/>
            </p:cNvPicPr>
            <p:nvPr/>
          </p:nvPicPr>
          <p:blipFill>
            <a:blip r:embed="rId5"/>
            <a:stretch>
              <a:fillRect/>
            </a:stretch>
          </p:blipFill>
          <p:spPr>
            <a:xfrm>
              <a:off x="5884188" y="3503148"/>
              <a:ext cx="1511300" cy="203200"/>
            </a:xfrm>
            <a:prstGeom prst="rect">
              <a:avLst/>
            </a:prstGeom>
          </p:spPr>
        </p:pic>
        <p:sp>
          <p:nvSpPr>
            <p:cNvPr id="40" name="椭圆 39"/>
            <p:cNvSpPr/>
            <p:nvPr/>
          </p:nvSpPr>
          <p:spPr bwMode="auto">
            <a:xfrm>
              <a:off x="3884072" y="3424078"/>
              <a:ext cx="351656" cy="360198"/>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47" name="椭圆 46"/>
            <p:cNvSpPr/>
            <p:nvPr/>
          </p:nvSpPr>
          <p:spPr bwMode="auto">
            <a:xfrm>
              <a:off x="2578298" y="3424078"/>
              <a:ext cx="351656" cy="360198"/>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grpSp>
      <p:pic>
        <p:nvPicPr>
          <p:cNvPr id="2" name="图片 1"/>
          <p:cNvPicPr>
            <a:picLocks noChangeAspect="1"/>
          </p:cNvPicPr>
          <p:nvPr/>
        </p:nvPicPr>
        <p:blipFill>
          <a:blip r:embed="rId6"/>
          <a:stretch>
            <a:fillRect/>
          </a:stretch>
        </p:blipFill>
        <p:spPr>
          <a:xfrm>
            <a:off x="1257300" y="1866443"/>
            <a:ext cx="6629400" cy="355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53</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5" name="文本框 14"/>
          <p:cNvSpPr txBox="1"/>
          <p:nvPr/>
        </p:nvSpPr>
        <p:spPr>
          <a:xfrm>
            <a:off x="514340" y="1237026"/>
            <a:ext cx="8234124" cy="830997"/>
          </a:xfrm>
          <a:prstGeom prst="rect">
            <a:avLst/>
          </a:prstGeom>
          <a:noFill/>
        </p:spPr>
        <p:txBody>
          <a:bodyPr wrap="square" rtlCol="0">
            <a:spAutoFit/>
          </a:bodyPr>
          <a:lstStyle/>
          <a:p>
            <a:r>
              <a:rPr kumimoji="1" lang="zh-CN" altLang="en-US" sz="2400" b="0" i="0" dirty="0">
                <a:solidFill>
                  <a:srgbClr val="000000"/>
                </a:solidFill>
              </a:rPr>
              <a:t>例</a:t>
            </a:r>
            <a:r>
              <a:rPr lang="en-US" altLang="zh-CN" sz="2400" b="0" i="0" dirty="0">
                <a:solidFill>
                  <a:srgbClr val="000000"/>
                </a:solidFill>
              </a:rPr>
              <a:t>4</a:t>
            </a:r>
            <a:r>
              <a:rPr kumimoji="1" lang="zh-CN" altLang="en-US" sz="2400" b="0" i="0" dirty="0">
                <a:solidFill>
                  <a:srgbClr val="000000"/>
                </a:solidFill>
              </a:rPr>
              <a:t>：设计</a:t>
            </a:r>
            <a:r>
              <a:rPr kumimoji="1" lang="en-US" altLang="zh-CN" sz="2400" b="0" i="0" dirty="0">
                <a:solidFill>
                  <a:srgbClr val="000000"/>
                </a:solidFill>
              </a:rPr>
              <a:t>DFA</a:t>
            </a:r>
            <a:r>
              <a:rPr lang="zh-CN" altLang="en-US" sz="2400" b="0" i="0" dirty="0">
                <a:solidFill>
                  <a:srgbClr val="000000"/>
                </a:solidFill>
              </a:rPr>
              <a:t>表示所有长度至少为</a:t>
            </a:r>
            <a:r>
              <a:rPr lang="en-US" altLang="zh-CN" sz="2400" b="0" i="0" dirty="0">
                <a:solidFill>
                  <a:srgbClr val="000000"/>
                </a:solidFill>
              </a:rPr>
              <a:t>2</a:t>
            </a:r>
            <a:r>
              <a:rPr lang="zh-CN" altLang="en-US" sz="2400" b="0" i="0" dirty="0">
                <a:solidFill>
                  <a:srgbClr val="000000"/>
                </a:solidFill>
              </a:rPr>
              <a:t>且头两个字符不同的</a:t>
            </a:r>
            <a:r>
              <a:rPr lang="en-US" altLang="zh-CN" sz="2400" b="0" i="0" dirty="0">
                <a:solidFill>
                  <a:srgbClr val="000000"/>
                </a:solidFill>
              </a:rPr>
              <a:t>0</a:t>
            </a:r>
            <a:r>
              <a:rPr kumimoji="1" lang="zh-CN" altLang="en-US" sz="2400" b="0" i="0" dirty="0">
                <a:solidFill>
                  <a:srgbClr val="000000"/>
                </a:solidFill>
              </a:rPr>
              <a:t>和</a:t>
            </a:r>
            <a:r>
              <a:rPr kumimoji="1" lang="en-US" altLang="zh-CN" sz="2400" b="0" i="0" dirty="0">
                <a:solidFill>
                  <a:srgbClr val="000000"/>
                </a:solidFill>
              </a:rPr>
              <a:t>1</a:t>
            </a:r>
            <a:r>
              <a:rPr kumimoji="1" lang="zh-CN" altLang="en-US" sz="2400" b="0" i="0" dirty="0">
                <a:solidFill>
                  <a:srgbClr val="000000"/>
                </a:solidFill>
              </a:rPr>
              <a:t>组成的串的集合。</a:t>
            </a:r>
          </a:p>
        </p:txBody>
      </p:sp>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3887788" cy="641350"/>
          </a:xfrm>
          <a:prstGeom prst="rect">
            <a:avLst/>
          </a:prstGeom>
          <a:noFill/>
          <a:ln w="9525" algn="ctr">
            <a:noFill/>
            <a:miter lim="800000"/>
          </a:ln>
          <a:effectLst/>
        </p:spPr>
        <p:txBody>
          <a:bodyPr>
            <a:spAutoFit/>
          </a:bodyPr>
          <a:lstStyle/>
          <a:p>
            <a:pPr>
              <a:lnSpc>
                <a:spcPct val="90000"/>
              </a:lnSpc>
            </a:pPr>
            <a:r>
              <a:rPr lang="zh-CN" altLang="en-US" sz="4000" i="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37</a:t>
            </a:r>
            <a:endParaRPr kumimoji="1" lang="zh-CN" altLang="en-US" sz="2000" b="0" i="0" dirty="0">
              <a:solidFill>
                <a:srgbClr val="000066"/>
              </a:solidFill>
            </a:endParaRPr>
          </a:p>
        </p:txBody>
      </p:sp>
      <p:sp>
        <p:nvSpPr>
          <p:cNvPr id="27" name="文本框 26"/>
          <p:cNvSpPr txBox="1"/>
          <p:nvPr/>
        </p:nvSpPr>
        <p:spPr>
          <a:xfrm>
            <a:off x="514340" y="1237026"/>
            <a:ext cx="8234124" cy="461665"/>
          </a:xfrm>
          <a:prstGeom prst="rect">
            <a:avLst/>
          </a:prstGeom>
          <a:noFill/>
        </p:spPr>
        <p:txBody>
          <a:bodyPr wrap="square" rtlCol="0">
            <a:spAutoFit/>
          </a:bodyPr>
          <a:lstStyle/>
          <a:p>
            <a:pPr algn="l"/>
            <a:r>
              <a:rPr kumimoji="1" lang="zh-CN" altLang="en-US" sz="2400" b="0" i="0" dirty="0">
                <a:solidFill>
                  <a:srgbClr val="000000"/>
                </a:solidFill>
              </a:rPr>
              <a:t>例</a:t>
            </a:r>
            <a:r>
              <a:rPr lang="en-US" altLang="zh-CN" sz="2400" b="0" i="0" dirty="0">
                <a:solidFill>
                  <a:srgbClr val="000000"/>
                </a:solidFill>
              </a:rPr>
              <a:t>4</a:t>
            </a:r>
            <a:r>
              <a:rPr kumimoji="1" lang="zh-CN" altLang="en-US" sz="2400" b="0" i="0" dirty="0">
                <a:solidFill>
                  <a:srgbClr val="000000"/>
                </a:solidFill>
              </a:rPr>
              <a:t>：设计</a:t>
            </a:r>
            <a:r>
              <a:rPr kumimoji="1" lang="en-US" altLang="zh-CN" sz="2400" b="0" i="0" dirty="0">
                <a:solidFill>
                  <a:srgbClr val="000000"/>
                </a:solidFill>
              </a:rPr>
              <a:t>DFA</a:t>
            </a:r>
            <a:r>
              <a:rPr lang="zh-CN" altLang="en-US" sz="2400" b="0" i="0" dirty="0">
                <a:solidFill>
                  <a:srgbClr val="000000"/>
                </a:solidFill>
              </a:rPr>
              <a:t>表示所有长度至少为</a:t>
            </a:r>
            <a:r>
              <a:rPr lang="en-US" altLang="zh-CN" sz="2400" b="0" i="0" dirty="0">
                <a:solidFill>
                  <a:srgbClr val="000000"/>
                </a:solidFill>
              </a:rPr>
              <a:t>2</a:t>
            </a:r>
            <a:r>
              <a:rPr lang="zh-CN" altLang="en-US" sz="2400" b="0" i="0" dirty="0">
                <a:solidFill>
                  <a:srgbClr val="000000"/>
                </a:solidFill>
              </a:rPr>
              <a:t>且头两个字符不同的</a:t>
            </a:r>
            <a:r>
              <a:rPr lang="en-US" altLang="zh-CN" sz="2400" b="0" i="0" dirty="0">
                <a:solidFill>
                  <a:srgbClr val="000000"/>
                </a:solidFill>
              </a:rPr>
              <a:t>0</a:t>
            </a:r>
            <a:endParaRPr kumimoji="1" lang="zh-CN" altLang="en-US" sz="2400" b="0" i="0" dirty="0">
              <a:solidFill>
                <a:srgbClr val="000000"/>
              </a:solidFill>
            </a:endParaRPr>
          </a:p>
        </p:txBody>
      </p:sp>
      <p:sp>
        <p:nvSpPr>
          <p:cNvPr id="28" name="文本框 27"/>
          <p:cNvSpPr txBox="1"/>
          <p:nvPr/>
        </p:nvSpPr>
        <p:spPr>
          <a:xfrm>
            <a:off x="514340" y="1714715"/>
            <a:ext cx="8234124" cy="461665"/>
          </a:xfrm>
          <a:prstGeom prst="rect">
            <a:avLst/>
          </a:prstGeom>
          <a:noFill/>
        </p:spPr>
        <p:txBody>
          <a:bodyPr wrap="square" rtlCol="0">
            <a:spAutoFit/>
          </a:bodyPr>
          <a:lstStyle/>
          <a:p>
            <a:pPr algn="l"/>
            <a:r>
              <a:rPr kumimoji="1" lang="zh-CN" altLang="en-US" sz="2400" b="0" i="0" dirty="0">
                <a:solidFill>
                  <a:srgbClr val="000000"/>
                </a:solidFill>
              </a:rPr>
              <a:t>和</a:t>
            </a:r>
            <a:r>
              <a:rPr kumimoji="1" lang="en-US" altLang="zh-CN" sz="2400" b="0" i="0" dirty="0">
                <a:solidFill>
                  <a:srgbClr val="000000"/>
                </a:solidFill>
              </a:rPr>
              <a:t>1</a:t>
            </a:r>
            <a:r>
              <a:rPr kumimoji="1" lang="zh-CN" altLang="en-US" sz="2400" b="0" i="0" dirty="0">
                <a:solidFill>
                  <a:srgbClr val="000000"/>
                </a:solidFill>
              </a:rPr>
              <a:t>组成的串的集合。</a:t>
            </a:r>
          </a:p>
        </p:txBody>
      </p:sp>
      <p:grpSp>
        <p:nvGrpSpPr>
          <p:cNvPr id="73" name="组合 72"/>
          <p:cNvGrpSpPr/>
          <p:nvPr/>
        </p:nvGrpSpPr>
        <p:grpSpPr>
          <a:xfrm>
            <a:off x="1979712" y="2410239"/>
            <a:ext cx="5219557" cy="2675705"/>
            <a:chOff x="1979712" y="2410239"/>
            <a:chExt cx="5219557" cy="2675705"/>
          </a:xfrm>
        </p:grpSpPr>
        <p:grpSp>
          <p:nvGrpSpPr>
            <p:cNvPr id="71" name="组合 70"/>
            <p:cNvGrpSpPr/>
            <p:nvPr/>
          </p:nvGrpSpPr>
          <p:grpSpPr>
            <a:xfrm>
              <a:off x="1979712" y="2410239"/>
              <a:ext cx="4452690" cy="2675705"/>
              <a:chOff x="1979712" y="2410239"/>
              <a:chExt cx="4452690" cy="2675705"/>
            </a:xfrm>
          </p:grpSpPr>
          <p:sp>
            <p:nvSpPr>
              <p:cNvPr id="30" name="椭圆 29"/>
              <p:cNvSpPr/>
              <p:nvPr/>
            </p:nvSpPr>
            <p:spPr bwMode="auto">
              <a:xfrm>
                <a:off x="2688793" y="3415178"/>
                <a:ext cx="598062" cy="576064"/>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31" name="椭圆 30"/>
              <p:cNvSpPr/>
              <p:nvPr/>
            </p:nvSpPr>
            <p:spPr bwMode="auto">
              <a:xfrm>
                <a:off x="4272969" y="2410239"/>
                <a:ext cx="598062" cy="576064"/>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33" name="椭圆 32"/>
              <p:cNvSpPr/>
              <p:nvPr/>
            </p:nvSpPr>
            <p:spPr bwMode="auto">
              <a:xfrm>
                <a:off x="4272969" y="4509880"/>
                <a:ext cx="598062" cy="576064"/>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34" name="椭圆 33"/>
              <p:cNvSpPr/>
              <p:nvPr/>
            </p:nvSpPr>
            <p:spPr bwMode="auto">
              <a:xfrm>
                <a:off x="5834340" y="3415178"/>
                <a:ext cx="598062" cy="576064"/>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38" name="椭圆 37"/>
              <p:cNvSpPr/>
              <p:nvPr/>
            </p:nvSpPr>
            <p:spPr bwMode="auto">
              <a:xfrm>
                <a:off x="5887246" y="3462964"/>
                <a:ext cx="492250" cy="480492"/>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cxnSp>
            <p:nvCxnSpPr>
              <p:cNvPr id="5" name="直线箭头连接符 4"/>
              <p:cNvCxnSpPr>
                <a:endCxn id="30" idx="2"/>
              </p:cNvCxnSpPr>
              <p:nvPr/>
            </p:nvCxnSpPr>
            <p:spPr bwMode="auto">
              <a:xfrm>
                <a:off x="1979712" y="3703210"/>
                <a:ext cx="709081"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1" name="直线箭头连接符 40"/>
              <p:cNvCxnSpPr>
                <a:stCxn id="30" idx="7"/>
                <a:endCxn id="31" idx="2"/>
              </p:cNvCxnSpPr>
              <p:nvPr/>
            </p:nvCxnSpPr>
            <p:spPr bwMode="auto">
              <a:xfrm flipV="1">
                <a:off x="3199271" y="2698271"/>
                <a:ext cx="1073698" cy="80127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3" name="直线箭头连接符 42"/>
              <p:cNvCxnSpPr>
                <a:stCxn id="30" idx="5"/>
                <a:endCxn id="33" idx="2"/>
              </p:cNvCxnSpPr>
              <p:nvPr/>
            </p:nvCxnSpPr>
            <p:spPr bwMode="auto">
              <a:xfrm>
                <a:off x="3199271" y="3906879"/>
                <a:ext cx="1073698" cy="891033"/>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4" name="直线箭头连接符 43"/>
              <p:cNvCxnSpPr>
                <a:stCxn id="31" idx="6"/>
                <a:endCxn id="34" idx="1"/>
              </p:cNvCxnSpPr>
              <p:nvPr/>
            </p:nvCxnSpPr>
            <p:spPr bwMode="auto">
              <a:xfrm>
                <a:off x="4871031" y="2698271"/>
                <a:ext cx="1050893" cy="80127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7" name="直线箭头连接符 46"/>
              <p:cNvCxnSpPr>
                <a:stCxn id="33" idx="6"/>
                <a:endCxn id="34" idx="3"/>
              </p:cNvCxnSpPr>
              <p:nvPr/>
            </p:nvCxnSpPr>
            <p:spPr bwMode="auto">
              <a:xfrm flipV="1">
                <a:off x="4871031" y="3906879"/>
                <a:ext cx="1050893" cy="891033"/>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56" name="文本框 55"/>
              <p:cNvSpPr txBox="1"/>
              <p:nvPr/>
            </p:nvSpPr>
            <p:spPr>
              <a:xfrm>
                <a:off x="3390461" y="2637241"/>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a:t>
                </a:r>
                <a:endParaRPr kumimoji="1" lang="zh-CN" altLang="en-US" sz="2400" b="0" i="0" dirty="0">
                  <a:solidFill>
                    <a:srgbClr val="000000"/>
                  </a:solidFill>
                  <a:cs typeface="Times New Roman" panose="02020603050405020304" pitchFamily="18" charset="0"/>
                </a:endParaRPr>
              </a:p>
            </p:txBody>
          </p:sp>
          <p:sp>
            <p:nvSpPr>
              <p:cNvPr id="57" name="文本框 56"/>
              <p:cNvSpPr txBox="1"/>
              <p:nvPr/>
            </p:nvSpPr>
            <p:spPr>
              <a:xfrm>
                <a:off x="5335094" y="2637241"/>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sp>
            <p:nvSpPr>
              <p:cNvPr id="59" name="文本框 58"/>
              <p:cNvSpPr txBox="1"/>
              <p:nvPr/>
            </p:nvSpPr>
            <p:spPr>
              <a:xfrm>
                <a:off x="3376080" y="4358791"/>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sp>
            <p:nvSpPr>
              <p:cNvPr id="60" name="文本框 59"/>
              <p:cNvSpPr txBox="1"/>
              <p:nvPr/>
            </p:nvSpPr>
            <p:spPr>
              <a:xfrm>
                <a:off x="5335094" y="4358791"/>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a:t>
                </a:r>
                <a:endParaRPr kumimoji="1" lang="zh-CN" altLang="en-US" sz="2400" b="0" i="0" dirty="0">
                  <a:solidFill>
                    <a:srgbClr val="000000"/>
                  </a:solidFill>
                  <a:cs typeface="Times New Roman" panose="02020603050405020304" pitchFamily="18" charset="0"/>
                </a:endParaRPr>
              </a:p>
            </p:txBody>
          </p:sp>
        </p:grpSp>
        <p:grpSp>
          <p:nvGrpSpPr>
            <p:cNvPr id="72" name="组合 71"/>
            <p:cNvGrpSpPr/>
            <p:nvPr/>
          </p:nvGrpSpPr>
          <p:grpSpPr>
            <a:xfrm>
              <a:off x="5938762" y="2868073"/>
              <a:ext cx="1260507" cy="540079"/>
              <a:chOff x="5938762" y="2868073"/>
              <a:chExt cx="1260507" cy="540079"/>
            </a:xfrm>
          </p:grpSpPr>
          <p:sp>
            <p:nvSpPr>
              <p:cNvPr id="51" name="弧 50"/>
              <p:cNvSpPr/>
              <p:nvPr/>
            </p:nvSpPr>
            <p:spPr bwMode="auto">
              <a:xfrm rot="11190199">
                <a:off x="5938762" y="2983351"/>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61" name="文本框 60"/>
              <p:cNvSpPr txBox="1"/>
              <p:nvPr/>
            </p:nvSpPr>
            <p:spPr>
              <a:xfrm>
                <a:off x="6280870" y="2868073"/>
                <a:ext cx="918399"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a:t>
                </a:r>
                <a:r>
                  <a:rPr lang="en-US" altLang="zh-CN" sz="2400" b="0" i="0" dirty="0">
                    <a:solidFill>
                      <a:srgbClr val="000000"/>
                    </a:solidFill>
                    <a:cs typeface="Times New Roman" panose="02020603050405020304" pitchFamily="18" charset="0"/>
                  </a:rPr>
                  <a:t>, </a:t>
                </a:r>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grpSp>
      </p:grpSp>
      <p:grpSp>
        <p:nvGrpSpPr>
          <p:cNvPr id="76" name="组合 75"/>
          <p:cNvGrpSpPr/>
          <p:nvPr/>
        </p:nvGrpSpPr>
        <p:grpSpPr>
          <a:xfrm>
            <a:off x="4689319" y="3085805"/>
            <a:ext cx="918399" cy="848522"/>
            <a:chOff x="4689319" y="3085805"/>
            <a:chExt cx="918399" cy="848522"/>
          </a:xfrm>
        </p:grpSpPr>
        <p:sp>
          <p:nvSpPr>
            <p:cNvPr id="64" name="弧 63"/>
            <p:cNvSpPr/>
            <p:nvPr/>
          </p:nvSpPr>
          <p:spPr bwMode="auto">
            <a:xfrm rot="16974903">
              <a:off x="4862180" y="3525789"/>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65" name="文本框 64"/>
            <p:cNvSpPr txBox="1"/>
            <p:nvPr/>
          </p:nvSpPr>
          <p:spPr>
            <a:xfrm>
              <a:off x="4689319" y="3085805"/>
              <a:ext cx="918399"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a:t>
              </a:r>
              <a:r>
                <a:rPr lang="en-US" altLang="zh-CN" sz="2400" b="0" i="0" dirty="0">
                  <a:solidFill>
                    <a:srgbClr val="000000"/>
                  </a:solidFill>
                  <a:cs typeface="Times New Roman" panose="02020603050405020304" pitchFamily="18" charset="0"/>
                </a:rPr>
                <a:t>, </a:t>
              </a:r>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grpSp>
      <p:grpSp>
        <p:nvGrpSpPr>
          <p:cNvPr id="74" name="组合 73"/>
          <p:cNvGrpSpPr/>
          <p:nvPr/>
        </p:nvGrpSpPr>
        <p:grpSpPr>
          <a:xfrm>
            <a:off x="4154192" y="2959140"/>
            <a:ext cx="716839" cy="1032102"/>
            <a:chOff x="4154192" y="2959140"/>
            <a:chExt cx="716839" cy="1032102"/>
          </a:xfrm>
        </p:grpSpPr>
        <p:sp>
          <p:nvSpPr>
            <p:cNvPr id="36" name="椭圆 35"/>
            <p:cNvSpPr/>
            <p:nvPr/>
          </p:nvSpPr>
          <p:spPr bwMode="auto">
            <a:xfrm>
              <a:off x="4272969" y="3415178"/>
              <a:ext cx="598062" cy="576064"/>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cxnSp>
          <p:nvCxnSpPr>
            <p:cNvPr id="62" name="直线箭头连接符 61"/>
            <p:cNvCxnSpPr>
              <a:stCxn id="31" idx="4"/>
              <a:endCxn id="36" idx="0"/>
            </p:cNvCxnSpPr>
            <p:nvPr/>
          </p:nvCxnSpPr>
          <p:spPr bwMode="auto">
            <a:xfrm>
              <a:off x="4572000" y="2986303"/>
              <a:ext cx="0" cy="428875"/>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66" name="文本框 65"/>
            <p:cNvSpPr txBox="1"/>
            <p:nvPr/>
          </p:nvSpPr>
          <p:spPr>
            <a:xfrm>
              <a:off x="4154192" y="2959140"/>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a:t>
              </a:r>
              <a:endParaRPr kumimoji="1" lang="zh-CN" altLang="en-US" sz="2400" b="0" i="0" dirty="0">
                <a:solidFill>
                  <a:srgbClr val="000000"/>
                </a:solidFill>
                <a:cs typeface="Times New Roman" panose="02020603050405020304" pitchFamily="18" charset="0"/>
              </a:endParaRPr>
            </a:p>
          </p:txBody>
        </p:sp>
      </p:grpSp>
      <p:grpSp>
        <p:nvGrpSpPr>
          <p:cNvPr id="75" name="组合 74"/>
          <p:cNvGrpSpPr/>
          <p:nvPr/>
        </p:nvGrpSpPr>
        <p:grpSpPr>
          <a:xfrm>
            <a:off x="4154296" y="3991242"/>
            <a:ext cx="417704" cy="518865"/>
            <a:chOff x="4154296" y="3991242"/>
            <a:chExt cx="417704" cy="518865"/>
          </a:xfrm>
        </p:grpSpPr>
        <p:cxnSp>
          <p:nvCxnSpPr>
            <p:cNvPr id="63" name="直线箭头连接符 62"/>
            <p:cNvCxnSpPr>
              <a:stCxn id="33" idx="0"/>
              <a:endCxn id="36" idx="4"/>
            </p:cNvCxnSpPr>
            <p:nvPr/>
          </p:nvCxnSpPr>
          <p:spPr bwMode="auto">
            <a:xfrm flipV="1">
              <a:off x="4572000" y="3991242"/>
              <a:ext cx="0" cy="518638"/>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67" name="文本框 66"/>
            <p:cNvSpPr txBox="1"/>
            <p:nvPr/>
          </p:nvSpPr>
          <p:spPr>
            <a:xfrm>
              <a:off x="4154296" y="4048442"/>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grpSp>
      <p:grpSp>
        <p:nvGrpSpPr>
          <p:cNvPr id="50" name="组合 49"/>
          <p:cNvGrpSpPr/>
          <p:nvPr/>
        </p:nvGrpSpPr>
        <p:grpSpPr>
          <a:xfrm>
            <a:off x="514340" y="5316549"/>
            <a:ext cx="8239600" cy="1441163"/>
            <a:chOff x="514340" y="5316549"/>
            <a:chExt cx="8239600" cy="1441163"/>
          </a:xfrm>
        </p:grpSpPr>
        <p:sp>
          <p:nvSpPr>
            <p:cNvPr id="68" name="文本框 67"/>
            <p:cNvSpPr txBox="1"/>
            <p:nvPr/>
          </p:nvSpPr>
          <p:spPr>
            <a:xfrm>
              <a:off x="514340" y="5316549"/>
              <a:ext cx="8234124" cy="461665"/>
            </a:xfrm>
            <a:prstGeom prst="rect">
              <a:avLst/>
            </a:prstGeom>
            <a:noFill/>
          </p:spPr>
          <p:txBody>
            <a:bodyPr wrap="square" rtlCol="0">
              <a:spAutoFit/>
            </a:bodyPr>
            <a:lstStyle/>
            <a:p>
              <a:pPr algn="l"/>
              <a:r>
                <a:rPr lang="zh-CN" altLang="en-US" sz="2400" b="0" i="0" dirty="0">
                  <a:solidFill>
                    <a:srgbClr val="000000"/>
                  </a:solidFill>
                </a:rPr>
                <a:t>解：思路和前面一样，首先完成主线的构建，然后再对每个</a:t>
              </a:r>
              <a:endParaRPr kumimoji="1" lang="zh-CN" altLang="en-US" sz="2400" b="0" i="0" dirty="0">
                <a:solidFill>
                  <a:srgbClr val="000000"/>
                </a:solidFill>
              </a:endParaRPr>
            </a:p>
          </p:txBody>
        </p:sp>
        <p:sp>
          <p:nvSpPr>
            <p:cNvPr id="69" name="文本框 68"/>
            <p:cNvSpPr txBox="1"/>
            <p:nvPr/>
          </p:nvSpPr>
          <p:spPr>
            <a:xfrm>
              <a:off x="519816" y="5835186"/>
              <a:ext cx="8234124" cy="461665"/>
            </a:xfrm>
            <a:prstGeom prst="rect">
              <a:avLst/>
            </a:prstGeom>
            <a:noFill/>
          </p:spPr>
          <p:txBody>
            <a:bodyPr wrap="square" rtlCol="0">
              <a:spAutoFit/>
            </a:bodyPr>
            <a:lstStyle/>
            <a:p>
              <a:pPr algn="l"/>
              <a:r>
                <a:rPr lang="zh-CN" altLang="en-US" sz="2400" b="0" i="0" dirty="0">
                  <a:solidFill>
                    <a:srgbClr val="000000"/>
                  </a:solidFill>
                </a:rPr>
                <a:t>节点补出边。这里专门引入了一个节点充当“垃圾箱”，收</a:t>
              </a:r>
              <a:endParaRPr kumimoji="1" lang="zh-CN" altLang="en-US" sz="2400" b="0" i="0" dirty="0">
                <a:solidFill>
                  <a:srgbClr val="000000"/>
                </a:solidFill>
              </a:endParaRPr>
            </a:p>
          </p:txBody>
        </p:sp>
        <p:sp>
          <p:nvSpPr>
            <p:cNvPr id="70" name="文本框 69"/>
            <p:cNvSpPr txBox="1"/>
            <p:nvPr/>
          </p:nvSpPr>
          <p:spPr>
            <a:xfrm>
              <a:off x="514340" y="6296047"/>
              <a:ext cx="8234124" cy="461665"/>
            </a:xfrm>
            <a:prstGeom prst="rect">
              <a:avLst/>
            </a:prstGeom>
            <a:noFill/>
          </p:spPr>
          <p:txBody>
            <a:bodyPr wrap="square" rtlCol="0">
              <a:spAutoFit/>
            </a:bodyPr>
            <a:lstStyle/>
            <a:p>
              <a:pPr algn="l"/>
              <a:r>
                <a:rPr lang="zh-CN" altLang="en-US" sz="2400" b="0" i="0" dirty="0">
                  <a:solidFill>
                    <a:srgbClr val="000000"/>
                  </a:solidFill>
                </a:rPr>
                <a:t>无效的字符串，这是因为</a:t>
              </a:r>
              <a:r>
                <a:rPr lang="en-US" altLang="zh-CN" sz="2400" b="0" i="0" dirty="0">
                  <a:solidFill>
                    <a:srgbClr val="000000"/>
                  </a:solidFill>
                </a:rPr>
                <a:t>DFA</a:t>
              </a:r>
              <a:r>
                <a:rPr lang="zh-CN" altLang="en-US" sz="2400" b="0" i="0" dirty="0">
                  <a:solidFill>
                    <a:srgbClr val="000000"/>
                  </a:solidFill>
                </a:rPr>
                <a:t>要求每个节点必须有出边。</a:t>
              </a:r>
              <a:endParaRPr kumimoji="1" lang="zh-CN" altLang="en-US" sz="2400" b="0" i="0" dirty="0">
                <a:solidFill>
                  <a:srgbClr val="00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55</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6" name="文本框 15"/>
          <p:cNvSpPr txBox="1"/>
          <p:nvPr/>
        </p:nvSpPr>
        <p:spPr>
          <a:xfrm>
            <a:off x="514340" y="1237026"/>
            <a:ext cx="8234124" cy="461665"/>
          </a:xfrm>
          <a:prstGeom prst="rect">
            <a:avLst/>
          </a:prstGeom>
          <a:noFill/>
        </p:spPr>
        <p:txBody>
          <a:bodyPr wrap="square" rtlCol="0">
            <a:spAutoFit/>
          </a:bodyPr>
          <a:lstStyle/>
          <a:p>
            <a:pPr algn="l"/>
            <a:r>
              <a:rPr kumimoji="1" lang="zh-CN" altLang="en-US" sz="2400" b="0" i="0" dirty="0">
                <a:solidFill>
                  <a:srgbClr val="000000"/>
                </a:solidFill>
              </a:rPr>
              <a:t>例</a:t>
            </a:r>
            <a:r>
              <a:rPr lang="en-US" altLang="zh-CN" sz="2400" b="0" i="0" dirty="0">
                <a:solidFill>
                  <a:srgbClr val="000000"/>
                </a:solidFill>
              </a:rPr>
              <a:t>5</a:t>
            </a:r>
            <a:r>
              <a:rPr kumimoji="1" lang="zh-CN" altLang="en-US" sz="2400" b="0" i="0" dirty="0">
                <a:solidFill>
                  <a:srgbClr val="000000"/>
                </a:solidFill>
              </a:rPr>
              <a:t>：设计</a:t>
            </a:r>
            <a:r>
              <a:rPr kumimoji="1" lang="en-US" altLang="zh-CN" sz="2400" b="0" i="0" dirty="0">
                <a:solidFill>
                  <a:srgbClr val="000000"/>
                </a:solidFill>
              </a:rPr>
              <a:t>DFA</a:t>
            </a:r>
            <a:r>
              <a:rPr lang="zh-CN" altLang="en-US" sz="2400" b="0" i="0" dirty="0">
                <a:solidFill>
                  <a:srgbClr val="000000"/>
                </a:solidFill>
              </a:rPr>
              <a:t>表示以下语言</a:t>
            </a:r>
            <a:endParaRPr kumimoji="1" lang="zh-CN" altLang="en-US" sz="2400" b="0" i="0" dirty="0">
              <a:solidFill>
                <a:srgbClr val="000000"/>
              </a:solidFill>
            </a:endParaRPr>
          </a:p>
        </p:txBody>
      </p:sp>
      <p:pic>
        <p:nvPicPr>
          <p:cNvPr id="17" name="图片 16"/>
          <p:cNvPicPr>
            <a:picLocks noChangeAspect="1"/>
          </p:cNvPicPr>
          <p:nvPr/>
        </p:nvPicPr>
        <p:blipFill>
          <a:blip r:embed="rId11"/>
          <a:stretch>
            <a:fillRect/>
          </a:stretch>
        </p:blipFill>
        <p:spPr>
          <a:xfrm>
            <a:off x="514340" y="1776161"/>
            <a:ext cx="8305800" cy="355600"/>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3887788" cy="641350"/>
          </a:xfrm>
          <a:prstGeom prst="rect">
            <a:avLst/>
          </a:prstGeom>
          <a:noFill/>
          <a:ln w="9525" algn="ctr">
            <a:noFill/>
            <a:miter lim="800000"/>
          </a:ln>
          <a:effectLst/>
        </p:spPr>
        <p:txBody>
          <a:bodyPr>
            <a:spAutoFit/>
          </a:bodyPr>
          <a:lstStyle/>
          <a:p>
            <a:pPr>
              <a:lnSpc>
                <a:spcPct val="90000"/>
              </a:lnSpc>
            </a:pPr>
            <a:r>
              <a:rPr lang="zh-CN" altLang="en-US" sz="4000" i="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38</a:t>
            </a:r>
            <a:endParaRPr kumimoji="1" lang="zh-CN" altLang="en-US" sz="2000" b="0" i="0" dirty="0">
              <a:solidFill>
                <a:srgbClr val="000066"/>
              </a:solidFill>
            </a:endParaRPr>
          </a:p>
        </p:txBody>
      </p:sp>
      <p:sp>
        <p:nvSpPr>
          <p:cNvPr id="27" name="文本框 26"/>
          <p:cNvSpPr txBox="1"/>
          <p:nvPr/>
        </p:nvSpPr>
        <p:spPr>
          <a:xfrm>
            <a:off x="514340" y="1237026"/>
            <a:ext cx="8234124" cy="461665"/>
          </a:xfrm>
          <a:prstGeom prst="rect">
            <a:avLst/>
          </a:prstGeom>
          <a:noFill/>
        </p:spPr>
        <p:txBody>
          <a:bodyPr wrap="square" rtlCol="0">
            <a:spAutoFit/>
          </a:bodyPr>
          <a:lstStyle/>
          <a:p>
            <a:pPr algn="l"/>
            <a:r>
              <a:rPr kumimoji="1" lang="zh-CN" altLang="en-US" sz="2400" b="0" i="0" dirty="0">
                <a:solidFill>
                  <a:srgbClr val="000000"/>
                </a:solidFill>
              </a:rPr>
              <a:t>例</a:t>
            </a:r>
            <a:r>
              <a:rPr lang="en-US" altLang="zh-CN" sz="2400" b="0" i="0" dirty="0">
                <a:solidFill>
                  <a:srgbClr val="000000"/>
                </a:solidFill>
              </a:rPr>
              <a:t>5</a:t>
            </a:r>
            <a:r>
              <a:rPr kumimoji="1" lang="zh-CN" altLang="en-US" sz="2400" b="0" i="0" dirty="0">
                <a:solidFill>
                  <a:srgbClr val="000000"/>
                </a:solidFill>
              </a:rPr>
              <a:t>：设计</a:t>
            </a:r>
            <a:r>
              <a:rPr kumimoji="1" lang="en-US" altLang="zh-CN" sz="2400" b="0" i="0" dirty="0">
                <a:solidFill>
                  <a:srgbClr val="000000"/>
                </a:solidFill>
              </a:rPr>
              <a:t>DFA</a:t>
            </a:r>
            <a:r>
              <a:rPr lang="zh-CN" altLang="en-US" sz="2400" b="0" i="0" dirty="0">
                <a:solidFill>
                  <a:srgbClr val="000000"/>
                </a:solidFill>
              </a:rPr>
              <a:t>表示以下语言</a:t>
            </a:r>
            <a:endParaRPr kumimoji="1" lang="zh-CN" altLang="en-US" sz="2400" b="0" i="0" dirty="0">
              <a:solidFill>
                <a:srgbClr val="000000"/>
              </a:solidFill>
            </a:endParaRPr>
          </a:p>
        </p:txBody>
      </p:sp>
      <p:pic>
        <p:nvPicPr>
          <p:cNvPr id="2" name="图片 1"/>
          <p:cNvPicPr>
            <a:picLocks noChangeAspect="1"/>
          </p:cNvPicPr>
          <p:nvPr/>
        </p:nvPicPr>
        <p:blipFill>
          <a:blip r:embed="rId2"/>
          <a:stretch>
            <a:fillRect/>
          </a:stretch>
        </p:blipFill>
        <p:spPr>
          <a:xfrm>
            <a:off x="514340" y="1776161"/>
            <a:ext cx="8305800" cy="355600"/>
          </a:xfrm>
          <a:prstGeom prst="rect">
            <a:avLst/>
          </a:prstGeom>
        </p:spPr>
      </p:pic>
      <p:grpSp>
        <p:nvGrpSpPr>
          <p:cNvPr id="12" name="组合 11"/>
          <p:cNvGrpSpPr/>
          <p:nvPr/>
        </p:nvGrpSpPr>
        <p:grpSpPr>
          <a:xfrm>
            <a:off x="1979712" y="3079084"/>
            <a:ext cx="3446411" cy="734908"/>
            <a:chOff x="1979712" y="3079084"/>
            <a:chExt cx="3446411" cy="734908"/>
          </a:xfrm>
        </p:grpSpPr>
        <p:sp>
          <p:nvSpPr>
            <p:cNvPr id="3" name="椭圆 2"/>
            <p:cNvSpPr/>
            <p:nvPr/>
          </p:nvSpPr>
          <p:spPr bwMode="auto">
            <a:xfrm>
              <a:off x="2637757" y="3309936"/>
              <a:ext cx="50405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42" name="椭圆 41"/>
            <p:cNvSpPr/>
            <p:nvPr/>
          </p:nvSpPr>
          <p:spPr bwMode="auto">
            <a:xfrm>
              <a:off x="3779912" y="3309936"/>
              <a:ext cx="50405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45" name="椭圆 44"/>
            <p:cNvSpPr/>
            <p:nvPr/>
          </p:nvSpPr>
          <p:spPr bwMode="auto">
            <a:xfrm>
              <a:off x="4922067" y="3309936"/>
              <a:ext cx="50405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cxnSp>
          <p:nvCxnSpPr>
            <p:cNvPr id="6" name="直线箭头连接符 5"/>
            <p:cNvCxnSpPr>
              <a:endCxn id="3" idx="2"/>
            </p:cNvCxnSpPr>
            <p:nvPr/>
          </p:nvCxnSpPr>
          <p:spPr bwMode="auto">
            <a:xfrm>
              <a:off x="1979712" y="3561964"/>
              <a:ext cx="658045"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8" name="直线箭头连接符 47"/>
            <p:cNvCxnSpPr>
              <a:endCxn id="42" idx="2"/>
            </p:cNvCxnSpPr>
            <p:nvPr/>
          </p:nvCxnSpPr>
          <p:spPr bwMode="auto">
            <a:xfrm>
              <a:off x="3141813" y="3561964"/>
              <a:ext cx="638099"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9" name="直线箭头连接符 48"/>
            <p:cNvCxnSpPr>
              <a:stCxn id="42" idx="6"/>
            </p:cNvCxnSpPr>
            <p:nvPr/>
          </p:nvCxnSpPr>
          <p:spPr bwMode="auto">
            <a:xfrm>
              <a:off x="4283968" y="3561964"/>
              <a:ext cx="638099"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7" name="文本框 6"/>
            <p:cNvSpPr txBox="1"/>
            <p:nvPr/>
          </p:nvSpPr>
          <p:spPr>
            <a:xfrm>
              <a:off x="3275856" y="3079084"/>
              <a:ext cx="360437" cy="400110"/>
            </a:xfrm>
            <a:prstGeom prst="rect">
              <a:avLst/>
            </a:prstGeom>
            <a:noFill/>
          </p:spPr>
          <p:txBody>
            <a:bodyPr wrap="square" rtlCol="0">
              <a:spAutoFit/>
            </a:bodyPr>
            <a:lstStyle/>
            <a:p>
              <a:r>
                <a:rPr kumimoji="1" lang="en-US" altLang="zh-CN" b="0" i="0" dirty="0">
                  <a:solidFill>
                    <a:srgbClr val="000000"/>
                  </a:solidFill>
                </a:rPr>
                <a:t>0</a:t>
              </a:r>
              <a:endParaRPr kumimoji="1" lang="zh-CN" altLang="en-US" b="0" i="0" dirty="0">
                <a:solidFill>
                  <a:srgbClr val="000000"/>
                </a:solidFill>
              </a:endParaRPr>
            </a:p>
          </p:txBody>
        </p:sp>
        <p:sp>
          <p:nvSpPr>
            <p:cNvPr id="53" name="文本框 52"/>
            <p:cNvSpPr txBox="1"/>
            <p:nvPr/>
          </p:nvSpPr>
          <p:spPr>
            <a:xfrm>
              <a:off x="4412825" y="3087814"/>
              <a:ext cx="360437" cy="400110"/>
            </a:xfrm>
            <a:prstGeom prst="rect">
              <a:avLst/>
            </a:prstGeom>
            <a:noFill/>
          </p:spPr>
          <p:txBody>
            <a:bodyPr wrap="square" rtlCol="0">
              <a:spAutoFit/>
            </a:bodyPr>
            <a:lstStyle/>
            <a:p>
              <a:r>
                <a:rPr kumimoji="1" lang="en-US" altLang="zh-CN" b="0" i="0" dirty="0">
                  <a:solidFill>
                    <a:srgbClr val="000000"/>
                  </a:solidFill>
                </a:rPr>
                <a:t>1</a:t>
              </a:r>
              <a:endParaRPr kumimoji="1" lang="zh-CN" altLang="en-US" b="0" i="0" dirty="0">
                <a:solidFill>
                  <a:srgbClr val="000000"/>
                </a:solidFill>
              </a:endParaRPr>
            </a:p>
          </p:txBody>
        </p:sp>
      </p:grpSp>
      <p:grpSp>
        <p:nvGrpSpPr>
          <p:cNvPr id="13" name="组合 12"/>
          <p:cNvGrpSpPr/>
          <p:nvPr/>
        </p:nvGrpSpPr>
        <p:grpSpPr>
          <a:xfrm>
            <a:off x="5426123" y="3079084"/>
            <a:ext cx="1142155" cy="734908"/>
            <a:chOff x="5426123" y="3079084"/>
            <a:chExt cx="1142155" cy="734908"/>
          </a:xfrm>
        </p:grpSpPr>
        <p:sp>
          <p:nvSpPr>
            <p:cNvPr id="46" name="椭圆 45"/>
            <p:cNvSpPr/>
            <p:nvPr/>
          </p:nvSpPr>
          <p:spPr bwMode="auto">
            <a:xfrm>
              <a:off x="6064222" y="3309936"/>
              <a:ext cx="50405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cxnSp>
          <p:nvCxnSpPr>
            <p:cNvPr id="52" name="直线箭头连接符 51"/>
            <p:cNvCxnSpPr/>
            <p:nvPr/>
          </p:nvCxnSpPr>
          <p:spPr bwMode="auto">
            <a:xfrm>
              <a:off x="5426123" y="3562397"/>
              <a:ext cx="658045"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54" name="文本框 53"/>
            <p:cNvSpPr txBox="1"/>
            <p:nvPr/>
          </p:nvSpPr>
          <p:spPr>
            <a:xfrm>
              <a:off x="5574928" y="3079084"/>
              <a:ext cx="360437" cy="400110"/>
            </a:xfrm>
            <a:prstGeom prst="rect">
              <a:avLst/>
            </a:prstGeom>
            <a:noFill/>
          </p:spPr>
          <p:txBody>
            <a:bodyPr wrap="square" rtlCol="0">
              <a:spAutoFit/>
            </a:bodyPr>
            <a:lstStyle/>
            <a:p>
              <a:r>
                <a:rPr kumimoji="1" lang="en-US" altLang="zh-CN" b="0" i="0" dirty="0">
                  <a:solidFill>
                    <a:srgbClr val="000000"/>
                  </a:solidFill>
                </a:rPr>
                <a:t>0</a:t>
              </a:r>
              <a:endParaRPr kumimoji="1" lang="zh-CN" altLang="en-US" b="0" i="0" dirty="0">
                <a:solidFill>
                  <a:srgbClr val="000000"/>
                </a:solidFill>
              </a:endParaRPr>
            </a:p>
          </p:txBody>
        </p:sp>
      </p:grpSp>
      <p:grpSp>
        <p:nvGrpSpPr>
          <p:cNvPr id="15" name="组合 14"/>
          <p:cNvGrpSpPr/>
          <p:nvPr/>
        </p:nvGrpSpPr>
        <p:grpSpPr>
          <a:xfrm>
            <a:off x="2885896" y="2276872"/>
            <a:ext cx="3414295" cy="1631069"/>
            <a:chOff x="2885896" y="2276872"/>
            <a:chExt cx="3414295" cy="1631069"/>
          </a:xfrm>
        </p:grpSpPr>
        <p:sp>
          <p:nvSpPr>
            <p:cNvPr id="8" name="弧 7"/>
            <p:cNvSpPr/>
            <p:nvPr/>
          </p:nvSpPr>
          <p:spPr bwMode="auto">
            <a:xfrm>
              <a:off x="2885896" y="2647042"/>
              <a:ext cx="3414295" cy="1260899"/>
            </a:xfrm>
            <a:prstGeom prst="arc">
              <a:avLst>
                <a:gd name="adj1" fmla="val 10775232"/>
                <a:gd name="adj2" fmla="val 0"/>
              </a:avLst>
            </a:prstGeom>
            <a:noFill/>
            <a:ln w="9525" cap="flat" cmpd="sng" algn="ctr">
              <a:solidFill>
                <a:srgbClr val="000000"/>
              </a:solidFill>
              <a:prstDash val="solid"/>
              <a:round/>
              <a:headEnd type="triangle" w="lg" len="lg"/>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55" name="文本框 54"/>
            <p:cNvSpPr txBox="1"/>
            <p:nvPr/>
          </p:nvSpPr>
          <p:spPr>
            <a:xfrm>
              <a:off x="4427587" y="2276872"/>
              <a:ext cx="360437" cy="400110"/>
            </a:xfrm>
            <a:prstGeom prst="rect">
              <a:avLst/>
            </a:prstGeom>
            <a:noFill/>
          </p:spPr>
          <p:txBody>
            <a:bodyPr wrap="square" rtlCol="0">
              <a:spAutoFit/>
            </a:bodyPr>
            <a:lstStyle/>
            <a:p>
              <a:r>
                <a:rPr kumimoji="1" lang="en-US" altLang="zh-CN" b="0" i="0" dirty="0">
                  <a:solidFill>
                    <a:srgbClr val="000000"/>
                  </a:solidFill>
                </a:rPr>
                <a:t>1</a:t>
              </a:r>
              <a:endParaRPr kumimoji="1" lang="zh-CN" altLang="en-US" b="0" i="0" dirty="0">
                <a:solidFill>
                  <a:srgbClr val="000000"/>
                </a:solidFill>
              </a:endParaRPr>
            </a:p>
          </p:txBody>
        </p:sp>
      </p:grpSp>
      <p:grpSp>
        <p:nvGrpSpPr>
          <p:cNvPr id="16" name="组合 15"/>
          <p:cNvGrpSpPr/>
          <p:nvPr/>
        </p:nvGrpSpPr>
        <p:grpSpPr>
          <a:xfrm>
            <a:off x="2713524" y="3791831"/>
            <a:ext cx="392274" cy="822253"/>
            <a:chOff x="2713524" y="3791831"/>
            <a:chExt cx="392274" cy="822253"/>
          </a:xfrm>
        </p:grpSpPr>
        <p:sp>
          <p:nvSpPr>
            <p:cNvPr id="58" name="弧 57"/>
            <p:cNvSpPr/>
            <p:nvPr/>
          </p:nvSpPr>
          <p:spPr bwMode="auto">
            <a:xfrm rot="641817">
              <a:off x="2713524" y="3791831"/>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77" name="文本框 76"/>
            <p:cNvSpPr txBox="1"/>
            <p:nvPr/>
          </p:nvSpPr>
          <p:spPr>
            <a:xfrm>
              <a:off x="2729442" y="4213974"/>
              <a:ext cx="360437" cy="400110"/>
            </a:xfrm>
            <a:prstGeom prst="rect">
              <a:avLst/>
            </a:prstGeom>
            <a:noFill/>
          </p:spPr>
          <p:txBody>
            <a:bodyPr wrap="square" rtlCol="0">
              <a:spAutoFit/>
            </a:bodyPr>
            <a:lstStyle/>
            <a:p>
              <a:r>
                <a:rPr kumimoji="1" lang="en-US" altLang="zh-CN" b="0" i="0" dirty="0">
                  <a:solidFill>
                    <a:srgbClr val="000000"/>
                  </a:solidFill>
                </a:rPr>
                <a:t>1</a:t>
              </a:r>
              <a:endParaRPr kumimoji="1" lang="zh-CN" altLang="en-US" b="0" i="0" dirty="0">
                <a:solidFill>
                  <a:srgbClr val="000000"/>
                </a:solidFill>
              </a:endParaRPr>
            </a:p>
          </p:txBody>
        </p:sp>
      </p:grpSp>
      <p:grpSp>
        <p:nvGrpSpPr>
          <p:cNvPr id="17" name="组合 16"/>
          <p:cNvGrpSpPr/>
          <p:nvPr/>
        </p:nvGrpSpPr>
        <p:grpSpPr>
          <a:xfrm>
            <a:off x="3844391" y="3791831"/>
            <a:ext cx="392274" cy="822253"/>
            <a:chOff x="3844391" y="3791831"/>
            <a:chExt cx="392274" cy="822253"/>
          </a:xfrm>
        </p:grpSpPr>
        <p:sp>
          <p:nvSpPr>
            <p:cNvPr id="78" name="弧 77"/>
            <p:cNvSpPr/>
            <p:nvPr/>
          </p:nvSpPr>
          <p:spPr bwMode="auto">
            <a:xfrm rot="641817">
              <a:off x="3844391" y="3791831"/>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79" name="文本框 78"/>
            <p:cNvSpPr txBox="1"/>
            <p:nvPr/>
          </p:nvSpPr>
          <p:spPr>
            <a:xfrm>
              <a:off x="3851920" y="4213974"/>
              <a:ext cx="360437" cy="400110"/>
            </a:xfrm>
            <a:prstGeom prst="rect">
              <a:avLst/>
            </a:prstGeom>
            <a:noFill/>
          </p:spPr>
          <p:txBody>
            <a:bodyPr wrap="square" rtlCol="0">
              <a:spAutoFit/>
            </a:bodyPr>
            <a:lstStyle/>
            <a:p>
              <a:r>
                <a:rPr kumimoji="1" lang="en-US" altLang="zh-CN" b="0" i="0" dirty="0">
                  <a:solidFill>
                    <a:srgbClr val="000000"/>
                  </a:solidFill>
                </a:rPr>
                <a:t>0</a:t>
              </a:r>
              <a:endParaRPr kumimoji="1" lang="zh-CN" altLang="en-US" b="0" i="0" dirty="0">
                <a:solidFill>
                  <a:srgbClr val="000000"/>
                </a:solidFill>
              </a:endParaRPr>
            </a:p>
          </p:txBody>
        </p:sp>
      </p:grpSp>
      <p:grpSp>
        <p:nvGrpSpPr>
          <p:cNvPr id="18" name="组合 17"/>
          <p:cNvGrpSpPr/>
          <p:nvPr/>
        </p:nvGrpSpPr>
        <p:grpSpPr>
          <a:xfrm>
            <a:off x="4981709" y="3791831"/>
            <a:ext cx="392274" cy="822253"/>
            <a:chOff x="4981709" y="3791831"/>
            <a:chExt cx="392274" cy="822253"/>
          </a:xfrm>
        </p:grpSpPr>
        <p:sp>
          <p:nvSpPr>
            <p:cNvPr id="80" name="弧 79"/>
            <p:cNvSpPr/>
            <p:nvPr/>
          </p:nvSpPr>
          <p:spPr bwMode="auto">
            <a:xfrm rot="641817">
              <a:off x="4981709" y="3791831"/>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81" name="文本框 80"/>
            <p:cNvSpPr txBox="1"/>
            <p:nvPr/>
          </p:nvSpPr>
          <p:spPr>
            <a:xfrm>
              <a:off x="4982787" y="4213974"/>
              <a:ext cx="360437" cy="400110"/>
            </a:xfrm>
            <a:prstGeom prst="rect">
              <a:avLst/>
            </a:prstGeom>
            <a:noFill/>
          </p:spPr>
          <p:txBody>
            <a:bodyPr wrap="square" rtlCol="0">
              <a:spAutoFit/>
            </a:bodyPr>
            <a:lstStyle/>
            <a:p>
              <a:r>
                <a:rPr kumimoji="1" lang="en-US" altLang="zh-CN" b="0" i="0" dirty="0">
                  <a:solidFill>
                    <a:srgbClr val="000000"/>
                  </a:solidFill>
                </a:rPr>
                <a:t>1</a:t>
              </a:r>
              <a:endParaRPr kumimoji="1" lang="zh-CN" altLang="en-US" b="0" i="0" dirty="0">
                <a:solidFill>
                  <a:srgbClr val="000000"/>
                </a:solidFill>
              </a:endParaRPr>
            </a:p>
          </p:txBody>
        </p:sp>
      </p:grpSp>
      <p:grpSp>
        <p:nvGrpSpPr>
          <p:cNvPr id="19" name="组合 18"/>
          <p:cNvGrpSpPr/>
          <p:nvPr/>
        </p:nvGrpSpPr>
        <p:grpSpPr>
          <a:xfrm>
            <a:off x="6134217" y="3801477"/>
            <a:ext cx="392274" cy="812607"/>
            <a:chOff x="6134217" y="3801477"/>
            <a:chExt cx="392274" cy="812607"/>
          </a:xfrm>
        </p:grpSpPr>
        <p:sp>
          <p:nvSpPr>
            <p:cNvPr id="82" name="弧 81"/>
            <p:cNvSpPr/>
            <p:nvPr/>
          </p:nvSpPr>
          <p:spPr bwMode="auto">
            <a:xfrm rot="641817">
              <a:off x="6134217" y="3801477"/>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83" name="文本框 82"/>
            <p:cNvSpPr txBox="1"/>
            <p:nvPr/>
          </p:nvSpPr>
          <p:spPr>
            <a:xfrm>
              <a:off x="6156176" y="4213974"/>
              <a:ext cx="360437" cy="400110"/>
            </a:xfrm>
            <a:prstGeom prst="rect">
              <a:avLst/>
            </a:prstGeom>
            <a:noFill/>
          </p:spPr>
          <p:txBody>
            <a:bodyPr wrap="square" rtlCol="0">
              <a:spAutoFit/>
            </a:bodyPr>
            <a:lstStyle/>
            <a:p>
              <a:r>
                <a:rPr kumimoji="1" lang="en-US" altLang="zh-CN" b="0" i="0" dirty="0">
                  <a:solidFill>
                    <a:srgbClr val="000000"/>
                  </a:solidFill>
                </a:rPr>
                <a:t>0</a:t>
              </a:r>
              <a:endParaRPr kumimoji="1" lang="zh-CN" altLang="en-US" b="0" i="0" dirty="0">
                <a:solidFill>
                  <a:srgbClr val="000000"/>
                </a:solidFill>
              </a:endParaRPr>
            </a:p>
          </p:txBody>
        </p:sp>
      </p:grpSp>
      <p:sp>
        <p:nvSpPr>
          <p:cNvPr id="84" name="椭圆 83"/>
          <p:cNvSpPr/>
          <p:nvPr/>
        </p:nvSpPr>
        <p:spPr bwMode="auto">
          <a:xfrm>
            <a:off x="4981278" y="3372227"/>
            <a:ext cx="385634" cy="386889"/>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86" name="椭圆 85"/>
          <p:cNvSpPr/>
          <p:nvPr/>
        </p:nvSpPr>
        <p:spPr bwMode="auto">
          <a:xfrm>
            <a:off x="6125938" y="3368418"/>
            <a:ext cx="385634" cy="386889"/>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grpSp>
        <p:nvGrpSpPr>
          <p:cNvPr id="11" name="组合 10"/>
          <p:cNvGrpSpPr/>
          <p:nvPr/>
        </p:nvGrpSpPr>
        <p:grpSpPr>
          <a:xfrm>
            <a:off x="586016" y="4666099"/>
            <a:ext cx="8234124" cy="1996638"/>
            <a:chOff x="586016" y="4666099"/>
            <a:chExt cx="8234124" cy="1996638"/>
          </a:xfrm>
        </p:grpSpPr>
        <p:sp>
          <p:nvSpPr>
            <p:cNvPr id="87" name="文本框 86"/>
            <p:cNvSpPr txBox="1"/>
            <p:nvPr/>
          </p:nvSpPr>
          <p:spPr>
            <a:xfrm>
              <a:off x="586016" y="4666099"/>
              <a:ext cx="8234124" cy="461665"/>
            </a:xfrm>
            <a:prstGeom prst="rect">
              <a:avLst/>
            </a:prstGeom>
            <a:noFill/>
          </p:spPr>
          <p:txBody>
            <a:bodyPr wrap="square" rtlCol="0">
              <a:spAutoFit/>
            </a:bodyPr>
            <a:lstStyle/>
            <a:p>
              <a:pPr algn="l"/>
              <a:r>
                <a:rPr kumimoji="1" lang="zh-CN" altLang="en-US" sz="2400" b="0" i="0" dirty="0">
                  <a:solidFill>
                    <a:srgbClr val="000000"/>
                  </a:solidFill>
                </a:rPr>
                <a:t>解：此题的难点在于如何实现奇数。基本的策略是即将形成</a:t>
              </a:r>
            </a:p>
          </p:txBody>
        </p:sp>
        <p:sp>
          <p:nvSpPr>
            <p:cNvPr id="88" name="文本框 87"/>
            <p:cNvSpPr txBox="1"/>
            <p:nvPr/>
          </p:nvSpPr>
          <p:spPr>
            <a:xfrm>
              <a:off x="586016" y="5176783"/>
              <a:ext cx="8234124" cy="461665"/>
            </a:xfrm>
            <a:prstGeom prst="rect">
              <a:avLst/>
            </a:prstGeom>
            <a:noFill/>
          </p:spPr>
          <p:txBody>
            <a:bodyPr wrap="square" rtlCol="0">
              <a:spAutoFit/>
            </a:bodyPr>
            <a:lstStyle/>
            <a:p>
              <a:pPr algn="l"/>
              <a:r>
                <a:rPr kumimoji="1" lang="zh-CN" altLang="en-US" sz="2400" b="0" i="0" dirty="0">
                  <a:solidFill>
                    <a:srgbClr val="000000"/>
                  </a:solidFill>
                </a:rPr>
                <a:t>偶数个</a:t>
              </a:r>
              <a:r>
                <a:rPr kumimoji="1" lang="en-US" altLang="zh-CN" sz="2400" b="0" i="0" dirty="0">
                  <a:solidFill>
                    <a:srgbClr val="000000"/>
                  </a:solidFill>
                </a:rPr>
                <a:t>01</a:t>
              </a:r>
              <a:r>
                <a:rPr kumimoji="1" lang="zh-CN" altLang="en-US" sz="2400" b="0" i="0" dirty="0">
                  <a:solidFill>
                    <a:srgbClr val="000000"/>
                  </a:solidFill>
                </a:rPr>
                <a:t>子串时就远离终结状态。需要注意的是，该串并不</a:t>
              </a:r>
            </a:p>
          </p:txBody>
        </p:sp>
        <p:sp>
          <p:nvSpPr>
            <p:cNvPr id="89" name="文本框 88"/>
            <p:cNvSpPr txBox="1"/>
            <p:nvPr/>
          </p:nvSpPr>
          <p:spPr>
            <a:xfrm>
              <a:off x="586016" y="5687467"/>
              <a:ext cx="8234124" cy="461665"/>
            </a:xfrm>
            <a:prstGeom prst="rect">
              <a:avLst/>
            </a:prstGeom>
            <a:noFill/>
          </p:spPr>
          <p:txBody>
            <a:bodyPr wrap="square" rtlCol="0">
              <a:spAutoFit/>
            </a:bodyPr>
            <a:lstStyle/>
            <a:p>
              <a:pPr algn="l"/>
              <a:r>
                <a:rPr kumimoji="1" lang="zh-CN" altLang="en-US" sz="2400" b="0" i="0" dirty="0">
                  <a:solidFill>
                    <a:srgbClr val="000000"/>
                  </a:solidFill>
                </a:rPr>
                <a:t>子串</a:t>
              </a:r>
              <a:r>
                <a:rPr kumimoji="1" lang="en-US" altLang="zh-CN" sz="2400" b="0" i="0" dirty="0">
                  <a:solidFill>
                    <a:srgbClr val="000000"/>
                  </a:solidFill>
                </a:rPr>
                <a:t>01</a:t>
              </a:r>
              <a:r>
                <a:rPr kumimoji="1" lang="zh-CN" altLang="en-US" sz="2400" b="0" i="0" dirty="0">
                  <a:solidFill>
                    <a:srgbClr val="000000"/>
                  </a:solidFill>
                </a:rPr>
                <a:t>的幂，只是包含子串</a:t>
              </a:r>
              <a:r>
                <a:rPr kumimoji="1" lang="en-US" altLang="zh-CN" sz="2400" b="0" i="0" dirty="0">
                  <a:solidFill>
                    <a:srgbClr val="000000"/>
                  </a:solidFill>
                </a:rPr>
                <a:t>01</a:t>
              </a:r>
              <a:r>
                <a:rPr lang="zh-CN" altLang="en-US" sz="2400" b="0" i="0" dirty="0">
                  <a:solidFill>
                    <a:srgbClr val="000000"/>
                  </a:solidFill>
                </a:rPr>
                <a:t>，所以还有其他的子串。初始</a:t>
              </a:r>
              <a:endParaRPr kumimoji="1" lang="zh-CN" altLang="en-US" sz="2400" b="0" i="0" dirty="0">
                <a:solidFill>
                  <a:srgbClr val="000000"/>
                </a:solidFill>
              </a:endParaRPr>
            </a:p>
          </p:txBody>
        </p:sp>
        <p:sp>
          <p:nvSpPr>
            <p:cNvPr id="90" name="文本框 89"/>
            <p:cNvSpPr txBox="1"/>
            <p:nvPr/>
          </p:nvSpPr>
          <p:spPr>
            <a:xfrm>
              <a:off x="586016" y="6201072"/>
              <a:ext cx="8234124" cy="461665"/>
            </a:xfrm>
            <a:prstGeom prst="rect">
              <a:avLst/>
            </a:prstGeom>
            <a:noFill/>
          </p:spPr>
          <p:txBody>
            <a:bodyPr wrap="square" rtlCol="0">
              <a:spAutoFit/>
            </a:bodyPr>
            <a:lstStyle/>
            <a:p>
              <a:pPr algn="l"/>
              <a:r>
                <a:rPr kumimoji="1" lang="zh-CN" altLang="en-US" sz="2400" b="0" i="0" dirty="0">
                  <a:solidFill>
                    <a:srgbClr val="000000"/>
                  </a:solidFill>
                </a:rPr>
                <a:t>节点的含义是包含了偶数个子串</a:t>
              </a:r>
              <a:r>
                <a:rPr kumimoji="1" lang="en-US" altLang="zh-CN" sz="2400" b="0" i="0" dirty="0">
                  <a:solidFill>
                    <a:srgbClr val="000000"/>
                  </a:solidFill>
                </a:rPr>
                <a:t>01</a:t>
              </a:r>
              <a:r>
                <a:rPr kumimoji="1" lang="zh-CN" altLang="en-US" sz="2400" b="0" i="0" dirty="0">
                  <a:solidFill>
                    <a:srgbClr val="000000"/>
                  </a:solidFill>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57</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5" name="文本框 14"/>
          <p:cNvSpPr txBox="1"/>
          <p:nvPr/>
        </p:nvSpPr>
        <p:spPr>
          <a:xfrm>
            <a:off x="514340" y="1237026"/>
            <a:ext cx="8234124" cy="461665"/>
          </a:xfrm>
          <a:prstGeom prst="rect">
            <a:avLst/>
          </a:prstGeom>
          <a:noFill/>
        </p:spPr>
        <p:txBody>
          <a:bodyPr wrap="square" rtlCol="0">
            <a:spAutoFit/>
          </a:bodyPr>
          <a:lstStyle/>
          <a:p>
            <a:pPr algn="l"/>
            <a:r>
              <a:rPr kumimoji="1" lang="zh-CN" altLang="en-US" sz="2400" b="0" i="0" dirty="0">
                <a:solidFill>
                  <a:srgbClr val="000000"/>
                </a:solidFill>
              </a:rPr>
              <a:t>例</a:t>
            </a:r>
            <a:r>
              <a:rPr lang="en-US" altLang="zh-CN" sz="2400" b="0" i="0" dirty="0">
                <a:solidFill>
                  <a:srgbClr val="000000"/>
                </a:solidFill>
              </a:rPr>
              <a:t>6</a:t>
            </a:r>
            <a:r>
              <a:rPr kumimoji="1" lang="zh-CN" altLang="en-US" sz="2400" b="0" i="0" dirty="0">
                <a:solidFill>
                  <a:srgbClr val="000000"/>
                </a:solidFill>
              </a:rPr>
              <a:t>：设计</a:t>
            </a:r>
            <a:r>
              <a:rPr kumimoji="1" lang="en-US" altLang="zh-CN" sz="2400" b="0" i="0" dirty="0">
                <a:solidFill>
                  <a:srgbClr val="000000"/>
                </a:solidFill>
              </a:rPr>
              <a:t>DFA</a:t>
            </a:r>
            <a:r>
              <a:rPr lang="zh-CN" altLang="en-US" sz="2400" b="0" i="0" dirty="0">
                <a:solidFill>
                  <a:srgbClr val="000000"/>
                </a:solidFill>
              </a:rPr>
              <a:t>表示以下语言</a:t>
            </a:r>
            <a:endParaRPr kumimoji="1" lang="zh-CN" altLang="en-US" sz="2400" b="0" i="0" dirty="0">
              <a:solidFill>
                <a:srgbClr val="000000"/>
              </a:solidFill>
            </a:endParaRPr>
          </a:p>
        </p:txBody>
      </p:sp>
      <p:pic>
        <p:nvPicPr>
          <p:cNvPr id="18" name="图片 17"/>
          <p:cNvPicPr>
            <a:picLocks noChangeAspect="1"/>
          </p:cNvPicPr>
          <p:nvPr/>
        </p:nvPicPr>
        <p:blipFill>
          <a:blip r:embed="rId11"/>
          <a:stretch>
            <a:fillRect/>
          </a:stretch>
        </p:blipFill>
        <p:spPr>
          <a:xfrm>
            <a:off x="573051" y="1844824"/>
            <a:ext cx="7997898" cy="349908"/>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3887788" cy="641350"/>
          </a:xfrm>
          <a:prstGeom prst="rect">
            <a:avLst/>
          </a:prstGeom>
          <a:noFill/>
          <a:ln w="9525" algn="ctr">
            <a:noFill/>
            <a:miter lim="800000"/>
          </a:ln>
          <a:effectLst/>
        </p:spPr>
        <p:txBody>
          <a:bodyPr>
            <a:spAutoFit/>
          </a:bodyPr>
          <a:lstStyle/>
          <a:p>
            <a:pPr>
              <a:lnSpc>
                <a:spcPct val="90000"/>
              </a:lnSpc>
            </a:pPr>
            <a:r>
              <a:rPr lang="zh-CN" altLang="en-US" sz="4000" i="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39</a:t>
            </a:r>
            <a:endParaRPr kumimoji="1" lang="zh-CN" altLang="en-US" sz="2000" b="0" i="0" dirty="0">
              <a:solidFill>
                <a:srgbClr val="000066"/>
              </a:solidFill>
            </a:endParaRPr>
          </a:p>
        </p:txBody>
      </p:sp>
      <p:sp>
        <p:nvSpPr>
          <p:cNvPr id="27" name="文本框 26"/>
          <p:cNvSpPr txBox="1"/>
          <p:nvPr/>
        </p:nvSpPr>
        <p:spPr>
          <a:xfrm>
            <a:off x="514340" y="1237026"/>
            <a:ext cx="8234124" cy="461665"/>
          </a:xfrm>
          <a:prstGeom prst="rect">
            <a:avLst/>
          </a:prstGeom>
          <a:noFill/>
        </p:spPr>
        <p:txBody>
          <a:bodyPr wrap="square" rtlCol="0">
            <a:spAutoFit/>
          </a:bodyPr>
          <a:lstStyle/>
          <a:p>
            <a:pPr algn="l"/>
            <a:r>
              <a:rPr kumimoji="1" lang="zh-CN" altLang="en-US" sz="2400" b="0" i="0" dirty="0">
                <a:solidFill>
                  <a:srgbClr val="000000"/>
                </a:solidFill>
              </a:rPr>
              <a:t>例</a:t>
            </a:r>
            <a:r>
              <a:rPr lang="en-US" altLang="zh-CN" sz="2400" b="0" i="0" dirty="0">
                <a:solidFill>
                  <a:srgbClr val="000000"/>
                </a:solidFill>
              </a:rPr>
              <a:t>6</a:t>
            </a:r>
            <a:r>
              <a:rPr kumimoji="1" lang="zh-CN" altLang="en-US" sz="2400" b="0" i="0" dirty="0">
                <a:solidFill>
                  <a:srgbClr val="000000"/>
                </a:solidFill>
              </a:rPr>
              <a:t>：设计</a:t>
            </a:r>
            <a:r>
              <a:rPr kumimoji="1" lang="en-US" altLang="zh-CN" sz="2400" b="0" i="0" dirty="0">
                <a:solidFill>
                  <a:srgbClr val="000000"/>
                </a:solidFill>
              </a:rPr>
              <a:t>DFA</a:t>
            </a:r>
            <a:r>
              <a:rPr lang="zh-CN" altLang="en-US" sz="2400" b="0" i="0" dirty="0">
                <a:solidFill>
                  <a:srgbClr val="000000"/>
                </a:solidFill>
              </a:rPr>
              <a:t>表示以下语言</a:t>
            </a:r>
            <a:endParaRPr kumimoji="1" lang="zh-CN" altLang="en-US" sz="2400" b="0" i="0" dirty="0">
              <a:solidFill>
                <a:srgbClr val="000000"/>
              </a:solidFill>
            </a:endParaRPr>
          </a:p>
        </p:txBody>
      </p:sp>
      <p:pic>
        <p:nvPicPr>
          <p:cNvPr id="4" name="图片 3"/>
          <p:cNvPicPr>
            <a:picLocks noChangeAspect="1"/>
          </p:cNvPicPr>
          <p:nvPr/>
        </p:nvPicPr>
        <p:blipFill>
          <a:blip r:embed="rId2"/>
          <a:stretch>
            <a:fillRect/>
          </a:stretch>
        </p:blipFill>
        <p:spPr>
          <a:xfrm>
            <a:off x="573051" y="1844824"/>
            <a:ext cx="7997898" cy="349908"/>
          </a:xfrm>
          <a:prstGeom prst="rect">
            <a:avLst/>
          </a:prstGeom>
        </p:spPr>
      </p:pic>
      <p:grpSp>
        <p:nvGrpSpPr>
          <p:cNvPr id="24" name="组合 23"/>
          <p:cNvGrpSpPr/>
          <p:nvPr/>
        </p:nvGrpSpPr>
        <p:grpSpPr>
          <a:xfrm>
            <a:off x="2972639" y="2542368"/>
            <a:ext cx="2592363" cy="1360757"/>
            <a:chOff x="2972639" y="2542368"/>
            <a:chExt cx="2592363" cy="1360757"/>
          </a:xfrm>
        </p:grpSpPr>
        <p:sp>
          <p:nvSpPr>
            <p:cNvPr id="5" name="椭圆 4"/>
            <p:cNvSpPr/>
            <p:nvPr/>
          </p:nvSpPr>
          <p:spPr bwMode="auto">
            <a:xfrm>
              <a:off x="3578998" y="2970718"/>
              <a:ext cx="50405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43" name="椭圆 42"/>
            <p:cNvSpPr/>
            <p:nvPr/>
          </p:nvSpPr>
          <p:spPr bwMode="auto">
            <a:xfrm>
              <a:off x="5060946" y="2970718"/>
              <a:ext cx="50405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cxnSp>
          <p:nvCxnSpPr>
            <p:cNvPr id="10" name="直线箭头连接符 9"/>
            <p:cNvCxnSpPr>
              <a:stCxn id="5" idx="7"/>
              <a:endCxn id="43" idx="1"/>
            </p:cNvCxnSpPr>
            <p:nvPr/>
          </p:nvCxnSpPr>
          <p:spPr bwMode="auto">
            <a:xfrm>
              <a:off x="4009237" y="3044535"/>
              <a:ext cx="1125526"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7" name="直线箭头连接符 46"/>
            <p:cNvCxnSpPr>
              <a:stCxn id="43" idx="3"/>
              <a:endCxn id="5" idx="5"/>
            </p:cNvCxnSpPr>
            <p:nvPr/>
          </p:nvCxnSpPr>
          <p:spPr bwMode="auto">
            <a:xfrm flipH="1">
              <a:off x="4009237" y="3400957"/>
              <a:ext cx="1125526"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50" name="直线箭头连接符 49"/>
            <p:cNvCxnSpPr/>
            <p:nvPr/>
          </p:nvCxnSpPr>
          <p:spPr bwMode="auto">
            <a:xfrm>
              <a:off x="2972639" y="3222746"/>
              <a:ext cx="606359"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51" name="椭圆 50"/>
            <p:cNvSpPr/>
            <p:nvPr/>
          </p:nvSpPr>
          <p:spPr bwMode="auto">
            <a:xfrm>
              <a:off x="5134762" y="3044535"/>
              <a:ext cx="358157" cy="356422"/>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56" name="文本框 55"/>
            <p:cNvSpPr txBox="1"/>
            <p:nvPr/>
          </p:nvSpPr>
          <p:spPr>
            <a:xfrm>
              <a:off x="4215968" y="2542368"/>
              <a:ext cx="830865"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a:t>
              </a:r>
              <a:r>
                <a:rPr lang="en-US" altLang="zh-CN" sz="2400" b="0" i="0" dirty="0">
                  <a:solidFill>
                    <a:srgbClr val="000000"/>
                  </a:solidFill>
                  <a:cs typeface="Times New Roman" panose="02020603050405020304" pitchFamily="18" charset="0"/>
                </a:rPr>
                <a:t>, </a:t>
              </a:r>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sp>
          <p:nvSpPr>
            <p:cNvPr id="57" name="文本框 56"/>
            <p:cNvSpPr txBox="1"/>
            <p:nvPr/>
          </p:nvSpPr>
          <p:spPr>
            <a:xfrm>
              <a:off x="4215969" y="3441460"/>
              <a:ext cx="830865"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a:t>
              </a:r>
              <a:r>
                <a:rPr lang="en-US" altLang="zh-CN" sz="2400" b="0" i="0" dirty="0">
                  <a:solidFill>
                    <a:srgbClr val="000000"/>
                  </a:solidFill>
                  <a:cs typeface="Times New Roman" panose="02020603050405020304" pitchFamily="18" charset="0"/>
                </a:rPr>
                <a:t>, </a:t>
              </a:r>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grpSp>
      <p:grpSp>
        <p:nvGrpSpPr>
          <p:cNvPr id="23" name="组合 22"/>
          <p:cNvGrpSpPr/>
          <p:nvPr/>
        </p:nvGrpSpPr>
        <p:grpSpPr>
          <a:xfrm>
            <a:off x="573051" y="4098848"/>
            <a:ext cx="8234124" cy="1544866"/>
            <a:chOff x="573051" y="4098848"/>
            <a:chExt cx="8234124" cy="1544866"/>
          </a:xfrm>
        </p:grpSpPr>
        <p:sp>
          <p:nvSpPr>
            <p:cNvPr id="59" name="文本框 58"/>
            <p:cNvSpPr txBox="1"/>
            <p:nvPr/>
          </p:nvSpPr>
          <p:spPr>
            <a:xfrm>
              <a:off x="573051" y="4098848"/>
              <a:ext cx="8234124" cy="461665"/>
            </a:xfrm>
            <a:prstGeom prst="rect">
              <a:avLst/>
            </a:prstGeom>
            <a:noFill/>
          </p:spPr>
          <p:txBody>
            <a:bodyPr wrap="square" rtlCol="0">
              <a:spAutoFit/>
            </a:bodyPr>
            <a:lstStyle/>
            <a:p>
              <a:pPr algn="l"/>
              <a:r>
                <a:rPr kumimoji="1" lang="zh-CN" altLang="en-US" sz="2400" b="0" i="0" dirty="0">
                  <a:solidFill>
                    <a:srgbClr val="000000"/>
                  </a:solidFill>
                </a:rPr>
                <a:t>解：</a:t>
              </a:r>
              <a:r>
                <a:rPr lang="zh-CN" altLang="en-US" sz="2400" b="0" i="0" dirty="0">
                  <a:solidFill>
                    <a:srgbClr val="000000"/>
                  </a:solidFill>
                </a:rPr>
                <a:t>这道题比较简单。题目等价于字符串的长度是奇数，这</a:t>
              </a:r>
              <a:endParaRPr kumimoji="1" lang="zh-CN" altLang="en-US" sz="2400" b="0" i="0" dirty="0">
                <a:solidFill>
                  <a:srgbClr val="000000"/>
                </a:solidFill>
              </a:endParaRPr>
            </a:p>
          </p:txBody>
        </p:sp>
        <p:sp>
          <p:nvSpPr>
            <p:cNvPr id="60" name="文本框 59"/>
            <p:cNvSpPr txBox="1"/>
            <p:nvPr/>
          </p:nvSpPr>
          <p:spPr>
            <a:xfrm>
              <a:off x="573051" y="4645007"/>
              <a:ext cx="8234124" cy="461665"/>
            </a:xfrm>
            <a:prstGeom prst="rect">
              <a:avLst/>
            </a:prstGeom>
            <a:noFill/>
          </p:spPr>
          <p:txBody>
            <a:bodyPr wrap="square" rtlCol="0">
              <a:spAutoFit/>
            </a:bodyPr>
            <a:lstStyle/>
            <a:p>
              <a:pPr algn="l"/>
              <a:r>
                <a:rPr kumimoji="1" lang="zh-CN" altLang="en-US" sz="2400" b="0" i="0" dirty="0">
                  <a:solidFill>
                    <a:srgbClr val="000000"/>
                  </a:solidFill>
                </a:rPr>
                <a:t>样就类似于电灯开关，比如按奇数次才处于开的状态。因此，</a:t>
              </a:r>
            </a:p>
          </p:txBody>
        </p:sp>
        <p:sp>
          <p:nvSpPr>
            <p:cNvPr id="61" name="文本框 60"/>
            <p:cNvSpPr txBox="1"/>
            <p:nvPr/>
          </p:nvSpPr>
          <p:spPr>
            <a:xfrm>
              <a:off x="573051" y="5182049"/>
              <a:ext cx="8234124" cy="461665"/>
            </a:xfrm>
            <a:prstGeom prst="rect">
              <a:avLst/>
            </a:prstGeom>
            <a:noFill/>
          </p:spPr>
          <p:txBody>
            <a:bodyPr wrap="square" rtlCol="0">
              <a:spAutoFit/>
            </a:bodyPr>
            <a:lstStyle/>
            <a:p>
              <a:pPr algn="l"/>
              <a:r>
                <a:rPr kumimoji="1" lang="zh-CN" altLang="en-US" sz="2400" b="0" i="0" dirty="0">
                  <a:solidFill>
                    <a:srgbClr val="000000"/>
                  </a:solidFill>
                </a:rPr>
                <a:t>很容易设计相应的</a:t>
              </a:r>
              <a:r>
                <a:rPr kumimoji="1" lang="en-US" altLang="zh-CN" sz="2400" b="0" i="0" dirty="0">
                  <a:solidFill>
                    <a:srgbClr val="000000"/>
                  </a:solidFill>
                </a:rPr>
                <a:t>DFA</a:t>
              </a:r>
              <a:r>
                <a:rPr kumimoji="1" lang="zh-CN" altLang="en-US" sz="2400" b="0" i="0" dirty="0">
                  <a:solidFill>
                    <a:srgbClr val="000000"/>
                  </a:solidFill>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59</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6" name="文本框 15"/>
          <p:cNvSpPr txBox="1"/>
          <p:nvPr/>
        </p:nvSpPr>
        <p:spPr>
          <a:xfrm>
            <a:off x="514340" y="1237026"/>
            <a:ext cx="8234124" cy="461665"/>
          </a:xfrm>
          <a:prstGeom prst="rect">
            <a:avLst/>
          </a:prstGeom>
          <a:noFill/>
        </p:spPr>
        <p:txBody>
          <a:bodyPr wrap="square" rtlCol="0">
            <a:spAutoFit/>
          </a:bodyPr>
          <a:lstStyle/>
          <a:p>
            <a:pPr algn="l"/>
            <a:r>
              <a:rPr kumimoji="1" lang="zh-CN" altLang="en-US" sz="2400" b="0" i="0" dirty="0">
                <a:solidFill>
                  <a:srgbClr val="000000"/>
                </a:solidFill>
              </a:rPr>
              <a:t>例</a:t>
            </a:r>
            <a:r>
              <a:rPr lang="en-US" altLang="zh-CN" sz="2400" b="0" i="0" dirty="0">
                <a:solidFill>
                  <a:srgbClr val="000000"/>
                </a:solidFill>
              </a:rPr>
              <a:t>7</a:t>
            </a:r>
            <a:r>
              <a:rPr kumimoji="1" lang="zh-CN" altLang="en-US" sz="2400" b="0" i="0" dirty="0">
                <a:solidFill>
                  <a:srgbClr val="000000"/>
                </a:solidFill>
              </a:rPr>
              <a:t>：设计</a:t>
            </a:r>
            <a:r>
              <a:rPr kumimoji="1" lang="en-US" altLang="zh-CN" sz="2400" b="0" i="0" dirty="0">
                <a:solidFill>
                  <a:srgbClr val="000000"/>
                </a:solidFill>
              </a:rPr>
              <a:t>DFA</a:t>
            </a:r>
            <a:r>
              <a:rPr lang="zh-CN" altLang="en-US" sz="2400" b="0" i="0" dirty="0">
                <a:solidFill>
                  <a:srgbClr val="000000"/>
                </a:solidFill>
              </a:rPr>
              <a:t>表示以下语言</a:t>
            </a:r>
            <a:endParaRPr kumimoji="1" lang="zh-CN" altLang="en-US" sz="2400" b="0" i="0" dirty="0">
              <a:solidFill>
                <a:srgbClr val="000000"/>
              </a:solidFill>
            </a:endParaRPr>
          </a:p>
        </p:txBody>
      </p:sp>
      <p:pic>
        <p:nvPicPr>
          <p:cNvPr id="17" name="图片 16"/>
          <p:cNvPicPr>
            <a:picLocks noChangeAspect="1"/>
          </p:cNvPicPr>
          <p:nvPr/>
        </p:nvPicPr>
        <p:blipFill>
          <a:blip r:embed="rId11"/>
          <a:stretch>
            <a:fillRect/>
          </a:stretch>
        </p:blipFill>
        <p:spPr>
          <a:xfrm>
            <a:off x="322719" y="1866063"/>
            <a:ext cx="8498562" cy="344869"/>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3887788" cy="641350"/>
          </a:xfrm>
          <a:prstGeom prst="rect">
            <a:avLst/>
          </a:prstGeom>
          <a:noFill/>
          <a:ln w="9525" algn="ctr">
            <a:noFill/>
            <a:miter lim="800000"/>
          </a:ln>
          <a:effectLst/>
        </p:spPr>
        <p:txBody>
          <a:bodyPr>
            <a:spAutoFit/>
          </a:bodyPr>
          <a:lstStyle/>
          <a:p>
            <a:pPr>
              <a:lnSpc>
                <a:spcPct val="90000"/>
              </a:lnSpc>
            </a:pPr>
            <a:r>
              <a:rPr lang="zh-CN" altLang="en-US" sz="4000" i="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40</a:t>
            </a:r>
            <a:endParaRPr kumimoji="1" lang="zh-CN" altLang="en-US" sz="2000" b="0" i="0" dirty="0">
              <a:solidFill>
                <a:srgbClr val="000066"/>
              </a:solidFill>
            </a:endParaRPr>
          </a:p>
        </p:txBody>
      </p:sp>
      <p:sp>
        <p:nvSpPr>
          <p:cNvPr id="27" name="文本框 26"/>
          <p:cNvSpPr txBox="1"/>
          <p:nvPr/>
        </p:nvSpPr>
        <p:spPr>
          <a:xfrm>
            <a:off x="514340" y="1237026"/>
            <a:ext cx="8234124" cy="461665"/>
          </a:xfrm>
          <a:prstGeom prst="rect">
            <a:avLst/>
          </a:prstGeom>
          <a:noFill/>
        </p:spPr>
        <p:txBody>
          <a:bodyPr wrap="square" rtlCol="0">
            <a:spAutoFit/>
          </a:bodyPr>
          <a:lstStyle/>
          <a:p>
            <a:pPr algn="l"/>
            <a:r>
              <a:rPr kumimoji="1" lang="zh-CN" altLang="en-US" sz="2400" b="0" i="0" dirty="0">
                <a:solidFill>
                  <a:srgbClr val="000000"/>
                </a:solidFill>
              </a:rPr>
              <a:t>例</a:t>
            </a:r>
            <a:r>
              <a:rPr lang="en-US" altLang="zh-CN" sz="2400" b="0" i="0" dirty="0">
                <a:solidFill>
                  <a:srgbClr val="000000"/>
                </a:solidFill>
              </a:rPr>
              <a:t>7</a:t>
            </a:r>
            <a:r>
              <a:rPr kumimoji="1" lang="zh-CN" altLang="en-US" sz="2400" b="0" i="0" dirty="0">
                <a:solidFill>
                  <a:srgbClr val="000000"/>
                </a:solidFill>
              </a:rPr>
              <a:t>：设计</a:t>
            </a:r>
            <a:r>
              <a:rPr kumimoji="1" lang="en-US" altLang="zh-CN" sz="2400" b="0" i="0" dirty="0">
                <a:solidFill>
                  <a:srgbClr val="000000"/>
                </a:solidFill>
              </a:rPr>
              <a:t>DFA</a:t>
            </a:r>
            <a:r>
              <a:rPr lang="zh-CN" altLang="en-US" sz="2400" b="0" i="0" dirty="0">
                <a:solidFill>
                  <a:srgbClr val="000000"/>
                </a:solidFill>
              </a:rPr>
              <a:t>表示以下语言</a:t>
            </a:r>
            <a:endParaRPr kumimoji="1" lang="zh-CN" altLang="en-US" sz="2400" b="0" i="0" dirty="0">
              <a:solidFill>
                <a:srgbClr val="000000"/>
              </a:solidFill>
            </a:endParaRPr>
          </a:p>
        </p:txBody>
      </p:sp>
      <p:pic>
        <p:nvPicPr>
          <p:cNvPr id="2" name="图片 1"/>
          <p:cNvPicPr>
            <a:picLocks noChangeAspect="1"/>
          </p:cNvPicPr>
          <p:nvPr/>
        </p:nvPicPr>
        <p:blipFill>
          <a:blip r:embed="rId2"/>
          <a:stretch>
            <a:fillRect/>
          </a:stretch>
        </p:blipFill>
        <p:spPr>
          <a:xfrm>
            <a:off x="322719" y="1866063"/>
            <a:ext cx="8498562" cy="344869"/>
          </a:xfrm>
          <a:prstGeom prst="rect">
            <a:avLst/>
          </a:prstGeom>
        </p:spPr>
      </p:pic>
      <p:grpSp>
        <p:nvGrpSpPr>
          <p:cNvPr id="62" name="组合 61"/>
          <p:cNvGrpSpPr/>
          <p:nvPr/>
        </p:nvGrpSpPr>
        <p:grpSpPr>
          <a:xfrm>
            <a:off x="2843808" y="2354965"/>
            <a:ext cx="2930146" cy="2493278"/>
            <a:chOff x="2843808" y="2354965"/>
            <a:chExt cx="2930146" cy="2493278"/>
          </a:xfrm>
        </p:grpSpPr>
        <p:sp>
          <p:nvSpPr>
            <p:cNvPr id="3" name="椭圆 2"/>
            <p:cNvSpPr/>
            <p:nvPr/>
          </p:nvSpPr>
          <p:spPr bwMode="auto">
            <a:xfrm>
              <a:off x="3491880" y="2708920"/>
              <a:ext cx="50405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21" name="椭圆 20"/>
            <p:cNvSpPr/>
            <p:nvPr/>
          </p:nvSpPr>
          <p:spPr bwMode="auto">
            <a:xfrm>
              <a:off x="4932107" y="2708920"/>
              <a:ext cx="50405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22" name="椭圆 21"/>
            <p:cNvSpPr/>
            <p:nvPr/>
          </p:nvSpPr>
          <p:spPr bwMode="auto">
            <a:xfrm>
              <a:off x="3491880" y="4005064"/>
              <a:ext cx="50405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25" name="椭圆 24"/>
            <p:cNvSpPr/>
            <p:nvPr/>
          </p:nvSpPr>
          <p:spPr bwMode="auto">
            <a:xfrm>
              <a:off x="4946535" y="3985145"/>
              <a:ext cx="504053" cy="523975"/>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26" name="椭圆 25"/>
            <p:cNvSpPr/>
            <p:nvPr/>
          </p:nvSpPr>
          <p:spPr bwMode="auto">
            <a:xfrm>
              <a:off x="3563888" y="2765960"/>
              <a:ext cx="360040" cy="375008"/>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cxnSp>
          <p:nvCxnSpPr>
            <p:cNvPr id="7" name="直线箭头连接符 6"/>
            <p:cNvCxnSpPr>
              <a:endCxn id="3" idx="2"/>
            </p:cNvCxnSpPr>
            <p:nvPr/>
          </p:nvCxnSpPr>
          <p:spPr bwMode="auto">
            <a:xfrm>
              <a:off x="2843808" y="2960948"/>
              <a:ext cx="648072"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29" name="直线箭头连接符 28"/>
            <p:cNvCxnSpPr>
              <a:stCxn id="3" idx="7"/>
              <a:endCxn id="21" idx="1"/>
            </p:cNvCxnSpPr>
            <p:nvPr/>
          </p:nvCxnSpPr>
          <p:spPr bwMode="auto">
            <a:xfrm>
              <a:off x="3922119" y="2782737"/>
              <a:ext cx="1083805"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32" name="直线箭头连接符 31"/>
            <p:cNvCxnSpPr>
              <a:stCxn id="21" idx="3"/>
              <a:endCxn id="3" idx="5"/>
            </p:cNvCxnSpPr>
            <p:nvPr/>
          </p:nvCxnSpPr>
          <p:spPr bwMode="auto">
            <a:xfrm flipH="1">
              <a:off x="3922119" y="3139159"/>
              <a:ext cx="1083805"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35" name="直线箭头连接符 34"/>
            <p:cNvCxnSpPr>
              <a:stCxn id="3" idx="5"/>
              <a:endCxn id="22" idx="7"/>
            </p:cNvCxnSpPr>
            <p:nvPr/>
          </p:nvCxnSpPr>
          <p:spPr bwMode="auto">
            <a:xfrm>
              <a:off x="3922119" y="3139159"/>
              <a:ext cx="0" cy="939722"/>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38" name="直线箭头连接符 37"/>
            <p:cNvCxnSpPr>
              <a:stCxn id="22" idx="1"/>
              <a:endCxn id="3" idx="3"/>
            </p:cNvCxnSpPr>
            <p:nvPr/>
          </p:nvCxnSpPr>
          <p:spPr bwMode="auto">
            <a:xfrm flipV="1">
              <a:off x="3565697" y="3139159"/>
              <a:ext cx="0" cy="939722"/>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1" name="直线箭头连接符 40"/>
            <p:cNvCxnSpPr>
              <a:stCxn id="21" idx="5"/>
              <a:endCxn id="25" idx="7"/>
            </p:cNvCxnSpPr>
            <p:nvPr/>
          </p:nvCxnSpPr>
          <p:spPr bwMode="auto">
            <a:xfrm>
              <a:off x="5362346" y="3139159"/>
              <a:ext cx="14425" cy="92272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4" name="直线箭头连接符 43"/>
            <p:cNvCxnSpPr>
              <a:stCxn id="25" idx="1"/>
              <a:endCxn id="21" idx="3"/>
            </p:cNvCxnSpPr>
            <p:nvPr/>
          </p:nvCxnSpPr>
          <p:spPr bwMode="auto">
            <a:xfrm flipH="1" flipV="1">
              <a:off x="5005924" y="3139159"/>
              <a:ext cx="14428" cy="92272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8" name="直线箭头连接符 47"/>
            <p:cNvCxnSpPr>
              <a:stCxn id="22" idx="7"/>
              <a:endCxn id="25" idx="1"/>
            </p:cNvCxnSpPr>
            <p:nvPr/>
          </p:nvCxnSpPr>
          <p:spPr bwMode="auto">
            <a:xfrm flipV="1">
              <a:off x="3922119" y="4061879"/>
              <a:ext cx="1098233" cy="17002"/>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58" name="直线箭头连接符 57"/>
            <p:cNvCxnSpPr>
              <a:stCxn id="25" idx="3"/>
              <a:endCxn id="22" idx="5"/>
            </p:cNvCxnSpPr>
            <p:nvPr/>
          </p:nvCxnSpPr>
          <p:spPr bwMode="auto">
            <a:xfrm flipH="1">
              <a:off x="3922119" y="4432386"/>
              <a:ext cx="1098233" cy="2917"/>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63" name="文本框 62"/>
            <p:cNvSpPr txBox="1"/>
            <p:nvPr/>
          </p:nvSpPr>
          <p:spPr>
            <a:xfrm>
              <a:off x="4291215" y="2354965"/>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a:t>
              </a:r>
              <a:endParaRPr kumimoji="1" lang="zh-CN" altLang="en-US" sz="2400" b="0" i="0" dirty="0">
                <a:solidFill>
                  <a:srgbClr val="000000"/>
                </a:solidFill>
                <a:cs typeface="Times New Roman" panose="02020603050405020304" pitchFamily="18" charset="0"/>
              </a:endParaRPr>
            </a:p>
          </p:txBody>
        </p:sp>
        <p:sp>
          <p:nvSpPr>
            <p:cNvPr id="64" name="文本框 63"/>
            <p:cNvSpPr txBox="1"/>
            <p:nvPr/>
          </p:nvSpPr>
          <p:spPr>
            <a:xfrm>
              <a:off x="4288024" y="3133651"/>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a:t>
              </a:r>
              <a:endParaRPr kumimoji="1" lang="zh-CN" altLang="en-US" sz="2400" b="0" i="0" dirty="0">
                <a:solidFill>
                  <a:srgbClr val="000000"/>
                </a:solidFill>
                <a:cs typeface="Times New Roman" panose="02020603050405020304" pitchFamily="18" charset="0"/>
              </a:endParaRPr>
            </a:p>
          </p:txBody>
        </p:sp>
        <p:sp>
          <p:nvSpPr>
            <p:cNvPr id="65" name="文本框 64"/>
            <p:cNvSpPr txBox="1"/>
            <p:nvPr/>
          </p:nvSpPr>
          <p:spPr>
            <a:xfrm>
              <a:off x="5413914" y="3285114"/>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sp>
          <p:nvSpPr>
            <p:cNvPr id="66" name="文本框 65"/>
            <p:cNvSpPr txBox="1"/>
            <p:nvPr/>
          </p:nvSpPr>
          <p:spPr>
            <a:xfrm>
              <a:off x="4670473" y="3285115"/>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sp>
          <p:nvSpPr>
            <p:cNvPr id="67" name="文本框 66"/>
            <p:cNvSpPr txBox="1"/>
            <p:nvPr/>
          </p:nvSpPr>
          <p:spPr>
            <a:xfrm>
              <a:off x="3893434" y="3297242"/>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sp>
          <p:nvSpPr>
            <p:cNvPr id="68" name="文本框 67"/>
            <p:cNvSpPr txBox="1"/>
            <p:nvPr/>
          </p:nvSpPr>
          <p:spPr>
            <a:xfrm>
              <a:off x="3196175" y="3310581"/>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sp>
          <p:nvSpPr>
            <p:cNvPr id="69" name="文本框 68"/>
            <p:cNvSpPr txBox="1"/>
            <p:nvPr/>
          </p:nvSpPr>
          <p:spPr>
            <a:xfrm>
              <a:off x="4283554" y="3654089"/>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a:t>
              </a:r>
              <a:endParaRPr kumimoji="1" lang="zh-CN" altLang="en-US" sz="2400" b="0" i="0" dirty="0">
                <a:solidFill>
                  <a:srgbClr val="000000"/>
                </a:solidFill>
                <a:cs typeface="Times New Roman" panose="02020603050405020304" pitchFamily="18" charset="0"/>
              </a:endParaRPr>
            </a:p>
          </p:txBody>
        </p:sp>
        <p:sp>
          <p:nvSpPr>
            <p:cNvPr id="70" name="文本框 69"/>
            <p:cNvSpPr txBox="1"/>
            <p:nvPr/>
          </p:nvSpPr>
          <p:spPr>
            <a:xfrm>
              <a:off x="4283554" y="4386578"/>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a:t>
              </a:r>
              <a:endParaRPr kumimoji="1" lang="zh-CN" altLang="en-US" sz="2400" b="0" i="0" dirty="0">
                <a:solidFill>
                  <a:srgbClr val="000000"/>
                </a:solidFill>
                <a:cs typeface="Times New Roman" panose="02020603050405020304" pitchFamily="18" charset="0"/>
              </a:endParaRPr>
            </a:p>
          </p:txBody>
        </p:sp>
      </p:grpSp>
      <p:grpSp>
        <p:nvGrpSpPr>
          <p:cNvPr id="71" name="组合 70"/>
          <p:cNvGrpSpPr/>
          <p:nvPr/>
        </p:nvGrpSpPr>
        <p:grpSpPr>
          <a:xfrm>
            <a:off x="587157" y="4847229"/>
            <a:ext cx="8234124" cy="1544866"/>
            <a:chOff x="573051" y="4098848"/>
            <a:chExt cx="8234124" cy="1544866"/>
          </a:xfrm>
        </p:grpSpPr>
        <p:sp>
          <p:nvSpPr>
            <p:cNvPr id="72" name="文本框 71"/>
            <p:cNvSpPr txBox="1"/>
            <p:nvPr/>
          </p:nvSpPr>
          <p:spPr>
            <a:xfrm>
              <a:off x="573051" y="4098848"/>
              <a:ext cx="8234124" cy="461665"/>
            </a:xfrm>
            <a:prstGeom prst="rect">
              <a:avLst/>
            </a:prstGeom>
            <a:noFill/>
          </p:spPr>
          <p:txBody>
            <a:bodyPr wrap="square" rtlCol="0">
              <a:spAutoFit/>
            </a:bodyPr>
            <a:lstStyle/>
            <a:p>
              <a:pPr algn="l"/>
              <a:r>
                <a:rPr kumimoji="1" lang="zh-CN" altLang="en-US" sz="2400" b="0" i="0" dirty="0">
                  <a:solidFill>
                    <a:srgbClr val="000000"/>
                  </a:solidFill>
                </a:rPr>
                <a:t>解：题目等价于</a:t>
              </a:r>
              <a:r>
                <a:rPr kumimoji="1" lang="en-US" altLang="zh-CN" sz="2400" b="0" i="0" dirty="0">
                  <a:solidFill>
                    <a:srgbClr val="000000"/>
                  </a:solidFill>
                </a:rPr>
                <a:t>0</a:t>
              </a:r>
              <a:r>
                <a:rPr kumimoji="1" lang="zh-CN" altLang="en-US" sz="2400" b="0" i="0" dirty="0">
                  <a:solidFill>
                    <a:srgbClr val="000000"/>
                  </a:solidFill>
                </a:rPr>
                <a:t>的个数是偶数，</a:t>
              </a:r>
              <a:r>
                <a:rPr kumimoji="1" lang="en-US" altLang="zh-CN" sz="2400" b="0" i="0" dirty="0">
                  <a:solidFill>
                    <a:srgbClr val="000000"/>
                  </a:solidFill>
                </a:rPr>
                <a:t>1</a:t>
              </a:r>
              <a:r>
                <a:rPr kumimoji="1" lang="zh-CN" altLang="en-US" sz="2400" b="0" i="0" dirty="0">
                  <a:solidFill>
                    <a:srgbClr val="000000"/>
                  </a:solidFill>
                </a:rPr>
                <a:t>的个数也是偶数。根据</a:t>
              </a:r>
              <a:r>
                <a:rPr kumimoji="1" lang="en-US" altLang="zh-CN" sz="2400" b="0" i="0" dirty="0">
                  <a:solidFill>
                    <a:srgbClr val="000000"/>
                  </a:solidFill>
                </a:rPr>
                <a:t>0</a:t>
              </a:r>
              <a:endParaRPr kumimoji="1" lang="zh-CN" altLang="en-US" sz="2400" b="0" i="0" dirty="0">
                <a:solidFill>
                  <a:srgbClr val="000000"/>
                </a:solidFill>
              </a:endParaRPr>
            </a:p>
          </p:txBody>
        </p:sp>
        <p:sp>
          <p:nvSpPr>
            <p:cNvPr id="73" name="文本框 72"/>
            <p:cNvSpPr txBox="1"/>
            <p:nvPr/>
          </p:nvSpPr>
          <p:spPr>
            <a:xfrm>
              <a:off x="573051" y="4645007"/>
              <a:ext cx="8234124" cy="830997"/>
            </a:xfrm>
            <a:prstGeom prst="rect">
              <a:avLst/>
            </a:prstGeom>
            <a:noFill/>
          </p:spPr>
          <p:txBody>
            <a:bodyPr wrap="square" rtlCol="0">
              <a:spAutoFit/>
            </a:bodyPr>
            <a:lstStyle/>
            <a:p>
              <a:r>
                <a:rPr lang="zh-CN" altLang="en-US" sz="2400" b="0" i="0" dirty="0">
                  <a:solidFill>
                    <a:srgbClr val="000000"/>
                  </a:solidFill>
                </a:rPr>
                <a:t>和</a:t>
              </a:r>
              <a:r>
                <a:rPr lang="en-US" altLang="zh-CN" sz="2400" b="0" i="0" dirty="0">
                  <a:solidFill>
                    <a:srgbClr val="000000"/>
                  </a:solidFill>
                </a:rPr>
                <a:t>1</a:t>
              </a:r>
              <a:r>
                <a:rPr lang="zh-CN" altLang="en-US" sz="2400" b="0" i="0" dirty="0">
                  <a:solidFill>
                    <a:srgbClr val="000000"/>
                  </a:solidFill>
                </a:rPr>
                <a:t>的奇、偶性，可以划分为</a:t>
              </a:r>
              <a:r>
                <a:rPr lang="en-US" altLang="zh-CN" sz="2400" b="0" i="0" dirty="0">
                  <a:solidFill>
                    <a:srgbClr val="000000"/>
                  </a:solidFill>
                </a:rPr>
                <a:t>4</a:t>
              </a:r>
              <a:r>
                <a:rPr lang="zh-CN" altLang="en-US" sz="2400" b="0" i="0" dirty="0">
                  <a:solidFill>
                    <a:srgbClr val="000000"/>
                  </a:solidFill>
                </a:rPr>
                <a:t>种状态相</a:t>
              </a:r>
              <a:r>
                <a:rPr kumimoji="1" lang="zh-CN" altLang="en-US" sz="2400" b="0" i="0" dirty="0">
                  <a:solidFill>
                    <a:srgbClr val="000000"/>
                  </a:solidFill>
                </a:rPr>
                <a:t>互关联。这样就比较容易设计</a:t>
              </a:r>
              <a:r>
                <a:rPr kumimoji="1" lang="en-US" altLang="zh-CN" sz="2400" b="0" i="0" dirty="0">
                  <a:solidFill>
                    <a:srgbClr val="000000"/>
                  </a:solidFill>
                </a:rPr>
                <a:t>DFA</a:t>
              </a:r>
              <a:r>
                <a:rPr kumimoji="1" lang="zh-CN" altLang="en-US" sz="2400" b="0" i="0" dirty="0">
                  <a:solidFill>
                    <a:srgbClr val="000000"/>
                  </a:solidFill>
                </a:rPr>
                <a:t>了。</a:t>
              </a:r>
            </a:p>
          </p:txBody>
        </p:sp>
        <p:sp>
          <p:nvSpPr>
            <p:cNvPr id="74" name="文本框 73"/>
            <p:cNvSpPr txBox="1"/>
            <p:nvPr/>
          </p:nvSpPr>
          <p:spPr>
            <a:xfrm>
              <a:off x="573051" y="5182049"/>
              <a:ext cx="8234124" cy="461665"/>
            </a:xfrm>
            <a:prstGeom prst="rect">
              <a:avLst/>
            </a:prstGeom>
            <a:noFill/>
          </p:spPr>
          <p:txBody>
            <a:bodyPr wrap="square" rtlCol="0">
              <a:spAutoFit/>
            </a:bodyPr>
            <a:lstStyle/>
            <a:p>
              <a:pPr algn="l"/>
              <a:endParaRPr kumimoji="1" lang="zh-CN" altLang="en-US" sz="2400" b="0" i="0" dirty="0">
                <a:solidFill>
                  <a:srgbClr val="00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61</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5" name="文本框 14"/>
          <p:cNvSpPr txBox="1"/>
          <p:nvPr/>
        </p:nvSpPr>
        <p:spPr>
          <a:xfrm>
            <a:off x="514340" y="1237026"/>
            <a:ext cx="8234124" cy="461665"/>
          </a:xfrm>
          <a:prstGeom prst="rect">
            <a:avLst/>
          </a:prstGeom>
          <a:noFill/>
        </p:spPr>
        <p:txBody>
          <a:bodyPr wrap="square" rtlCol="0">
            <a:spAutoFit/>
          </a:bodyPr>
          <a:lstStyle/>
          <a:p>
            <a:pPr algn="l"/>
            <a:r>
              <a:rPr kumimoji="1" lang="zh-CN" altLang="en-US" sz="2400" b="0" i="0" dirty="0">
                <a:solidFill>
                  <a:srgbClr val="000000"/>
                </a:solidFill>
              </a:rPr>
              <a:t>例</a:t>
            </a:r>
            <a:r>
              <a:rPr lang="en-US" altLang="zh-CN" sz="2400" b="0" i="0" dirty="0">
                <a:solidFill>
                  <a:srgbClr val="000000"/>
                </a:solidFill>
              </a:rPr>
              <a:t>8</a:t>
            </a:r>
            <a:r>
              <a:rPr kumimoji="1" lang="zh-CN" altLang="en-US" sz="2400" b="0" i="0" dirty="0">
                <a:solidFill>
                  <a:srgbClr val="000000"/>
                </a:solidFill>
              </a:rPr>
              <a:t>：设计</a:t>
            </a:r>
            <a:r>
              <a:rPr kumimoji="1" lang="en-US" altLang="zh-CN" sz="2400" b="0" i="0" dirty="0">
                <a:solidFill>
                  <a:srgbClr val="000000"/>
                </a:solidFill>
              </a:rPr>
              <a:t>DFA</a:t>
            </a:r>
            <a:r>
              <a:rPr lang="zh-CN" altLang="en-US" sz="2400" b="0" i="0" dirty="0">
                <a:solidFill>
                  <a:srgbClr val="000000"/>
                </a:solidFill>
              </a:rPr>
              <a:t>表示以下语言</a:t>
            </a:r>
            <a:endParaRPr kumimoji="1" lang="zh-CN" altLang="en-US" sz="2400" b="0" i="0" dirty="0">
              <a:solidFill>
                <a:srgbClr val="000000"/>
              </a:solidFill>
            </a:endParaRPr>
          </a:p>
        </p:txBody>
      </p:sp>
      <p:pic>
        <p:nvPicPr>
          <p:cNvPr id="18" name="图片 17"/>
          <p:cNvPicPr>
            <a:picLocks noChangeAspect="1"/>
          </p:cNvPicPr>
          <p:nvPr/>
        </p:nvPicPr>
        <p:blipFill>
          <a:blip r:embed="rId11"/>
          <a:stretch>
            <a:fillRect/>
          </a:stretch>
        </p:blipFill>
        <p:spPr>
          <a:xfrm>
            <a:off x="587157" y="1846176"/>
            <a:ext cx="6889452" cy="329189"/>
          </a:xfrm>
          <a:prstGeom prst="rect">
            <a:avLst/>
          </a:prstGeom>
        </p:spPr>
      </p:pic>
      <p:pic>
        <p:nvPicPr>
          <p:cNvPr id="19" name="图片 18"/>
          <p:cNvPicPr>
            <a:picLocks noChangeAspect="1"/>
          </p:cNvPicPr>
          <p:nvPr/>
        </p:nvPicPr>
        <p:blipFill>
          <a:blip r:embed="rId12"/>
          <a:stretch>
            <a:fillRect/>
          </a:stretch>
        </p:blipFill>
        <p:spPr>
          <a:xfrm>
            <a:off x="1476375" y="2193136"/>
            <a:ext cx="6000234" cy="339407"/>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3887788" cy="641350"/>
          </a:xfrm>
          <a:prstGeom prst="rect">
            <a:avLst/>
          </a:prstGeom>
          <a:noFill/>
          <a:ln w="9525" algn="ctr">
            <a:noFill/>
            <a:miter lim="800000"/>
          </a:ln>
          <a:effectLst/>
        </p:spPr>
        <p:txBody>
          <a:bodyPr>
            <a:spAutoFit/>
          </a:bodyPr>
          <a:lstStyle/>
          <a:p>
            <a:pPr>
              <a:lnSpc>
                <a:spcPct val="90000"/>
              </a:lnSpc>
            </a:pPr>
            <a:r>
              <a:rPr lang="zh-CN" altLang="en-US" sz="4000" i="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41</a:t>
            </a:r>
            <a:endParaRPr kumimoji="1" lang="zh-CN" altLang="en-US" sz="2000" b="0" i="0" dirty="0">
              <a:solidFill>
                <a:srgbClr val="000066"/>
              </a:solidFill>
            </a:endParaRPr>
          </a:p>
        </p:txBody>
      </p:sp>
      <p:sp>
        <p:nvSpPr>
          <p:cNvPr id="27" name="文本框 26"/>
          <p:cNvSpPr txBox="1"/>
          <p:nvPr/>
        </p:nvSpPr>
        <p:spPr>
          <a:xfrm>
            <a:off x="514340" y="1237026"/>
            <a:ext cx="8234124" cy="461665"/>
          </a:xfrm>
          <a:prstGeom prst="rect">
            <a:avLst/>
          </a:prstGeom>
          <a:noFill/>
        </p:spPr>
        <p:txBody>
          <a:bodyPr wrap="square" rtlCol="0">
            <a:spAutoFit/>
          </a:bodyPr>
          <a:lstStyle/>
          <a:p>
            <a:pPr algn="l"/>
            <a:r>
              <a:rPr kumimoji="1" lang="zh-CN" altLang="en-US" sz="2400" b="0" i="0" dirty="0">
                <a:solidFill>
                  <a:srgbClr val="000000"/>
                </a:solidFill>
              </a:rPr>
              <a:t>例</a:t>
            </a:r>
            <a:r>
              <a:rPr lang="en-US" altLang="zh-CN" sz="2400" b="0" i="0" dirty="0">
                <a:solidFill>
                  <a:srgbClr val="000000"/>
                </a:solidFill>
              </a:rPr>
              <a:t>8</a:t>
            </a:r>
            <a:r>
              <a:rPr kumimoji="1" lang="zh-CN" altLang="en-US" sz="2400" b="0" i="0" dirty="0">
                <a:solidFill>
                  <a:srgbClr val="000000"/>
                </a:solidFill>
              </a:rPr>
              <a:t>：设计</a:t>
            </a:r>
            <a:r>
              <a:rPr kumimoji="1" lang="en-US" altLang="zh-CN" sz="2400" b="0" i="0" dirty="0">
                <a:solidFill>
                  <a:srgbClr val="000000"/>
                </a:solidFill>
              </a:rPr>
              <a:t>DFA</a:t>
            </a:r>
            <a:r>
              <a:rPr lang="zh-CN" altLang="en-US" sz="2400" b="0" i="0" dirty="0">
                <a:solidFill>
                  <a:srgbClr val="000000"/>
                </a:solidFill>
              </a:rPr>
              <a:t>表示以下语言</a:t>
            </a:r>
            <a:endParaRPr kumimoji="1" lang="zh-CN" altLang="en-US" sz="2400" b="0" i="0" dirty="0">
              <a:solidFill>
                <a:srgbClr val="000000"/>
              </a:solidFill>
            </a:endParaRPr>
          </a:p>
        </p:txBody>
      </p:sp>
      <p:grpSp>
        <p:nvGrpSpPr>
          <p:cNvPr id="71" name="组合 70"/>
          <p:cNvGrpSpPr/>
          <p:nvPr/>
        </p:nvGrpSpPr>
        <p:grpSpPr>
          <a:xfrm>
            <a:off x="587157" y="4847229"/>
            <a:ext cx="8234124" cy="1544866"/>
            <a:chOff x="573051" y="4098848"/>
            <a:chExt cx="8234124" cy="1544866"/>
          </a:xfrm>
        </p:grpSpPr>
        <p:sp>
          <p:nvSpPr>
            <p:cNvPr id="72" name="文本框 71"/>
            <p:cNvSpPr txBox="1"/>
            <p:nvPr/>
          </p:nvSpPr>
          <p:spPr>
            <a:xfrm>
              <a:off x="573051" y="4098848"/>
              <a:ext cx="8234124" cy="461665"/>
            </a:xfrm>
            <a:prstGeom prst="rect">
              <a:avLst/>
            </a:prstGeom>
            <a:noFill/>
          </p:spPr>
          <p:txBody>
            <a:bodyPr wrap="square" rtlCol="0">
              <a:spAutoFit/>
            </a:bodyPr>
            <a:lstStyle/>
            <a:p>
              <a:pPr algn="l"/>
              <a:r>
                <a:rPr kumimoji="1" lang="zh-CN" altLang="en-US" sz="2400" b="0" i="0" dirty="0">
                  <a:solidFill>
                    <a:srgbClr val="000000"/>
                  </a:solidFill>
                </a:rPr>
                <a:t>解：这道题的难点是如何实现每个前缀中</a:t>
              </a:r>
              <a:r>
                <a:rPr kumimoji="1" lang="en-US" altLang="zh-CN" sz="2400" b="0" i="0" dirty="0">
                  <a:solidFill>
                    <a:srgbClr val="000000"/>
                  </a:solidFill>
                </a:rPr>
                <a:t>0</a:t>
              </a:r>
              <a:r>
                <a:rPr kumimoji="1" lang="zh-CN" altLang="en-US" sz="2400" b="0" i="0" dirty="0">
                  <a:solidFill>
                    <a:srgbClr val="000000"/>
                  </a:solidFill>
                </a:rPr>
                <a:t>和</a:t>
              </a:r>
              <a:r>
                <a:rPr kumimoji="1" lang="en-US" altLang="zh-CN" sz="2400" b="0" i="0" dirty="0">
                  <a:solidFill>
                    <a:srgbClr val="000000"/>
                  </a:solidFill>
                </a:rPr>
                <a:t>1</a:t>
              </a:r>
              <a:r>
                <a:rPr kumimoji="1" lang="zh-CN" altLang="en-US" sz="2400" b="0" i="0" dirty="0">
                  <a:solidFill>
                    <a:srgbClr val="000000"/>
                  </a:solidFill>
                </a:rPr>
                <a:t>的个数之差不</a:t>
              </a:r>
            </a:p>
          </p:txBody>
        </p:sp>
        <p:sp>
          <p:nvSpPr>
            <p:cNvPr id="73" name="文本框 72"/>
            <p:cNvSpPr txBox="1"/>
            <p:nvPr/>
          </p:nvSpPr>
          <p:spPr>
            <a:xfrm>
              <a:off x="573051" y="4645007"/>
              <a:ext cx="8234124" cy="461665"/>
            </a:xfrm>
            <a:prstGeom prst="rect">
              <a:avLst/>
            </a:prstGeom>
            <a:noFill/>
          </p:spPr>
          <p:txBody>
            <a:bodyPr wrap="square" rtlCol="0">
              <a:spAutoFit/>
            </a:bodyPr>
            <a:lstStyle/>
            <a:p>
              <a:pPr algn="l"/>
              <a:r>
                <a:rPr kumimoji="1" lang="zh-CN" altLang="en-US" sz="2400" b="0" i="0" dirty="0">
                  <a:solidFill>
                    <a:srgbClr val="000000"/>
                  </a:solidFill>
                </a:rPr>
                <a:t>超过</a:t>
              </a:r>
              <a:r>
                <a:rPr kumimoji="1" lang="en-US" altLang="zh-CN" sz="2400" b="0" i="0" dirty="0">
                  <a:solidFill>
                    <a:srgbClr val="000000"/>
                  </a:solidFill>
                </a:rPr>
                <a:t>1</a:t>
              </a:r>
              <a:r>
                <a:rPr kumimoji="1" lang="zh-CN" altLang="en-US" sz="2400" b="0" i="0" dirty="0">
                  <a:solidFill>
                    <a:srgbClr val="000000"/>
                  </a:solidFill>
                </a:rPr>
                <a:t>。实现起来，就是只要出现</a:t>
              </a:r>
              <a:r>
                <a:rPr lang="en-US" altLang="zh-CN" sz="2400" b="0" i="0" dirty="0">
                  <a:solidFill>
                    <a:srgbClr val="000000"/>
                  </a:solidFill>
                </a:rPr>
                <a:t>0</a:t>
              </a:r>
              <a:r>
                <a:rPr lang="zh-CN" altLang="en-US" sz="2400" b="0" i="0" dirty="0">
                  <a:solidFill>
                    <a:srgbClr val="000000"/>
                  </a:solidFill>
                </a:rPr>
                <a:t>，紧接着要出现</a:t>
              </a:r>
              <a:r>
                <a:rPr lang="en-US" altLang="zh-CN" sz="2400" b="0" i="0" dirty="0">
                  <a:solidFill>
                    <a:srgbClr val="000000"/>
                  </a:solidFill>
                </a:rPr>
                <a:t>1</a:t>
              </a:r>
              <a:r>
                <a:rPr lang="zh-CN" altLang="en-US" sz="2400" b="0" i="0" dirty="0">
                  <a:solidFill>
                    <a:srgbClr val="000000"/>
                  </a:solidFill>
                </a:rPr>
                <a:t>，反之</a:t>
              </a:r>
              <a:endParaRPr kumimoji="1" lang="zh-CN" altLang="en-US" sz="2400" b="0" i="0" dirty="0">
                <a:solidFill>
                  <a:srgbClr val="000000"/>
                </a:solidFill>
              </a:endParaRPr>
            </a:p>
          </p:txBody>
        </p:sp>
        <p:sp>
          <p:nvSpPr>
            <p:cNvPr id="74" name="文本框 73"/>
            <p:cNvSpPr txBox="1"/>
            <p:nvPr/>
          </p:nvSpPr>
          <p:spPr>
            <a:xfrm>
              <a:off x="573051" y="5182049"/>
              <a:ext cx="8234124" cy="461665"/>
            </a:xfrm>
            <a:prstGeom prst="rect">
              <a:avLst/>
            </a:prstGeom>
            <a:noFill/>
          </p:spPr>
          <p:txBody>
            <a:bodyPr wrap="square" rtlCol="0">
              <a:spAutoFit/>
            </a:bodyPr>
            <a:lstStyle/>
            <a:p>
              <a:pPr algn="l"/>
              <a:r>
                <a:rPr kumimoji="1" lang="zh-CN" altLang="en-US" sz="2400" b="0" i="0" dirty="0">
                  <a:solidFill>
                    <a:srgbClr val="000000"/>
                  </a:solidFill>
                </a:rPr>
                <a:t>亦然。再加上垃圾回收节点，整个</a:t>
              </a:r>
              <a:r>
                <a:rPr kumimoji="1" lang="en-US" altLang="zh-CN" sz="2400" b="0" i="0" dirty="0">
                  <a:solidFill>
                    <a:srgbClr val="000000"/>
                  </a:solidFill>
                </a:rPr>
                <a:t>DFA</a:t>
              </a:r>
              <a:r>
                <a:rPr kumimoji="1" lang="zh-CN" altLang="en-US" sz="2400" b="0" i="0" dirty="0">
                  <a:solidFill>
                    <a:srgbClr val="000000"/>
                  </a:solidFill>
                </a:rPr>
                <a:t>就容易构建了。</a:t>
              </a:r>
            </a:p>
          </p:txBody>
        </p:sp>
      </p:grpSp>
      <p:pic>
        <p:nvPicPr>
          <p:cNvPr id="4" name="图片 3"/>
          <p:cNvPicPr>
            <a:picLocks noChangeAspect="1"/>
          </p:cNvPicPr>
          <p:nvPr/>
        </p:nvPicPr>
        <p:blipFill>
          <a:blip r:embed="rId2"/>
          <a:stretch>
            <a:fillRect/>
          </a:stretch>
        </p:blipFill>
        <p:spPr>
          <a:xfrm>
            <a:off x="587157" y="1846176"/>
            <a:ext cx="6889452" cy="329189"/>
          </a:xfrm>
          <a:prstGeom prst="rect">
            <a:avLst/>
          </a:prstGeom>
        </p:spPr>
      </p:pic>
      <p:grpSp>
        <p:nvGrpSpPr>
          <p:cNvPr id="56" name="组合 55"/>
          <p:cNvGrpSpPr/>
          <p:nvPr/>
        </p:nvGrpSpPr>
        <p:grpSpPr>
          <a:xfrm>
            <a:off x="2219037" y="2708920"/>
            <a:ext cx="5099259" cy="2000537"/>
            <a:chOff x="2219037" y="2827646"/>
            <a:chExt cx="5099259" cy="2000537"/>
          </a:xfrm>
        </p:grpSpPr>
        <p:sp>
          <p:nvSpPr>
            <p:cNvPr id="6" name="椭圆 5"/>
            <p:cNvSpPr/>
            <p:nvPr/>
          </p:nvSpPr>
          <p:spPr bwMode="auto">
            <a:xfrm>
              <a:off x="2843808" y="3573016"/>
              <a:ext cx="50405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36" name="椭圆 35"/>
            <p:cNvSpPr/>
            <p:nvPr/>
          </p:nvSpPr>
          <p:spPr bwMode="auto">
            <a:xfrm>
              <a:off x="4200163" y="2827646"/>
              <a:ext cx="50405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37" name="椭圆 36"/>
            <p:cNvSpPr/>
            <p:nvPr/>
          </p:nvSpPr>
          <p:spPr bwMode="auto">
            <a:xfrm>
              <a:off x="4200163" y="4324127"/>
              <a:ext cx="50405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39" name="椭圆 38"/>
            <p:cNvSpPr/>
            <p:nvPr/>
          </p:nvSpPr>
          <p:spPr bwMode="auto">
            <a:xfrm>
              <a:off x="5544110" y="3560159"/>
              <a:ext cx="50405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cxnSp>
          <p:nvCxnSpPr>
            <p:cNvPr id="9" name="直线箭头连接符 8"/>
            <p:cNvCxnSpPr>
              <a:stCxn id="6" idx="7"/>
              <a:endCxn id="36" idx="2"/>
            </p:cNvCxnSpPr>
            <p:nvPr/>
          </p:nvCxnSpPr>
          <p:spPr bwMode="auto">
            <a:xfrm flipV="1">
              <a:off x="3274047" y="3079674"/>
              <a:ext cx="926116" cy="567159"/>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2" name="直线箭头连接符 41"/>
            <p:cNvCxnSpPr>
              <a:stCxn id="36" idx="3"/>
              <a:endCxn id="6" idx="6"/>
            </p:cNvCxnSpPr>
            <p:nvPr/>
          </p:nvCxnSpPr>
          <p:spPr bwMode="auto">
            <a:xfrm flipH="1">
              <a:off x="3347864" y="3257885"/>
              <a:ext cx="926116" cy="567159"/>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5" name="直线箭头连接符 44"/>
            <p:cNvCxnSpPr>
              <a:stCxn id="6" idx="5"/>
              <a:endCxn id="37" idx="2"/>
            </p:cNvCxnSpPr>
            <p:nvPr/>
          </p:nvCxnSpPr>
          <p:spPr bwMode="auto">
            <a:xfrm>
              <a:off x="3274047" y="4003255"/>
              <a:ext cx="926116" cy="572900"/>
            </a:xfrm>
            <a:prstGeom prst="straightConnector1">
              <a:avLst/>
            </a:prstGeom>
            <a:solidFill>
              <a:schemeClr val="accent1"/>
            </a:solidFill>
            <a:ln w="9525" cap="flat" cmpd="sng" algn="ctr">
              <a:solidFill>
                <a:srgbClr val="000000"/>
              </a:solidFill>
              <a:prstDash val="solid"/>
              <a:round/>
              <a:headEnd type="triangle" w="lg" len="lg"/>
              <a:tailEnd type="none" w="lg" len="lg"/>
            </a:ln>
            <a:effectLst/>
          </p:spPr>
        </p:cxnSp>
        <p:cxnSp>
          <p:nvCxnSpPr>
            <p:cNvPr id="49" name="直线箭头连接符 48"/>
            <p:cNvCxnSpPr>
              <a:stCxn id="37" idx="1"/>
              <a:endCxn id="6" idx="6"/>
            </p:cNvCxnSpPr>
            <p:nvPr/>
          </p:nvCxnSpPr>
          <p:spPr bwMode="auto">
            <a:xfrm flipH="1" flipV="1">
              <a:off x="3347864" y="3825044"/>
              <a:ext cx="926116" cy="572900"/>
            </a:xfrm>
            <a:prstGeom prst="straightConnector1">
              <a:avLst/>
            </a:prstGeom>
            <a:solidFill>
              <a:schemeClr val="accent1"/>
            </a:solidFill>
            <a:ln w="9525" cap="flat" cmpd="sng" algn="ctr">
              <a:solidFill>
                <a:srgbClr val="000000"/>
              </a:solidFill>
              <a:prstDash val="solid"/>
              <a:round/>
              <a:headEnd type="triangle" w="lg" len="lg"/>
              <a:tailEnd type="none" w="lg" len="lg"/>
            </a:ln>
            <a:effectLst/>
          </p:spPr>
        </p:cxnSp>
        <p:cxnSp>
          <p:nvCxnSpPr>
            <p:cNvPr id="75" name="直线箭头连接符 74"/>
            <p:cNvCxnSpPr>
              <a:stCxn id="36" idx="6"/>
              <a:endCxn id="39" idx="1"/>
            </p:cNvCxnSpPr>
            <p:nvPr/>
          </p:nvCxnSpPr>
          <p:spPr bwMode="auto">
            <a:xfrm>
              <a:off x="4704219" y="3079674"/>
              <a:ext cx="913708" cy="554302"/>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76" name="直线箭头连接符 75"/>
            <p:cNvCxnSpPr>
              <a:stCxn id="37" idx="6"/>
              <a:endCxn id="39" idx="3"/>
            </p:cNvCxnSpPr>
            <p:nvPr/>
          </p:nvCxnSpPr>
          <p:spPr bwMode="auto">
            <a:xfrm flipV="1">
              <a:off x="4704219" y="3990398"/>
              <a:ext cx="913708" cy="585757"/>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77" name="弧 76"/>
            <p:cNvSpPr/>
            <p:nvPr/>
          </p:nvSpPr>
          <p:spPr bwMode="auto">
            <a:xfrm rot="16584142">
              <a:off x="6050555" y="3612643"/>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dirty="0">
                <a:ln>
                  <a:noFill/>
                </a:ln>
                <a:solidFill>
                  <a:srgbClr val="800080"/>
                </a:solidFill>
                <a:effectLst/>
                <a:latin typeface="Times New Roman" panose="02020603050405020304" pitchFamily="18" charset="0"/>
                <a:ea typeface="宋体" panose="02010600030101010101" pitchFamily="2" charset="-122"/>
              </a:endParaRPr>
            </a:p>
          </p:txBody>
        </p:sp>
        <p:cxnSp>
          <p:nvCxnSpPr>
            <p:cNvPr id="78" name="直线箭头连接符 77"/>
            <p:cNvCxnSpPr>
              <a:endCxn id="6" idx="2"/>
            </p:cNvCxnSpPr>
            <p:nvPr/>
          </p:nvCxnSpPr>
          <p:spPr bwMode="auto">
            <a:xfrm>
              <a:off x="2219037" y="3825044"/>
              <a:ext cx="624771"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79" name="文本框 78"/>
            <p:cNvSpPr txBox="1"/>
            <p:nvPr/>
          </p:nvSpPr>
          <p:spPr>
            <a:xfrm>
              <a:off x="3470024" y="2940243"/>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a:t>
              </a:r>
              <a:endParaRPr kumimoji="1" lang="zh-CN" altLang="en-US" sz="2400" b="0" i="0" dirty="0">
                <a:solidFill>
                  <a:srgbClr val="000000"/>
                </a:solidFill>
                <a:cs typeface="Times New Roman" panose="02020603050405020304" pitchFamily="18" charset="0"/>
              </a:endParaRPr>
            </a:p>
          </p:txBody>
        </p:sp>
        <p:sp>
          <p:nvSpPr>
            <p:cNvPr id="80" name="文本框 79"/>
            <p:cNvSpPr txBox="1"/>
            <p:nvPr/>
          </p:nvSpPr>
          <p:spPr>
            <a:xfrm>
              <a:off x="3858011" y="3380916"/>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sp>
          <p:nvSpPr>
            <p:cNvPr id="81" name="文本框 80"/>
            <p:cNvSpPr txBox="1"/>
            <p:nvPr/>
          </p:nvSpPr>
          <p:spPr>
            <a:xfrm>
              <a:off x="3858011" y="3837289"/>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sp>
          <p:nvSpPr>
            <p:cNvPr id="82" name="文本框 81"/>
            <p:cNvSpPr txBox="1"/>
            <p:nvPr/>
          </p:nvSpPr>
          <p:spPr>
            <a:xfrm>
              <a:off x="3470024" y="4319145"/>
              <a:ext cx="360040" cy="461665"/>
            </a:xfrm>
            <a:prstGeom prst="rect">
              <a:avLst/>
            </a:prstGeom>
            <a:noFill/>
          </p:spPr>
          <p:txBody>
            <a:bodyPr wrap="square" rtlCol="0">
              <a:spAutoFit/>
            </a:bodyPr>
            <a:lstStyle/>
            <a:p>
              <a:r>
                <a:rPr lang="en-US" altLang="zh-CN" sz="2400" b="0" i="0" dirty="0">
                  <a:solidFill>
                    <a:srgbClr val="000000"/>
                  </a:solidFill>
                  <a:cs typeface="Times New Roman" panose="02020603050405020304" pitchFamily="18" charset="0"/>
                </a:rPr>
                <a:t>0</a:t>
              </a:r>
              <a:endParaRPr kumimoji="1" lang="zh-CN" altLang="en-US" sz="2400" b="0" i="0" dirty="0">
                <a:solidFill>
                  <a:srgbClr val="000000"/>
                </a:solidFill>
                <a:cs typeface="Times New Roman" panose="02020603050405020304" pitchFamily="18" charset="0"/>
              </a:endParaRPr>
            </a:p>
          </p:txBody>
        </p:sp>
        <p:sp>
          <p:nvSpPr>
            <p:cNvPr id="83" name="文本框 82"/>
            <p:cNvSpPr txBox="1"/>
            <p:nvPr/>
          </p:nvSpPr>
          <p:spPr>
            <a:xfrm>
              <a:off x="5057533" y="2940529"/>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a:t>
              </a:r>
              <a:endParaRPr kumimoji="1" lang="zh-CN" altLang="en-US" sz="2400" b="0" i="0" dirty="0">
                <a:solidFill>
                  <a:srgbClr val="000000"/>
                </a:solidFill>
                <a:cs typeface="Times New Roman" panose="02020603050405020304" pitchFamily="18" charset="0"/>
              </a:endParaRPr>
            </a:p>
          </p:txBody>
        </p:sp>
        <p:sp>
          <p:nvSpPr>
            <p:cNvPr id="84" name="文本框 83"/>
            <p:cNvSpPr txBox="1"/>
            <p:nvPr/>
          </p:nvSpPr>
          <p:spPr>
            <a:xfrm>
              <a:off x="5081338" y="4319661"/>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sp>
          <p:nvSpPr>
            <p:cNvPr id="85" name="文本框 84"/>
            <p:cNvSpPr txBox="1"/>
            <p:nvPr/>
          </p:nvSpPr>
          <p:spPr>
            <a:xfrm>
              <a:off x="6479640" y="3573016"/>
              <a:ext cx="838656"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0, 1</a:t>
              </a:r>
              <a:endParaRPr kumimoji="1" lang="zh-CN" altLang="en-US" sz="2400" b="0" i="0" dirty="0">
                <a:solidFill>
                  <a:srgbClr val="000000"/>
                </a:solidFill>
                <a:cs typeface="Times New Roman" panose="02020603050405020304" pitchFamily="18" charset="0"/>
              </a:endParaRPr>
            </a:p>
          </p:txBody>
        </p:sp>
        <p:sp>
          <p:nvSpPr>
            <p:cNvPr id="86" name="椭圆 85"/>
            <p:cNvSpPr/>
            <p:nvPr/>
          </p:nvSpPr>
          <p:spPr bwMode="auto">
            <a:xfrm>
              <a:off x="2888135" y="3622391"/>
              <a:ext cx="425473" cy="414754"/>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grpSp>
      <p:pic>
        <p:nvPicPr>
          <p:cNvPr id="55" name="图片 54"/>
          <p:cNvPicPr>
            <a:picLocks noChangeAspect="1"/>
          </p:cNvPicPr>
          <p:nvPr/>
        </p:nvPicPr>
        <p:blipFill>
          <a:blip r:embed="rId3"/>
          <a:stretch>
            <a:fillRect/>
          </a:stretch>
        </p:blipFill>
        <p:spPr>
          <a:xfrm>
            <a:off x="1476375" y="2193136"/>
            <a:ext cx="6000234" cy="3394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63</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6" name="文本框 15"/>
          <p:cNvSpPr txBox="1"/>
          <p:nvPr/>
        </p:nvSpPr>
        <p:spPr>
          <a:xfrm>
            <a:off x="514340" y="1237026"/>
            <a:ext cx="8234124" cy="461665"/>
          </a:xfrm>
          <a:prstGeom prst="rect">
            <a:avLst/>
          </a:prstGeom>
          <a:noFill/>
        </p:spPr>
        <p:txBody>
          <a:bodyPr wrap="square" rtlCol="0">
            <a:spAutoFit/>
          </a:bodyPr>
          <a:lstStyle/>
          <a:p>
            <a:pPr algn="l"/>
            <a:r>
              <a:rPr kumimoji="1" lang="zh-CN" altLang="en-US" sz="2400" b="0" i="0" dirty="0">
                <a:solidFill>
                  <a:srgbClr val="000000"/>
                </a:solidFill>
              </a:rPr>
              <a:t>例</a:t>
            </a:r>
            <a:r>
              <a:rPr lang="en-US" altLang="zh-CN" sz="2400" b="0" i="0" dirty="0">
                <a:solidFill>
                  <a:srgbClr val="000000"/>
                </a:solidFill>
              </a:rPr>
              <a:t>9</a:t>
            </a:r>
            <a:r>
              <a:rPr kumimoji="1" lang="zh-CN" altLang="en-US" sz="2400" b="0" i="0" dirty="0">
                <a:solidFill>
                  <a:srgbClr val="000000"/>
                </a:solidFill>
              </a:rPr>
              <a:t>：设计</a:t>
            </a:r>
            <a:r>
              <a:rPr kumimoji="1" lang="en-US" altLang="zh-CN" sz="2400" b="0" i="0" dirty="0">
                <a:solidFill>
                  <a:srgbClr val="000000"/>
                </a:solidFill>
              </a:rPr>
              <a:t>DFA</a:t>
            </a:r>
            <a:r>
              <a:rPr lang="zh-CN" altLang="en-US" sz="2400" b="0" i="0" dirty="0">
                <a:solidFill>
                  <a:srgbClr val="000000"/>
                </a:solidFill>
              </a:rPr>
              <a:t>表示以下语言</a:t>
            </a:r>
            <a:endParaRPr kumimoji="1" lang="zh-CN" altLang="en-US" sz="2400" b="0" i="0" dirty="0">
              <a:solidFill>
                <a:srgbClr val="000000"/>
              </a:solidFill>
            </a:endParaRPr>
          </a:p>
        </p:txBody>
      </p:sp>
      <p:pic>
        <p:nvPicPr>
          <p:cNvPr id="17" name="图片 16"/>
          <p:cNvPicPr>
            <a:picLocks noChangeAspect="1"/>
          </p:cNvPicPr>
          <p:nvPr/>
        </p:nvPicPr>
        <p:blipFill>
          <a:blip r:embed="rId11"/>
          <a:stretch>
            <a:fillRect/>
          </a:stretch>
        </p:blipFill>
        <p:spPr>
          <a:xfrm>
            <a:off x="703719" y="1783185"/>
            <a:ext cx="7684705" cy="341542"/>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3887788" cy="641350"/>
          </a:xfrm>
          <a:prstGeom prst="rect">
            <a:avLst/>
          </a:prstGeom>
          <a:noFill/>
          <a:ln w="9525" algn="ctr">
            <a:noFill/>
            <a:miter lim="800000"/>
          </a:ln>
          <a:effectLst/>
        </p:spPr>
        <p:txBody>
          <a:bodyPr>
            <a:spAutoFit/>
          </a:bodyPr>
          <a:lstStyle/>
          <a:p>
            <a:pPr>
              <a:lnSpc>
                <a:spcPct val="90000"/>
              </a:lnSpc>
            </a:pPr>
            <a:r>
              <a:rPr lang="zh-CN" altLang="en-US" sz="4000" i="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27" name="文本框 26"/>
          <p:cNvSpPr txBox="1"/>
          <p:nvPr/>
        </p:nvSpPr>
        <p:spPr>
          <a:xfrm>
            <a:off x="514340" y="1237026"/>
            <a:ext cx="8234124" cy="461665"/>
          </a:xfrm>
          <a:prstGeom prst="rect">
            <a:avLst/>
          </a:prstGeom>
          <a:noFill/>
        </p:spPr>
        <p:txBody>
          <a:bodyPr wrap="square" rtlCol="0">
            <a:spAutoFit/>
          </a:bodyPr>
          <a:lstStyle/>
          <a:p>
            <a:pPr algn="l"/>
            <a:r>
              <a:rPr kumimoji="1" lang="zh-CN" altLang="en-US" sz="2400" b="0" i="0" dirty="0">
                <a:solidFill>
                  <a:srgbClr val="000000"/>
                </a:solidFill>
              </a:rPr>
              <a:t>例</a:t>
            </a:r>
            <a:r>
              <a:rPr lang="en-US" altLang="zh-CN" sz="2400" b="0" i="0" dirty="0">
                <a:solidFill>
                  <a:srgbClr val="000000"/>
                </a:solidFill>
              </a:rPr>
              <a:t>9</a:t>
            </a:r>
            <a:r>
              <a:rPr kumimoji="1" lang="zh-CN" altLang="en-US" sz="2400" b="0" i="0" dirty="0">
                <a:solidFill>
                  <a:srgbClr val="000000"/>
                </a:solidFill>
              </a:rPr>
              <a:t>：设计</a:t>
            </a:r>
            <a:r>
              <a:rPr kumimoji="1" lang="en-US" altLang="zh-CN" sz="2400" b="0" i="0" dirty="0">
                <a:solidFill>
                  <a:srgbClr val="000000"/>
                </a:solidFill>
              </a:rPr>
              <a:t>DFA</a:t>
            </a:r>
            <a:r>
              <a:rPr lang="zh-CN" altLang="en-US" sz="2400" b="0" i="0" dirty="0">
                <a:solidFill>
                  <a:srgbClr val="000000"/>
                </a:solidFill>
              </a:rPr>
              <a:t>表示以下语言</a:t>
            </a:r>
            <a:endParaRPr kumimoji="1" lang="zh-CN" altLang="en-US" sz="2400" b="0" i="0" dirty="0">
              <a:solidFill>
                <a:srgbClr val="000000"/>
              </a:solidFill>
            </a:endParaRPr>
          </a:p>
        </p:txBody>
      </p:sp>
      <p:grpSp>
        <p:nvGrpSpPr>
          <p:cNvPr id="71" name="组合 70"/>
          <p:cNvGrpSpPr/>
          <p:nvPr/>
        </p:nvGrpSpPr>
        <p:grpSpPr>
          <a:xfrm>
            <a:off x="587157" y="4847229"/>
            <a:ext cx="8234124" cy="1544866"/>
            <a:chOff x="573051" y="4098848"/>
            <a:chExt cx="8234124" cy="1544866"/>
          </a:xfrm>
        </p:grpSpPr>
        <p:sp>
          <p:nvSpPr>
            <p:cNvPr id="72" name="文本框 71"/>
            <p:cNvSpPr txBox="1"/>
            <p:nvPr/>
          </p:nvSpPr>
          <p:spPr>
            <a:xfrm>
              <a:off x="573051" y="4098848"/>
              <a:ext cx="8234124" cy="461665"/>
            </a:xfrm>
            <a:prstGeom prst="rect">
              <a:avLst/>
            </a:prstGeom>
            <a:noFill/>
          </p:spPr>
          <p:txBody>
            <a:bodyPr wrap="square" rtlCol="0">
              <a:spAutoFit/>
            </a:bodyPr>
            <a:lstStyle/>
            <a:p>
              <a:pPr algn="l"/>
              <a:r>
                <a:rPr kumimoji="1" lang="zh-CN" altLang="en-US" sz="2400" b="0" i="0" dirty="0">
                  <a:solidFill>
                    <a:srgbClr val="000000"/>
                  </a:solidFill>
                </a:rPr>
                <a:t>解：</a:t>
              </a:r>
              <a:r>
                <a:rPr lang="zh-CN" altLang="en-US" sz="2400" b="0" i="0" dirty="0">
                  <a:solidFill>
                    <a:srgbClr val="000000"/>
                  </a:solidFill>
                </a:rPr>
                <a:t>这道题看上去很复杂，既有包含关系，又有不包含关系。</a:t>
              </a:r>
              <a:endParaRPr kumimoji="1" lang="zh-CN" altLang="en-US" sz="2400" b="0" i="0" dirty="0">
                <a:solidFill>
                  <a:srgbClr val="000000"/>
                </a:solidFill>
              </a:endParaRPr>
            </a:p>
          </p:txBody>
        </p:sp>
        <p:sp>
          <p:nvSpPr>
            <p:cNvPr id="73" name="文本框 72"/>
            <p:cNvSpPr txBox="1"/>
            <p:nvPr/>
          </p:nvSpPr>
          <p:spPr>
            <a:xfrm>
              <a:off x="573051" y="4645007"/>
              <a:ext cx="8234124" cy="461665"/>
            </a:xfrm>
            <a:prstGeom prst="rect">
              <a:avLst/>
            </a:prstGeom>
            <a:noFill/>
          </p:spPr>
          <p:txBody>
            <a:bodyPr wrap="square" rtlCol="0">
              <a:spAutoFit/>
            </a:bodyPr>
            <a:lstStyle/>
            <a:p>
              <a:pPr algn="l"/>
              <a:r>
                <a:rPr kumimoji="1" lang="zh-CN" altLang="en-US" sz="2400" b="0" i="0" dirty="0">
                  <a:solidFill>
                    <a:srgbClr val="000000"/>
                  </a:solidFill>
                </a:rPr>
                <a:t>但基本策略不变，还是先把主线上的节点和连线确定，再补</a:t>
              </a:r>
            </a:p>
          </p:txBody>
        </p:sp>
        <p:sp>
          <p:nvSpPr>
            <p:cNvPr id="74" name="文本框 73"/>
            <p:cNvSpPr txBox="1"/>
            <p:nvPr/>
          </p:nvSpPr>
          <p:spPr>
            <a:xfrm>
              <a:off x="573051" y="5182049"/>
              <a:ext cx="8234124" cy="461665"/>
            </a:xfrm>
            <a:prstGeom prst="rect">
              <a:avLst/>
            </a:prstGeom>
            <a:noFill/>
          </p:spPr>
          <p:txBody>
            <a:bodyPr wrap="square" rtlCol="0">
              <a:spAutoFit/>
            </a:bodyPr>
            <a:lstStyle/>
            <a:p>
              <a:pPr algn="l"/>
              <a:r>
                <a:rPr kumimoji="1" lang="zh-CN" altLang="en-US" sz="2400" b="0" i="0" dirty="0">
                  <a:solidFill>
                    <a:srgbClr val="000000"/>
                  </a:solidFill>
                </a:rPr>
                <a:t>齐所有的出边。</a:t>
              </a:r>
            </a:p>
          </p:txBody>
        </p:sp>
      </p:grpSp>
      <p:pic>
        <p:nvPicPr>
          <p:cNvPr id="2" name="图片 1"/>
          <p:cNvPicPr>
            <a:picLocks noChangeAspect="1"/>
          </p:cNvPicPr>
          <p:nvPr/>
        </p:nvPicPr>
        <p:blipFill>
          <a:blip r:embed="rId2"/>
          <a:stretch>
            <a:fillRect/>
          </a:stretch>
        </p:blipFill>
        <p:spPr>
          <a:xfrm>
            <a:off x="703719" y="1783185"/>
            <a:ext cx="7684705" cy="341542"/>
          </a:xfrm>
          <a:prstGeom prst="rect">
            <a:avLst/>
          </a:prstGeom>
        </p:spPr>
      </p:pic>
      <p:grpSp>
        <p:nvGrpSpPr>
          <p:cNvPr id="33" name="组合 32"/>
          <p:cNvGrpSpPr/>
          <p:nvPr/>
        </p:nvGrpSpPr>
        <p:grpSpPr>
          <a:xfrm>
            <a:off x="2863540" y="3739611"/>
            <a:ext cx="2166717" cy="894196"/>
            <a:chOff x="2863540" y="3739611"/>
            <a:chExt cx="2166717" cy="894196"/>
          </a:xfrm>
        </p:grpSpPr>
        <p:sp>
          <p:nvSpPr>
            <p:cNvPr id="38" name="椭圆 37"/>
            <p:cNvSpPr/>
            <p:nvPr/>
          </p:nvSpPr>
          <p:spPr bwMode="auto">
            <a:xfrm>
              <a:off x="3467924" y="3926986"/>
              <a:ext cx="432048" cy="432048"/>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40" name="椭圆 39"/>
            <p:cNvSpPr/>
            <p:nvPr/>
          </p:nvSpPr>
          <p:spPr bwMode="auto">
            <a:xfrm>
              <a:off x="4598209" y="3923302"/>
              <a:ext cx="432048" cy="432048"/>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cxnSp>
          <p:nvCxnSpPr>
            <p:cNvPr id="52" name="直线箭头连接符 51"/>
            <p:cNvCxnSpPr>
              <a:stCxn id="3" idx="5"/>
              <a:endCxn id="38" idx="2"/>
            </p:cNvCxnSpPr>
            <p:nvPr/>
          </p:nvCxnSpPr>
          <p:spPr bwMode="auto">
            <a:xfrm>
              <a:off x="2863540" y="3739611"/>
              <a:ext cx="604384" cy="403399"/>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57" name="直线箭头连接符 56"/>
            <p:cNvCxnSpPr>
              <a:stCxn id="38" idx="6"/>
              <a:endCxn id="40" idx="2"/>
            </p:cNvCxnSpPr>
            <p:nvPr/>
          </p:nvCxnSpPr>
          <p:spPr bwMode="auto">
            <a:xfrm flipV="1">
              <a:off x="3899972" y="4139326"/>
              <a:ext cx="698237" cy="3684"/>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66" name="文本框 65"/>
            <p:cNvSpPr txBox="1"/>
            <p:nvPr/>
          </p:nvSpPr>
          <p:spPr>
            <a:xfrm>
              <a:off x="2863540" y="3941310"/>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sp>
          <p:nvSpPr>
            <p:cNvPr id="67" name="文本框 66"/>
            <p:cNvSpPr txBox="1"/>
            <p:nvPr/>
          </p:nvSpPr>
          <p:spPr>
            <a:xfrm>
              <a:off x="4069948" y="4172142"/>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grpSp>
      <p:grpSp>
        <p:nvGrpSpPr>
          <p:cNvPr id="47" name="组合 46"/>
          <p:cNvGrpSpPr/>
          <p:nvPr/>
        </p:nvGrpSpPr>
        <p:grpSpPr>
          <a:xfrm>
            <a:off x="5046695" y="3905079"/>
            <a:ext cx="1145335" cy="461665"/>
            <a:chOff x="5046695" y="3905079"/>
            <a:chExt cx="1145335" cy="461665"/>
          </a:xfrm>
        </p:grpSpPr>
        <p:sp>
          <p:nvSpPr>
            <p:cNvPr id="63" name="弧 62"/>
            <p:cNvSpPr/>
            <p:nvPr/>
          </p:nvSpPr>
          <p:spPr bwMode="auto">
            <a:xfrm rot="16619624">
              <a:off x="5062959" y="3933803"/>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68" name="文本框 67"/>
            <p:cNvSpPr txBox="1"/>
            <p:nvPr/>
          </p:nvSpPr>
          <p:spPr>
            <a:xfrm>
              <a:off x="5493797" y="3905079"/>
              <a:ext cx="698233"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0, 1</a:t>
              </a:r>
              <a:endParaRPr kumimoji="1" lang="zh-CN" altLang="en-US" sz="2400" b="0" i="0" dirty="0">
                <a:solidFill>
                  <a:srgbClr val="000000"/>
                </a:solidFill>
                <a:cs typeface="Times New Roman" panose="02020603050405020304" pitchFamily="18" charset="0"/>
              </a:endParaRPr>
            </a:p>
          </p:txBody>
        </p:sp>
      </p:grpSp>
      <p:grpSp>
        <p:nvGrpSpPr>
          <p:cNvPr id="53" name="组合 52"/>
          <p:cNvGrpSpPr/>
          <p:nvPr/>
        </p:nvGrpSpPr>
        <p:grpSpPr>
          <a:xfrm>
            <a:off x="4814233" y="3115373"/>
            <a:ext cx="390181" cy="807929"/>
            <a:chOff x="4814233" y="3115373"/>
            <a:chExt cx="390181" cy="807929"/>
          </a:xfrm>
        </p:grpSpPr>
        <p:cxnSp>
          <p:nvCxnSpPr>
            <p:cNvPr id="50" name="直线箭头连接符 49"/>
            <p:cNvCxnSpPr>
              <a:stCxn id="35" idx="4"/>
              <a:endCxn id="40" idx="0"/>
            </p:cNvCxnSpPr>
            <p:nvPr/>
          </p:nvCxnSpPr>
          <p:spPr bwMode="auto">
            <a:xfrm>
              <a:off x="4814233" y="3115373"/>
              <a:ext cx="0" cy="807929"/>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69" name="文本框 68"/>
            <p:cNvSpPr txBox="1"/>
            <p:nvPr/>
          </p:nvSpPr>
          <p:spPr>
            <a:xfrm>
              <a:off x="4844374" y="3267735"/>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grpSp>
      <p:grpSp>
        <p:nvGrpSpPr>
          <p:cNvPr id="51" name="组合 50"/>
          <p:cNvGrpSpPr/>
          <p:nvPr/>
        </p:nvGrpSpPr>
        <p:grpSpPr>
          <a:xfrm>
            <a:off x="3346999" y="3110341"/>
            <a:ext cx="360040" cy="816645"/>
            <a:chOff x="3346999" y="3110341"/>
            <a:chExt cx="360040" cy="816645"/>
          </a:xfrm>
        </p:grpSpPr>
        <p:cxnSp>
          <p:nvCxnSpPr>
            <p:cNvPr id="58" name="直线箭头连接符 57"/>
            <p:cNvCxnSpPr>
              <a:stCxn id="38" idx="0"/>
              <a:endCxn id="34" idx="4"/>
            </p:cNvCxnSpPr>
            <p:nvPr/>
          </p:nvCxnSpPr>
          <p:spPr bwMode="auto">
            <a:xfrm flipV="1">
              <a:off x="3683948" y="3110341"/>
              <a:ext cx="0" cy="816645"/>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70" name="文本框 69"/>
            <p:cNvSpPr txBox="1"/>
            <p:nvPr/>
          </p:nvSpPr>
          <p:spPr>
            <a:xfrm>
              <a:off x="3346999" y="3298349"/>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a:t>
              </a:r>
              <a:endParaRPr kumimoji="1" lang="zh-CN" altLang="en-US" sz="2400" b="0" i="0" dirty="0">
                <a:solidFill>
                  <a:srgbClr val="000000"/>
                </a:solidFill>
                <a:cs typeface="Times New Roman" panose="02020603050405020304" pitchFamily="18" charset="0"/>
              </a:endParaRPr>
            </a:p>
          </p:txBody>
        </p:sp>
      </p:grpSp>
      <p:grpSp>
        <p:nvGrpSpPr>
          <p:cNvPr id="32" name="组合 31"/>
          <p:cNvGrpSpPr/>
          <p:nvPr/>
        </p:nvGrpSpPr>
        <p:grpSpPr>
          <a:xfrm>
            <a:off x="1919419" y="2382089"/>
            <a:ext cx="3110838" cy="1420794"/>
            <a:chOff x="1919419" y="2382089"/>
            <a:chExt cx="3110838" cy="1420794"/>
          </a:xfrm>
        </p:grpSpPr>
        <p:sp>
          <p:nvSpPr>
            <p:cNvPr id="3" name="椭圆 2"/>
            <p:cNvSpPr/>
            <p:nvPr/>
          </p:nvSpPr>
          <p:spPr bwMode="auto">
            <a:xfrm>
              <a:off x="2494764" y="3370835"/>
              <a:ext cx="432048" cy="432048"/>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34" name="椭圆 33"/>
            <p:cNvSpPr/>
            <p:nvPr/>
          </p:nvSpPr>
          <p:spPr bwMode="auto">
            <a:xfrm>
              <a:off x="3467924" y="2678293"/>
              <a:ext cx="432048" cy="432048"/>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35" name="椭圆 34"/>
            <p:cNvSpPr/>
            <p:nvPr/>
          </p:nvSpPr>
          <p:spPr bwMode="auto">
            <a:xfrm>
              <a:off x="4598209" y="2683325"/>
              <a:ext cx="432048" cy="432048"/>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cxnSp>
          <p:nvCxnSpPr>
            <p:cNvPr id="7" name="直线箭头连接符 6"/>
            <p:cNvCxnSpPr>
              <a:endCxn id="3" idx="2"/>
            </p:cNvCxnSpPr>
            <p:nvPr/>
          </p:nvCxnSpPr>
          <p:spPr bwMode="auto">
            <a:xfrm>
              <a:off x="1919419" y="3586859"/>
              <a:ext cx="575345"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3" name="直线箭头连接符 42"/>
            <p:cNvCxnSpPr>
              <a:stCxn id="3" idx="7"/>
              <a:endCxn id="34" idx="2"/>
            </p:cNvCxnSpPr>
            <p:nvPr/>
          </p:nvCxnSpPr>
          <p:spPr bwMode="auto">
            <a:xfrm flipV="1">
              <a:off x="2863540" y="2894317"/>
              <a:ext cx="604384" cy="53979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6" name="直线箭头连接符 45"/>
            <p:cNvCxnSpPr>
              <a:stCxn id="34" idx="6"/>
              <a:endCxn id="35" idx="2"/>
            </p:cNvCxnSpPr>
            <p:nvPr/>
          </p:nvCxnSpPr>
          <p:spPr bwMode="auto">
            <a:xfrm>
              <a:off x="3899972" y="2894317"/>
              <a:ext cx="698237" cy="5032"/>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64" name="文本框 63"/>
            <p:cNvSpPr txBox="1"/>
            <p:nvPr/>
          </p:nvSpPr>
          <p:spPr>
            <a:xfrm>
              <a:off x="2874191" y="2743037"/>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a:t>
              </a:r>
              <a:endParaRPr kumimoji="1" lang="zh-CN" altLang="en-US" sz="2400" b="0" i="0" dirty="0">
                <a:solidFill>
                  <a:srgbClr val="000000"/>
                </a:solidFill>
                <a:cs typeface="Times New Roman" panose="02020603050405020304" pitchFamily="18" charset="0"/>
              </a:endParaRPr>
            </a:p>
          </p:txBody>
        </p:sp>
        <p:sp>
          <p:nvSpPr>
            <p:cNvPr id="65" name="文本框 64"/>
            <p:cNvSpPr txBox="1"/>
            <p:nvPr/>
          </p:nvSpPr>
          <p:spPr>
            <a:xfrm>
              <a:off x="4069070" y="2382089"/>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sp>
          <p:nvSpPr>
            <p:cNvPr id="91" name="椭圆 90"/>
            <p:cNvSpPr/>
            <p:nvPr/>
          </p:nvSpPr>
          <p:spPr bwMode="auto">
            <a:xfrm>
              <a:off x="4667438" y="2739576"/>
              <a:ext cx="298440" cy="32227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grpSp>
      <p:grpSp>
        <p:nvGrpSpPr>
          <p:cNvPr id="44" name="组合 43"/>
          <p:cNvGrpSpPr/>
          <p:nvPr/>
        </p:nvGrpSpPr>
        <p:grpSpPr>
          <a:xfrm>
            <a:off x="5005726" y="2361068"/>
            <a:ext cx="1950712" cy="1070314"/>
            <a:chOff x="5005726" y="2361068"/>
            <a:chExt cx="1950712" cy="1070314"/>
          </a:xfrm>
        </p:grpSpPr>
        <p:sp>
          <p:nvSpPr>
            <p:cNvPr id="41" name="椭圆 40"/>
            <p:cNvSpPr/>
            <p:nvPr/>
          </p:nvSpPr>
          <p:spPr bwMode="auto">
            <a:xfrm>
              <a:off x="5703959" y="2678293"/>
              <a:ext cx="432048" cy="432048"/>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cxnSp>
          <p:nvCxnSpPr>
            <p:cNvPr id="48" name="直线箭头连接符 47"/>
            <p:cNvCxnSpPr/>
            <p:nvPr/>
          </p:nvCxnSpPr>
          <p:spPr bwMode="auto">
            <a:xfrm>
              <a:off x="5015044" y="2823914"/>
              <a:ext cx="698237" cy="5032"/>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62" name="弧 61"/>
            <p:cNvSpPr/>
            <p:nvPr/>
          </p:nvSpPr>
          <p:spPr bwMode="auto">
            <a:xfrm rot="16619624">
              <a:off x="6165559" y="2686432"/>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sp>
          <p:nvSpPr>
            <p:cNvPr id="87" name="文本框 86"/>
            <p:cNvSpPr txBox="1"/>
            <p:nvPr/>
          </p:nvSpPr>
          <p:spPr>
            <a:xfrm>
              <a:off x="5187088" y="2361068"/>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a:t>
              </a:r>
              <a:endParaRPr kumimoji="1" lang="zh-CN" altLang="en-US" sz="2400" b="0" i="0" dirty="0">
                <a:solidFill>
                  <a:srgbClr val="000000"/>
                </a:solidFill>
                <a:cs typeface="Times New Roman" panose="02020603050405020304" pitchFamily="18" charset="0"/>
              </a:endParaRPr>
            </a:p>
          </p:txBody>
        </p:sp>
        <p:cxnSp>
          <p:nvCxnSpPr>
            <p:cNvPr id="88" name="直线箭头连接符 87"/>
            <p:cNvCxnSpPr/>
            <p:nvPr/>
          </p:nvCxnSpPr>
          <p:spPr bwMode="auto">
            <a:xfrm flipH="1">
              <a:off x="5005726" y="2975346"/>
              <a:ext cx="698233"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89" name="文本框 88"/>
            <p:cNvSpPr txBox="1"/>
            <p:nvPr/>
          </p:nvSpPr>
          <p:spPr>
            <a:xfrm>
              <a:off x="5194051" y="2969717"/>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1</a:t>
              </a:r>
              <a:endParaRPr kumimoji="1" lang="zh-CN" altLang="en-US" sz="2400" b="0" i="0" dirty="0">
                <a:solidFill>
                  <a:srgbClr val="000000"/>
                </a:solidFill>
                <a:cs typeface="Times New Roman" panose="02020603050405020304" pitchFamily="18" charset="0"/>
              </a:endParaRPr>
            </a:p>
          </p:txBody>
        </p:sp>
        <p:sp>
          <p:nvSpPr>
            <p:cNvPr id="90" name="文本框 89"/>
            <p:cNvSpPr txBox="1"/>
            <p:nvPr/>
          </p:nvSpPr>
          <p:spPr>
            <a:xfrm>
              <a:off x="6596398" y="2605212"/>
              <a:ext cx="360040" cy="461665"/>
            </a:xfrm>
            <a:prstGeom prst="rect">
              <a:avLst/>
            </a:prstGeom>
            <a:noFill/>
          </p:spPr>
          <p:txBody>
            <a:bodyPr wrap="square" rtlCol="0">
              <a:spAutoFit/>
            </a:bodyPr>
            <a:lstStyle/>
            <a:p>
              <a:r>
                <a:rPr kumimoji="1" lang="en-US" altLang="zh-CN" sz="2400" b="0" i="0" dirty="0">
                  <a:solidFill>
                    <a:srgbClr val="000000"/>
                  </a:solidFill>
                  <a:cs typeface="Times New Roman" panose="02020603050405020304" pitchFamily="18" charset="0"/>
                </a:rPr>
                <a:t>0</a:t>
              </a:r>
              <a:endParaRPr kumimoji="1" lang="zh-CN" altLang="en-US" sz="2400" b="0" i="0" dirty="0">
                <a:solidFill>
                  <a:srgbClr val="000000"/>
                </a:solidFill>
                <a:cs typeface="Times New Roman" panose="02020603050405020304" pitchFamily="18" charset="0"/>
              </a:endParaRPr>
            </a:p>
          </p:txBody>
        </p:sp>
        <p:sp>
          <p:nvSpPr>
            <p:cNvPr id="93" name="椭圆 92"/>
            <p:cNvSpPr/>
            <p:nvPr/>
          </p:nvSpPr>
          <p:spPr bwMode="auto">
            <a:xfrm>
              <a:off x="5770917" y="2736926"/>
              <a:ext cx="298440" cy="32227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grpSp>
      <p:grpSp>
        <p:nvGrpSpPr>
          <p:cNvPr id="5" name="组合 4"/>
          <p:cNvGrpSpPr/>
          <p:nvPr/>
        </p:nvGrpSpPr>
        <p:grpSpPr>
          <a:xfrm>
            <a:off x="3169975" y="2166112"/>
            <a:ext cx="714088" cy="527290"/>
            <a:chOff x="3185684" y="2177341"/>
            <a:chExt cx="714088" cy="527290"/>
          </a:xfrm>
        </p:grpSpPr>
        <p:sp>
          <p:nvSpPr>
            <p:cNvPr id="45" name="弧 44"/>
            <p:cNvSpPr/>
            <p:nvPr/>
          </p:nvSpPr>
          <p:spPr bwMode="auto">
            <a:xfrm rot="11339693">
              <a:off x="3507498" y="2279830"/>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dirty="0">
                <a:ln>
                  <a:noFill/>
                </a:ln>
                <a:solidFill>
                  <a:srgbClr val="800080"/>
                </a:solidFill>
                <a:effectLst/>
                <a:latin typeface="Times New Roman" panose="02020603050405020304" pitchFamily="18" charset="0"/>
                <a:ea typeface="宋体" panose="02010600030101010101" pitchFamily="2" charset="-122"/>
              </a:endParaRPr>
            </a:p>
          </p:txBody>
        </p:sp>
        <p:sp>
          <p:nvSpPr>
            <p:cNvPr id="4" name="文本框 3"/>
            <p:cNvSpPr txBox="1"/>
            <p:nvPr/>
          </p:nvSpPr>
          <p:spPr>
            <a:xfrm>
              <a:off x="3185684" y="2177341"/>
              <a:ext cx="336265" cy="461665"/>
            </a:xfrm>
            <a:prstGeom prst="rect">
              <a:avLst/>
            </a:prstGeom>
            <a:noFill/>
          </p:spPr>
          <p:txBody>
            <a:bodyPr wrap="square" rtlCol="0">
              <a:spAutoFit/>
            </a:bodyPr>
            <a:lstStyle/>
            <a:p>
              <a:r>
                <a:rPr kumimoji="1" lang="en-US" altLang="zh-CN" sz="2400" b="0" i="0" dirty="0">
                  <a:solidFill>
                    <a:srgbClr val="000000"/>
                  </a:solidFill>
                </a:rPr>
                <a:t>0</a:t>
              </a:r>
              <a:endParaRPr kumimoji="1" lang="zh-CN" altLang="en-US" b="0" i="0" dirty="0">
                <a:solidFill>
                  <a:srgbClr val="00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dirty="0">
                <a:solidFill>
                  <a:srgbClr val="FF0000"/>
                </a:solidFill>
              </a:rPr>
              <a:t>方法</a:t>
            </a:r>
            <a:r>
              <a:rPr lang="zh-CN" altLang="en-US" dirty="0"/>
              <a:t>：从初始状态开始，重点关注可以到达结束状态的路径。</a:t>
            </a:r>
          </a:p>
        </p:txBody>
      </p:sp>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65</a:t>
            </a:fld>
            <a:endParaRPr lang="en-US" altLang="zh-CN"/>
          </a:p>
        </p:txBody>
      </p:sp>
      <p:sp>
        <p:nvSpPr>
          <p:cNvPr id="5"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习题练习</a:t>
            </a:r>
            <a:r>
              <a:rPr lang="en-US" altLang="zh-CN" sz="3600" dirty="0">
                <a:solidFill>
                  <a:schemeClr val="bg1"/>
                </a:solidFill>
              </a:rPr>
              <a:t>-</a:t>
            </a:r>
            <a:r>
              <a:rPr lang="zh-CN" altLang="en-US" sz="3600" dirty="0">
                <a:solidFill>
                  <a:schemeClr val="bg1"/>
                </a:solidFill>
              </a:rPr>
              <a:t>非确定有限自动机的设计</a:t>
            </a:r>
            <a:endParaRPr lang="en-AU" sz="36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66</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5" name="文本框 14"/>
          <p:cNvSpPr txBox="1"/>
          <p:nvPr/>
        </p:nvSpPr>
        <p:spPr>
          <a:xfrm>
            <a:off x="452200" y="1083030"/>
            <a:ext cx="8234124"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：设计</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NFA</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接受以下语言</a:t>
            </a:r>
          </a:p>
        </p:txBody>
      </p:sp>
      <p:pic>
        <p:nvPicPr>
          <p:cNvPr id="18" name="图片 17"/>
          <p:cNvPicPr>
            <a:picLocks noChangeAspect="1"/>
          </p:cNvPicPr>
          <p:nvPr/>
        </p:nvPicPr>
        <p:blipFill>
          <a:blip r:embed="rId11"/>
          <a:stretch>
            <a:fillRect/>
          </a:stretch>
        </p:blipFill>
        <p:spPr>
          <a:xfrm>
            <a:off x="277684" y="1706927"/>
            <a:ext cx="8534400" cy="355600"/>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dirty="0">
                <a:ea typeface="华文行楷" panose="02010800040101010101" pitchFamily="2" charset="-122"/>
              </a:rPr>
              <a:t>非</a:t>
            </a:r>
            <a:r>
              <a:rPr lang="zh-CN" altLang="en-US" sz="4000" i="0" dirty="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49" name="文本框 48"/>
          <p:cNvSpPr txBox="1"/>
          <p:nvPr/>
        </p:nvSpPr>
        <p:spPr>
          <a:xfrm>
            <a:off x="452200" y="1083030"/>
            <a:ext cx="8234124"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：设计</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NFA</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接受以下语言</a:t>
            </a:r>
          </a:p>
        </p:txBody>
      </p:sp>
      <p:grpSp>
        <p:nvGrpSpPr>
          <p:cNvPr id="54" name="组合 53"/>
          <p:cNvGrpSpPr/>
          <p:nvPr/>
        </p:nvGrpSpPr>
        <p:grpSpPr>
          <a:xfrm>
            <a:off x="1561539" y="2462528"/>
            <a:ext cx="6422231" cy="2125267"/>
            <a:chOff x="1623678" y="2616524"/>
            <a:chExt cx="6422231" cy="2125267"/>
          </a:xfrm>
        </p:grpSpPr>
        <p:sp>
          <p:nvSpPr>
            <p:cNvPr id="55" name="椭圆 54"/>
            <p:cNvSpPr/>
            <p:nvPr/>
          </p:nvSpPr>
          <p:spPr bwMode="auto">
            <a:xfrm>
              <a:off x="2271750" y="3406805"/>
              <a:ext cx="50405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56" name="椭圆 55"/>
            <p:cNvSpPr/>
            <p:nvPr/>
          </p:nvSpPr>
          <p:spPr bwMode="auto">
            <a:xfrm>
              <a:off x="3600450" y="3409565"/>
              <a:ext cx="50405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59" name="椭圆 58"/>
            <p:cNvSpPr/>
            <p:nvPr/>
          </p:nvSpPr>
          <p:spPr bwMode="auto">
            <a:xfrm>
              <a:off x="4972463" y="2616524"/>
              <a:ext cx="50405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60" name="椭圆 59"/>
            <p:cNvSpPr/>
            <p:nvPr/>
          </p:nvSpPr>
          <p:spPr bwMode="auto">
            <a:xfrm>
              <a:off x="4946831" y="4237735"/>
              <a:ext cx="50405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61" name="椭圆 60"/>
            <p:cNvSpPr/>
            <p:nvPr/>
          </p:nvSpPr>
          <p:spPr bwMode="auto">
            <a:xfrm>
              <a:off x="6372200" y="3409565"/>
              <a:ext cx="50405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cxnSp>
          <p:nvCxnSpPr>
            <p:cNvPr id="75" name="直线箭头连接符 27"/>
            <p:cNvCxnSpPr>
              <a:endCxn id="55" idx="2"/>
            </p:cNvCxnSpPr>
            <p:nvPr/>
          </p:nvCxnSpPr>
          <p:spPr bwMode="auto">
            <a:xfrm>
              <a:off x="1623678" y="3658833"/>
              <a:ext cx="648072"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76" name="直线箭头连接符 40"/>
            <p:cNvCxnSpPr>
              <a:stCxn id="55" idx="6"/>
              <a:endCxn id="56" idx="2"/>
            </p:cNvCxnSpPr>
            <p:nvPr/>
          </p:nvCxnSpPr>
          <p:spPr bwMode="auto">
            <a:xfrm>
              <a:off x="2775806" y="3658833"/>
              <a:ext cx="824644" cy="276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77" name="直线箭头连接符 41"/>
            <p:cNvCxnSpPr>
              <a:stCxn id="56" idx="7"/>
              <a:endCxn id="59" idx="2"/>
            </p:cNvCxnSpPr>
            <p:nvPr/>
          </p:nvCxnSpPr>
          <p:spPr bwMode="auto">
            <a:xfrm flipV="1">
              <a:off x="4030689" y="2868552"/>
              <a:ext cx="941774" cy="61483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78" name="直线箭头连接符 43"/>
            <p:cNvCxnSpPr>
              <a:stCxn id="56" idx="5"/>
              <a:endCxn id="60" idx="2"/>
            </p:cNvCxnSpPr>
            <p:nvPr/>
          </p:nvCxnSpPr>
          <p:spPr bwMode="auto">
            <a:xfrm>
              <a:off x="4030689" y="3839804"/>
              <a:ext cx="916142" cy="649959"/>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79" name="直线箭头连接符 46"/>
            <p:cNvCxnSpPr>
              <a:stCxn id="59" idx="6"/>
              <a:endCxn id="61" idx="1"/>
            </p:cNvCxnSpPr>
            <p:nvPr/>
          </p:nvCxnSpPr>
          <p:spPr bwMode="auto">
            <a:xfrm>
              <a:off x="5476519" y="2868552"/>
              <a:ext cx="969498" cy="61483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80" name="直线箭头连接符 49"/>
            <p:cNvCxnSpPr>
              <a:stCxn id="60" idx="6"/>
              <a:endCxn id="61" idx="3"/>
            </p:cNvCxnSpPr>
            <p:nvPr/>
          </p:nvCxnSpPr>
          <p:spPr bwMode="auto">
            <a:xfrm flipV="1">
              <a:off x="5450887" y="3839804"/>
              <a:ext cx="995130" cy="649959"/>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81" name="椭圆 80"/>
            <p:cNvSpPr/>
            <p:nvPr/>
          </p:nvSpPr>
          <p:spPr bwMode="auto">
            <a:xfrm>
              <a:off x="6429744" y="3466228"/>
              <a:ext cx="374504" cy="37357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82" name="弧 54"/>
            <p:cNvSpPr/>
            <p:nvPr/>
          </p:nvSpPr>
          <p:spPr bwMode="auto">
            <a:xfrm rot="16448005">
              <a:off x="6906105" y="3431528"/>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83" name="文本框 82"/>
            <p:cNvSpPr txBox="1"/>
            <p:nvPr/>
          </p:nvSpPr>
          <p:spPr>
            <a:xfrm>
              <a:off x="2756249" y="3162285"/>
              <a:ext cx="748945"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0, 1</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4" name="文本框 83"/>
            <p:cNvSpPr txBox="1"/>
            <p:nvPr/>
          </p:nvSpPr>
          <p:spPr>
            <a:xfrm>
              <a:off x="3967975" y="2669593"/>
              <a:ext cx="748945"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0</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5" name="文本框 84"/>
            <p:cNvSpPr txBox="1"/>
            <p:nvPr/>
          </p:nvSpPr>
          <p:spPr>
            <a:xfrm>
              <a:off x="5665667" y="2669592"/>
              <a:ext cx="748945"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6" name="文本框 85"/>
            <p:cNvSpPr txBox="1"/>
            <p:nvPr/>
          </p:nvSpPr>
          <p:spPr>
            <a:xfrm>
              <a:off x="3967975" y="4263919"/>
              <a:ext cx="748945"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 name="文本框 91"/>
            <p:cNvSpPr txBox="1"/>
            <p:nvPr/>
          </p:nvSpPr>
          <p:spPr>
            <a:xfrm>
              <a:off x="5680799" y="4258931"/>
              <a:ext cx="748945"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0</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4" name="文本框 93"/>
            <p:cNvSpPr txBox="1"/>
            <p:nvPr/>
          </p:nvSpPr>
          <p:spPr>
            <a:xfrm>
              <a:off x="7296964" y="3095305"/>
              <a:ext cx="748945"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0, 1</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95" name="组合 94"/>
          <p:cNvGrpSpPr/>
          <p:nvPr/>
        </p:nvGrpSpPr>
        <p:grpSpPr>
          <a:xfrm>
            <a:off x="452200" y="5002193"/>
            <a:ext cx="8239600" cy="1441163"/>
            <a:chOff x="514340" y="5316549"/>
            <a:chExt cx="8239600" cy="1441163"/>
          </a:xfrm>
        </p:grpSpPr>
        <p:sp>
          <p:nvSpPr>
            <p:cNvPr id="96" name="文本框 95"/>
            <p:cNvSpPr txBox="1"/>
            <p:nvPr/>
          </p:nvSpPr>
          <p:spPr>
            <a:xfrm>
              <a:off x="514340" y="5316549"/>
              <a:ext cx="8234124"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解：基本设计方法不变，还是沿着主线设计。第一个位置可</a:t>
              </a:r>
            </a:p>
          </p:txBody>
        </p:sp>
        <p:sp>
          <p:nvSpPr>
            <p:cNvPr id="97" name="文本框 96"/>
            <p:cNvSpPr txBox="1"/>
            <p:nvPr/>
          </p:nvSpPr>
          <p:spPr>
            <a:xfrm>
              <a:off x="519816" y="5835186"/>
              <a:ext cx="8234124"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是</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或者</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，第</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位和第</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位分成两条路线，确保题目要求的不</a:t>
              </a:r>
            </a:p>
          </p:txBody>
        </p:sp>
        <p:sp>
          <p:nvSpPr>
            <p:cNvPr id="98" name="文本框 97"/>
            <p:cNvSpPr txBox="1"/>
            <p:nvPr/>
          </p:nvSpPr>
          <p:spPr>
            <a:xfrm>
              <a:off x="514340" y="6296047"/>
              <a:ext cx="8234124"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同，最后是任意字符串。可见</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NFA</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的设计比</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DFA</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简单很多。</a:t>
              </a:r>
            </a:p>
          </p:txBody>
        </p:sp>
      </p:grpSp>
      <p:pic>
        <p:nvPicPr>
          <p:cNvPr id="99" name="图片 98"/>
          <p:cNvPicPr>
            <a:picLocks noChangeAspect="1"/>
          </p:cNvPicPr>
          <p:nvPr/>
        </p:nvPicPr>
        <p:blipFill>
          <a:blip r:embed="rId2"/>
          <a:stretch>
            <a:fillRect/>
          </a:stretch>
        </p:blipFill>
        <p:spPr>
          <a:xfrm>
            <a:off x="277684" y="1706927"/>
            <a:ext cx="8534400" cy="355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68</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6" name="文本框 15"/>
          <p:cNvSpPr txBox="1"/>
          <p:nvPr/>
        </p:nvSpPr>
        <p:spPr>
          <a:xfrm>
            <a:off x="645989" y="1046220"/>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例</a:t>
            </a:r>
            <a:r>
              <a:rPr kumimoji="1" lang="en-US" altLang="zh-CN" sz="2400" dirty="0">
                <a:solidFill>
                  <a:srgbClr val="000000"/>
                </a:solidFill>
                <a:latin typeface="Times New Roman" panose="02020603050405020304" pitchFamily="18" charset="0"/>
                <a:ea typeface="宋体" panose="02010600030101010101" pitchFamily="2" charset="-122"/>
              </a:rPr>
              <a:t>2</a:t>
            </a:r>
            <a:r>
              <a:rPr kumimoji="1" lang="zh-CN" altLang="en-US" sz="2400" dirty="0">
                <a:solidFill>
                  <a:srgbClr val="000000"/>
                </a:solidFill>
                <a:latin typeface="Times New Roman" panose="02020603050405020304" pitchFamily="18" charset="0"/>
                <a:ea typeface="宋体" panose="02010600030101010101" pitchFamily="2" charset="-122"/>
              </a:rPr>
              <a:t>：考虑下面的</a:t>
            </a:r>
          </a:p>
        </p:txBody>
      </p:sp>
      <p:pic>
        <p:nvPicPr>
          <p:cNvPr id="17" name="图片 16"/>
          <p:cNvPicPr>
            <a:picLocks noChangeAspect="1"/>
          </p:cNvPicPr>
          <p:nvPr/>
        </p:nvPicPr>
        <p:blipFill>
          <a:blip r:embed="rId11"/>
          <a:stretch>
            <a:fillRect/>
          </a:stretch>
        </p:blipFill>
        <p:spPr>
          <a:xfrm>
            <a:off x="2430932" y="1618066"/>
            <a:ext cx="4545434" cy="1728264"/>
          </a:xfrm>
          <a:prstGeom prst="rect">
            <a:avLst/>
          </a:prstGeom>
        </p:spPr>
      </p:pic>
      <p:pic>
        <p:nvPicPr>
          <p:cNvPr id="19" name="图片 18"/>
          <p:cNvPicPr>
            <a:picLocks noChangeAspect="1"/>
          </p:cNvPicPr>
          <p:nvPr/>
        </p:nvPicPr>
        <p:blipFill>
          <a:blip r:embed="rId12"/>
          <a:stretch>
            <a:fillRect/>
          </a:stretch>
        </p:blipFill>
        <p:spPr>
          <a:xfrm>
            <a:off x="1608024" y="3501683"/>
            <a:ext cx="4001979" cy="1104662"/>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dirty="0">
                <a:ea typeface="华文行楷" panose="02010800040101010101" pitchFamily="2" charset="-122"/>
              </a:rPr>
              <a:t>非</a:t>
            </a:r>
            <a:r>
              <a:rPr lang="zh-CN" altLang="en-US" sz="4000" i="0" dirty="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30" name="文本框 29"/>
          <p:cNvSpPr txBox="1"/>
          <p:nvPr/>
        </p:nvSpPr>
        <p:spPr>
          <a:xfrm>
            <a:off x="645989" y="1046220"/>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例</a:t>
            </a:r>
            <a:r>
              <a:rPr kumimoji="1" lang="en-US" altLang="zh-CN" sz="2400" dirty="0">
                <a:solidFill>
                  <a:srgbClr val="000000"/>
                </a:solidFill>
                <a:latin typeface="Times New Roman" panose="02020603050405020304" pitchFamily="18" charset="0"/>
                <a:ea typeface="宋体" panose="02010600030101010101" pitchFamily="2" charset="-122"/>
              </a:rPr>
              <a:t>2</a:t>
            </a:r>
            <a:r>
              <a:rPr kumimoji="1" lang="zh-CN" altLang="en-US" sz="2400" dirty="0">
                <a:solidFill>
                  <a:srgbClr val="000000"/>
                </a:solidFill>
                <a:latin typeface="Times New Roman" panose="02020603050405020304" pitchFamily="18" charset="0"/>
                <a:ea typeface="宋体" panose="02010600030101010101" pitchFamily="2" charset="-122"/>
              </a:rPr>
              <a:t>：考虑下面的</a:t>
            </a:r>
          </a:p>
        </p:txBody>
      </p:sp>
      <p:pic>
        <p:nvPicPr>
          <p:cNvPr id="31" name="图片 30"/>
          <p:cNvPicPr>
            <a:picLocks noChangeAspect="1"/>
          </p:cNvPicPr>
          <p:nvPr/>
        </p:nvPicPr>
        <p:blipFill>
          <a:blip r:embed="rId2"/>
          <a:stretch>
            <a:fillRect/>
          </a:stretch>
        </p:blipFill>
        <p:spPr>
          <a:xfrm>
            <a:off x="2430932" y="1618066"/>
            <a:ext cx="4545434" cy="1728264"/>
          </a:xfrm>
          <a:prstGeom prst="rect">
            <a:avLst/>
          </a:prstGeom>
        </p:spPr>
      </p:pic>
      <p:pic>
        <p:nvPicPr>
          <p:cNvPr id="32" name="图片 31"/>
          <p:cNvPicPr>
            <a:picLocks noChangeAspect="1"/>
          </p:cNvPicPr>
          <p:nvPr/>
        </p:nvPicPr>
        <p:blipFill>
          <a:blip r:embed="rId3"/>
          <a:stretch>
            <a:fillRect/>
          </a:stretch>
        </p:blipFill>
        <p:spPr>
          <a:xfrm>
            <a:off x="1608024" y="3501683"/>
            <a:ext cx="4001979" cy="1104662"/>
          </a:xfrm>
          <a:prstGeom prst="rect">
            <a:avLst/>
          </a:prstGeom>
        </p:spPr>
      </p:pic>
      <p:sp>
        <p:nvSpPr>
          <p:cNvPr id="33" name="文本框 32"/>
          <p:cNvSpPr txBox="1"/>
          <p:nvPr/>
        </p:nvSpPr>
        <p:spPr>
          <a:xfrm>
            <a:off x="762000" y="4713197"/>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解：</a:t>
            </a:r>
          </a:p>
        </p:txBody>
      </p:sp>
      <p:pic>
        <p:nvPicPr>
          <p:cNvPr id="34" name="图片 33"/>
          <p:cNvPicPr>
            <a:picLocks noChangeAspect="1"/>
          </p:cNvPicPr>
          <p:nvPr/>
        </p:nvPicPr>
        <p:blipFill>
          <a:blip r:embed="rId4"/>
          <a:stretch>
            <a:fillRect/>
          </a:stretch>
        </p:blipFill>
        <p:spPr>
          <a:xfrm>
            <a:off x="1725251" y="4745632"/>
            <a:ext cx="5956797" cy="172629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70</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5" name="文本框 14"/>
          <p:cNvSpPr txBox="1"/>
          <p:nvPr/>
        </p:nvSpPr>
        <p:spPr>
          <a:xfrm>
            <a:off x="636240" y="1605783"/>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为</a:t>
            </a:r>
            <a:r>
              <a:rPr kumimoji="1" lang="en-US" altLang="zh-CN" sz="2400" dirty="0">
                <a:solidFill>
                  <a:srgbClr val="000000"/>
                </a:solidFill>
                <a:latin typeface="Times New Roman" panose="02020603050405020304" pitchFamily="18" charset="0"/>
                <a:ea typeface="宋体" panose="02010600030101010101" pitchFamily="2" charset="-122"/>
              </a:rPr>
              <a:t>1</a:t>
            </a:r>
            <a:r>
              <a:rPr kumimoji="1" lang="zh-CN" altLang="en-US" sz="2400" dirty="0">
                <a:solidFill>
                  <a:srgbClr val="000000"/>
                </a:solidFill>
                <a:latin typeface="Times New Roman" panose="02020603050405020304" pitchFamily="18" charset="0"/>
                <a:ea typeface="宋体" panose="02010600030101010101" pitchFamily="2" charset="-122"/>
              </a:rPr>
              <a:t>，且前三个符号里面至少有一个</a:t>
            </a:r>
            <a:r>
              <a:rPr kumimoji="1" lang="en-US" altLang="zh-CN" sz="2400" dirty="0">
                <a:solidFill>
                  <a:srgbClr val="000000"/>
                </a:solidFill>
                <a:latin typeface="Times New Roman" panose="02020603050405020304" pitchFamily="18" charset="0"/>
                <a:ea typeface="宋体" panose="02010600030101010101" pitchFamily="2" charset="-122"/>
              </a:rPr>
              <a:t>0</a:t>
            </a:r>
            <a:r>
              <a:rPr kumimoji="1" lang="zh-CN" altLang="en-US" sz="2400" dirty="0">
                <a:solidFill>
                  <a:srgbClr val="000000"/>
                </a:solidFill>
                <a:latin typeface="Times New Roman" panose="02020603050405020304" pitchFamily="18" charset="0"/>
                <a:ea typeface="宋体" panose="02010600030101010101" pitchFamily="2" charset="-122"/>
              </a:rPr>
              <a:t>。</a:t>
            </a:r>
          </a:p>
        </p:txBody>
      </p:sp>
      <p:grpSp>
        <p:nvGrpSpPr>
          <p:cNvPr id="18" name="组合 17"/>
          <p:cNvGrpSpPr/>
          <p:nvPr/>
        </p:nvGrpSpPr>
        <p:grpSpPr>
          <a:xfrm>
            <a:off x="636240" y="1096038"/>
            <a:ext cx="8234124" cy="461665"/>
            <a:chOff x="636240" y="1096038"/>
            <a:chExt cx="8234124" cy="461665"/>
          </a:xfrm>
        </p:grpSpPr>
        <p:sp>
          <p:nvSpPr>
            <p:cNvPr id="20" name="文本框 19"/>
            <p:cNvSpPr txBox="1"/>
            <p:nvPr/>
          </p:nvSpPr>
          <p:spPr>
            <a:xfrm>
              <a:off x="636240" y="1096038"/>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例 </a:t>
              </a:r>
              <a:r>
                <a:rPr kumimoji="1" lang="en-US" altLang="zh-CN" sz="2400" dirty="0">
                  <a:solidFill>
                    <a:srgbClr val="000000"/>
                  </a:solidFill>
                  <a:latin typeface="Times New Roman" panose="02020603050405020304" pitchFamily="18" charset="0"/>
                  <a:ea typeface="宋体" panose="02010600030101010101" pitchFamily="2" charset="-122"/>
                </a:rPr>
                <a:t>3</a:t>
              </a:r>
              <a:r>
                <a:rPr kumimoji="1" lang="zh-CN" altLang="en-US" sz="2400" dirty="0">
                  <a:solidFill>
                    <a:srgbClr val="000000"/>
                  </a:solidFill>
                  <a:latin typeface="Times New Roman" panose="02020603050405020304" pitchFamily="18" charset="0"/>
                  <a:ea typeface="宋体" panose="02010600030101010101" pitchFamily="2" charset="-122"/>
                </a:rPr>
                <a:t>：设计             接受所有由</a:t>
              </a:r>
              <a:r>
                <a:rPr kumimoji="1" lang="en-US" altLang="zh-CN" sz="2400" dirty="0">
                  <a:solidFill>
                    <a:srgbClr val="000000"/>
                  </a:solidFill>
                  <a:latin typeface="Times New Roman" panose="02020603050405020304" pitchFamily="18" charset="0"/>
                  <a:ea typeface="宋体" panose="02010600030101010101" pitchFamily="2" charset="-122"/>
                </a:rPr>
                <a:t>0</a:t>
              </a:r>
              <a:r>
                <a:rPr kumimoji="1" lang="zh-CN" altLang="en-US" sz="2400" dirty="0">
                  <a:solidFill>
                    <a:srgbClr val="000000"/>
                  </a:solidFill>
                  <a:latin typeface="Times New Roman" panose="02020603050405020304" pitchFamily="18" charset="0"/>
                  <a:ea typeface="宋体" panose="02010600030101010101" pitchFamily="2" charset="-122"/>
                </a:rPr>
                <a:t>和</a:t>
              </a:r>
              <a:r>
                <a:rPr kumimoji="1" lang="en-US" altLang="zh-CN" sz="2400" dirty="0">
                  <a:solidFill>
                    <a:srgbClr val="000000"/>
                  </a:solidFill>
                  <a:latin typeface="Times New Roman" panose="02020603050405020304" pitchFamily="18" charset="0"/>
                  <a:ea typeface="宋体" panose="02010600030101010101" pitchFamily="2" charset="-122"/>
                </a:rPr>
                <a:t>1</a:t>
              </a:r>
              <a:r>
                <a:rPr kumimoji="1" lang="zh-CN" altLang="en-US" sz="2400" dirty="0">
                  <a:solidFill>
                    <a:srgbClr val="000000"/>
                  </a:solidFill>
                  <a:latin typeface="Times New Roman" panose="02020603050405020304" pitchFamily="18" charset="0"/>
                  <a:ea typeface="宋体" panose="02010600030101010101" pitchFamily="2" charset="-122"/>
                </a:rPr>
                <a:t>组成的串，要求长度至少</a:t>
              </a:r>
            </a:p>
          </p:txBody>
        </p:sp>
        <p:pic>
          <p:nvPicPr>
            <p:cNvPr id="21" name="图片 20"/>
            <p:cNvPicPr>
              <a:picLocks noChangeAspect="1"/>
            </p:cNvPicPr>
            <p:nvPr/>
          </p:nvPicPr>
          <p:blipFill>
            <a:blip r:embed="rId11"/>
            <a:stretch>
              <a:fillRect/>
            </a:stretch>
          </p:blipFill>
          <p:spPr>
            <a:xfrm>
              <a:off x="1636375" y="1212276"/>
              <a:ext cx="2095500" cy="241300"/>
            </a:xfrm>
            <a:prstGeom prst="rect">
              <a:avLst/>
            </a:prstGeom>
          </p:spPr>
        </p:pic>
      </p:grpSp>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dirty="0">
                <a:ea typeface="华文行楷" panose="02010800040101010101" pitchFamily="2" charset="-122"/>
              </a:rPr>
              <a:t>非</a:t>
            </a:r>
            <a:r>
              <a:rPr lang="zh-CN" altLang="en-US" sz="4000" i="0" dirty="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10" name="文本框 9"/>
          <p:cNvSpPr txBox="1"/>
          <p:nvPr/>
        </p:nvSpPr>
        <p:spPr>
          <a:xfrm>
            <a:off x="636240" y="1605783"/>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为</a:t>
            </a:r>
            <a:r>
              <a:rPr kumimoji="1" lang="en-US" altLang="zh-CN" sz="2400" dirty="0">
                <a:solidFill>
                  <a:srgbClr val="000000"/>
                </a:solidFill>
                <a:latin typeface="Times New Roman" panose="02020603050405020304" pitchFamily="18" charset="0"/>
                <a:ea typeface="宋体" panose="02010600030101010101" pitchFamily="2" charset="-122"/>
              </a:rPr>
              <a:t>1</a:t>
            </a:r>
            <a:r>
              <a:rPr kumimoji="1" lang="zh-CN" altLang="en-US" sz="2400" dirty="0">
                <a:solidFill>
                  <a:srgbClr val="000000"/>
                </a:solidFill>
                <a:latin typeface="Times New Roman" panose="02020603050405020304" pitchFamily="18" charset="0"/>
                <a:ea typeface="宋体" panose="02010600030101010101" pitchFamily="2" charset="-122"/>
              </a:rPr>
              <a:t>，且前三个符号里面至少有一个</a:t>
            </a:r>
            <a:r>
              <a:rPr kumimoji="1" lang="en-US" altLang="zh-CN" sz="2400" dirty="0">
                <a:solidFill>
                  <a:srgbClr val="000000"/>
                </a:solidFill>
                <a:latin typeface="Times New Roman" panose="02020603050405020304" pitchFamily="18" charset="0"/>
                <a:ea typeface="宋体" panose="02010600030101010101" pitchFamily="2" charset="-122"/>
              </a:rPr>
              <a:t>0</a:t>
            </a:r>
            <a:r>
              <a:rPr kumimoji="1" lang="zh-CN" altLang="en-US" sz="2400" dirty="0">
                <a:solidFill>
                  <a:srgbClr val="000000"/>
                </a:solidFill>
                <a:latin typeface="Times New Roman" panose="02020603050405020304" pitchFamily="18" charset="0"/>
                <a:ea typeface="宋体" panose="02010600030101010101" pitchFamily="2" charset="-122"/>
              </a:rPr>
              <a:t>。</a:t>
            </a:r>
          </a:p>
        </p:txBody>
      </p:sp>
      <p:grpSp>
        <p:nvGrpSpPr>
          <p:cNvPr id="11" name="组合 10"/>
          <p:cNvGrpSpPr/>
          <p:nvPr/>
        </p:nvGrpSpPr>
        <p:grpSpPr>
          <a:xfrm>
            <a:off x="1741572" y="2688144"/>
            <a:ext cx="6496658" cy="926659"/>
            <a:chOff x="1619672" y="2710936"/>
            <a:chExt cx="6496658" cy="926659"/>
          </a:xfrm>
        </p:grpSpPr>
        <p:sp>
          <p:nvSpPr>
            <p:cNvPr id="12" name="椭圆 11"/>
            <p:cNvSpPr/>
            <p:nvPr/>
          </p:nvSpPr>
          <p:spPr bwMode="auto">
            <a:xfrm>
              <a:off x="2399209" y="3133539"/>
              <a:ext cx="53642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13" name="椭圆 12"/>
            <p:cNvSpPr/>
            <p:nvPr/>
          </p:nvSpPr>
          <p:spPr bwMode="auto">
            <a:xfrm>
              <a:off x="3725222" y="3133539"/>
              <a:ext cx="53642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15" name="椭圆 14"/>
            <p:cNvSpPr/>
            <p:nvPr/>
          </p:nvSpPr>
          <p:spPr bwMode="auto">
            <a:xfrm>
              <a:off x="5051235" y="3133539"/>
              <a:ext cx="53642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16" name="椭圆 15"/>
            <p:cNvSpPr/>
            <p:nvPr/>
          </p:nvSpPr>
          <p:spPr bwMode="auto">
            <a:xfrm>
              <a:off x="6391350" y="3133539"/>
              <a:ext cx="53642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17" name="椭圆 16"/>
            <p:cNvSpPr/>
            <p:nvPr/>
          </p:nvSpPr>
          <p:spPr bwMode="auto">
            <a:xfrm>
              <a:off x="6456946" y="3183855"/>
              <a:ext cx="405233" cy="403424"/>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cxnSp>
          <p:nvCxnSpPr>
            <p:cNvPr id="18" name="直线箭头连接符 3"/>
            <p:cNvCxnSpPr>
              <a:endCxn id="12" idx="2"/>
            </p:cNvCxnSpPr>
            <p:nvPr/>
          </p:nvCxnSpPr>
          <p:spPr bwMode="auto">
            <a:xfrm>
              <a:off x="1619672" y="3385567"/>
              <a:ext cx="779537"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19" name="直线箭头连接符 17"/>
            <p:cNvCxnSpPr>
              <a:stCxn id="12" idx="6"/>
              <a:endCxn id="13" idx="2"/>
            </p:cNvCxnSpPr>
            <p:nvPr/>
          </p:nvCxnSpPr>
          <p:spPr bwMode="auto">
            <a:xfrm>
              <a:off x="2935635" y="3385567"/>
              <a:ext cx="789587"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20" name="直线箭头连接符 20"/>
            <p:cNvCxnSpPr>
              <a:stCxn id="13" idx="6"/>
              <a:endCxn id="15" idx="2"/>
            </p:cNvCxnSpPr>
            <p:nvPr/>
          </p:nvCxnSpPr>
          <p:spPr bwMode="auto">
            <a:xfrm>
              <a:off x="4261648" y="3385567"/>
              <a:ext cx="789587"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21" name="直线箭头连接符 23"/>
            <p:cNvCxnSpPr>
              <a:stCxn id="15" idx="6"/>
              <a:endCxn id="16" idx="2"/>
            </p:cNvCxnSpPr>
            <p:nvPr/>
          </p:nvCxnSpPr>
          <p:spPr bwMode="auto">
            <a:xfrm>
              <a:off x="5587661" y="3385567"/>
              <a:ext cx="803689"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pic>
          <p:nvPicPr>
            <p:cNvPr id="22" name="图片 21"/>
            <p:cNvPicPr>
              <a:picLocks noChangeAspect="1"/>
            </p:cNvPicPr>
            <p:nvPr/>
          </p:nvPicPr>
          <p:blipFill>
            <a:blip r:embed="rId2"/>
            <a:stretch>
              <a:fillRect/>
            </a:stretch>
          </p:blipFill>
          <p:spPr>
            <a:xfrm>
              <a:off x="2304446" y="2850400"/>
              <a:ext cx="1943100" cy="279400"/>
            </a:xfrm>
            <a:prstGeom prst="rect">
              <a:avLst/>
            </a:prstGeom>
          </p:spPr>
        </p:pic>
        <p:pic>
          <p:nvPicPr>
            <p:cNvPr id="23" name="图片 22"/>
            <p:cNvPicPr>
              <a:picLocks noChangeAspect="1"/>
            </p:cNvPicPr>
            <p:nvPr/>
          </p:nvPicPr>
          <p:blipFill>
            <a:blip r:embed="rId2"/>
            <a:stretch>
              <a:fillRect/>
            </a:stretch>
          </p:blipFill>
          <p:spPr>
            <a:xfrm>
              <a:off x="3600450" y="2829069"/>
              <a:ext cx="1943100" cy="279400"/>
            </a:xfrm>
            <a:prstGeom prst="rect">
              <a:avLst/>
            </a:prstGeom>
          </p:spPr>
        </p:pic>
        <p:pic>
          <p:nvPicPr>
            <p:cNvPr id="24" name="图片 23"/>
            <p:cNvPicPr>
              <a:picLocks noChangeAspect="1"/>
            </p:cNvPicPr>
            <p:nvPr/>
          </p:nvPicPr>
          <p:blipFill>
            <a:blip r:embed="rId3"/>
            <a:stretch>
              <a:fillRect/>
            </a:stretch>
          </p:blipFill>
          <p:spPr>
            <a:xfrm>
              <a:off x="5284655" y="2850400"/>
              <a:ext cx="1409700" cy="228600"/>
            </a:xfrm>
            <a:prstGeom prst="rect">
              <a:avLst/>
            </a:prstGeom>
          </p:spPr>
        </p:pic>
        <p:sp>
          <p:nvSpPr>
            <p:cNvPr id="25" name="弧 29"/>
            <p:cNvSpPr/>
            <p:nvPr/>
          </p:nvSpPr>
          <p:spPr bwMode="auto">
            <a:xfrm rot="11190199">
              <a:off x="6463425" y="2710936"/>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pic>
          <p:nvPicPr>
            <p:cNvPr id="26" name="图片 25"/>
            <p:cNvPicPr>
              <a:picLocks noChangeAspect="1"/>
            </p:cNvPicPr>
            <p:nvPr/>
          </p:nvPicPr>
          <p:blipFill>
            <a:blip r:embed="rId4"/>
            <a:stretch>
              <a:fillRect/>
            </a:stretch>
          </p:blipFill>
          <p:spPr>
            <a:xfrm>
              <a:off x="6439930" y="2829069"/>
              <a:ext cx="1676400" cy="279400"/>
            </a:xfrm>
            <a:prstGeom prst="rect">
              <a:avLst/>
            </a:prstGeom>
          </p:spPr>
        </p:pic>
      </p:grpSp>
      <p:grpSp>
        <p:nvGrpSpPr>
          <p:cNvPr id="27" name="组合 26"/>
          <p:cNvGrpSpPr/>
          <p:nvPr/>
        </p:nvGrpSpPr>
        <p:grpSpPr>
          <a:xfrm>
            <a:off x="762000" y="4648200"/>
            <a:ext cx="8234124" cy="1641328"/>
            <a:chOff x="630351" y="4904003"/>
            <a:chExt cx="8234124" cy="1641328"/>
          </a:xfrm>
        </p:grpSpPr>
        <p:sp>
          <p:nvSpPr>
            <p:cNvPr id="28" name="文本框 27"/>
            <p:cNvSpPr txBox="1"/>
            <p:nvPr/>
          </p:nvSpPr>
          <p:spPr>
            <a:xfrm>
              <a:off x="630351" y="4904003"/>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解：</a:t>
              </a:r>
              <a:r>
                <a:rPr kumimoji="1" lang="en-US" altLang="zh-CN" sz="2400" dirty="0">
                  <a:solidFill>
                    <a:srgbClr val="000000"/>
                  </a:solidFill>
                  <a:latin typeface="Times New Roman" panose="02020603050405020304" pitchFamily="18" charset="0"/>
                  <a:ea typeface="宋体" panose="02010600030101010101" pitchFamily="2" charset="-122"/>
                </a:rPr>
                <a:t>            </a:t>
              </a:r>
              <a:r>
                <a:rPr kumimoji="1" lang="zh-CN" altLang="en-US" sz="2400" dirty="0">
                  <a:solidFill>
                    <a:srgbClr val="000000"/>
                  </a:solidFill>
                  <a:latin typeface="Times New Roman" panose="02020603050405020304" pitchFamily="18" charset="0"/>
                  <a:ea typeface="宋体" panose="02010600030101010101" pitchFamily="2" charset="-122"/>
                </a:rPr>
                <a:t>特别适合处理这种情况。</a:t>
              </a:r>
            </a:p>
          </p:txBody>
        </p:sp>
        <p:pic>
          <p:nvPicPr>
            <p:cNvPr id="29" name="图片 28"/>
            <p:cNvPicPr>
              <a:picLocks noChangeAspect="1"/>
            </p:cNvPicPr>
            <p:nvPr/>
          </p:nvPicPr>
          <p:blipFill>
            <a:blip r:embed="rId5"/>
            <a:stretch>
              <a:fillRect/>
            </a:stretch>
          </p:blipFill>
          <p:spPr>
            <a:xfrm>
              <a:off x="687501" y="5014185"/>
              <a:ext cx="2095500" cy="241300"/>
            </a:xfrm>
            <a:prstGeom prst="rect">
              <a:avLst/>
            </a:prstGeom>
          </p:spPr>
        </p:pic>
        <p:sp>
          <p:nvSpPr>
            <p:cNvPr id="35" name="文本框 34"/>
            <p:cNvSpPr txBox="1"/>
            <p:nvPr/>
          </p:nvSpPr>
          <p:spPr>
            <a:xfrm>
              <a:off x="630351" y="5510792"/>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允许前两个符号出现空符号，自然就实现了题目的要求。</a:t>
              </a:r>
            </a:p>
          </p:txBody>
        </p:sp>
        <p:sp>
          <p:nvSpPr>
            <p:cNvPr id="36" name="文本框 35"/>
            <p:cNvSpPr txBox="1"/>
            <p:nvPr/>
          </p:nvSpPr>
          <p:spPr>
            <a:xfrm>
              <a:off x="630351" y="6083666"/>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如果用</a:t>
              </a:r>
              <a:r>
                <a:rPr kumimoji="1" lang="en-US" altLang="zh-CN" sz="2400" dirty="0">
                  <a:solidFill>
                    <a:srgbClr val="000000"/>
                  </a:solidFill>
                  <a:latin typeface="Times New Roman" panose="02020603050405020304" pitchFamily="18" charset="0"/>
                  <a:ea typeface="宋体" panose="02010600030101010101" pitchFamily="2" charset="-122"/>
                </a:rPr>
                <a:t>DFA</a:t>
              </a:r>
              <a:r>
                <a:rPr kumimoji="1" lang="zh-CN" altLang="en-US" sz="2400" dirty="0">
                  <a:solidFill>
                    <a:srgbClr val="000000"/>
                  </a:solidFill>
                  <a:latin typeface="Times New Roman" panose="02020603050405020304" pitchFamily="18" charset="0"/>
                  <a:ea typeface="宋体" panose="02010600030101010101" pitchFamily="2" charset="-122"/>
                </a:rPr>
                <a:t>或者</a:t>
              </a:r>
              <a:r>
                <a:rPr kumimoji="1" lang="en-US" altLang="zh-CN" sz="2400" dirty="0">
                  <a:solidFill>
                    <a:srgbClr val="000000"/>
                  </a:solidFill>
                  <a:latin typeface="Times New Roman" panose="02020603050405020304" pitchFamily="18" charset="0"/>
                  <a:ea typeface="宋体" panose="02010600030101010101" pitchFamily="2" charset="-122"/>
                </a:rPr>
                <a:t>NFA</a:t>
              </a:r>
              <a:r>
                <a:rPr kumimoji="1" lang="zh-CN" altLang="en-US" sz="2400" dirty="0">
                  <a:solidFill>
                    <a:srgbClr val="000000"/>
                  </a:solidFill>
                  <a:latin typeface="Times New Roman" panose="02020603050405020304" pitchFamily="18" charset="0"/>
                  <a:ea typeface="宋体" panose="02010600030101010101" pitchFamily="2" charset="-122"/>
                </a:rPr>
                <a:t>的话，设计起来难度会更大。</a:t>
              </a:r>
            </a:p>
          </p:txBody>
        </p:sp>
      </p:grpSp>
      <p:grpSp>
        <p:nvGrpSpPr>
          <p:cNvPr id="2" name="组合 1"/>
          <p:cNvGrpSpPr/>
          <p:nvPr/>
        </p:nvGrpSpPr>
        <p:grpSpPr>
          <a:xfrm>
            <a:off x="636240" y="1096038"/>
            <a:ext cx="8234124" cy="461665"/>
            <a:chOff x="636240" y="1096038"/>
            <a:chExt cx="8234124" cy="461665"/>
          </a:xfrm>
        </p:grpSpPr>
        <p:sp>
          <p:nvSpPr>
            <p:cNvPr id="9" name="文本框 8"/>
            <p:cNvSpPr txBox="1"/>
            <p:nvPr/>
          </p:nvSpPr>
          <p:spPr>
            <a:xfrm>
              <a:off x="636240" y="1096038"/>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例 </a:t>
              </a:r>
              <a:r>
                <a:rPr kumimoji="1" lang="en-US" altLang="zh-CN" sz="2400" dirty="0">
                  <a:solidFill>
                    <a:srgbClr val="000000"/>
                  </a:solidFill>
                  <a:latin typeface="Times New Roman" panose="02020603050405020304" pitchFamily="18" charset="0"/>
                  <a:ea typeface="宋体" panose="02010600030101010101" pitchFamily="2" charset="-122"/>
                </a:rPr>
                <a:t>3</a:t>
              </a:r>
              <a:r>
                <a:rPr kumimoji="1" lang="zh-CN" altLang="en-US" sz="2400" dirty="0">
                  <a:solidFill>
                    <a:srgbClr val="000000"/>
                  </a:solidFill>
                  <a:latin typeface="Times New Roman" panose="02020603050405020304" pitchFamily="18" charset="0"/>
                  <a:ea typeface="宋体" panose="02010600030101010101" pitchFamily="2" charset="-122"/>
                </a:rPr>
                <a:t>：设计             接受所有由</a:t>
              </a:r>
              <a:r>
                <a:rPr kumimoji="1" lang="en-US" altLang="zh-CN" sz="2400" dirty="0">
                  <a:solidFill>
                    <a:srgbClr val="000000"/>
                  </a:solidFill>
                  <a:latin typeface="Times New Roman" panose="02020603050405020304" pitchFamily="18" charset="0"/>
                  <a:ea typeface="宋体" panose="02010600030101010101" pitchFamily="2" charset="-122"/>
                </a:rPr>
                <a:t>0</a:t>
              </a:r>
              <a:r>
                <a:rPr kumimoji="1" lang="zh-CN" altLang="en-US" sz="2400" dirty="0">
                  <a:solidFill>
                    <a:srgbClr val="000000"/>
                  </a:solidFill>
                  <a:latin typeface="Times New Roman" panose="02020603050405020304" pitchFamily="18" charset="0"/>
                  <a:ea typeface="宋体" panose="02010600030101010101" pitchFamily="2" charset="-122"/>
                </a:rPr>
                <a:t>和</a:t>
              </a:r>
              <a:r>
                <a:rPr kumimoji="1" lang="en-US" altLang="zh-CN" sz="2400" dirty="0">
                  <a:solidFill>
                    <a:srgbClr val="000000"/>
                  </a:solidFill>
                  <a:latin typeface="Times New Roman" panose="02020603050405020304" pitchFamily="18" charset="0"/>
                  <a:ea typeface="宋体" panose="02010600030101010101" pitchFamily="2" charset="-122"/>
                </a:rPr>
                <a:t>1</a:t>
              </a:r>
              <a:r>
                <a:rPr kumimoji="1" lang="zh-CN" altLang="en-US" sz="2400" dirty="0">
                  <a:solidFill>
                    <a:srgbClr val="000000"/>
                  </a:solidFill>
                  <a:latin typeface="Times New Roman" panose="02020603050405020304" pitchFamily="18" charset="0"/>
                  <a:ea typeface="宋体" panose="02010600030101010101" pitchFamily="2" charset="-122"/>
                </a:rPr>
                <a:t>组成的串，要求长度至少</a:t>
              </a:r>
            </a:p>
          </p:txBody>
        </p:sp>
        <p:pic>
          <p:nvPicPr>
            <p:cNvPr id="37" name="图片 36"/>
            <p:cNvPicPr>
              <a:picLocks noChangeAspect="1"/>
            </p:cNvPicPr>
            <p:nvPr/>
          </p:nvPicPr>
          <p:blipFill>
            <a:blip r:embed="rId5"/>
            <a:stretch>
              <a:fillRect/>
            </a:stretch>
          </p:blipFill>
          <p:spPr>
            <a:xfrm>
              <a:off x="1636375" y="1212276"/>
              <a:ext cx="2095500" cy="2413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72</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2" name="组合 1"/>
          <p:cNvGrpSpPr/>
          <p:nvPr/>
        </p:nvGrpSpPr>
        <p:grpSpPr>
          <a:xfrm>
            <a:off x="495612" y="1290808"/>
            <a:ext cx="8234124" cy="461665"/>
            <a:chOff x="495612" y="1290808"/>
            <a:chExt cx="8234124" cy="461665"/>
          </a:xfrm>
        </p:grpSpPr>
        <p:sp>
          <p:nvSpPr>
            <p:cNvPr id="16" name="文本框 15"/>
            <p:cNvSpPr txBox="1"/>
            <p:nvPr/>
          </p:nvSpPr>
          <p:spPr>
            <a:xfrm>
              <a:off x="495612" y="1290808"/>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例  </a:t>
              </a:r>
              <a:r>
                <a:rPr kumimoji="1" lang="en-US" altLang="zh-CN" sz="2400" dirty="0">
                  <a:solidFill>
                    <a:srgbClr val="000000"/>
                  </a:solidFill>
                  <a:latin typeface="Times New Roman" panose="02020603050405020304" pitchFamily="18" charset="0"/>
                  <a:ea typeface="宋体" panose="02010600030101010101" pitchFamily="2" charset="-122"/>
                </a:rPr>
                <a:t>4</a:t>
              </a:r>
              <a:r>
                <a:rPr kumimoji="1" lang="zh-CN" altLang="en-US" sz="2400" dirty="0">
                  <a:solidFill>
                    <a:srgbClr val="000000"/>
                  </a:solidFill>
                  <a:latin typeface="Times New Roman" panose="02020603050405020304" pitchFamily="18" charset="0"/>
                  <a:ea typeface="宋体" panose="02010600030101010101" pitchFamily="2" charset="-122"/>
                </a:rPr>
                <a:t>：设计             接受以下语言</a:t>
              </a:r>
            </a:p>
          </p:txBody>
        </p:sp>
        <p:pic>
          <p:nvPicPr>
            <p:cNvPr id="17" name="图片 16"/>
            <p:cNvPicPr>
              <a:picLocks noChangeAspect="1"/>
            </p:cNvPicPr>
            <p:nvPr/>
          </p:nvPicPr>
          <p:blipFill>
            <a:blip r:embed="rId11"/>
            <a:stretch>
              <a:fillRect/>
            </a:stretch>
          </p:blipFill>
          <p:spPr>
            <a:xfrm>
              <a:off x="1600944" y="1400989"/>
              <a:ext cx="2095500" cy="241300"/>
            </a:xfrm>
            <a:prstGeom prst="rect">
              <a:avLst/>
            </a:prstGeom>
          </p:spPr>
        </p:pic>
      </p:grpSp>
      <p:pic>
        <p:nvPicPr>
          <p:cNvPr id="19" name="图片 18"/>
          <p:cNvPicPr>
            <a:picLocks noChangeAspect="1"/>
          </p:cNvPicPr>
          <p:nvPr/>
        </p:nvPicPr>
        <p:blipFill>
          <a:blip r:embed="rId12"/>
          <a:stretch>
            <a:fillRect/>
          </a:stretch>
        </p:blipFill>
        <p:spPr>
          <a:xfrm>
            <a:off x="304800" y="1828800"/>
            <a:ext cx="9144000" cy="352661"/>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dirty="0">
                <a:ea typeface="华文行楷" panose="02010800040101010101" pitchFamily="2" charset="-122"/>
              </a:rPr>
              <a:t>非</a:t>
            </a:r>
            <a:r>
              <a:rPr lang="zh-CN" altLang="en-US" sz="4000" i="0" dirty="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30" name="组合 29"/>
          <p:cNvGrpSpPr/>
          <p:nvPr/>
        </p:nvGrpSpPr>
        <p:grpSpPr>
          <a:xfrm>
            <a:off x="454938" y="990600"/>
            <a:ext cx="8234124" cy="461665"/>
            <a:chOff x="2038340" y="1237027"/>
            <a:chExt cx="8234124" cy="461665"/>
          </a:xfrm>
        </p:grpSpPr>
        <p:sp>
          <p:nvSpPr>
            <p:cNvPr id="31" name="文本框 30"/>
            <p:cNvSpPr txBox="1"/>
            <p:nvPr/>
          </p:nvSpPr>
          <p:spPr>
            <a:xfrm>
              <a:off x="2038340" y="1237027"/>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例  </a:t>
              </a:r>
              <a:r>
                <a:rPr kumimoji="1" lang="en-US" altLang="zh-CN" sz="2400" dirty="0">
                  <a:solidFill>
                    <a:srgbClr val="000000"/>
                  </a:solidFill>
                  <a:latin typeface="Times New Roman" panose="02020603050405020304" pitchFamily="18" charset="0"/>
                  <a:ea typeface="宋体" panose="02010600030101010101" pitchFamily="2" charset="-122"/>
                </a:rPr>
                <a:t>4</a:t>
              </a:r>
              <a:r>
                <a:rPr kumimoji="1" lang="zh-CN" altLang="en-US" sz="2400" dirty="0">
                  <a:solidFill>
                    <a:srgbClr val="000000"/>
                  </a:solidFill>
                  <a:latin typeface="Times New Roman" panose="02020603050405020304" pitchFamily="18" charset="0"/>
                  <a:ea typeface="宋体" panose="02010600030101010101" pitchFamily="2" charset="-122"/>
                </a:rPr>
                <a:t>：设计             接受以下语言</a:t>
              </a:r>
            </a:p>
          </p:txBody>
        </p:sp>
        <p:pic>
          <p:nvPicPr>
            <p:cNvPr id="32" name="图片 31"/>
            <p:cNvPicPr>
              <a:picLocks noChangeAspect="1"/>
            </p:cNvPicPr>
            <p:nvPr/>
          </p:nvPicPr>
          <p:blipFill>
            <a:blip r:embed="rId2"/>
            <a:stretch>
              <a:fillRect/>
            </a:stretch>
          </p:blipFill>
          <p:spPr>
            <a:xfrm>
              <a:off x="3143672" y="1347208"/>
              <a:ext cx="2095500" cy="241300"/>
            </a:xfrm>
            <a:prstGeom prst="rect">
              <a:avLst/>
            </a:prstGeom>
          </p:spPr>
        </p:pic>
      </p:grpSp>
      <p:pic>
        <p:nvPicPr>
          <p:cNvPr id="33" name="图片 32"/>
          <p:cNvPicPr>
            <a:picLocks noChangeAspect="1"/>
          </p:cNvPicPr>
          <p:nvPr/>
        </p:nvPicPr>
        <p:blipFill>
          <a:blip r:embed="rId3"/>
          <a:stretch>
            <a:fillRect/>
          </a:stretch>
        </p:blipFill>
        <p:spPr>
          <a:xfrm>
            <a:off x="264126" y="1528592"/>
            <a:ext cx="9144000" cy="352661"/>
          </a:xfrm>
          <a:prstGeom prst="rect">
            <a:avLst/>
          </a:prstGeom>
        </p:spPr>
      </p:pic>
      <p:grpSp>
        <p:nvGrpSpPr>
          <p:cNvPr id="34" name="组合 33"/>
          <p:cNvGrpSpPr/>
          <p:nvPr/>
        </p:nvGrpSpPr>
        <p:grpSpPr>
          <a:xfrm>
            <a:off x="1692652" y="2535371"/>
            <a:ext cx="5556250" cy="1295275"/>
            <a:chOff x="1752054" y="2781797"/>
            <a:chExt cx="5556250" cy="1295275"/>
          </a:xfrm>
        </p:grpSpPr>
        <p:sp>
          <p:nvSpPr>
            <p:cNvPr id="38" name="椭圆 37"/>
            <p:cNvSpPr/>
            <p:nvPr/>
          </p:nvSpPr>
          <p:spPr bwMode="auto">
            <a:xfrm>
              <a:off x="2659260" y="3573016"/>
              <a:ext cx="53642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39" name="椭圆 38"/>
            <p:cNvSpPr/>
            <p:nvPr/>
          </p:nvSpPr>
          <p:spPr bwMode="auto">
            <a:xfrm>
              <a:off x="3974554" y="3573016"/>
              <a:ext cx="53642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40" name="椭圆 39"/>
            <p:cNvSpPr/>
            <p:nvPr/>
          </p:nvSpPr>
          <p:spPr bwMode="auto">
            <a:xfrm>
              <a:off x="5289848" y="3573016"/>
              <a:ext cx="53642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41" name="椭圆 40"/>
            <p:cNvSpPr/>
            <p:nvPr/>
          </p:nvSpPr>
          <p:spPr bwMode="auto">
            <a:xfrm>
              <a:off x="6605142" y="3573016"/>
              <a:ext cx="536426" cy="50405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cxnSp>
          <p:nvCxnSpPr>
            <p:cNvPr id="42" name="直线箭头连接符 6"/>
            <p:cNvCxnSpPr>
              <a:endCxn id="38" idx="2"/>
            </p:cNvCxnSpPr>
            <p:nvPr/>
          </p:nvCxnSpPr>
          <p:spPr bwMode="auto">
            <a:xfrm>
              <a:off x="1879723" y="3825044"/>
              <a:ext cx="779537"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3" name="直线箭头连接符 37"/>
            <p:cNvCxnSpPr>
              <a:stCxn id="38" idx="6"/>
              <a:endCxn id="39" idx="2"/>
            </p:cNvCxnSpPr>
            <p:nvPr/>
          </p:nvCxnSpPr>
          <p:spPr bwMode="auto">
            <a:xfrm>
              <a:off x="3195686" y="3825044"/>
              <a:ext cx="778868"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4" name="直线箭头连接符 38"/>
            <p:cNvCxnSpPr>
              <a:stCxn id="39" idx="6"/>
            </p:cNvCxnSpPr>
            <p:nvPr/>
          </p:nvCxnSpPr>
          <p:spPr bwMode="auto">
            <a:xfrm>
              <a:off x="4510980" y="3825044"/>
              <a:ext cx="778868"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45" name="直线箭头连接符 39"/>
            <p:cNvCxnSpPr>
              <a:stCxn id="40" idx="6"/>
              <a:endCxn id="41" idx="2"/>
            </p:cNvCxnSpPr>
            <p:nvPr/>
          </p:nvCxnSpPr>
          <p:spPr bwMode="auto">
            <a:xfrm>
              <a:off x="5826274" y="3825044"/>
              <a:ext cx="778868"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46" name="椭圆 45"/>
            <p:cNvSpPr/>
            <p:nvPr/>
          </p:nvSpPr>
          <p:spPr bwMode="auto">
            <a:xfrm>
              <a:off x="6650574" y="3594211"/>
              <a:ext cx="445562" cy="461665"/>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47" name="弧 43"/>
            <p:cNvSpPr/>
            <p:nvPr/>
          </p:nvSpPr>
          <p:spPr bwMode="auto">
            <a:xfrm rot="11190199">
              <a:off x="2731335" y="3152516"/>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pic>
          <p:nvPicPr>
            <p:cNvPr id="48" name="图片 47"/>
            <p:cNvPicPr>
              <a:picLocks noChangeAspect="1"/>
            </p:cNvPicPr>
            <p:nvPr/>
          </p:nvPicPr>
          <p:blipFill>
            <a:blip r:embed="rId4"/>
            <a:stretch>
              <a:fillRect/>
            </a:stretch>
          </p:blipFill>
          <p:spPr>
            <a:xfrm>
              <a:off x="1752054" y="2781797"/>
              <a:ext cx="2222500" cy="279400"/>
            </a:xfrm>
            <a:prstGeom prst="rect">
              <a:avLst/>
            </a:prstGeom>
          </p:spPr>
        </p:pic>
        <p:pic>
          <p:nvPicPr>
            <p:cNvPr id="49" name="图片 48"/>
            <p:cNvPicPr>
              <a:picLocks noChangeAspect="1"/>
            </p:cNvPicPr>
            <p:nvPr/>
          </p:nvPicPr>
          <p:blipFill>
            <a:blip r:embed="rId5"/>
            <a:stretch>
              <a:fillRect/>
            </a:stretch>
          </p:blipFill>
          <p:spPr>
            <a:xfrm>
              <a:off x="2716441" y="3314811"/>
              <a:ext cx="1689100" cy="279400"/>
            </a:xfrm>
            <a:prstGeom prst="rect">
              <a:avLst/>
            </a:prstGeom>
          </p:spPr>
        </p:pic>
        <p:pic>
          <p:nvPicPr>
            <p:cNvPr id="50" name="图片 49"/>
            <p:cNvPicPr>
              <a:picLocks noChangeAspect="1"/>
            </p:cNvPicPr>
            <p:nvPr/>
          </p:nvPicPr>
          <p:blipFill>
            <a:blip r:embed="rId4"/>
            <a:stretch>
              <a:fillRect/>
            </a:stretch>
          </p:blipFill>
          <p:spPr>
            <a:xfrm>
              <a:off x="3780203" y="3291968"/>
              <a:ext cx="2222500" cy="279400"/>
            </a:xfrm>
            <a:prstGeom prst="rect">
              <a:avLst/>
            </a:prstGeom>
          </p:spPr>
        </p:pic>
        <p:pic>
          <p:nvPicPr>
            <p:cNvPr id="51" name="图片 50"/>
            <p:cNvPicPr>
              <a:picLocks noChangeAspect="1"/>
            </p:cNvPicPr>
            <p:nvPr/>
          </p:nvPicPr>
          <p:blipFill>
            <a:blip r:embed="rId4"/>
            <a:stretch>
              <a:fillRect/>
            </a:stretch>
          </p:blipFill>
          <p:spPr>
            <a:xfrm>
              <a:off x="5085804" y="3290320"/>
              <a:ext cx="2222500" cy="279400"/>
            </a:xfrm>
            <a:prstGeom prst="rect">
              <a:avLst/>
            </a:prstGeom>
          </p:spPr>
        </p:pic>
      </p:grpSp>
      <p:grpSp>
        <p:nvGrpSpPr>
          <p:cNvPr id="52" name="组合 51"/>
          <p:cNvGrpSpPr/>
          <p:nvPr/>
        </p:nvGrpSpPr>
        <p:grpSpPr>
          <a:xfrm>
            <a:off x="580698" y="4542762"/>
            <a:ext cx="8234124" cy="1641328"/>
            <a:chOff x="640100" y="4789189"/>
            <a:chExt cx="8234124" cy="1641328"/>
          </a:xfrm>
        </p:grpSpPr>
        <p:grpSp>
          <p:nvGrpSpPr>
            <p:cNvPr id="53" name="组合 52"/>
            <p:cNvGrpSpPr/>
            <p:nvPr/>
          </p:nvGrpSpPr>
          <p:grpSpPr>
            <a:xfrm>
              <a:off x="640100" y="4789189"/>
              <a:ext cx="8234124" cy="1641328"/>
              <a:chOff x="630351" y="4904003"/>
              <a:chExt cx="8234124" cy="1641328"/>
            </a:xfrm>
          </p:grpSpPr>
          <p:sp>
            <p:nvSpPr>
              <p:cNvPr id="55" name="文本框 54"/>
              <p:cNvSpPr txBox="1"/>
              <p:nvPr/>
            </p:nvSpPr>
            <p:spPr>
              <a:xfrm>
                <a:off x="630351" y="4904003"/>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解：题目等价于“后</a:t>
                </a:r>
                <a:r>
                  <a:rPr kumimoji="1" lang="en-US" altLang="zh-CN" sz="2400" dirty="0">
                    <a:solidFill>
                      <a:srgbClr val="000000"/>
                    </a:solidFill>
                    <a:latin typeface="Times New Roman" panose="02020603050405020304" pitchFamily="18" charset="0"/>
                    <a:ea typeface="宋体" panose="02010600030101010101" pitchFamily="2" charset="-122"/>
                  </a:rPr>
                  <a:t>3</a:t>
                </a:r>
                <a:r>
                  <a:rPr kumimoji="1" lang="zh-CN" altLang="en-US" sz="2400" dirty="0">
                    <a:solidFill>
                      <a:srgbClr val="000000"/>
                    </a:solidFill>
                    <a:latin typeface="Times New Roman" panose="02020603050405020304" pitchFamily="18" charset="0"/>
                    <a:ea typeface="宋体" panose="02010600030101010101" pitchFamily="2" charset="-122"/>
                  </a:rPr>
                  <a:t>位至少有</a:t>
                </a:r>
                <a:r>
                  <a:rPr kumimoji="1" lang="en-US" altLang="zh-CN" sz="2400" dirty="0">
                    <a:solidFill>
                      <a:srgbClr val="000000"/>
                    </a:solidFill>
                    <a:latin typeface="Times New Roman" panose="02020603050405020304" pitchFamily="18" charset="0"/>
                    <a:ea typeface="宋体" panose="02010600030101010101" pitchFamily="2" charset="-122"/>
                  </a:rPr>
                  <a:t>1</a:t>
                </a:r>
                <a:r>
                  <a:rPr kumimoji="1" lang="zh-CN" altLang="en-US" sz="2400" dirty="0">
                    <a:solidFill>
                      <a:srgbClr val="000000"/>
                    </a:solidFill>
                    <a:latin typeface="Times New Roman" panose="02020603050405020304" pitchFamily="18" charset="0"/>
                    <a:ea typeface="宋体" panose="02010600030101010101" pitchFamily="2" charset="-122"/>
                  </a:rPr>
                  <a:t>位是</a:t>
                </a:r>
                <a:r>
                  <a:rPr kumimoji="1" lang="en-US" altLang="zh-CN" sz="2400" dirty="0">
                    <a:solidFill>
                      <a:srgbClr val="000000"/>
                    </a:solidFill>
                    <a:latin typeface="Times New Roman" panose="02020603050405020304" pitchFamily="18" charset="0"/>
                    <a:ea typeface="宋体" panose="02010600030101010101" pitchFamily="2" charset="-122"/>
                  </a:rPr>
                  <a:t>a</a:t>
                </a:r>
                <a:r>
                  <a:rPr kumimoji="1" lang="zh-CN" altLang="en-US" sz="2400" dirty="0">
                    <a:solidFill>
                      <a:srgbClr val="000000"/>
                    </a:solidFill>
                    <a:latin typeface="Times New Roman" panose="02020603050405020304" pitchFamily="18" charset="0"/>
                    <a:ea typeface="宋体" panose="02010600030101010101" pitchFamily="2" charset="-122"/>
                  </a:rPr>
                  <a:t>或</a:t>
                </a:r>
                <a:r>
                  <a:rPr kumimoji="1" lang="en-US" altLang="zh-CN" sz="2400" dirty="0">
                    <a:solidFill>
                      <a:srgbClr val="000000"/>
                    </a:solidFill>
                    <a:latin typeface="Times New Roman" panose="02020603050405020304" pitchFamily="18" charset="0"/>
                    <a:ea typeface="宋体" panose="02010600030101010101" pitchFamily="2" charset="-122"/>
                  </a:rPr>
                  <a:t>b</a:t>
                </a:r>
                <a:r>
                  <a:rPr kumimoji="1" lang="zh-CN" altLang="en-US" sz="2400" dirty="0">
                    <a:solidFill>
                      <a:srgbClr val="000000"/>
                    </a:solidFill>
                    <a:latin typeface="Times New Roman" panose="02020603050405020304" pitchFamily="18" charset="0"/>
                    <a:ea typeface="宋体" panose="02010600030101010101" pitchFamily="2" charset="-122"/>
                  </a:rPr>
                  <a:t>”，这样就把看似</a:t>
                </a:r>
              </a:p>
            </p:txBody>
          </p:sp>
          <p:sp>
            <p:nvSpPr>
              <p:cNvPr id="56" name="文本框 55"/>
              <p:cNvSpPr txBox="1"/>
              <p:nvPr/>
            </p:nvSpPr>
            <p:spPr>
              <a:xfrm>
                <a:off x="630351" y="5510792"/>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很难处理的“不是</a:t>
                </a:r>
                <a:r>
                  <a:rPr kumimoji="1" lang="en-US" altLang="zh-CN" sz="2400" dirty="0">
                    <a:solidFill>
                      <a:srgbClr val="000000"/>
                    </a:solidFill>
                    <a:latin typeface="Times New Roman" panose="02020603050405020304" pitchFamily="18" charset="0"/>
                    <a:ea typeface="宋体" panose="02010600030101010101" pitchFamily="2" charset="-122"/>
                  </a:rPr>
                  <a:t>c</a:t>
                </a:r>
                <a:r>
                  <a:rPr kumimoji="1" lang="zh-CN" altLang="en-US" sz="2400" dirty="0">
                    <a:solidFill>
                      <a:srgbClr val="000000"/>
                    </a:solidFill>
                    <a:latin typeface="Times New Roman" panose="02020603050405020304" pitchFamily="18" charset="0"/>
                    <a:ea typeface="宋体" panose="02010600030101010101" pitchFamily="2" charset="-122"/>
                  </a:rPr>
                  <a:t>”转化为我们非常熟悉的形式，很容易</a:t>
                </a:r>
              </a:p>
            </p:txBody>
          </p:sp>
          <p:sp>
            <p:nvSpPr>
              <p:cNvPr id="57" name="文本框 56"/>
              <p:cNvSpPr txBox="1"/>
              <p:nvPr/>
            </p:nvSpPr>
            <p:spPr>
              <a:xfrm>
                <a:off x="630351" y="6083666"/>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给出相应的             。</a:t>
                </a:r>
              </a:p>
            </p:txBody>
          </p:sp>
        </p:grpSp>
        <p:pic>
          <p:nvPicPr>
            <p:cNvPr id="54" name="图片 53"/>
            <p:cNvPicPr>
              <a:picLocks noChangeAspect="1"/>
            </p:cNvPicPr>
            <p:nvPr/>
          </p:nvPicPr>
          <p:blipFill>
            <a:blip r:embed="rId2"/>
            <a:stretch>
              <a:fillRect/>
            </a:stretch>
          </p:blipFill>
          <p:spPr>
            <a:xfrm>
              <a:off x="1752054" y="6079034"/>
              <a:ext cx="2095500" cy="2413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74</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15" name="组合 14"/>
          <p:cNvGrpSpPr/>
          <p:nvPr/>
        </p:nvGrpSpPr>
        <p:grpSpPr>
          <a:xfrm>
            <a:off x="405378" y="1316274"/>
            <a:ext cx="8234124" cy="461665"/>
            <a:chOff x="2038340" y="1237027"/>
            <a:chExt cx="8234124" cy="461665"/>
          </a:xfrm>
        </p:grpSpPr>
        <p:sp>
          <p:nvSpPr>
            <p:cNvPr id="18" name="文本框 17"/>
            <p:cNvSpPr txBox="1"/>
            <p:nvPr/>
          </p:nvSpPr>
          <p:spPr>
            <a:xfrm>
              <a:off x="2038340" y="1237027"/>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例</a:t>
              </a:r>
              <a:r>
                <a:rPr kumimoji="1" lang="en-US" altLang="zh-CN" sz="2400" dirty="0">
                  <a:solidFill>
                    <a:srgbClr val="000000"/>
                  </a:solidFill>
                  <a:latin typeface="Times New Roman" panose="02020603050405020304" pitchFamily="18" charset="0"/>
                  <a:ea typeface="宋体" panose="02010600030101010101" pitchFamily="2" charset="-122"/>
                </a:rPr>
                <a:t> 5</a:t>
              </a:r>
              <a:r>
                <a:rPr kumimoji="1" lang="zh-CN" altLang="en-US" sz="2400" dirty="0">
                  <a:solidFill>
                    <a:srgbClr val="000000"/>
                  </a:solidFill>
                  <a:latin typeface="Times New Roman" panose="02020603050405020304" pitchFamily="18" charset="0"/>
                  <a:ea typeface="宋体" panose="02010600030101010101" pitchFamily="2" charset="-122"/>
                </a:rPr>
                <a:t>：设计             接受以下语言</a:t>
              </a:r>
            </a:p>
          </p:txBody>
        </p:sp>
        <p:pic>
          <p:nvPicPr>
            <p:cNvPr id="20" name="图片 19"/>
            <p:cNvPicPr>
              <a:picLocks noChangeAspect="1"/>
            </p:cNvPicPr>
            <p:nvPr/>
          </p:nvPicPr>
          <p:blipFill>
            <a:blip r:embed="rId11"/>
            <a:stretch>
              <a:fillRect/>
            </a:stretch>
          </p:blipFill>
          <p:spPr>
            <a:xfrm>
              <a:off x="3048000" y="1347208"/>
              <a:ext cx="2095500" cy="241300"/>
            </a:xfrm>
            <a:prstGeom prst="rect">
              <a:avLst/>
            </a:prstGeom>
          </p:spPr>
        </p:pic>
      </p:grpSp>
      <p:pic>
        <p:nvPicPr>
          <p:cNvPr id="21" name="图片 20"/>
          <p:cNvPicPr>
            <a:picLocks noChangeAspect="1"/>
          </p:cNvPicPr>
          <p:nvPr/>
        </p:nvPicPr>
        <p:blipFill>
          <a:blip r:embed="rId12"/>
          <a:stretch>
            <a:fillRect/>
          </a:stretch>
        </p:blipFill>
        <p:spPr>
          <a:xfrm>
            <a:off x="76200" y="1981200"/>
            <a:ext cx="9144000" cy="311474"/>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dirty="0">
                <a:ea typeface="华文行楷" panose="02010800040101010101" pitchFamily="2" charset="-122"/>
              </a:rPr>
              <a:t>非</a:t>
            </a:r>
            <a:r>
              <a:rPr lang="zh-CN" altLang="en-US" sz="4000" i="0" dirty="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29" name="组合 28"/>
          <p:cNvGrpSpPr/>
          <p:nvPr/>
        </p:nvGrpSpPr>
        <p:grpSpPr>
          <a:xfrm>
            <a:off x="405378" y="1316274"/>
            <a:ext cx="8234124" cy="461665"/>
            <a:chOff x="2038340" y="1237027"/>
            <a:chExt cx="8234124" cy="461665"/>
          </a:xfrm>
        </p:grpSpPr>
        <p:sp>
          <p:nvSpPr>
            <p:cNvPr id="35" name="文本框 34"/>
            <p:cNvSpPr txBox="1"/>
            <p:nvPr/>
          </p:nvSpPr>
          <p:spPr>
            <a:xfrm>
              <a:off x="2038340" y="1237027"/>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例</a:t>
              </a:r>
              <a:r>
                <a:rPr kumimoji="1" lang="en-US" altLang="zh-CN" sz="2400" dirty="0">
                  <a:solidFill>
                    <a:srgbClr val="000000"/>
                  </a:solidFill>
                  <a:latin typeface="Times New Roman" panose="02020603050405020304" pitchFamily="18" charset="0"/>
                  <a:ea typeface="宋体" panose="02010600030101010101" pitchFamily="2" charset="-122"/>
                </a:rPr>
                <a:t> 5</a:t>
              </a:r>
              <a:r>
                <a:rPr kumimoji="1" lang="zh-CN" altLang="en-US" sz="2400" dirty="0">
                  <a:solidFill>
                    <a:srgbClr val="000000"/>
                  </a:solidFill>
                  <a:latin typeface="Times New Roman" panose="02020603050405020304" pitchFamily="18" charset="0"/>
                  <a:ea typeface="宋体" panose="02010600030101010101" pitchFamily="2" charset="-122"/>
                </a:rPr>
                <a:t>：设计             接受以下语言</a:t>
              </a:r>
            </a:p>
          </p:txBody>
        </p:sp>
        <p:pic>
          <p:nvPicPr>
            <p:cNvPr id="36" name="图片 35"/>
            <p:cNvPicPr>
              <a:picLocks noChangeAspect="1"/>
            </p:cNvPicPr>
            <p:nvPr/>
          </p:nvPicPr>
          <p:blipFill>
            <a:blip r:embed="rId2"/>
            <a:stretch>
              <a:fillRect/>
            </a:stretch>
          </p:blipFill>
          <p:spPr>
            <a:xfrm>
              <a:off x="3048000" y="1347208"/>
              <a:ext cx="2095500" cy="241300"/>
            </a:xfrm>
            <a:prstGeom prst="rect">
              <a:avLst/>
            </a:prstGeom>
          </p:spPr>
        </p:pic>
      </p:grpSp>
      <p:pic>
        <p:nvPicPr>
          <p:cNvPr id="37" name="图片 36"/>
          <p:cNvPicPr>
            <a:picLocks noChangeAspect="1"/>
          </p:cNvPicPr>
          <p:nvPr/>
        </p:nvPicPr>
        <p:blipFill>
          <a:blip r:embed="rId3"/>
          <a:stretch>
            <a:fillRect/>
          </a:stretch>
        </p:blipFill>
        <p:spPr>
          <a:xfrm>
            <a:off x="76200" y="1981200"/>
            <a:ext cx="9144000" cy="311474"/>
          </a:xfrm>
          <a:prstGeom prst="rect">
            <a:avLst/>
          </a:prstGeom>
        </p:spPr>
      </p:pic>
      <p:grpSp>
        <p:nvGrpSpPr>
          <p:cNvPr id="58" name="组合 57"/>
          <p:cNvGrpSpPr/>
          <p:nvPr/>
        </p:nvGrpSpPr>
        <p:grpSpPr>
          <a:xfrm>
            <a:off x="990600" y="3013926"/>
            <a:ext cx="7383192" cy="830147"/>
            <a:chOff x="1092374" y="3010195"/>
            <a:chExt cx="7383192" cy="830147"/>
          </a:xfrm>
        </p:grpSpPr>
        <p:sp>
          <p:nvSpPr>
            <p:cNvPr id="59" name="椭圆 58"/>
            <p:cNvSpPr/>
            <p:nvPr/>
          </p:nvSpPr>
          <p:spPr bwMode="auto">
            <a:xfrm>
              <a:off x="6853014" y="3408294"/>
              <a:ext cx="431329" cy="432048"/>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60" name="椭圆 59"/>
            <p:cNvSpPr/>
            <p:nvPr/>
          </p:nvSpPr>
          <p:spPr bwMode="auto">
            <a:xfrm>
              <a:off x="3049716" y="3408294"/>
              <a:ext cx="431329" cy="432048"/>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61" name="椭圆 60"/>
            <p:cNvSpPr/>
            <p:nvPr/>
          </p:nvSpPr>
          <p:spPr bwMode="auto">
            <a:xfrm>
              <a:off x="1781950" y="3408294"/>
              <a:ext cx="431329" cy="432048"/>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62" name="椭圆 61"/>
            <p:cNvSpPr/>
            <p:nvPr/>
          </p:nvSpPr>
          <p:spPr bwMode="auto">
            <a:xfrm>
              <a:off x="4317482" y="3408294"/>
              <a:ext cx="431329" cy="432048"/>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63" name="椭圆 62"/>
            <p:cNvSpPr/>
            <p:nvPr/>
          </p:nvSpPr>
          <p:spPr bwMode="auto">
            <a:xfrm>
              <a:off x="5585248" y="3408294"/>
              <a:ext cx="431329" cy="432048"/>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cxnSp>
          <p:nvCxnSpPr>
            <p:cNvPr id="64" name="直线箭头连接符 7"/>
            <p:cNvCxnSpPr/>
            <p:nvPr/>
          </p:nvCxnSpPr>
          <p:spPr bwMode="auto">
            <a:xfrm flipV="1">
              <a:off x="1092374" y="3616077"/>
              <a:ext cx="689576" cy="16482"/>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65" name="直线箭头连接符 45"/>
            <p:cNvCxnSpPr/>
            <p:nvPr/>
          </p:nvCxnSpPr>
          <p:spPr bwMode="auto">
            <a:xfrm>
              <a:off x="2213279" y="3624318"/>
              <a:ext cx="836437"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66" name="直线箭头连接符 51"/>
            <p:cNvCxnSpPr/>
            <p:nvPr/>
          </p:nvCxnSpPr>
          <p:spPr bwMode="auto">
            <a:xfrm>
              <a:off x="3481045" y="3624318"/>
              <a:ext cx="836437"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67" name="直线箭头连接符 52"/>
            <p:cNvCxnSpPr/>
            <p:nvPr/>
          </p:nvCxnSpPr>
          <p:spPr bwMode="auto">
            <a:xfrm>
              <a:off x="4748811" y="3624318"/>
              <a:ext cx="836437"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68" name="直线箭头连接符 53"/>
            <p:cNvCxnSpPr/>
            <p:nvPr/>
          </p:nvCxnSpPr>
          <p:spPr bwMode="auto">
            <a:xfrm>
              <a:off x="6016577" y="3624318"/>
              <a:ext cx="836437"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pic>
          <p:nvPicPr>
            <p:cNvPr id="69" name="图片 68"/>
            <p:cNvPicPr>
              <a:picLocks noChangeAspect="1"/>
            </p:cNvPicPr>
            <p:nvPr/>
          </p:nvPicPr>
          <p:blipFill>
            <a:blip r:embed="rId4"/>
            <a:stretch>
              <a:fillRect/>
            </a:stretch>
          </p:blipFill>
          <p:spPr>
            <a:xfrm>
              <a:off x="2788013" y="3032769"/>
              <a:ext cx="2222500" cy="279400"/>
            </a:xfrm>
            <a:prstGeom prst="rect">
              <a:avLst/>
            </a:prstGeom>
          </p:spPr>
        </p:pic>
        <p:pic>
          <p:nvPicPr>
            <p:cNvPr id="70" name="图片 69"/>
            <p:cNvPicPr>
              <a:picLocks noChangeAspect="1"/>
            </p:cNvPicPr>
            <p:nvPr/>
          </p:nvPicPr>
          <p:blipFill>
            <a:blip r:embed="rId4"/>
            <a:stretch>
              <a:fillRect/>
            </a:stretch>
          </p:blipFill>
          <p:spPr>
            <a:xfrm>
              <a:off x="4055779" y="3032769"/>
              <a:ext cx="2222500" cy="279400"/>
            </a:xfrm>
            <a:prstGeom prst="rect">
              <a:avLst/>
            </a:prstGeom>
          </p:spPr>
        </p:pic>
        <p:pic>
          <p:nvPicPr>
            <p:cNvPr id="71" name="图片 70"/>
            <p:cNvPicPr>
              <a:picLocks noChangeAspect="1"/>
            </p:cNvPicPr>
            <p:nvPr/>
          </p:nvPicPr>
          <p:blipFill>
            <a:blip r:embed="rId5"/>
            <a:stretch>
              <a:fillRect/>
            </a:stretch>
          </p:blipFill>
          <p:spPr>
            <a:xfrm>
              <a:off x="1653597" y="3032769"/>
              <a:ext cx="1955800" cy="279400"/>
            </a:xfrm>
            <a:prstGeom prst="rect">
              <a:avLst/>
            </a:prstGeom>
          </p:spPr>
        </p:pic>
        <p:pic>
          <p:nvPicPr>
            <p:cNvPr id="72" name="图片 71"/>
            <p:cNvPicPr>
              <a:picLocks noChangeAspect="1"/>
            </p:cNvPicPr>
            <p:nvPr/>
          </p:nvPicPr>
          <p:blipFill>
            <a:blip r:embed="rId6"/>
            <a:stretch>
              <a:fillRect/>
            </a:stretch>
          </p:blipFill>
          <p:spPr>
            <a:xfrm>
              <a:off x="5540403" y="3032769"/>
              <a:ext cx="1689100" cy="279400"/>
            </a:xfrm>
            <a:prstGeom prst="rect">
              <a:avLst/>
            </a:prstGeom>
          </p:spPr>
        </p:pic>
        <p:sp>
          <p:nvSpPr>
            <p:cNvPr id="73" name="弧 54"/>
            <p:cNvSpPr/>
            <p:nvPr/>
          </p:nvSpPr>
          <p:spPr bwMode="auto">
            <a:xfrm rot="16787996">
              <a:off x="7301529" y="3419220"/>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74" name="椭圆 73"/>
            <p:cNvSpPr/>
            <p:nvPr/>
          </p:nvSpPr>
          <p:spPr bwMode="auto">
            <a:xfrm>
              <a:off x="6914532" y="3474288"/>
              <a:ext cx="278929" cy="318116"/>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algn="ctr"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pic>
          <p:nvPicPr>
            <p:cNvPr id="75" name="图片 74"/>
            <p:cNvPicPr>
              <a:picLocks noChangeAspect="1"/>
            </p:cNvPicPr>
            <p:nvPr/>
          </p:nvPicPr>
          <p:blipFill>
            <a:blip r:embed="rId5"/>
            <a:stretch>
              <a:fillRect/>
            </a:stretch>
          </p:blipFill>
          <p:spPr>
            <a:xfrm>
              <a:off x="6519766" y="3010195"/>
              <a:ext cx="1955800" cy="2794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76</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16" name="组合 15"/>
          <p:cNvGrpSpPr/>
          <p:nvPr/>
        </p:nvGrpSpPr>
        <p:grpSpPr>
          <a:xfrm>
            <a:off x="471726" y="1194597"/>
            <a:ext cx="8234124" cy="461665"/>
            <a:chOff x="2038340" y="1237027"/>
            <a:chExt cx="8234124" cy="461665"/>
          </a:xfrm>
        </p:grpSpPr>
        <p:sp>
          <p:nvSpPr>
            <p:cNvPr id="17" name="文本框 16"/>
            <p:cNvSpPr txBox="1"/>
            <p:nvPr/>
          </p:nvSpPr>
          <p:spPr>
            <a:xfrm>
              <a:off x="2038340" y="1237027"/>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例 </a:t>
              </a:r>
              <a:r>
                <a:rPr kumimoji="1" lang="en-US" altLang="zh-CN" sz="2400" dirty="0">
                  <a:solidFill>
                    <a:srgbClr val="000000"/>
                  </a:solidFill>
                  <a:latin typeface="Times New Roman" panose="02020603050405020304" pitchFamily="18" charset="0"/>
                  <a:ea typeface="宋体" panose="02010600030101010101" pitchFamily="2" charset="-122"/>
                </a:rPr>
                <a:t>6</a:t>
              </a:r>
              <a:r>
                <a:rPr kumimoji="1" lang="zh-CN" altLang="en-US" sz="2400" dirty="0">
                  <a:solidFill>
                    <a:srgbClr val="000000"/>
                  </a:solidFill>
                  <a:latin typeface="Times New Roman" panose="02020603050405020304" pitchFamily="18" charset="0"/>
                  <a:ea typeface="宋体" panose="02010600030101010101" pitchFamily="2" charset="-122"/>
                </a:rPr>
                <a:t>：设计             接受以下语言</a:t>
              </a:r>
            </a:p>
          </p:txBody>
        </p:sp>
        <p:pic>
          <p:nvPicPr>
            <p:cNvPr id="19" name="图片 18"/>
            <p:cNvPicPr>
              <a:picLocks noChangeAspect="1"/>
            </p:cNvPicPr>
            <p:nvPr/>
          </p:nvPicPr>
          <p:blipFill>
            <a:blip r:embed="rId11"/>
            <a:stretch>
              <a:fillRect/>
            </a:stretch>
          </p:blipFill>
          <p:spPr>
            <a:xfrm>
              <a:off x="3048000" y="1338796"/>
              <a:ext cx="2095500" cy="241300"/>
            </a:xfrm>
            <a:prstGeom prst="rect">
              <a:avLst/>
            </a:prstGeom>
          </p:spPr>
        </p:pic>
      </p:grpSp>
      <p:pic>
        <p:nvPicPr>
          <p:cNvPr id="22" name="图片 21"/>
          <p:cNvPicPr>
            <a:picLocks noChangeAspect="1"/>
          </p:cNvPicPr>
          <p:nvPr/>
        </p:nvPicPr>
        <p:blipFill>
          <a:blip r:embed="rId12"/>
          <a:stretch>
            <a:fillRect/>
          </a:stretch>
        </p:blipFill>
        <p:spPr>
          <a:xfrm>
            <a:off x="1250405" y="1897924"/>
            <a:ext cx="5549900" cy="317500"/>
          </a:xfrm>
          <a:prstGeom prst="rect">
            <a:avLst/>
          </a:prstGeom>
        </p:spPr>
      </p:pic>
      <p:pic>
        <p:nvPicPr>
          <p:cNvPr id="23" name="图片 22"/>
          <p:cNvPicPr>
            <a:picLocks noChangeAspect="1"/>
          </p:cNvPicPr>
          <p:nvPr/>
        </p:nvPicPr>
        <p:blipFill>
          <a:blip r:embed="rId13"/>
          <a:stretch>
            <a:fillRect/>
          </a:stretch>
        </p:blipFill>
        <p:spPr>
          <a:xfrm>
            <a:off x="2297138" y="2371362"/>
            <a:ext cx="5295900" cy="292100"/>
          </a:xfrm>
          <a:prstGeom prst="rect">
            <a:avLst/>
          </a:prstGeom>
        </p:spPr>
      </p:pic>
      <p:pic>
        <p:nvPicPr>
          <p:cNvPr id="24" name="图片 23"/>
          <p:cNvPicPr>
            <a:picLocks noChangeAspect="1"/>
          </p:cNvPicPr>
          <p:nvPr/>
        </p:nvPicPr>
        <p:blipFill>
          <a:blip r:embed="rId14"/>
          <a:stretch>
            <a:fillRect/>
          </a:stretch>
        </p:blipFill>
        <p:spPr>
          <a:xfrm>
            <a:off x="2297138" y="2819400"/>
            <a:ext cx="5232400" cy="355600"/>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5">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dirty="0">
                <a:ea typeface="华文行楷" panose="02010800040101010101" pitchFamily="2" charset="-122"/>
              </a:rPr>
              <a:t>非</a:t>
            </a:r>
            <a:r>
              <a:rPr lang="zh-CN" altLang="en-US" sz="4000" i="0" dirty="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26" name="组合 25"/>
          <p:cNvGrpSpPr/>
          <p:nvPr/>
        </p:nvGrpSpPr>
        <p:grpSpPr>
          <a:xfrm>
            <a:off x="471726" y="1194597"/>
            <a:ext cx="8234124" cy="461665"/>
            <a:chOff x="2038340" y="1237027"/>
            <a:chExt cx="8234124" cy="461665"/>
          </a:xfrm>
        </p:grpSpPr>
        <p:sp>
          <p:nvSpPr>
            <p:cNvPr id="27" name="文本框 26"/>
            <p:cNvSpPr txBox="1"/>
            <p:nvPr/>
          </p:nvSpPr>
          <p:spPr>
            <a:xfrm>
              <a:off x="2038340" y="1237027"/>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例 </a:t>
              </a:r>
              <a:r>
                <a:rPr kumimoji="1" lang="en-US" altLang="zh-CN" sz="2400" dirty="0">
                  <a:solidFill>
                    <a:srgbClr val="000000"/>
                  </a:solidFill>
                  <a:latin typeface="Times New Roman" panose="02020603050405020304" pitchFamily="18" charset="0"/>
                  <a:ea typeface="宋体" panose="02010600030101010101" pitchFamily="2" charset="-122"/>
                </a:rPr>
                <a:t>6</a:t>
              </a:r>
              <a:r>
                <a:rPr kumimoji="1" lang="zh-CN" altLang="en-US" sz="2400" dirty="0">
                  <a:solidFill>
                    <a:srgbClr val="000000"/>
                  </a:solidFill>
                  <a:latin typeface="Times New Roman" panose="02020603050405020304" pitchFamily="18" charset="0"/>
                  <a:ea typeface="宋体" panose="02010600030101010101" pitchFamily="2" charset="-122"/>
                </a:rPr>
                <a:t>：设计             接受以下语言</a:t>
              </a:r>
            </a:p>
          </p:txBody>
        </p:sp>
        <p:pic>
          <p:nvPicPr>
            <p:cNvPr id="28" name="图片 27"/>
            <p:cNvPicPr>
              <a:picLocks noChangeAspect="1"/>
            </p:cNvPicPr>
            <p:nvPr/>
          </p:nvPicPr>
          <p:blipFill>
            <a:blip r:embed="rId2"/>
            <a:stretch>
              <a:fillRect/>
            </a:stretch>
          </p:blipFill>
          <p:spPr>
            <a:xfrm>
              <a:off x="3048000" y="1338796"/>
              <a:ext cx="2095500" cy="241300"/>
            </a:xfrm>
            <a:prstGeom prst="rect">
              <a:avLst/>
            </a:prstGeom>
          </p:spPr>
        </p:pic>
      </p:grpSp>
      <p:pic>
        <p:nvPicPr>
          <p:cNvPr id="30" name="图片 29"/>
          <p:cNvPicPr>
            <a:picLocks noChangeAspect="1"/>
          </p:cNvPicPr>
          <p:nvPr/>
        </p:nvPicPr>
        <p:blipFill>
          <a:blip r:embed="rId3"/>
          <a:stretch>
            <a:fillRect/>
          </a:stretch>
        </p:blipFill>
        <p:spPr>
          <a:xfrm>
            <a:off x="1250405" y="1897924"/>
            <a:ext cx="5549900" cy="317500"/>
          </a:xfrm>
          <a:prstGeom prst="rect">
            <a:avLst/>
          </a:prstGeom>
        </p:spPr>
      </p:pic>
      <p:pic>
        <p:nvPicPr>
          <p:cNvPr id="31" name="图片 30"/>
          <p:cNvPicPr>
            <a:picLocks noChangeAspect="1"/>
          </p:cNvPicPr>
          <p:nvPr/>
        </p:nvPicPr>
        <p:blipFill>
          <a:blip r:embed="rId4"/>
          <a:stretch>
            <a:fillRect/>
          </a:stretch>
        </p:blipFill>
        <p:spPr>
          <a:xfrm>
            <a:off x="2297138" y="2371362"/>
            <a:ext cx="5295900" cy="292100"/>
          </a:xfrm>
          <a:prstGeom prst="rect">
            <a:avLst/>
          </a:prstGeom>
        </p:spPr>
      </p:pic>
      <p:pic>
        <p:nvPicPr>
          <p:cNvPr id="32" name="图片 31"/>
          <p:cNvPicPr>
            <a:picLocks noChangeAspect="1"/>
          </p:cNvPicPr>
          <p:nvPr/>
        </p:nvPicPr>
        <p:blipFill>
          <a:blip r:embed="rId5"/>
          <a:stretch>
            <a:fillRect/>
          </a:stretch>
        </p:blipFill>
        <p:spPr>
          <a:xfrm>
            <a:off x="2297138" y="2819400"/>
            <a:ext cx="5232400" cy="355600"/>
          </a:xfrm>
          <a:prstGeom prst="rect">
            <a:avLst/>
          </a:prstGeom>
        </p:spPr>
      </p:pic>
      <p:grpSp>
        <p:nvGrpSpPr>
          <p:cNvPr id="33" name="组合 32"/>
          <p:cNvGrpSpPr/>
          <p:nvPr/>
        </p:nvGrpSpPr>
        <p:grpSpPr>
          <a:xfrm>
            <a:off x="457200" y="3489901"/>
            <a:ext cx="8234124" cy="886563"/>
            <a:chOff x="514340" y="3373368"/>
            <a:chExt cx="8234124" cy="886563"/>
          </a:xfrm>
        </p:grpSpPr>
        <p:grpSp>
          <p:nvGrpSpPr>
            <p:cNvPr id="34" name="组合 33"/>
            <p:cNvGrpSpPr/>
            <p:nvPr/>
          </p:nvGrpSpPr>
          <p:grpSpPr>
            <a:xfrm>
              <a:off x="514340" y="3373368"/>
              <a:ext cx="8234124" cy="886563"/>
              <a:chOff x="514340" y="3373368"/>
              <a:chExt cx="8234124" cy="886563"/>
            </a:xfrm>
          </p:grpSpPr>
          <p:sp>
            <p:nvSpPr>
              <p:cNvPr id="40" name="文本框 39"/>
              <p:cNvSpPr txBox="1"/>
              <p:nvPr/>
            </p:nvSpPr>
            <p:spPr>
              <a:xfrm>
                <a:off x="514340" y="3373368"/>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解：这道题的难点在于需要充分考虑所有的情况。第</a:t>
                </a:r>
                <a:r>
                  <a:rPr kumimoji="1" lang="en-US" altLang="zh-CN" sz="2400" dirty="0">
                    <a:solidFill>
                      <a:srgbClr val="000000"/>
                    </a:solidFill>
                    <a:latin typeface="Times New Roman" panose="02020603050405020304" pitchFamily="18" charset="0"/>
                    <a:ea typeface="宋体" panose="02010600030101010101" pitchFamily="2" charset="-122"/>
                  </a:rPr>
                  <a:t>1</a:t>
                </a:r>
                <a:r>
                  <a:rPr kumimoji="1" lang="zh-CN" altLang="en-US" sz="2400" dirty="0">
                    <a:solidFill>
                      <a:srgbClr val="000000"/>
                    </a:solidFill>
                    <a:latin typeface="Times New Roman" panose="02020603050405020304" pitchFamily="18" charset="0"/>
                    <a:ea typeface="宋体" panose="02010600030101010101" pitchFamily="2" charset="-122"/>
                  </a:rPr>
                  <a:t>种情</a:t>
                </a:r>
              </a:p>
            </p:txBody>
          </p:sp>
          <p:sp>
            <p:nvSpPr>
              <p:cNvPr id="41" name="文本框 40"/>
              <p:cNvSpPr txBox="1"/>
              <p:nvPr/>
            </p:nvSpPr>
            <p:spPr>
              <a:xfrm>
                <a:off x="514340" y="3798266"/>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况是       出现在      </a:t>
                </a:r>
                <a:r>
                  <a:rPr kumimoji="1" lang="en-US" altLang="zh-CN" sz="2400" dirty="0">
                    <a:solidFill>
                      <a:srgbClr val="000000"/>
                    </a:solidFill>
                    <a:latin typeface="Times New Roman" panose="02020603050405020304" pitchFamily="18" charset="0"/>
                    <a:ea typeface="宋体" panose="02010600030101010101" pitchFamily="2" charset="-122"/>
                  </a:rPr>
                  <a:t>  </a:t>
                </a:r>
                <a:r>
                  <a:rPr kumimoji="1" lang="zh-CN" altLang="en-US" sz="2400" dirty="0">
                    <a:solidFill>
                      <a:srgbClr val="000000"/>
                    </a:solidFill>
                    <a:latin typeface="Times New Roman" panose="02020603050405020304" pitchFamily="18" charset="0"/>
                    <a:ea typeface="宋体" panose="02010600030101010101" pitchFamily="2" charset="-122"/>
                  </a:rPr>
                  <a:t>的前面并且没有重叠。如</a:t>
                </a:r>
              </a:p>
            </p:txBody>
          </p:sp>
        </p:grpSp>
        <p:pic>
          <p:nvPicPr>
            <p:cNvPr id="38" name="图片 37"/>
            <p:cNvPicPr>
              <a:picLocks noChangeAspect="1"/>
            </p:cNvPicPr>
            <p:nvPr/>
          </p:nvPicPr>
          <p:blipFill>
            <a:blip r:embed="rId6"/>
            <a:stretch>
              <a:fillRect/>
            </a:stretch>
          </p:blipFill>
          <p:spPr>
            <a:xfrm>
              <a:off x="631825" y="3914798"/>
              <a:ext cx="1689100" cy="228600"/>
            </a:xfrm>
            <a:prstGeom prst="rect">
              <a:avLst/>
            </a:prstGeom>
          </p:spPr>
        </p:pic>
        <p:pic>
          <p:nvPicPr>
            <p:cNvPr id="39" name="图片 38"/>
            <p:cNvPicPr>
              <a:picLocks noChangeAspect="1"/>
            </p:cNvPicPr>
            <p:nvPr/>
          </p:nvPicPr>
          <p:blipFill>
            <a:blip r:embed="rId7"/>
            <a:stretch>
              <a:fillRect/>
            </a:stretch>
          </p:blipFill>
          <p:spPr>
            <a:xfrm>
              <a:off x="2123728" y="3914798"/>
              <a:ext cx="1689100" cy="228600"/>
            </a:xfrm>
            <a:prstGeom prst="rect">
              <a:avLst/>
            </a:prstGeom>
          </p:spPr>
        </p:pic>
      </p:grpSp>
      <p:pic>
        <p:nvPicPr>
          <p:cNvPr id="42" name="图片 41"/>
          <p:cNvPicPr>
            <a:picLocks noChangeAspect="1"/>
          </p:cNvPicPr>
          <p:nvPr/>
        </p:nvPicPr>
        <p:blipFill>
          <a:blip r:embed="rId8"/>
          <a:stretch>
            <a:fillRect/>
          </a:stretch>
        </p:blipFill>
        <p:spPr>
          <a:xfrm>
            <a:off x="2066588" y="4554676"/>
            <a:ext cx="4264104" cy="1293445"/>
          </a:xfrm>
          <a:prstGeom prst="rect">
            <a:avLst/>
          </a:prstGeom>
        </p:spPr>
      </p:pic>
      <p:sp>
        <p:nvSpPr>
          <p:cNvPr id="43" name="文本框 42"/>
          <p:cNvSpPr txBox="1"/>
          <p:nvPr/>
        </p:nvSpPr>
        <p:spPr>
          <a:xfrm>
            <a:off x="519459" y="6010266"/>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这是最容易想到的情况，但还有更多的情况需要考虑。</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dirty="0">
                <a:ea typeface="华文行楷" panose="02010800040101010101" pitchFamily="2" charset="-122"/>
              </a:rPr>
              <a:t>非</a:t>
            </a:r>
            <a:r>
              <a:rPr lang="zh-CN" altLang="en-US" sz="4000" i="0" dirty="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26" name="组合 25"/>
          <p:cNvGrpSpPr/>
          <p:nvPr/>
        </p:nvGrpSpPr>
        <p:grpSpPr>
          <a:xfrm>
            <a:off x="471726" y="1194597"/>
            <a:ext cx="8234124" cy="461665"/>
            <a:chOff x="2038340" y="1237027"/>
            <a:chExt cx="8234124" cy="461665"/>
          </a:xfrm>
        </p:grpSpPr>
        <p:sp>
          <p:nvSpPr>
            <p:cNvPr id="27" name="文本框 26"/>
            <p:cNvSpPr txBox="1"/>
            <p:nvPr/>
          </p:nvSpPr>
          <p:spPr>
            <a:xfrm>
              <a:off x="2038340" y="1237027"/>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例 </a:t>
              </a:r>
              <a:r>
                <a:rPr kumimoji="1" lang="en-US" altLang="zh-CN" sz="2400" dirty="0">
                  <a:solidFill>
                    <a:srgbClr val="000000"/>
                  </a:solidFill>
                  <a:latin typeface="Times New Roman" panose="02020603050405020304" pitchFamily="18" charset="0"/>
                  <a:ea typeface="宋体" panose="02010600030101010101" pitchFamily="2" charset="-122"/>
                </a:rPr>
                <a:t>6</a:t>
              </a:r>
              <a:r>
                <a:rPr kumimoji="1" lang="zh-CN" altLang="en-US" sz="2400" dirty="0">
                  <a:solidFill>
                    <a:srgbClr val="000000"/>
                  </a:solidFill>
                  <a:latin typeface="Times New Roman" panose="02020603050405020304" pitchFamily="18" charset="0"/>
                  <a:ea typeface="宋体" panose="02010600030101010101" pitchFamily="2" charset="-122"/>
                </a:rPr>
                <a:t>：设计             接受以下语言</a:t>
              </a:r>
            </a:p>
          </p:txBody>
        </p:sp>
        <p:pic>
          <p:nvPicPr>
            <p:cNvPr id="28" name="图片 27"/>
            <p:cNvPicPr>
              <a:picLocks noChangeAspect="1"/>
            </p:cNvPicPr>
            <p:nvPr/>
          </p:nvPicPr>
          <p:blipFill>
            <a:blip r:embed="rId2"/>
            <a:stretch>
              <a:fillRect/>
            </a:stretch>
          </p:blipFill>
          <p:spPr>
            <a:xfrm>
              <a:off x="3048000" y="1338796"/>
              <a:ext cx="2095500" cy="241300"/>
            </a:xfrm>
            <a:prstGeom prst="rect">
              <a:avLst/>
            </a:prstGeom>
          </p:spPr>
        </p:pic>
      </p:grpSp>
      <p:pic>
        <p:nvPicPr>
          <p:cNvPr id="30" name="图片 29"/>
          <p:cNvPicPr>
            <a:picLocks noChangeAspect="1"/>
          </p:cNvPicPr>
          <p:nvPr/>
        </p:nvPicPr>
        <p:blipFill>
          <a:blip r:embed="rId3"/>
          <a:stretch>
            <a:fillRect/>
          </a:stretch>
        </p:blipFill>
        <p:spPr>
          <a:xfrm>
            <a:off x="1250405" y="1897924"/>
            <a:ext cx="5549900" cy="317500"/>
          </a:xfrm>
          <a:prstGeom prst="rect">
            <a:avLst/>
          </a:prstGeom>
        </p:spPr>
      </p:pic>
      <p:pic>
        <p:nvPicPr>
          <p:cNvPr id="31" name="图片 30"/>
          <p:cNvPicPr>
            <a:picLocks noChangeAspect="1"/>
          </p:cNvPicPr>
          <p:nvPr/>
        </p:nvPicPr>
        <p:blipFill>
          <a:blip r:embed="rId4"/>
          <a:stretch>
            <a:fillRect/>
          </a:stretch>
        </p:blipFill>
        <p:spPr>
          <a:xfrm>
            <a:off x="2297138" y="2371362"/>
            <a:ext cx="5295900" cy="292100"/>
          </a:xfrm>
          <a:prstGeom prst="rect">
            <a:avLst/>
          </a:prstGeom>
        </p:spPr>
      </p:pic>
      <p:pic>
        <p:nvPicPr>
          <p:cNvPr id="32" name="图片 31"/>
          <p:cNvPicPr>
            <a:picLocks noChangeAspect="1"/>
          </p:cNvPicPr>
          <p:nvPr/>
        </p:nvPicPr>
        <p:blipFill>
          <a:blip r:embed="rId5"/>
          <a:stretch>
            <a:fillRect/>
          </a:stretch>
        </p:blipFill>
        <p:spPr>
          <a:xfrm>
            <a:off x="2297138" y="2819400"/>
            <a:ext cx="5232400" cy="355600"/>
          </a:xfrm>
          <a:prstGeom prst="rect">
            <a:avLst/>
          </a:prstGeom>
        </p:spPr>
      </p:pic>
      <p:grpSp>
        <p:nvGrpSpPr>
          <p:cNvPr id="18" name="组合 17"/>
          <p:cNvGrpSpPr/>
          <p:nvPr/>
        </p:nvGrpSpPr>
        <p:grpSpPr>
          <a:xfrm>
            <a:off x="-102280" y="3373368"/>
            <a:ext cx="9246280" cy="959576"/>
            <a:chOff x="31452" y="3373368"/>
            <a:chExt cx="9246280" cy="959576"/>
          </a:xfrm>
        </p:grpSpPr>
        <p:sp>
          <p:nvSpPr>
            <p:cNvPr id="19" name="文本框 18"/>
            <p:cNvSpPr txBox="1"/>
            <p:nvPr/>
          </p:nvSpPr>
          <p:spPr>
            <a:xfrm>
              <a:off x="514340" y="3373368"/>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解：由于两个子串有公共子串</a:t>
              </a:r>
              <a:r>
                <a:rPr kumimoji="1" lang="en-US" altLang="zh-CN" sz="2400" dirty="0">
                  <a:solidFill>
                    <a:srgbClr val="000000"/>
                  </a:solidFill>
                  <a:latin typeface="Times New Roman" panose="02020603050405020304" pitchFamily="18" charset="0"/>
                  <a:ea typeface="宋体" panose="02010600030101010101" pitchFamily="2" charset="-122"/>
                </a:rPr>
                <a:t>     </a:t>
              </a:r>
              <a:r>
                <a:rPr kumimoji="1" lang="zh-CN" altLang="en-US" sz="2400" dirty="0">
                  <a:solidFill>
                    <a:srgbClr val="000000"/>
                  </a:solidFill>
                  <a:latin typeface="Times New Roman" panose="02020603050405020304" pitchFamily="18" charset="0"/>
                  <a:ea typeface="宋体" panose="02010600030101010101" pitchFamily="2" charset="-122"/>
                </a:rPr>
                <a:t>，因此第</a:t>
              </a:r>
              <a:r>
                <a:rPr kumimoji="1" lang="en-US" altLang="zh-CN" sz="2400" dirty="0">
                  <a:solidFill>
                    <a:srgbClr val="000000"/>
                  </a:solidFill>
                  <a:latin typeface="Times New Roman" panose="02020603050405020304" pitchFamily="18" charset="0"/>
                  <a:ea typeface="宋体" panose="02010600030101010101" pitchFamily="2" charset="-122"/>
                </a:rPr>
                <a:t>2</a:t>
              </a:r>
              <a:r>
                <a:rPr kumimoji="1" lang="zh-CN" altLang="en-US" sz="2400" dirty="0">
                  <a:solidFill>
                    <a:srgbClr val="000000"/>
                  </a:solidFill>
                  <a:latin typeface="Times New Roman" panose="02020603050405020304" pitchFamily="18" charset="0"/>
                  <a:ea typeface="宋体" panose="02010600030101010101" pitchFamily="2" charset="-122"/>
                </a:rPr>
                <a:t>种情况是</a:t>
              </a:r>
              <a:r>
                <a:rPr kumimoji="1" lang="en-US" altLang="zh-CN" sz="2400" dirty="0">
                  <a:solidFill>
                    <a:srgbClr val="000000"/>
                  </a:solidFill>
                  <a:latin typeface="Times New Roman" panose="02020603050405020304" pitchFamily="18" charset="0"/>
                  <a:ea typeface="宋体" panose="02010600030101010101" pitchFamily="2" charset="-122"/>
                </a:rPr>
                <a:t>       </a:t>
              </a:r>
              <a:r>
                <a:rPr kumimoji="1" lang="zh-CN" altLang="en-US" sz="2400" dirty="0">
                  <a:solidFill>
                    <a:srgbClr val="000000"/>
                  </a:solidFill>
                  <a:latin typeface="Times New Roman" panose="02020603050405020304" pitchFamily="18" charset="0"/>
                  <a:ea typeface="宋体" panose="02010600030101010101" pitchFamily="2" charset="-122"/>
                </a:rPr>
                <a:t>在</a:t>
              </a:r>
            </a:p>
          </p:txBody>
        </p:sp>
        <p:pic>
          <p:nvPicPr>
            <p:cNvPr id="20" name="图片 19"/>
            <p:cNvPicPr>
              <a:picLocks noChangeAspect="1"/>
            </p:cNvPicPr>
            <p:nvPr/>
          </p:nvPicPr>
          <p:blipFill>
            <a:blip r:embed="rId6"/>
            <a:stretch>
              <a:fillRect/>
            </a:stretch>
          </p:blipFill>
          <p:spPr>
            <a:xfrm>
              <a:off x="6964536" y="3494662"/>
              <a:ext cx="1689100" cy="228600"/>
            </a:xfrm>
            <a:prstGeom prst="rect">
              <a:avLst/>
            </a:prstGeom>
          </p:spPr>
        </p:pic>
        <p:pic>
          <p:nvPicPr>
            <p:cNvPr id="21" name="图片 20"/>
            <p:cNvPicPr>
              <a:picLocks noChangeAspect="1"/>
            </p:cNvPicPr>
            <p:nvPr/>
          </p:nvPicPr>
          <p:blipFill>
            <a:blip r:embed="rId7"/>
            <a:stretch>
              <a:fillRect/>
            </a:stretch>
          </p:blipFill>
          <p:spPr>
            <a:xfrm>
              <a:off x="31452" y="3990971"/>
              <a:ext cx="1689100" cy="228600"/>
            </a:xfrm>
            <a:prstGeom prst="rect">
              <a:avLst/>
            </a:prstGeom>
          </p:spPr>
        </p:pic>
        <p:pic>
          <p:nvPicPr>
            <p:cNvPr id="22" name="图片 21"/>
            <p:cNvPicPr>
              <a:picLocks noChangeAspect="1"/>
            </p:cNvPicPr>
            <p:nvPr/>
          </p:nvPicPr>
          <p:blipFill>
            <a:blip r:embed="rId8"/>
            <a:stretch>
              <a:fillRect/>
            </a:stretch>
          </p:blipFill>
          <p:spPr>
            <a:xfrm>
              <a:off x="3995936" y="3564632"/>
              <a:ext cx="1562100" cy="152400"/>
            </a:xfrm>
            <a:prstGeom prst="rect">
              <a:avLst/>
            </a:prstGeom>
          </p:spPr>
        </p:pic>
        <p:sp>
          <p:nvSpPr>
            <p:cNvPr id="23" name="文本框 22"/>
            <p:cNvSpPr txBox="1"/>
            <p:nvPr/>
          </p:nvSpPr>
          <p:spPr>
            <a:xfrm>
              <a:off x="1043608" y="3871279"/>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的前面并且两者交叠。</a:t>
              </a:r>
            </a:p>
          </p:txBody>
        </p:sp>
      </p:grpSp>
      <p:grpSp>
        <p:nvGrpSpPr>
          <p:cNvPr id="24" name="组合 23"/>
          <p:cNvGrpSpPr/>
          <p:nvPr/>
        </p:nvGrpSpPr>
        <p:grpSpPr>
          <a:xfrm>
            <a:off x="2998108" y="4509121"/>
            <a:ext cx="2590800" cy="1280985"/>
            <a:chOff x="3131840" y="4509120"/>
            <a:chExt cx="2590800" cy="1280985"/>
          </a:xfrm>
        </p:grpSpPr>
        <p:pic>
          <p:nvPicPr>
            <p:cNvPr id="25" name="图片 24"/>
            <p:cNvPicPr>
              <a:picLocks noChangeAspect="1"/>
            </p:cNvPicPr>
            <p:nvPr/>
          </p:nvPicPr>
          <p:blipFill>
            <a:blip r:embed="rId9"/>
            <a:stretch>
              <a:fillRect/>
            </a:stretch>
          </p:blipFill>
          <p:spPr>
            <a:xfrm>
              <a:off x="3131840" y="5012423"/>
              <a:ext cx="2590800" cy="228600"/>
            </a:xfrm>
            <a:prstGeom prst="rect">
              <a:avLst/>
            </a:prstGeom>
          </p:spPr>
        </p:pic>
        <p:pic>
          <p:nvPicPr>
            <p:cNvPr id="29" name="图片 28"/>
            <p:cNvPicPr>
              <a:picLocks noChangeAspect="1"/>
            </p:cNvPicPr>
            <p:nvPr/>
          </p:nvPicPr>
          <p:blipFill>
            <a:blip r:embed="rId10"/>
            <a:stretch>
              <a:fillRect/>
            </a:stretch>
          </p:blipFill>
          <p:spPr>
            <a:xfrm>
              <a:off x="3263900" y="5320205"/>
              <a:ext cx="1308100" cy="469900"/>
            </a:xfrm>
            <a:prstGeom prst="rect">
              <a:avLst/>
            </a:prstGeom>
          </p:spPr>
        </p:pic>
        <p:pic>
          <p:nvPicPr>
            <p:cNvPr id="35" name="图片 34"/>
            <p:cNvPicPr>
              <a:picLocks noChangeAspect="1"/>
            </p:cNvPicPr>
            <p:nvPr/>
          </p:nvPicPr>
          <p:blipFill>
            <a:blip r:embed="rId11"/>
            <a:stretch>
              <a:fillRect/>
            </a:stretch>
          </p:blipFill>
          <p:spPr>
            <a:xfrm>
              <a:off x="4249936" y="4509120"/>
              <a:ext cx="1308100" cy="469900"/>
            </a:xfrm>
            <a:prstGeom prst="rect">
              <a:avLst/>
            </a:prstGeom>
          </p:spPr>
        </p:pic>
      </p:grpSp>
      <p:sp>
        <p:nvSpPr>
          <p:cNvPr id="36" name="文本框 35"/>
          <p:cNvSpPr txBox="1"/>
          <p:nvPr/>
        </p:nvSpPr>
        <p:spPr>
          <a:xfrm>
            <a:off x="506368" y="5931149"/>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不仅如此，更有第</a:t>
            </a:r>
            <a:r>
              <a:rPr kumimoji="1" lang="en-US" altLang="zh-CN" sz="2400" dirty="0">
                <a:solidFill>
                  <a:srgbClr val="000000"/>
                </a:solidFill>
                <a:latin typeface="Times New Roman" panose="02020603050405020304" pitchFamily="18" charset="0"/>
                <a:ea typeface="宋体" panose="02010600030101010101" pitchFamily="2" charset="-122"/>
              </a:rPr>
              <a:t>3</a:t>
            </a:r>
            <a:r>
              <a:rPr kumimoji="1" lang="zh-CN" altLang="en-US" sz="2400" dirty="0">
                <a:solidFill>
                  <a:srgbClr val="000000"/>
                </a:solidFill>
                <a:latin typeface="Times New Roman" panose="02020603050405020304" pitchFamily="18" charset="0"/>
                <a:ea typeface="宋体" panose="02010600030101010101" pitchFamily="2" charset="-122"/>
              </a:rPr>
              <a:t>种情况，也是最容易漏掉的情况。</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dirty="0">
                <a:ea typeface="华文行楷" panose="02010800040101010101" pitchFamily="2" charset="-122"/>
              </a:rPr>
              <a:t>非</a:t>
            </a:r>
            <a:r>
              <a:rPr lang="zh-CN" altLang="en-US" sz="4000" i="0" dirty="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26" name="组合 25"/>
          <p:cNvGrpSpPr/>
          <p:nvPr/>
        </p:nvGrpSpPr>
        <p:grpSpPr>
          <a:xfrm>
            <a:off x="471726" y="1194597"/>
            <a:ext cx="8234124" cy="461665"/>
            <a:chOff x="2038340" y="1237027"/>
            <a:chExt cx="8234124" cy="461665"/>
          </a:xfrm>
        </p:grpSpPr>
        <p:sp>
          <p:nvSpPr>
            <p:cNvPr id="27" name="文本框 26"/>
            <p:cNvSpPr txBox="1"/>
            <p:nvPr/>
          </p:nvSpPr>
          <p:spPr>
            <a:xfrm>
              <a:off x="2038340" y="1237027"/>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例 </a:t>
              </a:r>
              <a:r>
                <a:rPr kumimoji="1" lang="en-US" altLang="zh-CN" sz="2400" dirty="0">
                  <a:solidFill>
                    <a:srgbClr val="000000"/>
                  </a:solidFill>
                  <a:latin typeface="Times New Roman" panose="02020603050405020304" pitchFamily="18" charset="0"/>
                  <a:ea typeface="宋体" panose="02010600030101010101" pitchFamily="2" charset="-122"/>
                </a:rPr>
                <a:t>6</a:t>
              </a:r>
              <a:r>
                <a:rPr kumimoji="1" lang="zh-CN" altLang="en-US" sz="2400" dirty="0">
                  <a:solidFill>
                    <a:srgbClr val="000000"/>
                  </a:solidFill>
                  <a:latin typeface="Times New Roman" panose="02020603050405020304" pitchFamily="18" charset="0"/>
                  <a:ea typeface="宋体" panose="02010600030101010101" pitchFamily="2" charset="-122"/>
                </a:rPr>
                <a:t>：设计             接受以下语言</a:t>
              </a:r>
            </a:p>
          </p:txBody>
        </p:sp>
        <p:pic>
          <p:nvPicPr>
            <p:cNvPr id="28" name="图片 27"/>
            <p:cNvPicPr>
              <a:picLocks noChangeAspect="1"/>
            </p:cNvPicPr>
            <p:nvPr/>
          </p:nvPicPr>
          <p:blipFill>
            <a:blip r:embed="rId2"/>
            <a:stretch>
              <a:fillRect/>
            </a:stretch>
          </p:blipFill>
          <p:spPr>
            <a:xfrm>
              <a:off x="3048000" y="1338796"/>
              <a:ext cx="2095500" cy="241300"/>
            </a:xfrm>
            <a:prstGeom prst="rect">
              <a:avLst/>
            </a:prstGeom>
          </p:spPr>
        </p:pic>
      </p:grpSp>
      <p:pic>
        <p:nvPicPr>
          <p:cNvPr id="30" name="图片 29"/>
          <p:cNvPicPr>
            <a:picLocks noChangeAspect="1"/>
          </p:cNvPicPr>
          <p:nvPr/>
        </p:nvPicPr>
        <p:blipFill>
          <a:blip r:embed="rId3"/>
          <a:stretch>
            <a:fillRect/>
          </a:stretch>
        </p:blipFill>
        <p:spPr>
          <a:xfrm>
            <a:off x="1250405" y="1897924"/>
            <a:ext cx="5549900" cy="317500"/>
          </a:xfrm>
          <a:prstGeom prst="rect">
            <a:avLst/>
          </a:prstGeom>
        </p:spPr>
      </p:pic>
      <p:pic>
        <p:nvPicPr>
          <p:cNvPr id="31" name="图片 30"/>
          <p:cNvPicPr>
            <a:picLocks noChangeAspect="1"/>
          </p:cNvPicPr>
          <p:nvPr/>
        </p:nvPicPr>
        <p:blipFill>
          <a:blip r:embed="rId4"/>
          <a:stretch>
            <a:fillRect/>
          </a:stretch>
        </p:blipFill>
        <p:spPr>
          <a:xfrm>
            <a:off x="2297138" y="2371362"/>
            <a:ext cx="5295900" cy="292100"/>
          </a:xfrm>
          <a:prstGeom prst="rect">
            <a:avLst/>
          </a:prstGeom>
        </p:spPr>
      </p:pic>
      <p:pic>
        <p:nvPicPr>
          <p:cNvPr id="32" name="图片 31"/>
          <p:cNvPicPr>
            <a:picLocks noChangeAspect="1"/>
          </p:cNvPicPr>
          <p:nvPr/>
        </p:nvPicPr>
        <p:blipFill>
          <a:blip r:embed="rId5"/>
          <a:stretch>
            <a:fillRect/>
          </a:stretch>
        </p:blipFill>
        <p:spPr>
          <a:xfrm>
            <a:off x="2297138" y="2819400"/>
            <a:ext cx="5232400" cy="355600"/>
          </a:xfrm>
          <a:prstGeom prst="rect">
            <a:avLst/>
          </a:prstGeom>
        </p:spPr>
      </p:pic>
      <p:grpSp>
        <p:nvGrpSpPr>
          <p:cNvPr id="33" name="组合 32"/>
          <p:cNvGrpSpPr/>
          <p:nvPr/>
        </p:nvGrpSpPr>
        <p:grpSpPr>
          <a:xfrm>
            <a:off x="3228876" y="4494004"/>
            <a:ext cx="1981200" cy="1365915"/>
            <a:chOff x="3263900" y="4494003"/>
            <a:chExt cx="1981200" cy="1365915"/>
          </a:xfrm>
        </p:grpSpPr>
        <p:pic>
          <p:nvPicPr>
            <p:cNvPr id="34" name="图片 33"/>
            <p:cNvPicPr>
              <a:picLocks noChangeAspect="1"/>
            </p:cNvPicPr>
            <p:nvPr/>
          </p:nvPicPr>
          <p:blipFill>
            <a:blip r:embed="rId6"/>
            <a:stretch>
              <a:fillRect/>
            </a:stretch>
          </p:blipFill>
          <p:spPr>
            <a:xfrm>
              <a:off x="3595241" y="5390018"/>
              <a:ext cx="1308100" cy="469900"/>
            </a:xfrm>
            <a:prstGeom prst="rect">
              <a:avLst/>
            </a:prstGeom>
          </p:spPr>
        </p:pic>
        <p:pic>
          <p:nvPicPr>
            <p:cNvPr id="37" name="图片 36"/>
            <p:cNvPicPr>
              <a:picLocks noChangeAspect="1"/>
            </p:cNvPicPr>
            <p:nvPr/>
          </p:nvPicPr>
          <p:blipFill>
            <a:blip r:embed="rId7"/>
            <a:stretch>
              <a:fillRect/>
            </a:stretch>
          </p:blipFill>
          <p:spPr>
            <a:xfrm>
              <a:off x="3600450" y="4494003"/>
              <a:ext cx="1308100" cy="469900"/>
            </a:xfrm>
            <a:prstGeom prst="rect">
              <a:avLst/>
            </a:prstGeom>
          </p:spPr>
        </p:pic>
        <p:pic>
          <p:nvPicPr>
            <p:cNvPr id="38" name="图片 37"/>
            <p:cNvPicPr>
              <a:picLocks noChangeAspect="1"/>
            </p:cNvPicPr>
            <p:nvPr/>
          </p:nvPicPr>
          <p:blipFill>
            <a:blip r:embed="rId8"/>
            <a:stretch>
              <a:fillRect/>
            </a:stretch>
          </p:blipFill>
          <p:spPr>
            <a:xfrm>
              <a:off x="3263900" y="5012487"/>
              <a:ext cx="1981200" cy="228600"/>
            </a:xfrm>
            <a:prstGeom prst="rect">
              <a:avLst/>
            </a:prstGeom>
          </p:spPr>
        </p:pic>
      </p:grpSp>
      <p:grpSp>
        <p:nvGrpSpPr>
          <p:cNvPr id="39" name="组合 38"/>
          <p:cNvGrpSpPr/>
          <p:nvPr/>
        </p:nvGrpSpPr>
        <p:grpSpPr>
          <a:xfrm>
            <a:off x="479316" y="3373368"/>
            <a:ext cx="8234124" cy="959576"/>
            <a:chOff x="514340" y="3373368"/>
            <a:chExt cx="8234124" cy="959576"/>
          </a:xfrm>
        </p:grpSpPr>
        <p:sp>
          <p:nvSpPr>
            <p:cNvPr id="40" name="文本框 39"/>
            <p:cNvSpPr txBox="1"/>
            <p:nvPr/>
          </p:nvSpPr>
          <p:spPr>
            <a:xfrm>
              <a:off x="514340" y="3373368"/>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解：第</a:t>
              </a:r>
              <a:r>
                <a:rPr kumimoji="1" lang="en-US" altLang="zh-CN" sz="2400" dirty="0">
                  <a:solidFill>
                    <a:srgbClr val="000000"/>
                  </a:solidFill>
                  <a:latin typeface="Times New Roman" panose="02020603050405020304" pitchFamily="18" charset="0"/>
                  <a:ea typeface="宋体" panose="02010600030101010101" pitchFamily="2" charset="-122"/>
                </a:rPr>
                <a:t>3</a:t>
              </a:r>
              <a:r>
                <a:rPr kumimoji="1" lang="zh-CN" altLang="en-US" sz="2400" dirty="0">
                  <a:solidFill>
                    <a:srgbClr val="000000"/>
                  </a:solidFill>
                  <a:latin typeface="Times New Roman" panose="02020603050405020304" pitchFamily="18" charset="0"/>
                  <a:ea typeface="宋体" panose="02010600030101010101" pitchFamily="2" charset="-122"/>
                </a:rPr>
                <a:t>种情况是</a:t>
              </a:r>
              <a:r>
                <a:rPr kumimoji="1" lang="en-US" altLang="zh-CN" sz="2400" dirty="0">
                  <a:solidFill>
                    <a:srgbClr val="000000"/>
                  </a:solidFill>
                  <a:latin typeface="Times New Roman" panose="02020603050405020304" pitchFamily="18" charset="0"/>
                  <a:ea typeface="宋体" panose="02010600030101010101" pitchFamily="2" charset="-122"/>
                </a:rPr>
                <a:t>       </a:t>
              </a:r>
              <a:r>
                <a:rPr kumimoji="1" lang="zh-CN" altLang="en-US" sz="2400" dirty="0">
                  <a:solidFill>
                    <a:srgbClr val="000000"/>
                  </a:solidFill>
                  <a:latin typeface="Times New Roman" panose="02020603050405020304" pitchFamily="18" charset="0"/>
                  <a:ea typeface="宋体" panose="02010600030101010101" pitchFamily="2" charset="-122"/>
                </a:rPr>
                <a:t>在       的后面，两者有公共子串   ，</a:t>
              </a:r>
            </a:p>
          </p:txBody>
        </p:sp>
        <p:pic>
          <p:nvPicPr>
            <p:cNvPr id="41" name="图片 40"/>
            <p:cNvPicPr>
              <a:picLocks noChangeAspect="1"/>
            </p:cNvPicPr>
            <p:nvPr/>
          </p:nvPicPr>
          <p:blipFill>
            <a:blip r:embed="rId9"/>
            <a:stretch>
              <a:fillRect/>
            </a:stretch>
          </p:blipFill>
          <p:spPr>
            <a:xfrm>
              <a:off x="2339752" y="3489900"/>
              <a:ext cx="1689100" cy="228600"/>
            </a:xfrm>
            <a:prstGeom prst="rect">
              <a:avLst/>
            </a:prstGeom>
          </p:spPr>
        </p:pic>
        <p:pic>
          <p:nvPicPr>
            <p:cNvPr id="42" name="图片 41"/>
            <p:cNvPicPr>
              <a:picLocks noChangeAspect="1"/>
            </p:cNvPicPr>
            <p:nvPr/>
          </p:nvPicPr>
          <p:blipFill>
            <a:blip r:embed="rId10"/>
            <a:stretch>
              <a:fillRect/>
            </a:stretch>
          </p:blipFill>
          <p:spPr>
            <a:xfrm>
              <a:off x="3170635" y="3489900"/>
              <a:ext cx="1689100" cy="228600"/>
            </a:xfrm>
            <a:prstGeom prst="rect">
              <a:avLst/>
            </a:prstGeom>
          </p:spPr>
        </p:pic>
        <p:sp>
          <p:nvSpPr>
            <p:cNvPr id="43" name="文本框 42"/>
            <p:cNvSpPr txBox="1"/>
            <p:nvPr/>
          </p:nvSpPr>
          <p:spPr>
            <a:xfrm>
              <a:off x="514340" y="3871279"/>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整个串的长度为</a:t>
              </a:r>
              <a:r>
                <a:rPr kumimoji="1" lang="en-US" altLang="zh-CN" sz="2400" dirty="0">
                  <a:solidFill>
                    <a:srgbClr val="000000"/>
                  </a:solidFill>
                  <a:latin typeface="Times New Roman" panose="02020603050405020304" pitchFamily="18" charset="0"/>
                  <a:ea typeface="宋体" panose="02010600030101010101" pitchFamily="2" charset="-122"/>
                </a:rPr>
                <a:t>5</a:t>
              </a:r>
              <a:r>
                <a:rPr kumimoji="1" lang="zh-CN" altLang="en-US" sz="2400" dirty="0">
                  <a:solidFill>
                    <a:srgbClr val="000000"/>
                  </a:solidFill>
                  <a:latin typeface="Times New Roman" panose="02020603050405020304" pitchFamily="18" charset="0"/>
                  <a:ea typeface="宋体" panose="02010600030101010101" pitchFamily="2" charset="-122"/>
                </a:rPr>
                <a:t>。</a:t>
              </a:r>
            </a:p>
          </p:txBody>
        </p:sp>
        <p:pic>
          <p:nvPicPr>
            <p:cNvPr id="44" name="图片 43"/>
            <p:cNvPicPr>
              <a:picLocks noChangeAspect="1"/>
            </p:cNvPicPr>
            <p:nvPr/>
          </p:nvPicPr>
          <p:blipFill>
            <a:blip r:embed="rId11"/>
            <a:stretch>
              <a:fillRect/>
            </a:stretch>
          </p:blipFill>
          <p:spPr>
            <a:xfrm>
              <a:off x="7068406" y="3489900"/>
              <a:ext cx="1397000" cy="228600"/>
            </a:xfrm>
            <a:prstGeom prst="rect">
              <a:avLst/>
            </a:prstGeom>
          </p:spPr>
        </p:pic>
      </p:grpSp>
      <p:grpSp>
        <p:nvGrpSpPr>
          <p:cNvPr id="45" name="组合 44"/>
          <p:cNvGrpSpPr/>
          <p:nvPr/>
        </p:nvGrpSpPr>
        <p:grpSpPr>
          <a:xfrm>
            <a:off x="605076" y="5999790"/>
            <a:ext cx="8234124" cy="461665"/>
            <a:chOff x="640100" y="5999789"/>
            <a:chExt cx="8234124" cy="461665"/>
          </a:xfrm>
        </p:grpSpPr>
        <p:sp>
          <p:nvSpPr>
            <p:cNvPr id="46" name="文本框 45"/>
            <p:cNvSpPr txBox="1"/>
            <p:nvPr/>
          </p:nvSpPr>
          <p:spPr>
            <a:xfrm>
              <a:off x="640100" y="5999789"/>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这三种情况是或的关系，需要体现在             中。</a:t>
              </a:r>
            </a:p>
          </p:txBody>
        </p:sp>
        <p:pic>
          <p:nvPicPr>
            <p:cNvPr id="47" name="图片 46"/>
            <p:cNvPicPr>
              <a:picLocks noChangeAspect="1"/>
            </p:cNvPicPr>
            <p:nvPr/>
          </p:nvPicPr>
          <p:blipFill>
            <a:blip r:embed="rId2"/>
            <a:stretch>
              <a:fillRect/>
            </a:stretch>
          </p:blipFill>
          <p:spPr>
            <a:xfrm>
              <a:off x="5029374" y="6095283"/>
              <a:ext cx="2095500" cy="2413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dirty="0">
                <a:ea typeface="华文行楷" panose="02010800040101010101" pitchFamily="2" charset="-122"/>
              </a:rPr>
              <a:t>非</a:t>
            </a:r>
            <a:r>
              <a:rPr lang="zh-CN" altLang="en-US" sz="4000" i="0" dirty="0">
                <a:ea typeface="华文行楷" panose="02010800040101010101" pitchFamily="2" charset="-122"/>
              </a:rPr>
              <a:t>确定有限自动机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26" name="组合 25"/>
          <p:cNvGrpSpPr/>
          <p:nvPr/>
        </p:nvGrpSpPr>
        <p:grpSpPr>
          <a:xfrm>
            <a:off x="471726" y="1194597"/>
            <a:ext cx="8234124" cy="461665"/>
            <a:chOff x="2038340" y="1237027"/>
            <a:chExt cx="8234124" cy="461665"/>
          </a:xfrm>
        </p:grpSpPr>
        <p:sp>
          <p:nvSpPr>
            <p:cNvPr id="27" name="文本框 26"/>
            <p:cNvSpPr txBox="1"/>
            <p:nvPr/>
          </p:nvSpPr>
          <p:spPr>
            <a:xfrm>
              <a:off x="2038340" y="1237027"/>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例 </a:t>
              </a:r>
              <a:r>
                <a:rPr kumimoji="1" lang="en-US" altLang="zh-CN" sz="2400" dirty="0">
                  <a:solidFill>
                    <a:srgbClr val="000000"/>
                  </a:solidFill>
                  <a:latin typeface="Times New Roman" panose="02020603050405020304" pitchFamily="18" charset="0"/>
                  <a:ea typeface="宋体" panose="02010600030101010101" pitchFamily="2" charset="-122"/>
                </a:rPr>
                <a:t>6</a:t>
              </a:r>
              <a:r>
                <a:rPr kumimoji="1" lang="zh-CN" altLang="en-US" sz="2400" dirty="0">
                  <a:solidFill>
                    <a:srgbClr val="000000"/>
                  </a:solidFill>
                  <a:latin typeface="Times New Roman" panose="02020603050405020304" pitchFamily="18" charset="0"/>
                  <a:ea typeface="宋体" panose="02010600030101010101" pitchFamily="2" charset="-122"/>
                </a:rPr>
                <a:t>：设计             接受以下语言</a:t>
              </a:r>
            </a:p>
          </p:txBody>
        </p:sp>
        <p:pic>
          <p:nvPicPr>
            <p:cNvPr id="28" name="图片 27"/>
            <p:cNvPicPr>
              <a:picLocks noChangeAspect="1"/>
            </p:cNvPicPr>
            <p:nvPr/>
          </p:nvPicPr>
          <p:blipFill>
            <a:blip r:embed="rId2"/>
            <a:stretch>
              <a:fillRect/>
            </a:stretch>
          </p:blipFill>
          <p:spPr>
            <a:xfrm>
              <a:off x="3048000" y="1338796"/>
              <a:ext cx="2095500" cy="241300"/>
            </a:xfrm>
            <a:prstGeom prst="rect">
              <a:avLst/>
            </a:prstGeom>
          </p:spPr>
        </p:pic>
      </p:grpSp>
      <p:pic>
        <p:nvPicPr>
          <p:cNvPr id="30" name="图片 29"/>
          <p:cNvPicPr>
            <a:picLocks noChangeAspect="1"/>
          </p:cNvPicPr>
          <p:nvPr/>
        </p:nvPicPr>
        <p:blipFill>
          <a:blip r:embed="rId3"/>
          <a:stretch>
            <a:fillRect/>
          </a:stretch>
        </p:blipFill>
        <p:spPr>
          <a:xfrm>
            <a:off x="1250405" y="1694724"/>
            <a:ext cx="5549900" cy="317500"/>
          </a:xfrm>
          <a:prstGeom prst="rect">
            <a:avLst/>
          </a:prstGeom>
        </p:spPr>
      </p:pic>
      <p:pic>
        <p:nvPicPr>
          <p:cNvPr id="31" name="图片 30"/>
          <p:cNvPicPr>
            <a:picLocks noChangeAspect="1"/>
          </p:cNvPicPr>
          <p:nvPr/>
        </p:nvPicPr>
        <p:blipFill>
          <a:blip r:embed="rId4"/>
          <a:stretch>
            <a:fillRect/>
          </a:stretch>
        </p:blipFill>
        <p:spPr>
          <a:xfrm>
            <a:off x="2297138" y="2168162"/>
            <a:ext cx="5295900" cy="292100"/>
          </a:xfrm>
          <a:prstGeom prst="rect">
            <a:avLst/>
          </a:prstGeom>
        </p:spPr>
      </p:pic>
      <p:pic>
        <p:nvPicPr>
          <p:cNvPr id="32" name="图片 31"/>
          <p:cNvPicPr>
            <a:picLocks noChangeAspect="1"/>
          </p:cNvPicPr>
          <p:nvPr/>
        </p:nvPicPr>
        <p:blipFill>
          <a:blip r:embed="rId5"/>
          <a:stretch>
            <a:fillRect/>
          </a:stretch>
        </p:blipFill>
        <p:spPr>
          <a:xfrm>
            <a:off x="2297138" y="2616200"/>
            <a:ext cx="5232400" cy="355600"/>
          </a:xfrm>
          <a:prstGeom prst="rect">
            <a:avLst/>
          </a:prstGeom>
        </p:spPr>
      </p:pic>
      <p:sp>
        <p:nvSpPr>
          <p:cNvPr id="23" name="文本框 22"/>
          <p:cNvSpPr txBox="1"/>
          <p:nvPr/>
        </p:nvSpPr>
        <p:spPr>
          <a:xfrm>
            <a:off x="533400" y="3373369"/>
            <a:ext cx="8234124" cy="461665"/>
          </a:xfrm>
          <a:prstGeom prst="rect">
            <a:avLst/>
          </a:prstGeom>
          <a:noFill/>
        </p:spPr>
        <p:txBody>
          <a:bodyPr wrap="square" rtlCol="0">
            <a:spAutoFit/>
          </a:bodyPr>
          <a:lstStyle/>
          <a:p>
            <a:pPr fontAlgn="base">
              <a:spcBef>
                <a:spcPct val="0"/>
              </a:spcBef>
              <a:spcAft>
                <a:spcPct val="0"/>
              </a:spcAft>
            </a:pPr>
            <a:r>
              <a:rPr kumimoji="1" lang="zh-CN" altLang="en-US" sz="2400" dirty="0">
                <a:solidFill>
                  <a:srgbClr val="000000"/>
                </a:solidFill>
                <a:latin typeface="Times New Roman" panose="02020603050405020304" pitchFamily="18" charset="0"/>
                <a:ea typeface="宋体" panose="02010600030101010101" pitchFamily="2" charset="-122"/>
              </a:rPr>
              <a:t>解：</a:t>
            </a:r>
          </a:p>
        </p:txBody>
      </p:sp>
      <p:grpSp>
        <p:nvGrpSpPr>
          <p:cNvPr id="107" name="组合 106"/>
          <p:cNvGrpSpPr/>
          <p:nvPr/>
        </p:nvGrpSpPr>
        <p:grpSpPr>
          <a:xfrm>
            <a:off x="3598927" y="4085736"/>
            <a:ext cx="1422400" cy="582036"/>
            <a:chOff x="3454241" y="4293097"/>
            <a:chExt cx="1422400" cy="582036"/>
          </a:xfrm>
        </p:grpSpPr>
        <p:cxnSp>
          <p:nvCxnSpPr>
            <p:cNvPr id="112" name="直线箭头连接符 79"/>
            <p:cNvCxnSpPr>
              <a:stCxn id="127" idx="4"/>
              <a:endCxn id="131" idx="0"/>
            </p:cNvCxnSpPr>
            <p:nvPr/>
          </p:nvCxnSpPr>
          <p:spPr bwMode="auto">
            <a:xfrm flipH="1">
              <a:off x="3862796" y="4293097"/>
              <a:ext cx="1005149" cy="582036"/>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pic>
          <p:nvPicPr>
            <p:cNvPr id="113" name="图片 112"/>
            <p:cNvPicPr>
              <a:picLocks noChangeAspect="1"/>
            </p:cNvPicPr>
            <p:nvPr/>
          </p:nvPicPr>
          <p:blipFill>
            <a:blip r:embed="rId6"/>
            <a:stretch>
              <a:fillRect/>
            </a:stretch>
          </p:blipFill>
          <p:spPr>
            <a:xfrm>
              <a:off x="3454241" y="4391420"/>
              <a:ext cx="1422400" cy="152400"/>
            </a:xfrm>
            <a:prstGeom prst="rect">
              <a:avLst/>
            </a:prstGeom>
          </p:spPr>
        </p:pic>
      </p:grpSp>
      <p:grpSp>
        <p:nvGrpSpPr>
          <p:cNvPr id="114" name="组合 113"/>
          <p:cNvGrpSpPr/>
          <p:nvPr/>
        </p:nvGrpSpPr>
        <p:grpSpPr>
          <a:xfrm>
            <a:off x="1116287" y="3475659"/>
            <a:ext cx="7494313" cy="1766017"/>
            <a:chOff x="971600" y="3683019"/>
            <a:chExt cx="7494313" cy="1766017"/>
          </a:xfrm>
        </p:grpSpPr>
        <p:sp>
          <p:nvSpPr>
            <p:cNvPr id="115" name="椭圆 114"/>
            <p:cNvSpPr/>
            <p:nvPr/>
          </p:nvSpPr>
          <p:spPr bwMode="auto">
            <a:xfrm>
              <a:off x="7729313" y="4875132"/>
              <a:ext cx="360040" cy="36004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grpSp>
          <p:nvGrpSpPr>
            <p:cNvPr id="119" name="组合 118"/>
            <p:cNvGrpSpPr/>
            <p:nvPr/>
          </p:nvGrpSpPr>
          <p:grpSpPr>
            <a:xfrm>
              <a:off x="971600" y="3683019"/>
              <a:ext cx="7494313" cy="1766017"/>
              <a:chOff x="971600" y="3683019"/>
              <a:chExt cx="7494313" cy="1766017"/>
            </a:xfrm>
          </p:grpSpPr>
          <p:sp>
            <p:nvSpPr>
              <p:cNvPr id="120" name="椭圆 119"/>
              <p:cNvSpPr/>
              <p:nvPr/>
            </p:nvSpPr>
            <p:spPr bwMode="auto">
              <a:xfrm>
                <a:off x="5679032" y="3933056"/>
                <a:ext cx="360040" cy="36004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121" name="椭圆 120"/>
              <p:cNvSpPr/>
              <p:nvPr/>
            </p:nvSpPr>
            <p:spPr bwMode="auto">
              <a:xfrm>
                <a:off x="2667422" y="3933056"/>
                <a:ext cx="360040" cy="36004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126" name="椭圆 125"/>
              <p:cNvSpPr/>
              <p:nvPr/>
            </p:nvSpPr>
            <p:spPr bwMode="auto">
              <a:xfrm>
                <a:off x="3673103" y="3933056"/>
                <a:ext cx="360040" cy="36004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127" name="椭圆 126"/>
              <p:cNvSpPr/>
              <p:nvPr/>
            </p:nvSpPr>
            <p:spPr bwMode="auto">
              <a:xfrm>
                <a:off x="4687924" y="3933056"/>
                <a:ext cx="360040" cy="36004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128" name="椭圆 127"/>
              <p:cNvSpPr/>
              <p:nvPr/>
            </p:nvSpPr>
            <p:spPr bwMode="auto">
              <a:xfrm>
                <a:off x="1691419" y="3933056"/>
                <a:ext cx="360040" cy="36004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129" name="椭圆 128"/>
              <p:cNvSpPr/>
              <p:nvPr/>
            </p:nvSpPr>
            <p:spPr bwMode="auto">
              <a:xfrm>
                <a:off x="6705760" y="3933056"/>
                <a:ext cx="360040" cy="36004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130" name="椭圆 129"/>
              <p:cNvSpPr/>
              <p:nvPr/>
            </p:nvSpPr>
            <p:spPr bwMode="auto">
              <a:xfrm>
                <a:off x="6705760" y="4875132"/>
                <a:ext cx="360040" cy="36004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131" name="椭圆 130"/>
              <p:cNvSpPr/>
              <p:nvPr/>
            </p:nvSpPr>
            <p:spPr bwMode="auto">
              <a:xfrm>
                <a:off x="3682775" y="4875132"/>
                <a:ext cx="360040" cy="36004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132" name="椭圆 131"/>
              <p:cNvSpPr/>
              <p:nvPr/>
            </p:nvSpPr>
            <p:spPr bwMode="auto">
              <a:xfrm>
                <a:off x="4687924" y="4875132"/>
                <a:ext cx="360040" cy="36004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133" name="椭圆 132"/>
              <p:cNvSpPr/>
              <p:nvPr/>
            </p:nvSpPr>
            <p:spPr bwMode="auto">
              <a:xfrm>
                <a:off x="5679032" y="4875132"/>
                <a:ext cx="360040" cy="36004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cxnSp>
            <p:nvCxnSpPr>
              <p:cNvPr id="134" name="直线箭头连接符 13"/>
              <p:cNvCxnSpPr>
                <a:endCxn id="128" idx="2"/>
              </p:cNvCxnSpPr>
              <p:nvPr/>
            </p:nvCxnSpPr>
            <p:spPr bwMode="auto">
              <a:xfrm>
                <a:off x="971600" y="4113076"/>
                <a:ext cx="719819"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135" name="直线箭头连接符 38"/>
              <p:cNvCxnSpPr>
                <a:endCxn id="121" idx="2"/>
              </p:cNvCxnSpPr>
              <p:nvPr/>
            </p:nvCxnSpPr>
            <p:spPr bwMode="auto">
              <a:xfrm>
                <a:off x="2042319" y="4113076"/>
                <a:ext cx="625103"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136" name="直线箭头连接符 40"/>
              <p:cNvCxnSpPr/>
              <p:nvPr/>
            </p:nvCxnSpPr>
            <p:spPr bwMode="auto">
              <a:xfrm>
                <a:off x="3027462" y="4113076"/>
                <a:ext cx="625103"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137" name="直线箭头连接符 41"/>
              <p:cNvCxnSpPr/>
              <p:nvPr/>
            </p:nvCxnSpPr>
            <p:spPr bwMode="auto">
              <a:xfrm>
                <a:off x="5047964" y="4113076"/>
                <a:ext cx="625103"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138" name="直线箭头连接符 42"/>
              <p:cNvCxnSpPr/>
              <p:nvPr/>
            </p:nvCxnSpPr>
            <p:spPr bwMode="auto">
              <a:xfrm>
                <a:off x="4051423" y="4113076"/>
                <a:ext cx="625103"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139" name="直线箭头连接符 43"/>
              <p:cNvCxnSpPr>
                <a:endCxn id="129" idx="2"/>
              </p:cNvCxnSpPr>
              <p:nvPr/>
            </p:nvCxnSpPr>
            <p:spPr bwMode="auto">
              <a:xfrm>
                <a:off x="6039072" y="4113076"/>
                <a:ext cx="666688"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140" name="直线箭头连接符 45"/>
              <p:cNvCxnSpPr>
                <a:stCxn id="131" idx="6"/>
                <a:endCxn id="132" idx="2"/>
              </p:cNvCxnSpPr>
              <p:nvPr/>
            </p:nvCxnSpPr>
            <p:spPr bwMode="auto">
              <a:xfrm>
                <a:off x="4042815" y="5055152"/>
                <a:ext cx="645109"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141" name="直线箭头连接符 49"/>
              <p:cNvCxnSpPr>
                <a:stCxn id="132" idx="6"/>
                <a:endCxn id="133" idx="2"/>
              </p:cNvCxnSpPr>
              <p:nvPr/>
            </p:nvCxnSpPr>
            <p:spPr bwMode="auto">
              <a:xfrm>
                <a:off x="5047964" y="5055152"/>
                <a:ext cx="631068"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142" name="直线箭头连接符 51"/>
              <p:cNvCxnSpPr>
                <a:stCxn id="133" idx="6"/>
                <a:endCxn id="130" idx="2"/>
              </p:cNvCxnSpPr>
              <p:nvPr/>
            </p:nvCxnSpPr>
            <p:spPr bwMode="auto">
              <a:xfrm>
                <a:off x="6039072" y="5055152"/>
                <a:ext cx="666688"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143" name="直线箭头连接符 54"/>
              <p:cNvCxnSpPr>
                <a:stCxn id="130" idx="6"/>
                <a:endCxn id="115" idx="2"/>
              </p:cNvCxnSpPr>
              <p:nvPr/>
            </p:nvCxnSpPr>
            <p:spPr bwMode="auto">
              <a:xfrm>
                <a:off x="7065800" y="5055152"/>
                <a:ext cx="663513"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144" name="直线箭头连接符 82"/>
              <p:cNvCxnSpPr>
                <a:stCxn id="129" idx="4"/>
                <a:endCxn id="131" idx="7"/>
              </p:cNvCxnSpPr>
              <p:nvPr/>
            </p:nvCxnSpPr>
            <p:spPr bwMode="auto">
              <a:xfrm flipH="1">
                <a:off x="3990088" y="4293096"/>
                <a:ext cx="2895692" cy="634763"/>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sp>
            <p:nvSpPr>
              <p:cNvPr id="145" name="椭圆 144"/>
              <p:cNvSpPr/>
              <p:nvPr/>
            </p:nvSpPr>
            <p:spPr bwMode="auto">
              <a:xfrm>
                <a:off x="7805513" y="4937523"/>
                <a:ext cx="207640" cy="20764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pic>
            <p:nvPicPr>
              <p:cNvPr id="146" name="图片 145"/>
              <p:cNvPicPr>
                <a:picLocks noChangeAspect="1"/>
              </p:cNvPicPr>
              <p:nvPr/>
            </p:nvPicPr>
            <p:blipFill>
              <a:blip r:embed="rId7"/>
              <a:stretch>
                <a:fillRect/>
              </a:stretch>
            </p:blipFill>
            <p:spPr>
              <a:xfrm>
                <a:off x="1451483" y="3687789"/>
                <a:ext cx="1727200" cy="279400"/>
              </a:xfrm>
              <a:prstGeom prst="rect">
                <a:avLst/>
              </a:prstGeom>
            </p:spPr>
          </p:pic>
          <p:pic>
            <p:nvPicPr>
              <p:cNvPr id="147" name="图片 146"/>
              <p:cNvPicPr>
                <a:picLocks noChangeAspect="1"/>
              </p:cNvPicPr>
              <p:nvPr/>
            </p:nvPicPr>
            <p:blipFill>
              <a:blip r:embed="rId7"/>
              <a:stretch>
                <a:fillRect/>
              </a:stretch>
            </p:blipFill>
            <p:spPr>
              <a:xfrm>
                <a:off x="2438241" y="3683019"/>
                <a:ext cx="1727200" cy="279400"/>
              </a:xfrm>
              <a:prstGeom prst="rect">
                <a:avLst/>
              </a:prstGeom>
            </p:spPr>
          </p:pic>
          <p:pic>
            <p:nvPicPr>
              <p:cNvPr id="148" name="图片 147"/>
              <p:cNvPicPr>
                <a:picLocks noChangeAspect="1"/>
              </p:cNvPicPr>
              <p:nvPr/>
            </p:nvPicPr>
            <p:blipFill>
              <a:blip r:embed="rId8"/>
              <a:stretch>
                <a:fillRect/>
              </a:stretch>
            </p:blipFill>
            <p:spPr>
              <a:xfrm>
                <a:off x="3626296" y="3683019"/>
                <a:ext cx="1397000" cy="228600"/>
              </a:xfrm>
              <a:prstGeom prst="rect">
                <a:avLst/>
              </a:prstGeom>
            </p:spPr>
          </p:pic>
          <p:pic>
            <p:nvPicPr>
              <p:cNvPr id="149" name="图片 148"/>
              <p:cNvPicPr>
                <a:picLocks noChangeAspect="1"/>
              </p:cNvPicPr>
              <p:nvPr/>
            </p:nvPicPr>
            <p:blipFill>
              <a:blip r:embed="rId6"/>
              <a:stretch>
                <a:fillRect/>
              </a:stretch>
            </p:blipFill>
            <p:spPr>
              <a:xfrm>
                <a:off x="4561363" y="3738469"/>
                <a:ext cx="1422400" cy="152400"/>
              </a:xfrm>
              <a:prstGeom prst="rect">
                <a:avLst/>
              </a:prstGeom>
            </p:spPr>
          </p:pic>
          <p:pic>
            <p:nvPicPr>
              <p:cNvPr id="150" name="图片 149"/>
              <p:cNvPicPr>
                <a:picLocks noChangeAspect="1"/>
              </p:cNvPicPr>
              <p:nvPr/>
            </p:nvPicPr>
            <p:blipFill>
              <a:blip r:embed="rId9"/>
              <a:stretch>
                <a:fillRect/>
              </a:stretch>
            </p:blipFill>
            <p:spPr>
              <a:xfrm>
                <a:off x="5668800" y="3753037"/>
                <a:ext cx="1397000" cy="152400"/>
              </a:xfrm>
              <a:prstGeom prst="rect">
                <a:avLst/>
              </a:prstGeom>
            </p:spPr>
          </p:pic>
          <p:sp>
            <p:nvSpPr>
              <p:cNvPr id="151" name="弧 91"/>
              <p:cNvSpPr/>
              <p:nvPr/>
            </p:nvSpPr>
            <p:spPr bwMode="auto">
              <a:xfrm rot="16787996">
                <a:off x="7101738" y="3903600"/>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pic>
            <p:nvPicPr>
              <p:cNvPr id="152" name="图片 151"/>
              <p:cNvPicPr>
                <a:picLocks noChangeAspect="1"/>
              </p:cNvPicPr>
              <p:nvPr/>
            </p:nvPicPr>
            <p:blipFill>
              <a:blip r:embed="rId10"/>
              <a:stretch>
                <a:fillRect/>
              </a:stretch>
            </p:blipFill>
            <p:spPr>
              <a:xfrm>
                <a:off x="6992713" y="3966850"/>
                <a:ext cx="1473200" cy="215900"/>
              </a:xfrm>
              <a:prstGeom prst="rect">
                <a:avLst/>
              </a:prstGeom>
            </p:spPr>
          </p:pic>
          <p:pic>
            <p:nvPicPr>
              <p:cNvPr id="153" name="图片 152"/>
              <p:cNvPicPr>
                <a:picLocks noChangeAspect="1"/>
              </p:cNvPicPr>
              <p:nvPr/>
            </p:nvPicPr>
            <p:blipFill>
              <a:blip r:embed="rId6"/>
              <a:stretch>
                <a:fillRect/>
              </a:stretch>
            </p:blipFill>
            <p:spPr>
              <a:xfrm>
                <a:off x="4726734" y="4390046"/>
                <a:ext cx="1422400" cy="152400"/>
              </a:xfrm>
              <a:prstGeom prst="rect">
                <a:avLst/>
              </a:prstGeom>
            </p:spPr>
          </p:pic>
          <p:pic>
            <p:nvPicPr>
              <p:cNvPr id="154" name="图片 153"/>
              <p:cNvPicPr>
                <a:picLocks noChangeAspect="1"/>
              </p:cNvPicPr>
              <p:nvPr/>
            </p:nvPicPr>
            <p:blipFill>
              <a:blip r:embed="rId9"/>
              <a:stretch>
                <a:fillRect/>
              </a:stretch>
            </p:blipFill>
            <p:spPr>
              <a:xfrm>
                <a:off x="3665474" y="5233384"/>
                <a:ext cx="1397000" cy="152400"/>
              </a:xfrm>
              <a:prstGeom prst="rect">
                <a:avLst/>
              </a:prstGeom>
            </p:spPr>
          </p:pic>
          <p:pic>
            <p:nvPicPr>
              <p:cNvPr id="155" name="图片 154"/>
              <p:cNvPicPr>
                <a:picLocks noChangeAspect="1"/>
              </p:cNvPicPr>
              <p:nvPr/>
            </p:nvPicPr>
            <p:blipFill>
              <a:blip r:embed="rId8"/>
              <a:stretch>
                <a:fillRect/>
              </a:stretch>
            </p:blipFill>
            <p:spPr>
              <a:xfrm>
                <a:off x="4586763" y="5164167"/>
                <a:ext cx="1397000" cy="228600"/>
              </a:xfrm>
              <a:prstGeom prst="rect">
                <a:avLst/>
              </a:prstGeom>
            </p:spPr>
          </p:pic>
          <p:pic>
            <p:nvPicPr>
              <p:cNvPr id="156" name="图片 155"/>
              <p:cNvPicPr>
                <a:picLocks noChangeAspect="1"/>
              </p:cNvPicPr>
              <p:nvPr/>
            </p:nvPicPr>
            <p:blipFill>
              <a:blip r:embed="rId7"/>
              <a:stretch>
                <a:fillRect/>
              </a:stretch>
            </p:blipFill>
            <p:spPr>
              <a:xfrm>
                <a:off x="5422514" y="5169636"/>
                <a:ext cx="1727200" cy="279400"/>
              </a:xfrm>
              <a:prstGeom prst="rect">
                <a:avLst/>
              </a:prstGeom>
            </p:spPr>
          </p:pic>
          <p:pic>
            <p:nvPicPr>
              <p:cNvPr id="157" name="图片 156"/>
              <p:cNvPicPr>
                <a:picLocks noChangeAspect="1"/>
              </p:cNvPicPr>
              <p:nvPr/>
            </p:nvPicPr>
            <p:blipFill>
              <a:blip r:embed="rId7"/>
              <a:stretch>
                <a:fillRect/>
              </a:stretch>
            </p:blipFill>
            <p:spPr>
              <a:xfrm>
                <a:off x="6434275" y="5169242"/>
                <a:ext cx="1727200" cy="279400"/>
              </a:xfrm>
              <a:prstGeom prst="rect">
                <a:avLst/>
              </a:prstGeom>
            </p:spPr>
          </p:pic>
        </p:grpSp>
      </p:grpSp>
      <p:grpSp>
        <p:nvGrpSpPr>
          <p:cNvPr id="158" name="组合 157"/>
          <p:cNvGrpSpPr/>
          <p:nvPr/>
        </p:nvGrpSpPr>
        <p:grpSpPr>
          <a:xfrm>
            <a:off x="1075470" y="4085735"/>
            <a:ext cx="7397019" cy="2243552"/>
            <a:chOff x="930783" y="4085736"/>
            <a:chExt cx="7397019" cy="2243552"/>
          </a:xfrm>
        </p:grpSpPr>
        <p:sp>
          <p:nvSpPr>
            <p:cNvPr id="178" name="椭圆 177"/>
            <p:cNvSpPr/>
            <p:nvPr/>
          </p:nvSpPr>
          <p:spPr bwMode="auto">
            <a:xfrm>
              <a:off x="5679032" y="5789799"/>
              <a:ext cx="360040" cy="36004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179" name="椭圆 178"/>
            <p:cNvSpPr/>
            <p:nvPr/>
          </p:nvSpPr>
          <p:spPr bwMode="auto">
            <a:xfrm>
              <a:off x="2685702" y="5789799"/>
              <a:ext cx="360040" cy="36004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180" name="椭圆 179"/>
            <p:cNvSpPr/>
            <p:nvPr/>
          </p:nvSpPr>
          <p:spPr bwMode="auto">
            <a:xfrm>
              <a:off x="3691383" y="5789799"/>
              <a:ext cx="360040" cy="36004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181" name="椭圆 180"/>
            <p:cNvSpPr/>
            <p:nvPr/>
          </p:nvSpPr>
          <p:spPr bwMode="auto">
            <a:xfrm>
              <a:off x="4687924" y="5789799"/>
              <a:ext cx="360040" cy="36004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182" name="椭圆 181"/>
            <p:cNvSpPr/>
            <p:nvPr/>
          </p:nvSpPr>
          <p:spPr bwMode="auto">
            <a:xfrm>
              <a:off x="1691419" y="5789799"/>
              <a:ext cx="360040" cy="36004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sp>
          <p:nvSpPr>
            <p:cNvPr id="183" name="椭圆 182"/>
            <p:cNvSpPr/>
            <p:nvPr/>
          </p:nvSpPr>
          <p:spPr bwMode="auto">
            <a:xfrm>
              <a:off x="6705760" y="5789799"/>
              <a:ext cx="360040" cy="360040"/>
            </a:xfrm>
            <a:prstGeom prst="ellipse">
              <a:avLst/>
            </a:prstGeom>
            <a:no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1" u="none" strike="noStrike" kern="1200" cap="none" spc="0" normalizeH="0" baseline="0" noProof="0">
                <a:ln>
                  <a:noFill/>
                </a:ln>
                <a:solidFill>
                  <a:srgbClr val="800080"/>
                </a:solidFill>
                <a:effectLst/>
                <a:uLnTx/>
                <a:uFillTx/>
                <a:latin typeface="Times New Roman" panose="02020603050405020304" pitchFamily="18" charset="0"/>
                <a:ea typeface="宋体" panose="02010600030101010101" pitchFamily="2" charset="-122"/>
                <a:cs typeface="+mn-cs"/>
              </a:endParaRPr>
            </a:p>
          </p:txBody>
        </p:sp>
        <p:cxnSp>
          <p:nvCxnSpPr>
            <p:cNvPr id="184" name="直线箭头连接符 57"/>
            <p:cNvCxnSpPr>
              <a:stCxn id="128" idx="4"/>
              <a:endCxn id="182" idx="0"/>
            </p:cNvCxnSpPr>
            <p:nvPr/>
          </p:nvCxnSpPr>
          <p:spPr bwMode="auto">
            <a:xfrm flipH="1">
              <a:off x="1871439" y="4085736"/>
              <a:ext cx="45234" cy="1704062"/>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185" name="直线箭头连接符 60"/>
            <p:cNvCxnSpPr>
              <a:stCxn id="182" idx="6"/>
              <a:endCxn id="179" idx="2"/>
            </p:cNvCxnSpPr>
            <p:nvPr/>
          </p:nvCxnSpPr>
          <p:spPr bwMode="auto">
            <a:xfrm>
              <a:off x="2051459" y="5969819"/>
              <a:ext cx="634243"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186" name="直线箭头连接符 63"/>
            <p:cNvCxnSpPr>
              <a:stCxn id="179" idx="6"/>
              <a:endCxn id="180" idx="2"/>
            </p:cNvCxnSpPr>
            <p:nvPr/>
          </p:nvCxnSpPr>
          <p:spPr bwMode="auto">
            <a:xfrm>
              <a:off x="3045742" y="5969819"/>
              <a:ext cx="645641"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187" name="直线箭头连接符 66"/>
            <p:cNvCxnSpPr>
              <a:stCxn id="180" idx="6"/>
              <a:endCxn id="181" idx="2"/>
            </p:cNvCxnSpPr>
            <p:nvPr/>
          </p:nvCxnSpPr>
          <p:spPr bwMode="auto">
            <a:xfrm>
              <a:off x="4051423" y="5969819"/>
              <a:ext cx="636501"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188" name="直线箭头连接符 70"/>
            <p:cNvCxnSpPr>
              <a:stCxn id="181" idx="6"/>
              <a:endCxn id="178" idx="2"/>
            </p:cNvCxnSpPr>
            <p:nvPr/>
          </p:nvCxnSpPr>
          <p:spPr bwMode="auto">
            <a:xfrm>
              <a:off x="5047964" y="5969819"/>
              <a:ext cx="631068"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189" name="直线箭头连接符 73"/>
            <p:cNvCxnSpPr>
              <a:stCxn id="178" idx="6"/>
              <a:endCxn id="183" idx="2"/>
            </p:cNvCxnSpPr>
            <p:nvPr/>
          </p:nvCxnSpPr>
          <p:spPr bwMode="auto">
            <a:xfrm>
              <a:off x="6039072" y="5969819"/>
              <a:ext cx="666688" cy="0"/>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cxnSp>
          <p:nvCxnSpPr>
            <p:cNvPr id="190" name="直线箭头连接符 76"/>
            <p:cNvCxnSpPr>
              <a:stCxn id="183" idx="6"/>
              <a:endCxn id="115" idx="4"/>
            </p:cNvCxnSpPr>
            <p:nvPr/>
          </p:nvCxnSpPr>
          <p:spPr bwMode="auto">
            <a:xfrm flipV="1">
              <a:off x="7065800" y="5027812"/>
              <a:ext cx="888767" cy="942006"/>
            </a:xfrm>
            <a:prstGeom prst="straightConnector1">
              <a:avLst/>
            </a:prstGeom>
            <a:solidFill>
              <a:schemeClr val="accent1"/>
            </a:solidFill>
            <a:ln w="9525" cap="flat" cmpd="sng" algn="ctr">
              <a:solidFill>
                <a:srgbClr val="000000"/>
              </a:solidFill>
              <a:prstDash val="solid"/>
              <a:round/>
              <a:headEnd type="none" w="med" len="med"/>
              <a:tailEnd type="triangle" w="lg" len="lg"/>
            </a:ln>
            <a:effectLst/>
          </p:spPr>
        </p:cxnSp>
        <p:pic>
          <p:nvPicPr>
            <p:cNvPr id="191" name="图片 190"/>
            <p:cNvPicPr>
              <a:picLocks noChangeAspect="1"/>
            </p:cNvPicPr>
            <p:nvPr/>
          </p:nvPicPr>
          <p:blipFill>
            <a:blip r:embed="rId11"/>
            <a:stretch>
              <a:fillRect/>
            </a:stretch>
          </p:blipFill>
          <p:spPr>
            <a:xfrm>
              <a:off x="930783" y="4950547"/>
              <a:ext cx="1384300" cy="152400"/>
            </a:xfrm>
            <a:prstGeom prst="rect">
              <a:avLst/>
            </a:prstGeom>
          </p:spPr>
        </p:pic>
        <p:pic>
          <p:nvPicPr>
            <p:cNvPr id="192" name="图片 191"/>
            <p:cNvPicPr>
              <a:picLocks noChangeAspect="1"/>
            </p:cNvPicPr>
            <p:nvPr/>
          </p:nvPicPr>
          <p:blipFill>
            <a:blip r:embed="rId6"/>
            <a:stretch>
              <a:fillRect/>
            </a:stretch>
          </p:blipFill>
          <p:spPr>
            <a:xfrm>
              <a:off x="1628552" y="6176888"/>
              <a:ext cx="1422400" cy="152400"/>
            </a:xfrm>
            <a:prstGeom prst="rect">
              <a:avLst/>
            </a:prstGeom>
          </p:spPr>
        </p:pic>
        <p:pic>
          <p:nvPicPr>
            <p:cNvPr id="193" name="图片 192"/>
            <p:cNvPicPr>
              <a:picLocks noChangeAspect="1"/>
            </p:cNvPicPr>
            <p:nvPr/>
          </p:nvPicPr>
          <p:blipFill>
            <a:blip r:embed="rId9"/>
            <a:stretch>
              <a:fillRect/>
            </a:stretch>
          </p:blipFill>
          <p:spPr>
            <a:xfrm>
              <a:off x="2588994" y="6176456"/>
              <a:ext cx="1397000" cy="152400"/>
            </a:xfrm>
            <a:prstGeom prst="rect">
              <a:avLst/>
            </a:prstGeom>
          </p:spPr>
        </p:pic>
        <p:pic>
          <p:nvPicPr>
            <p:cNvPr id="194" name="图片 193"/>
            <p:cNvPicPr>
              <a:picLocks noChangeAspect="1"/>
            </p:cNvPicPr>
            <p:nvPr/>
          </p:nvPicPr>
          <p:blipFill>
            <a:blip r:embed="rId8"/>
            <a:stretch>
              <a:fillRect/>
            </a:stretch>
          </p:blipFill>
          <p:spPr>
            <a:xfrm>
              <a:off x="3665474" y="6100256"/>
              <a:ext cx="1397000" cy="228600"/>
            </a:xfrm>
            <a:prstGeom prst="rect">
              <a:avLst/>
            </a:prstGeom>
          </p:spPr>
        </p:pic>
        <p:pic>
          <p:nvPicPr>
            <p:cNvPr id="195" name="图片 194"/>
            <p:cNvPicPr>
              <a:picLocks noChangeAspect="1"/>
            </p:cNvPicPr>
            <p:nvPr/>
          </p:nvPicPr>
          <p:blipFill>
            <a:blip r:embed="rId9"/>
            <a:stretch>
              <a:fillRect/>
            </a:stretch>
          </p:blipFill>
          <p:spPr>
            <a:xfrm>
              <a:off x="5658189" y="6163147"/>
              <a:ext cx="1397000" cy="152400"/>
            </a:xfrm>
            <a:prstGeom prst="rect">
              <a:avLst/>
            </a:prstGeom>
          </p:spPr>
        </p:pic>
        <p:pic>
          <p:nvPicPr>
            <p:cNvPr id="196" name="图片 195"/>
            <p:cNvPicPr>
              <a:picLocks noChangeAspect="1"/>
            </p:cNvPicPr>
            <p:nvPr/>
          </p:nvPicPr>
          <p:blipFill>
            <a:blip r:embed="rId6"/>
            <a:stretch>
              <a:fillRect/>
            </a:stretch>
          </p:blipFill>
          <p:spPr>
            <a:xfrm>
              <a:off x="4649315" y="6163147"/>
              <a:ext cx="1422400" cy="152400"/>
            </a:xfrm>
            <a:prstGeom prst="rect">
              <a:avLst/>
            </a:prstGeom>
          </p:spPr>
        </p:pic>
        <p:pic>
          <p:nvPicPr>
            <p:cNvPr id="197" name="图片 196"/>
            <p:cNvPicPr>
              <a:picLocks noChangeAspect="1"/>
            </p:cNvPicPr>
            <p:nvPr/>
          </p:nvPicPr>
          <p:blipFill>
            <a:blip r:embed="rId11"/>
            <a:stretch>
              <a:fillRect/>
            </a:stretch>
          </p:blipFill>
          <p:spPr>
            <a:xfrm>
              <a:off x="6943502" y="5639314"/>
              <a:ext cx="1384300" cy="1524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81</a:t>
            </a:fld>
            <a:endParaRPr lang="en-US" altLang="zh-CN"/>
          </a:p>
        </p:txBody>
      </p:sp>
      <p:sp>
        <p:nvSpPr>
          <p:cNvPr id="5"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习题练习</a:t>
            </a:r>
            <a:r>
              <a:rPr lang="en-US" altLang="zh-CN" sz="3600" dirty="0">
                <a:solidFill>
                  <a:schemeClr val="bg1"/>
                </a:solidFill>
              </a:rPr>
              <a:t>-</a:t>
            </a:r>
            <a:r>
              <a:rPr lang="zh-CN" altLang="en-US" sz="3600" dirty="0">
                <a:solidFill>
                  <a:schemeClr val="bg1"/>
                </a:solidFill>
              </a:rPr>
              <a:t>正则表达式的设计</a:t>
            </a:r>
            <a:endParaRPr lang="en-AU" sz="36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82</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pic>
        <p:nvPicPr>
          <p:cNvPr id="21" name="图片 20"/>
          <p:cNvPicPr>
            <a:picLocks noChangeAspect="1"/>
          </p:cNvPicPr>
          <p:nvPr/>
        </p:nvPicPr>
        <p:blipFill>
          <a:blip r:embed="rId11"/>
          <a:stretch>
            <a:fillRect/>
          </a:stretch>
        </p:blipFill>
        <p:spPr>
          <a:xfrm>
            <a:off x="2629409" y="1964960"/>
            <a:ext cx="5092654" cy="341627"/>
          </a:xfrm>
          <a:prstGeom prst="rect">
            <a:avLst/>
          </a:prstGeom>
        </p:spPr>
      </p:pic>
      <p:sp>
        <p:nvSpPr>
          <p:cNvPr id="25" name="Text Box 40"/>
          <p:cNvSpPr txBox="1">
            <a:spLocks noChangeArrowheads="1"/>
          </p:cNvSpPr>
          <p:nvPr/>
        </p:nvSpPr>
        <p:spPr bwMode="auto">
          <a:xfrm>
            <a:off x="2035076" y="2469113"/>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grpSp>
        <p:nvGrpSpPr>
          <p:cNvPr id="2" name="组合 1"/>
          <p:cNvGrpSpPr/>
          <p:nvPr/>
        </p:nvGrpSpPr>
        <p:grpSpPr>
          <a:xfrm>
            <a:off x="1295400" y="1340769"/>
            <a:ext cx="4209991"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1</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12"/>
            <a:stretch>
              <a:fillRect/>
            </a:stretch>
          </p:blipFill>
          <p:spPr>
            <a:xfrm>
              <a:off x="4392042" y="1453009"/>
              <a:ext cx="256158" cy="237183"/>
            </a:xfrm>
            <a:prstGeom prst="rect">
              <a:avLst/>
            </a:prstGeom>
          </p:spPr>
        </p:pic>
      </p:grpSp>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pic>
        <p:nvPicPr>
          <p:cNvPr id="101" name="图片 100"/>
          <p:cNvPicPr>
            <a:picLocks noChangeAspect="1"/>
          </p:cNvPicPr>
          <p:nvPr/>
        </p:nvPicPr>
        <p:blipFill>
          <a:blip r:embed="rId2"/>
          <a:stretch>
            <a:fillRect/>
          </a:stretch>
        </p:blipFill>
        <p:spPr>
          <a:xfrm>
            <a:off x="2629409" y="1964960"/>
            <a:ext cx="5092654" cy="341627"/>
          </a:xfrm>
          <a:prstGeom prst="rect">
            <a:avLst/>
          </a:prstGeom>
        </p:spPr>
      </p:pic>
      <p:sp>
        <p:nvSpPr>
          <p:cNvPr id="102" name="Text Box 40"/>
          <p:cNvSpPr txBox="1">
            <a:spLocks noChangeArrowheads="1"/>
          </p:cNvSpPr>
          <p:nvPr/>
        </p:nvSpPr>
        <p:spPr bwMode="auto">
          <a:xfrm>
            <a:off x="2035076" y="2469113"/>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grpSp>
        <p:nvGrpSpPr>
          <p:cNvPr id="103" name="组合 102"/>
          <p:cNvGrpSpPr/>
          <p:nvPr/>
        </p:nvGrpSpPr>
        <p:grpSpPr>
          <a:xfrm>
            <a:off x="1295400" y="1340769"/>
            <a:ext cx="4209991" cy="461665"/>
            <a:chOff x="1295400" y="1340769"/>
            <a:chExt cx="4209991" cy="461665"/>
          </a:xfrm>
        </p:grpSpPr>
        <p:sp>
          <p:nvSpPr>
            <p:cNvPr id="104"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1</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105"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106" name="图片 105"/>
            <p:cNvPicPr>
              <a:picLocks noChangeAspect="1"/>
            </p:cNvPicPr>
            <p:nvPr/>
          </p:nvPicPr>
          <p:blipFill>
            <a:blip r:embed="rId3"/>
            <a:stretch>
              <a:fillRect/>
            </a:stretch>
          </p:blipFill>
          <p:spPr>
            <a:xfrm>
              <a:off x="4392042" y="1453009"/>
              <a:ext cx="256158" cy="237183"/>
            </a:xfrm>
            <a:prstGeom prst="rect">
              <a:avLst/>
            </a:prstGeom>
          </p:spPr>
        </p:pic>
      </p:grpSp>
      <p:sp>
        <p:nvSpPr>
          <p:cNvPr id="107" name="Text Box 40"/>
          <p:cNvSpPr txBox="1">
            <a:spLocks noChangeArrowheads="1"/>
          </p:cNvSpPr>
          <p:nvPr/>
        </p:nvSpPr>
        <p:spPr bwMode="auto">
          <a:xfrm>
            <a:off x="1143000" y="3013530"/>
            <a:ext cx="691185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解：可以分成两种情况。第一种情况是首字符是</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108" name="图片 107"/>
          <p:cNvPicPr>
            <a:picLocks noChangeAspect="1"/>
          </p:cNvPicPr>
          <p:nvPr/>
        </p:nvPicPr>
        <p:blipFill>
          <a:blip r:embed="rId4"/>
          <a:stretch>
            <a:fillRect/>
          </a:stretch>
        </p:blipFill>
        <p:spPr>
          <a:xfrm>
            <a:off x="4571879" y="3625918"/>
            <a:ext cx="357397" cy="235130"/>
          </a:xfrm>
          <a:prstGeom prst="rect">
            <a:avLst/>
          </a:prstGeom>
        </p:spPr>
      </p:pic>
      <p:sp>
        <p:nvSpPr>
          <p:cNvPr id="109" name="Text Box 40"/>
          <p:cNvSpPr txBox="1">
            <a:spLocks noChangeArrowheads="1"/>
          </p:cNvSpPr>
          <p:nvPr/>
        </p:nvSpPr>
        <p:spPr bwMode="auto">
          <a:xfrm>
            <a:off x="1754493" y="3931027"/>
            <a:ext cx="691185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第二种情况是首字符是</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110" name="图片 109"/>
          <p:cNvPicPr>
            <a:picLocks noChangeAspect="1"/>
          </p:cNvPicPr>
          <p:nvPr/>
        </p:nvPicPr>
        <p:blipFill>
          <a:blip r:embed="rId5"/>
          <a:stretch>
            <a:fillRect/>
          </a:stretch>
        </p:blipFill>
        <p:spPr>
          <a:xfrm>
            <a:off x="4571879" y="4518100"/>
            <a:ext cx="357397" cy="231826"/>
          </a:xfrm>
          <a:prstGeom prst="rect">
            <a:avLst/>
          </a:prstGeom>
        </p:spPr>
      </p:pic>
      <p:sp>
        <p:nvSpPr>
          <p:cNvPr id="111" name="Text Box 40"/>
          <p:cNvSpPr txBox="1">
            <a:spLocks noChangeArrowheads="1"/>
          </p:cNvSpPr>
          <p:nvPr/>
        </p:nvSpPr>
        <p:spPr bwMode="auto">
          <a:xfrm>
            <a:off x="1761120" y="4875336"/>
            <a:ext cx="691185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合并两种情况可以得到：</a:t>
            </a:r>
          </a:p>
        </p:txBody>
      </p:sp>
      <p:pic>
        <p:nvPicPr>
          <p:cNvPr id="112" name="图片 111"/>
          <p:cNvPicPr>
            <a:picLocks noChangeAspect="1"/>
          </p:cNvPicPr>
          <p:nvPr/>
        </p:nvPicPr>
        <p:blipFill>
          <a:blip r:embed="rId6"/>
          <a:stretch>
            <a:fillRect/>
          </a:stretch>
        </p:blipFill>
        <p:spPr>
          <a:xfrm>
            <a:off x="4183717" y="5530770"/>
            <a:ext cx="1133719" cy="248865"/>
          </a:xfrm>
          <a:prstGeom prst="rect">
            <a:avLst/>
          </a:prstGeom>
        </p:spPr>
      </p:pic>
      <p:sp>
        <p:nvSpPr>
          <p:cNvPr id="113" name="Text Box 40"/>
          <p:cNvSpPr txBox="1">
            <a:spLocks noChangeArrowheads="1"/>
          </p:cNvSpPr>
          <p:nvPr/>
        </p:nvSpPr>
        <p:spPr bwMode="auto">
          <a:xfrm>
            <a:off x="1754493" y="5819645"/>
            <a:ext cx="691185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根据分配律：</a:t>
            </a:r>
          </a:p>
        </p:txBody>
      </p:sp>
      <p:pic>
        <p:nvPicPr>
          <p:cNvPr id="114" name="图片 113"/>
          <p:cNvPicPr>
            <a:picLocks noChangeAspect="1"/>
          </p:cNvPicPr>
          <p:nvPr/>
        </p:nvPicPr>
        <p:blipFill>
          <a:blip r:embed="rId7"/>
          <a:stretch>
            <a:fillRect/>
          </a:stretch>
        </p:blipFill>
        <p:spPr>
          <a:xfrm>
            <a:off x="4131836" y="6321320"/>
            <a:ext cx="1237478" cy="34804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P spid="109" grpId="0"/>
      <p:bldP spid="111" grpId="0"/>
      <p:bldP spid="11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84</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2" name="组合 1"/>
          <p:cNvGrpSpPr/>
          <p:nvPr/>
        </p:nvGrpSpPr>
        <p:grpSpPr>
          <a:xfrm>
            <a:off x="1295400" y="1340769"/>
            <a:ext cx="4209991"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2</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11"/>
            <a:stretch>
              <a:fillRect/>
            </a:stretch>
          </p:blipFill>
          <p:spPr>
            <a:xfrm>
              <a:off x="4392042" y="1453009"/>
              <a:ext cx="256158" cy="237183"/>
            </a:xfrm>
            <a:prstGeom prst="rect">
              <a:avLst/>
            </a:prstGeom>
          </p:spPr>
        </p:pic>
      </p:grpSp>
      <p:pic>
        <p:nvPicPr>
          <p:cNvPr id="17" name="图片 16"/>
          <p:cNvPicPr>
            <a:picLocks noChangeAspect="1"/>
          </p:cNvPicPr>
          <p:nvPr/>
        </p:nvPicPr>
        <p:blipFill>
          <a:blip r:embed="rId12"/>
          <a:stretch>
            <a:fillRect/>
          </a:stretch>
        </p:blipFill>
        <p:spPr>
          <a:xfrm>
            <a:off x="2687191" y="2054250"/>
            <a:ext cx="4689699" cy="342940"/>
          </a:xfrm>
          <a:prstGeom prst="rect">
            <a:avLst/>
          </a:prstGeom>
        </p:spPr>
      </p:pic>
      <p:sp>
        <p:nvSpPr>
          <p:cNvPr id="19" name="Text Box 40"/>
          <p:cNvSpPr txBox="1">
            <a:spLocks noChangeArrowheads="1"/>
          </p:cNvSpPr>
          <p:nvPr/>
        </p:nvSpPr>
        <p:spPr bwMode="auto">
          <a:xfrm>
            <a:off x="1905000" y="2604252"/>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18" name="组合 17"/>
          <p:cNvGrpSpPr/>
          <p:nvPr/>
        </p:nvGrpSpPr>
        <p:grpSpPr>
          <a:xfrm>
            <a:off x="1295400" y="1340769"/>
            <a:ext cx="4209991" cy="461665"/>
            <a:chOff x="1295400" y="1340769"/>
            <a:chExt cx="4209991" cy="461665"/>
          </a:xfrm>
        </p:grpSpPr>
        <p:sp>
          <p:nvSpPr>
            <p:cNvPr id="19"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2</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1" name="图片 20"/>
            <p:cNvPicPr>
              <a:picLocks noChangeAspect="1"/>
            </p:cNvPicPr>
            <p:nvPr/>
          </p:nvPicPr>
          <p:blipFill>
            <a:blip r:embed="rId2"/>
            <a:stretch>
              <a:fillRect/>
            </a:stretch>
          </p:blipFill>
          <p:spPr>
            <a:xfrm>
              <a:off x="4392042" y="1453009"/>
              <a:ext cx="256158" cy="237183"/>
            </a:xfrm>
            <a:prstGeom prst="rect">
              <a:avLst/>
            </a:prstGeom>
          </p:spPr>
        </p:pic>
      </p:grpSp>
      <p:pic>
        <p:nvPicPr>
          <p:cNvPr id="22" name="图片 21"/>
          <p:cNvPicPr>
            <a:picLocks noChangeAspect="1"/>
          </p:cNvPicPr>
          <p:nvPr/>
        </p:nvPicPr>
        <p:blipFill>
          <a:blip r:embed="rId3"/>
          <a:stretch>
            <a:fillRect/>
          </a:stretch>
        </p:blipFill>
        <p:spPr>
          <a:xfrm>
            <a:off x="2687191" y="2054250"/>
            <a:ext cx="4689699" cy="342940"/>
          </a:xfrm>
          <a:prstGeom prst="rect">
            <a:avLst/>
          </a:prstGeom>
        </p:spPr>
      </p:pic>
      <p:sp>
        <p:nvSpPr>
          <p:cNvPr id="23" name="Text Box 40"/>
          <p:cNvSpPr txBox="1">
            <a:spLocks noChangeArrowheads="1"/>
          </p:cNvSpPr>
          <p:nvPr/>
        </p:nvSpPr>
        <p:spPr bwMode="auto">
          <a:xfrm>
            <a:off x="1905000" y="2604252"/>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sp>
        <p:nvSpPr>
          <p:cNvPr id="24" name="Text Box 40"/>
          <p:cNvSpPr txBox="1">
            <a:spLocks noChangeArrowheads="1"/>
          </p:cNvSpPr>
          <p:nvPr/>
        </p:nvSpPr>
        <p:spPr bwMode="auto">
          <a:xfrm>
            <a:off x="609600" y="3212977"/>
            <a:ext cx="739675"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解：</a:t>
            </a:r>
          </a:p>
        </p:txBody>
      </p:sp>
      <p:sp>
        <p:nvSpPr>
          <p:cNvPr id="25" name="Text Box 40"/>
          <p:cNvSpPr txBox="1">
            <a:spLocks noChangeArrowheads="1"/>
          </p:cNvSpPr>
          <p:nvPr/>
        </p:nvSpPr>
        <p:spPr bwMode="auto">
          <a:xfrm>
            <a:off x="1276547" y="3212976"/>
            <a:ext cx="7200800"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这道题要求至少包含</a:t>
            </a:r>
            <a:r>
              <a:rPr lang="en-US" altLang="zh-CN" sz="2400" b="0" i="0" dirty="0">
                <a:solidFill>
                  <a:srgbClr val="000000"/>
                </a:solidFill>
                <a:latin typeface="宋体" panose="02010600030101010101" pitchFamily="2" charset="-122"/>
                <a:ea typeface="宋体" panose="02010600030101010101" pitchFamily="2" charset="-122"/>
              </a:rPr>
              <a:t>3</a:t>
            </a:r>
            <a:r>
              <a:rPr lang="zh-CN" altLang="en-US" sz="2400" b="0" i="0" dirty="0">
                <a:solidFill>
                  <a:srgbClr val="000000"/>
                </a:solidFill>
                <a:latin typeface="宋体" panose="02010600030101010101" pitchFamily="2" charset="-122"/>
                <a:ea typeface="宋体" panose="02010600030101010101" pitchFamily="2" charset="-122"/>
              </a:rPr>
              <a:t>个连续的</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，所以可以先写出来</a:t>
            </a:r>
          </a:p>
        </p:txBody>
      </p:sp>
      <p:pic>
        <p:nvPicPr>
          <p:cNvPr id="26" name="图片 25"/>
          <p:cNvPicPr>
            <a:picLocks noChangeAspect="1"/>
          </p:cNvPicPr>
          <p:nvPr/>
        </p:nvPicPr>
        <p:blipFill>
          <a:blip r:embed="rId4"/>
          <a:stretch>
            <a:fillRect/>
          </a:stretch>
        </p:blipFill>
        <p:spPr>
          <a:xfrm>
            <a:off x="4040599" y="3988311"/>
            <a:ext cx="476308" cy="198462"/>
          </a:xfrm>
          <a:prstGeom prst="rect">
            <a:avLst/>
          </a:prstGeom>
        </p:spPr>
      </p:pic>
      <p:grpSp>
        <p:nvGrpSpPr>
          <p:cNvPr id="27" name="组合 26"/>
          <p:cNvGrpSpPr/>
          <p:nvPr/>
        </p:nvGrpSpPr>
        <p:grpSpPr>
          <a:xfrm>
            <a:off x="1258737" y="4399853"/>
            <a:ext cx="7200800" cy="993212"/>
            <a:chOff x="1385838" y="4399853"/>
            <a:chExt cx="7200800" cy="993212"/>
          </a:xfrm>
        </p:grpSpPr>
        <p:sp>
          <p:nvSpPr>
            <p:cNvPr id="28" name="Text Box 40"/>
            <p:cNvSpPr txBox="1">
              <a:spLocks noChangeArrowheads="1"/>
            </p:cNvSpPr>
            <p:nvPr/>
          </p:nvSpPr>
          <p:spPr bwMode="auto">
            <a:xfrm>
              <a:off x="1385838" y="4399853"/>
              <a:ext cx="7200800"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由于左右可以是任意字符串，即任意长度、任意字符，</a:t>
              </a:r>
            </a:p>
          </p:txBody>
        </p:sp>
        <p:sp>
          <p:nvSpPr>
            <p:cNvPr id="29" name="Text Box 40"/>
            <p:cNvSpPr txBox="1">
              <a:spLocks noChangeArrowheads="1"/>
            </p:cNvSpPr>
            <p:nvPr/>
          </p:nvSpPr>
          <p:spPr bwMode="auto">
            <a:xfrm>
              <a:off x="1385838" y="4931400"/>
              <a:ext cx="7200800"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因此可以利用星闭包来表示左右两侧。最终结果是：</a:t>
              </a:r>
            </a:p>
          </p:txBody>
        </p:sp>
      </p:grpSp>
      <p:pic>
        <p:nvPicPr>
          <p:cNvPr id="30" name="图片 29"/>
          <p:cNvPicPr>
            <a:picLocks noChangeAspect="1"/>
          </p:cNvPicPr>
          <p:nvPr/>
        </p:nvPicPr>
        <p:blipFill>
          <a:blip r:embed="rId5"/>
          <a:stretch>
            <a:fillRect/>
          </a:stretch>
        </p:blipFill>
        <p:spPr>
          <a:xfrm>
            <a:off x="3004739" y="5805265"/>
            <a:ext cx="2592288" cy="2972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86</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2" name="组合 1"/>
          <p:cNvGrpSpPr/>
          <p:nvPr/>
        </p:nvGrpSpPr>
        <p:grpSpPr>
          <a:xfrm>
            <a:off x="1295400" y="1340769"/>
            <a:ext cx="4209991"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3</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11"/>
            <a:stretch>
              <a:fillRect/>
            </a:stretch>
          </p:blipFill>
          <p:spPr>
            <a:xfrm>
              <a:off x="4392042" y="1453009"/>
              <a:ext cx="256158" cy="237183"/>
            </a:xfrm>
            <a:prstGeom prst="rect">
              <a:avLst/>
            </a:prstGeom>
          </p:spPr>
        </p:pic>
      </p:grpSp>
      <p:sp>
        <p:nvSpPr>
          <p:cNvPr id="21" name="Text Box 40"/>
          <p:cNvSpPr txBox="1">
            <a:spLocks noChangeArrowheads="1"/>
          </p:cNvSpPr>
          <p:nvPr/>
        </p:nvSpPr>
        <p:spPr bwMode="auto">
          <a:xfrm>
            <a:off x="1752600" y="2604252"/>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2" name="图片 21"/>
          <p:cNvPicPr>
            <a:picLocks noChangeAspect="1"/>
          </p:cNvPicPr>
          <p:nvPr/>
        </p:nvPicPr>
        <p:blipFill>
          <a:blip r:embed="rId12"/>
          <a:stretch>
            <a:fillRect/>
          </a:stretch>
        </p:blipFill>
        <p:spPr>
          <a:xfrm>
            <a:off x="3571813" y="2065138"/>
            <a:ext cx="3272904" cy="355750"/>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17" name="组合 16"/>
          <p:cNvGrpSpPr/>
          <p:nvPr/>
        </p:nvGrpSpPr>
        <p:grpSpPr>
          <a:xfrm>
            <a:off x="1295400" y="1340769"/>
            <a:ext cx="4209991" cy="461665"/>
            <a:chOff x="1295400" y="1340769"/>
            <a:chExt cx="4209991" cy="461665"/>
          </a:xfrm>
        </p:grpSpPr>
        <p:sp>
          <p:nvSpPr>
            <p:cNvPr id="31"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3</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32"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33" name="图片 32"/>
            <p:cNvPicPr>
              <a:picLocks noChangeAspect="1"/>
            </p:cNvPicPr>
            <p:nvPr/>
          </p:nvPicPr>
          <p:blipFill>
            <a:blip r:embed="rId2"/>
            <a:stretch>
              <a:fillRect/>
            </a:stretch>
          </p:blipFill>
          <p:spPr>
            <a:xfrm>
              <a:off x="4392042" y="1453009"/>
              <a:ext cx="256158" cy="237183"/>
            </a:xfrm>
            <a:prstGeom prst="rect">
              <a:avLst/>
            </a:prstGeom>
          </p:spPr>
        </p:pic>
      </p:grpSp>
      <p:sp>
        <p:nvSpPr>
          <p:cNvPr id="34" name="Text Box 40"/>
          <p:cNvSpPr txBox="1">
            <a:spLocks noChangeArrowheads="1"/>
          </p:cNvSpPr>
          <p:nvPr/>
        </p:nvSpPr>
        <p:spPr bwMode="auto">
          <a:xfrm>
            <a:off x="1752600" y="2604252"/>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35" name="图片 34"/>
          <p:cNvPicPr>
            <a:picLocks noChangeAspect="1"/>
          </p:cNvPicPr>
          <p:nvPr/>
        </p:nvPicPr>
        <p:blipFill>
          <a:blip r:embed="rId3"/>
          <a:stretch>
            <a:fillRect/>
          </a:stretch>
        </p:blipFill>
        <p:spPr>
          <a:xfrm>
            <a:off x="3571813" y="2065138"/>
            <a:ext cx="3272904" cy="355750"/>
          </a:xfrm>
          <a:prstGeom prst="rect">
            <a:avLst/>
          </a:prstGeom>
        </p:spPr>
      </p:pic>
      <p:sp>
        <p:nvSpPr>
          <p:cNvPr id="36" name="Text Box 40"/>
          <p:cNvSpPr txBox="1">
            <a:spLocks noChangeArrowheads="1"/>
          </p:cNvSpPr>
          <p:nvPr/>
        </p:nvSpPr>
        <p:spPr bwMode="auto">
          <a:xfrm>
            <a:off x="533400" y="3447016"/>
            <a:ext cx="739675"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解：</a:t>
            </a:r>
          </a:p>
        </p:txBody>
      </p:sp>
      <p:grpSp>
        <p:nvGrpSpPr>
          <p:cNvPr id="37" name="组合 36"/>
          <p:cNvGrpSpPr/>
          <p:nvPr/>
        </p:nvGrpSpPr>
        <p:grpSpPr>
          <a:xfrm>
            <a:off x="1273073" y="3452767"/>
            <a:ext cx="7416106" cy="1012124"/>
            <a:chOff x="1476374" y="3218728"/>
            <a:chExt cx="7416106" cy="1012124"/>
          </a:xfrm>
        </p:grpSpPr>
        <p:sp>
          <p:nvSpPr>
            <p:cNvPr id="38" name="Text Box 40"/>
            <p:cNvSpPr txBox="1">
              <a:spLocks noChangeArrowheads="1"/>
            </p:cNvSpPr>
            <p:nvPr/>
          </p:nvSpPr>
          <p:spPr bwMode="auto">
            <a:xfrm>
              <a:off x="1476374" y="3218728"/>
              <a:ext cx="741610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先给出结尾的</a:t>
              </a:r>
              <a:r>
                <a:rPr lang="en-US" altLang="zh-CN" sz="2400" b="0" i="0" dirty="0">
                  <a:solidFill>
                    <a:srgbClr val="000000"/>
                  </a:solidFill>
                  <a:latin typeface="宋体" panose="02010600030101010101" pitchFamily="2" charset="-122"/>
                  <a:ea typeface="宋体" panose="02010600030101010101" pitchFamily="2" charset="-122"/>
                </a:rPr>
                <a:t>01</a:t>
              </a:r>
              <a:r>
                <a:rPr lang="zh-CN" altLang="en-US" sz="2400" b="0" i="0" dirty="0">
                  <a:solidFill>
                    <a:srgbClr val="000000"/>
                  </a:solidFill>
                  <a:latin typeface="宋体" panose="02010600030101010101" pitchFamily="2" charset="-122"/>
                  <a:ea typeface="宋体" panose="02010600030101010101" pitchFamily="2" charset="-122"/>
                </a:rPr>
                <a:t>，再补上左侧的</a:t>
              </a:r>
            </a:p>
          </p:txBody>
        </p:sp>
        <p:sp>
          <p:nvSpPr>
            <p:cNvPr id="39" name="Text Box 40"/>
            <p:cNvSpPr txBox="1">
              <a:spLocks noChangeArrowheads="1"/>
            </p:cNvSpPr>
            <p:nvPr/>
          </p:nvSpPr>
          <p:spPr bwMode="auto">
            <a:xfrm>
              <a:off x="1476374" y="3769187"/>
              <a:ext cx="741610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任意字符串，因此结果为：</a:t>
              </a:r>
            </a:p>
          </p:txBody>
        </p:sp>
      </p:grpSp>
      <p:pic>
        <p:nvPicPr>
          <p:cNvPr id="40" name="图片 39"/>
          <p:cNvPicPr>
            <a:picLocks noChangeAspect="1"/>
          </p:cNvPicPr>
          <p:nvPr/>
        </p:nvPicPr>
        <p:blipFill>
          <a:blip r:embed="rId4"/>
          <a:stretch>
            <a:fillRect/>
          </a:stretch>
        </p:blipFill>
        <p:spPr>
          <a:xfrm>
            <a:off x="2826480" y="4912334"/>
            <a:ext cx="2341488" cy="34546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88</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2" name="组合 1"/>
          <p:cNvGrpSpPr/>
          <p:nvPr/>
        </p:nvGrpSpPr>
        <p:grpSpPr>
          <a:xfrm>
            <a:off x="1295400" y="1340769"/>
            <a:ext cx="4209991"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4</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11"/>
            <a:stretch>
              <a:fillRect/>
            </a:stretch>
          </p:blipFill>
          <p:spPr>
            <a:xfrm>
              <a:off x="4392042" y="1453009"/>
              <a:ext cx="256158" cy="237183"/>
            </a:xfrm>
            <a:prstGeom prst="rect">
              <a:avLst/>
            </a:prstGeom>
          </p:spPr>
        </p:pic>
      </p:grpSp>
      <p:sp>
        <p:nvSpPr>
          <p:cNvPr id="17" name="Text Box 40"/>
          <p:cNvSpPr txBox="1">
            <a:spLocks noChangeArrowheads="1"/>
          </p:cNvSpPr>
          <p:nvPr/>
        </p:nvSpPr>
        <p:spPr bwMode="auto">
          <a:xfrm>
            <a:off x="1905000" y="2604252"/>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19" name="图片 18"/>
          <p:cNvPicPr>
            <a:picLocks noChangeAspect="1"/>
          </p:cNvPicPr>
          <p:nvPr/>
        </p:nvPicPr>
        <p:blipFill>
          <a:blip r:embed="rId12"/>
          <a:stretch>
            <a:fillRect/>
          </a:stretch>
        </p:blipFill>
        <p:spPr>
          <a:xfrm>
            <a:off x="3001281" y="2061198"/>
            <a:ext cx="4718769" cy="369375"/>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15" name="组合 14"/>
          <p:cNvGrpSpPr/>
          <p:nvPr/>
        </p:nvGrpSpPr>
        <p:grpSpPr>
          <a:xfrm>
            <a:off x="1295400" y="1340769"/>
            <a:ext cx="4209991" cy="461665"/>
            <a:chOff x="1295400" y="1340769"/>
            <a:chExt cx="4209991" cy="461665"/>
          </a:xfrm>
        </p:grpSpPr>
        <p:sp>
          <p:nvSpPr>
            <p:cNvPr id="16"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4</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18"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19" name="图片 18"/>
            <p:cNvPicPr>
              <a:picLocks noChangeAspect="1"/>
            </p:cNvPicPr>
            <p:nvPr/>
          </p:nvPicPr>
          <p:blipFill>
            <a:blip r:embed="rId2"/>
            <a:stretch>
              <a:fillRect/>
            </a:stretch>
          </p:blipFill>
          <p:spPr>
            <a:xfrm>
              <a:off x="4392042" y="1453009"/>
              <a:ext cx="256158" cy="237183"/>
            </a:xfrm>
            <a:prstGeom prst="rect">
              <a:avLst/>
            </a:prstGeom>
          </p:spPr>
        </p:pic>
      </p:grpSp>
      <p:sp>
        <p:nvSpPr>
          <p:cNvPr id="20" name="Text Box 40"/>
          <p:cNvSpPr txBox="1">
            <a:spLocks noChangeArrowheads="1"/>
          </p:cNvSpPr>
          <p:nvPr/>
        </p:nvSpPr>
        <p:spPr bwMode="auto">
          <a:xfrm>
            <a:off x="1905000" y="2604252"/>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1" name="图片 20"/>
          <p:cNvPicPr>
            <a:picLocks noChangeAspect="1"/>
          </p:cNvPicPr>
          <p:nvPr/>
        </p:nvPicPr>
        <p:blipFill>
          <a:blip r:embed="rId3"/>
          <a:stretch>
            <a:fillRect/>
          </a:stretch>
        </p:blipFill>
        <p:spPr>
          <a:xfrm>
            <a:off x="3001281" y="2061198"/>
            <a:ext cx="4718769" cy="369375"/>
          </a:xfrm>
          <a:prstGeom prst="rect">
            <a:avLst/>
          </a:prstGeom>
        </p:spPr>
      </p:pic>
      <p:sp>
        <p:nvSpPr>
          <p:cNvPr id="22" name="Text Box 40"/>
          <p:cNvSpPr txBox="1">
            <a:spLocks noChangeArrowheads="1"/>
          </p:cNvSpPr>
          <p:nvPr/>
        </p:nvSpPr>
        <p:spPr bwMode="auto">
          <a:xfrm>
            <a:off x="914400" y="3451003"/>
            <a:ext cx="739675"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解：</a:t>
            </a:r>
          </a:p>
        </p:txBody>
      </p:sp>
      <p:sp>
        <p:nvSpPr>
          <p:cNvPr id="24" name="Text Box 40"/>
          <p:cNvSpPr txBox="1">
            <a:spLocks noChangeArrowheads="1"/>
          </p:cNvSpPr>
          <p:nvPr/>
        </p:nvSpPr>
        <p:spPr bwMode="auto">
          <a:xfrm>
            <a:off x="1654074" y="3451001"/>
            <a:ext cx="693092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除了</a:t>
            </a:r>
            <a:r>
              <a:rPr lang="zh-CN" altLang="en-US" sz="2400" b="0" i="0" dirty="0">
                <a:solidFill>
                  <a:srgbClr val="000000"/>
                </a:solidFill>
                <a:latin typeface="宋体" panose="02010600030101010101" pitchFamily="2" charset="-122"/>
                <a:ea typeface="宋体" panose="02010600030101010101" pitchFamily="2" charset="-122"/>
              </a:rPr>
              <a:t>开头和结尾以外的内部为任意字符串。</a:t>
            </a:r>
          </a:p>
        </p:txBody>
      </p:sp>
      <p:pic>
        <p:nvPicPr>
          <p:cNvPr id="26" name="图片 25"/>
          <p:cNvPicPr>
            <a:picLocks noChangeAspect="1"/>
          </p:cNvPicPr>
          <p:nvPr/>
        </p:nvPicPr>
        <p:blipFill>
          <a:blip r:embed="rId4"/>
          <a:stretch>
            <a:fillRect/>
          </a:stretch>
        </p:blipFill>
        <p:spPr>
          <a:xfrm>
            <a:off x="3430105" y="4357762"/>
            <a:ext cx="2495172" cy="3666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90</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2" name="组合 1"/>
          <p:cNvGrpSpPr/>
          <p:nvPr/>
        </p:nvGrpSpPr>
        <p:grpSpPr>
          <a:xfrm>
            <a:off x="1295400" y="1340769"/>
            <a:ext cx="4209991"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5</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11"/>
            <a:stretch>
              <a:fillRect/>
            </a:stretch>
          </p:blipFill>
          <p:spPr>
            <a:xfrm>
              <a:off x="4392042" y="1453009"/>
              <a:ext cx="256158" cy="237183"/>
            </a:xfrm>
            <a:prstGeom prst="rect">
              <a:avLst/>
            </a:prstGeom>
          </p:spPr>
        </p:pic>
      </p:grpSp>
      <p:sp>
        <p:nvSpPr>
          <p:cNvPr id="21" name="Text Box 40"/>
          <p:cNvSpPr txBox="1">
            <a:spLocks noChangeArrowheads="1"/>
          </p:cNvSpPr>
          <p:nvPr/>
        </p:nvSpPr>
        <p:spPr bwMode="auto">
          <a:xfrm>
            <a:off x="1981200" y="260729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2" name="图片 21"/>
          <p:cNvPicPr>
            <a:picLocks noChangeAspect="1"/>
          </p:cNvPicPr>
          <p:nvPr/>
        </p:nvPicPr>
        <p:blipFill>
          <a:blip r:embed="rId12"/>
          <a:stretch>
            <a:fillRect/>
          </a:stretch>
        </p:blipFill>
        <p:spPr>
          <a:xfrm>
            <a:off x="2482121" y="2050981"/>
            <a:ext cx="5691049" cy="356234"/>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13" name="组合 12"/>
          <p:cNvGrpSpPr/>
          <p:nvPr/>
        </p:nvGrpSpPr>
        <p:grpSpPr>
          <a:xfrm>
            <a:off x="1295400" y="1340769"/>
            <a:ext cx="4209991" cy="461665"/>
            <a:chOff x="1295400" y="1340769"/>
            <a:chExt cx="4209991" cy="461665"/>
          </a:xfrm>
        </p:grpSpPr>
        <p:sp>
          <p:nvSpPr>
            <p:cNvPr id="17"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5</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3"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5" name="图片 24"/>
            <p:cNvPicPr>
              <a:picLocks noChangeAspect="1"/>
            </p:cNvPicPr>
            <p:nvPr/>
          </p:nvPicPr>
          <p:blipFill>
            <a:blip r:embed="rId2"/>
            <a:stretch>
              <a:fillRect/>
            </a:stretch>
          </p:blipFill>
          <p:spPr>
            <a:xfrm>
              <a:off x="4392042" y="1453009"/>
              <a:ext cx="256158" cy="237183"/>
            </a:xfrm>
            <a:prstGeom prst="rect">
              <a:avLst/>
            </a:prstGeom>
          </p:spPr>
        </p:pic>
      </p:grpSp>
      <p:sp>
        <p:nvSpPr>
          <p:cNvPr id="27" name="Text Box 40"/>
          <p:cNvSpPr txBox="1">
            <a:spLocks noChangeArrowheads="1"/>
          </p:cNvSpPr>
          <p:nvPr/>
        </p:nvSpPr>
        <p:spPr bwMode="auto">
          <a:xfrm>
            <a:off x="1981200" y="260729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8" name="图片 27"/>
          <p:cNvPicPr>
            <a:picLocks noChangeAspect="1"/>
          </p:cNvPicPr>
          <p:nvPr/>
        </p:nvPicPr>
        <p:blipFill>
          <a:blip r:embed="rId3"/>
          <a:stretch>
            <a:fillRect/>
          </a:stretch>
        </p:blipFill>
        <p:spPr>
          <a:xfrm>
            <a:off x="2482121" y="2050981"/>
            <a:ext cx="5691049" cy="356234"/>
          </a:xfrm>
          <a:prstGeom prst="rect">
            <a:avLst/>
          </a:prstGeom>
        </p:spPr>
      </p:pic>
      <p:sp>
        <p:nvSpPr>
          <p:cNvPr id="29" name="Text Box 40"/>
          <p:cNvSpPr txBox="1">
            <a:spLocks noChangeArrowheads="1"/>
          </p:cNvSpPr>
          <p:nvPr/>
        </p:nvSpPr>
        <p:spPr bwMode="auto">
          <a:xfrm>
            <a:off x="685800" y="3212977"/>
            <a:ext cx="739675"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解：</a:t>
            </a:r>
          </a:p>
        </p:txBody>
      </p:sp>
      <p:grpSp>
        <p:nvGrpSpPr>
          <p:cNvPr id="30" name="组合 29"/>
          <p:cNvGrpSpPr/>
          <p:nvPr/>
        </p:nvGrpSpPr>
        <p:grpSpPr>
          <a:xfrm>
            <a:off x="1281648" y="3212976"/>
            <a:ext cx="7415914" cy="923330"/>
            <a:chOff x="1332549" y="3212976"/>
            <a:chExt cx="7415914" cy="923330"/>
          </a:xfrm>
        </p:grpSpPr>
        <p:sp>
          <p:nvSpPr>
            <p:cNvPr id="31" name="Text Box 40"/>
            <p:cNvSpPr txBox="1">
              <a:spLocks noChangeArrowheads="1"/>
            </p:cNvSpPr>
            <p:nvPr/>
          </p:nvSpPr>
          <p:spPr bwMode="auto">
            <a:xfrm>
              <a:off x="1332550" y="3212976"/>
              <a:ext cx="7415913"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区分三种情况，</a:t>
              </a:r>
            </a:p>
          </p:txBody>
        </p:sp>
        <p:sp>
          <p:nvSpPr>
            <p:cNvPr id="32" name="Text Box 40"/>
            <p:cNvSpPr txBox="1">
              <a:spLocks noChangeArrowheads="1"/>
            </p:cNvSpPr>
            <p:nvPr/>
          </p:nvSpPr>
          <p:spPr bwMode="auto">
            <a:xfrm>
              <a:off x="1332549" y="3674641"/>
              <a:ext cx="7415913"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第一种情况是</a:t>
              </a:r>
              <a:r>
                <a:rPr lang="zh-CN" altLang="en-US" sz="2400" b="0" i="0" dirty="0">
                  <a:solidFill>
                    <a:srgbClr val="000000"/>
                  </a:solidFill>
                  <a:latin typeface="宋体" panose="02010600030101010101" pitchFamily="2" charset="-122"/>
                  <a:ea typeface="宋体" panose="02010600030101010101" pitchFamily="2" charset="-122"/>
                </a:rPr>
                <a:t>开头字符和结尾字符都是</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a:t>
              </a:r>
            </a:p>
          </p:txBody>
        </p:sp>
      </p:grpSp>
      <p:pic>
        <p:nvPicPr>
          <p:cNvPr id="33" name="图片 32"/>
          <p:cNvPicPr>
            <a:picLocks noChangeAspect="1"/>
          </p:cNvPicPr>
          <p:nvPr/>
        </p:nvPicPr>
        <p:blipFill>
          <a:blip r:embed="rId4"/>
          <a:stretch>
            <a:fillRect/>
          </a:stretch>
        </p:blipFill>
        <p:spPr>
          <a:xfrm>
            <a:off x="3584995" y="4318912"/>
            <a:ext cx="1498848" cy="321182"/>
          </a:xfrm>
          <a:prstGeom prst="rect">
            <a:avLst/>
          </a:prstGeom>
        </p:spPr>
      </p:pic>
      <p:sp>
        <p:nvSpPr>
          <p:cNvPr id="34" name="Text Box 40"/>
          <p:cNvSpPr txBox="1">
            <a:spLocks noChangeArrowheads="1"/>
          </p:cNvSpPr>
          <p:nvPr/>
        </p:nvSpPr>
        <p:spPr bwMode="auto">
          <a:xfrm>
            <a:off x="1281648" y="4742841"/>
            <a:ext cx="7415913"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第二种情况是开头字符和结尾字符都是</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35" name="图片 34"/>
          <p:cNvPicPr>
            <a:picLocks noChangeAspect="1"/>
          </p:cNvPicPr>
          <p:nvPr/>
        </p:nvPicPr>
        <p:blipFill>
          <a:blip r:embed="rId5"/>
          <a:stretch>
            <a:fillRect/>
          </a:stretch>
        </p:blipFill>
        <p:spPr>
          <a:xfrm>
            <a:off x="3564910" y="5310787"/>
            <a:ext cx="1600820" cy="347166"/>
          </a:xfrm>
          <a:prstGeom prst="rect">
            <a:avLst/>
          </a:prstGeom>
        </p:spPr>
      </p:pic>
      <p:sp>
        <p:nvSpPr>
          <p:cNvPr id="36" name="Text Box 40"/>
          <p:cNvSpPr txBox="1">
            <a:spLocks noChangeArrowheads="1"/>
          </p:cNvSpPr>
          <p:nvPr/>
        </p:nvSpPr>
        <p:spPr bwMode="auto">
          <a:xfrm>
            <a:off x="1290740" y="5766435"/>
            <a:ext cx="7415913"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第三种情况是字符串的长度为</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。因此结果为：</a:t>
            </a:r>
          </a:p>
        </p:txBody>
      </p:sp>
      <p:pic>
        <p:nvPicPr>
          <p:cNvPr id="37" name="图片 36"/>
          <p:cNvPicPr>
            <a:picLocks noChangeAspect="1"/>
          </p:cNvPicPr>
          <p:nvPr/>
        </p:nvPicPr>
        <p:blipFill>
          <a:blip r:embed="rId6"/>
          <a:stretch>
            <a:fillRect/>
          </a:stretch>
        </p:blipFill>
        <p:spPr>
          <a:xfrm>
            <a:off x="2061994" y="6341797"/>
            <a:ext cx="4606652" cy="33420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6"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92</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2" name="组合 1"/>
          <p:cNvGrpSpPr/>
          <p:nvPr/>
        </p:nvGrpSpPr>
        <p:grpSpPr>
          <a:xfrm>
            <a:off x="1295400" y="1340769"/>
            <a:ext cx="4209991"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6</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11"/>
            <a:stretch>
              <a:fillRect/>
            </a:stretch>
          </p:blipFill>
          <p:spPr>
            <a:xfrm>
              <a:off x="4392042" y="1453009"/>
              <a:ext cx="256158" cy="237183"/>
            </a:xfrm>
            <a:prstGeom prst="rect">
              <a:avLst/>
            </a:prstGeom>
          </p:spPr>
        </p:pic>
      </p:grpSp>
      <p:sp>
        <p:nvSpPr>
          <p:cNvPr id="17" name="Text Box 40"/>
          <p:cNvSpPr txBox="1">
            <a:spLocks noChangeArrowheads="1"/>
          </p:cNvSpPr>
          <p:nvPr/>
        </p:nvSpPr>
        <p:spPr bwMode="auto">
          <a:xfrm>
            <a:off x="2057400"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19" name="图片 18"/>
          <p:cNvPicPr>
            <a:picLocks noChangeAspect="1"/>
          </p:cNvPicPr>
          <p:nvPr/>
        </p:nvPicPr>
        <p:blipFill>
          <a:blip r:embed="rId12"/>
          <a:stretch>
            <a:fillRect/>
          </a:stretch>
        </p:blipFill>
        <p:spPr>
          <a:xfrm>
            <a:off x="3280817" y="1944084"/>
            <a:ext cx="4464496" cy="349471"/>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19" name="组合 18"/>
          <p:cNvGrpSpPr/>
          <p:nvPr/>
        </p:nvGrpSpPr>
        <p:grpSpPr>
          <a:xfrm>
            <a:off x="1295400" y="1340769"/>
            <a:ext cx="4209991" cy="461665"/>
            <a:chOff x="1295400" y="1340769"/>
            <a:chExt cx="4209991" cy="461665"/>
          </a:xfrm>
        </p:grpSpPr>
        <p:sp>
          <p:nvSpPr>
            <p:cNvPr id="20"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6</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1"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2" name="图片 21"/>
            <p:cNvPicPr>
              <a:picLocks noChangeAspect="1"/>
            </p:cNvPicPr>
            <p:nvPr/>
          </p:nvPicPr>
          <p:blipFill>
            <a:blip r:embed="rId2"/>
            <a:stretch>
              <a:fillRect/>
            </a:stretch>
          </p:blipFill>
          <p:spPr>
            <a:xfrm>
              <a:off x="4392042" y="1453009"/>
              <a:ext cx="256158" cy="237183"/>
            </a:xfrm>
            <a:prstGeom prst="rect">
              <a:avLst/>
            </a:prstGeom>
          </p:spPr>
        </p:pic>
      </p:grpSp>
      <p:sp>
        <p:nvSpPr>
          <p:cNvPr id="24" name="Text Box 40"/>
          <p:cNvSpPr txBox="1">
            <a:spLocks noChangeArrowheads="1"/>
          </p:cNvSpPr>
          <p:nvPr/>
        </p:nvSpPr>
        <p:spPr bwMode="auto">
          <a:xfrm>
            <a:off x="2057400"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6" name="图片 25"/>
          <p:cNvPicPr>
            <a:picLocks noChangeAspect="1"/>
          </p:cNvPicPr>
          <p:nvPr/>
        </p:nvPicPr>
        <p:blipFill>
          <a:blip r:embed="rId3"/>
          <a:stretch>
            <a:fillRect/>
          </a:stretch>
        </p:blipFill>
        <p:spPr>
          <a:xfrm>
            <a:off x="3280817" y="1944084"/>
            <a:ext cx="4464496" cy="349471"/>
          </a:xfrm>
          <a:prstGeom prst="rect">
            <a:avLst/>
          </a:prstGeom>
        </p:spPr>
      </p:pic>
      <p:sp>
        <p:nvSpPr>
          <p:cNvPr id="38" name="Text Box 40"/>
          <p:cNvSpPr txBox="1">
            <a:spLocks noChangeArrowheads="1"/>
          </p:cNvSpPr>
          <p:nvPr/>
        </p:nvSpPr>
        <p:spPr bwMode="auto">
          <a:xfrm>
            <a:off x="609600" y="2967336"/>
            <a:ext cx="739675"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解：</a:t>
            </a:r>
          </a:p>
        </p:txBody>
      </p:sp>
      <p:grpSp>
        <p:nvGrpSpPr>
          <p:cNvPr id="39" name="组合 38"/>
          <p:cNvGrpSpPr/>
          <p:nvPr/>
        </p:nvGrpSpPr>
        <p:grpSpPr>
          <a:xfrm>
            <a:off x="1199781" y="2967336"/>
            <a:ext cx="7489552" cy="988009"/>
            <a:chOff x="1330920" y="2967335"/>
            <a:chExt cx="7489552" cy="988009"/>
          </a:xfrm>
        </p:grpSpPr>
        <p:sp>
          <p:nvSpPr>
            <p:cNvPr id="40" name="Text Box 40"/>
            <p:cNvSpPr txBox="1">
              <a:spLocks noChangeArrowheads="1"/>
            </p:cNvSpPr>
            <p:nvPr/>
          </p:nvSpPr>
          <p:spPr bwMode="auto">
            <a:xfrm>
              <a:off x="1330921" y="2967335"/>
              <a:ext cx="3601119"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这道题一个直观的想法是</a:t>
              </a:r>
            </a:p>
          </p:txBody>
        </p:sp>
        <p:pic>
          <p:nvPicPr>
            <p:cNvPr id="41" name="图片 40"/>
            <p:cNvPicPr>
              <a:picLocks noChangeAspect="1"/>
            </p:cNvPicPr>
            <p:nvPr/>
          </p:nvPicPr>
          <p:blipFill>
            <a:blip r:embed="rId4"/>
            <a:stretch>
              <a:fillRect/>
            </a:stretch>
          </p:blipFill>
          <p:spPr>
            <a:xfrm>
              <a:off x="4841264" y="3071061"/>
              <a:ext cx="1530936" cy="351043"/>
            </a:xfrm>
            <a:prstGeom prst="rect">
              <a:avLst/>
            </a:prstGeom>
          </p:spPr>
        </p:pic>
        <p:sp>
          <p:nvSpPr>
            <p:cNvPr id="42" name="Text Box 40"/>
            <p:cNvSpPr txBox="1">
              <a:spLocks noChangeArrowheads="1"/>
            </p:cNvSpPr>
            <p:nvPr/>
          </p:nvSpPr>
          <p:spPr bwMode="auto">
            <a:xfrm>
              <a:off x="6372200" y="2967335"/>
              <a:ext cx="2448272"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，但是这样仅包</a:t>
              </a:r>
            </a:p>
          </p:txBody>
        </p:sp>
        <p:sp>
          <p:nvSpPr>
            <p:cNvPr id="43" name="Text Box 40"/>
            <p:cNvSpPr txBox="1">
              <a:spLocks noChangeArrowheads="1"/>
            </p:cNvSpPr>
            <p:nvPr/>
          </p:nvSpPr>
          <p:spPr bwMode="auto">
            <a:xfrm>
              <a:off x="1330920" y="3493679"/>
              <a:ext cx="7489552"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含了以</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开头、以</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结尾的情况。需要考虑四种情况：</a:t>
              </a:r>
            </a:p>
          </p:txBody>
        </p:sp>
      </p:grpSp>
      <p:sp>
        <p:nvSpPr>
          <p:cNvPr id="44" name="Text Box 40"/>
          <p:cNvSpPr txBox="1">
            <a:spLocks noChangeArrowheads="1"/>
          </p:cNvSpPr>
          <p:nvPr/>
        </p:nvSpPr>
        <p:spPr bwMode="auto">
          <a:xfrm>
            <a:off x="1199781" y="4132238"/>
            <a:ext cx="3241080" cy="461665"/>
          </a:xfrm>
          <a:prstGeom prst="rect">
            <a:avLst/>
          </a:prstGeom>
          <a:noFill/>
          <a:ln w="9525">
            <a:noFill/>
            <a:miter lim="800000"/>
          </a:ln>
        </p:spPr>
        <p:txBody>
          <a:bodyPr wrap="square">
            <a:spAutoFit/>
          </a:bodyPr>
          <a:lstStyle/>
          <a:p>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以</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开头、以</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结尾：</a:t>
            </a:r>
          </a:p>
        </p:txBody>
      </p:sp>
      <p:sp>
        <p:nvSpPr>
          <p:cNvPr id="45" name="Text Box 40"/>
          <p:cNvSpPr txBox="1">
            <a:spLocks noChangeArrowheads="1"/>
          </p:cNvSpPr>
          <p:nvPr/>
        </p:nvSpPr>
        <p:spPr bwMode="auto">
          <a:xfrm>
            <a:off x="1199781" y="4740382"/>
            <a:ext cx="3241080" cy="461665"/>
          </a:xfrm>
          <a:prstGeom prst="rect">
            <a:avLst/>
          </a:prstGeom>
          <a:noFill/>
          <a:ln w="9525">
            <a:noFill/>
            <a:miter lim="800000"/>
          </a:ln>
        </p:spPr>
        <p:txBody>
          <a:bodyPr wrap="square">
            <a:spAutoFit/>
          </a:bodyPr>
          <a:lstStyle/>
          <a:p>
            <a:r>
              <a:rPr lang="en-US" altLang="zh-CN" sz="2400" b="0" i="0" dirty="0">
                <a:solidFill>
                  <a:srgbClr val="000000"/>
                </a:solidFill>
                <a:latin typeface="宋体" panose="02010600030101010101" pitchFamily="2" charset="-122"/>
                <a:ea typeface="宋体" panose="02010600030101010101" pitchFamily="2" charset="-122"/>
              </a:rPr>
              <a:t>(2)</a:t>
            </a:r>
            <a:r>
              <a:rPr lang="zh-CN" altLang="en-US" sz="2400" b="0" i="0" dirty="0">
                <a:solidFill>
                  <a:srgbClr val="000000"/>
                </a:solidFill>
                <a:latin typeface="宋体" panose="02010600030101010101" pitchFamily="2" charset="-122"/>
                <a:ea typeface="宋体" panose="02010600030101010101" pitchFamily="2" charset="-122"/>
              </a:rPr>
              <a:t>以</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开头、以</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结尾：</a:t>
            </a:r>
          </a:p>
        </p:txBody>
      </p:sp>
      <p:sp>
        <p:nvSpPr>
          <p:cNvPr id="46" name="Text Box 40"/>
          <p:cNvSpPr txBox="1">
            <a:spLocks noChangeArrowheads="1"/>
          </p:cNvSpPr>
          <p:nvPr/>
        </p:nvSpPr>
        <p:spPr bwMode="auto">
          <a:xfrm>
            <a:off x="1199781" y="5378021"/>
            <a:ext cx="3241080" cy="461665"/>
          </a:xfrm>
          <a:prstGeom prst="rect">
            <a:avLst/>
          </a:prstGeom>
          <a:noFill/>
          <a:ln w="9525">
            <a:noFill/>
            <a:miter lim="800000"/>
          </a:ln>
        </p:spPr>
        <p:txBody>
          <a:bodyPr wrap="square">
            <a:spAutoFit/>
          </a:bodyPr>
          <a:lstStyle/>
          <a:p>
            <a:r>
              <a:rPr lang="en-US" altLang="zh-CN" sz="2400" b="0" i="0" dirty="0">
                <a:solidFill>
                  <a:srgbClr val="000000"/>
                </a:solidFill>
                <a:latin typeface="宋体" panose="02010600030101010101" pitchFamily="2" charset="-122"/>
                <a:ea typeface="宋体" panose="02010600030101010101" pitchFamily="2" charset="-122"/>
              </a:rPr>
              <a:t>(3)</a:t>
            </a:r>
            <a:r>
              <a:rPr lang="zh-CN" altLang="en-US" sz="2400" b="0" i="0" dirty="0">
                <a:solidFill>
                  <a:srgbClr val="000000"/>
                </a:solidFill>
                <a:latin typeface="宋体" panose="02010600030101010101" pitchFamily="2" charset="-122"/>
                <a:ea typeface="宋体" panose="02010600030101010101" pitchFamily="2" charset="-122"/>
              </a:rPr>
              <a:t>以</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开头、以</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结尾：</a:t>
            </a:r>
          </a:p>
        </p:txBody>
      </p:sp>
      <p:sp>
        <p:nvSpPr>
          <p:cNvPr id="47" name="Text Box 40"/>
          <p:cNvSpPr txBox="1">
            <a:spLocks noChangeArrowheads="1"/>
          </p:cNvSpPr>
          <p:nvPr/>
        </p:nvSpPr>
        <p:spPr bwMode="auto">
          <a:xfrm>
            <a:off x="1199781" y="6026304"/>
            <a:ext cx="3241080" cy="461665"/>
          </a:xfrm>
          <a:prstGeom prst="rect">
            <a:avLst/>
          </a:prstGeom>
          <a:noFill/>
          <a:ln w="9525">
            <a:noFill/>
            <a:miter lim="800000"/>
          </a:ln>
        </p:spPr>
        <p:txBody>
          <a:bodyPr wrap="square">
            <a:spAutoFit/>
          </a:bodyPr>
          <a:lstStyle/>
          <a:p>
            <a:r>
              <a:rPr lang="en-US" altLang="zh-CN" sz="2400" b="0" i="0" dirty="0">
                <a:solidFill>
                  <a:srgbClr val="000000"/>
                </a:solidFill>
                <a:latin typeface="宋体" panose="02010600030101010101" pitchFamily="2" charset="-122"/>
                <a:ea typeface="宋体" panose="02010600030101010101" pitchFamily="2" charset="-122"/>
              </a:rPr>
              <a:t>(4)</a:t>
            </a:r>
            <a:r>
              <a:rPr lang="zh-CN" altLang="en-US" sz="2400" b="0" i="0" dirty="0">
                <a:solidFill>
                  <a:srgbClr val="000000"/>
                </a:solidFill>
                <a:latin typeface="宋体" panose="02010600030101010101" pitchFamily="2" charset="-122"/>
                <a:ea typeface="宋体" panose="02010600030101010101" pitchFamily="2" charset="-122"/>
              </a:rPr>
              <a:t>以</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开头、以</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结尾：</a:t>
            </a:r>
          </a:p>
        </p:txBody>
      </p:sp>
      <p:pic>
        <p:nvPicPr>
          <p:cNvPr id="48" name="图片 47"/>
          <p:cNvPicPr>
            <a:picLocks noChangeAspect="1"/>
          </p:cNvPicPr>
          <p:nvPr/>
        </p:nvPicPr>
        <p:blipFill>
          <a:blip r:embed="rId5"/>
          <a:stretch>
            <a:fillRect/>
          </a:stretch>
        </p:blipFill>
        <p:spPr>
          <a:xfrm>
            <a:off x="4463911" y="4221088"/>
            <a:ext cx="1583457" cy="333360"/>
          </a:xfrm>
          <a:prstGeom prst="rect">
            <a:avLst/>
          </a:prstGeom>
        </p:spPr>
      </p:pic>
      <p:pic>
        <p:nvPicPr>
          <p:cNvPr id="49" name="图片 48"/>
          <p:cNvPicPr>
            <a:picLocks noChangeAspect="1"/>
          </p:cNvPicPr>
          <p:nvPr/>
        </p:nvPicPr>
        <p:blipFill>
          <a:blip r:embed="rId6"/>
          <a:stretch>
            <a:fillRect/>
          </a:stretch>
        </p:blipFill>
        <p:spPr>
          <a:xfrm>
            <a:off x="4463911" y="4849607"/>
            <a:ext cx="1583465" cy="333361"/>
          </a:xfrm>
          <a:prstGeom prst="rect">
            <a:avLst/>
          </a:prstGeom>
        </p:spPr>
      </p:pic>
      <p:pic>
        <p:nvPicPr>
          <p:cNvPr id="50" name="图片 49"/>
          <p:cNvPicPr>
            <a:picLocks noChangeAspect="1"/>
          </p:cNvPicPr>
          <p:nvPr/>
        </p:nvPicPr>
        <p:blipFill>
          <a:blip r:embed="rId7"/>
          <a:stretch>
            <a:fillRect/>
          </a:stretch>
        </p:blipFill>
        <p:spPr>
          <a:xfrm>
            <a:off x="4463911" y="5487390"/>
            <a:ext cx="1777151" cy="333216"/>
          </a:xfrm>
          <a:prstGeom prst="rect">
            <a:avLst/>
          </a:prstGeom>
        </p:spPr>
      </p:pic>
      <p:pic>
        <p:nvPicPr>
          <p:cNvPr id="51" name="图片 50"/>
          <p:cNvPicPr>
            <a:picLocks noChangeAspect="1"/>
          </p:cNvPicPr>
          <p:nvPr/>
        </p:nvPicPr>
        <p:blipFill>
          <a:blip r:embed="rId8"/>
          <a:stretch>
            <a:fillRect/>
          </a:stretch>
        </p:blipFill>
        <p:spPr>
          <a:xfrm>
            <a:off x="4463911" y="6138570"/>
            <a:ext cx="1777925" cy="33336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P spid="46" grpId="0"/>
      <p:bldP spid="47"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19" name="组合 18"/>
          <p:cNvGrpSpPr/>
          <p:nvPr/>
        </p:nvGrpSpPr>
        <p:grpSpPr>
          <a:xfrm>
            <a:off x="1295400" y="1340769"/>
            <a:ext cx="4209991" cy="461665"/>
            <a:chOff x="1295400" y="1340769"/>
            <a:chExt cx="4209991" cy="461665"/>
          </a:xfrm>
        </p:grpSpPr>
        <p:sp>
          <p:nvSpPr>
            <p:cNvPr id="20"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6</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1"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2" name="图片 21"/>
            <p:cNvPicPr>
              <a:picLocks noChangeAspect="1"/>
            </p:cNvPicPr>
            <p:nvPr/>
          </p:nvPicPr>
          <p:blipFill>
            <a:blip r:embed="rId2"/>
            <a:stretch>
              <a:fillRect/>
            </a:stretch>
          </p:blipFill>
          <p:spPr>
            <a:xfrm>
              <a:off x="4392042" y="1453009"/>
              <a:ext cx="256158" cy="237183"/>
            </a:xfrm>
            <a:prstGeom prst="rect">
              <a:avLst/>
            </a:prstGeom>
          </p:spPr>
        </p:pic>
      </p:grpSp>
      <p:sp>
        <p:nvSpPr>
          <p:cNvPr id="24" name="Text Box 40"/>
          <p:cNvSpPr txBox="1">
            <a:spLocks noChangeArrowheads="1"/>
          </p:cNvSpPr>
          <p:nvPr/>
        </p:nvSpPr>
        <p:spPr bwMode="auto">
          <a:xfrm>
            <a:off x="2057400"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6" name="图片 25"/>
          <p:cNvPicPr>
            <a:picLocks noChangeAspect="1"/>
          </p:cNvPicPr>
          <p:nvPr/>
        </p:nvPicPr>
        <p:blipFill>
          <a:blip r:embed="rId3"/>
          <a:stretch>
            <a:fillRect/>
          </a:stretch>
        </p:blipFill>
        <p:spPr>
          <a:xfrm>
            <a:off x="3280817" y="1944084"/>
            <a:ext cx="4464496" cy="349471"/>
          </a:xfrm>
          <a:prstGeom prst="rect">
            <a:avLst/>
          </a:prstGeom>
        </p:spPr>
      </p:pic>
      <p:sp>
        <p:nvSpPr>
          <p:cNvPr id="25" name="Text Box 40"/>
          <p:cNvSpPr txBox="1">
            <a:spLocks noChangeArrowheads="1"/>
          </p:cNvSpPr>
          <p:nvPr/>
        </p:nvSpPr>
        <p:spPr bwMode="auto">
          <a:xfrm>
            <a:off x="1143000" y="2967336"/>
            <a:ext cx="739675"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解：</a:t>
            </a:r>
          </a:p>
        </p:txBody>
      </p:sp>
      <p:grpSp>
        <p:nvGrpSpPr>
          <p:cNvPr id="27" name="组合 26"/>
          <p:cNvGrpSpPr/>
          <p:nvPr/>
        </p:nvGrpSpPr>
        <p:grpSpPr>
          <a:xfrm>
            <a:off x="1733183" y="2967335"/>
            <a:ext cx="6005263" cy="926680"/>
            <a:chOff x="1330921" y="2967335"/>
            <a:chExt cx="6005263" cy="926680"/>
          </a:xfrm>
        </p:grpSpPr>
        <p:sp>
          <p:nvSpPr>
            <p:cNvPr id="28" name="Text Box 40"/>
            <p:cNvSpPr txBox="1">
              <a:spLocks noChangeArrowheads="1"/>
            </p:cNvSpPr>
            <p:nvPr/>
          </p:nvSpPr>
          <p:spPr bwMode="auto">
            <a:xfrm>
              <a:off x="1330921" y="2967335"/>
              <a:ext cx="3601119"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合并这四种情况可以得到</a:t>
              </a:r>
            </a:p>
          </p:txBody>
        </p:sp>
        <p:pic>
          <p:nvPicPr>
            <p:cNvPr id="29" name="图片 28"/>
            <p:cNvPicPr>
              <a:picLocks noChangeAspect="1"/>
            </p:cNvPicPr>
            <p:nvPr/>
          </p:nvPicPr>
          <p:blipFill>
            <a:blip r:embed="rId4"/>
            <a:stretch>
              <a:fillRect/>
            </a:stretch>
          </p:blipFill>
          <p:spPr>
            <a:xfrm>
              <a:off x="1953269" y="3563887"/>
              <a:ext cx="5382915" cy="330128"/>
            </a:xfrm>
            <a:prstGeom prst="rect">
              <a:avLst/>
            </a:prstGeom>
          </p:spPr>
        </p:pic>
      </p:grpSp>
      <p:grpSp>
        <p:nvGrpSpPr>
          <p:cNvPr id="30" name="组合 29"/>
          <p:cNvGrpSpPr/>
          <p:nvPr/>
        </p:nvGrpSpPr>
        <p:grpSpPr>
          <a:xfrm>
            <a:off x="1711085" y="4028903"/>
            <a:ext cx="6647552" cy="998245"/>
            <a:chOff x="1308824" y="4028902"/>
            <a:chExt cx="6647552" cy="998245"/>
          </a:xfrm>
        </p:grpSpPr>
        <p:sp>
          <p:nvSpPr>
            <p:cNvPr id="31" name="Text Box 40"/>
            <p:cNvSpPr txBox="1">
              <a:spLocks noChangeArrowheads="1"/>
            </p:cNvSpPr>
            <p:nvPr/>
          </p:nvSpPr>
          <p:spPr bwMode="auto">
            <a:xfrm>
              <a:off x="1308824" y="4028902"/>
              <a:ext cx="6647552"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上面的式子是否可以写成更紧凑的形式呢？可以</a:t>
              </a:r>
            </a:p>
          </p:txBody>
        </p:sp>
        <p:sp>
          <p:nvSpPr>
            <p:cNvPr id="32" name="Text Box 40"/>
            <p:cNvSpPr txBox="1">
              <a:spLocks noChangeArrowheads="1"/>
            </p:cNvSpPr>
            <p:nvPr/>
          </p:nvSpPr>
          <p:spPr bwMode="auto">
            <a:xfrm>
              <a:off x="1308824" y="4565482"/>
              <a:ext cx="6647552"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利用分配律来实现。</a:t>
              </a: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19" name="组合 18"/>
          <p:cNvGrpSpPr/>
          <p:nvPr/>
        </p:nvGrpSpPr>
        <p:grpSpPr>
          <a:xfrm>
            <a:off x="1295400" y="1340769"/>
            <a:ext cx="4209991" cy="461665"/>
            <a:chOff x="1295400" y="1340769"/>
            <a:chExt cx="4209991" cy="461665"/>
          </a:xfrm>
        </p:grpSpPr>
        <p:sp>
          <p:nvSpPr>
            <p:cNvPr id="20"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6</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1"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2" name="图片 21"/>
            <p:cNvPicPr>
              <a:picLocks noChangeAspect="1"/>
            </p:cNvPicPr>
            <p:nvPr/>
          </p:nvPicPr>
          <p:blipFill>
            <a:blip r:embed="rId2"/>
            <a:stretch>
              <a:fillRect/>
            </a:stretch>
          </p:blipFill>
          <p:spPr>
            <a:xfrm>
              <a:off x="4392042" y="1453009"/>
              <a:ext cx="256158" cy="237183"/>
            </a:xfrm>
            <a:prstGeom prst="rect">
              <a:avLst/>
            </a:prstGeom>
          </p:spPr>
        </p:pic>
      </p:grpSp>
      <p:sp>
        <p:nvSpPr>
          <p:cNvPr id="24" name="Text Box 40"/>
          <p:cNvSpPr txBox="1">
            <a:spLocks noChangeArrowheads="1"/>
          </p:cNvSpPr>
          <p:nvPr/>
        </p:nvSpPr>
        <p:spPr bwMode="auto">
          <a:xfrm>
            <a:off x="2057400"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6" name="图片 25"/>
          <p:cNvPicPr>
            <a:picLocks noChangeAspect="1"/>
          </p:cNvPicPr>
          <p:nvPr/>
        </p:nvPicPr>
        <p:blipFill>
          <a:blip r:embed="rId3"/>
          <a:stretch>
            <a:fillRect/>
          </a:stretch>
        </p:blipFill>
        <p:spPr>
          <a:xfrm>
            <a:off x="3280817" y="1944084"/>
            <a:ext cx="4464496" cy="349471"/>
          </a:xfrm>
          <a:prstGeom prst="rect">
            <a:avLst/>
          </a:prstGeom>
        </p:spPr>
      </p:pic>
      <p:sp>
        <p:nvSpPr>
          <p:cNvPr id="17" name="Text Box 40"/>
          <p:cNvSpPr txBox="1">
            <a:spLocks noChangeArrowheads="1"/>
          </p:cNvSpPr>
          <p:nvPr/>
        </p:nvSpPr>
        <p:spPr bwMode="auto">
          <a:xfrm>
            <a:off x="1371600" y="2967336"/>
            <a:ext cx="739675"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解：</a:t>
            </a:r>
          </a:p>
        </p:txBody>
      </p:sp>
      <p:sp>
        <p:nvSpPr>
          <p:cNvPr id="18" name="Text Box 40"/>
          <p:cNvSpPr txBox="1">
            <a:spLocks noChangeArrowheads="1"/>
          </p:cNvSpPr>
          <p:nvPr/>
        </p:nvSpPr>
        <p:spPr bwMode="auto">
          <a:xfrm>
            <a:off x="2034509" y="296733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利用分配律来处理</a:t>
            </a:r>
          </a:p>
        </p:txBody>
      </p:sp>
      <p:pic>
        <p:nvPicPr>
          <p:cNvPr id="23" name="图片 22"/>
          <p:cNvPicPr>
            <a:picLocks noChangeAspect="1"/>
          </p:cNvPicPr>
          <p:nvPr/>
        </p:nvPicPr>
        <p:blipFill>
          <a:blip r:embed="rId4"/>
          <a:stretch>
            <a:fillRect/>
          </a:stretch>
        </p:blipFill>
        <p:spPr>
          <a:xfrm>
            <a:off x="2515610" y="4235415"/>
            <a:ext cx="4392487" cy="313128"/>
          </a:xfrm>
          <a:prstGeom prst="rect">
            <a:avLst/>
          </a:prstGeom>
        </p:spPr>
      </p:pic>
      <p:pic>
        <p:nvPicPr>
          <p:cNvPr id="33" name="图片 32"/>
          <p:cNvPicPr>
            <a:picLocks noChangeAspect="1"/>
          </p:cNvPicPr>
          <p:nvPr/>
        </p:nvPicPr>
        <p:blipFill>
          <a:blip r:embed="rId5"/>
          <a:stretch>
            <a:fillRect/>
          </a:stretch>
        </p:blipFill>
        <p:spPr>
          <a:xfrm>
            <a:off x="2515609" y="4727344"/>
            <a:ext cx="4418584" cy="313128"/>
          </a:xfrm>
          <a:prstGeom prst="rect">
            <a:avLst/>
          </a:prstGeom>
        </p:spPr>
      </p:pic>
      <p:pic>
        <p:nvPicPr>
          <p:cNvPr id="34" name="图片 33"/>
          <p:cNvPicPr>
            <a:picLocks noChangeAspect="1"/>
          </p:cNvPicPr>
          <p:nvPr/>
        </p:nvPicPr>
        <p:blipFill>
          <a:blip r:embed="rId6"/>
          <a:stretch>
            <a:fillRect/>
          </a:stretch>
        </p:blipFill>
        <p:spPr>
          <a:xfrm>
            <a:off x="2515609" y="5228943"/>
            <a:ext cx="4212468" cy="328244"/>
          </a:xfrm>
          <a:prstGeom prst="rect">
            <a:avLst/>
          </a:prstGeom>
        </p:spPr>
      </p:pic>
      <p:pic>
        <p:nvPicPr>
          <p:cNvPr id="35" name="图片 34"/>
          <p:cNvPicPr>
            <a:picLocks noChangeAspect="1"/>
          </p:cNvPicPr>
          <p:nvPr/>
        </p:nvPicPr>
        <p:blipFill>
          <a:blip r:embed="rId7"/>
          <a:stretch>
            <a:fillRect/>
          </a:stretch>
        </p:blipFill>
        <p:spPr>
          <a:xfrm>
            <a:off x="2512482" y="5746349"/>
            <a:ext cx="5142489" cy="328244"/>
          </a:xfrm>
          <a:prstGeom prst="rect">
            <a:avLst/>
          </a:prstGeom>
        </p:spPr>
      </p:pic>
      <p:pic>
        <p:nvPicPr>
          <p:cNvPr id="36" name="图片 35"/>
          <p:cNvPicPr>
            <a:picLocks noChangeAspect="1"/>
          </p:cNvPicPr>
          <p:nvPr/>
        </p:nvPicPr>
        <p:blipFill>
          <a:blip r:embed="rId8"/>
          <a:stretch>
            <a:fillRect/>
          </a:stretch>
        </p:blipFill>
        <p:spPr>
          <a:xfrm>
            <a:off x="2512481" y="6263064"/>
            <a:ext cx="3194436" cy="345344"/>
          </a:xfrm>
          <a:prstGeom prst="rect">
            <a:avLst/>
          </a:prstGeom>
        </p:spPr>
      </p:pic>
      <p:pic>
        <p:nvPicPr>
          <p:cNvPr id="37" name="图片 36"/>
          <p:cNvPicPr>
            <a:picLocks noChangeAspect="1"/>
          </p:cNvPicPr>
          <p:nvPr/>
        </p:nvPicPr>
        <p:blipFill>
          <a:blip r:embed="rId9"/>
          <a:stretch>
            <a:fillRect/>
          </a:stretch>
        </p:blipFill>
        <p:spPr>
          <a:xfrm>
            <a:off x="2854999" y="3669526"/>
            <a:ext cx="4600302" cy="3253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19" name="组合 18"/>
          <p:cNvGrpSpPr/>
          <p:nvPr/>
        </p:nvGrpSpPr>
        <p:grpSpPr>
          <a:xfrm>
            <a:off x="1295400" y="1340769"/>
            <a:ext cx="4209991" cy="461665"/>
            <a:chOff x="1295400" y="1340769"/>
            <a:chExt cx="4209991" cy="461665"/>
          </a:xfrm>
        </p:grpSpPr>
        <p:sp>
          <p:nvSpPr>
            <p:cNvPr id="20"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6</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1"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2" name="图片 21"/>
            <p:cNvPicPr>
              <a:picLocks noChangeAspect="1"/>
            </p:cNvPicPr>
            <p:nvPr/>
          </p:nvPicPr>
          <p:blipFill>
            <a:blip r:embed="rId2"/>
            <a:stretch>
              <a:fillRect/>
            </a:stretch>
          </p:blipFill>
          <p:spPr>
            <a:xfrm>
              <a:off x="4392042" y="1453009"/>
              <a:ext cx="256158" cy="237183"/>
            </a:xfrm>
            <a:prstGeom prst="rect">
              <a:avLst/>
            </a:prstGeom>
          </p:spPr>
        </p:pic>
      </p:grpSp>
      <p:sp>
        <p:nvSpPr>
          <p:cNvPr id="24" name="Text Box 40"/>
          <p:cNvSpPr txBox="1">
            <a:spLocks noChangeArrowheads="1"/>
          </p:cNvSpPr>
          <p:nvPr/>
        </p:nvSpPr>
        <p:spPr bwMode="auto">
          <a:xfrm>
            <a:off x="2057400"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6" name="图片 25"/>
          <p:cNvPicPr>
            <a:picLocks noChangeAspect="1"/>
          </p:cNvPicPr>
          <p:nvPr/>
        </p:nvPicPr>
        <p:blipFill>
          <a:blip r:embed="rId3"/>
          <a:stretch>
            <a:fillRect/>
          </a:stretch>
        </p:blipFill>
        <p:spPr>
          <a:xfrm>
            <a:off x="3280817" y="1944084"/>
            <a:ext cx="4464496" cy="349471"/>
          </a:xfrm>
          <a:prstGeom prst="rect">
            <a:avLst/>
          </a:prstGeom>
        </p:spPr>
      </p:pic>
      <p:sp>
        <p:nvSpPr>
          <p:cNvPr id="25" name="Text Box 40"/>
          <p:cNvSpPr txBox="1">
            <a:spLocks noChangeArrowheads="1"/>
          </p:cNvSpPr>
          <p:nvPr/>
        </p:nvSpPr>
        <p:spPr bwMode="auto">
          <a:xfrm>
            <a:off x="1447800" y="2967336"/>
            <a:ext cx="739675"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解：</a:t>
            </a:r>
          </a:p>
        </p:txBody>
      </p:sp>
      <p:sp>
        <p:nvSpPr>
          <p:cNvPr id="27" name="Text Box 40"/>
          <p:cNvSpPr txBox="1">
            <a:spLocks noChangeArrowheads="1"/>
          </p:cNvSpPr>
          <p:nvPr/>
        </p:nvSpPr>
        <p:spPr bwMode="auto">
          <a:xfrm>
            <a:off x="2110709" y="296733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还有另一种处理方式</a:t>
            </a:r>
          </a:p>
        </p:txBody>
      </p:sp>
      <p:pic>
        <p:nvPicPr>
          <p:cNvPr id="28" name="图片 27"/>
          <p:cNvPicPr>
            <a:picLocks noChangeAspect="1"/>
          </p:cNvPicPr>
          <p:nvPr/>
        </p:nvPicPr>
        <p:blipFill>
          <a:blip r:embed="rId4"/>
          <a:stretch>
            <a:fillRect/>
          </a:stretch>
        </p:blipFill>
        <p:spPr>
          <a:xfrm>
            <a:off x="2931199" y="3669526"/>
            <a:ext cx="4600302" cy="325365"/>
          </a:xfrm>
          <a:prstGeom prst="rect">
            <a:avLst/>
          </a:prstGeom>
        </p:spPr>
      </p:pic>
      <p:pic>
        <p:nvPicPr>
          <p:cNvPr id="29" name="图片 28"/>
          <p:cNvPicPr>
            <a:picLocks noChangeAspect="1"/>
          </p:cNvPicPr>
          <p:nvPr/>
        </p:nvPicPr>
        <p:blipFill>
          <a:blip r:embed="rId5"/>
          <a:stretch>
            <a:fillRect/>
          </a:stretch>
        </p:blipFill>
        <p:spPr>
          <a:xfrm>
            <a:off x="2542757" y="4183119"/>
            <a:ext cx="4824536" cy="343928"/>
          </a:xfrm>
          <a:prstGeom prst="rect">
            <a:avLst/>
          </a:prstGeom>
        </p:spPr>
      </p:pic>
      <p:pic>
        <p:nvPicPr>
          <p:cNvPr id="30" name="图片 29"/>
          <p:cNvPicPr>
            <a:picLocks noChangeAspect="1"/>
          </p:cNvPicPr>
          <p:nvPr/>
        </p:nvPicPr>
        <p:blipFill>
          <a:blip r:embed="rId6"/>
          <a:stretch>
            <a:fillRect/>
          </a:stretch>
        </p:blipFill>
        <p:spPr>
          <a:xfrm>
            <a:off x="2542757" y="4711187"/>
            <a:ext cx="4824536" cy="343247"/>
          </a:xfrm>
          <a:prstGeom prst="rect">
            <a:avLst/>
          </a:prstGeom>
        </p:spPr>
      </p:pic>
      <p:pic>
        <p:nvPicPr>
          <p:cNvPr id="31" name="图片 30"/>
          <p:cNvPicPr>
            <a:picLocks noChangeAspect="1"/>
          </p:cNvPicPr>
          <p:nvPr/>
        </p:nvPicPr>
        <p:blipFill>
          <a:blip r:embed="rId7"/>
          <a:stretch>
            <a:fillRect/>
          </a:stretch>
        </p:blipFill>
        <p:spPr>
          <a:xfrm>
            <a:off x="2542757" y="5238573"/>
            <a:ext cx="4464496" cy="347883"/>
          </a:xfrm>
          <a:prstGeom prst="rect">
            <a:avLst/>
          </a:prstGeom>
        </p:spPr>
      </p:pic>
      <p:pic>
        <p:nvPicPr>
          <p:cNvPr id="32" name="图片 31"/>
          <p:cNvPicPr>
            <a:picLocks noChangeAspect="1"/>
          </p:cNvPicPr>
          <p:nvPr/>
        </p:nvPicPr>
        <p:blipFill>
          <a:blip r:embed="rId8"/>
          <a:stretch>
            <a:fillRect/>
          </a:stretch>
        </p:blipFill>
        <p:spPr>
          <a:xfrm>
            <a:off x="2542757" y="5770595"/>
            <a:ext cx="5472608" cy="349936"/>
          </a:xfrm>
          <a:prstGeom prst="rect">
            <a:avLst/>
          </a:prstGeom>
        </p:spPr>
      </p:pic>
      <p:pic>
        <p:nvPicPr>
          <p:cNvPr id="38" name="图片 37"/>
          <p:cNvPicPr>
            <a:picLocks noChangeAspect="1"/>
          </p:cNvPicPr>
          <p:nvPr/>
        </p:nvPicPr>
        <p:blipFill>
          <a:blip r:embed="rId9"/>
          <a:stretch>
            <a:fillRect/>
          </a:stretch>
        </p:blipFill>
        <p:spPr>
          <a:xfrm>
            <a:off x="2542759" y="6272383"/>
            <a:ext cx="3240359" cy="3503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97</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2" name="组合 1"/>
          <p:cNvGrpSpPr/>
          <p:nvPr/>
        </p:nvGrpSpPr>
        <p:grpSpPr>
          <a:xfrm>
            <a:off x="1295400" y="1340769"/>
            <a:ext cx="4209991"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7</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11"/>
            <a:stretch>
              <a:fillRect/>
            </a:stretch>
          </p:blipFill>
          <p:spPr>
            <a:xfrm>
              <a:off x="4392042" y="1453009"/>
              <a:ext cx="256158" cy="237183"/>
            </a:xfrm>
            <a:prstGeom prst="rect">
              <a:avLst/>
            </a:prstGeom>
          </p:spPr>
        </p:pic>
      </p:grpSp>
      <p:sp>
        <p:nvSpPr>
          <p:cNvPr id="30" name="Text Box 40"/>
          <p:cNvSpPr txBox="1">
            <a:spLocks noChangeArrowheads="1"/>
          </p:cNvSpPr>
          <p:nvPr/>
        </p:nvSpPr>
        <p:spPr bwMode="auto">
          <a:xfrm>
            <a:off x="2057400"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31" name="图片 30"/>
          <p:cNvPicPr>
            <a:picLocks noChangeAspect="1"/>
          </p:cNvPicPr>
          <p:nvPr/>
        </p:nvPicPr>
        <p:blipFill>
          <a:blip r:embed="rId12"/>
          <a:stretch>
            <a:fillRect/>
          </a:stretch>
        </p:blipFill>
        <p:spPr>
          <a:xfrm>
            <a:off x="2875336" y="1941625"/>
            <a:ext cx="5013994" cy="352613"/>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25" name="组合 24"/>
          <p:cNvGrpSpPr/>
          <p:nvPr/>
        </p:nvGrpSpPr>
        <p:grpSpPr>
          <a:xfrm>
            <a:off x="1295400" y="1340769"/>
            <a:ext cx="4209991" cy="461665"/>
            <a:chOff x="1295400" y="1340769"/>
            <a:chExt cx="4209991" cy="461665"/>
          </a:xfrm>
        </p:grpSpPr>
        <p:sp>
          <p:nvSpPr>
            <p:cNvPr id="27"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7</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8"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9" name="图片 28"/>
            <p:cNvPicPr>
              <a:picLocks noChangeAspect="1"/>
            </p:cNvPicPr>
            <p:nvPr/>
          </p:nvPicPr>
          <p:blipFill>
            <a:blip r:embed="rId2"/>
            <a:stretch>
              <a:fillRect/>
            </a:stretch>
          </p:blipFill>
          <p:spPr>
            <a:xfrm>
              <a:off x="4392042" y="1453009"/>
              <a:ext cx="256158" cy="237183"/>
            </a:xfrm>
            <a:prstGeom prst="rect">
              <a:avLst/>
            </a:prstGeom>
          </p:spPr>
        </p:pic>
      </p:grpSp>
      <p:sp>
        <p:nvSpPr>
          <p:cNvPr id="30" name="Text Box 40"/>
          <p:cNvSpPr txBox="1">
            <a:spLocks noChangeArrowheads="1"/>
          </p:cNvSpPr>
          <p:nvPr/>
        </p:nvSpPr>
        <p:spPr bwMode="auto">
          <a:xfrm>
            <a:off x="2057400"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31" name="图片 30"/>
          <p:cNvPicPr>
            <a:picLocks noChangeAspect="1"/>
          </p:cNvPicPr>
          <p:nvPr/>
        </p:nvPicPr>
        <p:blipFill>
          <a:blip r:embed="rId3"/>
          <a:stretch>
            <a:fillRect/>
          </a:stretch>
        </p:blipFill>
        <p:spPr>
          <a:xfrm>
            <a:off x="2875336" y="1941625"/>
            <a:ext cx="5013994" cy="352613"/>
          </a:xfrm>
          <a:prstGeom prst="rect">
            <a:avLst/>
          </a:prstGeom>
        </p:spPr>
      </p:pic>
      <p:grpSp>
        <p:nvGrpSpPr>
          <p:cNvPr id="32" name="组合 31"/>
          <p:cNvGrpSpPr/>
          <p:nvPr/>
        </p:nvGrpSpPr>
        <p:grpSpPr>
          <a:xfrm>
            <a:off x="228600" y="2996952"/>
            <a:ext cx="8742644" cy="1008112"/>
            <a:chOff x="740738" y="2996952"/>
            <a:chExt cx="8742644" cy="1008112"/>
          </a:xfrm>
        </p:grpSpPr>
        <p:sp>
          <p:nvSpPr>
            <p:cNvPr id="33" name="Text Box 40"/>
            <p:cNvSpPr txBox="1">
              <a:spLocks noChangeArrowheads="1"/>
            </p:cNvSpPr>
            <p:nvPr/>
          </p:nvSpPr>
          <p:spPr bwMode="auto">
            <a:xfrm>
              <a:off x="740738" y="2996952"/>
              <a:ext cx="8151742"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解：倒数第</a:t>
              </a:r>
              <a:r>
                <a:rPr lang="en-US" altLang="zh-CN" sz="2400" b="0" i="0" dirty="0">
                  <a:solidFill>
                    <a:srgbClr val="000000"/>
                  </a:solidFill>
                  <a:ea typeface="宋体" panose="02010600030101010101" pitchFamily="2" charset="-122"/>
                  <a:cs typeface="Times New Roman" panose="02020603050405020304" pitchFamily="18" charset="0"/>
                </a:rPr>
                <a:t>5</a:t>
              </a:r>
              <a:r>
                <a:rPr lang="zh-CN" altLang="en-US" sz="2400" b="0" i="0" dirty="0">
                  <a:solidFill>
                    <a:srgbClr val="000000"/>
                  </a:solidFill>
                  <a:ea typeface="宋体" panose="02010600030101010101" pitchFamily="2" charset="-122"/>
                  <a:cs typeface="Times New Roman" panose="02020603050405020304" pitchFamily="18" charset="0"/>
                </a:rPr>
                <a:t>个位置是</a:t>
              </a:r>
              <a:r>
                <a:rPr lang="en-US" altLang="zh-CN" sz="2400" b="0" i="0" dirty="0">
                  <a:solidFill>
                    <a:srgbClr val="000000"/>
                  </a:solidFill>
                  <a:ea typeface="宋体" panose="02010600030101010101" pitchFamily="2" charset="-122"/>
                  <a:cs typeface="Times New Roman" panose="02020603050405020304" pitchFamily="18" charset="0"/>
                </a:rPr>
                <a:t>1</a:t>
              </a:r>
              <a:r>
                <a:rPr lang="zh-CN" altLang="en-US" sz="2400" b="0" i="0" dirty="0">
                  <a:solidFill>
                    <a:srgbClr val="000000"/>
                  </a:solidFill>
                  <a:ea typeface="宋体" panose="02010600030101010101" pitchFamily="2" charset="-122"/>
                  <a:cs typeface="Times New Roman" panose="02020603050405020304" pitchFamily="18" charset="0"/>
                </a:rPr>
                <a:t>，那么倒数前</a:t>
              </a:r>
              <a:r>
                <a:rPr lang="en-US" altLang="zh-CN" sz="2400" b="0" i="0" dirty="0">
                  <a:solidFill>
                    <a:srgbClr val="000000"/>
                  </a:solidFill>
                  <a:ea typeface="宋体" panose="02010600030101010101" pitchFamily="2" charset="-122"/>
                  <a:cs typeface="Times New Roman" panose="02020603050405020304" pitchFamily="18" charset="0"/>
                </a:rPr>
                <a:t>4</a:t>
              </a:r>
              <a:r>
                <a:rPr lang="zh-CN" altLang="en-US" sz="2400" b="0" i="0" dirty="0">
                  <a:solidFill>
                    <a:srgbClr val="000000"/>
                  </a:solidFill>
                  <a:ea typeface="宋体" panose="02010600030101010101" pitchFamily="2" charset="-122"/>
                  <a:cs typeface="Times New Roman" panose="02020603050405020304" pitchFamily="18" charset="0"/>
                </a:rPr>
                <a:t>个位置必然或者为</a:t>
              </a:r>
              <a:r>
                <a:rPr lang="en-US" altLang="zh-CN" sz="2400" b="0" i="0" dirty="0">
                  <a:solidFill>
                    <a:srgbClr val="000000"/>
                  </a:solidFill>
                  <a:ea typeface="宋体" panose="02010600030101010101" pitchFamily="2" charset="-122"/>
                  <a:cs typeface="Times New Roman" panose="02020603050405020304" pitchFamily="18" charset="0"/>
                </a:rPr>
                <a:t>0</a:t>
              </a:r>
              <a:r>
                <a:rPr lang="zh-CN" altLang="en-US" sz="2400" b="0" i="0" dirty="0">
                  <a:solidFill>
                    <a:srgbClr val="000000"/>
                  </a:solidFill>
                  <a:ea typeface="宋体" panose="02010600030101010101" pitchFamily="2" charset="-122"/>
                  <a:cs typeface="Times New Roman" panose="02020603050405020304" pitchFamily="18" charset="0"/>
                </a:rPr>
                <a:t>，</a:t>
              </a:r>
            </a:p>
          </p:txBody>
        </p:sp>
        <p:sp>
          <p:nvSpPr>
            <p:cNvPr id="34" name="Text Box 40"/>
            <p:cNvSpPr txBox="1">
              <a:spLocks noChangeArrowheads="1"/>
            </p:cNvSpPr>
            <p:nvPr/>
          </p:nvSpPr>
          <p:spPr bwMode="auto">
            <a:xfrm>
              <a:off x="1331640" y="3543399"/>
              <a:ext cx="8151742"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或者为</a:t>
              </a:r>
              <a:r>
                <a:rPr lang="en-US" altLang="zh-CN" sz="2400" b="0" i="0" dirty="0">
                  <a:solidFill>
                    <a:srgbClr val="000000"/>
                  </a:solidFill>
                  <a:ea typeface="宋体" panose="02010600030101010101" pitchFamily="2" charset="-122"/>
                  <a:cs typeface="Times New Roman" panose="02020603050405020304" pitchFamily="18" charset="0"/>
                </a:rPr>
                <a:t>1</a:t>
              </a:r>
              <a:r>
                <a:rPr lang="zh-CN" altLang="en-US" sz="2400" b="0" i="0" dirty="0">
                  <a:solidFill>
                    <a:srgbClr val="000000"/>
                  </a:solidFill>
                  <a:ea typeface="宋体" panose="02010600030101010101" pitchFamily="2" charset="-122"/>
                  <a:cs typeface="Times New Roman" panose="02020603050405020304" pitchFamily="18" charset="0"/>
                </a:rPr>
                <a:t>。前面的字串则可以是任意字符串。因此：</a:t>
              </a:r>
            </a:p>
          </p:txBody>
        </p:sp>
      </p:grpSp>
      <p:pic>
        <p:nvPicPr>
          <p:cNvPr id="35" name="图片 34"/>
          <p:cNvPicPr>
            <a:picLocks noChangeAspect="1"/>
          </p:cNvPicPr>
          <p:nvPr/>
        </p:nvPicPr>
        <p:blipFill>
          <a:blip r:embed="rId4"/>
          <a:stretch>
            <a:fillRect/>
          </a:stretch>
        </p:blipFill>
        <p:spPr>
          <a:xfrm>
            <a:off x="2529134" y="4149081"/>
            <a:ext cx="3061457" cy="34789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99</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2" name="组合 1"/>
          <p:cNvGrpSpPr/>
          <p:nvPr/>
        </p:nvGrpSpPr>
        <p:grpSpPr>
          <a:xfrm>
            <a:off x="1295400" y="1340769"/>
            <a:ext cx="4209991"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8</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11"/>
            <a:stretch>
              <a:fillRect/>
            </a:stretch>
          </p:blipFill>
          <p:spPr>
            <a:xfrm>
              <a:off x="4392042" y="1453009"/>
              <a:ext cx="256158" cy="237183"/>
            </a:xfrm>
            <a:prstGeom prst="rect">
              <a:avLst/>
            </a:prstGeom>
          </p:spPr>
        </p:pic>
      </p:grpSp>
      <p:sp>
        <p:nvSpPr>
          <p:cNvPr id="17" name="Text Box 40"/>
          <p:cNvSpPr txBox="1">
            <a:spLocks noChangeArrowheads="1"/>
          </p:cNvSpPr>
          <p:nvPr/>
        </p:nvSpPr>
        <p:spPr bwMode="auto">
          <a:xfrm>
            <a:off x="1905000"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19" name="图片 18"/>
          <p:cNvPicPr>
            <a:picLocks noChangeAspect="1"/>
          </p:cNvPicPr>
          <p:nvPr/>
        </p:nvPicPr>
        <p:blipFill>
          <a:blip r:embed="rId12"/>
          <a:stretch>
            <a:fillRect/>
          </a:stretch>
        </p:blipFill>
        <p:spPr>
          <a:xfrm>
            <a:off x="2284942" y="1975775"/>
            <a:ext cx="6439479" cy="350448"/>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21" name="组合 20"/>
          <p:cNvGrpSpPr/>
          <p:nvPr/>
        </p:nvGrpSpPr>
        <p:grpSpPr>
          <a:xfrm>
            <a:off x="1295400" y="1340769"/>
            <a:ext cx="4209991" cy="461665"/>
            <a:chOff x="1295400" y="1340769"/>
            <a:chExt cx="4209991" cy="461665"/>
          </a:xfrm>
        </p:grpSpPr>
        <p:sp>
          <p:nvSpPr>
            <p:cNvPr id="22"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8</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3"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4" name="图片 23"/>
            <p:cNvPicPr>
              <a:picLocks noChangeAspect="1"/>
            </p:cNvPicPr>
            <p:nvPr/>
          </p:nvPicPr>
          <p:blipFill>
            <a:blip r:embed="rId2"/>
            <a:stretch>
              <a:fillRect/>
            </a:stretch>
          </p:blipFill>
          <p:spPr>
            <a:xfrm>
              <a:off x="4392042" y="1453009"/>
              <a:ext cx="256158" cy="237183"/>
            </a:xfrm>
            <a:prstGeom prst="rect">
              <a:avLst/>
            </a:prstGeom>
          </p:spPr>
        </p:pic>
      </p:grpSp>
      <p:sp>
        <p:nvSpPr>
          <p:cNvPr id="26" name="Text Box 40"/>
          <p:cNvSpPr txBox="1">
            <a:spLocks noChangeArrowheads="1"/>
          </p:cNvSpPr>
          <p:nvPr/>
        </p:nvSpPr>
        <p:spPr bwMode="auto">
          <a:xfrm>
            <a:off x="1905000"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36" name="图片 35"/>
          <p:cNvPicPr>
            <a:picLocks noChangeAspect="1"/>
          </p:cNvPicPr>
          <p:nvPr/>
        </p:nvPicPr>
        <p:blipFill>
          <a:blip r:embed="rId3"/>
          <a:stretch>
            <a:fillRect/>
          </a:stretch>
        </p:blipFill>
        <p:spPr>
          <a:xfrm>
            <a:off x="2284942" y="1975775"/>
            <a:ext cx="6439479" cy="350448"/>
          </a:xfrm>
          <a:prstGeom prst="rect">
            <a:avLst/>
          </a:prstGeom>
        </p:spPr>
      </p:pic>
      <p:sp>
        <p:nvSpPr>
          <p:cNvPr id="37" name="Text Box 40"/>
          <p:cNvSpPr txBox="1">
            <a:spLocks noChangeArrowheads="1"/>
          </p:cNvSpPr>
          <p:nvPr/>
        </p:nvSpPr>
        <p:spPr bwMode="auto">
          <a:xfrm>
            <a:off x="683267" y="2996953"/>
            <a:ext cx="735637"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解：</a:t>
            </a:r>
          </a:p>
        </p:txBody>
      </p:sp>
      <p:sp>
        <p:nvSpPr>
          <p:cNvPr id="38" name="Text Box 40"/>
          <p:cNvSpPr txBox="1">
            <a:spLocks noChangeArrowheads="1"/>
          </p:cNvSpPr>
          <p:nvPr/>
        </p:nvSpPr>
        <p:spPr bwMode="auto">
          <a:xfrm>
            <a:off x="1202160" y="2996952"/>
            <a:ext cx="7560840"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这道题的难点在于如何是实现前</a:t>
            </a:r>
            <a:r>
              <a:rPr lang="en-US" altLang="zh-CN" sz="2400" b="0" i="0" dirty="0">
                <a:solidFill>
                  <a:srgbClr val="000000"/>
                </a:solidFill>
                <a:latin typeface="宋体" panose="02010600030101010101" pitchFamily="2" charset="-122"/>
                <a:ea typeface="宋体" panose="02010600030101010101" pitchFamily="2" charset="-122"/>
              </a:rPr>
              <a:t>5</a:t>
            </a:r>
            <a:r>
              <a:rPr lang="zh-CN" altLang="en-US" sz="2400" b="0" i="0" dirty="0">
                <a:solidFill>
                  <a:srgbClr val="000000"/>
                </a:solidFill>
                <a:latin typeface="宋体" panose="02010600030101010101" pitchFamily="2" charset="-122"/>
                <a:ea typeface="宋体" panose="02010600030101010101" pitchFamily="2" charset="-122"/>
              </a:rPr>
              <a:t>位至少包含一个字符。</a:t>
            </a:r>
          </a:p>
        </p:txBody>
      </p:sp>
      <p:grpSp>
        <p:nvGrpSpPr>
          <p:cNvPr id="39" name="组合 38"/>
          <p:cNvGrpSpPr/>
          <p:nvPr/>
        </p:nvGrpSpPr>
        <p:grpSpPr>
          <a:xfrm>
            <a:off x="1202160" y="3515101"/>
            <a:ext cx="7560840" cy="979814"/>
            <a:chOff x="1259632" y="3515101"/>
            <a:chExt cx="7560840" cy="979814"/>
          </a:xfrm>
        </p:grpSpPr>
        <p:sp>
          <p:nvSpPr>
            <p:cNvPr id="40" name="Text Box 40"/>
            <p:cNvSpPr txBox="1">
              <a:spLocks noChangeArrowheads="1"/>
            </p:cNvSpPr>
            <p:nvPr/>
          </p:nvSpPr>
          <p:spPr bwMode="auto">
            <a:xfrm>
              <a:off x="1259632" y="3515101"/>
              <a:ext cx="7560840"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注意：字符串的长度并不一定超过</a:t>
              </a:r>
              <a:r>
                <a:rPr lang="en-US" altLang="zh-CN" sz="2400" b="0" i="0" dirty="0">
                  <a:solidFill>
                    <a:srgbClr val="000000"/>
                  </a:solidFill>
                  <a:latin typeface="宋体" panose="02010600030101010101" pitchFamily="2" charset="-122"/>
                  <a:ea typeface="宋体" panose="02010600030101010101" pitchFamily="2" charset="-122"/>
                </a:rPr>
                <a:t>5</a:t>
              </a:r>
              <a:r>
                <a:rPr lang="zh-CN" altLang="en-US" sz="2400" b="0" i="0" dirty="0">
                  <a:solidFill>
                    <a:srgbClr val="000000"/>
                  </a:solidFill>
                  <a:latin typeface="宋体" panose="02010600030101010101" pitchFamily="2" charset="-122"/>
                  <a:ea typeface="宋体" panose="02010600030101010101" pitchFamily="2" charset="-122"/>
                </a:rPr>
                <a:t>。此处的技巧是巧</a:t>
              </a:r>
            </a:p>
          </p:txBody>
        </p:sp>
        <p:sp>
          <p:nvSpPr>
            <p:cNvPr id="41" name="Text Box 40"/>
            <p:cNvSpPr txBox="1">
              <a:spLocks noChangeArrowheads="1"/>
            </p:cNvSpPr>
            <p:nvPr/>
          </p:nvSpPr>
          <p:spPr bwMode="auto">
            <a:xfrm>
              <a:off x="1259632" y="4033250"/>
              <a:ext cx="7560840"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妙地使用空串：</a:t>
              </a:r>
            </a:p>
          </p:txBody>
        </p:sp>
      </p:grpSp>
      <p:pic>
        <p:nvPicPr>
          <p:cNvPr id="42" name="图片 41"/>
          <p:cNvPicPr>
            <a:picLocks noChangeAspect="1"/>
          </p:cNvPicPr>
          <p:nvPr/>
        </p:nvPicPr>
        <p:blipFill>
          <a:blip r:embed="rId4"/>
          <a:stretch>
            <a:fillRect/>
          </a:stretch>
        </p:blipFill>
        <p:spPr>
          <a:xfrm>
            <a:off x="3019147" y="4698071"/>
            <a:ext cx="3799638" cy="37160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101</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2" name="组合 1"/>
          <p:cNvGrpSpPr/>
          <p:nvPr/>
        </p:nvGrpSpPr>
        <p:grpSpPr>
          <a:xfrm>
            <a:off x="1295400" y="1340769"/>
            <a:ext cx="4209991"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9</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11"/>
            <a:stretch>
              <a:fillRect/>
            </a:stretch>
          </p:blipFill>
          <p:spPr>
            <a:xfrm>
              <a:off x="4392042" y="1453009"/>
              <a:ext cx="256158" cy="237183"/>
            </a:xfrm>
            <a:prstGeom prst="rect">
              <a:avLst/>
            </a:prstGeom>
          </p:spPr>
        </p:pic>
      </p:grpSp>
      <p:sp>
        <p:nvSpPr>
          <p:cNvPr id="21" name="Text Box 40"/>
          <p:cNvSpPr txBox="1">
            <a:spLocks noChangeArrowheads="1"/>
          </p:cNvSpPr>
          <p:nvPr/>
        </p:nvSpPr>
        <p:spPr bwMode="auto">
          <a:xfrm>
            <a:off x="1752600"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2" name="图片 21"/>
          <p:cNvPicPr>
            <a:picLocks noChangeAspect="1"/>
          </p:cNvPicPr>
          <p:nvPr/>
        </p:nvPicPr>
        <p:blipFill>
          <a:blip r:embed="rId12"/>
          <a:stretch>
            <a:fillRect/>
          </a:stretch>
        </p:blipFill>
        <p:spPr>
          <a:xfrm>
            <a:off x="2101059" y="1956632"/>
            <a:ext cx="6430436" cy="349956"/>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16" name="组合 15"/>
          <p:cNvGrpSpPr/>
          <p:nvPr/>
        </p:nvGrpSpPr>
        <p:grpSpPr>
          <a:xfrm>
            <a:off x="1295400" y="1340769"/>
            <a:ext cx="4209991" cy="461665"/>
            <a:chOff x="1295400" y="1340769"/>
            <a:chExt cx="4209991" cy="461665"/>
          </a:xfrm>
        </p:grpSpPr>
        <p:sp>
          <p:nvSpPr>
            <p:cNvPr id="17"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9</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18"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19" name="图片 18"/>
            <p:cNvPicPr>
              <a:picLocks noChangeAspect="1"/>
            </p:cNvPicPr>
            <p:nvPr/>
          </p:nvPicPr>
          <p:blipFill>
            <a:blip r:embed="rId2"/>
            <a:stretch>
              <a:fillRect/>
            </a:stretch>
          </p:blipFill>
          <p:spPr>
            <a:xfrm>
              <a:off x="4392042" y="1453009"/>
              <a:ext cx="256158" cy="237183"/>
            </a:xfrm>
            <a:prstGeom prst="rect">
              <a:avLst/>
            </a:prstGeom>
          </p:spPr>
        </p:pic>
      </p:grpSp>
      <p:sp>
        <p:nvSpPr>
          <p:cNvPr id="20" name="Text Box 40"/>
          <p:cNvSpPr txBox="1">
            <a:spLocks noChangeArrowheads="1"/>
          </p:cNvSpPr>
          <p:nvPr/>
        </p:nvSpPr>
        <p:spPr bwMode="auto">
          <a:xfrm>
            <a:off x="1752600"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5" name="图片 24"/>
          <p:cNvPicPr>
            <a:picLocks noChangeAspect="1"/>
          </p:cNvPicPr>
          <p:nvPr/>
        </p:nvPicPr>
        <p:blipFill>
          <a:blip r:embed="rId3"/>
          <a:stretch>
            <a:fillRect/>
          </a:stretch>
        </p:blipFill>
        <p:spPr>
          <a:xfrm>
            <a:off x="2101059" y="1956632"/>
            <a:ext cx="6430436" cy="349956"/>
          </a:xfrm>
          <a:prstGeom prst="rect">
            <a:avLst/>
          </a:prstGeom>
        </p:spPr>
      </p:pic>
      <p:sp>
        <p:nvSpPr>
          <p:cNvPr id="27" name="Text Box 40"/>
          <p:cNvSpPr txBox="1">
            <a:spLocks noChangeArrowheads="1"/>
          </p:cNvSpPr>
          <p:nvPr/>
        </p:nvSpPr>
        <p:spPr bwMode="auto">
          <a:xfrm>
            <a:off x="1295400" y="2996953"/>
            <a:ext cx="735637"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解：</a:t>
            </a:r>
          </a:p>
        </p:txBody>
      </p:sp>
      <p:pic>
        <p:nvPicPr>
          <p:cNvPr id="28" name="图片 27"/>
          <p:cNvPicPr>
            <a:picLocks noChangeAspect="1"/>
          </p:cNvPicPr>
          <p:nvPr/>
        </p:nvPicPr>
        <p:blipFill>
          <a:blip r:embed="rId4"/>
          <a:stretch>
            <a:fillRect/>
          </a:stretch>
        </p:blipFill>
        <p:spPr>
          <a:xfrm>
            <a:off x="3176839" y="3768527"/>
            <a:ext cx="3899644" cy="38045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103</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2" name="组合 1"/>
          <p:cNvGrpSpPr/>
          <p:nvPr/>
        </p:nvGrpSpPr>
        <p:grpSpPr>
          <a:xfrm>
            <a:off x="1295400" y="1340769"/>
            <a:ext cx="4724400" cy="830997"/>
            <a:chOff x="1295400" y="1340769"/>
            <a:chExt cx="4209991" cy="830997"/>
          </a:xfrm>
        </p:grpSpPr>
        <p:sp>
          <p:nvSpPr>
            <p:cNvPr id="18" name="Text Box 40"/>
            <p:cNvSpPr txBox="1">
              <a:spLocks noChangeArrowheads="1"/>
            </p:cNvSpPr>
            <p:nvPr/>
          </p:nvSpPr>
          <p:spPr bwMode="auto">
            <a:xfrm>
              <a:off x="1295400" y="1340769"/>
              <a:ext cx="3168035" cy="830997"/>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10</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11"/>
            <a:stretch>
              <a:fillRect/>
            </a:stretch>
          </p:blipFill>
          <p:spPr>
            <a:xfrm>
              <a:off x="4283136" y="1453009"/>
              <a:ext cx="256158" cy="237183"/>
            </a:xfrm>
            <a:prstGeom prst="rect">
              <a:avLst/>
            </a:prstGeom>
          </p:spPr>
        </p:pic>
      </p:grpSp>
      <p:sp>
        <p:nvSpPr>
          <p:cNvPr id="17" name="Text Box 40"/>
          <p:cNvSpPr txBox="1">
            <a:spLocks noChangeArrowheads="1"/>
          </p:cNvSpPr>
          <p:nvPr/>
        </p:nvSpPr>
        <p:spPr bwMode="auto">
          <a:xfrm>
            <a:off x="1905000" y="243128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p>
        </p:txBody>
      </p:sp>
      <p:pic>
        <p:nvPicPr>
          <p:cNvPr id="19" name="图片 18"/>
          <p:cNvPicPr>
            <a:picLocks noChangeAspect="1"/>
          </p:cNvPicPr>
          <p:nvPr/>
        </p:nvPicPr>
        <p:blipFill>
          <a:blip r:embed="rId12"/>
          <a:stretch>
            <a:fillRect/>
          </a:stretch>
        </p:blipFill>
        <p:spPr>
          <a:xfrm>
            <a:off x="4856609" y="2502517"/>
            <a:ext cx="1296144" cy="319200"/>
          </a:xfrm>
          <a:prstGeom prst="rect">
            <a:avLst/>
          </a:prstGeom>
        </p:spPr>
      </p:pic>
      <p:pic>
        <p:nvPicPr>
          <p:cNvPr id="23" name="图片 22"/>
          <p:cNvPicPr>
            <a:picLocks noChangeAspect="1"/>
          </p:cNvPicPr>
          <p:nvPr/>
        </p:nvPicPr>
        <p:blipFill>
          <a:blip r:embed="rId13"/>
          <a:stretch>
            <a:fillRect/>
          </a:stretch>
        </p:blipFill>
        <p:spPr>
          <a:xfrm>
            <a:off x="2750443" y="1963846"/>
            <a:ext cx="5508476" cy="356536"/>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4">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12" name="组合 11"/>
          <p:cNvGrpSpPr/>
          <p:nvPr/>
        </p:nvGrpSpPr>
        <p:grpSpPr>
          <a:xfrm>
            <a:off x="1295400" y="1340769"/>
            <a:ext cx="4724400" cy="830997"/>
            <a:chOff x="1295400" y="1340769"/>
            <a:chExt cx="4209991" cy="830997"/>
          </a:xfrm>
        </p:grpSpPr>
        <p:sp>
          <p:nvSpPr>
            <p:cNvPr id="13" name="Text Box 40"/>
            <p:cNvSpPr txBox="1">
              <a:spLocks noChangeArrowheads="1"/>
            </p:cNvSpPr>
            <p:nvPr/>
          </p:nvSpPr>
          <p:spPr bwMode="auto">
            <a:xfrm>
              <a:off x="1295400" y="1340769"/>
              <a:ext cx="3168035" cy="830997"/>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10</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15"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1" name="图片 20"/>
            <p:cNvPicPr>
              <a:picLocks noChangeAspect="1"/>
            </p:cNvPicPr>
            <p:nvPr/>
          </p:nvPicPr>
          <p:blipFill>
            <a:blip r:embed="rId2"/>
            <a:stretch>
              <a:fillRect/>
            </a:stretch>
          </p:blipFill>
          <p:spPr>
            <a:xfrm>
              <a:off x="4283136" y="1453009"/>
              <a:ext cx="256158" cy="237183"/>
            </a:xfrm>
            <a:prstGeom prst="rect">
              <a:avLst/>
            </a:prstGeom>
          </p:spPr>
        </p:pic>
      </p:grpSp>
      <p:sp>
        <p:nvSpPr>
          <p:cNvPr id="22" name="Text Box 40"/>
          <p:cNvSpPr txBox="1">
            <a:spLocks noChangeArrowheads="1"/>
          </p:cNvSpPr>
          <p:nvPr/>
        </p:nvSpPr>
        <p:spPr bwMode="auto">
          <a:xfrm>
            <a:off x="1905000" y="243128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p>
        </p:txBody>
      </p:sp>
      <p:pic>
        <p:nvPicPr>
          <p:cNvPr id="23" name="图片 22"/>
          <p:cNvPicPr>
            <a:picLocks noChangeAspect="1"/>
          </p:cNvPicPr>
          <p:nvPr/>
        </p:nvPicPr>
        <p:blipFill>
          <a:blip r:embed="rId3"/>
          <a:stretch>
            <a:fillRect/>
          </a:stretch>
        </p:blipFill>
        <p:spPr>
          <a:xfrm>
            <a:off x="4856609" y="2502517"/>
            <a:ext cx="1296144" cy="319200"/>
          </a:xfrm>
          <a:prstGeom prst="rect">
            <a:avLst/>
          </a:prstGeom>
        </p:spPr>
      </p:pic>
      <p:pic>
        <p:nvPicPr>
          <p:cNvPr id="24" name="图片 23"/>
          <p:cNvPicPr>
            <a:picLocks noChangeAspect="1"/>
          </p:cNvPicPr>
          <p:nvPr/>
        </p:nvPicPr>
        <p:blipFill>
          <a:blip r:embed="rId4"/>
          <a:stretch>
            <a:fillRect/>
          </a:stretch>
        </p:blipFill>
        <p:spPr>
          <a:xfrm>
            <a:off x="2750443" y="1963846"/>
            <a:ext cx="5508476" cy="356536"/>
          </a:xfrm>
          <a:prstGeom prst="rect">
            <a:avLst/>
          </a:prstGeom>
        </p:spPr>
      </p:pic>
      <p:sp>
        <p:nvSpPr>
          <p:cNvPr id="26" name="Text Box 40"/>
          <p:cNvSpPr txBox="1">
            <a:spLocks noChangeArrowheads="1"/>
          </p:cNvSpPr>
          <p:nvPr/>
        </p:nvSpPr>
        <p:spPr bwMode="auto">
          <a:xfrm>
            <a:off x="1219200" y="2996953"/>
            <a:ext cx="735637"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解：</a:t>
            </a:r>
          </a:p>
        </p:txBody>
      </p:sp>
      <p:grpSp>
        <p:nvGrpSpPr>
          <p:cNvPr id="29" name="组合 28"/>
          <p:cNvGrpSpPr/>
          <p:nvPr/>
        </p:nvGrpSpPr>
        <p:grpSpPr>
          <a:xfrm>
            <a:off x="1954837" y="3088021"/>
            <a:ext cx="6469087" cy="754979"/>
            <a:chOff x="1476375" y="3088020"/>
            <a:chExt cx="6469087" cy="754979"/>
          </a:xfrm>
        </p:grpSpPr>
        <p:pic>
          <p:nvPicPr>
            <p:cNvPr id="30" name="图片 29"/>
            <p:cNvPicPr>
              <a:picLocks noChangeAspect="1"/>
            </p:cNvPicPr>
            <p:nvPr/>
          </p:nvPicPr>
          <p:blipFill>
            <a:blip r:embed="rId5"/>
            <a:stretch>
              <a:fillRect/>
            </a:stretch>
          </p:blipFill>
          <p:spPr>
            <a:xfrm>
              <a:off x="1476375" y="3088020"/>
              <a:ext cx="6469087" cy="279528"/>
            </a:xfrm>
            <a:prstGeom prst="rect">
              <a:avLst/>
            </a:prstGeom>
          </p:spPr>
        </p:pic>
        <p:pic>
          <p:nvPicPr>
            <p:cNvPr id="31" name="图片 30"/>
            <p:cNvPicPr>
              <a:picLocks noChangeAspect="1"/>
            </p:cNvPicPr>
            <p:nvPr/>
          </p:nvPicPr>
          <p:blipFill>
            <a:blip r:embed="rId6"/>
            <a:stretch>
              <a:fillRect/>
            </a:stretch>
          </p:blipFill>
          <p:spPr>
            <a:xfrm>
              <a:off x="1476375" y="3549685"/>
              <a:ext cx="6084168" cy="293314"/>
            </a:xfrm>
            <a:prstGeom prst="rect">
              <a:avLst/>
            </a:prstGeom>
          </p:spPr>
        </p:pic>
      </p:grpSp>
      <p:grpSp>
        <p:nvGrpSpPr>
          <p:cNvPr id="32" name="组合 31"/>
          <p:cNvGrpSpPr/>
          <p:nvPr/>
        </p:nvGrpSpPr>
        <p:grpSpPr>
          <a:xfrm>
            <a:off x="1954837" y="4025137"/>
            <a:ext cx="6536707" cy="1721505"/>
            <a:chOff x="1476375" y="4025136"/>
            <a:chExt cx="6536707" cy="1721505"/>
          </a:xfrm>
        </p:grpSpPr>
        <p:pic>
          <p:nvPicPr>
            <p:cNvPr id="33" name="图片 32"/>
            <p:cNvPicPr>
              <a:picLocks noChangeAspect="1"/>
            </p:cNvPicPr>
            <p:nvPr/>
          </p:nvPicPr>
          <p:blipFill>
            <a:blip r:embed="rId7"/>
            <a:stretch>
              <a:fillRect/>
            </a:stretch>
          </p:blipFill>
          <p:spPr>
            <a:xfrm>
              <a:off x="2024385" y="4025136"/>
              <a:ext cx="5774086" cy="293314"/>
            </a:xfrm>
            <a:prstGeom prst="rect">
              <a:avLst/>
            </a:prstGeom>
          </p:spPr>
        </p:pic>
        <p:pic>
          <p:nvPicPr>
            <p:cNvPr id="34" name="图片 33"/>
            <p:cNvPicPr>
              <a:picLocks noChangeAspect="1"/>
            </p:cNvPicPr>
            <p:nvPr/>
          </p:nvPicPr>
          <p:blipFill>
            <a:blip r:embed="rId8"/>
            <a:stretch>
              <a:fillRect/>
            </a:stretch>
          </p:blipFill>
          <p:spPr>
            <a:xfrm>
              <a:off x="1476375" y="4495240"/>
              <a:ext cx="6444523" cy="293314"/>
            </a:xfrm>
            <a:prstGeom prst="rect">
              <a:avLst/>
            </a:prstGeom>
          </p:spPr>
        </p:pic>
        <p:pic>
          <p:nvPicPr>
            <p:cNvPr id="35" name="图片 34"/>
            <p:cNvPicPr>
              <a:picLocks noChangeAspect="1"/>
            </p:cNvPicPr>
            <p:nvPr/>
          </p:nvPicPr>
          <p:blipFill>
            <a:blip r:embed="rId9"/>
            <a:stretch>
              <a:fillRect/>
            </a:stretch>
          </p:blipFill>
          <p:spPr>
            <a:xfrm>
              <a:off x="1476375" y="4976710"/>
              <a:ext cx="6536707" cy="293314"/>
            </a:xfrm>
            <a:prstGeom prst="rect">
              <a:avLst/>
            </a:prstGeom>
          </p:spPr>
        </p:pic>
        <p:pic>
          <p:nvPicPr>
            <p:cNvPr id="36" name="图片 35"/>
            <p:cNvPicPr>
              <a:picLocks noChangeAspect="1"/>
            </p:cNvPicPr>
            <p:nvPr/>
          </p:nvPicPr>
          <p:blipFill>
            <a:blip r:embed="rId10"/>
            <a:stretch>
              <a:fillRect/>
            </a:stretch>
          </p:blipFill>
          <p:spPr>
            <a:xfrm>
              <a:off x="1476375" y="5466177"/>
              <a:ext cx="4559539" cy="280464"/>
            </a:xfrm>
            <a:prstGeom prst="rect">
              <a:avLst/>
            </a:prstGeom>
          </p:spPr>
        </p:pic>
      </p:grpSp>
      <p:pic>
        <p:nvPicPr>
          <p:cNvPr id="37" name="图片 36"/>
          <p:cNvPicPr>
            <a:picLocks noChangeAspect="1"/>
          </p:cNvPicPr>
          <p:nvPr/>
        </p:nvPicPr>
        <p:blipFill>
          <a:blip r:embed="rId11"/>
          <a:stretch>
            <a:fillRect/>
          </a:stretch>
        </p:blipFill>
        <p:spPr>
          <a:xfrm>
            <a:off x="3579871" y="5942794"/>
            <a:ext cx="3620036" cy="3316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12" name="组合 11"/>
          <p:cNvGrpSpPr/>
          <p:nvPr/>
        </p:nvGrpSpPr>
        <p:grpSpPr>
          <a:xfrm>
            <a:off x="1295400" y="1340769"/>
            <a:ext cx="4724400" cy="830997"/>
            <a:chOff x="1295400" y="1340769"/>
            <a:chExt cx="4209991" cy="830997"/>
          </a:xfrm>
        </p:grpSpPr>
        <p:sp>
          <p:nvSpPr>
            <p:cNvPr id="13" name="Text Box 40"/>
            <p:cNvSpPr txBox="1">
              <a:spLocks noChangeArrowheads="1"/>
            </p:cNvSpPr>
            <p:nvPr/>
          </p:nvSpPr>
          <p:spPr bwMode="auto">
            <a:xfrm>
              <a:off x="1295400" y="1340769"/>
              <a:ext cx="3168035" cy="830997"/>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10</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15"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1" name="图片 20"/>
            <p:cNvPicPr>
              <a:picLocks noChangeAspect="1"/>
            </p:cNvPicPr>
            <p:nvPr/>
          </p:nvPicPr>
          <p:blipFill>
            <a:blip r:embed="rId2"/>
            <a:stretch>
              <a:fillRect/>
            </a:stretch>
          </p:blipFill>
          <p:spPr>
            <a:xfrm>
              <a:off x="4283136" y="1453009"/>
              <a:ext cx="256158" cy="237183"/>
            </a:xfrm>
            <a:prstGeom prst="rect">
              <a:avLst/>
            </a:prstGeom>
          </p:spPr>
        </p:pic>
      </p:grpSp>
      <p:sp>
        <p:nvSpPr>
          <p:cNvPr id="22" name="Text Box 40"/>
          <p:cNvSpPr txBox="1">
            <a:spLocks noChangeArrowheads="1"/>
          </p:cNvSpPr>
          <p:nvPr/>
        </p:nvSpPr>
        <p:spPr bwMode="auto">
          <a:xfrm>
            <a:off x="1905000" y="243128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p>
        </p:txBody>
      </p:sp>
      <p:pic>
        <p:nvPicPr>
          <p:cNvPr id="23" name="图片 22"/>
          <p:cNvPicPr>
            <a:picLocks noChangeAspect="1"/>
          </p:cNvPicPr>
          <p:nvPr/>
        </p:nvPicPr>
        <p:blipFill>
          <a:blip r:embed="rId3"/>
          <a:stretch>
            <a:fillRect/>
          </a:stretch>
        </p:blipFill>
        <p:spPr>
          <a:xfrm>
            <a:off x="4856609" y="2502517"/>
            <a:ext cx="1296144" cy="319200"/>
          </a:xfrm>
          <a:prstGeom prst="rect">
            <a:avLst/>
          </a:prstGeom>
        </p:spPr>
      </p:pic>
      <p:pic>
        <p:nvPicPr>
          <p:cNvPr id="24" name="图片 23"/>
          <p:cNvPicPr>
            <a:picLocks noChangeAspect="1"/>
          </p:cNvPicPr>
          <p:nvPr/>
        </p:nvPicPr>
        <p:blipFill>
          <a:blip r:embed="rId4"/>
          <a:stretch>
            <a:fillRect/>
          </a:stretch>
        </p:blipFill>
        <p:spPr>
          <a:xfrm>
            <a:off x="2750443" y="1963846"/>
            <a:ext cx="5508476" cy="356536"/>
          </a:xfrm>
          <a:prstGeom prst="rect">
            <a:avLst/>
          </a:prstGeom>
        </p:spPr>
      </p:pic>
      <p:sp>
        <p:nvSpPr>
          <p:cNvPr id="25" name="Text Box 40"/>
          <p:cNvSpPr txBox="1">
            <a:spLocks noChangeArrowheads="1"/>
          </p:cNvSpPr>
          <p:nvPr/>
        </p:nvSpPr>
        <p:spPr bwMode="auto">
          <a:xfrm>
            <a:off x="1066800" y="2996953"/>
            <a:ext cx="735637"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解：</a:t>
            </a:r>
          </a:p>
        </p:txBody>
      </p:sp>
      <p:pic>
        <p:nvPicPr>
          <p:cNvPr id="27" name="图片 26"/>
          <p:cNvPicPr>
            <a:picLocks noChangeAspect="1"/>
          </p:cNvPicPr>
          <p:nvPr/>
        </p:nvPicPr>
        <p:blipFill>
          <a:blip r:embed="rId5"/>
          <a:stretch>
            <a:fillRect/>
          </a:stretch>
        </p:blipFill>
        <p:spPr>
          <a:xfrm>
            <a:off x="1802436" y="3082925"/>
            <a:ext cx="6804248" cy="289719"/>
          </a:xfrm>
          <a:prstGeom prst="rect">
            <a:avLst/>
          </a:prstGeom>
        </p:spPr>
      </p:pic>
      <p:pic>
        <p:nvPicPr>
          <p:cNvPr id="28" name="图片 27"/>
          <p:cNvPicPr>
            <a:picLocks noChangeAspect="1"/>
          </p:cNvPicPr>
          <p:nvPr/>
        </p:nvPicPr>
        <p:blipFill>
          <a:blip r:embed="rId6"/>
          <a:stretch>
            <a:fillRect/>
          </a:stretch>
        </p:blipFill>
        <p:spPr>
          <a:xfrm>
            <a:off x="3313885" y="3582892"/>
            <a:ext cx="3813584" cy="346690"/>
          </a:xfrm>
          <a:prstGeom prst="rect">
            <a:avLst/>
          </a:prstGeom>
        </p:spPr>
      </p:pic>
      <p:sp>
        <p:nvSpPr>
          <p:cNvPr id="38" name="Text Box 40"/>
          <p:cNvSpPr txBox="1">
            <a:spLocks noChangeArrowheads="1"/>
          </p:cNvSpPr>
          <p:nvPr/>
        </p:nvSpPr>
        <p:spPr bwMode="auto">
          <a:xfrm>
            <a:off x="2280061" y="4066504"/>
            <a:ext cx="607438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因此，最终的结果是</a:t>
            </a:r>
          </a:p>
        </p:txBody>
      </p:sp>
      <p:grpSp>
        <p:nvGrpSpPr>
          <p:cNvPr id="39" name="组合 38"/>
          <p:cNvGrpSpPr/>
          <p:nvPr/>
        </p:nvGrpSpPr>
        <p:grpSpPr>
          <a:xfrm>
            <a:off x="2371369" y="4756774"/>
            <a:ext cx="4864113" cy="832466"/>
            <a:chOff x="2045307" y="4756774"/>
            <a:chExt cx="4864113" cy="832466"/>
          </a:xfrm>
        </p:grpSpPr>
        <p:pic>
          <p:nvPicPr>
            <p:cNvPr id="40" name="图片 39"/>
            <p:cNvPicPr>
              <a:picLocks noChangeAspect="1"/>
            </p:cNvPicPr>
            <p:nvPr/>
          </p:nvPicPr>
          <p:blipFill>
            <a:blip r:embed="rId7"/>
            <a:stretch>
              <a:fillRect/>
            </a:stretch>
          </p:blipFill>
          <p:spPr>
            <a:xfrm>
              <a:off x="2045307" y="4794918"/>
              <a:ext cx="553021" cy="216024"/>
            </a:xfrm>
            <a:prstGeom prst="rect">
              <a:avLst/>
            </a:prstGeom>
          </p:spPr>
        </p:pic>
        <p:pic>
          <p:nvPicPr>
            <p:cNvPr id="41" name="图片 40"/>
            <p:cNvPicPr>
              <a:picLocks noChangeAspect="1"/>
            </p:cNvPicPr>
            <p:nvPr/>
          </p:nvPicPr>
          <p:blipFill>
            <a:blip r:embed="rId8"/>
            <a:stretch>
              <a:fillRect/>
            </a:stretch>
          </p:blipFill>
          <p:spPr>
            <a:xfrm>
              <a:off x="2761982" y="4756774"/>
              <a:ext cx="3813584" cy="349336"/>
            </a:xfrm>
            <a:prstGeom prst="rect">
              <a:avLst/>
            </a:prstGeom>
          </p:spPr>
        </p:pic>
        <p:pic>
          <p:nvPicPr>
            <p:cNvPr id="42" name="图片 41"/>
            <p:cNvPicPr>
              <a:picLocks noChangeAspect="1"/>
            </p:cNvPicPr>
            <p:nvPr/>
          </p:nvPicPr>
          <p:blipFill>
            <a:blip r:embed="rId6"/>
            <a:stretch>
              <a:fillRect/>
            </a:stretch>
          </p:blipFill>
          <p:spPr>
            <a:xfrm>
              <a:off x="2761982" y="5242550"/>
              <a:ext cx="3813584" cy="346690"/>
            </a:xfrm>
            <a:prstGeom prst="rect">
              <a:avLst/>
            </a:prstGeom>
          </p:spPr>
        </p:pic>
        <p:pic>
          <p:nvPicPr>
            <p:cNvPr id="43" name="图片 42"/>
            <p:cNvPicPr>
              <a:picLocks noChangeAspect="1"/>
            </p:cNvPicPr>
            <p:nvPr/>
          </p:nvPicPr>
          <p:blipFill>
            <a:blip r:embed="rId9"/>
            <a:stretch>
              <a:fillRect/>
            </a:stretch>
          </p:blipFill>
          <p:spPr>
            <a:xfrm>
              <a:off x="6693396" y="4805475"/>
              <a:ext cx="216024" cy="216024"/>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106</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2" name="组合 1"/>
          <p:cNvGrpSpPr/>
          <p:nvPr/>
        </p:nvGrpSpPr>
        <p:grpSpPr>
          <a:xfrm>
            <a:off x="1295400" y="1340769"/>
            <a:ext cx="4724400"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a:t>
              </a:r>
              <a:r>
                <a:rPr lang="en-US" altLang="zh-CN" sz="2400" dirty="0">
                  <a:solidFill>
                    <a:srgbClr val="000000"/>
                  </a:solidFill>
                  <a:ea typeface="宋体" panose="02010600030101010101" pitchFamily="2" charset="-122"/>
                  <a:cs typeface="Times New Roman" panose="02020603050405020304" pitchFamily="18" charset="0"/>
                </a:rPr>
                <a:t>1</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11"/>
            <a:stretch>
              <a:fillRect/>
            </a:stretch>
          </p:blipFill>
          <p:spPr>
            <a:xfrm>
              <a:off x="4283136" y="1453009"/>
              <a:ext cx="256158" cy="237183"/>
            </a:xfrm>
            <a:prstGeom prst="rect">
              <a:avLst/>
            </a:prstGeom>
          </p:spPr>
        </p:pic>
      </p:grpSp>
      <p:sp>
        <p:nvSpPr>
          <p:cNvPr id="21" name="Text Box 40"/>
          <p:cNvSpPr txBox="1">
            <a:spLocks noChangeArrowheads="1"/>
          </p:cNvSpPr>
          <p:nvPr/>
        </p:nvSpPr>
        <p:spPr bwMode="auto">
          <a:xfrm>
            <a:off x="1723433"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2" name="图片 21"/>
          <p:cNvPicPr>
            <a:picLocks noChangeAspect="1"/>
          </p:cNvPicPr>
          <p:nvPr/>
        </p:nvPicPr>
        <p:blipFill>
          <a:blip r:embed="rId12"/>
          <a:stretch>
            <a:fillRect/>
          </a:stretch>
        </p:blipFill>
        <p:spPr>
          <a:xfrm>
            <a:off x="1524000" y="1989469"/>
            <a:ext cx="7236296" cy="332703"/>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25" name="组合 24"/>
          <p:cNvGrpSpPr/>
          <p:nvPr/>
        </p:nvGrpSpPr>
        <p:grpSpPr>
          <a:xfrm>
            <a:off x="1295400" y="1340769"/>
            <a:ext cx="4724400" cy="461665"/>
            <a:chOff x="1295400" y="1340769"/>
            <a:chExt cx="4209991" cy="461665"/>
          </a:xfrm>
        </p:grpSpPr>
        <p:sp>
          <p:nvSpPr>
            <p:cNvPr id="27"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a:t>
              </a:r>
              <a:r>
                <a:rPr lang="en-US" altLang="zh-CN" sz="2400" dirty="0">
                  <a:solidFill>
                    <a:srgbClr val="000000"/>
                  </a:solidFill>
                  <a:ea typeface="宋体" panose="02010600030101010101" pitchFamily="2" charset="-122"/>
                  <a:cs typeface="Times New Roman" panose="02020603050405020304" pitchFamily="18" charset="0"/>
                </a:rPr>
                <a:t>1</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8"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38" name="图片 37"/>
            <p:cNvPicPr>
              <a:picLocks noChangeAspect="1"/>
            </p:cNvPicPr>
            <p:nvPr/>
          </p:nvPicPr>
          <p:blipFill>
            <a:blip r:embed="rId2"/>
            <a:stretch>
              <a:fillRect/>
            </a:stretch>
          </p:blipFill>
          <p:spPr>
            <a:xfrm>
              <a:off x="4283136" y="1453009"/>
              <a:ext cx="256158" cy="237183"/>
            </a:xfrm>
            <a:prstGeom prst="rect">
              <a:avLst/>
            </a:prstGeom>
          </p:spPr>
        </p:pic>
      </p:grpSp>
      <p:sp>
        <p:nvSpPr>
          <p:cNvPr id="39" name="Text Box 40"/>
          <p:cNvSpPr txBox="1">
            <a:spLocks noChangeArrowheads="1"/>
          </p:cNvSpPr>
          <p:nvPr/>
        </p:nvSpPr>
        <p:spPr bwMode="auto">
          <a:xfrm>
            <a:off x="1723433"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40" name="图片 39"/>
          <p:cNvPicPr>
            <a:picLocks noChangeAspect="1"/>
          </p:cNvPicPr>
          <p:nvPr/>
        </p:nvPicPr>
        <p:blipFill>
          <a:blip r:embed="rId3"/>
          <a:stretch>
            <a:fillRect/>
          </a:stretch>
        </p:blipFill>
        <p:spPr>
          <a:xfrm>
            <a:off x="1524000" y="1989469"/>
            <a:ext cx="7236296" cy="332703"/>
          </a:xfrm>
          <a:prstGeom prst="rect">
            <a:avLst/>
          </a:prstGeom>
        </p:spPr>
      </p:pic>
      <p:sp>
        <p:nvSpPr>
          <p:cNvPr id="41" name="Text Box 40"/>
          <p:cNvSpPr txBox="1">
            <a:spLocks noChangeArrowheads="1"/>
          </p:cNvSpPr>
          <p:nvPr/>
        </p:nvSpPr>
        <p:spPr bwMode="auto">
          <a:xfrm>
            <a:off x="685800" y="2996953"/>
            <a:ext cx="735637"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解：</a:t>
            </a:r>
          </a:p>
        </p:txBody>
      </p:sp>
      <p:grpSp>
        <p:nvGrpSpPr>
          <p:cNvPr id="42" name="组合 41"/>
          <p:cNvGrpSpPr/>
          <p:nvPr/>
        </p:nvGrpSpPr>
        <p:grpSpPr>
          <a:xfrm>
            <a:off x="1222003" y="2994159"/>
            <a:ext cx="7126320" cy="1503935"/>
            <a:chOff x="1276942" y="2994158"/>
            <a:chExt cx="7126320" cy="1503935"/>
          </a:xfrm>
        </p:grpSpPr>
        <p:sp>
          <p:nvSpPr>
            <p:cNvPr id="43" name="Text Box 40"/>
            <p:cNvSpPr txBox="1">
              <a:spLocks noChangeArrowheads="1"/>
            </p:cNvSpPr>
            <p:nvPr/>
          </p:nvSpPr>
          <p:spPr bwMode="auto">
            <a:xfrm>
              <a:off x="1294752" y="2994158"/>
              <a:ext cx="7108510"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这道题看似无从下手。技巧是把字符串分成两部分，</a:t>
              </a:r>
            </a:p>
          </p:txBody>
        </p:sp>
        <p:sp>
          <p:nvSpPr>
            <p:cNvPr id="44" name="Text Box 40"/>
            <p:cNvSpPr txBox="1">
              <a:spLocks noChangeArrowheads="1"/>
            </p:cNvSpPr>
            <p:nvPr/>
          </p:nvSpPr>
          <p:spPr bwMode="auto">
            <a:xfrm>
              <a:off x="1294752" y="3516690"/>
              <a:ext cx="7108510"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左部允许</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相邻但不允许</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相邻，右部允许</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相邻但不</a:t>
              </a:r>
            </a:p>
          </p:txBody>
        </p:sp>
        <p:sp>
          <p:nvSpPr>
            <p:cNvPr id="45" name="Text Box 40"/>
            <p:cNvSpPr txBox="1">
              <a:spLocks noChangeArrowheads="1"/>
            </p:cNvSpPr>
            <p:nvPr/>
          </p:nvSpPr>
          <p:spPr bwMode="auto">
            <a:xfrm>
              <a:off x="1276942" y="4036428"/>
              <a:ext cx="7108510"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允许</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相邻，这样自然就实现了。</a:t>
              </a:r>
            </a:p>
          </p:txBody>
        </p:sp>
      </p:grpSp>
      <p:pic>
        <p:nvPicPr>
          <p:cNvPr id="46" name="图片 45"/>
          <p:cNvPicPr>
            <a:picLocks noChangeAspect="1"/>
          </p:cNvPicPr>
          <p:nvPr/>
        </p:nvPicPr>
        <p:blipFill>
          <a:blip r:embed="rId4"/>
          <a:stretch>
            <a:fillRect/>
          </a:stretch>
        </p:blipFill>
        <p:spPr>
          <a:xfrm>
            <a:off x="4175867" y="5155638"/>
            <a:ext cx="1336278" cy="336406"/>
          </a:xfrm>
          <a:prstGeom prst="rect">
            <a:avLst/>
          </a:prstGeom>
        </p:spPr>
      </p:pic>
      <p:sp>
        <p:nvSpPr>
          <p:cNvPr id="47" name="Text Box 40"/>
          <p:cNvSpPr txBox="1">
            <a:spLocks noChangeArrowheads="1"/>
          </p:cNvSpPr>
          <p:nvPr/>
        </p:nvSpPr>
        <p:spPr bwMode="auto">
          <a:xfrm>
            <a:off x="1222003" y="5492045"/>
            <a:ext cx="7108510"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但是没有考虑以</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结尾的情况，因此可以写成</a:t>
            </a:r>
          </a:p>
        </p:txBody>
      </p:sp>
      <p:pic>
        <p:nvPicPr>
          <p:cNvPr id="48" name="图片 47"/>
          <p:cNvPicPr>
            <a:picLocks noChangeAspect="1"/>
          </p:cNvPicPr>
          <p:nvPr/>
        </p:nvPicPr>
        <p:blipFill>
          <a:blip r:embed="rId5"/>
          <a:stretch>
            <a:fillRect/>
          </a:stretch>
        </p:blipFill>
        <p:spPr>
          <a:xfrm>
            <a:off x="3580957" y="6083016"/>
            <a:ext cx="2422888" cy="347506"/>
          </a:xfrm>
          <a:prstGeom prst="rect">
            <a:avLst/>
          </a:prstGeom>
        </p:spPr>
      </p:pic>
      <p:sp>
        <p:nvSpPr>
          <p:cNvPr id="49" name="Text Box 40"/>
          <p:cNvSpPr txBox="1">
            <a:spLocks noChangeArrowheads="1"/>
          </p:cNvSpPr>
          <p:nvPr/>
        </p:nvSpPr>
        <p:spPr bwMode="auto">
          <a:xfrm>
            <a:off x="1739231" y="4564667"/>
            <a:ext cx="7108510"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首先看允许</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相邻但不允许</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相邻，直接的写法是</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9"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25" name="组合 24"/>
          <p:cNvGrpSpPr/>
          <p:nvPr/>
        </p:nvGrpSpPr>
        <p:grpSpPr>
          <a:xfrm>
            <a:off x="1295400" y="1340769"/>
            <a:ext cx="4724400" cy="461665"/>
            <a:chOff x="1295400" y="1340769"/>
            <a:chExt cx="4209991" cy="461665"/>
          </a:xfrm>
        </p:grpSpPr>
        <p:sp>
          <p:nvSpPr>
            <p:cNvPr id="27"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a:t>
              </a:r>
              <a:r>
                <a:rPr lang="en-US" altLang="zh-CN" sz="2400" dirty="0">
                  <a:solidFill>
                    <a:srgbClr val="000000"/>
                  </a:solidFill>
                  <a:ea typeface="宋体" panose="02010600030101010101" pitchFamily="2" charset="-122"/>
                  <a:cs typeface="Times New Roman" panose="02020603050405020304" pitchFamily="18" charset="0"/>
                </a:rPr>
                <a:t>1</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8"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38" name="图片 37"/>
            <p:cNvPicPr>
              <a:picLocks noChangeAspect="1"/>
            </p:cNvPicPr>
            <p:nvPr/>
          </p:nvPicPr>
          <p:blipFill>
            <a:blip r:embed="rId2"/>
            <a:stretch>
              <a:fillRect/>
            </a:stretch>
          </p:blipFill>
          <p:spPr>
            <a:xfrm>
              <a:off x="4283136" y="1453009"/>
              <a:ext cx="256158" cy="237183"/>
            </a:xfrm>
            <a:prstGeom prst="rect">
              <a:avLst/>
            </a:prstGeom>
          </p:spPr>
        </p:pic>
      </p:grpSp>
      <p:sp>
        <p:nvSpPr>
          <p:cNvPr id="39" name="Text Box 40"/>
          <p:cNvSpPr txBox="1">
            <a:spLocks noChangeArrowheads="1"/>
          </p:cNvSpPr>
          <p:nvPr/>
        </p:nvSpPr>
        <p:spPr bwMode="auto">
          <a:xfrm>
            <a:off x="1723433"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40" name="图片 39"/>
          <p:cNvPicPr>
            <a:picLocks noChangeAspect="1"/>
          </p:cNvPicPr>
          <p:nvPr/>
        </p:nvPicPr>
        <p:blipFill>
          <a:blip r:embed="rId3"/>
          <a:stretch>
            <a:fillRect/>
          </a:stretch>
        </p:blipFill>
        <p:spPr>
          <a:xfrm>
            <a:off x="1524000" y="1989469"/>
            <a:ext cx="7236296" cy="332703"/>
          </a:xfrm>
          <a:prstGeom prst="rect">
            <a:avLst/>
          </a:prstGeom>
        </p:spPr>
      </p:pic>
      <p:sp>
        <p:nvSpPr>
          <p:cNvPr id="41" name="Text Box 40"/>
          <p:cNvSpPr txBox="1">
            <a:spLocks noChangeArrowheads="1"/>
          </p:cNvSpPr>
          <p:nvPr/>
        </p:nvSpPr>
        <p:spPr bwMode="auto">
          <a:xfrm>
            <a:off x="685800" y="2996953"/>
            <a:ext cx="735637"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解：</a:t>
            </a:r>
          </a:p>
        </p:txBody>
      </p:sp>
      <p:sp>
        <p:nvSpPr>
          <p:cNvPr id="50" name="Text Box 40"/>
          <p:cNvSpPr txBox="1">
            <a:spLocks noChangeArrowheads="1"/>
          </p:cNvSpPr>
          <p:nvPr/>
        </p:nvSpPr>
        <p:spPr bwMode="auto">
          <a:xfrm>
            <a:off x="1349690" y="2994159"/>
            <a:ext cx="7108510"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再来看右部，允许</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相邻但不允许</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相邻</a:t>
            </a:r>
          </a:p>
        </p:txBody>
      </p:sp>
      <p:pic>
        <p:nvPicPr>
          <p:cNvPr id="51" name="图片 50"/>
          <p:cNvPicPr>
            <a:picLocks noChangeAspect="1"/>
          </p:cNvPicPr>
          <p:nvPr/>
        </p:nvPicPr>
        <p:blipFill>
          <a:blip r:embed="rId4"/>
          <a:stretch>
            <a:fillRect/>
          </a:stretch>
        </p:blipFill>
        <p:spPr>
          <a:xfrm>
            <a:off x="3490393" y="3643938"/>
            <a:ext cx="2273090" cy="326021"/>
          </a:xfrm>
          <a:prstGeom prst="rect">
            <a:avLst/>
          </a:prstGeom>
        </p:spPr>
      </p:pic>
      <p:sp>
        <p:nvSpPr>
          <p:cNvPr id="52" name="Text Box 40"/>
          <p:cNvSpPr txBox="1">
            <a:spLocks noChangeArrowheads="1"/>
          </p:cNvSpPr>
          <p:nvPr/>
        </p:nvSpPr>
        <p:spPr bwMode="auto">
          <a:xfrm>
            <a:off x="1349690" y="4150583"/>
            <a:ext cx="7108510"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把两部分拼接起来可得到：</a:t>
            </a:r>
          </a:p>
        </p:txBody>
      </p:sp>
      <p:pic>
        <p:nvPicPr>
          <p:cNvPr id="53" name="图片 52"/>
          <p:cNvPicPr>
            <a:picLocks noChangeAspect="1"/>
          </p:cNvPicPr>
          <p:nvPr/>
        </p:nvPicPr>
        <p:blipFill>
          <a:blip r:embed="rId5"/>
          <a:stretch>
            <a:fillRect/>
          </a:stretch>
        </p:blipFill>
        <p:spPr>
          <a:xfrm>
            <a:off x="2007192" y="4792871"/>
            <a:ext cx="5239493" cy="3218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2"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109</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2" name="组合 1"/>
          <p:cNvGrpSpPr/>
          <p:nvPr/>
        </p:nvGrpSpPr>
        <p:grpSpPr>
          <a:xfrm>
            <a:off x="1295400" y="1340769"/>
            <a:ext cx="4724400"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12</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11"/>
            <a:stretch>
              <a:fillRect/>
            </a:stretch>
          </p:blipFill>
          <p:spPr>
            <a:xfrm>
              <a:off x="4283136" y="1453009"/>
              <a:ext cx="256158" cy="237183"/>
            </a:xfrm>
            <a:prstGeom prst="rect">
              <a:avLst/>
            </a:prstGeom>
          </p:spPr>
        </p:pic>
      </p:grpSp>
      <p:pic>
        <p:nvPicPr>
          <p:cNvPr id="17" name="图片 16"/>
          <p:cNvPicPr>
            <a:picLocks noChangeAspect="1"/>
          </p:cNvPicPr>
          <p:nvPr/>
        </p:nvPicPr>
        <p:blipFill>
          <a:blip r:embed="rId12"/>
          <a:stretch>
            <a:fillRect/>
          </a:stretch>
        </p:blipFill>
        <p:spPr>
          <a:xfrm>
            <a:off x="1371600" y="1981200"/>
            <a:ext cx="7553047" cy="356276"/>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41" name="Text Box 40"/>
          <p:cNvSpPr txBox="1">
            <a:spLocks noChangeArrowheads="1"/>
          </p:cNvSpPr>
          <p:nvPr/>
        </p:nvSpPr>
        <p:spPr bwMode="auto">
          <a:xfrm>
            <a:off x="685800" y="2996953"/>
            <a:ext cx="735637"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解：</a:t>
            </a:r>
          </a:p>
        </p:txBody>
      </p:sp>
      <p:grpSp>
        <p:nvGrpSpPr>
          <p:cNvPr id="19" name="组合 18"/>
          <p:cNvGrpSpPr/>
          <p:nvPr/>
        </p:nvGrpSpPr>
        <p:grpSpPr>
          <a:xfrm>
            <a:off x="1295400" y="1340769"/>
            <a:ext cx="4724400" cy="461665"/>
            <a:chOff x="1295400" y="1340769"/>
            <a:chExt cx="4209991" cy="461665"/>
          </a:xfrm>
        </p:grpSpPr>
        <p:sp>
          <p:nvSpPr>
            <p:cNvPr id="20"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12</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1"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2" name="图片 21"/>
            <p:cNvPicPr>
              <a:picLocks noChangeAspect="1"/>
            </p:cNvPicPr>
            <p:nvPr/>
          </p:nvPicPr>
          <p:blipFill>
            <a:blip r:embed="rId2"/>
            <a:stretch>
              <a:fillRect/>
            </a:stretch>
          </p:blipFill>
          <p:spPr>
            <a:xfrm>
              <a:off x="4283136" y="1453009"/>
              <a:ext cx="256158" cy="237183"/>
            </a:xfrm>
            <a:prstGeom prst="rect">
              <a:avLst/>
            </a:prstGeom>
          </p:spPr>
        </p:pic>
      </p:grpSp>
      <p:pic>
        <p:nvPicPr>
          <p:cNvPr id="23" name="图片 22"/>
          <p:cNvPicPr>
            <a:picLocks noChangeAspect="1"/>
          </p:cNvPicPr>
          <p:nvPr/>
        </p:nvPicPr>
        <p:blipFill>
          <a:blip r:embed="rId3"/>
          <a:stretch>
            <a:fillRect/>
          </a:stretch>
        </p:blipFill>
        <p:spPr>
          <a:xfrm>
            <a:off x="1371600" y="1981200"/>
            <a:ext cx="7553047" cy="356276"/>
          </a:xfrm>
          <a:prstGeom prst="rect">
            <a:avLst/>
          </a:prstGeom>
        </p:spPr>
      </p:pic>
      <p:grpSp>
        <p:nvGrpSpPr>
          <p:cNvPr id="24" name="组合 23"/>
          <p:cNvGrpSpPr/>
          <p:nvPr/>
        </p:nvGrpSpPr>
        <p:grpSpPr>
          <a:xfrm>
            <a:off x="1371600" y="3009851"/>
            <a:ext cx="7553047" cy="995635"/>
            <a:chOff x="1331639" y="2780928"/>
            <a:chExt cx="7553047" cy="995635"/>
          </a:xfrm>
        </p:grpSpPr>
        <p:sp>
          <p:nvSpPr>
            <p:cNvPr id="26" name="Text Box 40"/>
            <p:cNvSpPr txBox="1">
              <a:spLocks noChangeArrowheads="1"/>
            </p:cNvSpPr>
            <p:nvPr/>
          </p:nvSpPr>
          <p:spPr bwMode="auto">
            <a:xfrm>
              <a:off x="1331639" y="2780928"/>
              <a:ext cx="7553047"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一般而言正则表达式是没法处理回文的，但是这道题</a:t>
              </a:r>
            </a:p>
          </p:txBody>
        </p:sp>
        <p:sp>
          <p:nvSpPr>
            <p:cNvPr id="29" name="Text Box 40"/>
            <p:cNvSpPr txBox="1">
              <a:spLocks noChangeArrowheads="1"/>
            </p:cNvSpPr>
            <p:nvPr/>
          </p:nvSpPr>
          <p:spPr bwMode="auto">
            <a:xfrm>
              <a:off x="1331639" y="3314898"/>
              <a:ext cx="7553047"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中的回文长度受限，因此是可以全枚举的：</a:t>
              </a:r>
            </a:p>
          </p:txBody>
        </p:sp>
      </p:grpSp>
      <p:pic>
        <p:nvPicPr>
          <p:cNvPr id="30" name="图片 29"/>
          <p:cNvPicPr>
            <a:picLocks noChangeAspect="1"/>
          </p:cNvPicPr>
          <p:nvPr/>
        </p:nvPicPr>
        <p:blipFill>
          <a:blip r:embed="rId4"/>
          <a:stretch>
            <a:fillRect/>
          </a:stretch>
        </p:blipFill>
        <p:spPr>
          <a:xfrm>
            <a:off x="1936838" y="4233986"/>
            <a:ext cx="5718076" cy="33801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111</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2" name="组合 1"/>
          <p:cNvGrpSpPr/>
          <p:nvPr/>
        </p:nvGrpSpPr>
        <p:grpSpPr>
          <a:xfrm>
            <a:off x="1295400" y="1340769"/>
            <a:ext cx="4724400"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a:t>
              </a:r>
              <a:r>
                <a:rPr lang="en-US" altLang="zh-CN" sz="2400" dirty="0">
                  <a:solidFill>
                    <a:srgbClr val="000000"/>
                  </a:solidFill>
                  <a:ea typeface="宋体" panose="02010600030101010101" pitchFamily="2" charset="-122"/>
                  <a:cs typeface="Times New Roman" panose="02020603050405020304" pitchFamily="18" charset="0"/>
                </a:rPr>
                <a:t>3</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11"/>
            <a:stretch>
              <a:fillRect/>
            </a:stretch>
          </p:blipFill>
          <p:spPr>
            <a:xfrm>
              <a:off x="4283136" y="1453009"/>
              <a:ext cx="256158" cy="237183"/>
            </a:xfrm>
            <a:prstGeom prst="rect">
              <a:avLst/>
            </a:prstGeom>
          </p:spPr>
        </p:pic>
      </p:grpSp>
      <p:pic>
        <p:nvPicPr>
          <p:cNvPr id="16" name="图片 15"/>
          <p:cNvPicPr>
            <a:picLocks noChangeAspect="1"/>
          </p:cNvPicPr>
          <p:nvPr/>
        </p:nvPicPr>
        <p:blipFill>
          <a:blip r:embed="rId12"/>
          <a:stretch>
            <a:fillRect/>
          </a:stretch>
        </p:blipFill>
        <p:spPr>
          <a:xfrm>
            <a:off x="1772124" y="1988646"/>
            <a:ext cx="6609876" cy="331322"/>
          </a:xfrm>
          <a:prstGeom prst="rect">
            <a:avLst/>
          </a:prstGeom>
        </p:spPr>
      </p:pic>
      <p:sp>
        <p:nvSpPr>
          <p:cNvPr id="19" name="Text Box 40"/>
          <p:cNvSpPr txBox="1">
            <a:spLocks noChangeArrowheads="1"/>
          </p:cNvSpPr>
          <p:nvPr/>
        </p:nvSpPr>
        <p:spPr bwMode="auto">
          <a:xfrm>
            <a:off x="2010462"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15" name="组合 14"/>
          <p:cNvGrpSpPr/>
          <p:nvPr/>
        </p:nvGrpSpPr>
        <p:grpSpPr>
          <a:xfrm>
            <a:off x="1295400" y="1340769"/>
            <a:ext cx="4724400" cy="461665"/>
            <a:chOff x="1295400" y="1340769"/>
            <a:chExt cx="4209991" cy="461665"/>
          </a:xfrm>
        </p:grpSpPr>
        <p:sp>
          <p:nvSpPr>
            <p:cNvPr id="16"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a:t>
              </a:r>
              <a:r>
                <a:rPr lang="en-US" altLang="zh-CN" sz="2400" dirty="0">
                  <a:solidFill>
                    <a:srgbClr val="000000"/>
                  </a:solidFill>
                  <a:ea typeface="宋体" panose="02010600030101010101" pitchFamily="2" charset="-122"/>
                  <a:cs typeface="Times New Roman" panose="02020603050405020304" pitchFamily="18" charset="0"/>
                </a:rPr>
                <a:t>3</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17"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18" name="图片 17"/>
            <p:cNvPicPr>
              <a:picLocks noChangeAspect="1"/>
            </p:cNvPicPr>
            <p:nvPr/>
          </p:nvPicPr>
          <p:blipFill>
            <a:blip r:embed="rId2"/>
            <a:stretch>
              <a:fillRect/>
            </a:stretch>
          </p:blipFill>
          <p:spPr>
            <a:xfrm>
              <a:off x="4283136" y="1453009"/>
              <a:ext cx="256158" cy="237183"/>
            </a:xfrm>
            <a:prstGeom prst="rect">
              <a:avLst/>
            </a:prstGeom>
          </p:spPr>
        </p:pic>
      </p:grpSp>
      <p:pic>
        <p:nvPicPr>
          <p:cNvPr id="25" name="图片 24"/>
          <p:cNvPicPr>
            <a:picLocks noChangeAspect="1"/>
          </p:cNvPicPr>
          <p:nvPr/>
        </p:nvPicPr>
        <p:blipFill>
          <a:blip r:embed="rId3"/>
          <a:stretch>
            <a:fillRect/>
          </a:stretch>
        </p:blipFill>
        <p:spPr>
          <a:xfrm>
            <a:off x="1772124" y="1988646"/>
            <a:ext cx="6609876" cy="331322"/>
          </a:xfrm>
          <a:prstGeom prst="rect">
            <a:avLst/>
          </a:prstGeom>
        </p:spPr>
      </p:pic>
      <p:sp>
        <p:nvSpPr>
          <p:cNvPr id="27" name="Text Box 40"/>
          <p:cNvSpPr txBox="1">
            <a:spLocks noChangeArrowheads="1"/>
          </p:cNvSpPr>
          <p:nvPr/>
        </p:nvSpPr>
        <p:spPr bwMode="auto">
          <a:xfrm>
            <a:off x="2010462"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sp>
        <p:nvSpPr>
          <p:cNvPr id="28" name="Text Box 40"/>
          <p:cNvSpPr txBox="1">
            <a:spLocks noChangeArrowheads="1"/>
          </p:cNvSpPr>
          <p:nvPr/>
        </p:nvSpPr>
        <p:spPr bwMode="auto">
          <a:xfrm>
            <a:off x="381000" y="3429002"/>
            <a:ext cx="735637"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解：</a:t>
            </a:r>
          </a:p>
        </p:txBody>
      </p:sp>
      <p:grpSp>
        <p:nvGrpSpPr>
          <p:cNvPr id="31" name="组合 30"/>
          <p:cNvGrpSpPr/>
          <p:nvPr/>
        </p:nvGrpSpPr>
        <p:grpSpPr>
          <a:xfrm>
            <a:off x="979331" y="3429000"/>
            <a:ext cx="7625418" cy="956312"/>
            <a:chOff x="1339070" y="2954465"/>
            <a:chExt cx="7625418" cy="956312"/>
          </a:xfrm>
        </p:grpSpPr>
        <p:sp>
          <p:nvSpPr>
            <p:cNvPr id="32" name="Text Box 40"/>
            <p:cNvSpPr txBox="1">
              <a:spLocks noChangeArrowheads="1"/>
            </p:cNvSpPr>
            <p:nvPr/>
          </p:nvSpPr>
          <p:spPr bwMode="auto">
            <a:xfrm>
              <a:off x="1339070" y="2954465"/>
              <a:ext cx="7625418" cy="82994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这道题实际上和</a:t>
              </a:r>
              <a:r>
                <a:rPr lang="zh-CN" altLang="en-US" sz="2400" dirty="0">
                  <a:solidFill>
                    <a:srgbClr val="000000"/>
                  </a:solidFill>
                  <a:ea typeface="宋体" panose="02010600030101010101" pitchFamily="2" charset="-122"/>
                  <a:cs typeface="Times New Roman" panose="02020603050405020304" pitchFamily="18" charset="0"/>
                </a:rPr>
                <a:t>前面介绍的例题（</a:t>
              </a:r>
              <a:r>
                <a:rPr lang="en-US" altLang="zh-CN" sz="2400" dirty="0">
                  <a:solidFill>
                    <a:srgbClr val="000000"/>
                  </a:solidFill>
                  <a:ea typeface="宋体" panose="02010600030101010101" pitchFamily="2" charset="-122"/>
                  <a:cs typeface="Times New Roman" panose="02020603050405020304" pitchFamily="18" charset="0"/>
                </a:rPr>
                <a:t>0</a:t>
              </a:r>
              <a:r>
                <a:rPr lang="zh-CN" altLang="en-US" sz="2400" dirty="0">
                  <a:solidFill>
                    <a:srgbClr val="000000"/>
                  </a:solidFill>
                  <a:ea typeface="宋体" panose="02010600030101010101" pitchFamily="2" charset="-122"/>
                  <a:cs typeface="Times New Roman" panose="02020603050405020304" pitchFamily="18" charset="0"/>
                </a:rPr>
                <a:t>和</a:t>
              </a:r>
              <a:r>
                <a:rPr lang="en-US" altLang="zh-CN" sz="2400" dirty="0">
                  <a:solidFill>
                    <a:srgbClr val="000000"/>
                  </a:solidFill>
                  <a:ea typeface="宋体" panose="02010600030101010101" pitchFamily="2" charset="-122"/>
                  <a:cs typeface="Times New Roman" panose="02020603050405020304" pitchFamily="18" charset="0"/>
                </a:rPr>
                <a:t>1</a:t>
              </a:r>
              <a:r>
                <a:rPr lang="zh-CN" altLang="en-US" sz="2400" dirty="0">
                  <a:solidFill>
                    <a:srgbClr val="000000"/>
                  </a:solidFill>
                  <a:ea typeface="宋体" panose="02010600030101010101" pitchFamily="2" charset="-122"/>
                  <a:cs typeface="Times New Roman" panose="02020603050405020304" pitchFamily="18" charset="0"/>
                </a:rPr>
                <a:t>交替出现）是</a:t>
              </a:r>
              <a:r>
                <a:rPr lang="zh-CN" altLang="en-US" sz="2400" b="0" i="0" dirty="0">
                  <a:solidFill>
                    <a:srgbClr val="000000"/>
                  </a:solidFill>
                  <a:ea typeface="宋体" panose="02010600030101010101" pitchFamily="2" charset="-122"/>
                  <a:cs typeface="Times New Roman" panose="02020603050405020304" pitchFamily="18" charset="0"/>
                </a:rPr>
                <a:t>等价的。要注意同一问题的不同表述。</a:t>
              </a:r>
            </a:p>
          </p:txBody>
        </p:sp>
        <p:sp>
          <p:nvSpPr>
            <p:cNvPr id="33" name="Text Box 40"/>
            <p:cNvSpPr txBox="1">
              <a:spLocks noChangeArrowheads="1"/>
            </p:cNvSpPr>
            <p:nvPr/>
          </p:nvSpPr>
          <p:spPr bwMode="auto">
            <a:xfrm>
              <a:off x="1339070" y="3449112"/>
              <a:ext cx="7625418" cy="461665"/>
            </a:xfrm>
            <a:prstGeom prst="rect">
              <a:avLst/>
            </a:prstGeom>
            <a:noFill/>
            <a:ln w="9525">
              <a:noFill/>
              <a:miter lim="800000"/>
            </a:ln>
          </p:spPr>
          <p:txBody>
            <a:bodyPr wrap="square">
              <a:spAutoFit/>
            </a:bodyPr>
            <a:lstStyle/>
            <a:p>
              <a:endParaRPr lang="zh-CN" altLang="en-US" sz="2400" b="0" i="0" dirty="0">
                <a:solidFill>
                  <a:srgbClr val="000000"/>
                </a:solidFill>
                <a:ea typeface="宋体" panose="02010600030101010101" pitchFamily="2" charset="-122"/>
                <a:cs typeface="Times New Roman" panose="02020603050405020304" pitchFamily="18" charset="0"/>
              </a:endParaRPr>
            </a:p>
          </p:txBody>
        </p:sp>
      </p:grpSp>
      <p:pic>
        <p:nvPicPr>
          <p:cNvPr id="34" name="图片 33"/>
          <p:cNvPicPr>
            <a:picLocks noChangeAspect="1"/>
          </p:cNvPicPr>
          <p:nvPr/>
        </p:nvPicPr>
        <p:blipFill>
          <a:blip r:embed="rId4"/>
          <a:stretch>
            <a:fillRect/>
          </a:stretch>
        </p:blipFill>
        <p:spPr>
          <a:xfrm>
            <a:off x="2628085" y="4525162"/>
            <a:ext cx="3514328" cy="34009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113</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2" name="组合 1"/>
          <p:cNvGrpSpPr/>
          <p:nvPr/>
        </p:nvGrpSpPr>
        <p:grpSpPr>
          <a:xfrm>
            <a:off x="1295400" y="1340769"/>
            <a:ext cx="4724400"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14</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11"/>
            <a:stretch>
              <a:fillRect/>
            </a:stretch>
          </p:blipFill>
          <p:spPr>
            <a:xfrm>
              <a:off x="4283136" y="1453009"/>
              <a:ext cx="256158" cy="237183"/>
            </a:xfrm>
            <a:prstGeom prst="rect">
              <a:avLst/>
            </a:prstGeom>
          </p:spPr>
        </p:pic>
      </p:grpSp>
      <p:sp>
        <p:nvSpPr>
          <p:cNvPr id="17" name="Text Box 40"/>
          <p:cNvSpPr txBox="1">
            <a:spLocks noChangeArrowheads="1"/>
          </p:cNvSpPr>
          <p:nvPr/>
        </p:nvSpPr>
        <p:spPr bwMode="auto">
          <a:xfrm>
            <a:off x="1828800"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1" name="图片 20"/>
          <p:cNvPicPr>
            <a:picLocks noChangeAspect="1"/>
          </p:cNvPicPr>
          <p:nvPr/>
        </p:nvPicPr>
        <p:blipFill>
          <a:blip r:embed="rId12"/>
          <a:stretch>
            <a:fillRect/>
          </a:stretch>
        </p:blipFill>
        <p:spPr>
          <a:xfrm>
            <a:off x="2033337" y="1946246"/>
            <a:ext cx="6354325" cy="360342"/>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19" name="组合 18"/>
          <p:cNvGrpSpPr/>
          <p:nvPr/>
        </p:nvGrpSpPr>
        <p:grpSpPr>
          <a:xfrm>
            <a:off x="1295400" y="1340769"/>
            <a:ext cx="4724400" cy="461665"/>
            <a:chOff x="1295400" y="1340769"/>
            <a:chExt cx="4209991" cy="461665"/>
          </a:xfrm>
        </p:grpSpPr>
        <p:sp>
          <p:nvSpPr>
            <p:cNvPr id="20"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14</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1"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2" name="图片 21"/>
            <p:cNvPicPr>
              <a:picLocks noChangeAspect="1"/>
            </p:cNvPicPr>
            <p:nvPr/>
          </p:nvPicPr>
          <p:blipFill>
            <a:blip r:embed="rId2"/>
            <a:stretch>
              <a:fillRect/>
            </a:stretch>
          </p:blipFill>
          <p:spPr>
            <a:xfrm>
              <a:off x="4283136" y="1453009"/>
              <a:ext cx="256158" cy="237183"/>
            </a:xfrm>
            <a:prstGeom prst="rect">
              <a:avLst/>
            </a:prstGeom>
          </p:spPr>
        </p:pic>
      </p:grpSp>
      <p:sp>
        <p:nvSpPr>
          <p:cNvPr id="23" name="Text Box 40"/>
          <p:cNvSpPr txBox="1">
            <a:spLocks noChangeArrowheads="1"/>
          </p:cNvSpPr>
          <p:nvPr/>
        </p:nvSpPr>
        <p:spPr bwMode="auto">
          <a:xfrm>
            <a:off x="1828800"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4" name="图片 23"/>
          <p:cNvPicPr>
            <a:picLocks noChangeAspect="1"/>
          </p:cNvPicPr>
          <p:nvPr/>
        </p:nvPicPr>
        <p:blipFill>
          <a:blip r:embed="rId3"/>
          <a:stretch>
            <a:fillRect/>
          </a:stretch>
        </p:blipFill>
        <p:spPr>
          <a:xfrm>
            <a:off x="2033337" y="1946246"/>
            <a:ext cx="6354325" cy="360342"/>
          </a:xfrm>
          <a:prstGeom prst="rect">
            <a:avLst/>
          </a:prstGeom>
        </p:spPr>
      </p:pic>
      <p:sp>
        <p:nvSpPr>
          <p:cNvPr id="26" name="Text Box 40"/>
          <p:cNvSpPr txBox="1">
            <a:spLocks noChangeArrowheads="1"/>
          </p:cNvSpPr>
          <p:nvPr/>
        </p:nvSpPr>
        <p:spPr bwMode="auto">
          <a:xfrm>
            <a:off x="1143000" y="2996953"/>
            <a:ext cx="735637"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解：</a:t>
            </a:r>
          </a:p>
        </p:txBody>
      </p:sp>
      <p:grpSp>
        <p:nvGrpSpPr>
          <p:cNvPr id="29" name="组合 28"/>
          <p:cNvGrpSpPr/>
          <p:nvPr/>
        </p:nvGrpSpPr>
        <p:grpSpPr>
          <a:xfrm>
            <a:off x="1853557" y="3078473"/>
            <a:ext cx="6534343" cy="767700"/>
            <a:chOff x="1451295" y="3078473"/>
            <a:chExt cx="6534343" cy="767700"/>
          </a:xfrm>
        </p:grpSpPr>
        <p:pic>
          <p:nvPicPr>
            <p:cNvPr id="30" name="图片 29"/>
            <p:cNvPicPr>
              <a:picLocks noChangeAspect="1"/>
            </p:cNvPicPr>
            <p:nvPr/>
          </p:nvPicPr>
          <p:blipFill>
            <a:blip r:embed="rId4"/>
            <a:stretch>
              <a:fillRect/>
            </a:stretch>
          </p:blipFill>
          <p:spPr>
            <a:xfrm>
              <a:off x="1490665" y="3078473"/>
              <a:ext cx="6494973" cy="286302"/>
            </a:xfrm>
            <a:prstGeom prst="rect">
              <a:avLst/>
            </a:prstGeom>
          </p:spPr>
        </p:pic>
        <p:pic>
          <p:nvPicPr>
            <p:cNvPr id="35" name="图片 34"/>
            <p:cNvPicPr>
              <a:picLocks noChangeAspect="1"/>
            </p:cNvPicPr>
            <p:nvPr/>
          </p:nvPicPr>
          <p:blipFill>
            <a:blip r:embed="rId5"/>
            <a:stretch>
              <a:fillRect/>
            </a:stretch>
          </p:blipFill>
          <p:spPr>
            <a:xfrm>
              <a:off x="1451295" y="3559871"/>
              <a:ext cx="1243370" cy="286302"/>
            </a:xfrm>
            <a:prstGeom prst="rect">
              <a:avLst/>
            </a:prstGeom>
          </p:spPr>
        </p:pic>
      </p:grpSp>
      <p:pic>
        <p:nvPicPr>
          <p:cNvPr id="36" name="图片 35"/>
          <p:cNvPicPr>
            <a:picLocks noChangeAspect="1"/>
          </p:cNvPicPr>
          <p:nvPr/>
        </p:nvPicPr>
        <p:blipFill>
          <a:blip r:embed="rId6"/>
          <a:stretch>
            <a:fillRect/>
          </a:stretch>
        </p:blipFill>
        <p:spPr>
          <a:xfrm>
            <a:off x="4436517" y="3913934"/>
            <a:ext cx="1407790" cy="307154"/>
          </a:xfrm>
          <a:prstGeom prst="rect">
            <a:avLst/>
          </a:prstGeom>
        </p:spPr>
      </p:pic>
      <p:pic>
        <p:nvPicPr>
          <p:cNvPr id="37" name="图片 36"/>
          <p:cNvPicPr>
            <a:picLocks noChangeAspect="1"/>
          </p:cNvPicPr>
          <p:nvPr/>
        </p:nvPicPr>
        <p:blipFill>
          <a:blip r:embed="rId7"/>
          <a:stretch>
            <a:fillRect/>
          </a:stretch>
        </p:blipFill>
        <p:spPr>
          <a:xfrm>
            <a:off x="2455952" y="4431288"/>
            <a:ext cx="3804222" cy="291991"/>
          </a:xfrm>
          <a:prstGeom prst="rect">
            <a:avLst/>
          </a:prstGeom>
        </p:spPr>
      </p:pic>
      <p:pic>
        <p:nvPicPr>
          <p:cNvPr id="38" name="图片 37"/>
          <p:cNvPicPr>
            <a:picLocks noChangeAspect="1"/>
          </p:cNvPicPr>
          <p:nvPr/>
        </p:nvPicPr>
        <p:blipFill>
          <a:blip r:embed="rId8"/>
          <a:stretch>
            <a:fillRect/>
          </a:stretch>
        </p:blipFill>
        <p:spPr>
          <a:xfrm>
            <a:off x="4358063" y="4964755"/>
            <a:ext cx="1670836" cy="291991"/>
          </a:xfrm>
          <a:prstGeom prst="rect">
            <a:avLst/>
          </a:prstGeom>
        </p:spPr>
      </p:pic>
      <p:pic>
        <p:nvPicPr>
          <p:cNvPr id="39" name="图片 38"/>
          <p:cNvPicPr>
            <a:picLocks noChangeAspect="1"/>
          </p:cNvPicPr>
          <p:nvPr/>
        </p:nvPicPr>
        <p:blipFill>
          <a:blip r:embed="rId9"/>
          <a:stretch>
            <a:fillRect/>
          </a:stretch>
        </p:blipFill>
        <p:spPr>
          <a:xfrm>
            <a:off x="2411279" y="5517233"/>
            <a:ext cx="3053391" cy="291991"/>
          </a:xfrm>
          <a:prstGeom prst="rect">
            <a:avLst/>
          </a:prstGeom>
        </p:spPr>
      </p:pic>
      <p:pic>
        <p:nvPicPr>
          <p:cNvPr id="40" name="图片 39"/>
          <p:cNvPicPr>
            <a:picLocks noChangeAspect="1"/>
          </p:cNvPicPr>
          <p:nvPr/>
        </p:nvPicPr>
        <p:blipFill>
          <a:blip r:embed="rId10"/>
          <a:stretch>
            <a:fillRect/>
          </a:stretch>
        </p:blipFill>
        <p:spPr>
          <a:xfrm>
            <a:off x="3887646" y="6029385"/>
            <a:ext cx="2505026" cy="30883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115</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2" name="组合 1"/>
          <p:cNvGrpSpPr/>
          <p:nvPr/>
        </p:nvGrpSpPr>
        <p:grpSpPr>
          <a:xfrm>
            <a:off x="1295400" y="1340769"/>
            <a:ext cx="4724400"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a:t>
              </a:r>
              <a:r>
                <a:rPr lang="en-US" altLang="zh-CN" sz="2400" dirty="0">
                  <a:solidFill>
                    <a:srgbClr val="000000"/>
                  </a:solidFill>
                  <a:ea typeface="宋体" panose="02010600030101010101" pitchFamily="2" charset="-122"/>
                  <a:cs typeface="Times New Roman" panose="02020603050405020304" pitchFamily="18" charset="0"/>
                </a:rPr>
                <a:t>5</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11"/>
            <a:stretch>
              <a:fillRect/>
            </a:stretch>
          </p:blipFill>
          <p:spPr>
            <a:xfrm>
              <a:off x="4283136" y="1453009"/>
              <a:ext cx="256158" cy="237183"/>
            </a:xfrm>
            <a:prstGeom prst="rect">
              <a:avLst/>
            </a:prstGeom>
          </p:spPr>
        </p:pic>
      </p:grpSp>
      <p:sp>
        <p:nvSpPr>
          <p:cNvPr id="19" name="Text Box 40"/>
          <p:cNvSpPr txBox="1">
            <a:spLocks noChangeArrowheads="1"/>
          </p:cNvSpPr>
          <p:nvPr/>
        </p:nvSpPr>
        <p:spPr bwMode="auto">
          <a:xfrm>
            <a:off x="2057400"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2" name="图片 21"/>
          <p:cNvPicPr>
            <a:picLocks noChangeAspect="1"/>
          </p:cNvPicPr>
          <p:nvPr/>
        </p:nvPicPr>
        <p:blipFill>
          <a:blip r:embed="rId12"/>
          <a:stretch>
            <a:fillRect/>
          </a:stretch>
        </p:blipFill>
        <p:spPr>
          <a:xfrm>
            <a:off x="2090019" y="1996902"/>
            <a:ext cx="6498404" cy="322950"/>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25" name="组合 24"/>
          <p:cNvGrpSpPr/>
          <p:nvPr/>
        </p:nvGrpSpPr>
        <p:grpSpPr>
          <a:xfrm>
            <a:off x="1295400" y="1340769"/>
            <a:ext cx="4724400" cy="461665"/>
            <a:chOff x="1295400" y="1340769"/>
            <a:chExt cx="4209991" cy="461665"/>
          </a:xfrm>
        </p:grpSpPr>
        <p:sp>
          <p:nvSpPr>
            <p:cNvPr id="27"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a:t>
              </a:r>
              <a:r>
                <a:rPr lang="en-US" altLang="zh-CN" sz="2400" dirty="0">
                  <a:solidFill>
                    <a:srgbClr val="000000"/>
                  </a:solidFill>
                  <a:ea typeface="宋体" panose="02010600030101010101" pitchFamily="2" charset="-122"/>
                  <a:cs typeface="Times New Roman" panose="02020603050405020304" pitchFamily="18" charset="0"/>
                </a:rPr>
                <a:t>5</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8"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31" name="图片 30"/>
            <p:cNvPicPr>
              <a:picLocks noChangeAspect="1"/>
            </p:cNvPicPr>
            <p:nvPr/>
          </p:nvPicPr>
          <p:blipFill>
            <a:blip r:embed="rId2"/>
            <a:stretch>
              <a:fillRect/>
            </a:stretch>
          </p:blipFill>
          <p:spPr>
            <a:xfrm>
              <a:off x="4283136" y="1453009"/>
              <a:ext cx="256158" cy="237183"/>
            </a:xfrm>
            <a:prstGeom prst="rect">
              <a:avLst/>
            </a:prstGeom>
          </p:spPr>
        </p:pic>
      </p:grpSp>
      <p:sp>
        <p:nvSpPr>
          <p:cNvPr id="32" name="Text Box 40"/>
          <p:cNvSpPr txBox="1">
            <a:spLocks noChangeArrowheads="1"/>
          </p:cNvSpPr>
          <p:nvPr/>
        </p:nvSpPr>
        <p:spPr bwMode="auto">
          <a:xfrm>
            <a:off x="2057400"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33" name="图片 32"/>
          <p:cNvPicPr>
            <a:picLocks noChangeAspect="1"/>
          </p:cNvPicPr>
          <p:nvPr/>
        </p:nvPicPr>
        <p:blipFill>
          <a:blip r:embed="rId3"/>
          <a:stretch>
            <a:fillRect/>
          </a:stretch>
        </p:blipFill>
        <p:spPr>
          <a:xfrm>
            <a:off x="2090019" y="1996902"/>
            <a:ext cx="6498404" cy="322950"/>
          </a:xfrm>
          <a:prstGeom prst="rect">
            <a:avLst/>
          </a:prstGeom>
        </p:spPr>
      </p:pic>
      <p:sp>
        <p:nvSpPr>
          <p:cNvPr id="34" name="Text Box 40"/>
          <p:cNvSpPr txBox="1">
            <a:spLocks noChangeArrowheads="1"/>
          </p:cNvSpPr>
          <p:nvPr/>
        </p:nvSpPr>
        <p:spPr bwMode="auto">
          <a:xfrm>
            <a:off x="1371600" y="2996953"/>
            <a:ext cx="735637"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解：</a:t>
            </a:r>
          </a:p>
        </p:txBody>
      </p:sp>
      <p:sp>
        <p:nvSpPr>
          <p:cNvPr id="41" name="Text Box 40"/>
          <p:cNvSpPr txBox="1">
            <a:spLocks noChangeArrowheads="1"/>
          </p:cNvSpPr>
          <p:nvPr/>
        </p:nvSpPr>
        <p:spPr bwMode="auto">
          <a:xfrm>
            <a:off x="1962501" y="2992560"/>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需要考虑两种情况。第一种情况是以</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结尾：</a:t>
            </a:r>
          </a:p>
        </p:txBody>
      </p:sp>
      <p:pic>
        <p:nvPicPr>
          <p:cNvPr id="42" name="图片 41"/>
          <p:cNvPicPr>
            <a:picLocks noChangeAspect="1"/>
          </p:cNvPicPr>
          <p:nvPr/>
        </p:nvPicPr>
        <p:blipFill>
          <a:blip r:embed="rId4"/>
          <a:stretch>
            <a:fillRect/>
          </a:stretch>
        </p:blipFill>
        <p:spPr>
          <a:xfrm>
            <a:off x="4513224" y="4607430"/>
            <a:ext cx="1235259" cy="306685"/>
          </a:xfrm>
          <a:prstGeom prst="rect">
            <a:avLst/>
          </a:prstGeom>
        </p:spPr>
      </p:pic>
      <p:sp>
        <p:nvSpPr>
          <p:cNvPr id="43" name="Text Box 40"/>
          <p:cNvSpPr txBox="1">
            <a:spLocks noChangeArrowheads="1"/>
          </p:cNvSpPr>
          <p:nvPr/>
        </p:nvSpPr>
        <p:spPr bwMode="auto">
          <a:xfrm>
            <a:off x="2591209" y="4004313"/>
            <a:ext cx="570799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第二种情况是以</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结尾：</a:t>
            </a:r>
          </a:p>
        </p:txBody>
      </p:sp>
      <p:pic>
        <p:nvPicPr>
          <p:cNvPr id="44" name="图片 43"/>
          <p:cNvPicPr>
            <a:picLocks noChangeAspect="1"/>
          </p:cNvPicPr>
          <p:nvPr/>
        </p:nvPicPr>
        <p:blipFill>
          <a:blip r:embed="rId5"/>
          <a:stretch>
            <a:fillRect/>
          </a:stretch>
        </p:blipFill>
        <p:spPr>
          <a:xfrm>
            <a:off x="4311579" y="3573017"/>
            <a:ext cx="1638548" cy="344957"/>
          </a:xfrm>
          <a:prstGeom prst="rect">
            <a:avLst/>
          </a:prstGeom>
        </p:spPr>
      </p:pic>
      <p:sp>
        <p:nvSpPr>
          <p:cNvPr id="45" name="Text Box 40"/>
          <p:cNvSpPr txBox="1">
            <a:spLocks noChangeArrowheads="1"/>
          </p:cNvSpPr>
          <p:nvPr/>
        </p:nvSpPr>
        <p:spPr bwMode="auto">
          <a:xfrm>
            <a:off x="2591209" y="5055568"/>
            <a:ext cx="34275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因此，最终结果是</a:t>
            </a:r>
          </a:p>
        </p:txBody>
      </p:sp>
      <p:pic>
        <p:nvPicPr>
          <p:cNvPr id="46" name="图片 45"/>
          <p:cNvPicPr>
            <a:picLocks noChangeAspect="1"/>
          </p:cNvPicPr>
          <p:nvPr/>
        </p:nvPicPr>
        <p:blipFill>
          <a:blip r:embed="rId6"/>
          <a:stretch>
            <a:fillRect/>
          </a:stretch>
        </p:blipFill>
        <p:spPr>
          <a:xfrm>
            <a:off x="3582085" y="5694017"/>
            <a:ext cx="3241552" cy="3394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3" grpId="0"/>
      <p:bldP spid="45"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117</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2" name="组合 1"/>
          <p:cNvGrpSpPr/>
          <p:nvPr/>
        </p:nvGrpSpPr>
        <p:grpSpPr>
          <a:xfrm>
            <a:off x="1295400" y="1340769"/>
            <a:ext cx="4724400"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16</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11"/>
            <a:stretch>
              <a:fillRect/>
            </a:stretch>
          </p:blipFill>
          <p:spPr>
            <a:xfrm>
              <a:off x="4283136" y="1453009"/>
              <a:ext cx="256158" cy="237183"/>
            </a:xfrm>
            <a:prstGeom prst="rect">
              <a:avLst/>
            </a:prstGeom>
          </p:spPr>
        </p:pic>
      </p:grpSp>
      <p:sp>
        <p:nvSpPr>
          <p:cNvPr id="23" name="Text Box 40"/>
          <p:cNvSpPr txBox="1">
            <a:spLocks noChangeArrowheads="1"/>
          </p:cNvSpPr>
          <p:nvPr/>
        </p:nvSpPr>
        <p:spPr bwMode="auto">
          <a:xfrm>
            <a:off x="2223356"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4" name="图片 23"/>
          <p:cNvPicPr>
            <a:picLocks noChangeAspect="1"/>
          </p:cNvPicPr>
          <p:nvPr/>
        </p:nvPicPr>
        <p:blipFill>
          <a:blip r:embed="rId12"/>
          <a:stretch>
            <a:fillRect/>
          </a:stretch>
        </p:blipFill>
        <p:spPr>
          <a:xfrm>
            <a:off x="2133600" y="1976236"/>
            <a:ext cx="6516216" cy="330353"/>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34" name="Text Box 40"/>
          <p:cNvSpPr txBox="1">
            <a:spLocks noChangeArrowheads="1"/>
          </p:cNvSpPr>
          <p:nvPr/>
        </p:nvSpPr>
        <p:spPr bwMode="auto">
          <a:xfrm>
            <a:off x="1371600" y="2996953"/>
            <a:ext cx="735637"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解：</a:t>
            </a:r>
          </a:p>
        </p:txBody>
      </p:sp>
      <p:grpSp>
        <p:nvGrpSpPr>
          <p:cNvPr id="17" name="组合 16"/>
          <p:cNvGrpSpPr/>
          <p:nvPr/>
        </p:nvGrpSpPr>
        <p:grpSpPr>
          <a:xfrm>
            <a:off x="1295400" y="1340769"/>
            <a:ext cx="4724400"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16</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19"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0" name="图片 19"/>
            <p:cNvPicPr>
              <a:picLocks noChangeAspect="1"/>
            </p:cNvPicPr>
            <p:nvPr/>
          </p:nvPicPr>
          <p:blipFill>
            <a:blip r:embed="rId2"/>
            <a:stretch>
              <a:fillRect/>
            </a:stretch>
          </p:blipFill>
          <p:spPr>
            <a:xfrm>
              <a:off x="4283136" y="1453009"/>
              <a:ext cx="256158" cy="237183"/>
            </a:xfrm>
            <a:prstGeom prst="rect">
              <a:avLst/>
            </a:prstGeom>
          </p:spPr>
        </p:pic>
      </p:grpSp>
      <p:sp>
        <p:nvSpPr>
          <p:cNvPr id="21" name="Text Box 40"/>
          <p:cNvSpPr txBox="1">
            <a:spLocks noChangeArrowheads="1"/>
          </p:cNvSpPr>
          <p:nvPr/>
        </p:nvSpPr>
        <p:spPr bwMode="auto">
          <a:xfrm>
            <a:off x="2223356"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2" name="图片 21"/>
          <p:cNvPicPr>
            <a:picLocks noChangeAspect="1"/>
          </p:cNvPicPr>
          <p:nvPr/>
        </p:nvPicPr>
        <p:blipFill>
          <a:blip r:embed="rId3"/>
          <a:stretch>
            <a:fillRect/>
          </a:stretch>
        </p:blipFill>
        <p:spPr>
          <a:xfrm>
            <a:off x="2133600" y="1976236"/>
            <a:ext cx="6516216" cy="330353"/>
          </a:xfrm>
          <a:prstGeom prst="rect">
            <a:avLst/>
          </a:prstGeom>
        </p:spPr>
      </p:pic>
      <p:pic>
        <p:nvPicPr>
          <p:cNvPr id="23" name="图片 22"/>
          <p:cNvPicPr>
            <a:picLocks noChangeAspect="1"/>
          </p:cNvPicPr>
          <p:nvPr/>
        </p:nvPicPr>
        <p:blipFill>
          <a:blip r:embed="rId4"/>
          <a:stretch>
            <a:fillRect/>
          </a:stretch>
        </p:blipFill>
        <p:spPr>
          <a:xfrm>
            <a:off x="2438400" y="3738871"/>
            <a:ext cx="2986633" cy="34035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119</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2" name="组合 1"/>
          <p:cNvGrpSpPr/>
          <p:nvPr/>
        </p:nvGrpSpPr>
        <p:grpSpPr>
          <a:xfrm>
            <a:off x="1295400" y="1340769"/>
            <a:ext cx="4724400"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a:t>
              </a:r>
              <a:r>
                <a:rPr lang="en-US" altLang="zh-CN" sz="2400" dirty="0">
                  <a:solidFill>
                    <a:srgbClr val="000000"/>
                  </a:solidFill>
                  <a:ea typeface="宋体" panose="02010600030101010101" pitchFamily="2" charset="-122"/>
                  <a:cs typeface="Times New Roman" panose="02020603050405020304" pitchFamily="18" charset="0"/>
                </a:rPr>
                <a:t>7</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11"/>
            <a:stretch>
              <a:fillRect/>
            </a:stretch>
          </p:blipFill>
          <p:spPr>
            <a:xfrm>
              <a:off x="4283136" y="1453009"/>
              <a:ext cx="256158" cy="237183"/>
            </a:xfrm>
            <a:prstGeom prst="rect">
              <a:avLst/>
            </a:prstGeom>
          </p:spPr>
        </p:pic>
      </p:grpSp>
      <p:sp>
        <p:nvSpPr>
          <p:cNvPr id="17" name="Text Box 40"/>
          <p:cNvSpPr txBox="1">
            <a:spLocks noChangeArrowheads="1"/>
          </p:cNvSpPr>
          <p:nvPr/>
        </p:nvSpPr>
        <p:spPr bwMode="auto">
          <a:xfrm>
            <a:off x="1994176"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19" name="图片 18"/>
          <p:cNvPicPr>
            <a:picLocks noChangeAspect="1"/>
          </p:cNvPicPr>
          <p:nvPr/>
        </p:nvPicPr>
        <p:blipFill>
          <a:blip r:embed="rId12"/>
          <a:stretch>
            <a:fillRect/>
          </a:stretch>
        </p:blipFill>
        <p:spPr>
          <a:xfrm>
            <a:off x="1676400" y="1972229"/>
            <a:ext cx="7176284" cy="347941"/>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17" name="组合 16"/>
          <p:cNvGrpSpPr/>
          <p:nvPr/>
        </p:nvGrpSpPr>
        <p:grpSpPr>
          <a:xfrm>
            <a:off x="1295400" y="1340769"/>
            <a:ext cx="4724400"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a:t>
              </a:r>
              <a:r>
                <a:rPr lang="en-US" altLang="zh-CN" sz="2400" dirty="0">
                  <a:solidFill>
                    <a:srgbClr val="000000"/>
                  </a:solidFill>
                  <a:ea typeface="宋体" panose="02010600030101010101" pitchFamily="2" charset="-122"/>
                  <a:cs typeface="Times New Roman" panose="02020603050405020304" pitchFamily="18" charset="0"/>
                </a:rPr>
                <a:t>7</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19"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0" name="图片 19"/>
            <p:cNvPicPr>
              <a:picLocks noChangeAspect="1"/>
            </p:cNvPicPr>
            <p:nvPr/>
          </p:nvPicPr>
          <p:blipFill>
            <a:blip r:embed="rId2"/>
            <a:stretch>
              <a:fillRect/>
            </a:stretch>
          </p:blipFill>
          <p:spPr>
            <a:xfrm>
              <a:off x="4283136" y="1453009"/>
              <a:ext cx="256158" cy="237183"/>
            </a:xfrm>
            <a:prstGeom prst="rect">
              <a:avLst/>
            </a:prstGeom>
          </p:spPr>
        </p:pic>
      </p:grpSp>
      <p:sp>
        <p:nvSpPr>
          <p:cNvPr id="12" name="Text Box 40"/>
          <p:cNvSpPr txBox="1">
            <a:spLocks noChangeArrowheads="1"/>
          </p:cNvSpPr>
          <p:nvPr/>
        </p:nvSpPr>
        <p:spPr bwMode="auto">
          <a:xfrm>
            <a:off x="990600" y="3202628"/>
            <a:ext cx="735637"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解：</a:t>
            </a:r>
          </a:p>
        </p:txBody>
      </p:sp>
      <p:sp>
        <p:nvSpPr>
          <p:cNvPr id="13" name="Text Box 40"/>
          <p:cNvSpPr txBox="1">
            <a:spLocks noChangeArrowheads="1"/>
          </p:cNvSpPr>
          <p:nvPr/>
        </p:nvSpPr>
        <p:spPr bwMode="auto">
          <a:xfrm>
            <a:off x="1509493" y="3199795"/>
            <a:ext cx="734481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对于并不是顺数或者倒数第几位的情况，需要加上</a:t>
            </a:r>
          </a:p>
        </p:txBody>
      </p:sp>
      <p:sp>
        <p:nvSpPr>
          <p:cNvPr id="15" name="Text Box 40"/>
          <p:cNvSpPr txBox="1">
            <a:spLocks noChangeArrowheads="1"/>
          </p:cNvSpPr>
          <p:nvPr/>
        </p:nvSpPr>
        <p:spPr bwMode="auto">
          <a:xfrm>
            <a:off x="1509493" y="3720364"/>
            <a:ext cx="734481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位置的偏移：</a:t>
            </a:r>
          </a:p>
        </p:txBody>
      </p:sp>
      <p:pic>
        <p:nvPicPr>
          <p:cNvPr id="16" name="图片 15"/>
          <p:cNvPicPr>
            <a:picLocks noChangeAspect="1"/>
          </p:cNvPicPr>
          <p:nvPr/>
        </p:nvPicPr>
        <p:blipFill>
          <a:blip r:embed="rId3"/>
          <a:stretch>
            <a:fillRect/>
          </a:stretch>
        </p:blipFill>
        <p:spPr>
          <a:xfrm>
            <a:off x="2583353" y="4354704"/>
            <a:ext cx="4824536" cy="369696"/>
          </a:xfrm>
          <a:prstGeom prst="rect">
            <a:avLst/>
          </a:prstGeom>
        </p:spPr>
      </p:pic>
      <p:sp>
        <p:nvSpPr>
          <p:cNvPr id="24" name="Text Box 40"/>
          <p:cNvSpPr txBox="1">
            <a:spLocks noChangeArrowheads="1"/>
          </p:cNvSpPr>
          <p:nvPr/>
        </p:nvSpPr>
        <p:spPr bwMode="auto">
          <a:xfrm>
            <a:off x="1994176"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5" name="图片 24"/>
          <p:cNvPicPr>
            <a:picLocks noChangeAspect="1"/>
          </p:cNvPicPr>
          <p:nvPr/>
        </p:nvPicPr>
        <p:blipFill>
          <a:blip r:embed="rId4"/>
          <a:stretch>
            <a:fillRect/>
          </a:stretch>
        </p:blipFill>
        <p:spPr>
          <a:xfrm>
            <a:off x="1676400" y="1972229"/>
            <a:ext cx="7176284" cy="34794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121</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2" name="组合 1"/>
          <p:cNvGrpSpPr/>
          <p:nvPr/>
        </p:nvGrpSpPr>
        <p:grpSpPr>
          <a:xfrm>
            <a:off x="1295400" y="1340769"/>
            <a:ext cx="4724400" cy="461665"/>
            <a:chOff x="1295400" y="1340769"/>
            <a:chExt cx="4209991" cy="461665"/>
          </a:xfrm>
        </p:grpSpPr>
        <p:sp>
          <p:nvSpPr>
            <p:cNvPr id="18"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18</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0"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11"/>
            <a:stretch>
              <a:fillRect/>
            </a:stretch>
          </p:blipFill>
          <p:spPr>
            <a:xfrm>
              <a:off x="4283136" y="1453009"/>
              <a:ext cx="256158" cy="237183"/>
            </a:xfrm>
            <a:prstGeom prst="rect">
              <a:avLst/>
            </a:prstGeom>
          </p:spPr>
        </p:pic>
      </p:grpSp>
      <p:sp>
        <p:nvSpPr>
          <p:cNvPr id="21" name="Text Box 40"/>
          <p:cNvSpPr txBox="1">
            <a:spLocks noChangeArrowheads="1"/>
          </p:cNvSpPr>
          <p:nvPr/>
        </p:nvSpPr>
        <p:spPr bwMode="auto">
          <a:xfrm>
            <a:off x="1981200"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2" name="图片 21"/>
          <p:cNvPicPr>
            <a:picLocks noChangeAspect="1"/>
          </p:cNvPicPr>
          <p:nvPr/>
        </p:nvPicPr>
        <p:blipFill>
          <a:blip r:embed="rId12"/>
          <a:stretch>
            <a:fillRect/>
          </a:stretch>
        </p:blipFill>
        <p:spPr>
          <a:xfrm>
            <a:off x="2311496" y="1937912"/>
            <a:ext cx="6336704" cy="357365"/>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21" name="组合 20"/>
          <p:cNvGrpSpPr/>
          <p:nvPr/>
        </p:nvGrpSpPr>
        <p:grpSpPr>
          <a:xfrm>
            <a:off x="1295400" y="1340769"/>
            <a:ext cx="4724400" cy="461665"/>
            <a:chOff x="1295400" y="1340769"/>
            <a:chExt cx="4209991" cy="461665"/>
          </a:xfrm>
        </p:grpSpPr>
        <p:sp>
          <p:nvSpPr>
            <p:cNvPr id="22"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18</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3"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2"/>
            <a:stretch>
              <a:fillRect/>
            </a:stretch>
          </p:blipFill>
          <p:spPr>
            <a:xfrm>
              <a:off x="4283136" y="1453009"/>
              <a:ext cx="256158" cy="237183"/>
            </a:xfrm>
            <a:prstGeom prst="rect">
              <a:avLst/>
            </a:prstGeom>
          </p:spPr>
        </p:pic>
      </p:grpSp>
      <p:sp>
        <p:nvSpPr>
          <p:cNvPr id="27" name="Text Box 40"/>
          <p:cNvSpPr txBox="1">
            <a:spLocks noChangeArrowheads="1"/>
          </p:cNvSpPr>
          <p:nvPr/>
        </p:nvSpPr>
        <p:spPr bwMode="auto">
          <a:xfrm>
            <a:off x="1981200"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8" name="图片 27"/>
          <p:cNvPicPr>
            <a:picLocks noChangeAspect="1"/>
          </p:cNvPicPr>
          <p:nvPr/>
        </p:nvPicPr>
        <p:blipFill>
          <a:blip r:embed="rId3"/>
          <a:stretch>
            <a:fillRect/>
          </a:stretch>
        </p:blipFill>
        <p:spPr>
          <a:xfrm>
            <a:off x="2311496" y="1937912"/>
            <a:ext cx="6336704" cy="357365"/>
          </a:xfrm>
          <a:prstGeom prst="rect">
            <a:avLst/>
          </a:prstGeom>
        </p:spPr>
      </p:pic>
      <p:sp>
        <p:nvSpPr>
          <p:cNvPr id="29" name="Text Box 40"/>
          <p:cNvSpPr txBox="1">
            <a:spLocks noChangeArrowheads="1"/>
          </p:cNvSpPr>
          <p:nvPr/>
        </p:nvSpPr>
        <p:spPr bwMode="auto">
          <a:xfrm>
            <a:off x="762000" y="2996953"/>
            <a:ext cx="735637"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解：</a:t>
            </a:r>
          </a:p>
        </p:txBody>
      </p:sp>
      <p:sp>
        <p:nvSpPr>
          <p:cNvPr id="30" name="Text Box 40"/>
          <p:cNvSpPr txBox="1">
            <a:spLocks noChangeArrowheads="1"/>
          </p:cNvSpPr>
          <p:nvPr/>
        </p:nvSpPr>
        <p:spPr bwMode="auto">
          <a:xfrm>
            <a:off x="1280893" y="2996952"/>
            <a:ext cx="770485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像这样的题目，要分情况讨论。这里需要考虑三种情况。</a:t>
            </a:r>
          </a:p>
        </p:txBody>
      </p:sp>
      <p:sp>
        <p:nvSpPr>
          <p:cNvPr id="31" name="Text Box 40"/>
          <p:cNvSpPr txBox="1">
            <a:spLocks noChangeArrowheads="1"/>
          </p:cNvSpPr>
          <p:nvPr/>
        </p:nvSpPr>
        <p:spPr bwMode="auto">
          <a:xfrm>
            <a:off x="1280893" y="3591180"/>
            <a:ext cx="6840760"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第一种情况是剩下两个</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都在倒数第</a:t>
            </a:r>
            <a:r>
              <a:rPr lang="en-US" altLang="zh-CN" sz="2400" b="0" i="0" dirty="0">
                <a:solidFill>
                  <a:srgbClr val="000000"/>
                </a:solidFill>
                <a:latin typeface="宋体" panose="02010600030101010101" pitchFamily="2" charset="-122"/>
                <a:ea typeface="宋体" panose="02010600030101010101" pitchFamily="2" charset="-122"/>
              </a:rPr>
              <a:t>3</a:t>
            </a:r>
            <a:r>
              <a:rPr lang="zh-CN" altLang="en-US" sz="2400" b="0" i="0" dirty="0">
                <a:solidFill>
                  <a:srgbClr val="000000"/>
                </a:solidFill>
                <a:latin typeface="宋体" panose="02010600030101010101" pitchFamily="2" charset="-122"/>
                <a:ea typeface="宋体" panose="02010600030101010101" pitchFamily="2" charset="-122"/>
              </a:rPr>
              <a:t>位左侧：</a:t>
            </a:r>
          </a:p>
        </p:txBody>
      </p:sp>
      <p:sp>
        <p:nvSpPr>
          <p:cNvPr id="32" name="Text Box 40"/>
          <p:cNvSpPr txBox="1">
            <a:spLocks noChangeArrowheads="1"/>
          </p:cNvSpPr>
          <p:nvPr/>
        </p:nvSpPr>
        <p:spPr bwMode="auto">
          <a:xfrm>
            <a:off x="1280893" y="4584916"/>
            <a:ext cx="741682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第二种情况是剩下两个</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分别在倒数第</a:t>
            </a:r>
            <a:r>
              <a:rPr lang="en-US" altLang="zh-CN" sz="2400" b="0" i="0" dirty="0">
                <a:solidFill>
                  <a:srgbClr val="000000"/>
                </a:solidFill>
                <a:latin typeface="宋体" panose="02010600030101010101" pitchFamily="2" charset="-122"/>
                <a:ea typeface="宋体" panose="02010600030101010101" pitchFamily="2" charset="-122"/>
              </a:rPr>
              <a:t>3</a:t>
            </a:r>
            <a:r>
              <a:rPr lang="zh-CN" altLang="en-US" sz="2400" b="0" i="0" dirty="0">
                <a:solidFill>
                  <a:srgbClr val="000000"/>
                </a:solidFill>
                <a:latin typeface="宋体" panose="02010600030101010101" pitchFamily="2" charset="-122"/>
                <a:ea typeface="宋体" panose="02010600030101010101" pitchFamily="2" charset="-122"/>
              </a:rPr>
              <a:t>位左侧和右侧：</a:t>
            </a:r>
          </a:p>
        </p:txBody>
      </p:sp>
      <p:pic>
        <p:nvPicPr>
          <p:cNvPr id="33" name="图片 32"/>
          <p:cNvPicPr>
            <a:picLocks noChangeAspect="1"/>
          </p:cNvPicPr>
          <p:nvPr/>
        </p:nvPicPr>
        <p:blipFill>
          <a:blip r:embed="rId4"/>
          <a:stretch>
            <a:fillRect/>
          </a:stretch>
        </p:blipFill>
        <p:spPr>
          <a:xfrm>
            <a:off x="3063855" y="4167991"/>
            <a:ext cx="4066924" cy="300635"/>
          </a:xfrm>
          <a:prstGeom prst="rect">
            <a:avLst/>
          </a:prstGeom>
        </p:spPr>
      </p:pic>
      <p:pic>
        <p:nvPicPr>
          <p:cNvPr id="34" name="图片 33"/>
          <p:cNvPicPr>
            <a:picLocks noChangeAspect="1"/>
          </p:cNvPicPr>
          <p:nvPr/>
        </p:nvPicPr>
        <p:blipFill>
          <a:blip r:embed="rId5"/>
          <a:stretch>
            <a:fillRect/>
          </a:stretch>
        </p:blipFill>
        <p:spPr>
          <a:xfrm>
            <a:off x="3249864" y="5162870"/>
            <a:ext cx="3694907" cy="296912"/>
          </a:xfrm>
          <a:prstGeom prst="rect">
            <a:avLst/>
          </a:prstGeom>
        </p:spPr>
      </p:pic>
      <p:sp>
        <p:nvSpPr>
          <p:cNvPr id="35" name="Text Box 40"/>
          <p:cNvSpPr txBox="1">
            <a:spLocks noChangeArrowheads="1"/>
          </p:cNvSpPr>
          <p:nvPr/>
        </p:nvSpPr>
        <p:spPr bwMode="auto">
          <a:xfrm>
            <a:off x="1280893" y="5528424"/>
            <a:ext cx="741682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第三种情况是剩下两个</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都在倒数第</a:t>
            </a:r>
            <a:r>
              <a:rPr lang="en-US" altLang="zh-CN" sz="2400" b="0" i="0" dirty="0">
                <a:solidFill>
                  <a:srgbClr val="000000"/>
                </a:solidFill>
                <a:latin typeface="宋体" panose="02010600030101010101" pitchFamily="2" charset="-122"/>
                <a:ea typeface="宋体" panose="02010600030101010101" pitchFamily="2" charset="-122"/>
              </a:rPr>
              <a:t>3</a:t>
            </a:r>
            <a:r>
              <a:rPr lang="zh-CN" altLang="en-US" sz="2400" b="0" i="0" dirty="0">
                <a:solidFill>
                  <a:srgbClr val="000000"/>
                </a:solidFill>
                <a:latin typeface="宋体" panose="02010600030101010101" pitchFamily="2" charset="-122"/>
                <a:ea typeface="宋体" panose="02010600030101010101" pitchFamily="2" charset="-122"/>
              </a:rPr>
              <a:t>位右侧：</a:t>
            </a:r>
          </a:p>
        </p:txBody>
      </p:sp>
      <p:pic>
        <p:nvPicPr>
          <p:cNvPr id="36" name="图片 35"/>
          <p:cNvPicPr>
            <a:picLocks noChangeAspect="1"/>
          </p:cNvPicPr>
          <p:nvPr/>
        </p:nvPicPr>
        <p:blipFill>
          <a:blip r:embed="rId6"/>
          <a:stretch>
            <a:fillRect/>
          </a:stretch>
        </p:blipFill>
        <p:spPr>
          <a:xfrm>
            <a:off x="4305892" y="6077830"/>
            <a:ext cx="1582849" cy="30635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5"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正则表达式</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grpSp>
        <p:nvGrpSpPr>
          <p:cNvPr id="21" name="组合 20"/>
          <p:cNvGrpSpPr/>
          <p:nvPr/>
        </p:nvGrpSpPr>
        <p:grpSpPr>
          <a:xfrm>
            <a:off x="1295400" y="1340769"/>
            <a:ext cx="4724400" cy="461665"/>
            <a:chOff x="1295400" y="1340769"/>
            <a:chExt cx="4209991" cy="461665"/>
          </a:xfrm>
        </p:grpSpPr>
        <p:sp>
          <p:nvSpPr>
            <p:cNvPr id="22" name="Text Box 40"/>
            <p:cNvSpPr txBox="1">
              <a:spLocks noChangeArrowheads="1"/>
            </p:cNvSpPr>
            <p:nvPr/>
          </p:nvSpPr>
          <p:spPr bwMode="auto">
            <a:xfrm>
              <a:off x="1295400" y="1340769"/>
              <a:ext cx="3168035"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18</a:t>
              </a:r>
              <a:r>
                <a:rPr lang="zh-CN" altLang="en-US" sz="2400" b="0" i="0" dirty="0">
                  <a:solidFill>
                    <a:srgbClr val="000000"/>
                  </a:solidFill>
                  <a:ea typeface="宋体" panose="02010600030101010101" pitchFamily="2" charset="-122"/>
                  <a:cs typeface="Times New Roman" panose="02020603050405020304" pitchFamily="18" charset="0"/>
                </a:rPr>
                <a:t>：设计正则表达式</a:t>
              </a:r>
            </a:p>
          </p:txBody>
        </p:sp>
        <p:sp>
          <p:nvSpPr>
            <p:cNvPr id="23" name="Text Box 40"/>
            <p:cNvSpPr txBox="1">
              <a:spLocks noChangeArrowheads="1"/>
            </p:cNvSpPr>
            <p:nvPr/>
          </p:nvSpPr>
          <p:spPr bwMode="auto">
            <a:xfrm>
              <a:off x="4626645" y="1340769"/>
              <a:ext cx="878746"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使得</a:t>
              </a:r>
            </a:p>
          </p:txBody>
        </p:sp>
        <p:pic>
          <p:nvPicPr>
            <p:cNvPr id="26" name="图片 25"/>
            <p:cNvPicPr>
              <a:picLocks noChangeAspect="1"/>
            </p:cNvPicPr>
            <p:nvPr/>
          </p:nvPicPr>
          <p:blipFill>
            <a:blip r:embed="rId2"/>
            <a:stretch>
              <a:fillRect/>
            </a:stretch>
          </p:blipFill>
          <p:spPr>
            <a:xfrm>
              <a:off x="4283136" y="1453009"/>
              <a:ext cx="256158" cy="237183"/>
            </a:xfrm>
            <a:prstGeom prst="rect">
              <a:avLst/>
            </a:prstGeom>
          </p:spPr>
        </p:pic>
      </p:grpSp>
      <p:sp>
        <p:nvSpPr>
          <p:cNvPr id="27" name="Text Box 40"/>
          <p:cNvSpPr txBox="1">
            <a:spLocks noChangeArrowheads="1"/>
          </p:cNvSpPr>
          <p:nvPr/>
        </p:nvSpPr>
        <p:spPr bwMode="auto">
          <a:xfrm>
            <a:off x="1981200" y="2430756"/>
            <a:ext cx="6336704"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该语言的字母表包含</a:t>
            </a:r>
            <a:r>
              <a:rPr lang="en-US" altLang="zh-CN" sz="2400" b="0" i="0" dirty="0">
                <a:solidFill>
                  <a:srgbClr val="000000"/>
                </a:solidFill>
                <a:latin typeface="宋体" panose="02010600030101010101" pitchFamily="2" charset="-122"/>
                <a:ea typeface="宋体" panose="02010600030101010101" pitchFamily="2" charset="-122"/>
              </a:rPr>
              <a:t>0</a:t>
            </a:r>
            <a:r>
              <a:rPr lang="zh-CN" altLang="en-US" sz="2400" b="0" i="0" dirty="0">
                <a:solidFill>
                  <a:srgbClr val="000000"/>
                </a:solidFill>
                <a:latin typeface="宋体" panose="02010600030101010101" pitchFamily="2" charset="-122"/>
                <a:ea typeface="宋体" panose="02010600030101010101" pitchFamily="2" charset="-122"/>
              </a:rPr>
              <a:t>和</a:t>
            </a:r>
            <a:r>
              <a:rPr lang="en-US" altLang="zh-CN" sz="2400" b="0" i="0" dirty="0">
                <a:solidFill>
                  <a:srgbClr val="000000"/>
                </a:solidFill>
                <a:latin typeface="宋体" panose="02010600030101010101" pitchFamily="2" charset="-122"/>
                <a:ea typeface="宋体" panose="02010600030101010101" pitchFamily="2" charset="-122"/>
              </a:rPr>
              <a:t>1</a:t>
            </a:r>
            <a:r>
              <a:rPr lang="zh-CN" altLang="en-US" sz="2400" b="0" i="0" dirty="0">
                <a:solidFill>
                  <a:srgbClr val="000000"/>
                </a:solidFill>
                <a:latin typeface="宋体" panose="02010600030101010101" pitchFamily="2" charset="-122"/>
                <a:ea typeface="宋体" panose="02010600030101010101" pitchFamily="2" charset="-122"/>
              </a:rPr>
              <a:t>。</a:t>
            </a:r>
          </a:p>
        </p:txBody>
      </p:sp>
      <p:pic>
        <p:nvPicPr>
          <p:cNvPr id="28" name="图片 27"/>
          <p:cNvPicPr>
            <a:picLocks noChangeAspect="1"/>
          </p:cNvPicPr>
          <p:nvPr/>
        </p:nvPicPr>
        <p:blipFill>
          <a:blip r:embed="rId3"/>
          <a:stretch>
            <a:fillRect/>
          </a:stretch>
        </p:blipFill>
        <p:spPr>
          <a:xfrm>
            <a:off x="2311496" y="1937912"/>
            <a:ext cx="6336704" cy="357365"/>
          </a:xfrm>
          <a:prstGeom prst="rect">
            <a:avLst/>
          </a:prstGeom>
        </p:spPr>
      </p:pic>
      <p:sp>
        <p:nvSpPr>
          <p:cNvPr id="29" name="Text Box 40"/>
          <p:cNvSpPr txBox="1">
            <a:spLocks noChangeArrowheads="1"/>
          </p:cNvSpPr>
          <p:nvPr/>
        </p:nvSpPr>
        <p:spPr bwMode="auto">
          <a:xfrm>
            <a:off x="762000" y="2996953"/>
            <a:ext cx="735637"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解：</a:t>
            </a:r>
          </a:p>
        </p:txBody>
      </p:sp>
      <p:sp>
        <p:nvSpPr>
          <p:cNvPr id="18" name="Text Box 40"/>
          <p:cNvSpPr txBox="1">
            <a:spLocks noChangeArrowheads="1"/>
          </p:cNvSpPr>
          <p:nvPr/>
        </p:nvSpPr>
        <p:spPr bwMode="auto">
          <a:xfrm>
            <a:off x="1371600" y="2996952"/>
            <a:ext cx="5715000" cy="461665"/>
          </a:xfrm>
          <a:prstGeom prst="rect">
            <a:avLst/>
          </a:prstGeom>
          <a:noFill/>
          <a:ln w="9525">
            <a:noFill/>
            <a:miter lim="800000"/>
          </a:ln>
        </p:spPr>
        <p:txBody>
          <a:bodyPr wrap="square">
            <a:spAutoFit/>
          </a:bodyPr>
          <a:lstStyle/>
          <a:p>
            <a:r>
              <a:rPr lang="zh-CN" altLang="en-US" sz="2400" b="0" i="0" dirty="0">
                <a:solidFill>
                  <a:srgbClr val="000000"/>
                </a:solidFill>
                <a:latin typeface="宋体" panose="02010600030101010101" pitchFamily="2" charset="-122"/>
                <a:ea typeface="宋体" panose="02010600030101010101" pitchFamily="2" charset="-122"/>
              </a:rPr>
              <a:t>因此，最终的结果是</a:t>
            </a:r>
          </a:p>
        </p:txBody>
      </p:sp>
      <p:grpSp>
        <p:nvGrpSpPr>
          <p:cNvPr id="19" name="组合 18"/>
          <p:cNvGrpSpPr/>
          <p:nvPr/>
        </p:nvGrpSpPr>
        <p:grpSpPr>
          <a:xfrm>
            <a:off x="1875657" y="3675646"/>
            <a:ext cx="5004323" cy="1338250"/>
            <a:chOff x="1763688" y="3675646"/>
            <a:chExt cx="5004323" cy="1338250"/>
          </a:xfrm>
        </p:grpSpPr>
        <p:pic>
          <p:nvPicPr>
            <p:cNvPr id="20" name="图片 19"/>
            <p:cNvPicPr>
              <a:picLocks noChangeAspect="1"/>
            </p:cNvPicPr>
            <p:nvPr/>
          </p:nvPicPr>
          <p:blipFill>
            <a:blip r:embed="rId4"/>
            <a:stretch>
              <a:fillRect/>
            </a:stretch>
          </p:blipFill>
          <p:spPr>
            <a:xfrm>
              <a:off x="1763688" y="3717032"/>
              <a:ext cx="557734" cy="217865"/>
            </a:xfrm>
            <a:prstGeom prst="rect">
              <a:avLst/>
            </a:prstGeom>
          </p:spPr>
        </p:pic>
        <p:pic>
          <p:nvPicPr>
            <p:cNvPr id="24" name="图片 23"/>
            <p:cNvPicPr>
              <a:picLocks noChangeAspect="1"/>
            </p:cNvPicPr>
            <p:nvPr/>
          </p:nvPicPr>
          <p:blipFill>
            <a:blip r:embed="rId5"/>
            <a:stretch>
              <a:fillRect/>
            </a:stretch>
          </p:blipFill>
          <p:spPr>
            <a:xfrm>
              <a:off x="2402322" y="3675646"/>
              <a:ext cx="4066924" cy="300635"/>
            </a:xfrm>
            <a:prstGeom prst="rect">
              <a:avLst/>
            </a:prstGeom>
          </p:spPr>
        </p:pic>
        <p:pic>
          <p:nvPicPr>
            <p:cNvPr id="25" name="图片 24"/>
            <p:cNvPicPr>
              <a:picLocks noChangeAspect="1"/>
            </p:cNvPicPr>
            <p:nvPr/>
          </p:nvPicPr>
          <p:blipFill>
            <a:blip r:embed="rId6"/>
            <a:stretch>
              <a:fillRect/>
            </a:stretch>
          </p:blipFill>
          <p:spPr>
            <a:xfrm>
              <a:off x="6550146" y="3701673"/>
              <a:ext cx="217865" cy="217865"/>
            </a:xfrm>
            <a:prstGeom prst="rect">
              <a:avLst/>
            </a:prstGeom>
          </p:spPr>
        </p:pic>
        <p:pic>
          <p:nvPicPr>
            <p:cNvPr id="37" name="图片 36"/>
            <p:cNvPicPr>
              <a:picLocks noChangeAspect="1"/>
            </p:cNvPicPr>
            <p:nvPr/>
          </p:nvPicPr>
          <p:blipFill>
            <a:blip r:embed="rId7"/>
            <a:stretch>
              <a:fillRect/>
            </a:stretch>
          </p:blipFill>
          <p:spPr>
            <a:xfrm>
              <a:off x="2402322" y="4193311"/>
              <a:ext cx="3694907" cy="296912"/>
            </a:xfrm>
            <a:prstGeom prst="rect">
              <a:avLst/>
            </a:prstGeom>
          </p:spPr>
        </p:pic>
        <p:pic>
          <p:nvPicPr>
            <p:cNvPr id="38" name="图片 37"/>
            <p:cNvPicPr>
              <a:picLocks noChangeAspect="1"/>
            </p:cNvPicPr>
            <p:nvPr/>
          </p:nvPicPr>
          <p:blipFill>
            <a:blip r:embed="rId6"/>
            <a:stretch>
              <a:fillRect/>
            </a:stretch>
          </p:blipFill>
          <p:spPr>
            <a:xfrm>
              <a:off x="6251381" y="4232834"/>
              <a:ext cx="217865" cy="217865"/>
            </a:xfrm>
            <a:prstGeom prst="rect">
              <a:avLst/>
            </a:prstGeom>
          </p:spPr>
        </p:pic>
        <p:pic>
          <p:nvPicPr>
            <p:cNvPr id="39" name="图片 38"/>
            <p:cNvPicPr>
              <a:picLocks noChangeAspect="1"/>
            </p:cNvPicPr>
            <p:nvPr/>
          </p:nvPicPr>
          <p:blipFill>
            <a:blip r:embed="rId8"/>
            <a:stretch>
              <a:fillRect/>
            </a:stretch>
          </p:blipFill>
          <p:spPr>
            <a:xfrm>
              <a:off x="2402322" y="4707538"/>
              <a:ext cx="1582849" cy="306358"/>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124</a:t>
            </a:fld>
            <a:endParaRPr lang="en-US" altLang="zh-CN"/>
          </a:p>
        </p:txBody>
      </p:sp>
      <p:sp>
        <p:nvSpPr>
          <p:cNvPr id="5"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习题练习</a:t>
            </a:r>
            <a:r>
              <a:rPr lang="en-US" altLang="zh-CN" sz="3600" dirty="0">
                <a:solidFill>
                  <a:schemeClr val="bg1"/>
                </a:solidFill>
              </a:rPr>
              <a:t>-</a:t>
            </a:r>
            <a:r>
              <a:rPr lang="zh-CN" altLang="en-US" sz="3600" dirty="0">
                <a:solidFill>
                  <a:schemeClr val="bg1"/>
                </a:solidFill>
              </a:rPr>
              <a:t>上下文无关文法的设计</a:t>
            </a:r>
            <a:endParaRPr lang="en-AU" sz="36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125</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8"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17" name="图片 16"/>
          <p:cNvPicPr>
            <a:picLocks noChangeAspect="1"/>
          </p:cNvPicPr>
          <p:nvPr/>
        </p:nvPicPr>
        <p:blipFill>
          <a:blip r:embed="rId11"/>
          <a:stretch>
            <a:fillRect/>
          </a:stretch>
        </p:blipFill>
        <p:spPr>
          <a:xfrm>
            <a:off x="1890343" y="2010483"/>
            <a:ext cx="5762848" cy="315421"/>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上下文无关文法</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30"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31" name="图片 30"/>
          <p:cNvPicPr>
            <a:picLocks noChangeAspect="1"/>
          </p:cNvPicPr>
          <p:nvPr/>
        </p:nvPicPr>
        <p:blipFill>
          <a:blip r:embed="rId2"/>
          <a:stretch>
            <a:fillRect/>
          </a:stretch>
        </p:blipFill>
        <p:spPr>
          <a:xfrm>
            <a:off x="1890343" y="2010483"/>
            <a:ext cx="5762848" cy="315421"/>
          </a:xfrm>
          <a:prstGeom prst="rect">
            <a:avLst/>
          </a:prstGeom>
        </p:spPr>
      </p:pic>
      <p:grpSp>
        <p:nvGrpSpPr>
          <p:cNvPr id="32" name="组合 31"/>
          <p:cNvGrpSpPr/>
          <p:nvPr/>
        </p:nvGrpSpPr>
        <p:grpSpPr>
          <a:xfrm>
            <a:off x="536824" y="2709452"/>
            <a:ext cx="8073776" cy="1000022"/>
            <a:chOff x="674688" y="2709452"/>
            <a:chExt cx="8073776" cy="1000022"/>
          </a:xfrm>
        </p:grpSpPr>
        <p:sp>
          <p:nvSpPr>
            <p:cNvPr id="33" name="Text Box 11"/>
            <p:cNvSpPr txBox="1">
              <a:spLocks noChangeArrowheads="1"/>
            </p:cNvSpPr>
            <p:nvPr/>
          </p:nvSpPr>
          <p:spPr bwMode="auto">
            <a:xfrm>
              <a:off x="674688" y="2709452"/>
              <a:ext cx="8073776"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解：这道题一眼看上去感觉无从下手，如何实现区间关系？</a:t>
              </a:r>
              <a:endParaRPr kumimoji="1" lang="en-US" altLang="zh-CN" sz="2800" b="1" dirty="0">
                <a:solidFill>
                  <a:srgbClr val="800080"/>
                </a:solidFill>
                <a:latin typeface="Arial" panose="020B0604020202020204" pitchFamily="34" charset="0"/>
                <a:ea typeface="楷体_GB2312" pitchFamily="49" charset="-122"/>
              </a:endParaRPr>
            </a:p>
          </p:txBody>
        </p:sp>
        <p:sp>
          <p:nvSpPr>
            <p:cNvPr id="34" name="Text Box 11"/>
            <p:cNvSpPr txBox="1">
              <a:spLocks noChangeArrowheads="1"/>
            </p:cNvSpPr>
            <p:nvPr/>
          </p:nvSpPr>
          <p:spPr bwMode="auto">
            <a:xfrm>
              <a:off x="1219200" y="3247809"/>
              <a:ext cx="464894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不管那么多，不妨先想办法实现</a:t>
              </a:r>
              <a:endParaRPr kumimoji="1" lang="en-US" altLang="zh-CN" sz="2800" b="1" dirty="0">
                <a:solidFill>
                  <a:srgbClr val="800080"/>
                </a:solidFill>
                <a:latin typeface="Arial" panose="020B0604020202020204" pitchFamily="34" charset="0"/>
                <a:ea typeface="楷体_GB2312" pitchFamily="49" charset="-122"/>
              </a:endParaRPr>
            </a:p>
          </p:txBody>
        </p:sp>
        <p:pic>
          <p:nvPicPr>
            <p:cNvPr id="35" name="图片 34"/>
            <p:cNvPicPr>
              <a:picLocks noChangeAspect="1"/>
            </p:cNvPicPr>
            <p:nvPr/>
          </p:nvPicPr>
          <p:blipFill>
            <a:blip r:embed="rId3"/>
            <a:stretch>
              <a:fillRect/>
            </a:stretch>
          </p:blipFill>
          <p:spPr>
            <a:xfrm>
              <a:off x="5838924" y="3349668"/>
              <a:ext cx="1109340" cy="244431"/>
            </a:xfrm>
            <a:prstGeom prst="rect">
              <a:avLst/>
            </a:prstGeom>
          </p:spPr>
        </p:pic>
      </p:grpSp>
      <p:pic>
        <p:nvPicPr>
          <p:cNvPr id="36" name="图片 35"/>
          <p:cNvPicPr>
            <a:picLocks noChangeAspect="1"/>
          </p:cNvPicPr>
          <p:nvPr/>
        </p:nvPicPr>
        <p:blipFill>
          <a:blip r:embed="rId4"/>
          <a:stretch>
            <a:fillRect/>
          </a:stretch>
        </p:blipFill>
        <p:spPr>
          <a:xfrm>
            <a:off x="3462028" y="3872972"/>
            <a:ext cx="1548172" cy="283325"/>
          </a:xfrm>
          <a:prstGeom prst="rect">
            <a:avLst/>
          </a:prstGeom>
        </p:spPr>
      </p:pic>
      <p:grpSp>
        <p:nvGrpSpPr>
          <p:cNvPr id="40" name="组合 39"/>
          <p:cNvGrpSpPr/>
          <p:nvPr/>
        </p:nvGrpSpPr>
        <p:grpSpPr>
          <a:xfrm>
            <a:off x="1184756" y="4346150"/>
            <a:ext cx="7425844" cy="961262"/>
            <a:chOff x="1322620" y="4346150"/>
            <a:chExt cx="7425844" cy="961262"/>
          </a:xfrm>
        </p:grpSpPr>
        <p:sp>
          <p:nvSpPr>
            <p:cNvPr id="41" name="Text Box 11"/>
            <p:cNvSpPr txBox="1">
              <a:spLocks noChangeArrowheads="1"/>
            </p:cNvSpPr>
            <p:nvPr/>
          </p:nvSpPr>
          <p:spPr bwMode="auto">
            <a:xfrm>
              <a:off x="1331640" y="4346150"/>
              <a:ext cx="741682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显然，这种递归形式可以保证</a:t>
              </a:r>
              <a:r>
                <a:rPr kumimoji="1"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2</a:t>
              </a: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倍的关系。那么</a:t>
              </a:r>
              <a:r>
                <a:rPr kumimoji="1"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3</a:t>
              </a: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倍的</a:t>
              </a:r>
              <a:endParaRPr kumimoji="1" lang="en-US" altLang="zh-CN" sz="2800" b="1" dirty="0">
                <a:solidFill>
                  <a:srgbClr val="800080"/>
                </a:solidFill>
                <a:latin typeface="Arial" panose="020B0604020202020204" pitchFamily="34" charset="0"/>
                <a:ea typeface="楷体_GB2312" pitchFamily="49" charset="-122"/>
              </a:endParaRPr>
            </a:p>
          </p:txBody>
        </p:sp>
        <p:sp>
          <p:nvSpPr>
            <p:cNvPr id="42" name="Text Box 11"/>
            <p:cNvSpPr txBox="1">
              <a:spLocks noChangeArrowheads="1"/>
            </p:cNvSpPr>
            <p:nvPr/>
          </p:nvSpPr>
          <p:spPr bwMode="auto">
            <a:xfrm>
              <a:off x="1322620" y="4845747"/>
              <a:ext cx="741682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关系也很容易实现了</a:t>
              </a:r>
              <a:endParaRPr kumimoji="1" lang="en-US" altLang="zh-CN" sz="2800" b="1" dirty="0">
                <a:solidFill>
                  <a:srgbClr val="800080"/>
                </a:solidFill>
                <a:latin typeface="Arial" panose="020B0604020202020204" pitchFamily="34" charset="0"/>
                <a:ea typeface="楷体_GB2312" pitchFamily="49" charset="-122"/>
              </a:endParaRPr>
            </a:p>
          </p:txBody>
        </p:sp>
      </p:grpSp>
      <p:pic>
        <p:nvPicPr>
          <p:cNvPr id="43" name="图片 42"/>
          <p:cNvPicPr>
            <a:picLocks noChangeAspect="1"/>
          </p:cNvPicPr>
          <p:nvPr/>
        </p:nvPicPr>
        <p:blipFill>
          <a:blip r:embed="rId5"/>
          <a:stretch>
            <a:fillRect/>
          </a:stretch>
        </p:blipFill>
        <p:spPr>
          <a:xfrm>
            <a:off x="3462028" y="5440816"/>
            <a:ext cx="1692188" cy="282031"/>
          </a:xfrm>
          <a:prstGeom prst="rect">
            <a:avLst/>
          </a:prstGeom>
        </p:spPr>
      </p:pic>
      <p:sp>
        <p:nvSpPr>
          <p:cNvPr id="44" name="Text Box 11"/>
          <p:cNvSpPr txBox="1">
            <a:spLocks noChangeArrowheads="1"/>
          </p:cNvSpPr>
          <p:nvPr/>
        </p:nvSpPr>
        <p:spPr bwMode="auto">
          <a:xfrm>
            <a:off x="1193776" y="5944089"/>
            <a:ext cx="741682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那么怎么实现区间关系呢？</a:t>
            </a:r>
            <a:endParaRPr kumimoji="1" lang="en-US" altLang="zh-CN" sz="2800" b="1" dirty="0">
              <a:solidFill>
                <a:srgbClr val="800080"/>
              </a:solidFill>
              <a:latin typeface="Arial" panose="020B0604020202020204" pitchFamily="34" charset="0"/>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上下文无关文法</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30"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31" name="图片 30"/>
          <p:cNvPicPr>
            <a:picLocks noChangeAspect="1"/>
          </p:cNvPicPr>
          <p:nvPr/>
        </p:nvPicPr>
        <p:blipFill>
          <a:blip r:embed="rId2"/>
          <a:stretch>
            <a:fillRect/>
          </a:stretch>
        </p:blipFill>
        <p:spPr>
          <a:xfrm>
            <a:off x="1890343" y="2010483"/>
            <a:ext cx="5762848" cy="315421"/>
          </a:xfrm>
          <a:prstGeom prst="rect">
            <a:avLst/>
          </a:prstGeom>
        </p:spPr>
      </p:pic>
      <p:grpSp>
        <p:nvGrpSpPr>
          <p:cNvPr id="16" name="组合 15"/>
          <p:cNvGrpSpPr/>
          <p:nvPr/>
        </p:nvGrpSpPr>
        <p:grpSpPr>
          <a:xfrm>
            <a:off x="613024" y="2709452"/>
            <a:ext cx="8073776" cy="1000022"/>
            <a:chOff x="674688" y="2709452"/>
            <a:chExt cx="8073776" cy="1000022"/>
          </a:xfrm>
        </p:grpSpPr>
        <p:sp>
          <p:nvSpPr>
            <p:cNvPr id="17" name="Text Box 11"/>
            <p:cNvSpPr txBox="1">
              <a:spLocks noChangeArrowheads="1"/>
            </p:cNvSpPr>
            <p:nvPr/>
          </p:nvSpPr>
          <p:spPr bwMode="auto">
            <a:xfrm>
              <a:off x="674688" y="2709452"/>
              <a:ext cx="8073776"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解：幸运的是，当文法同时包含这两条规则是，恰好实现</a:t>
              </a:r>
              <a:endParaRPr kumimoji="1" lang="en-US" altLang="zh-CN" sz="2800" b="1" dirty="0">
                <a:solidFill>
                  <a:srgbClr val="800080"/>
                </a:solidFill>
                <a:latin typeface="Arial" panose="020B0604020202020204" pitchFamily="34" charset="0"/>
                <a:ea typeface="楷体_GB2312" pitchFamily="49" charset="-122"/>
              </a:endParaRPr>
            </a:p>
          </p:txBody>
        </p:sp>
        <p:sp>
          <p:nvSpPr>
            <p:cNvPr id="18" name="Text Box 11"/>
            <p:cNvSpPr txBox="1">
              <a:spLocks noChangeArrowheads="1"/>
            </p:cNvSpPr>
            <p:nvPr/>
          </p:nvSpPr>
          <p:spPr bwMode="auto">
            <a:xfrm>
              <a:off x="1259632" y="3247809"/>
              <a:ext cx="453650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了区间关系</a:t>
              </a:r>
              <a:endParaRPr kumimoji="1" lang="en-US" altLang="zh-CN" sz="2800" b="1" dirty="0">
                <a:solidFill>
                  <a:srgbClr val="800080"/>
                </a:solidFill>
                <a:latin typeface="Arial" panose="020B0604020202020204" pitchFamily="34" charset="0"/>
                <a:ea typeface="楷体_GB2312" pitchFamily="49" charset="-122"/>
              </a:endParaRPr>
            </a:p>
          </p:txBody>
        </p:sp>
      </p:grpSp>
      <p:grpSp>
        <p:nvGrpSpPr>
          <p:cNvPr id="19" name="组合 18"/>
          <p:cNvGrpSpPr/>
          <p:nvPr/>
        </p:nvGrpSpPr>
        <p:grpSpPr>
          <a:xfrm>
            <a:off x="3515175" y="3726487"/>
            <a:ext cx="1836204" cy="842165"/>
            <a:chOff x="3576839" y="3726486"/>
            <a:chExt cx="1836204" cy="842165"/>
          </a:xfrm>
        </p:grpSpPr>
        <p:pic>
          <p:nvPicPr>
            <p:cNvPr id="20" name="图片 19"/>
            <p:cNvPicPr>
              <a:picLocks noChangeAspect="1"/>
            </p:cNvPicPr>
            <p:nvPr/>
          </p:nvPicPr>
          <p:blipFill>
            <a:blip r:embed="rId3"/>
            <a:stretch>
              <a:fillRect/>
            </a:stretch>
          </p:blipFill>
          <p:spPr>
            <a:xfrm>
              <a:off x="3576839" y="3726486"/>
              <a:ext cx="1692188" cy="309681"/>
            </a:xfrm>
            <a:prstGeom prst="rect">
              <a:avLst/>
            </a:prstGeom>
          </p:spPr>
        </p:pic>
        <p:pic>
          <p:nvPicPr>
            <p:cNvPr id="21" name="图片 20"/>
            <p:cNvPicPr>
              <a:picLocks noChangeAspect="1"/>
            </p:cNvPicPr>
            <p:nvPr/>
          </p:nvPicPr>
          <p:blipFill>
            <a:blip r:embed="rId4"/>
            <a:stretch>
              <a:fillRect/>
            </a:stretch>
          </p:blipFill>
          <p:spPr>
            <a:xfrm>
              <a:off x="3576839" y="4262617"/>
              <a:ext cx="1836204" cy="306034"/>
            </a:xfrm>
            <a:prstGeom prst="rect">
              <a:avLst/>
            </a:prstGeom>
          </p:spPr>
        </p:pic>
      </p:grpSp>
      <p:grpSp>
        <p:nvGrpSpPr>
          <p:cNvPr id="22" name="组合 21"/>
          <p:cNvGrpSpPr/>
          <p:nvPr/>
        </p:nvGrpSpPr>
        <p:grpSpPr>
          <a:xfrm>
            <a:off x="1269976" y="4806036"/>
            <a:ext cx="7142100" cy="999228"/>
            <a:chOff x="1331640" y="4806036"/>
            <a:chExt cx="7142100" cy="999228"/>
          </a:xfrm>
        </p:grpSpPr>
        <p:sp>
          <p:nvSpPr>
            <p:cNvPr id="23" name="Text Box 11"/>
            <p:cNvSpPr txBox="1">
              <a:spLocks noChangeArrowheads="1"/>
            </p:cNvSpPr>
            <p:nvPr/>
          </p:nvSpPr>
          <p:spPr bwMode="auto">
            <a:xfrm>
              <a:off x="1331640" y="4806036"/>
              <a:ext cx="7128792"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这是因为两条规则的混用恰好能实现区间关系。加</a:t>
              </a:r>
              <a:endParaRPr kumimoji="1" lang="en-US" altLang="zh-CN" sz="2800" b="1" dirty="0">
                <a:solidFill>
                  <a:srgbClr val="800080"/>
                </a:solidFill>
                <a:latin typeface="Arial" panose="020B0604020202020204" pitchFamily="34" charset="0"/>
                <a:ea typeface="楷体_GB2312" pitchFamily="49" charset="-122"/>
              </a:endParaRPr>
            </a:p>
          </p:txBody>
        </p:sp>
        <p:sp>
          <p:nvSpPr>
            <p:cNvPr id="24" name="Text Box 11"/>
            <p:cNvSpPr txBox="1">
              <a:spLocks noChangeArrowheads="1"/>
            </p:cNvSpPr>
            <p:nvPr/>
          </p:nvSpPr>
          <p:spPr bwMode="auto">
            <a:xfrm>
              <a:off x="1344948" y="5343599"/>
              <a:ext cx="7128792"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入基础部分，就得到了最终的文法</a:t>
              </a:r>
              <a:endParaRPr kumimoji="1" lang="en-US" altLang="zh-CN" sz="2800" b="1" dirty="0">
                <a:solidFill>
                  <a:srgbClr val="800080"/>
                </a:solidFill>
                <a:latin typeface="Arial" panose="020B0604020202020204" pitchFamily="34" charset="0"/>
                <a:ea typeface="楷体_GB2312" pitchFamily="49" charset="-122"/>
              </a:endParaRPr>
            </a:p>
          </p:txBody>
        </p:sp>
      </p:grpSp>
      <p:pic>
        <p:nvPicPr>
          <p:cNvPr id="25" name="图片 24"/>
          <p:cNvPicPr>
            <a:picLocks noChangeAspect="1"/>
          </p:cNvPicPr>
          <p:nvPr/>
        </p:nvPicPr>
        <p:blipFill>
          <a:blip r:embed="rId5"/>
          <a:stretch>
            <a:fillRect/>
          </a:stretch>
        </p:blipFill>
        <p:spPr>
          <a:xfrm>
            <a:off x="2584711" y="6048658"/>
            <a:ext cx="3851250" cy="4411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128</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8"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2</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15" name="图片 14"/>
          <p:cNvPicPr>
            <a:picLocks noChangeAspect="1"/>
          </p:cNvPicPr>
          <p:nvPr/>
        </p:nvPicPr>
        <p:blipFill>
          <a:blip r:embed="rId11"/>
          <a:stretch>
            <a:fillRect/>
          </a:stretch>
        </p:blipFill>
        <p:spPr>
          <a:xfrm>
            <a:off x="1447800" y="2033239"/>
            <a:ext cx="6953535" cy="353894"/>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上下文无关文法</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26"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2</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27" name="图片 26"/>
          <p:cNvPicPr>
            <a:picLocks noChangeAspect="1"/>
          </p:cNvPicPr>
          <p:nvPr/>
        </p:nvPicPr>
        <p:blipFill>
          <a:blip r:embed="rId2"/>
          <a:stretch>
            <a:fillRect/>
          </a:stretch>
        </p:blipFill>
        <p:spPr>
          <a:xfrm>
            <a:off x="1447800" y="2033239"/>
            <a:ext cx="6953535" cy="353894"/>
          </a:xfrm>
          <a:prstGeom prst="rect">
            <a:avLst/>
          </a:prstGeom>
        </p:spPr>
      </p:pic>
      <p:grpSp>
        <p:nvGrpSpPr>
          <p:cNvPr id="28" name="组合 27"/>
          <p:cNvGrpSpPr/>
          <p:nvPr/>
        </p:nvGrpSpPr>
        <p:grpSpPr>
          <a:xfrm>
            <a:off x="609600" y="2667000"/>
            <a:ext cx="7929760" cy="970293"/>
            <a:chOff x="674688" y="2689539"/>
            <a:chExt cx="7929760" cy="970293"/>
          </a:xfrm>
        </p:grpSpPr>
        <p:sp>
          <p:nvSpPr>
            <p:cNvPr id="29" name="Text Box 11"/>
            <p:cNvSpPr txBox="1">
              <a:spLocks noChangeArrowheads="1"/>
            </p:cNvSpPr>
            <p:nvPr/>
          </p:nvSpPr>
          <p:spPr bwMode="auto">
            <a:xfrm>
              <a:off x="674688" y="2709452"/>
              <a:ext cx="3249240"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解：在前面的例子里，</a:t>
              </a:r>
              <a:endParaRPr kumimoji="1" lang="en-US" altLang="zh-CN" sz="2800" b="1" dirty="0">
                <a:solidFill>
                  <a:srgbClr val="800080"/>
                </a:solidFill>
                <a:latin typeface="Arial" panose="020B0604020202020204" pitchFamily="34" charset="0"/>
                <a:ea typeface="楷体_GB2312" pitchFamily="49" charset="-122"/>
              </a:endParaRPr>
            </a:p>
          </p:txBody>
        </p:sp>
        <p:pic>
          <p:nvPicPr>
            <p:cNvPr id="32" name="图片 31"/>
            <p:cNvPicPr>
              <a:picLocks noChangeAspect="1"/>
            </p:cNvPicPr>
            <p:nvPr/>
          </p:nvPicPr>
          <p:blipFill>
            <a:blip r:embed="rId3"/>
            <a:stretch>
              <a:fillRect/>
            </a:stretch>
          </p:blipFill>
          <p:spPr>
            <a:xfrm>
              <a:off x="3729888" y="2833952"/>
              <a:ext cx="194040" cy="194040"/>
            </a:xfrm>
            <a:prstGeom prst="rect">
              <a:avLst/>
            </a:prstGeom>
          </p:spPr>
        </p:pic>
        <p:sp>
          <p:nvSpPr>
            <p:cNvPr id="33" name="Text Box 11"/>
            <p:cNvSpPr txBox="1">
              <a:spLocks noChangeArrowheads="1"/>
            </p:cNvSpPr>
            <p:nvPr/>
          </p:nvSpPr>
          <p:spPr bwMode="auto">
            <a:xfrm>
              <a:off x="3923928" y="2693833"/>
              <a:ext cx="504056"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和</a:t>
              </a:r>
              <a:endParaRPr kumimoji="1" lang="en-US" altLang="zh-CN" sz="2800" b="1" dirty="0">
                <a:solidFill>
                  <a:srgbClr val="800080"/>
                </a:solidFill>
                <a:latin typeface="Arial" panose="020B0604020202020204" pitchFamily="34" charset="0"/>
                <a:ea typeface="楷体_GB2312" pitchFamily="49" charset="-122"/>
              </a:endParaRPr>
            </a:p>
          </p:txBody>
        </p:sp>
        <p:pic>
          <p:nvPicPr>
            <p:cNvPr id="34" name="图片 33"/>
            <p:cNvPicPr>
              <a:picLocks noChangeAspect="1"/>
            </p:cNvPicPr>
            <p:nvPr/>
          </p:nvPicPr>
          <p:blipFill>
            <a:blip r:embed="rId4"/>
            <a:stretch>
              <a:fillRect/>
            </a:stretch>
          </p:blipFill>
          <p:spPr>
            <a:xfrm>
              <a:off x="4427462" y="2786159"/>
              <a:ext cx="144538" cy="268427"/>
            </a:xfrm>
            <a:prstGeom prst="rect">
              <a:avLst/>
            </a:prstGeom>
          </p:spPr>
        </p:pic>
        <p:sp>
          <p:nvSpPr>
            <p:cNvPr id="35" name="Text Box 11"/>
            <p:cNvSpPr txBox="1">
              <a:spLocks noChangeArrowheads="1"/>
            </p:cNvSpPr>
            <p:nvPr/>
          </p:nvSpPr>
          <p:spPr bwMode="auto">
            <a:xfrm>
              <a:off x="4572000" y="2689539"/>
              <a:ext cx="4032448"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的顺序是指定的，而这道题</a:t>
              </a:r>
              <a:endParaRPr kumimoji="1" lang="en-US" altLang="zh-CN" sz="2800" b="1" dirty="0">
                <a:solidFill>
                  <a:srgbClr val="800080"/>
                </a:solidFill>
                <a:latin typeface="Arial" panose="020B0604020202020204" pitchFamily="34" charset="0"/>
                <a:ea typeface="楷体_GB2312" pitchFamily="49" charset="-122"/>
              </a:endParaRPr>
            </a:p>
          </p:txBody>
        </p:sp>
        <p:sp>
          <p:nvSpPr>
            <p:cNvPr id="36" name="Text Box 11"/>
            <p:cNvSpPr txBox="1">
              <a:spLocks noChangeArrowheads="1"/>
            </p:cNvSpPr>
            <p:nvPr/>
          </p:nvSpPr>
          <p:spPr bwMode="auto">
            <a:xfrm>
              <a:off x="1259632" y="3198167"/>
              <a:ext cx="7141491"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就难很多，因为对顺序没有要求，只要求数量相等。</a:t>
              </a:r>
              <a:endParaRPr kumimoji="1" lang="en-US" altLang="zh-CN" sz="2800" b="1" dirty="0">
                <a:solidFill>
                  <a:srgbClr val="800080"/>
                </a:solidFill>
                <a:latin typeface="Arial" panose="020B0604020202020204" pitchFamily="34" charset="0"/>
                <a:ea typeface="楷体_GB2312" pitchFamily="49" charset="-122"/>
              </a:endParaRPr>
            </a:p>
          </p:txBody>
        </p:sp>
      </p:grpSp>
      <p:grpSp>
        <p:nvGrpSpPr>
          <p:cNvPr id="37" name="组合 36"/>
          <p:cNvGrpSpPr/>
          <p:nvPr/>
        </p:nvGrpSpPr>
        <p:grpSpPr>
          <a:xfrm>
            <a:off x="1194544" y="3584663"/>
            <a:ext cx="6934918" cy="488402"/>
            <a:chOff x="1259632" y="3653307"/>
            <a:chExt cx="6934918" cy="488402"/>
          </a:xfrm>
        </p:grpSpPr>
        <p:sp>
          <p:nvSpPr>
            <p:cNvPr id="38" name="Text Box 11"/>
            <p:cNvSpPr txBox="1">
              <a:spLocks noChangeArrowheads="1"/>
            </p:cNvSpPr>
            <p:nvPr/>
          </p:nvSpPr>
          <p:spPr bwMode="auto">
            <a:xfrm>
              <a:off x="1259632" y="3680044"/>
              <a:ext cx="3888432"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可以考虑三种情况。</a:t>
              </a:r>
              <a:endParaRPr kumimoji="1" lang="en-US" altLang="zh-CN" sz="2800" b="1" dirty="0">
                <a:solidFill>
                  <a:srgbClr val="800080"/>
                </a:solidFill>
                <a:latin typeface="Arial" panose="020B0604020202020204" pitchFamily="34" charset="0"/>
                <a:ea typeface="楷体_GB2312" pitchFamily="49" charset="-122"/>
              </a:endParaRPr>
            </a:p>
          </p:txBody>
        </p:sp>
        <p:sp>
          <p:nvSpPr>
            <p:cNvPr id="39" name="Text Box 11"/>
            <p:cNvSpPr txBox="1">
              <a:spLocks noChangeArrowheads="1"/>
            </p:cNvSpPr>
            <p:nvPr/>
          </p:nvSpPr>
          <p:spPr bwMode="auto">
            <a:xfrm>
              <a:off x="3968227" y="3653307"/>
              <a:ext cx="2547989"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第</a:t>
              </a:r>
              <a:r>
                <a:rPr kumimoji="1"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1</a:t>
              </a: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种情况是空串</a:t>
              </a:r>
              <a:endParaRPr kumimoji="1" lang="en-US" altLang="zh-CN" sz="2800" b="1" dirty="0">
                <a:solidFill>
                  <a:srgbClr val="800080"/>
                </a:solidFill>
                <a:latin typeface="Arial" panose="020B0604020202020204" pitchFamily="34" charset="0"/>
                <a:ea typeface="楷体_GB2312" pitchFamily="49" charset="-122"/>
              </a:endParaRPr>
            </a:p>
          </p:txBody>
        </p:sp>
        <p:pic>
          <p:nvPicPr>
            <p:cNvPr id="40" name="图片 39"/>
            <p:cNvPicPr>
              <a:picLocks noChangeAspect="1"/>
            </p:cNvPicPr>
            <p:nvPr/>
          </p:nvPicPr>
          <p:blipFill>
            <a:blip r:embed="rId5"/>
            <a:stretch>
              <a:fillRect/>
            </a:stretch>
          </p:blipFill>
          <p:spPr>
            <a:xfrm>
              <a:off x="6444208" y="3756904"/>
              <a:ext cx="864096" cy="262986"/>
            </a:xfrm>
            <a:prstGeom prst="rect">
              <a:avLst/>
            </a:prstGeom>
          </p:spPr>
        </p:pic>
        <p:sp>
          <p:nvSpPr>
            <p:cNvPr id="41" name="Text Box 11"/>
            <p:cNvSpPr txBox="1">
              <a:spLocks noChangeArrowheads="1"/>
            </p:cNvSpPr>
            <p:nvPr/>
          </p:nvSpPr>
          <p:spPr bwMode="auto">
            <a:xfrm>
              <a:off x="7330453" y="3653307"/>
              <a:ext cx="864097"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a:t>
              </a:r>
              <a:endParaRPr kumimoji="1" lang="en-US" altLang="zh-CN" sz="2800" b="1" dirty="0">
                <a:solidFill>
                  <a:srgbClr val="800080"/>
                </a:solidFill>
                <a:latin typeface="Arial" panose="020B0604020202020204" pitchFamily="34" charset="0"/>
                <a:ea typeface="楷体_GB2312" pitchFamily="49" charset="-122"/>
              </a:endParaRPr>
            </a:p>
          </p:txBody>
        </p:sp>
      </p:grpSp>
      <p:grpSp>
        <p:nvGrpSpPr>
          <p:cNvPr id="42" name="组合 41"/>
          <p:cNvGrpSpPr/>
          <p:nvPr/>
        </p:nvGrpSpPr>
        <p:grpSpPr>
          <a:xfrm>
            <a:off x="1165778" y="4240939"/>
            <a:ext cx="7122734" cy="2521973"/>
            <a:chOff x="1230866" y="4263478"/>
            <a:chExt cx="7122734" cy="2521973"/>
          </a:xfrm>
        </p:grpSpPr>
        <p:sp>
          <p:nvSpPr>
            <p:cNvPr id="43" name="Text Box 11"/>
            <p:cNvSpPr txBox="1">
              <a:spLocks noChangeArrowheads="1"/>
            </p:cNvSpPr>
            <p:nvPr/>
          </p:nvSpPr>
          <p:spPr bwMode="auto">
            <a:xfrm>
              <a:off x="1230866" y="4263479"/>
              <a:ext cx="3888432"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第</a:t>
              </a:r>
              <a:r>
                <a:rPr kumimoji="1"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2</a:t>
              </a: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种情况是字符串以</a:t>
              </a:r>
              <a:endParaRPr kumimoji="1" lang="en-US" altLang="zh-CN" sz="2800" b="1" dirty="0">
                <a:solidFill>
                  <a:srgbClr val="800080"/>
                </a:solidFill>
                <a:latin typeface="Arial" panose="020B0604020202020204" pitchFamily="34" charset="0"/>
                <a:ea typeface="楷体_GB2312" pitchFamily="49" charset="-122"/>
              </a:endParaRPr>
            </a:p>
          </p:txBody>
        </p:sp>
        <p:pic>
          <p:nvPicPr>
            <p:cNvPr id="44" name="图片 43"/>
            <p:cNvPicPr>
              <a:picLocks noChangeAspect="1"/>
            </p:cNvPicPr>
            <p:nvPr/>
          </p:nvPicPr>
          <p:blipFill>
            <a:blip r:embed="rId3"/>
            <a:stretch>
              <a:fillRect/>
            </a:stretch>
          </p:blipFill>
          <p:spPr>
            <a:xfrm>
              <a:off x="4257630" y="4397291"/>
              <a:ext cx="194040" cy="194040"/>
            </a:xfrm>
            <a:prstGeom prst="rect">
              <a:avLst/>
            </a:prstGeom>
          </p:spPr>
        </p:pic>
        <p:sp>
          <p:nvSpPr>
            <p:cNvPr id="45" name="Text Box 11"/>
            <p:cNvSpPr txBox="1">
              <a:spLocks noChangeArrowheads="1"/>
            </p:cNvSpPr>
            <p:nvPr/>
          </p:nvSpPr>
          <p:spPr bwMode="auto">
            <a:xfrm>
              <a:off x="4465168" y="4263478"/>
              <a:ext cx="3888432"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开头，则在剩下的字符串中</a:t>
              </a:r>
              <a:endParaRPr kumimoji="1" lang="en-US" altLang="zh-CN" sz="2800" b="1" dirty="0">
                <a:solidFill>
                  <a:srgbClr val="800080"/>
                </a:solidFill>
                <a:latin typeface="Arial" panose="020B0604020202020204" pitchFamily="34" charset="0"/>
                <a:ea typeface="楷体_GB2312" pitchFamily="49" charset="-122"/>
              </a:endParaRPr>
            </a:p>
          </p:txBody>
        </p:sp>
        <p:sp>
          <p:nvSpPr>
            <p:cNvPr id="46" name="Text Box 11"/>
            <p:cNvSpPr txBox="1">
              <a:spLocks noChangeArrowheads="1"/>
            </p:cNvSpPr>
            <p:nvPr/>
          </p:nvSpPr>
          <p:spPr bwMode="auto">
            <a:xfrm>
              <a:off x="1547664" y="4767334"/>
              <a:ext cx="2088232"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的数量必然比</a:t>
              </a:r>
              <a:endParaRPr kumimoji="1" lang="en-US" altLang="zh-CN" sz="2800" b="1" dirty="0">
                <a:solidFill>
                  <a:srgbClr val="800080"/>
                </a:solidFill>
                <a:latin typeface="Arial" panose="020B0604020202020204" pitchFamily="34" charset="0"/>
                <a:ea typeface="楷体_GB2312" pitchFamily="49" charset="-122"/>
              </a:endParaRPr>
            </a:p>
          </p:txBody>
        </p:sp>
        <p:pic>
          <p:nvPicPr>
            <p:cNvPr id="47" name="图片 46"/>
            <p:cNvPicPr>
              <a:picLocks noChangeAspect="1"/>
            </p:cNvPicPr>
            <p:nvPr/>
          </p:nvPicPr>
          <p:blipFill>
            <a:blip r:embed="rId4"/>
            <a:stretch>
              <a:fillRect/>
            </a:stretch>
          </p:blipFill>
          <p:spPr>
            <a:xfrm>
              <a:off x="1403126" y="4852854"/>
              <a:ext cx="144538" cy="268427"/>
            </a:xfrm>
            <a:prstGeom prst="rect">
              <a:avLst/>
            </a:prstGeom>
          </p:spPr>
        </p:pic>
        <p:pic>
          <p:nvPicPr>
            <p:cNvPr id="48" name="图片 47"/>
            <p:cNvPicPr>
              <a:picLocks noChangeAspect="1"/>
            </p:cNvPicPr>
            <p:nvPr/>
          </p:nvPicPr>
          <p:blipFill>
            <a:blip r:embed="rId3"/>
            <a:stretch>
              <a:fillRect/>
            </a:stretch>
          </p:blipFill>
          <p:spPr>
            <a:xfrm>
              <a:off x="3538489" y="4895161"/>
              <a:ext cx="194040" cy="194040"/>
            </a:xfrm>
            <a:prstGeom prst="rect">
              <a:avLst/>
            </a:prstGeom>
          </p:spPr>
        </p:pic>
        <p:sp>
          <p:nvSpPr>
            <p:cNvPr id="49" name="Text Box 11"/>
            <p:cNvSpPr txBox="1">
              <a:spLocks noChangeArrowheads="1"/>
            </p:cNvSpPr>
            <p:nvPr/>
          </p:nvSpPr>
          <p:spPr bwMode="auto">
            <a:xfrm>
              <a:off x="3741448" y="4756234"/>
              <a:ext cx="4612152"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多</a:t>
              </a:r>
              <a:r>
                <a:rPr kumimoji="1"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1</a:t>
              </a: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个。对剩下的字符串重新计数，</a:t>
              </a:r>
              <a:endParaRPr kumimoji="1" lang="en-US" altLang="zh-CN" sz="2800" b="1" dirty="0">
                <a:solidFill>
                  <a:srgbClr val="800080"/>
                </a:solidFill>
                <a:latin typeface="Arial" panose="020B0604020202020204" pitchFamily="34" charset="0"/>
                <a:ea typeface="楷体_GB2312" pitchFamily="49" charset="-122"/>
              </a:endParaRPr>
            </a:p>
          </p:txBody>
        </p:sp>
        <p:sp>
          <p:nvSpPr>
            <p:cNvPr id="50" name="Text Box 11"/>
            <p:cNvSpPr txBox="1">
              <a:spLocks noChangeArrowheads="1"/>
            </p:cNvSpPr>
            <p:nvPr/>
          </p:nvSpPr>
          <p:spPr bwMode="auto">
            <a:xfrm>
              <a:off x="1232413" y="5293633"/>
              <a:ext cx="1942669"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当第</a:t>
              </a:r>
              <a:r>
                <a:rPr kumimoji="1"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1</a:t>
              </a: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次遇到</a:t>
              </a:r>
              <a:endParaRPr kumimoji="1" lang="en-US" altLang="zh-CN" sz="2800" b="1" dirty="0">
                <a:solidFill>
                  <a:srgbClr val="800080"/>
                </a:solidFill>
                <a:latin typeface="Arial" panose="020B0604020202020204" pitchFamily="34" charset="0"/>
                <a:ea typeface="楷体_GB2312" pitchFamily="49" charset="-122"/>
              </a:endParaRPr>
            </a:p>
          </p:txBody>
        </p:sp>
        <p:sp>
          <p:nvSpPr>
            <p:cNvPr id="51" name="Text Box 11"/>
            <p:cNvSpPr txBox="1">
              <a:spLocks noChangeArrowheads="1"/>
            </p:cNvSpPr>
            <p:nvPr/>
          </p:nvSpPr>
          <p:spPr bwMode="auto">
            <a:xfrm>
              <a:off x="3248421" y="5293633"/>
              <a:ext cx="1467595"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的数量比</a:t>
              </a:r>
              <a:endParaRPr kumimoji="1" lang="en-US" altLang="zh-CN" sz="2800" b="1" dirty="0">
                <a:solidFill>
                  <a:srgbClr val="800080"/>
                </a:solidFill>
                <a:latin typeface="Arial" panose="020B0604020202020204" pitchFamily="34" charset="0"/>
                <a:ea typeface="楷体_GB2312" pitchFamily="49" charset="-122"/>
              </a:endParaRPr>
            </a:p>
          </p:txBody>
        </p:sp>
        <p:pic>
          <p:nvPicPr>
            <p:cNvPr id="52" name="图片 51"/>
            <p:cNvPicPr>
              <a:picLocks noChangeAspect="1"/>
            </p:cNvPicPr>
            <p:nvPr/>
          </p:nvPicPr>
          <p:blipFill>
            <a:blip r:embed="rId4"/>
            <a:stretch>
              <a:fillRect/>
            </a:stretch>
          </p:blipFill>
          <p:spPr>
            <a:xfrm>
              <a:off x="3102813" y="5410193"/>
              <a:ext cx="144538" cy="268427"/>
            </a:xfrm>
            <a:prstGeom prst="rect">
              <a:avLst/>
            </a:prstGeom>
          </p:spPr>
        </p:pic>
        <p:pic>
          <p:nvPicPr>
            <p:cNvPr id="53" name="图片 52"/>
            <p:cNvPicPr>
              <a:picLocks noChangeAspect="1"/>
            </p:cNvPicPr>
            <p:nvPr/>
          </p:nvPicPr>
          <p:blipFill>
            <a:blip r:embed="rId3"/>
            <a:stretch>
              <a:fillRect/>
            </a:stretch>
          </p:blipFill>
          <p:spPr>
            <a:xfrm>
              <a:off x="4633867" y="5421460"/>
              <a:ext cx="194040" cy="194040"/>
            </a:xfrm>
            <a:prstGeom prst="rect">
              <a:avLst/>
            </a:prstGeom>
          </p:spPr>
        </p:pic>
        <p:sp>
          <p:nvSpPr>
            <p:cNvPr id="54" name="Text Box 11"/>
            <p:cNvSpPr txBox="1">
              <a:spLocks noChangeArrowheads="1"/>
            </p:cNvSpPr>
            <p:nvPr/>
          </p:nvSpPr>
          <p:spPr bwMode="auto">
            <a:xfrm>
              <a:off x="4836826" y="5282533"/>
              <a:ext cx="3516773"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多</a:t>
              </a:r>
              <a:r>
                <a:rPr kumimoji="1"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1</a:t>
              </a: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个时停下来，可将剩</a:t>
              </a:r>
              <a:endParaRPr kumimoji="1" lang="en-US" altLang="zh-CN" sz="2800" b="1" dirty="0">
                <a:solidFill>
                  <a:srgbClr val="800080"/>
                </a:solidFill>
                <a:latin typeface="Arial" panose="020B0604020202020204" pitchFamily="34" charset="0"/>
                <a:ea typeface="楷体_GB2312" pitchFamily="49" charset="-122"/>
              </a:endParaRPr>
            </a:p>
          </p:txBody>
        </p:sp>
        <p:sp>
          <p:nvSpPr>
            <p:cNvPr id="55" name="Text Box 11"/>
            <p:cNvSpPr txBox="1">
              <a:spLocks noChangeArrowheads="1"/>
            </p:cNvSpPr>
            <p:nvPr/>
          </p:nvSpPr>
          <p:spPr bwMode="auto">
            <a:xfrm>
              <a:off x="1232412" y="5851022"/>
              <a:ext cx="7121187"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下的字符串分成三部分：左部和右部中</a:t>
              </a:r>
              <a:endParaRPr kumimoji="1" lang="en-US" altLang="zh-CN" sz="2800" b="1" dirty="0">
                <a:solidFill>
                  <a:srgbClr val="800080"/>
                </a:solidFill>
                <a:latin typeface="Arial" panose="020B0604020202020204" pitchFamily="34" charset="0"/>
                <a:ea typeface="楷体_GB2312" pitchFamily="49" charset="-122"/>
              </a:endParaRPr>
            </a:p>
          </p:txBody>
        </p:sp>
        <p:sp>
          <p:nvSpPr>
            <p:cNvPr id="56" name="Text Box 11"/>
            <p:cNvSpPr txBox="1">
              <a:spLocks noChangeArrowheads="1"/>
            </p:cNvSpPr>
            <p:nvPr/>
          </p:nvSpPr>
          <p:spPr bwMode="auto">
            <a:xfrm>
              <a:off x="6658653" y="5839923"/>
              <a:ext cx="146214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的数量和</a:t>
              </a:r>
              <a:endParaRPr kumimoji="1" lang="en-US" altLang="zh-CN" sz="2800" b="1" dirty="0">
                <a:solidFill>
                  <a:srgbClr val="800080"/>
                </a:solidFill>
                <a:latin typeface="Arial" panose="020B0604020202020204" pitchFamily="34" charset="0"/>
                <a:ea typeface="楷体_GB2312" pitchFamily="49" charset="-122"/>
              </a:endParaRPr>
            </a:p>
          </p:txBody>
        </p:sp>
        <p:pic>
          <p:nvPicPr>
            <p:cNvPr id="57" name="图片 56"/>
            <p:cNvPicPr>
              <a:picLocks noChangeAspect="1"/>
            </p:cNvPicPr>
            <p:nvPr/>
          </p:nvPicPr>
          <p:blipFill>
            <a:blip r:embed="rId4"/>
            <a:stretch>
              <a:fillRect/>
            </a:stretch>
          </p:blipFill>
          <p:spPr>
            <a:xfrm>
              <a:off x="8055049" y="5936541"/>
              <a:ext cx="144538" cy="268427"/>
            </a:xfrm>
            <a:prstGeom prst="rect">
              <a:avLst/>
            </a:prstGeom>
          </p:spPr>
        </p:pic>
        <p:pic>
          <p:nvPicPr>
            <p:cNvPr id="58" name="图片 57"/>
            <p:cNvPicPr>
              <a:picLocks noChangeAspect="1"/>
            </p:cNvPicPr>
            <p:nvPr/>
          </p:nvPicPr>
          <p:blipFill>
            <a:blip r:embed="rId3"/>
            <a:stretch>
              <a:fillRect/>
            </a:stretch>
          </p:blipFill>
          <p:spPr>
            <a:xfrm>
              <a:off x="6516216" y="6008391"/>
              <a:ext cx="194040" cy="194040"/>
            </a:xfrm>
            <a:prstGeom prst="rect">
              <a:avLst/>
            </a:prstGeom>
          </p:spPr>
        </p:pic>
        <p:sp>
          <p:nvSpPr>
            <p:cNvPr id="59" name="Text Box 11"/>
            <p:cNvSpPr txBox="1">
              <a:spLocks noChangeArrowheads="1"/>
            </p:cNvSpPr>
            <p:nvPr/>
          </p:nvSpPr>
          <p:spPr bwMode="auto">
            <a:xfrm>
              <a:off x="1232413" y="6323786"/>
              <a:ext cx="456372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相等，中间是一个单独的分割点</a:t>
              </a:r>
              <a:endParaRPr kumimoji="1" lang="en-US" altLang="zh-CN" sz="2800" b="1" dirty="0">
                <a:solidFill>
                  <a:srgbClr val="800080"/>
                </a:solidFill>
                <a:latin typeface="Arial" panose="020B0604020202020204" pitchFamily="34" charset="0"/>
                <a:ea typeface="楷体_GB2312" pitchFamily="49" charset="-122"/>
              </a:endParaRPr>
            </a:p>
          </p:txBody>
        </p:sp>
        <p:pic>
          <p:nvPicPr>
            <p:cNvPr id="60" name="图片 59"/>
            <p:cNvPicPr>
              <a:picLocks noChangeAspect="1"/>
            </p:cNvPicPr>
            <p:nvPr/>
          </p:nvPicPr>
          <p:blipFill>
            <a:blip r:embed="rId4"/>
            <a:stretch>
              <a:fillRect/>
            </a:stretch>
          </p:blipFill>
          <p:spPr>
            <a:xfrm>
              <a:off x="5651599" y="6420404"/>
              <a:ext cx="144538" cy="268427"/>
            </a:xfrm>
            <a:prstGeom prst="rect">
              <a:avLst/>
            </a:prstGeom>
          </p:spPr>
        </p:pic>
        <p:sp>
          <p:nvSpPr>
            <p:cNvPr id="61" name="Text Box 11"/>
            <p:cNvSpPr txBox="1">
              <a:spLocks noChangeArrowheads="1"/>
            </p:cNvSpPr>
            <p:nvPr/>
          </p:nvSpPr>
          <p:spPr bwMode="auto">
            <a:xfrm>
              <a:off x="5796137" y="6323786"/>
              <a:ext cx="539552"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a:t>
              </a:r>
              <a:endParaRPr kumimoji="1" lang="en-US" altLang="zh-CN" sz="2800" b="1" dirty="0">
                <a:solidFill>
                  <a:srgbClr val="800080"/>
                </a:solidFill>
                <a:latin typeface="Arial" panose="020B0604020202020204" pitchFamily="34" charset="0"/>
                <a:ea typeface="楷体_GB2312" pitchFamily="49"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上下文无关文法</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26"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2</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27" name="图片 26"/>
          <p:cNvPicPr>
            <a:picLocks noChangeAspect="1"/>
          </p:cNvPicPr>
          <p:nvPr/>
        </p:nvPicPr>
        <p:blipFill>
          <a:blip r:embed="rId2"/>
          <a:stretch>
            <a:fillRect/>
          </a:stretch>
        </p:blipFill>
        <p:spPr>
          <a:xfrm>
            <a:off x="1447800" y="2033239"/>
            <a:ext cx="6953535" cy="353894"/>
          </a:xfrm>
          <a:prstGeom prst="rect">
            <a:avLst/>
          </a:prstGeom>
        </p:spPr>
      </p:pic>
      <p:sp>
        <p:nvSpPr>
          <p:cNvPr id="62" name="Text Box 11"/>
          <p:cNvSpPr txBox="1">
            <a:spLocks noChangeArrowheads="1"/>
          </p:cNvSpPr>
          <p:nvPr/>
        </p:nvSpPr>
        <p:spPr bwMode="auto">
          <a:xfrm>
            <a:off x="990600" y="2709453"/>
            <a:ext cx="6633616"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解：不妨看几个具体的例子</a:t>
            </a:r>
            <a:endParaRPr kumimoji="1" lang="en-US" altLang="zh-CN" sz="2800" b="1" dirty="0">
              <a:solidFill>
                <a:srgbClr val="800080"/>
              </a:solidFill>
              <a:latin typeface="Arial" panose="020B0604020202020204" pitchFamily="34" charset="0"/>
              <a:ea typeface="楷体_GB2312" pitchFamily="49" charset="-122"/>
            </a:endParaRPr>
          </a:p>
        </p:txBody>
      </p:sp>
      <p:pic>
        <p:nvPicPr>
          <p:cNvPr id="63" name="图片 62"/>
          <p:cNvPicPr>
            <a:picLocks noChangeAspect="1"/>
          </p:cNvPicPr>
          <p:nvPr/>
        </p:nvPicPr>
        <p:blipFill>
          <a:blip r:embed="rId3"/>
          <a:stretch>
            <a:fillRect/>
          </a:stretch>
        </p:blipFill>
        <p:spPr>
          <a:xfrm>
            <a:off x="6253856" y="3393485"/>
            <a:ext cx="1727200" cy="330200"/>
          </a:xfrm>
          <a:prstGeom prst="rect">
            <a:avLst/>
          </a:prstGeom>
        </p:spPr>
      </p:pic>
      <p:pic>
        <p:nvPicPr>
          <p:cNvPr id="64" name="图片 63"/>
          <p:cNvPicPr>
            <a:picLocks noChangeAspect="1"/>
          </p:cNvPicPr>
          <p:nvPr/>
        </p:nvPicPr>
        <p:blipFill>
          <a:blip r:embed="rId4"/>
          <a:stretch>
            <a:fillRect/>
          </a:stretch>
        </p:blipFill>
        <p:spPr>
          <a:xfrm>
            <a:off x="4240212" y="3393485"/>
            <a:ext cx="1295400" cy="330200"/>
          </a:xfrm>
          <a:prstGeom prst="rect">
            <a:avLst/>
          </a:prstGeom>
        </p:spPr>
      </p:pic>
      <p:sp>
        <p:nvSpPr>
          <p:cNvPr id="65" name="矩形 64"/>
          <p:cNvSpPr/>
          <p:nvPr/>
        </p:nvSpPr>
        <p:spPr bwMode="auto">
          <a:xfrm>
            <a:off x="6514960" y="3393485"/>
            <a:ext cx="1253273" cy="400110"/>
          </a:xfrm>
          <a:prstGeom prst="rect">
            <a:avLst/>
          </a:prstGeom>
          <a:solidFill>
            <a:srgbClr val="00B050">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dirty="0">
              <a:solidFill>
                <a:srgbClr val="800080"/>
              </a:solidFill>
              <a:latin typeface="Times New Roman" panose="02020603050405020304" pitchFamily="18" charset="0"/>
              <a:ea typeface="宋体" panose="02010600030101010101" pitchFamily="2" charset="-122"/>
            </a:endParaRPr>
          </a:p>
        </p:txBody>
      </p:sp>
      <p:sp>
        <p:nvSpPr>
          <p:cNvPr id="66" name="矩形 65"/>
          <p:cNvSpPr/>
          <p:nvPr/>
        </p:nvSpPr>
        <p:spPr bwMode="auto">
          <a:xfrm>
            <a:off x="4671889" y="3384790"/>
            <a:ext cx="863724" cy="400110"/>
          </a:xfrm>
          <a:prstGeom prst="rect">
            <a:avLst/>
          </a:prstGeom>
          <a:solidFill>
            <a:srgbClr val="FF0000">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dirty="0">
              <a:solidFill>
                <a:srgbClr val="800080"/>
              </a:solidFill>
              <a:latin typeface="Times New Roman" panose="02020603050405020304" pitchFamily="18" charset="0"/>
              <a:ea typeface="宋体" panose="02010600030101010101" pitchFamily="2" charset="-122"/>
            </a:endParaRPr>
          </a:p>
        </p:txBody>
      </p:sp>
      <p:pic>
        <p:nvPicPr>
          <p:cNvPr id="67" name="图片 66"/>
          <p:cNvPicPr>
            <a:picLocks noChangeAspect="1"/>
          </p:cNvPicPr>
          <p:nvPr/>
        </p:nvPicPr>
        <p:blipFill>
          <a:blip r:embed="rId5"/>
          <a:stretch>
            <a:fillRect/>
          </a:stretch>
        </p:blipFill>
        <p:spPr>
          <a:xfrm>
            <a:off x="1866077" y="3393485"/>
            <a:ext cx="1295400" cy="330200"/>
          </a:xfrm>
          <a:prstGeom prst="rect">
            <a:avLst/>
          </a:prstGeom>
        </p:spPr>
      </p:pic>
      <p:sp>
        <p:nvSpPr>
          <p:cNvPr id="68" name="矩形 67"/>
          <p:cNvSpPr/>
          <p:nvPr/>
        </p:nvSpPr>
        <p:spPr bwMode="auto">
          <a:xfrm>
            <a:off x="2069817" y="3384790"/>
            <a:ext cx="431677" cy="400110"/>
          </a:xfrm>
          <a:prstGeom prst="rect">
            <a:avLst/>
          </a:prstGeom>
          <a:solidFill>
            <a:srgbClr val="00B050">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dirty="0">
              <a:solidFill>
                <a:srgbClr val="800080"/>
              </a:solidFill>
              <a:latin typeface="Times New Roman" panose="02020603050405020304" pitchFamily="18" charset="0"/>
              <a:ea typeface="宋体" panose="02010600030101010101" pitchFamily="2" charset="-122"/>
            </a:endParaRPr>
          </a:p>
        </p:txBody>
      </p:sp>
      <p:sp>
        <p:nvSpPr>
          <p:cNvPr id="69" name="矩形 68"/>
          <p:cNvSpPr/>
          <p:nvPr/>
        </p:nvSpPr>
        <p:spPr bwMode="auto">
          <a:xfrm>
            <a:off x="2705232" y="3384790"/>
            <a:ext cx="431677" cy="400110"/>
          </a:xfrm>
          <a:prstGeom prst="rect">
            <a:avLst/>
          </a:prstGeom>
          <a:solidFill>
            <a:srgbClr val="FF0000">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dirty="0">
              <a:solidFill>
                <a:srgbClr val="800080"/>
              </a:solidFill>
              <a:latin typeface="Times New Roman" panose="02020603050405020304" pitchFamily="18" charset="0"/>
              <a:ea typeface="宋体" panose="02010600030101010101" pitchFamily="2" charset="-122"/>
            </a:endParaRPr>
          </a:p>
        </p:txBody>
      </p:sp>
      <p:sp>
        <p:nvSpPr>
          <p:cNvPr id="70" name="矩形 69"/>
          <p:cNvSpPr/>
          <p:nvPr/>
        </p:nvSpPr>
        <p:spPr bwMode="auto">
          <a:xfrm>
            <a:off x="7768233" y="3397032"/>
            <a:ext cx="261103" cy="400110"/>
          </a:xfrm>
          <a:prstGeom prst="rect">
            <a:avLst/>
          </a:prstGeom>
          <a:solidFill>
            <a:srgbClr val="000066">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dirty="0">
              <a:solidFill>
                <a:srgbClr val="800080"/>
              </a:solidFill>
              <a:latin typeface="Times New Roman" panose="02020603050405020304" pitchFamily="18" charset="0"/>
              <a:ea typeface="宋体" panose="02010600030101010101" pitchFamily="2" charset="-122"/>
            </a:endParaRPr>
          </a:p>
        </p:txBody>
      </p:sp>
      <p:sp>
        <p:nvSpPr>
          <p:cNvPr id="71" name="矩形 70"/>
          <p:cNvSpPr/>
          <p:nvPr/>
        </p:nvSpPr>
        <p:spPr bwMode="auto">
          <a:xfrm>
            <a:off x="2500634" y="3383712"/>
            <a:ext cx="203737" cy="400110"/>
          </a:xfrm>
          <a:prstGeom prst="rect">
            <a:avLst/>
          </a:prstGeom>
          <a:solidFill>
            <a:srgbClr val="000066">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dirty="0">
              <a:solidFill>
                <a:srgbClr val="800080"/>
              </a:solidFill>
              <a:latin typeface="Times New Roman" panose="02020603050405020304" pitchFamily="18" charset="0"/>
              <a:ea typeface="宋体" panose="02010600030101010101" pitchFamily="2" charset="-122"/>
            </a:endParaRPr>
          </a:p>
        </p:txBody>
      </p:sp>
      <p:sp>
        <p:nvSpPr>
          <p:cNvPr id="72" name="矩形 71"/>
          <p:cNvSpPr/>
          <p:nvPr/>
        </p:nvSpPr>
        <p:spPr bwMode="auto">
          <a:xfrm>
            <a:off x="4467925" y="3384790"/>
            <a:ext cx="206053" cy="400110"/>
          </a:xfrm>
          <a:prstGeom prst="rect">
            <a:avLst/>
          </a:prstGeom>
          <a:solidFill>
            <a:srgbClr val="000066">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dirty="0">
              <a:solidFill>
                <a:srgbClr val="800080"/>
              </a:solidFill>
              <a:latin typeface="Times New Roman" panose="02020603050405020304" pitchFamily="18" charset="0"/>
              <a:ea typeface="宋体" panose="02010600030101010101" pitchFamily="2" charset="-122"/>
            </a:endParaRPr>
          </a:p>
        </p:txBody>
      </p:sp>
      <p:sp>
        <p:nvSpPr>
          <p:cNvPr id="73" name="Text Box 11"/>
          <p:cNvSpPr txBox="1">
            <a:spLocks noChangeArrowheads="1"/>
          </p:cNvSpPr>
          <p:nvPr/>
        </p:nvSpPr>
        <p:spPr bwMode="auto">
          <a:xfrm>
            <a:off x="1641721" y="5372914"/>
            <a:ext cx="6633616"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因此，很容易用递归的形式来定义</a:t>
            </a:r>
            <a:endParaRPr kumimoji="1" lang="en-US" altLang="zh-CN" sz="2800" b="1" dirty="0">
              <a:solidFill>
                <a:srgbClr val="800080"/>
              </a:solidFill>
              <a:latin typeface="Arial" panose="020B0604020202020204" pitchFamily="34" charset="0"/>
              <a:ea typeface="楷体_GB2312" pitchFamily="49" charset="-122"/>
            </a:endParaRPr>
          </a:p>
        </p:txBody>
      </p:sp>
      <p:pic>
        <p:nvPicPr>
          <p:cNvPr id="74" name="图片 73"/>
          <p:cNvPicPr>
            <a:picLocks noChangeAspect="1"/>
          </p:cNvPicPr>
          <p:nvPr/>
        </p:nvPicPr>
        <p:blipFill>
          <a:blip r:embed="rId6"/>
          <a:stretch>
            <a:fillRect/>
          </a:stretch>
        </p:blipFill>
        <p:spPr>
          <a:xfrm>
            <a:off x="3655889" y="6047173"/>
            <a:ext cx="2032000" cy="355600"/>
          </a:xfrm>
          <a:prstGeom prst="rect">
            <a:avLst/>
          </a:prstGeom>
        </p:spPr>
      </p:pic>
      <p:grpSp>
        <p:nvGrpSpPr>
          <p:cNvPr id="75" name="组合 74"/>
          <p:cNvGrpSpPr/>
          <p:nvPr/>
        </p:nvGrpSpPr>
        <p:grpSpPr>
          <a:xfrm>
            <a:off x="2380786" y="4026111"/>
            <a:ext cx="5155487" cy="595602"/>
            <a:chOff x="2105109" y="4262021"/>
            <a:chExt cx="5155487" cy="595602"/>
          </a:xfrm>
        </p:grpSpPr>
        <p:sp>
          <p:nvSpPr>
            <p:cNvPr id="76" name="矩形 75"/>
            <p:cNvSpPr/>
            <p:nvPr/>
          </p:nvSpPr>
          <p:spPr bwMode="auto">
            <a:xfrm>
              <a:off x="2287658" y="4450312"/>
              <a:ext cx="282072" cy="400110"/>
            </a:xfrm>
            <a:prstGeom prst="rect">
              <a:avLst/>
            </a:prstGeom>
            <a:solidFill>
              <a:srgbClr val="00B050">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dirty="0">
                <a:solidFill>
                  <a:srgbClr val="800080"/>
                </a:solidFill>
                <a:latin typeface="Times New Roman" panose="02020603050405020304" pitchFamily="18" charset="0"/>
                <a:ea typeface="宋体" panose="02010600030101010101" pitchFamily="2" charset="-122"/>
              </a:endParaRPr>
            </a:p>
          </p:txBody>
        </p:sp>
        <p:sp>
          <p:nvSpPr>
            <p:cNvPr id="77" name="矩形 76"/>
            <p:cNvSpPr/>
            <p:nvPr/>
          </p:nvSpPr>
          <p:spPr bwMode="auto">
            <a:xfrm>
              <a:off x="4114002" y="4439138"/>
              <a:ext cx="282072" cy="400110"/>
            </a:xfrm>
            <a:prstGeom prst="rect">
              <a:avLst/>
            </a:prstGeom>
            <a:solidFill>
              <a:srgbClr val="000066">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dirty="0">
                <a:solidFill>
                  <a:srgbClr val="800080"/>
                </a:solidFill>
                <a:latin typeface="Times New Roman" panose="02020603050405020304" pitchFamily="18" charset="0"/>
                <a:ea typeface="宋体" panose="02010600030101010101" pitchFamily="2" charset="-122"/>
              </a:endParaRPr>
            </a:p>
          </p:txBody>
        </p:sp>
        <p:sp>
          <p:nvSpPr>
            <p:cNvPr id="78" name="矩形 77"/>
            <p:cNvSpPr/>
            <p:nvPr/>
          </p:nvSpPr>
          <p:spPr bwMode="auto">
            <a:xfrm>
              <a:off x="5937944" y="4457513"/>
              <a:ext cx="282072" cy="400110"/>
            </a:xfrm>
            <a:prstGeom prst="rect">
              <a:avLst/>
            </a:prstGeom>
            <a:solidFill>
              <a:srgbClr val="FF0000">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dirty="0">
                <a:solidFill>
                  <a:srgbClr val="800080"/>
                </a:solidFill>
                <a:latin typeface="Times New Roman" panose="02020603050405020304" pitchFamily="18" charset="0"/>
                <a:ea typeface="宋体" panose="02010600030101010101" pitchFamily="2" charset="-122"/>
              </a:endParaRPr>
            </a:p>
          </p:txBody>
        </p:sp>
        <p:sp>
          <p:nvSpPr>
            <p:cNvPr id="79" name="Text Box 11"/>
            <p:cNvSpPr txBox="1">
              <a:spLocks noChangeArrowheads="1"/>
            </p:cNvSpPr>
            <p:nvPr/>
          </p:nvSpPr>
          <p:spPr bwMode="auto">
            <a:xfrm>
              <a:off x="2621434" y="4313557"/>
              <a:ext cx="91810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左部</a:t>
              </a:r>
              <a:endParaRPr kumimoji="1" lang="en-US" altLang="zh-CN" sz="2800" b="1" dirty="0">
                <a:solidFill>
                  <a:srgbClr val="800080"/>
                </a:solidFill>
                <a:latin typeface="Arial" panose="020B0604020202020204" pitchFamily="34" charset="0"/>
                <a:ea typeface="楷体_GB2312" pitchFamily="49" charset="-122"/>
              </a:endParaRPr>
            </a:p>
          </p:txBody>
        </p:sp>
        <p:sp>
          <p:nvSpPr>
            <p:cNvPr id="80" name="Text Box 11"/>
            <p:cNvSpPr txBox="1">
              <a:spLocks noChangeArrowheads="1"/>
            </p:cNvSpPr>
            <p:nvPr/>
          </p:nvSpPr>
          <p:spPr bwMode="auto">
            <a:xfrm>
              <a:off x="4545322" y="4313557"/>
              <a:ext cx="91810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中部</a:t>
              </a:r>
              <a:endParaRPr kumimoji="1" lang="en-US" altLang="zh-CN" sz="2800" b="1" dirty="0">
                <a:solidFill>
                  <a:srgbClr val="800080"/>
                </a:solidFill>
                <a:latin typeface="Arial" panose="020B0604020202020204" pitchFamily="34" charset="0"/>
                <a:ea typeface="楷体_GB2312" pitchFamily="49" charset="-122"/>
              </a:endParaRPr>
            </a:p>
          </p:txBody>
        </p:sp>
        <p:sp>
          <p:nvSpPr>
            <p:cNvPr id="81" name="Text Box 11"/>
            <p:cNvSpPr txBox="1">
              <a:spLocks noChangeArrowheads="1"/>
            </p:cNvSpPr>
            <p:nvPr/>
          </p:nvSpPr>
          <p:spPr bwMode="auto">
            <a:xfrm>
              <a:off x="6342492" y="4329654"/>
              <a:ext cx="91810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右部</a:t>
              </a:r>
              <a:endParaRPr kumimoji="1" lang="en-US" altLang="zh-CN" sz="2800" b="1" dirty="0">
                <a:solidFill>
                  <a:srgbClr val="800080"/>
                </a:solidFill>
                <a:latin typeface="Arial" panose="020B0604020202020204" pitchFamily="34" charset="0"/>
                <a:ea typeface="楷体_GB2312" pitchFamily="49" charset="-122"/>
              </a:endParaRPr>
            </a:p>
          </p:txBody>
        </p:sp>
        <p:sp>
          <p:nvSpPr>
            <p:cNvPr id="82" name="矩形 81"/>
            <p:cNvSpPr/>
            <p:nvPr/>
          </p:nvSpPr>
          <p:spPr bwMode="auto">
            <a:xfrm>
              <a:off x="2105109" y="4262021"/>
              <a:ext cx="5075015" cy="400110"/>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grpSp>
      <p:grpSp>
        <p:nvGrpSpPr>
          <p:cNvPr id="83" name="组合 82"/>
          <p:cNvGrpSpPr/>
          <p:nvPr/>
        </p:nvGrpSpPr>
        <p:grpSpPr>
          <a:xfrm>
            <a:off x="1669193" y="4727604"/>
            <a:ext cx="6546422" cy="461665"/>
            <a:chOff x="1353281" y="4727603"/>
            <a:chExt cx="6546422" cy="461665"/>
          </a:xfrm>
        </p:grpSpPr>
        <p:sp>
          <p:nvSpPr>
            <p:cNvPr id="84" name="Text Box 11"/>
            <p:cNvSpPr txBox="1">
              <a:spLocks noChangeArrowheads="1"/>
            </p:cNvSpPr>
            <p:nvPr/>
          </p:nvSpPr>
          <p:spPr bwMode="auto">
            <a:xfrm>
              <a:off x="1353281" y="4727603"/>
              <a:ext cx="4178207"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注意：中间部分作为分割点的</a:t>
              </a:r>
              <a:endParaRPr kumimoji="1" lang="en-US" altLang="zh-CN" sz="2800" b="1" dirty="0">
                <a:solidFill>
                  <a:srgbClr val="800080"/>
                </a:solidFill>
                <a:latin typeface="Arial" panose="020B0604020202020204" pitchFamily="34" charset="0"/>
                <a:ea typeface="楷体_GB2312" pitchFamily="49" charset="-122"/>
              </a:endParaRPr>
            </a:p>
          </p:txBody>
        </p:sp>
        <p:sp>
          <p:nvSpPr>
            <p:cNvPr id="85" name="Text Box 11"/>
            <p:cNvSpPr txBox="1">
              <a:spLocks noChangeArrowheads="1"/>
            </p:cNvSpPr>
            <p:nvPr/>
          </p:nvSpPr>
          <p:spPr bwMode="auto">
            <a:xfrm>
              <a:off x="5628508" y="4727603"/>
              <a:ext cx="2271195"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是唯一的。</a:t>
              </a:r>
              <a:endParaRPr kumimoji="1" lang="en-US" altLang="zh-CN" sz="2800" b="1" dirty="0">
                <a:solidFill>
                  <a:srgbClr val="800080"/>
                </a:solidFill>
                <a:latin typeface="Arial" panose="020B0604020202020204" pitchFamily="34" charset="0"/>
                <a:ea typeface="楷体_GB2312" pitchFamily="49" charset="-122"/>
              </a:endParaRPr>
            </a:p>
          </p:txBody>
        </p:sp>
        <p:pic>
          <p:nvPicPr>
            <p:cNvPr id="86" name="图片 85"/>
            <p:cNvPicPr>
              <a:picLocks noChangeAspect="1"/>
            </p:cNvPicPr>
            <p:nvPr/>
          </p:nvPicPr>
          <p:blipFill>
            <a:blip r:embed="rId7"/>
            <a:stretch>
              <a:fillRect/>
            </a:stretch>
          </p:blipFill>
          <p:spPr>
            <a:xfrm>
              <a:off x="5507729" y="4824221"/>
              <a:ext cx="144538" cy="268427"/>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bldLvl="0" animBg="1"/>
      <p:bldP spid="65" grpId="0" bldLvl="0" animBg="1"/>
      <p:bldP spid="66" grpId="0" bldLvl="0" animBg="1"/>
      <p:bldP spid="68" grpId="0" bldLvl="0" animBg="1"/>
      <p:bldP spid="69" grpId="0" bldLvl="0" animBg="1"/>
      <p:bldP spid="70" grpId="0" bldLvl="0" animBg="1"/>
      <p:bldP spid="71" grpId="0" bldLvl="0" animBg="1"/>
      <p:bldP spid="72" grpId="0" bldLvl="0" animBg="1"/>
      <p:bldP spid="73" grpId="0" bldLvl="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上下文无关文法</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26"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2</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27" name="图片 26"/>
          <p:cNvPicPr>
            <a:picLocks noChangeAspect="1"/>
          </p:cNvPicPr>
          <p:nvPr/>
        </p:nvPicPr>
        <p:blipFill>
          <a:blip r:embed="rId2"/>
          <a:stretch>
            <a:fillRect/>
          </a:stretch>
        </p:blipFill>
        <p:spPr>
          <a:xfrm>
            <a:off x="1447800" y="2033239"/>
            <a:ext cx="6953535" cy="353894"/>
          </a:xfrm>
          <a:prstGeom prst="rect">
            <a:avLst/>
          </a:prstGeom>
        </p:spPr>
      </p:pic>
      <p:sp>
        <p:nvSpPr>
          <p:cNvPr id="31" name="Text Box 11"/>
          <p:cNvSpPr txBox="1">
            <a:spLocks noChangeArrowheads="1"/>
          </p:cNvSpPr>
          <p:nvPr/>
        </p:nvSpPr>
        <p:spPr bwMode="auto">
          <a:xfrm>
            <a:off x="685800" y="2709453"/>
            <a:ext cx="872976"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解：</a:t>
            </a:r>
            <a:endParaRPr kumimoji="1" lang="en-US" altLang="zh-CN" sz="2800" b="1" dirty="0">
              <a:solidFill>
                <a:srgbClr val="800080"/>
              </a:solidFill>
              <a:latin typeface="Arial" panose="020B0604020202020204" pitchFamily="34" charset="0"/>
              <a:ea typeface="楷体_GB2312" pitchFamily="49" charset="-122"/>
            </a:endParaRPr>
          </a:p>
        </p:txBody>
      </p:sp>
      <p:sp>
        <p:nvSpPr>
          <p:cNvPr id="32" name="Text Box 11"/>
          <p:cNvSpPr txBox="1">
            <a:spLocks noChangeArrowheads="1"/>
          </p:cNvSpPr>
          <p:nvPr/>
        </p:nvSpPr>
        <p:spPr bwMode="auto">
          <a:xfrm>
            <a:off x="1295612" y="4164132"/>
            <a:ext cx="4128139"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综上所述，该文法定义为</a:t>
            </a:r>
            <a:endParaRPr kumimoji="1" lang="en-US" altLang="zh-CN" sz="2800" b="1" dirty="0">
              <a:solidFill>
                <a:srgbClr val="800080"/>
              </a:solidFill>
              <a:latin typeface="Arial" panose="020B0604020202020204" pitchFamily="34" charset="0"/>
              <a:ea typeface="楷体_GB2312" pitchFamily="49" charset="-122"/>
            </a:endParaRPr>
          </a:p>
        </p:txBody>
      </p:sp>
      <p:pic>
        <p:nvPicPr>
          <p:cNvPr id="33" name="图片 32"/>
          <p:cNvPicPr>
            <a:picLocks noChangeAspect="1"/>
          </p:cNvPicPr>
          <p:nvPr/>
        </p:nvPicPr>
        <p:blipFill>
          <a:blip r:embed="rId3"/>
          <a:stretch>
            <a:fillRect/>
          </a:stretch>
        </p:blipFill>
        <p:spPr>
          <a:xfrm>
            <a:off x="2711811" y="4811859"/>
            <a:ext cx="3671501" cy="417986"/>
          </a:xfrm>
          <a:prstGeom prst="rect">
            <a:avLst/>
          </a:prstGeom>
        </p:spPr>
      </p:pic>
      <p:grpSp>
        <p:nvGrpSpPr>
          <p:cNvPr id="34" name="组合 33"/>
          <p:cNvGrpSpPr/>
          <p:nvPr/>
        </p:nvGrpSpPr>
        <p:grpSpPr>
          <a:xfrm>
            <a:off x="1295612" y="2709452"/>
            <a:ext cx="7205239" cy="473326"/>
            <a:chOff x="1284500" y="2709452"/>
            <a:chExt cx="7205239" cy="473326"/>
          </a:xfrm>
        </p:grpSpPr>
        <p:sp>
          <p:nvSpPr>
            <p:cNvPr id="35" name="Text Box 11"/>
            <p:cNvSpPr txBox="1">
              <a:spLocks noChangeArrowheads="1"/>
            </p:cNvSpPr>
            <p:nvPr/>
          </p:nvSpPr>
          <p:spPr bwMode="auto">
            <a:xfrm>
              <a:off x="1284500" y="2721113"/>
              <a:ext cx="3182368"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第</a:t>
              </a:r>
              <a:r>
                <a:rPr kumimoji="1"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3</a:t>
              </a: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种情况是字符串以</a:t>
              </a:r>
              <a:endParaRPr kumimoji="1" lang="en-US" altLang="zh-CN" sz="2800" b="1" dirty="0">
                <a:solidFill>
                  <a:srgbClr val="800080"/>
                </a:solidFill>
                <a:latin typeface="Arial" panose="020B0604020202020204" pitchFamily="34" charset="0"/>
                <a:ea typeface="楷体_GB2312" pitchFamily="49" charset="-122"/>
              </a:endParaRPr>
            </a:p>
          </p:txBody>
        </p:sp>
        <p:pic>
          <p:nvPicPr>
            <p:cNvPr id="36" name="图片 35"/>
            <p:cNvPicPr>
              <a:picLocks noChangeAspect="1"/>
            </p:cNvPicPr>
            <p:nvPr/>
          </p:nvPicPr>
          <p:blipFill>
            <a:blip r:embed="rId4"/>
            <a:stretch>
              <a:fillRect/>
            </a:stretch>
          </p:blipFill>
          <p:spPr>
            <a:xfrm>
              <a:off x="4322330" y="2810923"/>
              <a:ext cx="144538" cy="268427"/>
            </a:xfrm>
            <a:prstGeom prst="rect">
              <a:avLst/>
            </a:prstGeom>
          </p:spPr>
        </p:pic>
        <p:sp>
          <p:nvSpPr>
            <p:cNvPr id="37" name="Text Box 11"/>
            <p:cNvSpPr txBox="1">
              <a:spLocks noChangeArrowheads="1"/>
            </p:cNvSpPr>
            <p:nvPr/>
          </p:nvSpPr>
          <p:spPr bwMode="auto">
            <a:xfrm>
              <a:off x="4480022" y="2709452"/>
              <a:ext cx="4009717"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开头，可以类似地递归定义</a:t>
              </a:r>
              <a:endParaRPr kumimoji="1" lang="en-US" altLang="zh-CN" sz="2800" b="1" dirty="0">
                <a:solidFill>
                  <a:srgbClr val="800080"/>
                </a:solidFill>
                <a:latin typeface="Arial" panose="020B0604020202020204" pitchFamily="34" charset="0"/>
                <a:ea typeface="楷体_GB2312" pitchFamily="49" charset="-122"/>
              </a:endParaRPr>
            </a:p>
          </p:txBody>
        </p:sp>
      </p:grpSp>
      <p:pic>
        <p:nvPicPr>
          <p:cNvPr id="38" name="图片 37"/>
          <p:cNvPicPr>
            <a:picLocks noChangeAspect="1"/>
          </p:cNvPicPr>
          <p:nvPr/>
        </p:nvPicPr>
        <p:blipFill>
          <a:blip r:embed="rId5"/>
          <a:stretch>
            <a:fillRect/>
          </a:stretch>
        </p:blipFill>
        <p:spPr>
          <a:xfrm>
            <a:off x="3567112" y="3464831"/>
            <a:ext cx="1793263" cy="31382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ldLvl="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132</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8"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3</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16" name="图片 15"/>
          <p:cNvPicPr>
            <a:picLocks noChangeAspect="1"/>
          </p:cNvPicPr>
          <p:nvPr/>
        </p:nvPicPr>
        <p:blipFill>
          <a:blip r:embed="rId11"/>
          <a:stretch>
            <a:fillRect/>
          </a:stretch>
        </p:blipFill>
        <p:spPr>
          <a:xfrm>
            <a:off x="1010072" y="2018071"/>
            <a:ext cx="7524328" cy="344129"/>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上下文无关文法</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15"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3</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16" name="图片 15"/>
          <p:cNvPicPr>
            <a:picLocks noChangeAspect="1"/>
          </p:cNvPicPr>
          <p:nvPr/>
        </p:nvPicPr>
        <p:blipFill>
          <a:blip r:embed="rId2"/>
          <a:stretch>
            <a:fillRect/>
          </a:stretch>
        </p:blipFill>
        <p:spPr>
          <a:xfrm>
            <a:off x="1010072" y="2018071"/>
            <a:ext cx="7524328" cy="344129"/>
          </a:xfrm>
          <a:prstGeom prst="rect">
            <a:avLst/>
          </a:prstGeom>
        </p:spPr>
      </p:pic>
      <p:sp>
        <p:nvSpPr>
          <p:cNvPr id="17" name="Text Box 11"/>
          <p:cNvSpPr txBox="1">
            <a:spLocks noChangeArrowheads="1"/>
          </p:cNvSpPr>
          <p:nvPr/>
        </p:nvSpPr>
        <p:spPr bwMode="auto">
          <a:xfrm>
            <a:off x="533400" y="2667000"/>
            <a:ext cx="778574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解：由于使用了绝对值，因此要区分两种情况</a:t>
            </a:r>
            <a:endParaRPr kumimoji="1" lang="en-US" altLang="zh-CN" sz="2800" b="1" dirty="0">
              <a:solidFill>
                <a:srgbClr val="800080"/>
              </a:solidFill>
              <a:latin typeface="Arial" panose="020B0604020202020204" pitchFamily="34" charset="0"/>
              <a:ea typeface="楷体_GB2312" pitchFamily="49" charset="-122"/>
            </a:endParaRPr>
          </a:p>
        </p:txBody>
      </p:sp>
      <p:grpSp>
        <p:nvGrpSpPr>
          <p:cNvPr id="18" name="组合 17"/>
          <p:cNvGrpSpPr/>
          <p:nvPr/>
        </p:nvGrpSpPr>
        <p:grpSpPr>
          <a:xfrm>
            <a:off x="1260044" y="3386547"/>
            <a:ext cx="7452320" cy="926334"/>
            <a:chOff x="1401332" y="3429000"/>
            <a:chExt cx="7452320" cy="926334"/>
          </a:xfrm>
        </p:grpSpPr>
        <p:pic>
          <p:nvPicPr>
            <p:cNvPr id="19" name="图片 18"/>
            <p:cNvPicPr>
              <a:picLocks noChangeAspect="1"/>
            </p:cNvPicPr>
            <p:nvPr/>
          </p:nvPicPr>
          <p:blipFill>
            <a:blip r:embed="rId3"/>
            <a:stretch>
              <a:fillRect/>
            </a:stretch>
          </p:blipFill>
          <p:spPr>
            <a:xfrm>
              <a:off x="1401332" y="3429000"/>
              <a:ext cx="7452320" cy="334226"/>
            </a:xfrm>
            <a:prstGeom prst="rect">
              <a:avLst/>
            </a:prstGeom>
          </p:spPr>
        </p:pic>
        <p:pic>
          <p:nvPicPr>
            <p:cNvPr id="20" name="图片 19"/>
            <p:cNvPicPr>
              <a:picLocks noChangeAspect="1"/>
            </p:cNvPicPr>
            <p:nvPr/>
          </p:nvPicPr>
          <p:blipFill>
            <a:blip r:embed="rId4"/>
            <a:stretch>
              <a:fillRect/>
            </a:stretch>
          </p:blipFill>
          <p:spPr>
            <a:xfrm>
              <a:off x="2051719" y="4021109"/>
              <a:ext cx="6458665" cy="334225"/>
            </a:xfrm>
            <a:prstGeom prst="rect">
              <a:avLst/>
            </a:prstGeom>
          </p:spPr>
        </p:pic>
      </p:grpSp>
      <p:grpSp>
        <p:nvGrpSpPr>
          <p:cNvPr id="21" name="组合 20"/>
          <p:cNvGrpSpPr/>
          <p:nvPr/>
        </p:nvGrpSpPr>
        <p:grpSpPr>
          <a:xfrm>
            <a:off x="1093333" y="4535916"/>
            <a:ext cx="7683979" cy="1976593"/>
            <a:chOff x="1234620" y="4578368"/>
            <a:chExt cx="7683979" cy="1976593"/>
          </a:xfrm>
        </p:grpSpPr>
        <p:sp>
          <p:nvSpPr>
            <p:cNvPr id="22" name="Text Box 11"/>
            <p:cNvSpPr txBox="1">
              <a:spLocks noChangeArrowheads="1"/>
            </p:cNvSpPr>
            <p:nvPr/>
          </p:nvSpPr>
          <p:spPr bwMode="auto">
            <a:xfrm>
              <a:off x="1234620" y="4613217"/>
              <a:ext cx="355340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首先考虑第一种情况，即</a:t>
              </a:r>
              <a:endParaRPr kumimoji="1" lang="en-US" altLang="zh-CN" sz="2800" b="1" dirty="0">
                <a:solidFill>
                  <a:srgbClr val="800080"/>
                </a:solidFill>
                <a:latin typeface="Arial" panose="020B0604020202020204" pitchFamily="34" charset="0"/>
                <a:ea typeface="楷体_GB2312" pitchFamily="49" charset="-122"/>
              </a:endParaRPr>
            </a:p>
          </p:txBody>
        </p:sp>
        <p:pic>
          <p:nvPicPr>
            <p:cNvPr id="23" name="图片 22"/>
            <p:cNvPicPr>
              <a:picLocks noChangeAspect="1"/>
            </p:cNvPicPr>
            <p:nvPr/>
          </p:nvPicPr>
          <p:blipFill>
            <a:blip r:embed="rId5"/>
            <a:stretch>
              <a:fillRect/>
            </a:stretch>
          </p:blipFill>
          <p:spPr>
            <a:xfrm>
              <a:off x="4725314" y="4768649"/>
              <a:ext cx="150799" cy="150799"/>
            </a:xfrm>
            <a:prstGeom prst="rect">
              <a:avLst/>
            </a:prstGeom>
          </p:spPr>
        </p:pic>
        <p:sp>
          <p:nvSpPr>
            <p:cNvPr id="24" name="Text Box 11"/>
            <p:cNvSpPr txBox="1">
              <a:spLocks noChangeArrowheads="1"/>
            </p:cNvSpPr>
            <p:nvPr/>
          </p:nvSpPr>
          <p:spPr bwMode="auto">
            <a:xfrm>
              <a:off x="4898616" y="4595378"/>
              <a:ext cx="147358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的数量比</a:t>
              </a:r>
              <a:endParaRPr kumimoji="1" lang="en-US" altLang="zh-CN" sz="2800" b="1" dirty="0">
                <a:solidFill>
                  <a:srgbClr val="800080"/>
                </a:solidFill>
                <a:latin typeface="Arial" panose="020B0604020202020204" pitchFamily="34" charset="0"/>
                <a:ea typeface="楷体_GB2312" pitchFamily="49" charset="-122"/>
              </a:endParaRPr>
            </a:p>
          </p:txBody>
        </p:sp>
        <p:pic>
          <p:nvPicPr>
            <p:cNvPr id="25" name="图片 24"/>
            <p:cNvPicPr>
              <a:picLocks noChangeAspect="1"/>
            </p:cNvPicPr>
            <p:nvPr/>
          </p:nvPicPr>
          <p:blipFill>
            <a:blip r:embed="rId6"/>
            <a:stretch>
              <a:fillRect/>
            </a:stretch>
          </p:blipFill>
          <p:spPr>
            <a:xfrm>
              <a:off x="6274809" y="4697871"/>
              <a:ext cx="119894" cy="222661"/>
            </a:xfrm>
            <a:prstGeom prst="rect">
              <a:avLst/>
            </a:prstGeom>
          </p:spPr>
        </p:pic>
        <p:sp>
          <p:nvSpPr>
            <p:cNvPr id="28" name="Text Box 11"/>
            <p:cNvSpPr txBox="1">
              <a:spLocks noChangeArrowheads="1"/>
            </p:cNvSpPr>
            <p:nvPr/>
          </p:nvSpPr>
          <p:spPr bwMode="auto">
            <a:xfrm>
              <a:off x="6412464" y="4578368"/>
              <a:ext cx="147358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多</a:t>
              </a:r>
              <a:r>
                <a:rPr kumimoji="1"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2</a:t>
              </a: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个。</a:t>
              </a:r>
              <a:endParaRPr kumimoji="1" lang="en-US" altLang="zh-CN" sz="2800" b="1" dirty="0">
                <a:solidFill>
                  <a:srgbClr val="800080"/>
                </a:solidFill>
                <a:latin typeface="Arial" panose="020B0604020202020204" pitchFamily="34" charset="0"/>
                <a:ea typeface="楷体_GB2312" pitchFamily="49" charset="-122"/>
              </a:endParaRPr>
            </a:p>
          </p:txBody>
        </p:sp>
        <p:sp>
          <p:nvSpPr>
            <p:cNvPr id="29" name="Text Box 11"/>
            <p:cNvSpPr txBox="1">
              <a:spLocks noChangeArrowheads="1"/>
            </p:cNvSpPr>
            <p:nvPr/>
          </p:nvSpPr>
          <p:spPr bwMode="auto">
            <a:xfrm>
              <a:off x="7445015" y="4595377"/>
              <a:ext cx="147358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依然可以</a:t>
              </a:r>
              <a:endParaRPr kumimoji="1" lang="en-US" altLang="zh-CN" sz="2800" b="1" dirty="0">
                <a:solidFill>
                  <a:srgbClr val="800080"/>
                </a:solidFill>
                <a:latin typeface="Arial" panose="020B0604020202020204" pitchFamily="34" charset="0"/>
                <a:ea typeface="楷体_GB2312" pitchFamily="49" charset="-122"/>
              </a:endParaRPr>
            </a:p>
          </p:txBody>
        </p:sp>
        <p:sp>
          <p:nvSpPr>
            <p:cNvPr id="30" name="Text Box 11"/>
            <p:cNvSpPr txBox="1">
              <a:spLocks noChangeArrowheads="1"/>
            </p:cNvSpPr>
            <p:nvPr/>
          </p:nvSpPr>
          <p:spPr bwMode="auto">
            <a:xfrm>
              <a:off x="1234620" y="5101932"/>
              <a:ext cx="6001676"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采用之前的分割技术。从左往右扫描，计算</a:t>
              </a:r>
              <a:endParaRPr kumimoji="1" lang="en-US" altLang="zh-CN" sz="2800" b="1" dirty="0">
                <a:solidFill>
                  <a:srgbClr val="800080"/>
                </a:solidFill>
                <a:latin typeface="Arial" panose="020B0604020202020204" pitchFamily="34" charset="0"/>
                <a:ea typeface="楷体_GB2312" pitchFamily="49" charset="-122"/>
              </a:endParaRPr>
            </a:p>
          </p:txBody>
        </p:sp>
        <p:pic>
          <p:nvPicPr>
            <p:cNvPr id="39" name="图片 38"/>
            <p:cNvPicPr>
              <a:picLocks noChangeAspect="1"/>
            </p:cNvPicPr>
            <p:nvPr/>
          </p:nvPicPr>
          <p:blipFill>
            <a:blip r:embed="rId5"/>
            <a:stretch>
              <a:fillRect/>
            </a:stretch>
          </p:blipFill>
          <p:spPr>
            <a:xfrm>
              <a:off x="7206600" y="5263067"/>
              <a:ext cx="150799" cy="150799"/>
            </a:xfrm>
            <a:prstGeom prst="rect">
              <a:avLst/>
            </a:prstGeom>
          </p:spPr>
        </p:pic>
        <p:sp>
          <p:nvSpPr>
            <p:cNvPr id="40" name="Text Box 11"/>
            <p:cNvSpPr txBox="1">
              <a:spLocks noChangeArrowheads="1"/>
            </p:cNvSpPr>
            <p:nvPr/>
          </p:nvSpPr>
          <p:spPr bwMode="auto">
            <a:xfrm>
              <a:off x="7328977" y="5093791"/>
              <a:ext cx="147358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的数量和</a:t>
              </a:r>
              <a:endParaRPr kumimoji="1" lang="en-US" altLang="zh-CN" sz="2800" b="1" dirty="0">
                <a:solidFill>
                  <a:srgbClr val="800080"/>
                </a:solidFill>
                <a:latin typeface="Arial" panose="020B0604020202020204" pitchFamily="34" charset="0"/>
                <a:ea typeface="楷体_GB2312" pitchFamily="49" charset="-122"/>
              </a:endParaRPr>
            </a:p>
          </p:txBody>
        </p:sp>
        <p:pic>
          <p:nvPicPr>
            <p:cNvPr id="41" name="图片 40"/>
            <p:cNvPicPr>
              <a:picLocks noChangeAspect="1"/>
            </p:cNvPicPr>
            <p:nvPr/>
          </p:nvPicPr>
          <p:blipFill>
            <a:blip r:embed="rId6"/>
            <a:stretch>
              <a:fillRect/>
            </a:stretch>
          </p:blipFill>
          <p:spPr>
            <a:xfrm>
              <a:off x="1358633" y="5751133"/>
              <a:ext cx="119894" cy="222661"/>
            </a:xfrm>
            <a:prstGeom prst="rect">
              <a:avLst/>
            </a:prstGeom>
          </p:spPr>
        </p:pic>
        <p:sp>
          <p:nvSpPr>
            <p:cNvPr id="42" name="Text Box 11"/>
            <p:cNvSpPr txBox="1">
              <a:spLocks noChangeArrowheads="1"/>
            </p:cNvSpPr>
            <p:nvPr/>
          </p:nvSpPr>
          <p:spPr bwMode="auto">
            <a:xfrm>
              <a:off x="1487686" y="5631630"/>
              <a:ext cx="174028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的数量，当</a:t>
              </a:r>
              <a:endParaRPr kumimoji="1" lang="en-US" altLang="zh-CN" sz="2800" b="1" dirty="0">
                <a:solidFill>
                  <a:srgbClr val="800080"/>
                </a:solidFill>
                <a:latin typeface="Arial" panose="020B0604020202020204" pitchFamily="34" charset="0"/>
                <a:ea typeface="楷体_GB2312" pitchFamily="49" charset="-122"/>
              </a:endParaRPr>
            </a:p>
          </p:txBody>
        </p:sp>
        <p:sp>
          <p:nvSpPr>
            <p:cNvPr id="43" name="Text Box 11"/>
            <p:cNvSpPr txBox="1">
              <a:spLocks noChangeArrowheads="1"/>
            </p:cNvSpPr>
            <p:nvPr/>
          </p:nvSpPr>
          <p:spPr bwMode="auto">
            <a:xfrm>
              <a:off x="3314440" y="5631631"/>
              <a:ext cx="2200507"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的数量第</a:t>
              </a:r>
              <a:r>
                <a:rPr kumimoji="1"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1</a:t>
              </a: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次比</a:t>
              </a:r>
              <a:endParaRPr kumimoji="1" lang="en-US" altLang="zh-CN" sz="2800" b="1" dirty="0">
                <a:solidFill>
                  <a:srgbClr val="800080"/>
                </a:solidFill>
                <a:latin typeface="Arial" panose="020B0604020202020204" pitchFamily="34" charset="0"/>
                <a:ea typeface="楷体_GB2312" pitchFamily="49" charset="-122"/>
              </a:endParaRPr>
            </a:p>
          </p:txBody>
        </p:sp>
        <p:pic>
          <p:nvPicPr>
            <p:cNvPr id="44" name="图片 43"/>
            <p:cNvPicPr>
              <a:picLocks noChangeAspect="1"/>
            </p:cNvPicPr>
            <p:nvPr/>
          </p:nvPicPr>
          <p:blipFill>
            <a:blip r:embed="rId5"/>
            <a:stretch>
              <a:fillRect/>
            </a:stretch>
          </p:blipFill>
          <p:spPr>
            <a:xfrm>
              <a:off x="3161729" y="5783507"/>
              <a:ext cx="150799" cy="150799"/>
            </a:xfrm>
            <a:prstGeom prst="rect">
              <a:avLst/>
            </a:prstGeom>
          </p:spPr>
        </p:pic>
        <p:pic>
          <p:nvPicPr>
            <p:cNvPr id="45" name="图片 44"/>
            <p:cNvPicPr>
              <a:picLocks noChangeAspect="1"/>
            </p:cNvPicPr>
            <p:nvPr/>
          </p:nvPicPr>
          <p:blipFill>
            <a:blip r:embed="rId6"/>
            <a:stretch>
              <a:fillRect/>
            </a:stretch>
          </p:blipFill>
          <p:spPr>
            <a:xfrm>
              <a:off x="5446512" y="5747575"/>
              <a:ext cx="119894" cy="222661"/>
            </a:xfrm>
            <a:prstGeom prst="rect">
              <a:avLst/>
            </a:prstGeom>
          </p:spPr>
        </p:pic>
        <p:sp>
          <p:nvSpPr>
            <p:cNvPr id="46" name="Text Box 11"/>
            <p:cNvSpPr txBox="1">
              <a:spLocks noChangeArrowheads="1"/>
            </p:cNvSpPr>
            <p:nvPr/>
          </p:nvSpPr>
          <p:spPr bwMode="auto">
            <a:xfrm>
              <a:off x="5566406" y="5619507"/>
              <a:ext cx="3038042"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的数量多</a:t>
              </a:r>
              <a:r>
                <a:rPr kumimoji="1"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1</a:t>
              </a: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时，将该</a:t>
              </a:r>
              <a:endParaRPr kumimoji="1" lang="en-US" altLang="zh-CN" sz="2800" b="1" dirty="0">
                <a:solidFill>
                  <a:srgbClr val="800080"/>
                </a:solidFill>
                <a:latin typeface="Arial" panose="020B0604020202020204" pitchFamily="34" charset="0"/>
                <a:ea typeface="楷体_GB2312" pitchFamily="49" charset="-122"/>
              </a:endParaRPr>
            </a:p>
          </p:txBody>
        </p:sp>
        <p:pic>
          <p:nvPicPr>
            <p:cNvPr id="47" name="图片 46"/>
            <p:cNvPicPr>
              <a:picLocks noChangeAspect="1"/>
            </p:cNvPicPr>
            <p:nvPr/>
          </p:nvPicPr>
          <p:blipFill>
            <a:blip r:embed="rId5"/>
            <a:stretch>
              <a:fillRect/>
            </a:stretch>
          </p:blipFill>
          <p:spPr>
            <a:xfrm>
              <a:off x="8351819" y="5774495"/>
              <a:ext cx="150799" cy="150799"/>
            </a:xfrm>
            <a:prstGeom prst="rect">
              <a:avLst/>
            </a:prstGeom>
          </p:spPr>
        </p:pic>
        <p:sp>
          <p:nvSpPr>
            <p:cNvPr id="48" name="Text Box 11"/>
            <p:cNvSpPr txBox="1">
              <a:spLocks noChangeArrowheads="1"/>
            </p:cNvSpPr>
            <p:nvPr/>
          </p:nvSpPr>
          <p:spPr bwMode="auto">
            <a:xfrm>
              <a:off x="1296246" y="6093296"/>
              <a:ext cx="7380210"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确定为第一个分割点。</a:t>
              </a:r>
              <a:endParaRPr kumimoji="1" lang="en-US" altLang="zh-CN" sz="2800" b="1" dirty="0">
                <a:solidFill>
                  <a:srgbClr val="800080"/>
                </a:solidFill>
                <a:latin typeface="Arial" panose="020B0604020202020204" pitchFamily="34" charset="0"/>
                <a:ea typeface="楷体_GB2312" pitchFamily="49"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上下文无关文法</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15"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3</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16" name="图片 15"/>
          <p:cNvPicPr>
            <a:picLocks noChangeAspect="1"/>
          </p:cNvPicPr>
          <p:nvPr/>
        </p:nvPicPr>
        <p:blipFill>
          <a:blip r:embed="rId2"/>
          <a:stretch>
            <a:fillRect/>
          </a:stretch>
        </p:blipFill>
        <p:spPr>
          <a:xfrm>
            <a:off x="1010072" y="2018071"/>
            <a:ext cx="7524328" cy="344129"/>
          </a:xfrm>
          <a:prstGeom prst="rect">
            <a:avLst/>
          </a:prstGeom>
        </p:spPr>
      </p:pic>
      <p:grpSp>
        <p:nvGrpSpPr>
          <p:cNvPr id="31" name="组合 30"/>
          <p:cNvGrpSpPr/>
          <p:nvPr/>
        </p:nvGrpSpPr>
        <p:grpSpPr>
          <a:xfrm>
            <a:off x="614447" y="2709452"/>
            <a:ext cx="8072353" cy="950380"/>
            <a:chOff x="674688" y="2709452"/>
            <a:chExt cx="8072353" cy="950380"/>
          </a:xfrm>
        </p:grpSpPr>
        <p:sp>
          <p:nvSpPr>
            <p:cNvPr id="32" name="Text Box 11"/>
            <p:cNvSpPr txBox="1">
              <a:spLocks noChangeArrowheads="1"/>
            </p:cNvSpPr>
            <p:nvPr/>
          </p:nvSpPr>
          <p:spPr bwMode="auto">
            <a:xfrm>
              <a:off x="674688" y="2709452"/>
              <a:ext cx="6568391"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解：然后将计数清零，类似地去找第</a:t>
              </a:r>
              <a:r>
                <a:rPr kumimoji="1"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2</a:t>
              </a: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个分割点</a:t>
              </a:r>
              <a:endParaRPr kumimoji="1" lang="en-US" altLang="zh-CN" sz="2800" b="1" dirty="0">
                <a:solidFill>
                  <a:srgbClr val="800080"/>
                </a:solidFill>
                <a:latin typeface="Arial" panose="020B0604020202020204" pitchFamily="34" charset="0"/>
                <a:ea typeface="楷体_GB2312" pitchFamily="49" charset="-122"/>
              </a:endParaRPr>
            </a:p>
          </p:txBody>
        </p:sp>
        <p:pic>
          <p:nvPicPr>
            <p:cNvPr id="33" name="图片 32"/>
            <p:cNvPicPr>
              <a:picLocks noChangeAspect="1"/>
            </p:cNvPicPr>
            <p:nvPr/>
          </p:nvPicPr>
          <p:blipFill>
            <a:blip r:embed="rId3"/>
            <a:stretch>
              <a:fillRect/>
            </a:stretch>
          </p:blipFill>
          <p:spPr>
            <a:xfrm>
              <a:off x="7092280" y="2861121"/>
              <a:ext cx="150799" cy="150799"/>
            </a:xfrm>
            <a:prstGeom prst="rect">
              <a:avLst/>
            </a:prstGeom>
          </p:spPr>
        </p:pic>
        <p:sp>
          <p:nvSpPr>
            <p:cNvPr id="34" name="Text Box 11"/>
            <p:cNvSpPr txBox="1">
              <a:spLocks noChangeArrowheads="1"/>
            </p:cNvSpPr>
            <p:nvPr/>
          </p:nvSpPr>
          <p:spPr bwMode="auto">
            <a:xfrm>
              <a:off x="7234873" y="2709452"/>
              <a:ext cx="1512168"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。这两个</a:t>
              </a:r>
              <a:endParaRPr kumimoji="1" lang="en-US" altLang="zh-CN" sz="2800" b="1" dirty="0">
                <a:solidFill>
                  <a:srgbClr val="800080"/>
                </a:solidFill>
                <a:latin typeface="Arial" panose="020B0604020202020204" pitchFamily="34" charset="0"/>
                <a:ea typeface="楷体_GB2312" pitchFamily="49" charset="-122"/>
              </a:endParaRPr>
            </a:p>
          </p:txBody>
        </p:sp>
        <p:sp>
          <p:nvSpPr>
            <p:cNvPr id="35" name="Text Box 11"/>
            <p:cNvSpPr txBox="1">
              <a:spLocks noChangeArrowheads="1"/>
            </p:cNvSpPr>
            <p:nvPr/>
          </p:nvSpPr>
          <p:spPr bwMode="auto">
            <a:xfrm>
              <a:off x="1259632" y="3198167"/>
              <a:ext cx="705678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分割点可以将字符串切成</a:t>
              </a:r>
              <a:r>
                <a:rPr kumimoji="1"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5</a:t>
              </a: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个部分</a:t>
              </a:r>
              <a:endParaRPr kumimoji="1" lang="en-US" altLang="zh-CN" sz="2800" b="1" dirty="0">
                <a:solidFill>
                  <a:srgbClr val="800080"/>
                </a:solidFill>
                <a:latin typeface="Arial" panose="020B0604020202020204" pitchFamily="34" charset="0"/>
                <a:ea typeface="楷体_GB2312" pitchFamily="49" charset="-122"/>
              </a:endParaRPr>
            </a:p>
          </p:txBody>
        </p:sp>
      </p:grpSp>
      <p:pic>
        <p:nvPicPr>
          <p:cNvPr id="36" name="图片 35"/>
          <p:cNvPicPr>
            <a:picLocks noChangeAspect="1"/>
          </p:cNvPicPr>
          <p:nvPr/>
        </p:nvPicPr>
        <p:blipFill>
          <a:blip r:embed="rId4"/>
          <a:stretch>
            <a:fillRect/>
          </a:stretch>
        </p:blipFill>
        <p:spPr>
          <a:xfrm>
            <a:off x="3359630" y="3861048"/>
            <a:ext cx="2304256" cy="288032"/>
          </a:xfrm>
          <a:prstGeom prst="rect">
            <a:avLst/>
          </a:prstGeom>
        </p:spPr>
      </p:pic>
      <p:sp>
        <p:nvSpPr>
          <p:cNvPr id="37" name="矩形 36"/>
          <p:cNvSpPr/>
          <p:nvPr/>
        </p:nvSpPr>
        <p:spPr bwMode="auto">
          <a:xfrm>
            <a:off x="4151718" y="3759422"/>
            <a:ext cx="144016" cy="400110"/>
          </a:xfrm>
          <a:prstGeom prst="rect">
            <a:avLst/>
          </a:prstGeom>
          <a:solidFill>
            <a:srgbClr val="000066">
              <a:alpha val="49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38" name="矩形 37"/>
          <p:cNvSpPr/>
          <p:nvPr/>
        </p:nvSpPr>
        <p:spPr bwMode="auto">
          <a:xfrm>
            <a:off x="5087822" y="3759422"/>
            <a:ext cx="144016" cy="400110"/>
          </a:xfrm>
          <a:prstGeom prst="rect">
            <a:avLst/>
          </a:prstGeom>
          <a:solidFill>
            <a:srgbClr val="000066">
              <a:alpha val="49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49" name="矩形 48"/>
          <p:cNvSpPr/>
          <p:nvPr/>
        </p:nvSpPr>
        <p:spPr bwMode="auto">
          <a:xfrm>
            <a:off x="3359630" y="3759422"/>
            <a:ext cx="792088" cy="400110"/>
          </a:xfrm>
          <a:prstGeom prst="rect">
            <a:avLst/>
          </a:prstGeom>
          <a:solidFill>
            <a:srgbClr val="FF0000">
              <a:alpha val="49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50" name="矩形 49"/>
          <p:cNvSpPr/>
          <p:nvPr/>
        </p:nvSpPr>
        <p:spPr bwMode="auto">
          <a:xfrm>
            <a:off x="4295734" y="3759422"/>
            <a:ext cx="792088" cy="400110"/>
          </a:xfrm>
          <a:prstGeom prst="rect">
            <a:avLst/>
          </a:prstGeom>
          <a:solidFill>
            <a:srgbClr val="FF0000">
              <a:alpha val="49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51" name="矩形 50"/>
          <p:cNvSpPr/>
          <p:nvPr/>
        </p:nvSpPr>
        <p:spPr bwMode="auto">
          <a:xfrm>
            <a:off x="5231838" y="3759422"/>
            <a:ext cx="432048" cy="400110"/>
          </a:xfrm>
          <a:prstGeom prst="rect">
            <a:avLst/>
          </a:prstGeom>
          <a:solidFill>
            <a:srgbClr val="FF0000">
              <a:alpha val="49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52" name="Text Box 11"/>
          <p:cNvSpPr txBox="1">
            <a:spLocks noChangeArrowheads="1"/>
          </p:cNvSpPr>
          <p:nvPr/>
        </p:nvSpPr>
        <p:spPr bwMode="auto">
          <a:xfrm>
            <a:off x="1212532" y="4359859"/>
            <a:ext cx="733167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蓝色部分是切割点，红色部分两个元素的个数相等。</a:t>
            </a:r>
            <a:endParaRPr kumimoji="1" lang="en-US" altLang="zh-CN" sz="2800" b="1" dirty="0">
              <a:solidFill>
                <a:srgbClr val="800080"/>
              </a:solidFill>
              <a:latin typeface="Arial" panose="020B0604020202020204" pitchFamily="34" charset="0"/>
              <a:ea typeface="楷体_GB2312" pitchFamily="49" charset="-122"/>
            </a:endParaRPr>
          </a:p>
        </p:txBody>
      </p:sp>
      <p:sp>
        <p:nvSpPr>
          <p:cNvPr id="53" name="Text Box 11"/>
          <p:cNvSpPr txBox="1">
            <a:spLocks noChangeArrowheads="1"/>
          </p:cNvSpPr>
          <p:nvPr/>
        </p:nvSpPr>
        <p:spPr bwMode="auto">
          <a:xfrm>
            <a:off x="1212532" y="4940121"/>
            <a:ext cx="733167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因此可以写成：</a:t>
            </a:r>
            <a:endParaRPr kumimoji="1" lang="en-US" altLang="zh-CN" sz="2800" b="1" dirty="0">
              <a:solidFill>
                <a:srgbClr val="800080"/>
              </a:solidFill>
              <a:latin typeface="Arial" panose="020B0604020202020204" pitchFamily="34" charset="0"/>
              <a:ea typeface="楷体_GB2312" pitchFamily="49" charset="-122"/>
            </a:endParaRPr>
          </a:p>
        </p:txBody>
      </p:sp>
      <p:grpSp>
        <p:nvGrpSpPr>
          <p:cNvPr id="54" name="组合 53"/>
          <p:cNvGrpSpPr/>
          <p:nvPr/>
        </p:nvGrpSpPr>
        <p:grpSpPr>
          <a:xfrm>
            <a:off x="3325916" y="5519125"/>
            <a:ext cx="3706122" cy="887459"/>
            <a:chOff x="3386158" y="5519124"/>
            <a:chExt cx="3706122" cy="887459"/>
          </a:xfrm>
        </p:grpSpPr>
        <p:pic>
          <p:nvPicPr>
            <p:cNvPr id="55" name="图片 54"/>
            <p:cNvPicPr>
              <a:picLocks noChangeAspect="1"/>
            </p:cNvPicPr>
            <p:nvPr/>
          </p:nvPicPr>
          <p:blipFill>
            <a:blip r:embed="rId5"/>
            <a:stretch>
              <a:fillRect/>
            </a:stretch>
          </p:blipFill>
          <p:spPr>
            <a:xfrm>
              <a:off x="3386158" y="5519124"/>
              <a:ext cx="2121946" cy="291247"/>
            </a:xfrm>
            <a:prstGeom prst="rect">
              <a:avLst/>
            </a:prstGeom>
          </p:spPr>
        </p:pic>
        <p:pic>
          <p:nvPicPr>
            <p:cNvPr id="56" name="图片 55"/>
            <p:cNvPicPr>
              <a:picLocks noChangeAspect="1"/>
            </p:cNvPicPr>
            <p:nvPr/>
          </p:nvPicPr>
          <p:blipFill>
            <a:blip r:embed="rId6"/>
            <a:stretch>
              <a:fillRect/>
            </a:stretch>
          </p:blipFill>
          <p:spPr>
            <a:xfrm>
              <a:off x="3386158" y="6010264"/>
              <a:ext cx="3706122" cy="396319"/>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ldLvl="0" animBg="1"/>
      <p:bldP spid="38" grpId="0" bldLvl="0" animBg="1"/>
      <p:bldP spid="49" grpId="0" bldLvl="0" animBg="1"/>
      <p:bldP spid="50" grpId="0" bldLvl="0" animBg="1"/>
      <p:bldP spid="51" grpId="0" bldLvl="0" animBg="1"/>
      <p:bldP spid="52" grpId="0" bldLvl="0" animBg="1"/>
      <p:bldP spid="53" grpId="0" bldLvl="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上下文无关文法</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15"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3</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16" name="图片 15"/>
          <p:cNvPicPr>
            <a:picLocks noChangeAspect="1"/>
          </p:cNvPicPr>
          <p:nvPr/>
        </p:nvPicPr>
        <p:blipFill>
          <a:blip r:embed="rId2"/>
          <a:stretch>
            <a:fillRect/>
          </a:stretch>
        </p:blipFill>
        <p:spPr>
          <a:xfrm>
            <a:off x="1010072" y="2018071"/>
            <a:ext cx="7524328" cy="344129"/>
          </a:xfrm>
          <a:prstGeom prst="rect">
            <a:avLst/>
          </a:prstGeom>
        </p:spPr>
      </p:pic>
      <p:sp>
        <p:nvSpPr>
          <p:cNvPr id="22" name="Text Box 11"/>
          <p:cNvSpPr txBox="1">
            <a:spLocks noChangeArrowheads="1"/>
          </p:cNvSpPr>
          <p:nvPr/>
        </p:nvSpPr>
        <p:spPr bwMode="auto">
          <a:xfrm>
            <a:off x="838200" y="2709453"/>
            <a:ext cx="6568391"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解：第二种情况是对称的，可以类似地处理。</a:t>
            </a:r>
            <a:endParaRPr kumimoji="1" lang="en-US" altLang="zh-CN" sz="2800" b="1" dirty="0">
              <a:solidFill>
                <a:srgbClr val="800080"/>
              </a:solidFill>
              <a:latin typeface="Arial" panose="020B0604020202020204" pitchFamily="34" charset="0"/>
              <a:ea typeface="楷体_GB2312" pitchFamily="49" charset="-122"/>
            </a:endParaRPr>
          </a:p>
        </p:txBody>
      </p:sp>
      <p:sp>
        <p:nvSpPr>
          <p:cNvPr id="23" name="Text Box 11"/>
          <p:cNvSpPr txBox="1">
            <a:spLocks noChangeArrowheads="1"/>
          </p:cNvSpPr>
          <p:nvPr/>
        </p:nvSpPr>
        <p:spPr bwMode="auto">
          <a:xfrm>
            <a:off x="1451316" y="3344409"/>
            <a:ext cx="6568391"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因此，最终的文法是</a:t>
            </a:r>
            <a:endParaRPr kumimoji="1" lang="en-US" altLang="zh-CN" sz="2800" b="1" dirty="0">
              <a:solidFill>
                <a:srgbClr val="800080"/>
              </a:solidFill>
              <a:latin typeface="Arial" panose="020B0604020202020204" pitchFamily="34" charset="0"/>
              <a:ea typeface="楷体_GB2312" pitchFamily="49" charset="-122"/>
            </a:endParaRPr>
          </a:p>
        </p:txBody>
      </p:sp>
      <p:pic>
        <p:nvPicPr>
          <p:cNvPr id="24" name="图片 23"/>
          <p:cNvPicPr>
            <a:picLocks noChangeAspect="1"/>
          </p:cNvPicPr>
          <p:nvPr/>
        </p:nvPicPr>
        <p:blipFill>
          <a:blip r:embed="rId3"/>
          <a:stretch>
            <a:fillRect/>
          </a:stretch>
        </p:blipFill>
        <p:spPr>
          <a:xfrm>
            <a:off x="3681411" y="4069864"/>
            <a:ext cx="1702173" cy="379400"/>
          </a:xfrm>
          <a:prstGeom prst="rect">
            <a:avLst/>
          </a:prstGeom>
        </p:spPr>
      </p:pic>
      <p:pic>
        <p:nvPicPr>
          <p:cNvPr id="25" name="图片 24"/>
          <p:cNvPicPr>
            <a:picLocks noChangeAspect="1"/>
          </p:cNvPicPr>
          <p:nvPr/>
        </p:nvPicPr>
        <p:blipFill>
          <a:blip r:embed="rId4"/>
          <a:stretch>
            <a:fillRect/>
          </a:stretch>
        </p:blipFill>
        <p:spPr>
          <a:xfrm>
            <a:off x="3647697" y="4643093"/>
            <a:ext cx="2023919" cy="277793"/>
          </a:xfrm>
          <a:prstGeom prst="rect">
            <a:avLst/>
          </a:prstGeom>
        </p:spPr>
      </p:pic>
      <p:pic>
        <p:nvPicPr>
          <p:cNvPr id="26" name="图片 25"/>
          <p:cNvPicPr>
            <a:picLocks noChangeAspect="1"/>
          </p:cNvPicPr>
          <p:nvPr/>
        </p:nvPicPr>
        <p:blipFill>
          <a:blip r:embed="rId5"/>
          <a:stretch>
            <a:fillRect/>
          </a:stretch>
        </p:blipFill>
        <p:spPr>
          <a:xfrm>
            <a:off x="3619632" y="5160452"/>
            <a:ext cx="2023919" cy="284773"/>
          </a:xfrm>
          <a:prstGeom prst="rect">
            <a:avLst/>
          </a:prstGeom>
        </p:spPr>
      </p:pic>
      <p:pic>
        <p:nvPicPr>
          <p:cNvPr id="27" name="图片 26"/>
          <p:cNvPicPr>
            <a:picLocks noChangeAspect="1"/>
          </p:cNvPicPr>
          <p:nvPr/>
        </p:nvPicPr>
        <p:blipFill>
          <a:blip r:embed="rId6"/>
          <a:stretch>
            <a:fillRect/>
          </a:stretch>
        </p:blipFill>
        <p:spPr>
          <a:xfrm>
            <a:off x="3647696" y="5714595"/>
            <a:ext cx="3492144" cy="37343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P spid="23" grpId="0" bldLvl="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136</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8"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4</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15" name="图片 14"/>
          <p:cNvPicPr>
            <a:picLocks noChangeAspect="1"/>
          </p:cNvPicPr>
          <p:nvPr/>
        </p:nvPicPr>
        <p:blipFill>
          <a:blip r:embed="rId11"/>
          <a:stretch>
            <a:fillRect/>
          </a:stretch>
        </p:blipFill>
        <p:spPr>
          <a:xfrm>
            <a:off x="1295400" y="1981200"/>
            <a:ext cx="6979103" cy="355196"/>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上下文无关文法</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12" name="Text Box 11"/>
          <p:cNvSpPr txBox="1">
            <a:spLocks noChangeArrowheads="1"/>
          </p:cNvSpPr>
          <p:nvPr/>
        </p:nvSpPr>
        <p:spPr bwMode="auto">
          <a:xfrm>
            <a:off x="533400" y="2709453"/>
            <a:ext cx="3249240"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解：</a:t>
            </a:r>
            <a:endParaRPr kumimoji="1" lang="en-US" altLang="zh-CN" sz="2800" b="1" dirty="0">
              <a:solidFill>
                <a:srgbClr val="800080"/>
              </a:solidFill>
              <a:latin typeface="Arial" panose="020B0604020202020204" pitchFamily="34" charset="0"/>
              <a:ea typeface="楷体_GB2312" pitchFamily="49" charset="-122"/>
            </a:endParaRPr>
          </a:p>
        </p:txBody>
      </p:sp>
      <p:sp>
        <p:nvSpPr>
          <p:cNvPr id="13" name="Text Box 11"/>
          <p:cNvSpPr txBox="1">
            <a:spLocks noChangeArrowheads="1"/>
          </p:cNvSpPr>
          <p:nvPr/>
        </p:nvSpPr>
        <p:spPr bwMode="auto">
          <a:xfrm>
            <a:off x="1083586" y="2709453"/>
            <a:ext cx="7141491"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可以用前面的策略，先把文法拆成两部分</a:t>
            </a:r>
            <a:endParaRPr kumimoji="1" lang="en-US" altLang="zh-CN" sz="2800" b="1" dirty="0">
              <a:solidFill>
                <a:srgbClr val="800080"/>
              </a:solidFill>
              <a:latin typeface="Arial" panose="020B0604020202020204" pitchFamily="34" charset="0"/>
              <a:ea typeface="楷体_GB2312" pitchFamily="49" charset="-122"/>
            </a:endParaRPr>
          </a:p>
        </p:txBody>
      </p:sp>
      <p:grpSp>
        <p:nvGrpSpPr>
          <p:cNvPr id="17" name="组合 16"/>
          <p:cNvGrpSpPr/>
          <p:nvPr/>
        </p:nvGrpSpPr>
        <p:grpSpPr>
          <a:xfrm>
            <a:off x="1089260" y="4580408"/>
            <a:ext cx="7699183" cy="461666"/>
            <a:chOff x="1230547" y="4580408"/>
            <a:chExt cx="7699183" cy="461666"/>
          </a:xfrm>
        </p:grpSpPr>
        <p:sp>
          <p:nvSpPr>
            <p:cNvPr id="18" name="Text Box 11"/>
            <p:cNvSpPr txBox="1">
              <a:spLocks noChangeArrowheads="1"/>
            </p:cNvSpPr>
            <p:nvPr/>
          </p:nvSpPr>
          <p:spPr bwMode="auto">
            <a:xfrm>
              <a:off x="1230547" y="4580409"/>
              <a:ext cx="3378703"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首先考虑第一部分，即</a:t>
              </a:r>
              <a:endParaRPr kumimoji="1" lang="en-US" altLang="zh-CN" sz="2800" b="1" dirty="0">
                <a:solidFill>
                  <a:srgbClr val="800080"/>
                </a:solidFill>
                <a:latin typeface="Arial" panose="020B0604020202020204" pitchFamily="34" charset="0"/>
                <a:ea typeface="楷体_GB2312" pitchFamily="49" charset="-122"/>
              </a:endParaRPr>
            </a:p>
          </p:txBody>
        </p:sp>
        <p:pic>
          <p:nvPicPr>
            <p:cNvPr id="19" name="图片 18"/>
            <p:cNvPicPr>
              <a:picLocks noChangeAspect="1"/>
            </p:cNvPicPr>
            <p:nvPr/>
          </p:nvPicPr>
          <p:blipFill>
            <a:blip r:embed="rId2"/>
            <a:stretch>
              <a:fillRect/>
            </a:stretch>
          </p:blipFill>
          <p:spPr>
            <a:xfrm>
              <a:off x="4434102" y="4714221"/>
              <a:ext cx="194040" cy="194040"/>
            </a:xfrm>
            <a:prstGeom prst="rect">
              <a:avLst/>
            </a:prstGeom>
          </p:spPr>
        </p:pic>
        <p:sp>
          <p:nvSpPr>
            <p:cNvPr id="20" name="Text Box 11"/>
            <p:cNvSpPr txBox="1">
              <a:spLocks noChangeArrowheads="1"/>
            </p:cNvSpPr>
            <p:nvPr/>
          </p:nvSpPr>
          <p:spPr bwMode="auto">
            <a:xfrm>
              <a:off x="4628143" y="4580408"/>
              <a:ext cx="1402376"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的数量比</a:t>
              </a:r>
              <a:endParaRPr kumimoji="1" lang="en-US" altLang="zh-CN" sz="2800" b="1" dirty="0">
                <a:solidFill>
                  <a:srgbClr val="800080"/>
                </a:solidFill>
                <a:latin typeface="Arial" panose="020B0604020202020204" pitchFamily="34" charset="0"/>
                <a:ea typeface="楷体_GB2312" pitchFamily="49" charset="-122"/>
              </a:endParaRPr>
            </a:p>
          </p:txBody>
        </p:sp>
        <p:pic>
          <p:nvPicPr>
            <p:cNvPr id="21" name="图片 20"/>
            <p:cNvPicPr>
              <a:picLocks noChangeAspect="1"/>
            </p:cNvPicPr>
            <p:nvPr/>
          </p:nvPicPr>
          <p:blipFill>
            <a:blip r:embed="rId3"/>
            <a:stretch>
              <a:fillRect/>
            </a:stretch>
          </p:blipFill>
          <p:spPr>
            <a:xfrm>
              <a:off x="6049410" y="4677026"/>
              <a:ext cx="144538" cy="268427"/>
            </a:xfrm>
            <a:prstGeom prst="rect">
              <a:avLst/>
            </a:prstGeom>
          </p:spPr>
        </p:pic>
        <p:sp>
          <p:nvSpPr>
            <p:cNvPr id="28" name="Text Box 11"/>
            <p:cNvSpPr txBox="1">
              <a:spLocks noChangeArrowheads="1"/>
            </p:cNvSpPr>
            <p:nvPr/>
          </p:nvSpPr>
          <p:spPr bwMode="auto">
            <a:xfrm>
              <a:off x="6194824" y="4580408"/>
              <a:ext cx="2734906"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多。该怎么下手？</a:t>
              </a:r>
              <a:endParaRPr kumimoji="1" lang="en-US" altLang="zh-CN" sz="2800" b="1" dirty="0">
                <a:solidFill>
                  <a:srgbClr val="800080"/>
                </a:solidFill>
                <a:latin typeface="Arial" panose="020B0604020202020204" pitchFamily="34" charset="0"/>
                <a:ea typeface="楷体_GB2312" pitchFamily="49" charset="-122"/>
              </a:endParaRPr>
            </a:p>
          </p:txBody>
        </p:sp>
      </p:grpSp>
      <p:sp>
        <p:nvSpPr>
          <p:cNvPr id="29" name="Text Box 11"/>
          <p:cNvSpPr txBox="1">
            <a:spLocks noChangeArrowheads="1"/>
          </p:cNvSpPr>
          <p:nvPr/>
        </p:nvSpPr>
        <p:spPr bwMode="auto">
          <a:xfrm>
            <a:off x="1113904" y="5174851"/>
            <a:ext cx="6633616"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随机列几个符合条件的字符串，仔细观察</a:t>
            </a:r>
            <a:endParaRPr kumimoji="1" lang="en-US" altLang="zh-CN" sz="2800" b="1" dirty="0">
              <a:solidFill>
                <a:srgbClr val="800080"/>
              </a:solidFill>
              <a:latin typeface="Arial" panose="020B0604020202020204" pitchFamily="34" charset="0"/>
              <a:ea typeface="楷体_GB2312" pitchFamily="49" charset="-122"/>
            </a:endParaRPr>
          </a:p>
        </p:txBody>
      </p:sp>
      <p:pic>
        <p:nvPicPr>
          <p:cNvPr id="30" name="图片 29"/>
          <p:cNvPicPr>
            <a:picLocks noChangeAspect="1"/>
          </p:cNvPicPr>
          <p:nvPr/>
        </p:nvPicPr>
        <p:blipFill>
          <a:blip r:embed="rId4"/>
          <a:stretch>
            <a:fillRect/>
          </a:stretch>
        </p:blipFill>
        <p:spPr>
          <a:xfrm>
            <a:off x="1444148" y="5869797"/>
            <a:ext cx="576064" cy="288032"/>
          </a:xfrm>
          <a:prstGeom prst="rect">
            <a:avLst/>
          </a:prstGeom>
        </p:spPr>
      </p:pic>
      <p:pic>
        <p:nvPicPr>
          <p:cNvPr id="31" name="图片 30"/>
          <p:cNvPicPr>
            <a:picLocks noChangeAspect="1"/>
          </p:cNvPicPr>
          <p:nvPr/>
        </p:nvPicPr>
        <p:blipFill>
          <a:blip r:embed="rId5"/>
          <a:stretch>
            <a:fillRect/>
          </a:stretch>
        </p:blipFill>
        <p:spPr>
          <a:xfrm>
            <a:off x="2635050" y="5869797"/>
            <a:ext cx="1373691" cy="288032"/>
          </a:xfrm>
          <a:prstGeom prst="rect">
            <a:avLst/>
          </a:prstGeom>
        </p:spPr>
      </p:pic>
      <p:pic>
        <p:nvPicPr>
          <p:cNvPr id="32" name="图片 31"/>
          <p:cNvPicPr>
            <a:picLocks noChangeAspect="1"/>
          </p:cNvPicPr>
          <p:nvPr/>
        </p:nvPicPr>
        <p:blipFill>
          <a:blip r:embed="rId6"/>
          <a:stretch>
            <a:fillRect/>
          </a:stretch>
        </p:blipFill>
        <p:spPr>
          <a:xfrm>
            <a:off x="4531921" y="5865913"/>
            <a:ext cx="952725" cy="288033"/>
          </a:xfrm>
          <a:prstGeom prst="rect">
            <a:avLst/>
          </a:prstGeom>
        </p:spPr>
      </p:pic>
      <p:pic>
        <p:nvPicPr>
          <p:cNvPr id="33" name="图片 32"/>
          <p:cNvPicPr>
            <a:picLocks noChangeAspect="1"/>
          </p:cNvPicPr>
          <p:nvPr/>
        </p:nvPicPr>
        <p:blipFill>
          <a:blip r:embed="rId7"/>
          <a:stretch>
            <a:fillRect/>
          </a:stretch>
        </p:blipFill>
        <p:spPr>
          <a:xfrm>
            <a:off x="6052660" y="5865912"/>
            <a:ext cx="1584176" cy="288032"/>
          </a:xfrm>
          <a:prstGeom prst="rect">
            <a:avLst/>
          </a:prstGeom>
        </p:spPr>
      </p:pic>
      <p:grpSp>
        <p:nvGrpSpPr>
          <p:cNvPr id="34" name="组合 33"/>
          <p:cNvGrpSpPr/>
          <p:nvPr/>
        </p:nvGrpSpPr>
        <p:grpSpPr>
          <a:xfrm>
            <a:off x="1187666" y="3366870"/>
            <a:ext cx="7312744" cy="938627"/>
            <a:chOff x="1328954" y="3366869"/>
            <a:chExt cx="7312744" cy="938627"/>
          </a:xfrm>
        </p:grpSpPr>
        <p:pic>
          <p:nvPicPr>
            <p:cNvPr id="35" name="图片 34"/>
            <p:cNvPicPr>
              <a:picLocks noChangeAspect="1"/>
            </p:cNvPicPr>
            <p:nvPr/>
          </p:nvPicPr>
          <p:blipFill>
            <a:blip r:embed="rId8"/>
            <a:stretch>
              <a:fillRect/>
            </a:stretch>
          </p:blipFill>
          <p:spPr>
            <a:xfrm>
              <a:off x="1328954" y="3366869"/>
              <a:ext cx="7312744" cy="354615"/>
            </a:xfrm>
            <a:prstGeom prst="rect">
              <a:avLst/>
            </a:prstGeom>
          </p:spPr>
        </p:pic>
        <p:pic>
          <p:nvPicPr>
            <p:cNvPr id="36" name="图片 35"/>
            <p:cNvPicPr>
              <a:picLocks noChangeAspect="1"/>
            </p:cNvPicPr>
            <p:nvPr/>
          </p:nvPicPr>
          <p:blipFill>
            <a:blip r:embed="rId9"/>
            <a:stretch>
              <a:fillRect/>
            </a:stretch>
          </p:blipFill>
          <p:spPr>
            <a:xfrm>
              <a:off x="2029041" y="3950881"/>
              <a:ext cx="6268055" cy="354615"/>
            </a:xfrm>
            <a:prstGeom prst="rect">
              <a:avLst/>
            </a:prstGeom>
          </p:spPr>
        </p:pic>
      </p:grpSp>
      <p:sp>
        <p:nvSpPr>
          <p:cNvPr id="37"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4</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38" name="图片 37"/>
          <p:cNvPicPr>
            <a:picLocks noChangeAspect="1"/>
          </p:cNvPicPr>
          <p:nvPr/>
        </p:nvPicPr>
        <p:blipFill>
          <a:blip r:embed="rId10"/>
          <a:stretch>
            <a:fillRect/>
          </a:stretch>
        </p:blipFill>
        <p:spPr>
          <a:xfrm>
            <a:off x="1295400" y="1981200"/>
            <a:ext cx="6979103" cy="35519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29" grpId="0" bldLvl="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上下文无关文法</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37"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4</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38" name="图片 37"/>
          <p:cNvPicPr>
            <a:picLocks noChangeAspect="1"/>
          </p:cNvPicPr>
          <p:nvPr/>
        </p:nvPicPr>
        <p:blipFill>
          <a:blip r:embed="rId2"/>
          <a:stretch>
            <a:fillRect/>
          </a:stretch>
        </p:blipFill>
        <p:spPr>
          <a:xfrm>
            <a:off x="1295400" y="1981200"/>
            <a:ext cx="6979103" cy="355196"/>
          </a:xfrm>
          <a:prstGeom prst="rect">
            <a:avLst/>
          </a:prstGeom>
        </p:spPr>
      </p:pic>
      <p:sp>
        <p:nvSpPr>
          <p:cNvPr id="22" name="Text Box 11"/>
          <p:cNvSpPr txBox="1">
            <a:spLocks noChangeArrowheads="1"/>
          </p:cNvSpPr>
          <p:nvPr/>
        </p:nvSpPr>
        <p:spPr bwMode="auto">
          <a:xfrm>
            <a:off x="381000" y="2709453"/>
            <a:ext cx="6633616"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解：</a:t>
            </a:r>
            <a:endParaRPr kumimoji="1" lang="en-US" altLang="zh-CN" sz="2800" b="1" dirty="0">
              <a:solidFill>
                <a:srgbClr val="800080"/>
              </a:solidFill>
              <a:latin typeface="Arial" panose="020B0604020202020204" pitchFamily="34" charset="0"/>
              <a:ea typeface="楷体_GB2312" pitchFamily="49" charset="-122"/>
            </a:endParaRPr>
          </a:p>
        </p:txBody>
      </p:sp>
      <p:grpSp>
        <p:nvGrpSpPr>
          <p:cNvPr id="23" name="组合 22"/>
          <p:cNvGrpSpPr/>
          <p:nvPr/>
        </p:nvGrpSpPr>
        <p:grpSpPr>
          <a:xfrm>
            <a:off x="972250" y="2708760"/>
            <a:ext cx="7638718" cy="2088393"/>
            <a:chOff x="1265938" y="2708759"/>
            <a:chExt cx="7638718" cy="2088393"/>
          </a:xfrm>
        </p:grpSpPr>
        <p:sp>
          <p:nvSpPr>
            <p:cNvPr id="24" name="Text Box 11"/>
            <p:cNvSpPr txBox="1">
              <a:spLocks noChangeArrowheads="1"/>
            </p:cNvSpPr>
            <p:nvPr/>
          </p:nvSpPr>
          <p:spPr bwMode="auto">
            <a:xfrm>
              <a:off x="1265938" y="2708759"/>
              <a:ext cx="6633616"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假设对于每个字符串从左往右扫描，边扫描边数</a:t>
              </a:r>
              <a:endParaRPr kumimoji="1" lang="en-US" altLang="zh-CN" sz="2800" b="1" dirty="0">
                <a:solidFill>
                  <a:srgbClr val="800080"/>
                </a:solidFill>
                <a:latin typeface="Arial" panose="020B0604020202020204" pitchFamily="34" charset="0"/>
                <a:ea typeface="楷体_GB2312" pitchFamily="49" charset="-122"/>
              </a:endParaRPr>
            </a:p>
          </p:txBody>
        </p:sp>
        <p:pic>
          <p:nvPicPr>
            <p:cNvPr id="25" name="图片 24"/>
            <p:cNvPicPr>
              <a:picLocks noChangeAspect="1"/>
            </p:cNvPicPr>
            <p:nvPr/>
          </p:nvPicPr>
          <p:blipFill>
            <a:blip r:embed="rId3"/>
            <a:stretch>
              <a:fillRect/>
            </a:stretch>
          </p:blipFill>
          <p:spPr>
            <a:xfrm>
              <a:off x="7823106" y="2848878"/>
              <a:ext cx="194040" cy="194040"/>
            </a:xfrm>
            <a:prstGeom prst="rect">
              <a:avLst/>
            </a:prstGeom>
          </p:spPr>
        </p:pic>
        <p:sp>
          <p:nvSpPr>
            <p:cNvPr id="26" name="Text Box 11"/>
            <p:cNvSpPr txBox="1">
              <a:spLocks noChangeArrowheads="1"/>
            </p:cNvSpPr>
            <p:nvPr/>
          </p:nvSpPr>
          <p:spPr bwMode="auto">
            <a:xfrm>
              <a:off x="8017146" y="2708759"/>
              <a:ext cx="504056"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和</a:t>
              </a:r>
              <a:endParaRPr kumimoji="1" lang="en-US" altLang="zh-CN" sz="2800" b="1" dirty="0">
                <a:solidFill>
                  <a:srgbClr val="800080"/>
                </a:solidFill>
                <a:latin typeface="Arial" panose="020B0604020202020204" pitchFamily="34" charset="0"/>
                <a:ea typeface="楷体_GB2312" pitchFamily="49" charset="-122"/>
              </a:endParaRPr>
            </a:p>
          </p:txBody>
        </p:sp>
        <p:pic>
          <p:nvPicPr>
            <p:cNvPr id="27" name="图片 26"/>
            <p:cNvPicPr>
              <a:picLocks noChangeAspect="1"/>
            </p:cNvPicPr>
            <p:nvPr/>
          </p:nvPicPr>
          <p:blipFill>
            <a:blip r:embed="rId4"/>
            <a:stretch>
              <a:fillRect/>
            </a:stretch>
          </p:blipFill>
          <p:spPr>
            <a:xfrm>
              <a:off x="8520680" y="2801085"/>
              <a:ext cx="144538" cy="268427"/>
            </a:xfrm>
            <a:prstGeom prst="rect">
              <a:avLst/>
            </a:prstGeom>
          </p:spPr>
        </p:pic>
        <p:sp>
          <p:nvSpPr>
            <p:cNvPr id="39" name="Text Box 11"/>
            <p:cNvSpPr txBox="1">
              <a:spLocks noChangeArrowheads="1"/>
            </p:cNvSpPr>
            <p:nvPr/>
          </p:nvSpPr>
          <p:spPr bwMode="auto">
            <a:xfrm>
              <a:off x="1265938" y="3278920"/>
              <a:ext cx="2956768"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的数量，遇到第一次</a:t>
              </a:r>
              <a:endParaRPr kumimoji="1" lang="en-US" altLang="zh-CN" sz="2800" b="1" dirty="0">
                <a:solidFill>
                  <a:srgbClr val="800080"/>
                </a:solidFill>
                <a:latin typeface="Arial" panose="020B0604020202020204" pitchFamily="34" charset="0"/>
                <a:ea typeface="楷体_GB2312" pitchFamily="49" charset="-122"/>
              </a:endParaRPr>
            </a:p>
          </p:txBody>
        </p:sp>
        <p:pic>
          <p:nvPicPr>
            <p:cNvPr id="40" name="图片 39"/>
            <p:cNvPicPr>
              <a:picLocks noChangeAspect="1"/>
            </p:cNvPicPr>
            <p:nvPr/>
          </p:nvPicPr>
          <p:blipFill>
            <a:blip r:embed="rId3"/>
            <a:stretch>
              <a:fillRect/>
            </a:stretch>
          </p:blipFill>
          <p:spPr>
            <a:xfrm>
              <a:off x="4222706" y="3412732"/>
              <a:ext cx="194040" cy="194040"/>
            </a:xfrm>
            <a:prstGeom prst="rect">
              <a:avLst/>
            </a:prstGeom>
          </p:spPr>
        </p:pic>
        <p:sp>
          <p:nvSpPr>
            <p:cNvPr id="41" name="Text Box 11"/>
            <p:cNvSpPr txBox="1">
              <a:spLocks noChangeArrowheads="1"/>
            </p:cNvSpPr>
            <p:nvPr/>
          </p:nvSpPr>
          <p:spPr bwMode="auto">
            <a:xfrm>
              <a:off x="4416746" y="3278920"/>
              <a:ext cx="146214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的数量比</a:t>
              </a:r>
              <a:endParaRPr kumimoji="1" lang="en-US" altLang="zh-CN" sz="2800" b="1" dirty="0">
                <a:solidFill>
                  <a:srgbClr val="800080"/>
                </a:solidFill>
                <a:latin typeface="Arial" panose="020B0604020202020204" pitchFamily="34" charset="0"/>
                <a:ea typeface="楷体_GB2312" pitchFamily="49" charset="-122"/>
              </a:endParaRPr>
            </a:p>
          </p:txBody>
        </p:sp>
        <p:pic>
          <p:nvPicPr>
            <p:cNvPr id="42" name="图片 41"/>
            <p:cNvPicPr>
              <a:picLocks noChangeAspect="1"/>
            </p:cNvPicPr>
            <p:nvPr/>
          </p:nvPicPr>
          <p:blipFill>
            <a:blip r:embed="rId4"/>
            <a:stretch>
              <a:fillRect/>
            </a:stretch>
          </p:blipFill>
          <p:spPr>
            <a:xfrm>
              <a:off x="5806621" y="3376618"/>
              <a:ext cx="144538" cy="268427"/>
            </a:xfrm>
            <a:prstGeom prst="rect">
              <a:avLst/>
            </a:prstGeom>
          </p:spPr>
        </p:pic>
        <p:sp>
          <p:nvSpPr>
            <p:cNvPr id="43" name="Text Box 11"/>
            <p:cNvSpPr txBox="1">
              <a:spLocks noChangeArrowheads="1"/>
            </p:cNvSpPr>
            <p:nvPr/>
          </p:nvSpPr>
          <p:spPr bwMode="auto">
            <a:xfrm>
              <a:off x="5947888" y="3278920"/>
              <a:ext cx="2956768"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多</a:t>
              </a:r>
              <a:r>
                <a:rPr kumimoji="1"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1</a:t>
              </a: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就停下来。这样</a:t>
              </a:r>
              <a:endParaRPr kumimoji="1" lang="en-US" altLang="zh-CN" sz="2800" b="1" dirty="0">
                <a:solidFill>
                  <a:srgbClr val="800080"/>
                </a:solidFill>
                <a:latin typeface="Arial" panose="020B0604020202020204" pitchFamily="34" charset="0"/>
                <a:ea typeface="楷体_GB2312" pitchFamily="49" charset="-122"/>
              </a:endParaRPr>
            </a:p>
          </p:txBody>
        </p:sp>
        <p:sp>
          <p:nvSpPr>
            <p:cNvPr id="44" name="Text Box 11"/>
            <p:cNvSpPr txBox="1">
              <a:spLocks noChangeArrowheads="1"/>
            </p:cNvSpPr>
            <p:nvPr/>
          </p:nvSpPr>
          <p:spPr bwMode="auto">
            <a:xfrm>
              <a:off x="1266712" y="3828162"/>
              <a:ext cx="5404266"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可以把字符串分成三部分，左边的部分</a:t>
              </a:r>
              <a:endParaRPr kumimoji="1" lang="en-US" altLang="zh-CN" sz="2800" b="1" dirty="0">
                <a:solidFill>
                  <a:srgbClr val="800080"/>
                </a:solidFill>
                <a:latin typeface="Arial" panose="020B0604020202020204" pitchFamily="34" charset="0"/>
                <a:ea typeface="楷体_GB2312" pitchFamily="49" charset="-122"/>
              </a:endParaRPr>
            </a:p>
          </p:txBody>
        </p:sp>
        <p:pic>
          <p:nvPicPr>
            <p:cNvPr id="45" name="图片 44"/>
            <p:cNvPicPr>
              <a:picLocks noChangeAspect="1"/>
            </p:cNvPicPr>
            <p:nvPr/>
          </p:nvPicPr>
          <p:blipFill>
            <a:blip r:embed="rId3"/>
            <a:stretch>
              <a:fillRect/>
            </a:stretch>
          </p:blipFill>
          <p:spPr>
            <a:xfrm>
              <a:off x="6592710" y="3961974"/>
              <a:ext cx="194040" cy="194040"/>
            </a:xfrm>
            <a:prstGeom prst="rect">
              <a:avLst/>
            </a:prstGeom>
          </p:spPr>
        </p:pic>
        <p:sp>
          <p:nvSpPr>
            <p:cNvPr id="46" name="Text Box 11"/>
            <p:cNvSpPr txBox="1">
              <a:spLocks noChangeArrowheads="1"/>
            </p:cNvSpPr>
            <p:nvPr/>
          </p:nvSpPr>
          <p:spPr bwMode="auto">
            <a:xfrm>
              <a:off x="6786750" y="3828162"/>
              <a:ext cx="146214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的数量和</a:t>
              </a:r>
              <a:endParaRPr kumimoji="1" lang="en-US" altLang="zh-CN" sz="2800" b="1" dirty="0">
                <a:solidFill>
                  <a:srgbClr val="800080"/>
                </a:solidFill>
                <a:latin typeface="Arial" panose="020B0604020202020204" pitchFamily="34" charset="0"/>
                <a:ea typeface="楷体_GB2312" pitchFamily="49" charset="-122"/>
              </a:endParaRPr>
            </a:p>
          </p:txBody>
        </p:sp>
        <p:pic>
          <p:nvPicPr>
            <p:cNvPr id="47" name="图片 46"/>
            <p:cNvPicPr>
              <a:picLocks noChangeAspect="1"/>
            </p:cNvPicPr>
            <p:nvPr/>
          </p:nvPicPr>
          <p:blipFill>
            <a:blip r:embed="rId4"/>
            <a:stretch>
              <a:fillRect/>
            </a:stretch>
          </p:blipFill>
          <p:spPr>
            <a:xfrm>
              <a:off x="8183146" y="3924780"/>
              <a:ext cx="144538" cy="268427"/>
            </a:xfrm>
            <a:prstGeom prst="rect">
              <a:avLst/>
            </a:prstGeom>
          </p:spPr>
        </p:pic>
        <p:sp>
          <p:nvSpPr>
            <p:cNvPr id="48" name="Text Box 11"/>
            <p:cNvSpPr txBox="1">
              <a:spLocks noChangeArrowheads="1"/>
            </p:cNvSpPr>
            <p:nvPr/>
          </p:nvSpPr>
          <p:spPr bwMode="auto">
            <a:xfrm>
              <a:off x="8327684" y="3831431"/>
              <a:ext cx="576972"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相</a:t>
              </a:r>
              <a:endParaRPr kumimoji="1" lang="en-US" altLang="zh-CN" sz="2800" b="1" dirty="0">
                <a:solidFill>
                  <a:srgbClr val="800080"/>
                </a:solidFill>
                <a:latin typeface="Arial" panose="020B0604020202020204" pitchFamily="34" charset="0"/>
                <a:ea typeface="楷体_GB2312" pitchFamily="49" charset="-122"/>
              </a:endParaRPr>
            </a:p>
          </p:txBody>
        </p:sp>
        <p:sp>
          <p:nvSpPr>
            <p:cNvPr id="49" name="Text Box 11"/>
            <p:cNvSpPr txBox="1">
              <a:spLocks noChangeArrowheads="1"/>
            </p:cNvSpPr>
            <p:nvPr/>
          </p:nvSpPr>
          <p:spPr bwMode="auto">
            <a:xfrm>
              <a:off x="1276684" y="4335487"/>
              <a:ext cx="3140062"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等，中间部分只有</a:t>
              </a:r>
              <a:r>
                <a:rPr kumimoji="1"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1</a:t>
              </a: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个</a:t>
              </a:r>
              <a:endParaRPr kumimoji="1" lang="en-US" altLang="zh-CN" sz="2800" b="1" dirty="0">
                <a:solidFill>
                  <a:srgbClr val="800080"/>
                </a:solidFill>
                <a:latin typeface="Arial" panose="020B0604020202020204" pitchFamily="34" charset="0"/>
                <a:ea typeface="楷体_GB2312" pitchFamily="49" charset="-122"/>
              </a:endParaRPr>
            </a:p>
          </p:txBody>
        </p:sp>
        <p:pic>
          <p:nvPicPr>
            <p:cNvPr id="50" name="图片 49"/>
            <p:cNvPicPr>
              <a:picLocks noChangeAspect="1"/>
            </p:cNvPicPr>
            <p:nvPr/>
          </p:nvPicPr>
          <p:blipFill>
            <a:blip r:embed="rId3"/>
            <a:stretch>
              <a:fillRect/>
            </a:stretch>
          </p:blipFill>
          <p:spPr>
            <a:xfrm>
              <a:off x="4308126" y="4462435"/>
              <a:ext cx="194040" cy="194040"/>
            </a:xfrm>
            <a:prstGeom prst="rect">
              <a:avLst/>
            </a:prstGeom>
          </p:spPr>
        </p:pic>
        <p:sp>
          <p:nvSpPr>
            <p:cNvPr id="51" name="Text Box 11"/>
            <p:cNvSpPr txBox="1">
              <a:spLocks noChangeArrowheads="1"/>
            </p:cNvSpPr>
            <p:nvPr/>
          </p:nvSpPr>
          <p:spPr bwMode="auto">
            <a:xfrm>
              <a:off x="4467020" y="4335487"/>
              <a:ext cx="3140062"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，右边的部分</a:t>
              </a:r>
              <a:endParaRPr kumimoji="1" lang="en-US" altLang="zh-CN" sz="2800" b="1" dirty="0">
                <a:solidFill>
                  <a:srgbClr val="800080"/>
                </a:solidFill>
                <a:latin typeface="Arial" panose="020B0604020202020204" pitchFamily="34" charset="0"/>
                <a:ea typeface="楷体_GB2312" pitchFamily="49" charset="-122"/>
              </a:endParaRPr>
            </a:p>
          </p:txBody>
        </p:sp>
        <p:pic>
          <p:nvPicPr>
            <p:cNvPr id="52" name="图片 51"/>
            <p:cNvPicPr>
              <a:picLocks noChangeAspect="1"/>
            </p:cNvPicPr>
            <p:nvPr/>
          </p:nvPicPr>
          <p:blipFill>
            <a:blip r:embed="rId3"/>
            <a:stretch>
              <a:fillRect/>
            </a:stretch>
          </p:blipFill>
          <p:spPr>
            <a:xfrm>
              <a:off x="6404930" y="4469299"/>
              <a:ext cx="194040" cy="194040"/>
            </a:xfrm>
            <a:prstGeom prst="rect">
              <a:avLst/>
            </a:prstGeom>
          </p:spPr>
        </p:pic>
        <p:sp>
          <p:nvSpPr>
            <p:cNvPr id="53" name="Text Box 11"/>
            <p:cNvSpPr txBox="1">
              <a:spLocks noChangeArrowheads="1"/>
            </p:cNvSpPr>
            <p:nvPr/>
          </p:nvSpPr>
          <p:spPr bwMode="auto">
            <a:xfrm>
              <a:off x="6594284" y="4335487"/>
              <a:ext cx="2020910"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的数量不低于</a:t>
              </a:r>
              <a:endParaRPr kumimoji="1" lang="en-US" altLang="zh-CN" sz="2800" b="1" dirty="0">
                <a:solidFill>
                  <a:srgbClr val="800080"/>
                </a:solidFill>
                <a:latin typeface="Arial" panose="020B0604020202020204" pitchFamily="34" charset="0"/>
                <a:ea typeface="楷体_GB2312" pitchFamily="49" charset="-122"/>
              </a:endParaRPr>
            </a:p>
          </p:txBody>
        </p:sp>
        <p:pic>
          <p:nvPicPr>
            <p:cNvPr id="54" name="图片 53"/>
            <p:cNvPicPr>
              <a:picLocks noChangeAspect="1"/>
            </p:cNvPicPr>
            <p:nvPr/>
          </p:nvPicPr>
          <p:blipFill>
            <a:blip r:embed="rId4"/>
            <a:stretch>
              <a:fillRect/>
            </a:stretch>
          </p:blipFill>
          <p:spPr>
            <a:xfrm>
              <a:off x="8546550" y="4425241"/>
              <a:ext cx="144538" cy="268427"/>
            </a:xfrm>
            <a:prstGeom prst="rect">
              <a:avLst/>
            </a:prstGeom>
          </p:spPr>
        </p:pic>
      </p:grpSp>
      <p:grpSp>
        <p:nvGrpSpPr>
          <p:cNvPr id="55" name="组合 54"/>
          <p:cNvGrpSpPr/>
          <p:nvPr/>
        </p:nvGrpSpPr>
        <p:grpSpPr>
          <a:xfrm>
            <a:off x="1530770" y="5218386"/>
            <a:ext cx="6192688" cy="410925"/>
            <a:chOff x="1824458" y="5218385"/>
            <a:chExt cx="6192688" cy="410925"/>
          </a:xfrm>
        </p:grpSpPr>
        <p:pic>
          <p:nvPicPr>
            <p:cNvPr id="56" name="图片 55"/>
            <p:cNvPicPr>
              <a:picLocks noChangeAspect="1"/>
            </p:cNvPicPr>
            <p:nvPr/>
          </p:nvPicPr>
          <p:blipFill>
            <a:blip r:embed="rId5"/>
            <a:stretch>
              <a:fillRect/>
            </a:stretch>
          </p:blipFill>
          <p:spPr>
            <a:xfrm>
              <a:off x="1824458" y="5222270"/>
              <a:ext cx="576064" cy="288032"/>
            </a:xfrm>
            <a:prstGeom prst="rect">
              <a:avLst/>
            </a:prstGeom>
          </p:spPr>
        </p:pic>
        <p:pic>
          <p:nvPicPr>
            <p:cNvPr id="57" name="图片 56"/>
            <p:cNvPicPr>
              <a:picLocks noChangeAspect="1"/>
            </p:cNvPicPr>
            <p:nvPr/>
          </p:nvPicPr>
          <p:blipFill>
            <a:blip r:embed="rId6"/>
            <a:stretch>
              <a:fillRect/>
            </a:stretch>
          </p:blipFill>
          <p:spPr>
            <a:xfrm>
              <a:off x="3015359" y="5222270"/>
              <a:ext cx="1373691" cy="288032"/>
            </a:xfrm>
            <a:prstGeom prst="rect">
              <a:avLst/>
            </a:prstGeom>
          </p:spPr>
        </p:pic>
        <p:pic>
          <p:nvPicPr>
            <p:cNvPr id="58" name="图片 57"/>
            <p:cNvPicPr>
              <a:picLocks noChangeAspect="1"/>
            </p:cNvPicPr>
            <p:nvPr/>
          </p:nvPicPr>
          <p:blipFill>
            <a:blip r:embed="rId7"/>
            <a:stretch>
              <a:fillRect/>
            </a:stretch>
          </p:blipFill>
          <p:spPr>
            <a:xfrm>
              <a:off x="4912230" y="5218385"/>
              <a:ext cx="952725" cy="288033"/>
            </a:xfrm>
            <a:prstGeom prst="rect">
              <a:avLst/>
            </a:prstGeom>
          </p:spPr>
        </p:pic>
        <p:pic>
          <p:nvPicPr>
            <p:cNvPr id="59" name="图片 58"/>
            <p:cNvPicPr>
              <a:picLocks noChangeAspect="1"/>
            </p:cNvPicPr>
            <p:nvPr/>
          </p:nvPicPr>
          <p:blipFill>
            <a:blip r:embed="rId8"/>
            <a:stretch>
              <a:fillRect/>
            </a:stretch>
          </p:blipFill>
          <p:spPr>
            <a:xfrm>
              <a:off x="6432970" y="5218385"/>
              <a:ext cx="1584176" cy="288032"/>
            </a:xfrm>
            <a:prstGeom prst="rect">
              <a:avLst/>
            </a:prstGeom>
          </p:spPr>
        </p:pic>
        <p:sp>
          <p:nvSpPr>
            <p:cNvPr id="60" name="矩形 59"/>
            <p:cNvSpPr/>
            <p:nvPr/>
          </p:nvSpPr>
          <p:spPr bwMode="auto">
            <a:xfrm>
              <a:off x="7002774" y="5229200"/>
              <a:ext cx="1014372" cy="400110"/>
            </a:xfrm>
            <a:prstGeom prst="rect">
              <a:avLst/>
            </a:prstGeom>
            <a:solidFill>
              <a:srgbClr val="FF0000">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61" name="矩形 60"/>
            <p:cNvSpPr/>
            <p:nvPr/>
          </p:nvSpPr>
          <p:spPr bwMode="auto">
            <a:xfrm>
              <a:off x="5482482" y="5229200"/>
              <a:ext cx="382473" cy="400110"/>
            </a:xfrm>
            <a:prstGeom prst="rect">
              <a:avLst/>
            </a:prstGeom>
            <a:solidFill>
              <a:srgbClr val="FF0000">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62" name="矩形 61"/>
            <p:cNvSpPr/>
            <p:nvPr/>
          </p:nvSpPr>
          <p:spPr bwMode="auto">
            <a:xfrm>
              <a:off x="3207160" y="5229200"/>
              <a:ext cx="1181889" cy="400110"/>
            </a:xfrm>
            <a:prstGeom prst="rect">
              <a:avLst/>
            </a:prstGeom>
            <a:solidFill>
              <a:srgbClr val="FF0000">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63" name="矩形 62"/>
            <p:cNvSpPr/>
            <p:nvPr/>
          </p:nvSpPr>
          <p:spPr bwMode="auto">
            <a:xfrm>
              <a:off x="2024667" y="5222962"/>
              <a:ext cx="375856" cy="400110"/>
            </a:xfrm>
            <a:prstGeom prst="rect">
              <a:avLst/>
            </a:prstGeom>
            <a:solidFill>
              <a:srgbClr val="FF0000">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64" name="矩形 63"/>
            <p:cNvSpPr/>
            <p:nvPr/>
          </p:nvSpPr>
          <p:spPr bwMode="auto">
            <a:xfrm>
              <a:off x="6814994" y="5229200"/>
              <a:ext cx="187780" cy="400110"/>
            </a:xfrm>
            <a:prstGeom prst="rect">
              <a:avLst/>
            </a:prstGeom>
            <a:solidFill>
              <a:srgbClr val="000066">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65" name="矩形 64"/>
            <p:cNvSpPr/>
            <p:nvPr/>
          </p:nvSpPr>
          <p:spPr bwMode="auto">
            <a:xfrm>
              <a:off x="5294702" y="5229200"/>
              <a:ext cx="187780" cy="400110"/>
            </a:xfrm>
            <a:prstGeom prst="rect">
              <a:avLst/>
            </a:prstGeom>
            <a:solidFill>
              <a:srgbClr val="000066">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66" name="矩形 65"/>
            <p:cNvSpPr/>
            <p:nvPr/>
          </p:nvSpPr>
          <p:spPr bwMode="auto">
            <a:xfrm>
              <a:off x="3019379" y="5229200"/>
              <a:ext cx="187780" cy="400110"/>
            </a:xfrm>
            <a:prstGeom prst="rect">
              <a:avLst/>
            </a:prstGeom>
            <a:solidFill>
              <a:srgbClr val="000066">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67" name="矩形 66"/>
            <p:cNvSpPr/>
            <p:nvPr/>
          </p:nvSpPr>
          <p:spPr bwMode="auto">
            <a:xfrm>
              <a:off x="1836886" y="5229200"/>
              <a:ext cx="187780" cy="400110"/>
            </a:xfrm>
            <a:prstGeom prst="rect">
              <a:avLst/>
            </a:prstGeom>
            <a:solidFill>
              <a:srgbClr val="000066">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68" name="矩形 67"/>
            <p:cNvSpPr/>
            <p:nvPr/>
          </p:nvSpPr>
          <p:spPr bwMode="auto">
            <a:xfrm>
              <a:off x="4877083" y="5229200"/>
              <a:ext cx="417617" cy="400110"/>
            </a:xfrm>
            <a:prstGeom prst="rect">
              <a:avLst/>
            </a:prstGeom>
            <a:solidFill>
              <a:schemeClr val="accent5">
                <a:lumMod val="50000"/>
                <a:alpha val="38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69" name="矩形 68"/>
            <p:cNvSpPr/>
            <p:nvPr/>
          </p:nvSpPr>
          <p:spPr bwMode="auto">
            <a:xfrm>
              <a:off x="6397377" y="5229200"/>
              <a:ext cx="417617" cy="400110"/>
            </a:xfrm>
            <a:prstGeom prst="rect">
              <a:avLst/>
            </a:prstGeom>
            <a:solidFill>
              <a:schemeClr val="accent5">
                <a:lumMod val="50000"/>
                <a:alpha val="38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grpSp>
      <p:grpSp>
        <p:nvGrpSpPr>
          <p:cNvPr id="70" name="组合 69"/>
          <p:cNvGrpSpPr/>
          <p:nvPr/>
        </p:nvGrpSpPr>
        <p:grpSpPr>
          <a:xfrm>
            <a:off x="1680570" y="5919664"/>
            <a:ext cx="6546422" cy="461665"/>
            <a:chOff x="1974258" y="5919663"/>
            <a:chExt cx="6546422" cy="461665"/>
          </a:xfrm>
        </p:grpSpPr>
        <p:sp>
          <p:nvSpPr>
            <p:cNvPr id="71" name="Text Box 11"/>
            <p:cNvSpPr txBox="1">
              <a:spLocks noChangeArrowheads="1"/>
            </p:cNvSpPr>
            <p:nvPr/>
          </p:nvSpPr>
          <p:spPr bwMode="auto">
            <a:xfrm>
              <a:off x="1974258" y="5919663"/>
              <a:ext cx="4178207"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注意：中间部分作为分割点的</a:t>
              </a:r>
              <a:endParaRPr kumimoji="1" lang="en-US" altLang="zh-CN" sz="2800" b="1" dirty="0">
                <a:solidFill>
                  <a:srgbClr val="800080"/>
                </a:solidFill>
                <a:latin typeface="Arial" panose="020B0604020202020204" pitchFamily="34" charset="0"/>
                <a:ea typeface="楷体_GB2312" pitchFamily="49" charset="-122"/>
              </a:endParaRPr>
            </a:p>
          </p:txBody>
        </p:sp>
        <p:pic>
          <p:nvPicPr>
            <p:cNvPr id="72" name="图片 71"/>
            <p:cNvPicPr>
              <a:picLocks noChangeAspect="1"/>
            </p:cNvPicPr>
            <p:nvPr/>
          </p:nvPicPr>
          <p:blipFill>
            <a:blip r:embed="rId3"/>
            <a:stretch>
              <a:fillRect/>
            </a:stretch>
          </p:blipFill>
          <p:spPr>
            <a:xfrm>
              <a:off x="6055445" y="6060340"/>
              <a:ext cx="194040" cy="194040"/>
            </a:xfrm>
            <a:prstGeom prst="rect">
              <a:avLst/>
            </a:prstGeom>
          </p:spPr>
        </p:pic>
        <p:sp>
          <p:nvSpPr>
            <p:cNvPr id="73" name="Text Box 11"/>
            <p:cNvSpPr txBox="1">
              <a:spLocks noChangeArrowheads="1"/>
            </p:cNvSpPr>
            <p:nvPr/>
          </p:nvSpPr>
          <p:spPr bwMode="auto">
            <a:xfrm>
              <a:off x="6249485" y="5919663"/>
              <a:ext cx="2271195"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是唯一的。</a:t>
              </a:r>
              <a:endParaRPr kumimoji="1" lang="en-US" altLang="zh-CN" sz="2800" b="1" dirty="0">
                <a:solidFill>
                  <a:srgbClr val="800080"/>
                </a:solidFill>
                <a:latin typeface="Arial" panose="020B0604020202020204" pitchFamily="34" charset="0"/>
                <a:ea typeface="楷体_GB2312" pitchFamily="49"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上下文无关文法</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37"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4</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38" name="图片 37"/>
          <p:cNvPicPr>
            <a:picLocks noChangeAspect="1"/>
          </p:cNvPicPr>
          <p:nvPr/>
        </p:nvPicPr>
        <p:blipFill>
          <a:blip r:embed="rId2"/>
          <a:stretch>
            <a:fillRect/>
          </a:stretch>
        </p:blipFill>
        <p:spPr>
          <a:xfrm>
            <a:off x="1295400" y="1981200"/>
            <a:ext cx="6979103" cy="355196"/>
          </a:xfrm>
          <a:prstGeom prst="rect">
            <a:avLst/>
          </a:prstGeom>
        </p:spPr>
      </p:pic>
      <p:sp>
        <p:nvSpPr>
          <p:cNvPr id="74" name="Text Box 11"/>
          <p:cNvSpPr txBox="1">
            <a:spLocks noChangeArrowheads="1"/>
          </p:cNvSpPr>
          <p:nvPr/>
        </p:nvSpPr>
        <p:spPr bwMode="auto">
          <a:xfrm>
            <a:off x="609600" y="2709453"/>
            <a:ext cx="202510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解：</a:t>
            </a:r>
            <a:endParaRPr kumimoji="1" lang="en-US" altLang="zh-CN" sz="2800" b="1" dirty="0">
              <a:solidFill>
                <a:srgbClr val="800080"/>
              </a:solidFill>
              <a:latin typeface="Arial" panose="020B0604020202020204" pitchFamily="34" charset="0"/>
              <a:ea typeface="楷体_GB2312" pitchFamily="49" charset="-122"/>
            </a:endParaRPr>
          </a:p>
        </p:txBody>
      </p:sp>
      <p:grpSp>
        <p:nvGrpSpPr>
          <p:cNvPr id="75" name="组合 74"/>
          <p:cNvGrpSpPr/>
          <p:nvPr/>
        </p:nvGrpSpPr>
        <p:grpSpPr>
          <a:xfrm>
            <a:off x="1200850" y="2708760"/>
            <a:ext cx="7338510" cy="978125"/>
            <a:chOff x="1265938" y="2708759"/>
            <a:chExt cx="7338510" cy="978125"/>
          </a:xfrm>
        </p:grpSpPr>
        <p:sp>
          <p:nvSpPr>
            <p:cNvPr id="76" name="Text Box 11"/>
            <p:cNvSpPr txBox="1">
              <a:spLocks noChangeArrowheads="1"/>
            </p:cNvSpPr>
            <p:nvPr/>
          </p:nvSpPr>
          <p:spPr bwMode="auto">
            <a:xfrm>
              <a:off x="1265938" y="2708759"/>
              <a:ext cx="143385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如何实现</a:t>
              </a:r>
              <a:endParaRPr kumimoji="1" lang="en-US" altLang="zh-CN" sz="2800" b="1" dirty="0">
                <a:solidFill>
                  <a:srgbClr val="800080"/>
                </a:solidFill>
                <a:latin typeface="Arial" panose="020B0604020202020204" pitchFamily="34" charset="0"/>
                <a:ea typeface="楷体_GB2312" pitchFamily="49" charset="-122"/>
              </a:endParaRPr>
            </a:p>
          </p:txBody>
        </p:sp>
        <p:pic>
          <p:nvPicPr>
            <p:cNvPr id="77" name="图片 76"/>
            <p:cNvPicPr>
              <a:picLocks noChangeAspect="1"/>
            </p:cNvPicPr>
            <p:nvPr/>
          </p:nvPicPr>
          <p:blipFill>
            <a:blip r:embed="rId3"/>
            <a:stretch>
              <a:fillRect/>
            </a:stretch>
          </p:blipFill>
          <p:spPr>
            <a:xfrm>
              <a:off x="2674780" y="2843264"/>
              <a:ext cx="194040" cy="194040"/>
            </a:xfrm>
            <a:prstGeom prst="rect">
              <a:avLst/>
            </a:prstGeom>
          </p:spPr>
        </p:pic>
        <p:sp>
          <p:nvSpPr>
            <p:cNvPr id="78" name="Text Box 11"/>
            <p:cNvSpPr txBox="1">
              <a:spLocks noChangeArrowheads="1"/>
            </p:cNvSpPr>
            <p:nvPr/>
          </p:nvSpPr>
          <p:spPr bwMode="auto">
            <a:xfrm>
              <a:off x="2868820" y="2708759"/>
              <a:ext cx="2063220"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的数量不低于</a:t>
              </a:r>
              <a:endParaRPr kumimoji="1" lang="en-US" altLang="zh-CN" sz="2800" b="1" dirty="0">
                <a:solidFill>
                  <a:srgbClr val="800080"/>
                </a:solidFill>
                <a:latin typeface="Arial" panose="020B0604020202020204" pitchFamily="34" charset="0"/>
                <a:ea typeface="楷体_GB2312" pitchFamily="49" charset="-122"/>
              </a:endParaRPr>
            </a:p>
          </p:txBody>
        </p:sp>
        <p:pic>
          <p:nvPicPr>
            <p:cNvPr id="79" name="图片 78"/>
            <p:cNvPicPr>
              <a:picLocks noChangeAspect="1"/>
            </p:cNvPicPr>
            <p:nvPr/>
          </p:nvPicPr>
          <p:blipFill>
            <a:blip r:embed="rId4"/>
            <a:stretch>
              <a:fillRect/>
            </a:stretch>
          </p:blipFill>
          <p:spPr>
            <a:xfrm>
              <a:off x="4859771" y="2806071"/>
              <a:ext cx="144538" cy="268427"/>
            </a:xfrm>
            <a:prstGeom prst="rect">
              <a:avLst/>
            </a:prstGeom>
          </p:spPr>
        </p:pic>
        <p:sp>
          <p:nvSpPr>
            <p:cNvPr id="80" name="Text Box 11"/>
            <p:cNvSpPr txBox="1">
              <a:spLocks noChangeArrowheads="1"/>
            </p:cNvSpPr>
            <p:nvPr/>
          </p:nvSpPr>
          <p:spPr bwMode="auto">
            <a:xfrm>
              <a:off x="5004309" y="2708759"/>
              <a:ext cx="3600139"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？可以在数量相等的基础</a:t>
              </a:r>
              <a:endParaRPr kumimoji="1" lang="en-US" altLang="zh-CN" sz="2800" b="1" dirty="0">
                <a:solidFill>
                  <a:srgbClr val="800080"/>
                </a:solidFill>
                <a:latin typeface="Arial" panose="020B0604020202020204" pitchFamily="34" charset="0"/>
                <a:ea typeface="楷体_GB2312" pitchFamily="49" charset="-122"/>
              </a:endParaRPr>
            </a:p>
          </p:txBody>
        </p:sp>
        <p:sp>
          <p:nvSpPr>
            <p:cNvPr id="81" name="Text Box 11"/>
            <p:cNvSpPr txBox="1">
              <a:spLocks noChangeArrowheads="1"/>
            </p:cNvSpPr>
            <p:nvPr/>
          </p:nvSpPr>
          <p:spPr bwMode="auto">
            <a:xfrm>
              <a:off x="1265939" y="3225219"/>
              <a:ext cx="1145822"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上增加</a:t>
              </a:r>
              <a:endParaRPr kumimoji="1" lang="en-US" altLang="zh-CN" sz="2800" b="1" dirty="0">
                <a:solidFill>
                  <a:srgbClr val="800080"/>
                </a:solidFill>
                <a:latin typeface="Arial" panose="020B0604020202020204" pitchFamily="34" charset="0"/>
                <a:ea typeface="楷体_GB2312" pitchFamily="49" charset="-122"/>
              </a:endParaRPr>
            </a:p>
          </p:txBody>
        </p:sp>
        <p:pic>
          <p:nvPicPr>
            <p:cNvPr id="82" name="图片 81"/>
            <p:cNvPicPr>
              <a:picLocks noChangeAspect="1"/>
            </p:cNvPicPr>
            <p:nvPr/>
          </p:nvPicPr>
          <p:blipFill>
            <a:blip r:embed="rId3"/>
            <a:stretch>
              <a:fillRect/>
            </a:stretch>
          </p:blipFill>
          <p:spPr>
            <a:xfrm>
              <a:off x="2361736" y="3359031"/>
              <a:ext cx="194040" cy="194040"/>
            </a:xfrm>
            <a:prstGeom prst="rect">
              <a:avLst/>
            </a:prstGeom>
          </p:spPr>
        </p:pic>
        <p:sp>
          <p:nvSpPr>
            <p:cNvPr id="83" name="Text Box 11"/>
            <p:cNvSpPr txBox="1">
              <a:spLocks noChangeArrowheads="1"/>
            </p:cNvSpPr>
            <p:nvPr/>
          </p:nvSpPr>
          <p:spPr bwMode="auto">
            <a:xfrm>
              <a:off x="2555776" y="3225218"/>
              <a:ext cx="2063220"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的数量。</a:t>
              </a:r>
              <a:endParaRPr kumimoji="1" lang="en-US" altLang="zh-CN" sz="2800" b="1" dirty="0">
                <a:solidFill>
                  <a:srgbClr val="800080"/>
                </a:solidFill>
                <a:latin typeface="Arial" panose="020B0604020202020204" pitchFamily="34" charset="0"/>
                <a:ea typeface="楷体_GB2312" pitchFamily="49" charset="-122"/>
              </a:endParaRPr>
            </a:p>
          </p:txBody>
        </p:sp>
      </p:grpSp>
      <p:pic>
        <p:nvPicPr>
          <p:cNvPr id="84" name="图片 83"/>
          <p:cNvPicPr>
            <a:picLocks noChangeAspect="1"/>
          </p:cNvPicPr>
          <p:nvPr/>
        </p:nvPicPr>
        <p:blipFill>
          <a:blip r:embed="rId5"/>
          <a:stretch>
            <a:fillRect/>
          </a:stretch>
        </p:blipFill>
        <p:spPr>
          <a:xfrm>
            <a:off x="1947283" y="3853116"/>
            <a:ext cx="5356585" cy="376794"/>
          </a:xfrm>
          <a:prstGeom prst="rect">
            <a:avLst/>
          </a:prstGeom>
        </p:spPr>
      </p:pic>
      <p:sp>
        <p:nvSpPr>
          <p:cNvPr id="85" name="Text Box 11"/>
          <p:cNvSpPr txBox="1">
            <a:spLocks noChangeArrowheads="1"/>
          </p:cNvSpPr>
          <p:nvPr/>
        </p:nvSpPr>
        <p:spPr bwMode="auto">
          <a:xfrm>
            <a:off x="1176054" y="4396143"/>
            <a:ext cx="5707122"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因此，第一种情况可以表示为</a:t>
            </a:r>
            <a:endParaRPr kumimoji="1" lang="en-US" altLang="zh-CN" sz="2800" b="1" dirty="0">
              <a:solidFill>
                <a:srgbClr val="800080"/>
              </a:solidFill>
              <a:latin typeface="Arial" panose="020B0604020202020204" pitchFamily="34" charset="0"/>
              <a:ea typeface="楷体_GB2312" pitchFamily="49" charset="-122"/>
            </a:endParaRPr>
          </a:p>
        </p:txBody>
      </p:sp>
      <p:pic>
        <p:nvPicPr>
          <p:cNvPr id="86" name="图片 85"/>
          <p:cNvPicPr>
            <a:picLocks noChangeAspect="1"/>
          </p:cNvPicPr>
          <p:nvPr/>
        </p:nvPicPr>
        <p:blipFill>
          <a:blip r:embed="rId6"/>
          <a:stretch>
            <a:fillRect/>
          </a:stretch>
        </p:blipFill>
        <p:spPr>
          <a:xfrm>
            <a:off x="1991426" y="5024039"/>
            <a:ext cx="1624613" cy="287906"/>
          </a:xfrm>
          <a:prstGeom prst="rect">
            <a:avLst/>
          </a:prstGeom>
        </p:spPr>
      </p:pic>
      <p:pic>
        <p:nvPicPr>
          <p:cNvPr id="87" name="图片 86"/>
          <p:cNvPicPr>
            <a:picLocks noChangeAspect="1"/>
          </p:cNvPicPr>
          <p:nvPr/>
        </p:nvPicPr>
        <p:blipFill>
          <a:blip r:embed="rId7"/>
          <a:stretch>
            <a:fillRect/>
          </a:stretch>
        </p:blipFill>
        <p:spPr>
          <a:xfrm>
            <a:off x="1991426" y="5482174"/>
            <a:ext cx="3503767" cy="374680"/>
          </a:xfrm>
          <a:prstGeom prst="rect">
            <a:avLst/>
          </a:prstGeom>
        </p:spPr>
      </p:pic>
      <p:pic>
        <p:nvPicPr>
          <p:cNvPr id="88" name="图片 87"/>
          <p:cNvPicPr>
            <a:picLocks noChangeAspect="1"/>
          </p:cNvPicPr>
          <p:nvPr/>
        </p:nvPicPr>
        <p:blipFill>
          <a:blip r:embed="rId5"/>
          <a:stretch>
            <a:fillRect/>
          </a:stretch>
        </p:blipFill>
        <p:spPr>
          <a:xfrm>
            <a:off x="1991426" y="5999211"/>
            <a:ext cx="5356585" cy="37679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bldLvl="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上下文无关文法</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37"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4</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38" name="图片 37"/>
          <p:cNvPicPr>
            <a:picLocks noChangeAspect="1"/>
          </p:cNvPicPr>
          <p:nvPr/>
        </p:nvPicPr>
        <p:blipFill>
          <a:blip r:embed="rId2"/>
          <a:stretch>
            <a:fillRect/>
          </a:stretch>
        </p:blipFill>
        <p:spPr>
          <a:xfrm>
            <a:off x="1295400" y="1981200"/>
            <a:ext cx="6979103" cy="355196"/>
          </a:xfrm>
          <a:prstGeom prst="rect">
            <a:avLst/>
          </a:prstGeom>
        </p:spPr>
      </p:pic>
      <p:sp>
        <p:nvSpPr>
          <p:cNvPr id="21" name="Text Box 11"/>
          <p:cNvSpPr txBox="1">
            <a:spLocks noChangeArrowheads="1"/>
          </p:cNvSpPr>
          <p:nvPr/>
        </p:nvSpPr>
        <p:spPr bwMode="auto">
          <a:xfrm>
            <a:off x="1219200" y="2709453"/>
            <a:ext cx="202510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解：</a:t>
            </a:r>
            <a:endParaRPr kumimoji="1" lang="en-US" altLang="zh-CN" sz="2800" b="1" dirty="0">
              <a:solidFill>
                <a:srgbClr val="800080"/>
              </a:solidFill>
              <a:latin typeface="Arial" panose="020B0604020202020204" pitchFamily="34" charset="0"/>
              <a:ea typeface="楷体_GB2312" pitchFamily="49" charset="-122"/>
            </a:endParaRPr>
          </a:p>
        </p:txBody>
      </p:sp>
      <p:sp>
        <p:nvSpPr>
          <p:cNvPr id="22" name="Text Box 11"/>
          <p:cNvSpPr txBox="1">
            <a:spLocks noChangeArrowheads="1"/>
          </p:cNvSpPr>
          <p:nvPr/>
        </p:nvSpPr>
        <p:spPr bwMode="auto">
          <a:xfrm>
            <a:off x="1810450" y="2708760"/>
            <a:ext cx="6042366"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第二种情况是对称的，可以类似地处理。</a:t>
            </a:r>
            <a:endParaRPr kumimoji="1" lang="en-US" altLang="zh-CN" sz="2800" b="1" dirty="0">
              <a:solidFill>
                <a:srgbClr val="800080"/>
              </a:solidFill>
              <a:latin typeface="Arial" panose="020B0604020202020204" pitchFamily="34" charset="0"/>
              <a:ea typeface="楷体_GB2312" pitchFamily="49" charset="-122"/>
            </a:endParaRPr>
          </a:p>
        </p:txBody>
      </p:sp>
      <p:sp>
        <p:nvSpPr>
          <p:cNvPr id="23" name="Text Box 11"/>
          <p:cNvSpPr txBox="1">
            <a:spLocks noChangeArrowheads="1"/>
          </p:cNvSpPr>
          <p:nvPr/>
        </p:nvSpPr>
        <p:spPr bwMode="auto">
          <a:xfrm>
            <a:off x="1810450" y="3190633"/>
            <a:ext cx="6042366"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因此，最终的文法是</a:t>
            </a:r>
            <a:endParaRPr kumimoji="1" lang="en-US" altLang="zh-CN" sz="2800" b="1" dirty="0">
              <a:solidFill>
                <a:srgbClr val="800080"/>
              </a:solidFill>
              <a:latin typeface="Arial" panose="020B0604020202020204" pitchFamily="34" charset="0"/>
              <a:ea typeface="楷体_GB2312" pitchFamily="49" charset="-122"/>
            </a:endParaRPr>
          </a:p>
        </p:txBody>
      </p:sp>
      <p:pic>
        <p:nvPicPr>
          <p:cNvPr id="24" name="图片 23"/>
          <p:cNvPicPr>
            <a:picLocks noChangeAspect="1"/>
          </p:cNvPicPr>
          <p:nvPr/>
        </p:nvPicPr>
        <p:blipFill>
          <a:blip r:embed="rId3"/>
          <a:stretch>
            <a:fillRect/>
          </a:stretch>
        </p:blipFill>
        <p:spPr>
          <a:xfrm>
            <a:off x="2441705" y="4323908"/>
            <a:ext cx="1469641" cy="260443"/>
          </a:xfrm>
          <a:prstGeom prst="rect">
            <a:avLst/>
          </a:prstGeom>
        </p:spPr>
      </p:pic>
      <p:pic>
        <p:nvPicPr>
          <p:cNvPr id="25" name="图片 24"/>
          <p:cNvPicPr>
            <a:picLocks noChangeAspect="1"/>
          </p:cNvPicPr>
          <p:nvPr/>
        </p:nvPicPr>
        <p:blipFill>
          <a:blip r:embed="rId4"/>
          <a:stretch>
            <a:fillRect/>
          </a:stretch>
        </p:blipFill>
        <p:spPr>
          <a:xfrm>
            <a:off x="2441705" y="5242718"/>
            <a:ext cx="3432291" cy="367037"/>
          </a:xfrm>
          <a:prstGeom prst="rect">
            <a:avLst/>
          </a:prstGeom>
        </p:spPr>
      </p:pic>
      <p:pic>
        <p:nvPicPr>
          <p:cNvPr id="26" name="图片 25"/>
          <p:cNvPicPr>
            <a:picLocks noChangeAspect="1"/>
          </p:cNvPicPr>
          <p:nvPr/>
        </p:nvPicPr>
        <p:blipFill>
          <a:blip r:embed="rId5"/>
          <a:stretch>
            <a:fillRect/>
          </a:stretch>
        </p:blipFill>
        <p:spPr>
          <a:xfrm>
            <a:off x="2441705" y="5719095"/>
            <a:ext cx="5282733" cy="371599"/>
          </a:xfrm>
          <a:prstGeom prst="rect">
            <a:avLst/>
          </a:prstGeom>
        </p:spPr>
      </p:pic>
      <p:pic>
        <p:nvPicPr>
          <p:cNvPr id="27" name="图片 26"/>
          <p:cNvPicPr>
            <a:picLocks noChangeAspect="1"/>
          </p:cNvPicPr>
          <p:nvPr/>
        </p:nvPicPr>
        <p:blipFill>
          <a:blip r:embed="rId6"/>
          <a:stretch>
            <a:fillRect/>
          </a:stretch>
        </p:blipFill>
        <p:spPr>
          <a:xfrm>
            <a:off x="2441705" y="4787041"/>
            <a:ext cx="1469641" cy="263782"/>
          </a:xfrm>
          <a:prstGeom prst="rect">
            <a:avLst/>
          </a:prstGeom>
        </p:spPr>
      </p:pic>
      <p:pic>
        <p:nvPicPr>
          <p:cNvPr id="28" name="图片 27"/>
          <p:cNvPicPr>
            <a:picLocks noChangeAspect="1"/>
          </p:cNvPicPr>
          <p:nvPr/>
        </p:nvPicPr>
        <p:blipFill>
          <a:blip r:embed="rId7"/>
          <a:stretch>
            <a:fillRect/>
          </a:stretch>
        </p:blipFill>
        <p:spPr>
          <a:xfrm>
            <a:off x="2441704" y="6210716"/>
            <a:ext cx="5282734" cy="387820"/>
          </a:xfrm>
          <a:prstGeom prst="rect">
            <a:avLst/>
          </a:prstGeom>
        </p:spPr>
      </p:pic>
      <p:pic>
        <p:nvPicPr>
          <p:cNvPr id="29" name="图片 28"/>
          <p:cNvPicPr>
            <a:picLocks noChangeAspect="1"/>
          </p:cNvPicPr>
          <p:nvPr/>
        </p:nvPicPr>
        <p:blipFill>
          <a:blip r:embed="rId8"/>
          <a:stretch>
            <a:fillRect/>
          </a:stretch>
        </p:blipFill>
        <p:spPr>
          <a:xfrm>
            <a:off x="2441705" y="3819438"/>
            <a:ext cx="1624613" cy="36211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P spid="23" grpId="0" bldLvl="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上下文无关文法</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37"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4</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38" name="图片 37"/>
          <p:cNvPicPr>
            <a:picLocks noChangeAspect="1"/>
          </p:cNvPicPr>
          <p:nvPr/>
        </p:nvPicPr>
        <p:blipFill>
          <a:blip r:embed="rId2"/>
          <a:stretch>
            <a:fillRect/>
          </a:stretch>
        </p:blipFill>
        <p:spPr>
          <a:xfrm>
            <a:off x="1295400" y="1981200"/>
            <a:ext cx="6979103" cy="355196"/>
          </a:xfrm>
          <a:prstGeom prst="rect">
            <a:avLst/>
          </a:prstGeom>
        </p:spPr>
      </p:pic>
      <p:sp>
        <p:nvSpPr>
          <p:cNvPr id="15" name="Text Box 11"/>
          <p:cNvSpPr txBox="1">
            <a:spLocks noChangeArrowheads="1"/>
          </p:cNvSpPr>
          <p:nvPr/>
        </p:nvSpPr>
        <p:spPr bwMode="auto">
          <a:xfrm>
            <a:off x="533400" y="2709453"/>
            <a:ext cx="202510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解：</a:t>
            </a:r>
            <a:endParaRPr kumimoji="1" lang="en-US" altLang="zh-CN" sz="2800" b="1" dirty="0">
              <a:solidFill>
                <a:srgbClr val="800080"/>
              </a:solidFill>
              <a:latin typeface="Arial" panose="020B0604020202020204" pitchFamily="34" charset="0"/>
              <a:ea typeface="楷体_GB2312" pitchFamily="49" charset="-122"/>
            </a:endParaRPr>
          </a:p>
        </p:txBody>
      </p:sp>
      <p:grpSp>
        <p:nvGrpSpPr>
          <p:cNvPr id="16" name="组合 15"/>
          <p:cNvGrpSpPr/>
          <p:nvPr/>
        </p:nvGrpSpPr>
        <p:grpSpPr>
          <a:xfrm>
            <a:off x="1124650" y="2708760"/>
            <a:ext cx="7554534" cy="1420221"/>
            <a:chOff x="1265938" y="2708759"/>
            <a:chExt cx="7554534" cy="1420221"/>
          </a:xfrm>
        </p:grpSpPr>
        <p:sp>
          <p:nvSpPr>
            <p:cNvPr id="17" name="Text Box 11"/>
            <p:cNvSpPr txBox="1">
              <a:spLocks noChangeArrowheads="1"/>
            </p:cNvSpPr>
            <p:nvPr/>
          </p:nvSpPr>
          <p:spPr bwMode="auto">
            <a:xfrm>
              <a:off x="1265938" y="2708759"/>
              <a:ext cx="755453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但是上面的答案比较冗余，尤其是后三个式子有些重复。</a:t>
              </a:r>
              <a:endParaRPr kumimoji="1" lang="en-US" altLang="zh-CN" sz="2800" b="1" dirty="0">
                <a:solidFill>
                  <a:srgbClr val="800080"/>
                </a:solidFill>
                <a:latin typeface="Arial" panose="020B0604020202020204" pitchFamily="34" charset="0"/>
                <a:ea typeface="楷体_GB2312" pitchFamily="49" charset="-122"/>
              </a:endParaRPr>
            </a:p>
          </p:txBody>
        </p:sp>
        <p:sp>
          <p:nvSpPr>
            <p:cNvPr id="18" name="Text Box 11"/>
            <p:cNvSpPr txBox="1">
              <a:spLocks noChangeArrowheads="1"/>
            </p:cNvSpPr>
            <p:nvPr/>
          </p:nvSpPr>
          <p:spPr bwMode="auto">
            <a:xfrm>
              <a:off x="1265938" y="3195243"/>
              <a:ext cx="755453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能不能写得更简单一些？以第一种情况为例，只要分割</a:t>
              </a:r>
              <a:endParaRPr kumimoji="1" lang="en-US" altLang="zh-CN" sz="2800" b="1" dirty="0">
                <a:solidFill>
                  <a:srgbClr val="800080"/>
                </a:solidFill>
                <a:latin typeface="Arial" panose="020B0604020202020204" pitchFamily="34" charset="0"/>
                <a:ea typeface="楷体_GB2312" pitchFamily="49" charset="-122"/>
              </a:endParaRPr>
            </a:p>
          </p:txBody>
        </p:sp>
        <p:sp>
          <p:nvSpPr>
            <p:cNvPr id="19" name="Text Box 11"/>
            <p:cNvSpPr txBox="1">
              <a:spLocks noChangeArrowheads="1"/>
            </p:cNvSpPr>
            <p:nvPr/>
          </p:nvSpPr>
          <p:spPr bwMode="auto">
            <a:xfrm>
              <a:off x="1265938" y="3667315"/>
              <a:ext cx="215393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点两侧都满足</a:t>
              </a:r>
              <a:endParaRPr kumimoji="1" lang="en-US" altLang="zh-CN" sz="2800" b="1" dirty="0">
                <a:solidFill>
                  <a:srgbClr val="800080"/>
                </a:solidFill>
                <a:latin typeface="Arial" panose="020B0604020202020204" pitchFamily="34" charset="0"/>
                <a:ea typeface="楷体_GB2312" pitchFamily="49" charset="-122"/>
              </a:endParaRPr>
            </a:p>
          </p:txBody>
        </p:sp>
        <p:pic>
          <p:nvPicPr>
            <p:cNvPr id="20" name="图片 19"/>
            <p:cNvPicPr>
              <a:picLocks noChangeAspect="1"/>
            </p:cNvPicPr>
            <p:nvPr/>
          </p:nvPicPr>
          <p:blipFill>
            <a:blip r:embed="rId3"/>
            <a:stretch>
              <a:fillRect/>
            </a:stretch>
          </p:blipFill>
          <p:spPr>
            <a:xfrm>
              <a:off x="3225832" y="3799553"/>
              <a:ext cx="194040" cy="194040"/>
            </a:xfrm>
            <a:prstGeom prst="rect">
              <a:avLst/>
            </a:prstGeom>
          </p:spPr>
        </p:pic>
        <p:sp>
          <p:nvSpPr>
            <p:cNvPr id="30" name="Text Box 11"/>
            <p:cNvSpPr txBox="1">
              <a:spLocks noChangeArrowheads="1"/>
            </p:cNvSpPr>
            <p:nvPr/>
          </p:nvSpPr>
          <p:spPr bwMode="auto">
            <a:xfrm>
              <a:off x="3419872" y="3665048"/>
              <a:ext cx="2063220"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的数量不低于</a:t>
              </a:r>
              <a:endParaRPr kumimoji="1" lang="en-US" altLang="zh-CN" sz="2800" b="1" dirty="0">
                <a:solidFill>
                  <a:srgbClr val="800080"/>
                </a:solidFill>
                <a:latin typeface="Arial" panose="020B0604020202020204" pitchFamily="34" charset="0"/>
                <a:ea typeface="楷体_GB2312" pitchFamily="49" charset="-122"/>
              </a:endParaRPr>
            </a:p>
          </p:txBody>
        </p:sp>
        <p:pic>
          <p:nvPicPr>
            <p:cNvPr id="31" name="图片 30"/>
            <p:cNvPicPr>
              <a:picLocks noChangeAspect="1"/>
            </p:cNvPicPr>
            <p:nvPr/>
          </p:nvPicPr>
          <p:blipFill>
            <a:blip r:embed="rId4"/>
            <a:stretch>
              <a:fillRect/>
            </a:stretch>
          </p:blipFill>
          <p:spPr>
            <a:xfrm>
              <a:off x="5410823" y="3762360"/>
              <a:ext cx="144538" cy="268427"/>
            </a:xfrm>
            <a:prstGeom prst="rect">
              <a:avLst/>
            </a:prstGeom>
          </p:spPr>
        </p:pic>
        <p:sp>
          <p:nvSpPr>
            <p:cNvPr id="32" name="Text Box 11"/>
            <p:cNvSpPr txBox="1">
              <a:spLocks noChangeArrowheads="1"/>
            </p:cNvSpPr>
            <p:nvPr/>
          </p:nvSpPr>
          <p:spPr bwMode="auto">
            <a:xfrm>
              <a:off x="5573806" y="3665048"/>
              <a:ext cx="2063220"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即可。</a:t>
              </a:r>
              <a:endParaRPr kumimoji="1" lang="en-US" altLang="zh-CN" sz="2800" b="1" dirty="0">
                <a:solidFill>
                  <a:srgbClr val="800080"/>
                </a:solidFill>
                <a:latin typeface="Arial" panose="020B0604020202020204" pitchFamily="34" charset="0"/>
                <a:ea typeface="楷体_GB2312" pitchFamily="49" charset="-122"/>
              </a:endParaRPr>
            </a:p>
          </p:txBody>
        </p:sp>
      </p:grpSp>
      <p:grpSp>
        <p:nvGrpSpPr>
          <p:cNvPr id="33" name="组合 32"/>
          <p:cNvGrpSpPr/>
          <p:nvPr/>
        </p:nvGrpSpPr>
        <p:grpSpPr>
          <a:xfrm>
            <a:off x="3642871" y="4322722"/>
            <a:ext cx="1619769" cy="410925"/>
            <a:chOff x="3784158" y="4322721"/>
            <a:chExt cx="1619769" cy="410925"/>
          </a:xfrm>
        </p:grpSpPr>
        <p:pic>
          <p:nvPicPr>
            <p:cNvPr id="34" name="图片 33"/>
            <p:cNvPicPr>
              <a:picLocks noChangeAspect="1"/>
            </p:cNvPicPr>
            <p:nvPr/>
          </p:nvPicPr>
          <p:blipFill>
            <a:blip r:embed="rId5"/>
            <a:stretch>
              <a:fillRect/>
            </a:stretch>
          </p:blipFill>
          <p:spPr>
            <a:xfrm>
              <a:off x="3819751" y="4322721"/>
              <a:ext cx="1584176" cy="288032"/>
            </a:xfrm>
            <a:prstGeom prst="rect">
              <a:avLst/>
            </a:prstGeom>
          </p:spPr>
        </p:pic>
        <p:sp>
          <p:nvSpPr>
            <p:cNvPr id="35" name="矩形 34"/>
            <p:cNvSpPr/>
            <p:nvPr/>
          </p:nvSpPr>
          <p:spPr bwMode="auto">
            <a:xfrm>
              <a:off x="4619391" y="4333536"/>
              <a:ext cx="784535" cy="400110"/>
            </a:xfrm>
            <a:prstGeom prst="rect">
              <a:avLst/>
            </a:prstGeom>
            <a:solidFill>
              <a:srgbClr val="FF0000">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36" name="矩形 35"/>
            <p:cNvSpPr/>
            <p:nvPr/>
          </p:nvSpPr>
          <p:spPr bwMode="auto">
            <a:xfrm>
              <a:off x="4430720" y="4333536"/>
              <a:ext cx="187780" cy="400110"/>
            </a:xfrm>
            <a:prstGeom prst="rect">
              <a:avLst/>
            </a:prstGeom>
            <a:solidFill>
              <a:srgbClr val="000066">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39" name="矩形 38"/>
            <p:cNvSpPr/>
            <p:nvPr/>
          </p:nvSpPr>
          <p:spPr bwMode="auto">
            <a:xfrm>
              <a:off x="3784158" y="4333536"/>
              <a:ext cx="645671" cy="400110"/>
            </a:xfrm>
            <a:prstGeom prst="rect">
              <a:avLst/>
            </a:prstGeom>
            <a:solidFill>
              <a:schemeClr val="accent5">
                <a:lumMod val="50000"/>
                <a:alpha val="38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grpSp>
      <p:sp>
        <p:nvSpPr>
          <p:cNvPr id="40" name="Text Box 11"/>
          <p:cNvSpPr txBox="1">
            <a:spLocks noChangeArrowheads="1"/>
          </p:cNvSpPr>
          <p:nvPr/>
        </p:nvSpPr>
        <p:spPr bwMode="auto">
          <a:xfrm>
            <a:off x="1124650" y="4831646"/>
            <a:ext cx="359409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这样可以简化一些</a:t>
            </a:r>
            <a:endParaRPr kumimoji="1" lang="en-US" altLang="zh-CN" sz="2800" b="1" dirty="0">
              <a:solidFill>
                <a:srgbClr val="800080"/>
              </a:solidFill>
              <a:latin typeface="Arial" panose="020B0604020202020204" pitchFamily="34" charset="0"/>
              <a:ea typeface="楷体_GB2312" pitchFamily="49" charset="-122"/>
            </a:endParaRPr>
          </a:p>
        </p:txBody>
      </p:sp>
      <p:pic>
        <p:nvPicPr>
          <p:cNvPr id="41" name="图片 40"/>
          <p:cNvPicPr>
            <a:picLocks noChangeAspect="1"/>
          </p:cNvPicPr>
          <p:nvPr/>
        </p:nvPicPr>
        <p:blipFill>
          <a:blip r:embed="rId6"/>
          <a:stretch>
            <a:fillRect/>
          </a:stretch>
        </p:blipFill>
        <p:spPr>
          <a:xfrm>
            <a:off x="3103708" y="5445317"/>
            <a:ext cx="1615037" cy="288032"/>
          </a:xfrm>
          <a:prstGeom prst="rect">
            <a:avLst/>
          </a:prstGeom>
        </p:spPr>
      </p:pic>
      <p:pic>
        <p:nvPicPr>
          <p:cNvPr id="42" name="图片 41"/>
          <p:cNvPicPr>
            <a:picLocks noChangeAspect="1"/>
          </p:cNvPicPr>
          <p:nvPr/>
        </p:nvPicPr>
        <p:blipFill>
          <a:blip r:embed="rId7"/>
          <a:stretch>
            <a:fillRect/>
          </a:stretch>
        </p:blipFill>
        <p:spPr>
          <a:xfrm>
            <a:off x="3134568" y="6071823"/>
            <a:ext cx="5161444" cy="38502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ldLvl="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上下文无关文法</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37"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4</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38" name="图片 37"/>
          <p:cNvPicPr>
            <a:picLocks noChangeAspect="1"/>
          </p:cNvPicPr>
          <p:nvPr/>
        </p:nvPicPr>
        <p:blipFill>
          <a:blip r:embed="rId2"/>
          <a:stretch>
            <a:fillRect/>
          </a:stretch>
        </p:blipFill>
        <p:spPr>
          <a:xfrm>
            <a:off x="1295400" y="1981200"/>
            <a:ext cx="6979103" cy="355196"/>
          </a:xfrm>
          <a:prstGeom prst="rect">
            <a:avLst/>
          </a:prstGeom>
        </p:spPr>
      </p:pic>
      <p:sp>
        <p:nvSpPr>
          <p:cNvPr id="43" name="Text Box 11"/>
          <p:cNvSpPr txBox="1">
            <a:spLocks noChangeArrowheads="1"/>
          </p:cNvSpPr>
          <p:nvPr/>
        </p:nvSpPr>
        <p:spPr bwMode="auto">
          <a:xfrm>
            <a:off x="533400" y="2709453"/>
            <a:ext cx="202510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解：</a:t>
            </a:r>
            <a:endParaRPr kumimoji="1" lang="en-US" altLang="zh-CN" sz="2800" b="1" dirty="0">
              <a:solidFill>
                <a:srgbClr val="800080"/>
              </a:solidFill>
              <a:latin typeface="Arial" panose="020B0604020202020204" pitchFamily="34" charset="0"/>
              <a:ea typeface="楷体_GB2312" pitchFamily="49" charset="-122"/>
            </a:endParaRPr>
          </a:p>
        </p:txBody>
      </p:sp>
      <p:sp>
        <p:nvSpPr>
          <p:cNvPr id="44" name="Text Box 11"/>
          <p:cNvSpPr txBox="1">
            <a:spLocks noChangeArrowheads="1"/>
          </p:cNvSpPr>
          <p:nvPr/>
        </p:nvSpPr>
        <p:spPr bwMode="auto">
          <a:xfrm>
            <a:off x="1124650" y="2708760"/>
            <a:ext cx="755453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按照这种方式得到的文法比之前少一个式子</a:t>
            </a:r>
            <a:endParaRPr kumimoji="1" lang="en-US" altLang="zh-CN" sz="2800" b="1" dirty="0">
              <a:solidFill>
                <a:srgbClr val="800080"/>
              </a:solidFill>
              <a:latin typeface="Arial" panose="020B0604020202020204" pitchFamily="34" charset="0"/>
              <a:ea typeface="楷体_GB2312" pitchFamily="49" charset="-122"/>
            </a:endParaRPr>
          </a:p>
        </p:txBody>
      </p:sp>
      <p:grpSp>
        <p:nvGrpSpPr>
          <p:cNvPr id="45" name="组合 44"/>
          <p:cNvGrpSpPr/>
          <p:nvPr/>
        </p:nvGrpSpPr>
        <p:grpSpPr>
          <a:xfrm>
            <a:off x="1622400" y="3429000"/>
            <a:ext cx="5400792" cy="2520280"/>
            <a:chOff x="1763688" y="3429000"/>
            <a:chExt cx="5400792" cy="2520280"/>
          </a:xfrm>
        </p:grpSpPr>
        <p:pic>
          <p:nvPicPr>
            <p:cNvPr id="46" name="图片 45"/>
            <p:cNvPicPr>
              <a:picLocks noChangeAspect="1"/>
            </p:cNvPicPr>
            <p:nvPr/>
          </p:nvPicPr>
          <p:blipFill>
            <a:blip r:embed="rId3"/>
            <a:stretch>
              <a:fillRect/>
            </a:stretch>
          </p:blipFill>
          <p:spPr>
            <a:xfrm>
              <a:off x="1887485" y="3429000"/>
              <a:ext cx="1624613" cy="362113"/>
            </a:xfrm>
            <a:prstGeom prst="rect">
              <a:avLst/>
            </a:prstGeom>
          </p:spPr>
        </p:pic>
        <p:pic>
          <p:nvPicPr>
            <p:cNvPr id="47" name="图片 46"/>
            <p:cNvPicPr>
              <a:picLocks noChangeAspect="1"/>
            </p:cNvPicPr>
            <p:nvPr/>
          </p:nvPicPr>
          <p:blipFill>
            <a:blip r:embed="rId4"/>
            <a:stretch>
              <a:fillRect/>
            </a:stretch>
          </p:blipFill>
          <p:spPr>
            <a:xfrm>
              <a:off x="1835696" y="3954015"/>
              <a:ext cx="1501792" cy="267835"/>
            </a:xfrm>
            <a:prstGeom prst="rect">
              <a:avLst/>
            </a:prstGeom>
          </p:spPr>
        </p:pic>
        <p:pic>
          <p:nvPicPr>
            <p:cNvPr id="48" name="图片 47"/>
            <p:cNvPicPr>
              <a:picLocks noChangeAspect="1"/>
            </p:cNvPicPr>
            <p:nvPr/>
          </p:nvPicPr>
          <p:blipFill>
            <a:blip r:embed="rId5"/>
            <a:stretch>
              <a:fillRect/>
            </a:stretch>
          </p:blipFill>
          <p:spPr>
            <a:xfrm>
              <a:off x="1835696" y="4470739"/>
              <a:ext cx="1501792" cy="245576"/>
            </a:xfrm>
            <a:prstGeom prst="rect">
              <a:avLst/>
            </a:prstGeom>
          </p:spPr>
        </p:pic>
        <p:pic>
          <p:nvPicPr>
            <p:cNvPr id="49" name="图片 48"/>
            <p:cNvPicPr>
              <a:picLocks noChangeAspect="1"/>
            </p:cNvPicPr>
            <p:nvPr/>
          </p:nvPicPr>
          <p:blipFill>
            <a:blip r:embed="rId6"/>
            <a:stretch>
              <a:fillRect/>
            </a:stretch>
          </p:blipFill>
          <p:spPr>
            <a:xfrm>
              <a:off x="1835696" y="4977925"/>
              <a:ext cx="4854272" cy="362113"/>
            </a:xfrm>
            <a:prstGeom prst="rect">
              <a:avLst/>
            </a:prstGeom>
          </p:spPr>
        </p:pic>
        <p:pic>
          <p:nvPicPr>
            <p:cNvPr id="50" name="图片 49"/>
            <p:cNvPicPr>
              <a:picLocks noChangeAspect="1"/>
            </p:cNvPicPr>
            <p:nvPr/>
          </p:nvPicPr>
          <p:blipFill>
            <a:blip r:embed="rId7"/>
            <a:stretch>
              <a:fillRect/>
            </a:stretch>
          </p:blipFill>
          <p:spPr>
            <a:xfrm>
              <a:off x="1763688" y="5564252"/>
              <a:ext cx="5400792" cy="385028"/>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bldLvl="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上下文无关文法</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37" name="Text Box 40"/>
          <p:cNvSpPr txBox="1">
            <a:spLocks noChangeArrowheads="1"/>
          </p:cNvSpPr>
          <p:nvPr/>
        </p:nvSpPr>
        <p:spPr bwMode="auto">
          <a:xfrm>
            <a:off x="1295400" y="1340769"/>
            <a:ext cx="6705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4</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请给出下列语言的一个上下文无关文法</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38" name="图片 37"/>
          <p:cNvPicPr>
            <a:picLocks noChangeAspect="1"/>
          </p:cNvPicPr>
          <p:nvPr/>
        </p:nvPicPr>
        <p:blipFill>
          <a:blip r:embed="rId2"/>
          <a:stretch>
            <a:fillRect/>
          </a:stretch>
        </p:blipFill>
        <p:spPr>
          <a:xfrm>
            <a:off x="1295400" y="1981200"/>
            <a:ext cx="6979103" cy="355196"/>
          </a:xfrm>
          <a:prstGeom prst="rect">
            <a:avLst/>
          </a:prstGeom>
        </p:spPr>
      </p:pic>
      <p:sp>
        <p:nvSpPr>
          <p:cNvPr id="15" name="Text Box 11"/>
          <p:cNvSpPr txBox="1">
            <a:spLocks noChangeArrowheads="1"/>
          </p:cNvSpPr>
          <p:nvPr/>
        </p:nvSpPr>
        <p:spPr bwMode="auto">
          <a:xfrm>
            <a:off x="685800" y="2709453"/>
            <a:ext cx="202510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解：</a:t>
            </a:r>
            <a:endParaRPr kumimoji="1" lang="en-US" altLang="zh-CN" sz="2800" b="1" dirty="0">
              <a:solidFill>
                <a:srgbClr val="800080"/>
              </a:solidFill>
              <a:latin typeface="Arial" panose="020B0604020202020204" pitchFamily="34" charset="0"/>
              <a:ea typeface="楷体_GB2312" pitchFamily="49" charset="-122"/>
            </a:endParaRPr>
          </a:p>
        </p:txBody>
      </p:sp>
      <p:sp>
        <p:nvSpPr>
          <p:cNvPr id="16" name="Text Box 11"/>
          <p:cNvSpPr txBox="1">
            <a:spLocks noChangeArrowheads="1"/>
          </p:cNvSpPr>
          <p:nvPr/>
        </p:nvSpPr>
        <p:spPr bwMode="auto">
          <a:xfrm>
            <a:off x="1277050" y="2708760"/>
            <a:ext cx="7554534" cy="461665"/>
          </a:xfrm>
          <a:prstGeom prst="rect">
            <a:avLst/>
          </a:prstGeom>
          <a:noFill/>
          <a:ln w="9525">
            <a:noFill/>
            <a:miter lim="800000"/>
          </a:ln>
          <a:effectLst/>
        </p:spPr>
        <p:txBody>
          <a:bodyPr wrap="square">
            <a:spAutoFit/>
          </a:bodyPr>
          <a:lstStyle/>
          <a:p>
            <a:pPr algn="just" defTabSz="914400" fontAlgn="base">
              <a:spcBef>
                <a:spcPct val="0"/>
              </a:spcBef>
              <a:spcAft>
                <a:spcPct val="0"/>
              </a:spcAft>
            </a:pPr>
            <a:r>
              <a:rPr kumimoji="1"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不过这种方法的分割点不是唯一的。以下分割都合法。</a:t>
            </a:r>
            <a:endParaRPr kumimoji="1" lang="en-US" altLang="zh-CN" sz="2800" b="1" dirty="0">
              <a:solidFill>
                <a:srgbClr val="800080"/>
              </a:solidFill>
              <a:latin typeface="Arial" panose="020B0604020202020204" pitchFamily="34" charset="0"/>
              <a:ea typeface="楷体_GB2312" pitchFamily="49" charset="-122"/>
            </a:endParaRPr>
          </a:p>
        </p:txBody>
      </p:sp>
      <p:grpSp>
        <p:nvGrpSpPr>
          <p:cNvPr id="17" name="组合 16"/>
          <p:cNvGrpSpPr/>
          <p:nvPr/>
        </p:nvGrpSpPr>
        <p:grpSpPr>
          <a:xfrm>
            <a:off x="3745233" y="3374846"/>
            <a:ext cx="1641062" cy="3354973"/>
            <a:chOff x="3734121" y="3374845"/>
            <a:chExt cx="1641062" cy="3354973"/>
          </a:xfrm>
        </p:grpSpPr>
        <p:pic>
          <p:nvPicPr>
            <p:cNvPr id="18" name="图片 17"/>
            <p:cNvPicPr>
              <a:picLocks noChangeAspect="1"/>
            </p:cNvPicPr>
            <p:nvPr/>
          </p:nvPicPr>
          <p:blipFill>
            <a:blip r:embed="rId3"/>
            <a:stretch>
              <a:fillRect/>
            </a:stretch>
          </p:blipFill>
          <p:spPr>
            <a:xfrm>
              <a:off x="3772360" y="4581128"/>
              <a:ext cx="1584176" cy="288032"/>
            </a:xfrm>
            <a:prstGeom prst="rect">
              <a:avLst/>
            </a:prstGeom>
          </p:spPr>
        </p:pic>
        <p:sp>
          <p:nvSpPr>
            <p:cNvPr id="19" name="矩形 18"/>
            <p:cNvSpPr/>
            <p:nvPr/>
          </p:nvSpPr>
          <p:spPr bwMode="auto">
            <a:xfrm>
              <a:off x="4572000" y="4591943"/>
              <a:ext cx="784535" cy="400110"/>
            </a:xfrm>
            <a:prstGeom prst="rect">
              <a:avLst/>
            </a:prstGeom>
            <a:solidFill>
              <a:srgbClr val="FF0000">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20" name="矩形 19"/>
            <p:cNvSpPr/>
            <p:nvPr/>
          </p:nvSpPr>
          <p:spPr bwMode="auto">
            <a:xfrm>
              <a:off x="4383329" y="4591943"/>
              <a:ext cx="187780" cy="400110"/>
            </a:xfrm>
            <a:prstGeom prst="rect">
              <a:avLst/>
            </a:prstGeom>
            <a:solidFill>
              <a:srgbClr val="000066">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21" name="矩形 20"/>
            <p:cNvSpPr/>
            <p:nvPr/>
          </p:nvSpPr>
          <p:spPr bwMode="auto">
            <a:xfrm>
              <a:off x="3736767" y="4591943"/>
              <a:ext cx="645671" cy="400110"/>
            </a:xfrm>
            <a:prstGeom prst="rect">
              <a:avLst/>
            </a:prstGeom>
            <a:solidFill>
              <a:schemeClr val="accent5">
                <a:lumMod val="50000"/>
                <a:alpha val="38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pic>
          <p:nvPicPr>
            <p:cNvPr id="22" name="图片 21"/>
            <p:cNvPicPr>
              <a:picLocks noChangeAspect="1"/>
            </p:cNvPicPr>
            <p:nvPr/>
          </p:nvPicPr>
          <p:blipFill>
            <a:blip r:embed="rId3"/>
            <a:stretch>
              <a:fillRect/>
            </a:stretch>
          </p:blipFill>
          <p:spPr>
            <a:xfrm>
              <a:off x="3791007" y="3982984"/>
              <a:ext cx="1584176" cy="288032"/>
            </a:xfrm>
            <a:prstGeom prst="rect">
              <a:avLst/>
            </a:prstGeom>
          </p:spPr>
        </p:pic>
        <p:sp>
          <p:nvSpPr>
            <p:cNvPr id="23" name="矩形 22"/>
            <p:cNvSpPr/>
            <p:nvPr/>
          </p:nvSpPr>
          <p:spPr bwMode="auto">
            <a:xfrm>
              <a:off x="4382439" y="3993798"/>
              <a:ext cx="992744" cy="400110"/>
            </a:xfrm>
            <a:prstGeom prst="rect">
              <a:avLst/>
            </a:prstGeom>
            <a:solidFill>
              <a:srgbClr val="FF0000">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24" name="矩形 23"/>
            <p:cNvSpPr/>
            <p:nvPr/>
          </p:nvSpPr>
          <p:spPr bwMode="auto">
            <a:xfrm>
              <a:off x="4173620" y="4005064"/>
              <a:ext cx="208818" cy="400110"/>
            </a:xfrm>
            <a:prstGeom prst="rect">
              <a:avLst/>
            </a:prstGeom>
            <a:solidFill>
              <a:srgbClr val="000066">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25" name="矩形 24"/>
            <p:cNvSpPr/>
            <p:nvPr/>
          </p:nvSpPr>
          <p:spPr bwMode="auto">
            <a:xfrm>
              <a:off x="3742884" y="3991000"/>
              <a:ext cx="418205" cy="400110"/>
            </a:xfrm>
            <a:prstGeom prst="rect">
              <a:avLst/>
            </a:prstGeom>
            <a:solidFill>
              <a:schemeClr val="accent5">
                <a:lumMod val="50000"/>
                <a:alpha val="38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pic>
          <p:nvPicPr>
            <p:cNvPr id="26" name="图片 25"/>
            <p:cNvPicPr>
              <a:picLocks noChangeAspect="1"/>
            </p:cNvPicPr>
            <p:nvPr/>
          </p:nvPicPr>
          <p:blipFill>
            <a:blip r:embed="rId3"/>
            <a:stretch>
              <a:fillRect/>
            </a:stretch>
          </p:blipFill>
          <p:spPr>
            <a:xfrm>
              <a:off x="3791007" y="3374845"/>
              <a:ext cx="1584176" cy="288032"/>
            </a:xfrm>
            <a:prstGeom prst="rect">
              <a:avLst/>
            </a:prstGeom>
          </p:spPr>
        </p:pic>
        <p:sp>
          <p:nvSpPr>
            <p:cNvPr id="27" name="矩形 26"/>
            <p:cNvSpPr/>
            <p:nvPr/>
          </p:nvSpPr>
          <p:spPr bwMode="auto">
            <a:xfrm>
              <a:off x="3978787" y="3385659"/>
              <a:ext cx="1396396" cy="400110"/>
            </a:xfrm>
            <a:prstGeom prst="rect">
              <a:avLst/>
            </a:prstGeom>
            <a:solidFill>
              <a:srgbClr val="FF0000">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28" name="矩形 27"/>
            <p:cNvSpPr/>
            <p:nvPr/>
          </p:nvSpPr>
          <p:spPr bwMode="auto">
            <a:xfrm>
              <a:off x="3736768" y="3382863"/>
              <a:ext cx="242020" cy="400110"/>
            </a:xfrm>
            <a:prstGeom prst="rect">
              <a:avLst/>
            </a:prstGeom>
            <a:solidFill>
              <a:srgbClr val="000066">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pic>
          <p:nvPicPr>
            <p:cNvPr id="29" name="图片 28"/>
            <p:cNvPicPr>
              <a:picLocks noChangeAspect="1"/>
            </p:cNvPicPr>
            <p:nvPr/>
          </p:nvPicPr>
          <p:blipFill>
            <a:blip r:embed="rId3"/>
            <a:stretch>
              <a:fillRect/>
            </a:stretch>
          </p:blipFill>
          <p:spPr>
            <a:xfrm>
              <a:off x="3773019" y="5157192"/>
              <a:ext cx="1584176" cy="288032"/>
            </a:xfrm>
            <a:prstGeom prst="rect">
              <a:avLst/>
            </a:prstGeom>
          </p:spPr>
        </p:pic>
        <p:sp>
          <p:nvSpPr>
            <p:cNvPr id="30" name="矩形 29"/>
            <p:cNvSpPr/>
            <p:nvPr/>
          </p:nvSpPr>
          <p:spPr bwMode="auto">
            <a:xfrm>
              <a:off x="4788024" y="5168007"/>
              <a:ext cx="569170" cy="400110"/>
            </a:xfrm>
            <a:prstGeom prst="rect">
              <a:avLst/>
            </a:prstGeom>
            <a:solidFill>
              <a:srgbClr val="FF0000">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31" name="矩形 30"/>
            <p:cNvSpPr/>
            <p:nvPr/>
          </p:nvSpPr>
          <p:spPr bwMode="auto">
            <a:xfrm>
              <a:off x="4600244" y="5168007"/>
              <a:ext cx="187780" cy="400110"/>
            </a:xfrm>
            <a:prstGeom prst="rect">
              <a:avLst/>
            </a:prstGeom>
            <a:solidFill>
              <a:srgbClr val="000066">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32" name="矩形 31"/>
            <p:cNvSpPr/>
            <p:nvPr/>
          </p:nvSpPr>
          <p:spPr bwMode="auto">
            <a:xfrm>
              <a:off x="3737426" y="5168007"/>
              <a:ext cx="862817" cy="400110"/>
            </a:xfrm>
            <a:prstGeom prst="rect">
              <a:avLst/>
            </a:prstGeom>
            <a:solidFill>
              <a:schemeClr val="accent5">
                <a:lumMod val="50000"/>
                <a:alpha val="38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pic>
          <p:nvPicPr>
            <p:cNvPr id="33" name="图片 32"/>
            <p:cNvPicPr>
              <a:picLocks noChangeAspect="1"/>
            </p:cNvPicPr>
            <p:nvPr/>
          </p:nvPicPr>
          <p:blipFill>
            <a:blip r:embed="rId3"/>
            <a:stretch>
              <a:fillRect/>
            </a:stretch>
          </p:blipFill>
          <p:spPr>
            <a:xfrm>
              <a:off x="3773019" y="5794449"/>
              <a:ext cx="1584176" cy="288032"/>
            </a:xfrm>
            <a:prstGeom prst="rect">
              <a:avLst/>
            </a:prstGeom>
          </p:spPr>
        </p:pic>
        <p:sp>
          <p:nvSpPr>
            <p:cNvPr id="34" name="矩形 33"/>
            <p:cNvSpPr/>
            <p:nvPr/>
          </p:nvSpPr>
          <p:spPr bwMode="auto">
            <a:xfrm>
              <a:off x="5004048" y="5805264"/>
              <a:ext cx="353146" cy="400110"/>
            </a:xfrm>
            <a:prstGeom prst="rect">
              <a:avLst/>
            </a:prstGeom>
            <a:solidFill>
              <a:srgbClr val="FF0000">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35" name="矩形 34"/>
            <p:cNvSpPr/>
            <p:nvPr/>
          </p:nvSpPr>
          <p:spPr bwMode="auto">
            <a:xfrm>
              <a:off x="4788024" y="5794449"/>
              <a:ext cx="215210" cy="400110"/>
            </a:xfrm>
            <a:prstGeom prst="rect">
              <a:avLst/>
            </a:prstGeom>
            <a:solidFill>
              <a:srgbClr val="000066">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36" name="矩形 35"/>
            <p:cNvSpPr/>
            <p:nvPr/>
          </p:nvSpPr>
          <p:spPr bwMode="auto">
            <a:xfrm>
              <a:off x="3737426" y="5805264"/>
              <a:ext cx="1050598" cy="400110"/>
            </a:xfrm>
            <a:prstGeom prst="rect">
              <a:avLst/>
            </a:prstGeom>
            <a:solidFill>
              <a:schemeClr val="accent5">
                <a:lumMod val="50000"/>
                <a:alpha val="38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pic>
          <p:nvPicPr>
            <p:cNvPr id="39" name="图片 38"/>
            <p:cNvPicPr>
              <a:picLocks noChangeAspect="1"/>
            </p:cNvPicPr>
            <p:nvPr/>
          </p:nvPicPr>
          <p:blipFill>
            <a:blip r:embed="rId3"/>
            <a:stretch>
              <a:fillRect/>
            </a:stretch>
          </p:blipFill>
          <p:spPr>
            <a:xfrm>
              <a:off x="3769715" y="6317100"/>
              <a:ext cx="1584176" cy="288032"/>
            </a:xfrm>
            <a:prstGeom prst="rect">
              <a:avLst/>
            </a:prstGeom>
          </p:spPr>
        </p:pic>
        <p:sp>
          <p:nvSpPr>
            <p:cNvPr id="40" name="矩形 39"/>
            <p:cNvSpPr/>
            <p:nvPr/>
          </p:nvSpPr>
          <p:spPr bwMode="auto">
            <a:xfrm>
              <a:off x="5180621" y="6329708"/>
              <a:ext cx="135442" cy="400110"/>
            </a:xfrm>
            <a:prstGeom prst="rect">
              <a:avLst/>
            </a:prstGeom>
            <a:solidFill>
              <a:srgbClr val="000066">
                <a:alpha val="3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41" name="矩形 40"/>
            <p:cNvSpPr/>
            <p:nvPr/>
          </p:nvSpPr>
          <p:spPr bwMode="auto">
            <a:xfrm>
              <a:off x="3734121" y="6327915"/>
              <a:ext cx="1446499" cy="400110"/>
            </a:xfrm>
            <a:prstGeom prst="rect">
              <a:avLst/>
            </a:prstGeom>
            <a:solidFill>
              <a:schemeClr val="accent5">
                <a:lumMod val="50000"/>
                <a:alpha val="38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144</a:t>
            </a:fld>
            <a:endParaRPr lang="en-US" altLang="zh-CN"/>
          </a:p>
        </p:txBody>
      </p:sp>
      <p:sp>
        <p:nvSpPr>
          <p:cNvPr id="5"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习题练习</a:t>
            </a:r>
            <a:r>
              <a:rPr lang="en-US" altLang="zh-CN" sz="3600" dirty="0">
                <a:solidFill>
                  <a:schemeClr val="bg1"/>
                </a:solidFill>
              </a:rPr>
              <a:t>-</a:t>
            </a:r>
            <a:r>
              <a:rPr lang="zh-CN" altLang="en-US" sz="3600" dirty="0">
                <a:solidFill>
                  <a:schemeClr val="bg1"/>
                </a:solidFill>
              </a:rPr>
              <a:t>下推自动机的设计</a:t>
            </a:r>
            <a:endParaRPr lang="en-AU" sz="36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145</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8" name="Text Box 40"/>
          <p:cNvSpPr txBox="1">
            <a:spLocks noChangeArrowheads="1"/>
          </p:cNvSpPr>
          <p:nvPr/>
        </p:nvSpPr>
        <p:spPr bwMode="auto">
          <a:xfrm>
            <a:off x="609600" y="1340769"/>
            <a:ext cx="8229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请构造下列语言的一个</a:t>
            </a:r>
            <a:r>
              <a:rPr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PDA</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（空栈接受或终态接受均可）</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16" name="图片 15"/>
          <p:cNvPicPr>
            <a:picLocks noChangeAspect="1"/>
          </p:cNvPicPr>
          <p:nvPr/>
        </p:nvPicPr>
        <p:blipFill rotWithShape="1">
          <a:blip r:embed="rId11"/>
          <a:srcRect l="12720" t="65315" r="5088" b="-3281"/>
          <a:stretch>
            <a:fillRect/>
          </a:stretch>
        </p:blipFill>
        <p:spPr>
          <a:xfrm>
            <a:off x="1600200" y="1920240"/>
            <a:ext cx="6339880" cy="316994"/>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下推自动机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42" name="Text Box 40"/>
          <p:cNvSpPr txBox="1">
            <a:spLocks noChangeArrowheads="1"/>
          </p:cNvSpPr>
          <p:nvPr/>
        </p:nvSpPr>
        <p:spPr bwMode="auto">
          <a:xfrm>
            <a:off x="609600" y="1340769"/>
            <a:ext cx="8229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b="0" i="0" dirty="0">
                <a:solidFill>
                  <a:srgbClr val="000000"/>
                </a:solidFill>
                <a:ea typeface="宋体" panose="02010600030101010101" pitchFamily="2" charset="-122"/>
                <a:cs typeface="Times New Roman" panose="02020603050405020304" pitchFamily="18" charset="0"/>
              </a:rPr>
              <a:t>1</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请构造下列语言的一个</a:t>
            </a:r>
            <a:r>
              <a:rPr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PDA</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（空栈接受或终态接受均可）</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43" name="图片 42"/>
          <p:cNvPicPr>
            <a:picLocks noChangeAspect="1"/>
          </p:cNvPicPr>
          <p:nvPr/>
        </p:nvPicPr>
        <p:blipFill rotWithShape="1">
          <a:blip r:embed="rId2"/>
          <a:srcRect l="12720" t="65315" r="5088" b="-3281"/>
          <a:stretch>
            <a:fillRect/>
          </a:stretch>
        </p:blipFill>
        <p:spPr>
          <a:xfrm>
            <a:off x="1600200" y="1920240"/>
            <a:ext cx="6339880" cy="316994"/>
          </a:xfrm>
          <a:prstGeom prst="rect">
            <a:avLst/>
          </a:prstGeom>
        </p:spPr>
      </p:pic>
      <p:pic>
        <p:nvPicPr>
          <p:cNvPr id="44" name="图片 43"/>
          <p:cNvPicPr>
            <a:picLocks noChangeAspect="1"/>
          </p:cNvPicPr>
          <p:nvPr/>
        </p:nvPicPr>
        <p:blipFill>
          <a:blip r:embed="rId3"/>
          <a:stretch>
            <a:fillRect/>
          </a:stretch>
        </p:blipFill>
        <p:spPr>
          <a:xfrm>
            <a:off x="0" y="2478974"/>
            <a:ext cx="9144000" cy="950026"/>
          </a:xfrm>
          <a:prstGeom prst="rect">
            <a:avLst/>
          </a:prstGeom>
        </p:spPr>
      </p:pic>
      <p:grpSp>
        <p:nvGrpSpPr>
          <p:cNvPr id="45" name="组合 44"/>
          <p:cNvGrpSpPr/>
          <p:nvPr/>
        </p:nvGrpSpPr>
        <p:grpSpPr>
          <a:xfrm>
            <a:off x="2652445" y="3962400"/>
            <a:ext cx="3367355" cy="2009614"/>
            <a:chOff x="2604323" y="4271662"/>
            <a:chExt cx="3367355" cy="2009614"/>
          </a:xfrm>
        </p:grpSpPr>
        <p:sp>
          <p:nvSpPr>
            <p:cNvPr id="46" name="椭圆 45"/>
            <p:cNvSpPr/>
            <p:nvPr/>
          </p:nvSpPr>
          <p:spPr bwMode="auto">
            <a:xfrm>
              <a:off x="3975208" y="5366361"/>
              <a:ext cx="432048" cy="64918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400" b="1">
                <a:solidFill>
                  <a:srgbClr val="800080"/>
                </a:solidFill>
                <a:latin typeface="Arial" panose="020B0604020202020204" pitchFamily="34" charset="0"/>
                <a:ea typeface="楷体_GB2312" pitchFamily="49" charset="-122"/>
              </a:endParaRPr>
            </a:p>
          </p:txBody>
        </p:sp>
        <p:sp>
          <p:nvSpPr>
            <p:cNvPr id="47" name="弧 7"/>
            <p:cNvSpPr/>
            <p:nvPr/>
          </p:nvSpPr>
          <p:spPr bwMode="auto">
            <a:xfrm rot="11190199">
              <a:off x="3998003" y="4955161"/>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algn="ct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cxnSp>
          <p:nvCxnSpPr>
            <p:cNvPr id="48" name="直线箭头连接符 8"/>
            <p:cNvCxnSpPr>
              <a:endCxn id="46" idx="2"/>
            </p:cNvCxnSpPr>
            <p:nvPr/>
          </p:nvCxnSpPr>
          <p:spPr bwMode="auto">
            <a:xfrm>
              <a:off x="2839767" y="5690955"/>
              <a:ext cx="1135441" cy="0"/>
            </a:xfrm>
            <a:prstGeom prst="straightConnector1">
              <a:avLst/>
            </a:prstGeom>
            <a:noFill/>
            <a:ln w="9525" cap="flat" cmpd="sng" algn="ctr">
              <a:solidFill>
                <a:srgbClr val="000000"/>
              </a:solidFill>
              <a:prstDash val="solid"/>
              <a:round/>
              <a:headEnd type="none" w="med" len="med"/>
              <a:tailEnd type="triangle"/>
            </a:ln>
            <a:effectLst/>
          </p:spPr>
        </p:cxnSp>
        <p:sp>
          <p:nvSpPr>
            <p:cNvPr id="49" name="椭圆 48"/>
            <p:cNvSpPr/>
            <p:nvPr/>
          </p:nvSpPr>
          <p:spPr bwMode="auto">
            <a:xfrm>
              <a:off x="5539630" y="5375144"/>
              <a:ext cx="432048" cy="64918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400" b="1">
                <a:solidFill>
                  <a:srgbClr val="800080"/>
                </a:solidFill>
                <a:latin typeface="Arial" panose="020B0604020202020204" pitchFamily="34" charset="0"/>
                <a:ea typeface="楷体_GB2312" pitchFamily="49" charset="-122"/>
              </a:endParaRPr>
            </a:p>
          </p:txBody>
        </p:sp>
        <p:cxnSp>
          <p:nvCxnSpPr>
            <p:cNvPr id="50" name="直线箭头连接符 13"/>
            <p:cNvCxnSpPr>
              <a:stCxn id="46" idx="7"/>
              <a:endCxn id="49" idx="1"/>
            </p:cNvCxnSpPr>
            <p:nvPr/>
          </p:nvCxnSpPr>
          <p:spPr bwMode="auto">
            <a:xfrm>
              <a:off x="4343984" y="5461432"/>
              <a:ext cx="1258918" cy="8783"/>
            </a:xfrm>
            <a:prstGeom prst="straightConnector1">
              <a:avLst/>
            </a:prstGeom>
            <a:noFill/>
            <a:ln w="9525" cap="flat" cmpd="sng" algn="ctr">
              <a:solidFill>
                <a:srgbClr val="000000"/>
              </a:solidFill>
              <a:prstDash val="solid"/>
              <a:round/>
              <a:headEnd type="none" w="med" len="med"/>
              <a:tailEnd type="triangle"/>
            </a:ln>
            <a:effectLst/>
          </p:spPr>
        </p:cxnSp>
        <p:sp>
          <p:nvSpPr>
            <p:cNvPr id="51" name="椭圆 50"/>
            <p:cNvSpPr/>
            <p:nvPr/>
          </p:nvSpPr>
          <p:spPr bwMode="auto">
            <a:xfrm>
              <a:off x="3995327" y="5400937"/>
              <a:ext cx="391164" cy="64918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400" b="1">
                <a:solidFill>
                  <a:srgbClr val="800080"/>
                </a:solidFill>
                <a:latin typeface="Arial" panose="020B0604020202020204" pitchFamily="34" charset="0"/>
                <a:ea typeface="楷体_GB2312" pitchFamily="49" charset="-122"/>
              </a:endParaRPr>
            </a:p>
          </p:txBody>
        </p:sp>
        <p:pic>
          <p:nvPicPr>
            <p:cNvPr id="52" name="图片 51"/>
            <p:cNvPicPr>
              <a:picLocks noChangeAspect="1"/>
            </p:cNvPicPr>
            <p:nvPr/>
          </p:nvPicPr>
          <p:blipFill>
            <a:blip r:embed="rId4"/>
            <a:stretch>
              <a:fillRect/>
            </a:stretch>
          </p:blipFill>
          <p:spPr>
            <a:xfrm>
              <a:off x="2604323" y="5314259"/>
              <a:ext cx="1499799" cy="162141"/>
            </a:xfrm>
            <a:prstGeom prst="rect">
              <a:avLst/>
            </a:prstGeom>
          </p:spPr>
        </p:pic>
        <p:cxnSp>
          <p:nvCxnSpPr>
            <p:cNvPr id="53" name="直线箭头连接符 20"/>
            <p:cNvCxnSpPr>
              <a:stCxn id="49" idx="3"/>
              <a:endCxn id="46" idx="5"/>
            </p:cNvCxnSpPr>
            <p:nvPr/>
          </p:nvCxnSpPr>
          <p:spPr bwMode="auto">
            <a:xfrm flipH="1" flipV="1">
              <a:off x="4343984" y="5920478"/>
              <a:ext cx="1258918" cy="8783"/>
            </a:xfrm>
            <a:prstGeom prst="straightConnector1">
              <a:avLst/>
            </a:prstGeom>
            <a:noFill/>
            <a:ln w="9525" cap="flat" cmpd="sng" algn="ctr">
              <a:solidFill>
                <a:srgbClr val="000000"/>
              </a:solidFill>
              <a:prstDash val="solid"/>
              <a:round/>
              <a:headEnd type="none" w="med" len="med"/>
              <a:tailEnd type="triangle"/>
            </a:ln>
            <a:effectLst/>
          </p:spPr>
        </p:cxnSp>
        <p:pic>
          <p:nvPicPr>
            <p:cNvPr id="54" name="图片 53"/>
            <p:cNvPicPr>
              <a:picLocks noChangeAspect="1"/>
            </p:cNvPicPr>
            <p:nvPr/>
          </p:nvPicPr>
          <p:blipFill>
            <a:blip r:embed="rId5"/>
            <a:stretch>
              <a:fillRect/>
            </a:stretch>
          </p:blipFill>
          <p:spPr>
            <a:xfrm>
              <a:off x="3275856" y="4271662"/>
              <a:ext cx="1940515" cy="246258"/>
            </a:xfrm>
            <a:prstGeom prst="rect">
              <a:avLst/>
            </a:prstGeom>
          </p:spPr>
        </p:pic>
        <p:pic>
          <p:nvPicPr>
            <p:cNvPr id="55" name="图片 54"/>
            <p:cNvPicPr>
              <a:picLocks noChangeAspect="1"/>
            </p:cNvPicPr>
            <p:nvPr/>
          </p:nvPicPr>
          <p:blipFill>
            <a:blip r:embed="rId6"/>
            <a:stretch>
              <a:fillRect/>
            </a:stretch>
          </p:blipFill>
          <p:spPr>
            <a:xfrm>
              <a:off x="3275856" y="4623906"/>
              <a:ext cx="2012523" cy="240732"/>
            </a:xfrm>
            <a:prstGeom prst="rect">
              <a:avLst/>
            </a:prstGeom>
          </p:spPr>
        </p:pic>
        <p:pic>
          <p:nvPicPr>
            <p:cNvPr id="56" name="图片 55"/>
            <p:cNvPicPr>
              <a:picLocks noChangeAspect="1"/>
            </p:cNvPicPr>
            <p:nvPr/>
          </p:nvPicPr>
          <p:blipFill>
            <a:blip r:embed="rId7"/>
            <a:stretch>
              <a:fillRect/>
            </a:stretch>
          </p:blipFill>
          <p:spPr>
            <a:xfrm>
              <a:off x="4143176" y="5122667"/>
              <a:ext cx="1608378" cy="249748"/>
            </a:xfrm>
            <a:prstGeom prst="rect">
              <a:avLst/>
            </a:prstGeom>
          </p:spPr>
        </p:pic>
        <p:pic>
          <p:nvPicPr>
            <p:cNvPr id="57" name="图片 56"/>
            <p:cNvPicPr>
              <a:picLocks noChangeAspect="1"/>
            </p:cNvPicPr>
            <p:nvPr/>
          </p:nvPicPr>
          <p:blipFill>
            <a:blip r:embed="rId8"/>
            <a:stretch>
              <a:fillRect/>
            </a:stretch>
          </p:blipFill>
          <p:spPr>
            <a:xfrm>
              <a:off x="4156467" y="6024332"/>
              <a:ext cx="1654717" cy="256944"/>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147</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5" name="Text Box 40"/>
          <p:cNvSpPr txBox="1">
            <a:spLocks noChangeArrowheads="1"/>
          </p:cNvSpPr>
          <p:nvPr/>
        </p:nvSpPr>
        <p:spPr bwMode="auto">
          <a:xfrm>
            <a:off x="609600" y="1340769"/>
            <a:ext cx="8229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2</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请构造下列语言的一个</a:t>
            </a:r>
            <a:r>
              <a:rPr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PDA</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（空栈接受或终态接受均可）</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17" name="图片 16"/>
          <p:cNvPicPr>
            <a:picLocks noChangeAspect="1"/>
          </p:cNvPicPr>
          <p:nvPr/>
        </p:nvPicPr>
        <p:blipFill rotWithShape="1">
          <a:blip r:embed="rId11"/>
          <a:srcRect l="18312" t="54021" r="10495" b="1069"/>
          <a:stretch>
            <a:fillRect/>
          </a:stretch>
        </p:blipFill>
        <p:spPr>
          <a:xfrm>
            <a:off x="1600200" y="1776665"/>
            <a:ext cx="6505578" cy="449729"/>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下推自动机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42" name="Text Box 40"/>
          <p:cNvSpPr txBox="1">
            <a:spLocks noChangeArrowheads="1"/>
          </p:cNvSpPr>
          <p:nvPr/>
        </p:nvSpPr>
        <p:spPr bwMode="auto">
          <a:xfrm>
            <a:off x="609600" y="1340769"/>
            <a:ext cx="8229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2</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请构造下列语言的一个</a:t>
            </a:r>
            <a:r>
              <a:rPr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PDA</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（空栈接受或终态接受均可）</a:t>
            </a:r>
            <a:endParaRPr lang="zh-CN" altLang="en-US" sz="2400" dirty="0">
              <a:solidFill>
                <a:srgbClr val="000000"/>
              </a:solidFill>
              <a:latin typeface="宋体" panose="02010600030101010101" pitchFamily="2" charset="-122"/>
              <a:ea typeface="宋体" panose="02010600030101010101" pitchFamily="2" charset="-122"/>
            </a:endParaRPr>
          </a:p>
        </p:txBody>
      </p:sp>
      <p:pic>
        <p:nvPicPr>
          <p:cNvPr id="20" name="图片 19"/>
          <p:cNvPicPr>
            <a:picLocks noChangeAspect="1"/>
          </p:cNvPicPr>
          <p:nvPr/>
        </p:nvPicPr>
        <p:blipFill>
          <a:blip r:embed="rId2"/>
          <a:stretch>
            <a:fillRect/>
          </a:stretch>
        </p:blipFill>
        <p:spPr>
          <a:xfrm>
            <a:off x="0" y="2420888"/>
            <a:ext cx="9144000" cy="1306286"/>
          </a:xfrm>
          <a:prstGeom prst="rect">
            <a:avLst/>
          </a:prstGeom>
        </p:spPr>
      </p:pic>
      <p:grpSp>
        <p:nvGrpSpPr>
          <p:cNvPr id="21" name="组合 20"/>
          <p:cNvGrpSpPr/>
          <p:nvPr/>
        </p:nvGrpSpPr>
        <p:grpSpPr>
          <a:xfrm>
            <a:off x="2555780" y="4038600"/>
            <a:ext cx="3768820" cy="2403723"/>
            <a:chOff x="2387356" y="4202537"/>
            <a:chExt cx="3768820" cy="2403723"/>
          </a:xfrm>
        </p:grpSpPr>
        <p:sp>
          <p:nvSpPr>
            <p:cNvPr id="22" name="椭圆 21"/>
            <p:cNvSpPr/>
            <p:nvPr/>
          </p:nvSpPr>
          <p:spPr bwMode="auto">
            <a:xfrm>
              <a:off x="4159706" y="5620721"/>
              <a:ext cx="432048" cy="64918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400" b="1">
                <a:solidFill>
                  <a:srgbClr val="800080"/>
                </a:solidFill>
                <a:latin typeface="Arial" panose="020B0604020202020204" pitchFamily="34" charset="0"/>
                <a:ea typeface="楷体_GB2312" pitchFamily="49" charset="-122"/>
              </a:endParaRPr>
            </a:p>
          </p:txBody>
        </p:sp>
        <p:sp>
          <p:nvSpPr>
            <p:cNvPr id="23" name="弧 28"/>
            <p:cNvSpPr/>
            <p:nvPr/>
          </p:nvSpPr>
          <p:spPr bwMode="auto">
            <a:xfrm rot="11190199">
              <a:off x="4182501" y="5209521"/>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algn="ct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cxnSp>
          <p:nvCxnSpPr>
            <p:cNvPr id="24" name="直线箭头连接符 29"/>
            <p:cNvCxnSpPr>
              <a:endCxn id="22" idx="2"/>
            </p:cNvCxnSpPr>
            <p:nvPr/>
          </p:nvCxnSpPr>
          <p:spPr bwMode="auto">
            <a:xfrm>
              <a:off x="3020840" y="5945315"/>
              <a:ext cx="1138866" cy="0"/>
            </a:xfrm>
            <a:prstGeom prst="straightConnector1">
              <a:avLst/>
            </a:prstGeom>
            <a:noFill/>
            <a:ln w="9525" cap="flat" cmpd="sng" algn="ctr">
              <a:solidFill>
                <a:srgbClr val="000000"/>
              </a:solidFill>
              <a:prstDash val="solid"/>
              <a:round/>
              <a:headEnd type="none" w="med" len="med"/>
              <a:tailEnd type="triangle"/>
            </a:ln>
            <a:effectLst/>
          </p:spPr>
        </p:cxnSp>
        <p:sp>
          <p:nvSpPr>
            <p:cNvPr id="25" name="椭圆 24"/>
            <p:cNvSpPr/>
            <p:nvPr/>
          </p:nvSpPr>
          <p:spPr bwMode="auto">
            <a:xfrm>
              <a:off x="5724128" y="5629504"/>
              <a:ext cx="432048" cy="64918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400" b="1">
                <a:solidFill>
                  <a:srgbClr val="800080"/>
                </a:solidFill>
                <a:latin typeface="Arial" panose="020B0604020202020204" pitchFamily="34" charset="0"/>
                <a:ea typeface="楷体_GB2312" pitchFamily="49" charset="-122"/>
              </a:endParaRPr>
            </a:p>
          </p:txBody>
        </p:sp>
        <p:cxnSp>
          <p:nvCxnSpPr>
            <p:cNvPr id="26" name="直线箭头连接符 31"/>
            <p:cNvCxnSpPr>
              <a:stCxn id="22" idx="6"/>
              <a:endCxn id="25" idx="2"/>
            </p:cNvCxnSpPr>
            <p:nvPr/>
          </p:nvCxnSpPr>
          <p:spPr bwMode="auto">
            <a:xfrm>
              <a:off x="4591754" y="5945315"/>
              <a:ext cx="1132374" cy="8783"/>
            </a:xfrm>
            <a:prstGeom prst="straightConnector1">
              <a:avLst/>
            </a:prstGeom>
            <a:noFill/>
            <a:ln w="9525" cap="flat" cmpd="sng" algn="ctr">
              <a:solidFill>
                <a:srgbClr val="000000"/>
              </a:solidFill>
              <a:prstDash val="solid"/>
              <a:round/>
              <a:headEnd type="none" w="med" len="med"/>
              <a:tailEnd type="triangle"/>
            </a:ln>
            <a:effectLst/>
          </p:spPr>
        </p:cxnSp>
        <p:sp>
          <p:nvSpPr>
            <p:cNvPr id="27" name="椭圆 26"/>
            <p:cNvSpPr/>
            <p:nvPr/>
          </p:nvSpPr>
          <p:spPr bwMode="auto">
            <a:xfrm>
              <a:off x="5744570" y="5664080"/>
              <a:ext cx="391164" cy="64918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400" b="1">
                <a:solidFill>
                  <a:srgbClr val="800080"/>
                </a:solidFill>
                <a:latin typeface="Arial" panose="020B0604020202020204" pitchFamily="34" charset="0"/>
                <a:ea typeface="楷体_GB2312" pitchFamily="49" charset="-122"/>
              </a:endParaRPr>
            </a:p>
          </p:txBody>
        </p:sp>
        <p:pic>
          <p:nvPicPr>
            <p:cNvPr id="28" name="图片 27"/>
            <p:cNvPicPr>
              <a:picLocks noChangeAspect="1"/>
            </p:cNvPicPr>
            <p:nvPr/>
          </p:nvPicPr>
          <p:blipFill>
            <a:blip r:embed="rId3"/>
            <a:stretch>
              <a:fillRect/>
            </a:stretch>
          </p:blipFill>
          <p:spPr>
            <a:xfrm>
              <a:off x="2788821" y="5568619"/>
              <a:ext cx="1499799" cy="162141"/>
            </a:xfrm>
            <a:prstGeom prst="rect">
              <a:avLst/>
            </a:prstGeom>
          </p:spPr>
        </p:pic>
        <p:pic>
          <p:nvPicPr>
            <p:cNvPr id="29" name="图片 28"/>
            <p:cNvPicPr>
              <a:picLocks noChangeAspect="1"/>
            </p:cNvPicPr>
            <p:nvPr/>
          </p:nvPicPr>
          <p:blipFill>
            <a:blip r:embed="rId4"/>
            <a:stretch>
              <a:fillRect/>
            </a:stretch>
          </p:blipFill>
          <p:spPr>
            <a:xfrm>
              <a:off x="2427278" y="4202537"/>
              <a:ext cx="1952065" cy="233501"/>
            </a:xfrm>
            <a:prstGeom prst="rect">
              <a:avLst/>
            </a:prstGeom>
          </p:spPr>
        </p:pic>
        <p:pic>
          <p:nvPicPr>
            <p:cNvPr id="30" name="图片 29"/>
            <p:cNvPicPr>
              <a:picLocks noChangeAspect="1"/>
            </p:cNvPicPr>
            <p:nvPr/>
          </p:nvPicPr>
          <p:blipFill>
            <a:blip r:embed="rId5"/>
            <a:stretch>
              <a:fillRect/>
            </a:stretch>
          </p:blipFill>
          <p:spPr>
            <a:xfrm>
              <a:off x="2387356" y="4525124"/>
              <a:ext cx="1952065" cy="247724"/>
            </a:xfrm>
            <a:prstGeom prst="rect">
              <a:avLst/>
            </a:prstGeom>
          </p:spPr>
        </p:pic>
        <p:pic>
          <p:nvPicPr>
            <p:cNvPr id="31" name="图片 30"/>
            <p:cNvPicPr>
              <a:picLocks noChangeAspect="1"/>
            </p:cNvPicPr>
            <p:nvPr/>
          </p:nvPicPr>
          <p:blipFill>
            <a:blip r:embed="rId6"/>
            <a:stretch>
              <a:fillRect/>
            </a:stretch>
          </p:blipFill>
          <p:spPr>
            <a:xfrm>
              <a:off x="2387356" y="4836920"/>
              <a:ext cx="1628039" cy="252801"/>
            </a:xfrm>
            <a:prstGeom prst="rect">
              <a:avLst/>
            </a:prstGeom>
          </p:spPr>
        </p:pic>
        <p:pic>
          <p:nvPicPr>
            <p:cNvPr id="32" name="图片 31"/>
            <p:cNvPicPr>
              <a:picLocks noChangeAspect="1"/>
            </p:cNvPicPr>
            <p:nvPr/>
          </p:nvPicPr>
          <p:blipFill>
            <a:blip r:embed="rId7"/>
            <a:stretch>
              <a:fillRect/>
            </a:stretch>
          </p:blipFill>
          <p:spPr>
            <a:xfrm>
              <a:off x="3695061" y="4204547"/>
              <a:ext cx="1952065" cy="238057"/>
            </a:xfrm>
            <a:prstGeom prst="rect">
              <a:avLst/>
            </a:prstGeom>
          </p:spPr>
        </p:pic>
        <p:pic>
          <p:nvPicPr>
            <p:cNvPr id="33" name="图片 32"/>
            <p:cNvPicPr>
              <a:picLocks noChangeAspect="1"/>
            </p:cNvPicPr>
            <p:nvPr/>
          </p:nvPicPr>
          <p:blipFill>
            <a:blip r:embed="rId8"/>
            <a:stretch>
              <a:fillRect/>
            </a:stretch>
          </p:blipFill>
          <p:spPr>
            <a:xfrm>
              <a:off x="3660623" y="4523545"/>
              <a:ext cx="1899551" cy="252600"/>
            </a:xfrm>
            <a:prstGeom prst="rect">
              <a:avLst/>
            </a:prstGeom>
          </p:spPr>
        </p:pic>
        <p:pic>
          <p:nvPicPr>
            <p:cNvPr id="34" name="图片 33"/>
            <p:cNvPicPr>
              <a:picLocks noChangeAspect="1"/>
            </p:cNvPicPr>
            <p:nvPr/>
          </p:nvPicPr>
          <p:blipFill>
            <a:blip r:embed="rId9"/>
            <a:stretch>
              <a:fillRect/>
            </a:stretch>
          </p:blipFill>
          <p:spPr>
            <a:xfrm>
              <a:off x="3660623" y="4836919"/>
              <a:ext cx="1628039" cy="252802"/>
            </a:xfrm>
            <a:prstGeom prst="rect">
              <a:avLst/>
            </a:prstGeom>
          </p:spPr>
        </p:pic>
        <p:pic>
          <p:nvPicPr>
            <p:cNvPr id="35" name="图片 34"/>
            <p:cNvPicPr>
              <a:picLocks noChangeAspect="1"/>
            </p:cNvPicPr>
            <p:nvPr/>
          </p:nvPicPr>
          <p:blipFill>
            <a:blip r:embed="rId10"/>
            <a:stretch>
              <a:fillRect/>
            </a:stretch>
          </p:blipFill>
          <p:spPr>
            <a:xfrm>
              <a:off x="4327500" y="6008479"/>
              <a:ext cx="1612652" cy="250412"/>
            </a:xfrm>
            <a:prstGeom prst="rect">
              <a:avLst/>
            </a:prstGeom>
          </p:spPr>
        </p:pic>
        <p:pic>
          <p:nvPicPr>
            <p:cNvPr id="36" name="图片 35"/>
            <p:cNvPicPr>
              <a:picLocks noChangeAspect="1"/>
            </p:cNvPicPr>
            <p:nvPr/>
          </p:nvPicPr>
          <p:blipFill>
            <a:blip r:embed="rId11"/>
            <a:stretch>
              <a:fillRect/>
            </a:stretch>
          </p:blipFill>
          <p:spPr>
            <a:xfrm>
              <a:off x="4288620" y="6340926"/>
              <a:ext cx="1676912" cy="265334"/>
            </a:xfrm>
            <a:prstGeom prst="rect">
              <a:avLst/>
            </a:prstGeom>
          </p:spPr>
        </p:pic>
      </p:grpSp>
      <p:pic>
        <p:nvPicPr>
          <p:cNvPr id="37" name="图片 36"/>
          <p:cNvPicPr>
            <a:picLocks noChangeAspect="1"/>
          </p:cNvPicPr>
          <p:nvPr/>
        </p:nvPicPr>
        <p:blipFill rotWithShape="1">
          <a:blip r:embed="rId12"/>
          <a:srcRect l="18312" t="54021" r="10495" b="1069"/>
          <a:stretch>
            <a:fillRect/>
          </a:stretch>
        </p:blipFill>
        <p:spPr>
          <a:xfrm>
            <a:off x="1600200" y="1776665"/>
            <a:ext cx="6505578" cy="44972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149</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mc:AlternateContent xmlns:mc="http://schemas.openxmlformats.org/markup-compatibility/2006" xmlns:a14="http://schemas.microsoft.com/office/drawing/2010/main">
        <mc:Choice Requires="a14">
          <p:sp>
            <p:nvSpPr>
              <p:cNvPr id="18" name="Text Box 40"/>
              <p:cNvSpPr txBox="1">
                <a:spLocks noChangeArrowheads="1"/>
              </p:cNvSpPr>
              <p:nvPr/>
            </p:nvSpPr>
            <p:spPr bwMode="auto">
              <a:xfrm>
                <a:off x="609600" y="1340769"/>
                <a:ext cx="8229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3</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为文法</a:t>
                </a:r>
                <a14:m>
                  <m:oMath xmlns:m="http://schemas.openxmlformats.org/officeDocument/2006/math">
                    <m:r>
                      <a:rPr lang="en-AU" altLang="zh-CN" sz="2400" dirty="0">
                        <a:solidFill>
                          <a:srgbClr val="000000"/>
                        </a:solidFill>
                        <a:latin typeface="Cambria Math" panose="02040503050406030204" pitchFamily="18" charset="0"/>
                        <a:ea typeface="宋体" panose="02010600030101010101" pitchFamily="2" charset="-122"/>
                      </a:rPr>
                      <m:t>𝑆</m:t>
                    </m:r>
                    <m:r>
                      <a:rPr lang="en-AU" altLang="zh-CN" sz="2400" dirty="0">
                        <a:solidFill>
                          <a:srgbClr val="000000"/>
                        </a:solidFill>
                        <a:latin typeface="Cambria Math" panose="02040503050406030204" pitchFamily="18" charset="0"/>
                        <a:ea typeface="宋体" panose="02010600030101010101" pitchFamily="2" charset="-122"/>
                      </a:rPr>
                      <m:t> → </m:t>
                    </m:r>
                    <m:r>
                      <a:rPr lang="en-AU" altLang="zh-CN" sz="2400" dirty="0" err="1">
                        <a:solidFill>
                          <a:srgbClr val="000000"/>
                        </a:solidFill>
                        <a:latin typeface="Cambria Math" panose="02040503050406030204" pitchFamily="18" charset="0"/>
                        <a:ea typeface="宋体" panose="02010600030101010101" pitchFamily="2" charset="-122"/>
                      </a:rPr>
                      <m:t>𝑎𝐴𝐴</m:t>
                    </m:r>
                    <m:r>
                      <a:rPr lang="en-AU" altLang="zh-CN" sz="2400" dirty="0">
                        <a:solidFill>
                          <a:srgbClr val="000000"/>
                        </a:solidFill>
                        <a:latin typeface="Cambria Math" panose="02040503050406030204" pitchFamily="18" charset="0"/>
                        <a:ea typeface="宋体" panose="02010600030101010101" pitchFamily="2" charset="-122"/>
                      </a:rPr>
                      <m:t>, </m:t>
                    </m:r>
                    <m:r>
                      <a:rPr lang="en-AU" altLang="zh-CN" sz="2400" dirty="0">
                        <a:solidFill>
                          <a:srgbClr val="000000"/>
                        </a:solidFill>
                        <a:latin typeface="Cambria Math" panose="02040503050406030204" pitchFamily="18" charset="0"/>
                        <a:ea typeface="宋体" panose="02010600030101010101" pitchFamily="2" charset="-122"/>
                      </a:rPr>
                      <m:t>𝐴</m:t>
                    </m:r>
                    <m:r>
                      <a:rPr lang="en-AU" altLang="zh-CN" sz="2400" dirty="0">
                        <a:solidFill>
                          <a:srgbClr val="000000"/>
                        </a:solidFill>
                        <a:latin typeface="Cambria Math" panose="02040503050406030204" pitchFamily="18" charset="0"/>
                        <a:ea typeface="宋体" panose="02010600030101010101" pitchFamily="2" charset="-122"/>
                      </a:rPr>
                      <m:t> → </m:t>
                    </m:r>
                    <m:r>
                      <a:rPr lang="en-AU" altLang="zh-CN" sz="2400" dirty="0" err="1">
                        <a:solidFill>
                          <a:srgbClr val="000000"/>
                        </a:solidFill>
                        <a:latin typeface="Cambria Math" panose="02040503050406030204" pitchFamily="18" charset="0"/>
                        <a:ea typeface="宋体" panose="02010600030101010101" pitchFamily="2" charset="-122"/>
                      </a:rPr>
                      <m:t>𝑎𝑆</m:t>
                    </m:r>
                    <m:r>
                      <a:rPr lang="en-AU" altLang="zh-CN" sz="2400" dirty="0">
                        <a:solidFill>
                          <a:srgbClr val="000000"/>
                        </a:solidFill>
                        <a:latin typeface="Cambria Math" panose="02040503050406030204" pitchFamily="18" charset="0"/>
                        <a:ea typeface="宋体" panose="02010600030101010101" pitchFamily="2" charset="-122"/>
                      </a:rPr>
                      <m:t> </m:t>
                    </m:r>
                    <m:d>
                      <m:dPr>
                        <m:begChr m:val="|"/>
                        <m:endChr m:val="|"/>
                        <m:ctrlPr>
                          <a:rPr lang="en-AU" altLang="zh-CN" sz="2400" i="1" dirty="0">
                            <a:solidFill>
                              <a:srgbClr val="000000"/>
                            </a:solidFill>
                            <a:latin typeface="Cambria Math" panose="02040503050406030204" pitchFamily="18" charset="0"/>
                            <a:ea typeface="宋体" panose="02010600030101010101" pitchFamily="2" charset="-122"/>
                          </a:rPr>
                        </m:ctrlPr>
                      </m:dPr>
                      <m:e>
                        <m:r>
                          <a:rPr lang="en-AU" altLang="zh-CN" sz="2400" dirty="0">
                            <a:solidFill>
                              <a:srgbClr val="000000"/>
                            </a:solidFill>
                            <a:latin typeface="Cambria Math" panose="02040503050406030204" pitchFamily="18" charset="0"/>
                            <a:ea typeface="宋体" panose="02010600030101010101" pitchFamily="2" charset="-122"/>
                          </a:rPr>
                          <m:t> </m:t>
                        </m:r>
                        <m:r>
                          <a:rPr lang="en-AU" altLang="zh-CN" sz="2400" dirty="0" err="1">
                            <a:solidFill>
                              <a:srgbClr val="000000"/>
                            </a:solidFill>
                            <a:latin typeface="Cambria Math" panose="02040503050406030204" pitchFamily="18" charset="0"/>
                            <a:ea typeface="宋体" panose="02010600030101010101" pitchFamily="2" charset="-122"/>
                          </a:rPr>
                          <m:t>𝑏𝑆</m:t>
                        </m:r>
                        <m:r>
                          <a:rPr lang="en-AU" altLang="zh-CN" sz="2400" dirty="0">
                            <a:solidFill>
                              <a:srgbClr val="000000"/>
                            </a:solidFill>
                            <a:latin typeface="Cambria Math" panose="02040503050406030204" pitchFamily="18" charset="0"/>
                            <a:ea typeface="宋体" panose="02010600030101010101" pitchFamily="2" charset="-122"/>
                          </a:rPr>
                          <m:t> </m:t>
                        </m:r>
                      </m:e>
                    </m:d>
                    <m:r>
                      <a:rPr lang="en-AU" altLang="zh-CN" sz="2400" dirty="0">
                        <a:solidFill>
                          <a:srgbClr val="000000"/>
                        </a:solidFill>
                        <a:latin typeface="Cambria Math" panose="02040503050406030204" pitchFamily="18" charset="0"/>
                        <a:ea typeface="宋体" panose="02010600030101010101" pitchFamily="2" charset="-122"/>
                      </a:rPr>
                      <m:t>𝑎</m:t>
                    </m:r>
                    <m:r>
                      <a:rPr lang="zh-CN" altLang="en-US" sz="2400" dirty="0">
                        <a:solidFill>
                          <a:srgbClr val="000000"/>
                        </a:solidFill>
                        <a:latin typeface="Cambria Math" panose="02040503050406030204" pitchFamily="18" charset="0"/>
                        <a:ea typeface="宋体" panose="02010600030101010101" pitchFamily="2" charset="-122"/>
                      </a:rPr>
                      <m:t> </m:t>
                    </m:r>
                  </m:oMath>
                </a14:m>
                <a:r>
                  <a:rPr lang="zh-CN" altLang="en-US" sz="2400" dirty="0">
                    <a:solidFill>
                      <a:srgbClr val="000000"/>
                    </a:solidFill>
                    <a:latin typeface="宋体" panose="02010600030101010101" pitchFamily="2" charset="-122"/>
                    <a:ea typeface="宋体" panose="02010600030101010101" pitchFamily="2" charset="-122"/>
                  </a:rPr>
                  <a:t>构造等价的</a:t>
                </a:r>
                <a:r>
                  <a:rPr lang="en-AU" altLang="zh-CN" sz="2400" dirty="0">
                    <a:solidFill>
                      <a:srgbClr val="000000"/>
                    </a:solidFill>
                    <a:latin typeface="宋体" panose="02010600030101010101" pitchFamily="2" charset="-122"/>
                    <a:ea typeface="宋体" panose="02010600030101010101" pitchFamily="2" charset="-122"/>
                  </a:rPr>
                  <a:t>PDA</a:t>
                </a:r>
                <a:r>
                  <a:rPr lang="zh-CN" altLang="en-US" sz="2400" dirty="0">
                    <a:solidFill>
                      <a:srgbClr val="000000"/>
                    </a:solidFill>
                    <a:latin typeface="宋体" panose="02010600030101010101" pitchFamily="2" charset="-122"/>
                    <a:ea typeface="宋体" panose="02010600030101010101" pitchFamily="2" charset="-122"/>
                  </a:rPr>
                  <a:t>。</a:t>
                </a:r>
              </a:p>
            </p:txBody>
          </p:sp>
        </mc:Choice>
        <mc:Fallback xmlns="">
          <p:sp>
            <p:nvSpPr>
              <p:cNvPr id="18" name="Text Box 40"/>
              <p:cNvSpPr txBox="1">
                <a:spLocks noRot="1" noChangeAspect="1" noMove="1" noResize="1" noEditPoints="1" noAdjustHandles="1" noChangeArrowheads="1" noChangeShapeType="1" noTextEdit="1"/>
              </p:cNvSpPr>
              <p:nvPr/>
            </p:nvSpPr>
            <p:spPr bwMode="auto">
              <a:xfrm>
                <a:off x="609600" y="1340769"/>
                <a:ext cx="8229600" cy="461665"/>
              </a:xfrm>
              <a:prstGeom prst="rect">
                <a:avLst/>
              </a:prstGeom>
              <a:blipFill rotWithShape="1">
                <a:blip r:embed="rId11"/>
                <a:stretch>
                  <a:fillRect t="-62" b="66"/>
                </a:stretch>
              </a:blipFill>
              <a:ln w="9525">
                <a:noFill/>
                <a:miter lim="800000"/>
              </a:ln>
            </p:spPr>
            <p:txBody>
              <a:bodyPr/>
              <a:lstStyle/>
              <a:p>
                <a:r>
                  <a:rPr lang="zh-CN" altLang="en-US">
                    <a:noFill/>
                  </a:rPr>
                  <a:t> </a:t>
                </a:r>
              </a:p>
            </p:txBody>
          </p:sp>
        </mc:Fallback>
      </mc:AlternateContent>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下推自动机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mc:AlternateContent xmlns:mc="http://schemas.openxmlformats.org/markup-compatibility/2006" xmlns:a14="http://schemas.microsoft.com/office/drawing/2010/main">
        <mc:Choice Requires="a14">
          <p:sp>
            <p:nvSpPr>
              <p:cNvPr id="37" name="Text Box 40"/>
              <p:cNvSpPr txBox="1">
                <a:spLocks noChangeArrowheads="1"/>
              </p:cNvSpPr>
              <p:nvPr/>
            </p:nvSpPr>
            <p:spPr bwMode="auto">
              <a:xfrm>
                <a:off x="609600" y="1340769"/>
                <a:ext cx="8229600" cy="461665"/>
              </a:xfrm>
              <a:prstGeom prst="rect">
                <a:avLst/>
              </a:prstGeom>
              <a:noFill/>
              <a:ln w="9525">
                <a:noFill/>
                <a:miter lim="800000"/>
              </a:ln>
            </p:spPr>
            <p:txBody>
              <a:bodyPr wrap="square">
                <a:spAutoFit/>
              </a:bodyPr>
              <a:lstStyle/>
              <a:p>
                <a:r>
                  <a:rPr lang="zh-CN" altLang="en-US" sz="2400" b="0" i="0" dirty="0">
                    <a:solidFill>
                      <a:srgbClr val="000000"/>
                    </a:solidFill>
                    <a:ea typeface="宋体" panose="02010600030101010101" pitchFamily="2" charset="-122"/>
                    <a:cs typeface="Times New Roman" panose="02020603050405020304" pitchFamily="18" charset="0"/>
                  </a:rPr>
                  <a:t>例</a:t>
                </a:r>
                <a:r>
                  <a:rPr lang="en-US" altLang="zh-CN" sz="2400" dirty="0">
                    <a:solidFill>
                      <a:srgbClr val="000000"/>
                    </a:solidFill>
                    <a:ea typeface="宋体" panose="02010600030101010101" pitchFamily="2" charset="-122"/>
                    <a:cs typeface="Times New Roman" panose="02020603050405020304" pitchFamily="18" charset="0"/>
                  </a:rPr>
                  <a:t>3</a:t>
                </a:r>
                <a:r>
                  <a:rPr lang="zh-CN" altLang="en-US" sz="2400" b="0" i="0" dirty="0">
                    <a:solidFill>
                      <a:srgbClr val="000000"/>
                    </a:solidFill>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为文法</a:t>
                </a:r>
                <a14:m>
                  <m:oMath xmlns:m="http://schemas.openxmlformats.org/officeDocument/2006/math">
                    <m:r>
                      <a:rPr lang="en-AU" altLang="zh-CN" sz="2400" dirty="0">
                        <a:solidFill>
                          <a:srgbClr val="000000"/>
                        </a:solidFill>
                        <a:latin typeface="Cambria Math" panose="02040503050406030204" pitchFamily="18" charset="0"/>
                        <a:ea typeface="宋体" panose="02010600030101010101" pitchFamily="2" charset="-122"/>
                      </a:rPr>
                      <m:t>𝑆</m:t>
                    </m:r>
                    <m:r>
                      <a:rPr lang="en-AU" altLang="zh-CN" sz="2400" dirty="0">
                        <a:solidFill>
                          <a:srgbClr val="000000"/>
                        </a:solidFill>
                        <a:latin typeface="Cambria Math" panose="02040503050406030204" pitchFamily="18" charset="0"/>
                        <a:ea typeface="宋体" panose="02010600030101010101" pitchFamily="2" charset="-122"/>
                      </a:rPr>
                      <m:t> → </m:t>
                    </m:r>
                    <m:r>
                      <a:rPr lang="en-AU" altLang="zh-CN" sz="2400" dirty="0" err="1">
                        <a:solidFill>
                          <a:srgbClr val="000000"/>
                        </a:solidFill>
                        <a:latin typeface="Cambria Math" panose="02040503050406030204" pitchFamily="18" charset="0"/>
                        <a:ea typeface="宋体" panose="02010600030101010101" pitchFamily="2" charset="-122"/>
                      </a:rPr>
                      <m:t>𝑎𝐴𝐴</m:t>
                    </m:r>
                    <m:r>
                      <a:rPr lang="en-AU" altLang="zh-CN" sz="2400" dirty="0">
                        <a:solidFill>
                          <a:srgbClr val="000000"/>
                        </a:solidFill>
                        <a:latin typeface="Cambria Math" panose="02040503050406030204" pitchFamily="18" charset="0"/>
                        <a:ea typeface="宋体" panose="02010600030101010101" pitchFamily="2" charset="-122"/>
                      </a:rPr>
                      <m:t>, </m:t>
                    </m:r>
                    <m:r>
                      <a:rPr lang="en-AU" altLang="zh-CN" sz="2400" dirty="0">
                        <a:solidFill>
                          <a:srgbClr val="000000"/>
                        </a:solidFill>
                        <a:latin typeface="Cambria Math" panose="02040503050406030204" pitchFamily="18" charset="0"/>
                        <a:ea typeface="宋体" panose="02010600030101010101" pitchFamily="2" charset="-122"/>
                      </a:rPr>
                      <m:t>𝐴</m:t>
                    </m:r>
                    <m:r>
                      <a:rPr lang="en-AU" altLang="zh-CN" sz="2400" dirty="0">
                        <a:solidFill>
                          <a:srgbClr val="000000"/>
                        </a:solidFill>
                        <a:latin typeface="Cambria Math" panose="02040503050406030204" pitchFamily="18" charset="0"/>
                        <a:ea typeface="宋体" panose="02010600030101010101" pitchFamily="2" charset="-122"/>
                      </a:rPr>
                      <m:t> → </m:t>
                    </m:r>
                    <m:r>
                      <a:rPr lang="en-AU" altLang="zh-CN" sz="2400" dirty="0" err="1">
                        <a:solidFill>
                          <a:srgbClr val="000000"/>
                        </a:solidFill>
                        <a:latin typeface="Cambria Math" panose="02040503050406030204" pitchFamily="18" charset="0"/>
                        <a:ea typeface="宋体" panose="02010600030101010101" pitchFamily="2" charset="-122"/>
                      </a:rPr>
                      <m:t>𝑎𝑆</m:t>
                    </m:r>
                    <m:r>
                      <a:rPr lang="en-AU" altLang="zh-CN" sz="2400" dirty="0">
                        <a:solidFill>
                          <a:srgbClr val="000000"/>
                        </a:solidFill>
                        <a:latin typeface="Cambria Math" panose="02040503050406030204" pitchFamily="18" charset="0"/>
                        <a:ea typeface="宋体" panose="02010600030101010101" pitchFamily="2" charset="-122"/>
                      </a:rPr>
                      <m:t> </m:t>
                    </m:r>
                    <m:d>
                      <m:dPr>
                        <m:begChr m:val="|"/>
                        <m:endChr m:val="|"/>
                        <m:ctrlPr>
                          <a:rPr lang="en-AU" altLang="zh-CN" sz="2400" i="1" dirty="0">
                            <a:solidFill>
                              <a:srgbClr val="000000"/>
                            </a:solidFill>
                            <a:latin typeface="Cambria Math" panose="02040503050406030204" pitchFamily="18" charset="0"/>
                            <a:ea typeface="宋体" panose="02010600030101010101" pitchFamily="2" charset="-122"/>
                          </a:rPr>
                        </m:ctrlPr>
                      </m:dPr>
                      <m:e>
                        <m:r>
                          <a:rPr lang="en-AU" altLang="zh-CN" sz="2400" dirty="0">
                            <a:solidFill>
                              <a:srgbClr val="000000"/>
                            </a:solidFill>
                            <a:latin typeface="Cambria Math" panose="02040503050406030204" pitchFamily="18" charset="0"/>
                            <a:ea typeface="宋体" panose="02010600030101010101" pitchFamily="2" charset="-122"/>
                          </a:rPr>
                          <m:t> </m:t>
                        </m:r>
                        <m:r>
                          <a:rPr lang="en-AU" altLang="zh-CN" sz="2400" dirty="0" err="1">
                            <a:solidFill>
                              <a:srgbClr val="000000"/>
                            </a:solidFill>
                            <a:latin typeface="Cambria Math" panose="02040503050406030204" pitchFamily="18" charset="0"/>
                            <a:ea typeface="宋体" panose="02010600030101010101" pitchFamily="2" charset="-122"/>
                          </a:rPr>
                          <m:t>𝑏𝑆</m:t>
                        </m:r>
                        <m:r>
                          <a:rPr lang="en-AU" altLang="zh-CN" sz="2400" dirty="0">
                            <a:solidFill>
                              <a:srgbClr val="000000"/>
                            </a:solidFill>
                            <a:latin typeface="Cambria Math" panose="02040503050406030204" pitchFamily="18" charset="0"/>
                            <a:ea typeface="宋体" panose="02010600030101010101" pitchFamily="2" charset="-122"/>
                          </a:rPr>
                          <m:t> </m:t>
                        </m:r>
                      </m:e>
                    </m:d>
                    <m:r>
                      <a:rPr lang="en-AU" altLang="zh-CN" sz="2400" dirty="0">
                        <a:solidFill>
                          <a:srgbClr val="000000"/>
                        </a:solidFill>
                        <a:latin typeface="Cambria Math" panose="02040503050406030204" pitchFamily="18" charset="0"/>
                        <a:ea typeface="宋体" panose="02010600030101010101" pitchFamily="2" charset="-122"/>
                      </a:rPr>
                      <m:t>𝑎</m:t>
                    </m:r>
                    <m:r>
                      <a:rPr lang="zh-CN" altLang="en-US" sz="2400" dirty="0">
                        <a:solidFill>
                          <a:srgbClr val="000000"/>
                        </a:solidFill>
                        <a:latin typeface="Cambria Math" panose="02040503050406030204" pitchFamily="18" charset="0"/>
                        <a:ea typeface="宋体" panose="02010600030101010101" pitchFamily="2" charset="-122"/>
                      </a:rPr>
                      <m:t> </m:t>
                    </m:r>
                  </m:oMath>
                </a14:m>
                <a:r>
                  <a:rPr lang="zh-CN" altLang="en-US" sz="2400" dirty="0">
                    <a:solidFill>
                      <a:srgbClr val="000000"/>
                    </a:solidFill>
                    <a:latin typeface="宋体" panose="02010600030101010101" pitchFamily="2" charset="-122"/>
                    <a:ea typeface="宋体" panose="02010600030101010101" pitchFamily="2" charset="-122"/>
                  </a:rPr>
                  <a:t>构造等价的</a:t>
                </a:r>
                <a:r>
                  <a:rPr lang="en-AU" altLang="zh-CN" sz="2400" dirty="0">
                    <a:solidFill>
                      <a:srgbClr val="000000"/>
                    </a:solidFill>
                    <a:latin typeface="宋体" panose="02010600030101010101" pitchFamily="2" charset="-122"/>
                    <a:ea typeface="宋体" panose="02010600030101010101" pitchFamily="2" charset="-122"/>
                  </a:rPr>
                  <a:t>PDA</a:t>
                </a:r>
                <a:r>
                  <a:rPr lang="zh-CN" altLang="en-US" sz="2400" dirty="0">
                    <a:solidFill>
                      <a:srgbClr val="000000"/>
                    </a:solidFill>
                    <a:latin typeface="宋体" panose="02010600030101010101" pitchFamily="2" charset="-122"/>
                    <a:ea typeface="宋体" panose="02010600030101010101" pitchFamily="2" charset="-122"/>
                  </a:rPr>
                  <a:t>。</a:t>
                </a:r>
              </a:p>
            </p:txBody>
          </p:sp>
        </mc:Choice>
        <mc:Fallback xmlns="">
          <p:sp>
            <p:nvSpPr>
              <p:cNvPr id="37" name="Text Box 40"/>
              <p:cNvSpPr txBox="1">
                <a:spLocks noRot="1" noChangeAspect="1" noMove="1" noResize="1" noEditPoints="1" noAdjustHandles="1" noChangeArrowheads="1" noChangeShapeType="1" noTextEdit="1"/>
              </p:cNvSpPr>
              <p:nvPr/>
            </p:nvSpPr>
            <p:spPr bwMode="auto">
              <a:xfrm>
                <a:off x="609600" y="1340769"/>
                <a:ext cx="8229600" cy="461665"/>
              </a:xfrm>
              <a:prstGeom prst="rect">
                <a:avLst/>
              </a:prstGeom>
              <a:blipFill rotWithShape="1">
                <a:blip r:embed="rId2"/>
                <a:stretch>
                  <a:fillRect t="-62" b="66"/>
                </a:stretch>
              </a:blipFill>
              <a:ln w="9525">
                <a:noFill/>
                <a:miter lim="800000"/>
              </a:ln>
            </p:spPr>
            <p:txBody>
              <a:bodyPr/>
              <a:lstStyle/>
              <a:p>
                <a:r>
                  <a:rPr lang="zh-CN" altLang="en-US">
                    <a:noFill/>
                  </a:rPr>
                  <a:t> </a:t>
                </a:r>
              </a:p>
            </p:txBody>
          </p:sp>
        </mc:Fallback>
      </mc:AlternateContent>
      <p:pic>
        <p:nvPicPr>
          <p:cNvPr id="38" name="图片 37"/>
          <p:cNvPicPr>
            <a:picLocks noChangeAspect="1"/>
          </p:cNvPicPr>
          <p:nvPr/>
        </p:nvPicPr>
        <p:blipFill>
          <a:blip r:embed="rId3"/>
          <a:stretch>
            <a:fillRect/>
          </a:stretch>
        </p:blipFill>
        <p:spPr>
          <a:xfrm>
            <a:off x="395697" y="2482708"/>
            <a:ext cx="4588868" cy="1892584"/>
          </a:xfrm>
          <a:prstGeom prst="rect">
            <a:avLst/>
          </a:prstGeom>
        </p:spPr>
      </p:pic>
      <p:pic>
        <p:nvPicPr>
          <p:cNvPr id="39" name="Picture 5" descr="Diagram, text&#10;&#10;Description automatically generated"/>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139278" y="2296037"/>
            <a:ext cx="3238781" cy="1874682"/>
          </a:xfrm>
          <a:prstGeom prst="rect">
            <a:avLst/>
          </a:prstGeom>
        </p:spPr>
      </p:pic>
      <mc:AlternateContent xmlns:mc="http://schemas.openxmlformats.org/markup-compatibility/2006" xmlns:a14="http://schemas.microsoft.com/office/drawing/2010/main">
        <mc:Choice Requires="a14">
          <p:sp>
            <p:nvSpPr>
              <p:cNvPr id="40" name="TextBox 6"/>
              <p:cNvSpPr txBox="1"/>
              <p:nvPr/>
            </p:nvSpPr>
            <p:spPr>
              <a:xfrm>
                <a:off x="4876800" y="4176395"/>
                <a:ext cx="3763645" cy="927100"/>
              </a:xfrm>
              <a:prstGeom prst="rect">
                <a:avLst/>
              </a:prstGeom>
              <a:solidFill>
                <a:srgbClr val="FFC000"/>
              </a:solidFill>
            </p:spPr>
            <p:txBody>
              <a:bodyPr wrap="square">
                <a:no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注：</a:t>
                </a:r>
                <a:r>
                  <a:rPr lang="pt-BR" altLang="zh-CN" dirty="0">
                    <a:latin typeface="Times New Roman" panose="02020603050405020304" pitchFamily="18" charset="0"/>
                    <a:ea typeface="楷体" panose="02010609060101010101" pitchFamily="49" charset="-122"/>
                    <a:cs typeface="Times New Roman" panose="02020603050405020304" pitchFamily="18" charset="0"/>
                  </a:rPr>
                  <a:t>GNF</a:t>
                </a:r>
                <a:r>
                  <a:rPr lang="zh-CN" altLang="en-US" dirty="0">
                    <a:latin typeface="楷体" panose="02010609060101010101" pitchFamily="49" charset="-122"/>
                    <a:ea typeface="楷体" panose="02010609060101010101" pitchFamily="49" charset="-122"/>
                  </a:rPr>
                  <a:t>文法对应</a:t>
                </a:r>
                <a:r>
                  <a:rPr lang="en-AU" altLang="zh-CN" dirty="0">
                    <a:latin typeface="Times New Roman" panose="02020603050405020304" pitchFamily="18" charset="0"/>
                    <a:ea typeface="楷体" panose="02010609060101010101" pitchFamily="49" charset="-122"/>
                    <a:cs typeface="Times New Roman" panose="02020603050405020304" pitchFamily="18" charset="0"/>
                  </a:rPr>
                  <a:t>PDA</a:t>
                </a:r>
                <a:r>
                  <a:rPr lang="zh-CN" altLang="en-US" dirty="0">
                    <a:latin typeface="楷体" panose="02010609060101010101" pitchFamily="49" charset="-122"/>
                    <a:ea typeface="楷体" panose="02010609060101010101" pitchFamily="49" charset="-122"/>
                  </a:rPr>
                  <a:t>的</a:t>
                </a:r>
                <a14:m>
                  <m:oMath xmlns:m="http://schemas.openxmlformats.org/officeDocument/2006/math">
                    <m:r>
                      <a:rPr lang="pt-BR" altLang="zh-CN" i="1" dirty="0">
                        <a:latin typeface="Cambria Math" panose="02040503050406030204" pitchFamily="18" charset="0"/>
                      </a:rPr>
                      <m:t>𝛿</m:t>
                    </m:r>
                  </m:oMath>
                </a14:m>
                <a:r>
                  <a:rPr lang="zh-CN" altLang="en-US" dirty="0">
                    <a:latin typeface="楷体" panose="02010609060101010101" pitchFamily="49" charset="-122"/>
                    <a:ea typeface="楷体" panose="02010609060101010101" pitchFamily="49" charset="-122"/>
                  </a:rPr>
                  <a:t>函数</a:t>
                </a:r>
                <a:r>
                  <a:rPr lang="zh-CN" altLang="en-US" i="1" dirty="0">
                    <a:latin typeface="Cambria Math" panose="02040503050406030204" pitchFamily="18" charset="0"/>
                  </a:rPr>
                  <a:t>：</a:t>
                </a:r>
                <a:endParaRPr lang="pt-BR" altLang="zh-CN"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pt-BR" altLang="zh-CN" i="1" dirty="0">
                          <a:latin typeface="Cambria Math" panose="02040503050406030204" pitchFamily="18" charset="0"/>
                        </a:rPr>
                        <m:t>𝛿</m:t>
                      </m:r>
                      <m:r>
                        <a:rPr lang="pt-BR" altLang="zh-CN" i="1" dirty="0">
                          <a:latin typeface="Cambria Math" panose="02040503050406030204" pitchFamily="18" charset="0"/>
                        </a:rPr>
                        <m:t>(</m:t>
                      </m:r>
                      <m:r>
                        <a:rPr lang="pt-BR" altLang="zh-CN" i="1" dirty="0">
                          <a:latin typeface="Cambria Math" panose="02040503050406030204" pitchFamily="18" charset="0"/>
                        </a:rPr>
                        <m:t>𝑞</m:t>
                      </m:r>
                      <m:r>
                        <a:rPr lang="pt-BR" altLang="zh-CN" i="1" dirty="0">
                          <a:latin typeface="Cambria Math" panose="02040503050406030204" pitchFamily="18" charset="0"/>
                        </a:rPr>
                        <m:t>, </m:t>
                      </m:r>
                      <m:r>
                        <a:rPr lang="pt-BR" altLang="zh-CN" i="1" dirty="0">
                          <a:latin typeface="Cambria Math" panose="02040503050406030204" pitchFamily="18" charset="0"/>
                        </a:rPr>
                        <m:t>𝑎</m:t>
                      </m:r>
                      <m:r>
                        <a:rPr lang="pt-BR" altLang="zh-CN" i="1" dirty="0">
                          <a:latin typeface="Cambria Math" panose="02040503050406030204" pitchFamily="18" charset="0"/>
                        </a:rPr>
                        <m:t>, </m:t>
                      </m:r>
                      <m:r>
                        <a:rPr lang="pt-BR" altLang="zh-CN" i="1" dirty="0">
                          <a:latin typeface="Cambria Math" panose="02040503050406030204" pitchFamily="18" charset="0"/>
                        </a:rPr>
                        <m:t>𝐴</m:t>
                      </m:r>
                      <m:r>
                        <a:rPr lang="pt-BR" altLang="zh-CN" i="1" dirty="0">
                          <a:latin typeface="Cambria Math" panose="02040503050406030204" pitchFamily="18" charset="0"/>
                        </a:rPr>
                        <m:t>) = {(</m:t>
                      </m:r>
                      <m:r>
                        <a:rPr lang="pt-BR" altLang="zh-CN" i="1" dirty="0">
                          <a:latin typeface="Cambria Math" panose="02040503050406030204" pitchFamily="18" charset="0"/>
                        </a:rPr>
                        <m:t>𝑞</m:t>
                      </m:r>
                      <m:r>
                        <a:rPr lang="pt-BR" altLang="zh-CN" i="1" dirty="0">
                          <a:latin typeface="Cambria Math" panose="02040503050406030204" pitchFamily="18" charset="0"/>
                        </a:rPr>
                        <m:t>, </m:t>
                      </m:r>
                      <m:r>
                        <a:rPr lang="pt-BR" altLang="zh-CN" i="1" dirty="0">
                          <a:latin typeface="Cambria Math" panose="02040503050406030204" pitchFamily="18" charset="0"/>
                        </a:rPr>
                        <m:t>𝛽</m:t>
                      </m:r>
                      <m:r>
                        <a:rPr lang="pt-BR" altLang="zh-CN" i="1" dirty="0">
                          <a:latin typeface="Cambria Math" panose="02040503050406030204" pitchFamily="18" charset="0"/>
                        </a:rPr>
                        <m:t>) | </m:t>
                      </m:r>
                      <m:r>
                        <a:rPr lang="pt-BR" altLang="zh-CN" i="1" dirty="0">
                          <a:latin typeface="Cambria Math" panose="02040503050406030204" pitchFamily="18" charset="0"/>
                        </a:rPr>
                        <m:t>𝐴</m:t>
                      </m:r>
                      <m:r>
                        <a:rPr lang="pt-BR" altLang="zh-CN" i="1" dirty="0">
                          <a:latin typeface="Cambria Math" panose="02040503050406030204" pitchFamily="18" charset="0"/>
                        </a:rPr>
                        <m:t> → </m:t>
                      </m:r>
                      <m:r>
                        <a:rPr lang="pt-BR" altLang="zh-CN" i="1" dirty="0">
                          <a:latin typeface="Cambria Math" panose="02040503050406030204" pitchFamily="18" charset="0"/>
                        </a:rPr>
                        <m:t>𝑎</m:t>
                      </m:r>
                      <m:r>
                        <a:rPr lang="pt-BR" altLang="zh-CN" i="1" dirty="0">
                          <a:latin typeface="Cambria Math" panose="02040503050406030204" pitchFamily="18" charset="0"/>
                        </a:rPr>
                        <m:t>𝛽</m:t>
                      </m:r>
                      <m:r>
                        <a:rPr lang="pt-BR" altLang="zh-CN" i="1" dirty="0">
                          <a:latin typeface="Cambria Math" panose="02040503050406030204" pitchFamily="18" charset="0"/>
                        </a:rPr>
                        <m:t> ∈ </m:t>
                      </m:r>
                      <m:r>
                        <a:rPr lang="pt-BR" altLang="zh-CN" i="1" dirty="0">
                          <a:latin typeface="Cambria Math" panose="02040503050406030204" pitchFamily="18" charset="0"/>
                        </a:rPr>
                        <m:t>𝑃</m:t>
                      </m:r>
                      <m:r>
                        <a:rPr lang="pt-BR" altLang="zh-CN" i="1" dirty="0">
                          <a:latin typeface="Cambria Math" panose="02040503050406030204" pitchFamily="18" charset="0"/>
                        </a:rPr>
                        <m:t>}</m:t>
                      </m:r>
                    </m:oMath>
                  </m:oMathPara>
                </a14:m>
                <a:endParaRPr lang="en-AU" altLang="zh-CN" dirty="0"/>
              </a:p>
            </p:txBody>
          </p:sp>
        </mc:Choice>
        <mc:Fallback xmlns="">
          <p:sp>
            <p:nvSpPr>
              <p:cNvPr id="40" name="TextBox 6"/>
              <p:cNvSpPr txBox="1">
                <a:spLocks noRot="1" noChangeAspect="1" noMove="1" noResize="1" noEditPoints="1" noAdjustHandles="1" noChangeArrowheads="1" noChangeShapeType="1" noTextEdit="1"/>
              </p:cNvSpPr>
              <p:nvPr/>
            </p:nvSpPr>
            <p:spPr>
              <a:xfrm>
                <a:off x="4876800" y="4176395"/>
                <a:ext cx="3763645" cy="927100"/>
              </a:xfrm>
              <a:prstGeom prst="rect">
                <a:avLst/>
              </a:prstGeom>
              <a:blipFill rotWithShape="1">
                <a:blip r:embed="rId5"/>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ldLvl="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151</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8" name="Text Box 40"/>
          <p:cNvSpPr txBox="1">
            <a:spLocks noChangeArrowheads="1"/>
          </p:cNvSpPr>
          <p:nvPr/>
        </p:nvSpPr>
        <p:spPr bwMode="auto">
          <a:xfrm>
            <a:off x="609600" y="1340769"/>
            <a:ext cx="8229600" cy="461665"/>
          </a:xfrm>
          <a:prstGeom prst="rect">
            <a:avLst/>
          </a:prstGeom>
          <a:noFill/>
          <a:ln w="9525">
            <a:noFill/>
            <a:miter lim="800000"/>
          </a:ln>
        </p:spPr>
        <p:txBody>
          <a:bodyPr wrap="square">
            <a:spAutoFit/>
          </a:bodyPr>
          <a:lstStyle/>
          <a:p>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构造一个</a:t>
            </a:r>
            <a:r>
              <a:rPr lang="en-US" altLang="zh-CN"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D</a:t>
            </a:r>
            <a:r>
              <a:rPr lang="en-AU"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PDA</a:t>
            </a:r>
            <a:r>
              <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，使其接受语言</a:t>
            </a: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a:t>
            </a:r>
            <a:r>
              <a:rPr lang="en-US" altLang="zh-CN" sz="2400" i="1"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i="1"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p:txBody>
      </p:sp>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下推自动机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8" name="Text Box 40"/>
          <p:cNvSpPr txBox="1">
            <a:spLocks noChangeArrowheads="1"/>
          </p:cNvSpPr>
          <p:nvPr/>
        </p:nvSpPr>
        <p:spPr bwMode="auto">
          <a:xfrm>
            <a:off x="609600" y="1340769"/>
            <a:ext cx="8229600" cy="461665"/>
          </a:xfrm>
          <a:prstGeom prst="rect">
            <a:avLst/>
          </a:prstGeom>
          <a:noFill/>
          <a:ln w="9525">
            <a:noFill/>
            <a:miter lim="800000"/>
          </a:ln>
        </p:spPr>
        <p:txBody>
          <a:bodyPr wrap="square">
            <a:spAutoFit/>
          </a:bodyPr>
          <a:lstStyle/>
          <a:p>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构造一个</a:t>
            </a:r>
            <a:r>
              <a:rPr lang="en-US" altLang="zh-CN"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D</a:t>
            </a:r>
            <a:r>
              <a:rPr lang="en-AU"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PDA</a:t>
            </a:r>
            <a:r>
              <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，使其接受语言</a:t>
            </a: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a:t>
            </a:r>
            <a:r>
              <a:rPr lang="en-US" altLang="zh-CN" sz="2400" i="1"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i="1"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p:txBody>
      </p:sp>
      <p:grpSp>
        <p:nvGrpSpPr>
          <p:cNvPr id="9" name="组合 8"/>
          <p:cNvGrpSpPr/>
          <p:nvPr/>
        </p:nvGrpSpPr>
        <p:grpSpPr>
          <a:xfrm>
            <a:off x="548539" y="2407659"/>
            <a:ext cx="8138261" cy="2375656"/>
            <a:chOff x="904332" y="3573016"/>
            <a:chExt cx="8138261" cy="2375656"/>
          </a:xfrm>
        </p:grpSpPr>
        <p:sp>
          <p:nvSpPr>
            <p:cNvPr id="10" name="椭圆 9"/>
            <p:cNvSpPr/>
            <p:nvPr/>
          </p:nvSpPr>
          <p:spPr bwMode="auto">
            <a:xfrm>
              <a:off x="3480814" y="4405876"/>
              <a:ext cx="432048" cy="43204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 typeface="Wingdings" panose="05000000000000000000" pitchFamily="2" charset="2"/>
                <a:buNone/>
              </a:pPr>
              <a:endParaRPr kumimoji="1" lang="zh-CN" altLang="en-US" sz="2400" b="1" i="0" u="none" strike="noStrike" cap="none" normalizeH="0" baseline="0">
                <a:ln>
                  <a:noFill/>
                </a:ln>
                <a:solidFill>
                  <a:srgbClr val="800080"/>
                </a:solidFill>
                <a:effectLst/>
                <a:latin typeface="Arial" panose="020B0604020202020204" pitchFamily="34" charset="0"/>
                <a:ea typeface="楷体_GB2312" pitchFamily="49" charset="-122"/>
              </a:endParaRPr>
            </a:p>
          </p:txBody>
        </p:sp>
        <p:sp>
          <p:nvSpPr>
            <p:cNvPr id="11" name="弧 38"/>
            <p:cNvSpPr/>
            <p:nvPr/>
          </p:nvSpPr>
          <p:spPr bwMode="auto">
            <a:xfrm rot="11190199">
              <a:off x="3526922" y="3991722"/>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cxnSp>
          <p:nvCxnSpPr>
            <p:cNvPr id="12" name="直线箭头连接符 39"/>
            <p:cNvCxnSpPr>
              <a:stCxn id="22" idx="6"/>
              <a:endCxn id="10" idx="2"/>
            </p:cNvCxnSpPr>
            <p:nvPr/>
          </p:nvCxnSpPr>
          <p:spPr bwMode="auto">
            <a:xfrm>
              <a:off x="2411014" y="4621900"/>
              <a:ext cx="1069800" cy="0"/>
            </a:xfrm>
            <a:prstGeom prst="straightConnector1">
              <a:avLst/>
            </a:prstGeom>
            <a:noFill/>
            <a:ln w="9525" cap="flat" cmpd="sng" algn="ctr">
              <a:solidFill>
                <a:srgbClr val="000000"/>
              </a:solidFill>
              <a:prstDash val="solid"/>
              <a:round/>
              <a:headEnd type="none" w="med" len="med"/>
              <a:tailEnd type="triangle"/>
            </a:ln>
            <a:effectLst/>
          </p:spPr>
        </p:cxnSp>
        <p:sp>
          <p:nvSpPr>
            <p:cNvPr id="13" name="椭圆 12"/>
            <p:cNvSpPr/>
            <p:nvPr/>
          </p:nvSpPr>
          <p:spPr bwMode="auto">
            <a:xfrm>
              <a:off x="5068549" y="4405876"/>
              <a:ext cx="432048" cy="43204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 typeface="Wingdings" panose="05000000000000000000" pitchFamily="2" charset="2"/>
                <a:buNone/>
              </a:pPr>
              <a:endParaRPr kumimoji="1" lang="zh-CN" altLang="en-US" sz="2400" b="1" i="0" u="none" strike="noStrike" cap="none" normalizeH="0" baseline="0">
                <a:ln>
                  <a:noFill/>
                </a:ln>
                <a:solidFill>
                  <a:srgbClr val="800080"/>
                </a:solidFill>
                <a:effectLst/>
                <a:latin typeface="Arial" panose="020B0604020202020204" pitchFamily="34" charset="0"/>
                <a:ea typeface="楷体_GB2312" pitchFamily="49" charset="-122"/>
              </a:endParaRPr>
            </a:p>
          </p:txBody>
        </p:sp>
        <p:cxnSp>
          <p:nvCxnSpPr>
            <p:cNvPr id="15" name="直线箭头连接符 41"/>
            <p:cNvCxnSpPr>
              <a:stCxn id="10" idx="6"/>
              <a:endCxn id="13" idx="2"/>
            </p:cNvCxnSpPr>
            <p:nvPr/>
          </p:nvCxnSpPr>
          <p:spPr bwMode="auto">
            <a:xfrm>
              <a:off x="3912862" y="4621900"/>
              <a:ext cx="1155687" cy="0"/>
            </a:xfrm>
            <a:prstGeom prst="straightConnector1">
              <a:avLst/>
            </a:prstGeom>
            <a:noFill/>
            <a:ln w="9525" cap="flat" cmpd="sng" algn="ctr">
              <a:solidFill>
                <a:srgbClr val="000000"/>
              </a:solidFill>
              <a:prstDash val="solid"/>
              <a:round/>
              <a:headEnd type="none" w="med" len="med"/>
              <a:tailEnd type="triangle"/>
            </a:ln>
            <a:effectLst/>
          </p:spPr>
        </p:cxnSp>
        <p:sp>
          <p:nvSpPr>
            <p:cNvPr id="16" name="椭圆 15"/>
            <p:cNvSpPr/>
            <p:nvPr/>
          </p:nvSpPr>
          <p:spPr bwMode="auto">
            <a:xfrm>
              <a:off x="6626609" y="4405876"/>
              <a:ext cx="432048" cy="43204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 typeface="Wingdings" panose="05000000000000000000" pitchFamily="2" charset="2"/>
                <a:buNone/>
              </a:pPr>
              <a:endParaRPr kumimoji="1" lang="zh-CN" altLang="en-US" sz="2400" b="1" i="0" u="none" strike="noStrike" cap="none" normalizeH="0" baseline="0">
                <a:ln>
                  <a:noFill/>
                </a:ln>
                <a:solidFill>
                  <a:srgbClr val="800080"/>
                </a:solidFill>
                <a:effectLst/>
                <a:latin typeface="Arial" panose="020B0604020202020204" pitchFamily="34" charset="0"/>
                <a:ea typeface="楷体_GB2312" pitchFamily="49" charset="-122"/>
              </a:endParaRPr>
            </a:p>
          </p:txBody>
        </p:sp>
        <p:cxnSp>
          <p:nvCxnSpPr>
            <p:cNvPr id="17" name="直线箭头连接符 43"/>
            <p:cNvCxnSpPr>
              <a:endCxn id="16" idx="2"/>
            </p:cNvCxnSpPr>
            <p:nvPr/>
          </p:nvCxnSpPr>
          <p:spPr bwMode="auto">
            <a:xfrm flipV="1">
              <a:off x="5494235" y="4621900"/>
              <a:ext cx="1132374" cy="14230"/>
            </a:xfrm>
            <a:prstGeom prst="straightConnector1">
              <a:avLst/>
            </a:prstGeom>
            <a:noFill/>
            <a:ln w="9525" cap="flat" cmpd="sng" algn="ctr">
              <a:solidFill>
                <a:srgbClr val="000000"/>
              </a:solidFill>
              <a:prstDash val="solid"/>
              <a:round/>
              <a:headEnd type="none" w="med" len="med"/>
              <a:tailEnd type="triangle"/>
            </a:ln>
            <a:effectLst/>
          </p:spPr>
        </p:cxnSp>
        <p:sp>
          <p:nvSpPr>
            <p:cNvPr id="18" name="弧 44"/>
            <p:cNvSpPr/>
            <p:nvPr/>
          </p:nvSpPr>
          <p:spPr bwMode="auto">
            <a:xfrm rot="11190199">
              <a:off x="5085527" y="3991722"/>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000" b="1" i="1"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p:txBody>
        </p:sp>
        <p:pic>
          <p:nvPicPr>
            <p:cNvPr id="19" name="图片 18"/>
            <p:cNvPicPr>
              <a:picLocks noChangeAspect="1"/>
            </p:cNvPicPr>
            <p:nvPr/>
          </p:nvPicPr>
          <p:blipFill>
            <a:blip r:embed="rId2"/>
            <a:stretch>
              <a:fillRect/>
            </a:stretch>
          </p:blipFill>
          <p:spPr>
            <a:xfrm>
              <a:off x="1448647" y="4527415"/>
              <a:ext cx="1511300" cy="203200"/>
            </a:xfrm>
            <a:prstGeom prst="rect">
              <a:avLst/>
            </a:prstGeom>
          </p:spPr>
        </p:pic>
        <p:pic>
          <p:nvPicPr>
            <p:cNvPr id="20" name="图片 19"/>
            <p:cNvPicPr>
              <a:picLocks noChangeAspect="1"/>
            </p:cNvPicPr>
            <p:nvPr/>
          </p:nvPicPr>
          <p:blipFill>
            <a:blip r:embed="rId3"/>
            <a:stretch>
              <a:fillRect/>
            </a:stretch>
          </p:blipFill>
          <p:spPr>
            <a:xfrm>
              <a:off x="2981267" y="4536047"/>
              <a:ext cx="1498600" cy="203200"/>
            </a:xfrm>
            <a:prstGeom prst="rect">
              <a:avLst/>
            </a:prstGeom>
          </p:spPr>
        </p:pic>
        <p:pic>
          <p:nvPicPr>
            <p:cNvPr id="21" name="图片 20"/>
            <p:cNvPicPr>
              <a:picLocks noChangeAspect="1"/>
            </p:cNvPicPr>
            <p:nvPr/>
          </p:nvPicPr>
          <p:blipFill>
            <a:blip r:embed="rId4"/>
            <a:stretch>
              <a:fillRect/>
            </a:stretch>
          </p:blipFill>
          <p:spPr>
            <a:xfrm>
              <a:off x="4552303" y="4536047"/>
              <a:ext cx="1511300" cy="203200"/>
            </a:xfrm>
            <a:prstGeom prst="rect">
              <a:avLst/>
            </a:prstGeom>
          </p:spPr>
        </p:pic>
        <p:sp>
          <p:nvSpPr>
            <p:cNvPr id="22" name="椭圆 21"/>
            <p:cNvSpPr/>
            <p:nvPr/>
          </p:nvSpPr>
          <p:spPr bwMode="auto">
            <a:xfrm>
              <a:off x="1978966" y="4405876"/>
              <a:ext cx="432048" cy="43204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 typeface="Wingdings" panose="05000000000000000000" pitchFamily="2" charset="2"/>
                <a:buNone/>
              </a:pPr>
              <a:endParaRPr kumimoji="1" lang="zh-CN" altLang="en-US" sz="2400" b="1" i="0" u="none" strike="noStrike" cap="none" normalizeH="0" baseline="0">
                <a:ln>
                  <a:noFill/>
                </a:ln>
                <a:solidFill>
                  <a:srgbClr val="800080"/>
                </a:solidFill>
                <a:effectLst/>
                <a:latin typeface="Arial" panose="020B0604020202020204" pitchFamily="34" charset="0"/>
                <a:ea typeface="楷体_GB2312" pitchFamily="49" charset="-122"/>
              </a:endParaRPr>
            </a:p>
          </p:txBody>
        </p:sp>
        <p:cxnSp>
          <p:nvCxnSpPr>
            <p:cNvPr id="23" name="直线箭头连接符 59"/>
            <p:cNvCxnSpPr>
              <a:endCxn id="22" idx="2"/>
            </p:cNvCxnSpPr>
            <p:nvPr/>
          </p:nvCxnSpPr>
          <p:spPr bwMode="auto">
            <a:xfrm>
              <a:off x="904332" y="4607089"/>
              <a:ext cx="1074634" cy="14811"/>
            </a:xfrm>
            <a:prstGeom prst="straightConnector1">
              <a:avLst/>
            </a:prstGeom>
            <a:noFill/>
            <a:ln w="9525" cap="flat" cmpd="sng" algn="ctr">
              <a:solidFill>
                <a:srgbClr val="000000"/>
              </a:solidFill>
              <a:prstDash val="solid"/>
              <a:round/>
              <a:headEnd type="none" w="med" len="med"/>
              <a:tailEnd type="triangle"/>
            </a:ln>
            <a:effectLst/>
          </p:spPr>
        </p:cxnSp>
        <p:sp>
          <p:nvSpPr>
            <p:cNvPr id="24" name="椭圆 23"/>
            <p:cNvSpPr/>
            <p:nvPr/>
          </p:nvSpPr>
          <p:spPr bwMode="auto">
            <a:xfrm>
              <a:off x="8121712" y="4439345"/>
              <a:ext cx="391164" cy="362896"/>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 typeface="Wingdings" panose="05000000000000000000" pitchFamily="2" charset="2"/>
                <a:buNone/>
              </a:pPr>
              <a:endParaRPr kumimoji="1" lang="zh-CN" altLang="en-US" sz="2400" b="1" i="0" u="none" strike="noStrike" cap="none" normalizeH="0" baseline="0">
                <a:ln>
                  <a:noFill/>
                </a:ln>
                <a:solidFill>
                  <a:srgbClr val="800080"/>
                </a:solidFill>
                <a:effectLst/>
                <a:latin typeface="Arial" panose="020B0604020202020204" pitchFamily="34" charset="0"/>
                <a:ea typeface="楷体_GB2312" pitchFamily="49" charset="-122"/>
              </a:endParaRPr>
            </a:p>
          </p:txBody>
        </p:sp>
        <p:sp>
          <p:nvSpPr>
            <p:cNvPr id="25" name="椭圆 24"/>
            <p:cNvSpPr/>
            <p:nvPr/>
          </p:nvSpPr>
          <p:spPr bwMode="auto">
            <a:xfrm>
              <a:off x="8100392" y="4405876"/>
              <a:ext cx="432048" cy="43204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 typeface="Wingdings" panose="05000000000000000000" pitchFamily="2" charset="2"/>
                <a:buNone/>
              </a:pPr>
              <a:endParaRPr kumimoji="1" lang="zh-CN" altLang="en-US" sz="2400" b="1" i="0" u="none" strike="noStrike" cap="none" normalizeH="0" baseline="0">
                <a:ln>
                  <a:noFill/>
                </a:ln>
                <a:solidFill>
                  <a:srgbClr val="800080"/>
                </a:solidFill>
                <a:effectLst/>
                <a:latin typeface="Arial" panose="020B0604020202020204" pitchFamily="34" charset="0"/>
                <a:ea typeface="楷体_GB2312" pitchFamily="49" charset="-122"/>
              </a:endParaRPr>
            </a:p>
          </p:txBody>
        </p:sp>
        <p:cxnSp>
          <p:nvCxnSpPr>
            <p:cNvPr id="26" name="直线箭头连接符 62"/>
            <p:cNvCxnSpPr>
              <a:stCxn id="16" idx="6"/>
              <a:endCxn id="25" idx="2"/>
            </p:cNvCxnSpPr>
            <p:nvPr/>
          </p:nvCxnSpPr>
          <p:spPr bwMode="auto">
            <a:xfrm>
              <a:off x="7058657" y="4621900"/>
              <a:ext cx="1041735" cy="0"/>
            </a:xfrm>
            <a:prstGeom prst="straightConnector1">
              <a:avLst/>
            </a:prstGeom>
            <a:noFill/>
            <a:ln w="9525" cap="flat" cmpd="sng" algn="ctr">
              <a:solidFill>
                <a:srgbClr val="000000"/>
              </a:solidFill>
              <a:prstDash val="solid"/>
              <a:round/>
              <a:headEnd type="none" w="med" len="med"/>
              <a:tailEnd type="triangle"/>
            </a:ln>
            <a:effectLst/>
          </p:spPr>
        </p:cxnSp>
        <p:pic>
          <p:nvPicPr>
            <p:cNvPr id="27" name="图片 26"/>
            <p:cNvPicPr>
              <a:picLocks noChangeAspect="1"/>
            </p:cNvPicPr>
            <p:nvPr/>
          </p:nvPicPr>
          <p:blipFill>
            <a:blip r:embed="rId5"/>
            <a:stretch>
              <a:fillRect/>
            </a:stretch>
          </p:blipFill>
          <p:spPr>
            <a:xfrm>
              <a:off x="6110284" y="4527415"/>
              <a:ext cx="1511300" cy="203200"/>
            </a:xfrm>
            <a:prstGeom prst="rect">
              <a:avLst/>
            </a:prstGeom>
          </p:spPr>
        </p:pic>
        <p:pic>
          <p:nvPicPr>
            <p:cNvPr id="28" name="图片 27"/>
            <p:cNvPicPr>
              <a:picLocks noChangeAspect="1"/>
            </p:cNvPicPr>
            <p:nvPr/>
          </p:nvPicPr>
          <p:blipFill>
            <a:blip r:embed="rId6"/>
            <a:stretch>
              <a:fillRect/>
            </a:stretch>
          </p:blipFill>
          <p:spPr>
            <a:xfrm>
              <a:off x="7621584" y="4943469"/>
              <a:ext cx="1421009" cy="191060"/>
            </a:xfrm>
            <a:prstGeom prst="rect">
              <a:avLst/>
            </a:prstGeom>
          </p:spPr>
        </p:pic>
        <p:pic>
          <p:nvPicPr>
            <p:cNvPr id="29" name="图片 28"/>
            <p:cNvPicPr>
              <a:picLocks noChangeAspect="1"/>
            </p:cNvPicPr>
            <p:nvPr/>
          </p:nvPicPr>
          <p:blipFill>
            <a:blip r:embed="rId7"/>
            <a:stretch>
              <a:fillRect/>
            </a:stretch>
          </p:blipFill>
          <p:spPr>
            <a:xfrm>
              <a:off x="1901003" y="4196498"/>
              <a:ext cx="1933249" cy="244097"/>
            </a:xfrm>
            <a:prstGeom prst="rect">
              <a:avLst/>
            </a:prstGeom>
          </p:spPr>
        </p:pic>
        <p:pic>
          <p:nvPicPr>
            <p:cNvPr id="30" name="图片 29"/>
            <p:cNvPicPr>
              <a:picLocks noChangeAspect="1"/>
            </p:cNvPicPr>
            <p:nvPr/>
          </p:nvPicPr>
          <p:blipFill>
            <a:blip r:embed="rId8"/>
            <a:stretch>
              <a:fillRect/>
            </a:stretch>
          </p:blipFill>
          <p:spPr>
            <a:xfrm>
              <a:off x="2873662" y="3591233"/>
              <a:ext cx="1692264" cy="250335"/>
            </a:xfrm>
            <a:prstGeom prst="rect">
              <a:avLst/>
            </a:prstGeom>
          </p:spPr>
        </p:pic>
        <p:pic>
          <p:nvPicPr>
            <p:cNvPr id="31" name="图片 30"/>
            <p:cNvPicPr>
              <a:picLocks noChangeAspect="1"/>
            </p:cNvPicPr>
            <p:nvPr/>
          </p:nvPicPr>
          <p:blipFill>
            <a:blip r:embed="rId9"/>
            <a:stretch>
              <a:fillRect/>
            </a:stretch>
          </p:blipFill>
          <p:spPr>
            <a:xfrm>
              <a:off x="3666746" y="4196498"/>
              <a:ext cx="1691499" cy="274594"/>
            </a:xfrm>
            <a:prstGeom prst="rect">
              <a:avLst/>
            </a:prstGeom>
          </p:spPr>
        </p:pic>
        <p:pic>
          <p:nvPicPr>
            <p:cNvPr id="32" name="图片 31"/>
            <p:cNvPicPr>
              <a:picLocks noChangeAspect="1"/>
            </p:cNvPicPr>
            <p:nvPr/>
          </p:nvPicPr>
          <p:blipFill>
            <a:blip r:embed="rId9"/>
            <a:stretch>
              <a:fillRect/>
            </a:stretch>
          </p:blipFill>
          <p:spPr>
            <a:xfrm>
              <a:off x="4462203" y="3573016"/>
              <a:ext cx="1691499" cy="274594"/>
            </a:xfrm>
            <a:prstGeom prst="rect">
              <a:avLst/>
            </a:prstGeom>
          </p:spPr>
        </p:pic>
        <p:pic>
          <p:nvPicPr>
            <p:cNvPr id="33" name="图片 32"/>
            <p:cNvPicPr>
              <a:picLocks noChangeAspect="1"/>
            </p:cNvPicPr>
            <p:nvPr/>
          </p:nvPicPr>
          <p:blipFill>
            <a:blip r:embed="rId10"/>
            <a:stretch>
              <a:fillRect/>
            </a:stretch>
          </p:blipFill>
          <p:spPr>
            <a:xfrm>
              <a:off x="5161312" y="4209236"/>
              <a:ext cx="1908947" cy="259368"/>
            </a:xfrm>
            <a:prstGeom prst="rect">
              <a:avLst/>
            </a:prstGeom>
          </p:spPr>
        </p:pic>
        <p:pic>
          <p:nvPicPr>
            <p:cNvPr id="34" name="图片 33"/>
            <p:cNvPicPr>
              <a:picLocks noChangeAspect="1"/>
            </p:cNvPicPr>
            <p:nvPr/>
          </p:nvPicPr>
          <p:blipFill>
            <a:blip r:embed="rId10"/>
            <a:stretch>
              <a:fillRect/>
            </a:stretch>
          </p:blipFill>
          <p:spPr>
            <a:xfrm>
              <a:off x="6567386" y="4224971"/>
              <a:ext cx="1963362" cy="266761"/>
            </a:xfrm>
            <a:prstGeom prst="rect">
              <a:avLst/>
            </a:prstGeom>
          </p:spPr>
        </p:pic>
        <p:sp>
          <p:nvSpPr>
            <p:cNvPr id="35" name="弧 71"/>
            <p:cNvSpPr/>
            <p:nvPr/>
          </p:nvSpPr>
          <p:spPr bwMode="auto">
            <a:xfrm rot="10800000">
              <a:off x="2260792" y="4105386"/>
              <a:ext cx="4605141" cy="1464757"/>
            </a:xfrm>
            <a:prstGeom prst="arc">
              <a:avLst>
                <a:gd name="adj1" fmla="val 10872133"/>
                <a:gd name="adj2" fmla="val 0"/>
              </a:avLst>
            </a:prstGeom>
            <a:noFill/>
            <a:ln w="9525" cap="flat" cmpd="sng" algn="ctr">
              <a:solidFill>
                <a:srgbClr val="000000"/>
              </a:solidFill>
              <a:prstDash val="solid"/>
              <a:round/>
              <a:headEnd type="triangle" w="lg" len="lg"/>
              <a:tailEnd type="none" w="lg" len="lg"/>
            </a:ln>
            <a:effectLst/>
          </p:spPr>
          <p:txBody>
            <a:bodyPr vert="horz" wrap="square" lIns="91440" tIns="45720" rIns="91440" bIns="45720" numCol="1" rtlCol="0" anchor="t" anchorCtr="0" compatLnSpc="1"/>
            <a:lstStyle/>
            <a:p>
              <a:pPr marL="0" marR="0" indent="0" algn="ctr" defTabSz="914400" rtl="0" eaLnBrk="1" fontAlgn="base" latinLnBrk="0" hangingPunct="1">
                <a:lnSpc>
                  <a:spcPct val="90000"/>
                </a:lnSpc>
                <a:spcBef>
                  <a:spcPct val="0"/>
                </a:spcBef>
                <a:spcAft>
                  <a:spcPct val="0"/>
                </a:spcAft>
                <a:buClrTx/>
                <a:buSzTx/>
                <a:buFontTx/>
                <a:buNone/>
              </a:pPr>
              <a:endParaRPr kumimoji="1" lang="zh-CN" altLang="en-US" sz="3000" b="1" i="0" u="none" strike="noStrike" cap="none" normalizeH="0" baseline="0" dirty="0">
                <a:ln>
                  <a:noFill/>
                </a:ln>
                <a:solidFill>
                  <a:srgbClr val="800080"/>
                </a:solidFill>
                <a:effectLst/>
                <a:latin typeface="Arial" panose="020B0604020202020204" pitchFamily="34" charset="0"/>
                <a:ea typeface="华文行楷" panose="02010800040101010101" pitchFamily="2" charset="-122"/>
              </a:endParaRPr>
            </a:p>
          </p:txBody>
        </p:sp>
        <p:pic>
          <p:nvPicPr>
            <p:cNvPr id="36" name="图片 35"/>
            <p:cNvPicPr>
              <a:picLocks noChangeAspect="1"/>
            </p:cNvPicPr>
            <p:nvPr/>
          </p:nvPicPr>
          <p:blipFill>
            <a:blip r:embed="rId10"/>
            <a:stretch>
              <a:fillRect/>
            </a:stretch>
          </p:blipFill>
          <p:spPr>
            <a:xfrm>
              <a:off x="3696838" y="5704912"/>
              <a:ext cx="1794077" cy="24376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153</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8" name="Text Box 40"/>
          <p:cNvSpPr txBox="1">
            <a:spLocks noChangeArrowheads="1"/>
          </p:cNvSpPr>
          <p:nvPr/>
        </p:nvSpPr>
        <p:spPr bwMode="auto">
          <a:xfrm>
            <a:off x="609600" y="1340769"/>
            <a:ext cx="8229600" cy="461665"/>
          </a:xfrm>
          <a:prstGeom prst="rect">
            <a:avLst/>
          </a:prstGeom>
          <a:noFill/>
          <a:ln w="9525">
            <a:noFill/>
            <a:miter lim="800000"/>
          </a:ln>
        </p:spPr>
        <p:txBody>
          <a:bodyPr wrap="square">
            <a:spAutoFit/>
          </a:bodyPr>
          <a:lstStyle/>
          <a:p>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5</a:t>
            </a:r>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请构造下列语言的一个</a:t>
            </a:r>
            <a:r>
              <a:rPr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PDA</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（空栈接受或终态接受均可）</a:t>
            </a:r>
            <a:endPar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5" name="图片 14"/>
          <p:cNvPicPr>
            <a:picLocks noChangeAspect="1"/>
          </p:cNvPicPr>
          <p:nvPr/>
        </p:nvPicPr>
        <p:blipFill rotWithShape="1">
          <a:blip r:embed="rId12"/>
          <a:srcRect l="13314" t="62343" r="4847" b="-3801"/>
          <a:stretch>
            <a:fillRect/>
          </a:stretch>
        </p:blipFill>
        <p:spPr>
          <a:xfrm>
            <a:off x="1447800" y="1943721"/>
            <a:ext cx="6629400" cy="365760"/>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下推自动机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37" name="Text Box 40"/>
          <p:cNvSpPr txBox="1">
            <a:spLocks noChangeArrowheads="1"/>
          </p:cNvSpPr>
          <p:nvPr/>
        </p:nvSpPr>
        <p:spPr bwMode="auto">
          <a:xfrm>
            <a:off x="609600" y="1340769"/>
            <a:ext cx="8229600" cy="461665"/>
          </a:xfrm>
          <a:prstGeom prst="rect">
            <a:avLst/>
          </a:prstGeom>
          <a:noFill/>
          <a:ln w="9525">
            <a:noFill/>
            <a:miter lim="800000"/>
          </a:ln>
        </p:spPr>
        <p:txBody>
          <a:bodyPr wrap="square">
            <a:spAutoFit/>
          </a:bodyPr>
          <a:lstStyle/>
          <a:p>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5</a:t>
            </a:r>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请构造下列语言的一个</a:t>
            </a:r>
            <a:r>
              <a:rPr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PDA</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（空栈接受或终态接受均可）</a:t>
            </a:r>
            <a:endPar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8" name="图片 37"/>
          <p:cNvPicPr>
            <a:picLocks noChangeAspect="1"/>
          </p:cNvPicPr>
          <p:nvPr/>
        </p:nvPicPr>
        <p:blipFill rotWithShape="1">
          <a:blip r:embed="rId2"/>
          <a:srcRect l="13314" t="62343" r="4847" b="-3801"/>
          <a:stretch>
            <a:fillRect/>
          </a:stretch>
        </p:blipFill>
        <p:spPr>
          <a:xfrm>
            <a:off x="1447800" y="1943721"/>
            <a:ext cx="6629400" cy="365760"/>
          </a:xfrm>
          <a:prstGeom prst="rect">
            <a:avLst/>
          </a:prstGeom>
        </p:spPr>
      </p:pic>
      <p:pic>
        <p:nvPicPr>
          <p:cNvPr id="39" name="图片 38"/>
          <p:cNvPicPr>
            <a:picLocks noChangeAspect="1"/>
          </p:cNvPicPr>
          <p:nvPr/>
        </p:nvPicPr>
        <p:blipFill>
          <a:blip r:embed="rId3"/>
          <a:stretch>
            <a:fillRect/>
          </a:stretch>
        </p:blipFill>
        <p:spPr>
          <a:xfrm>
            <a:off x="0" y="2539936"/>
            <a:ext cx="9144000" cy="950026"/>
          </a:xfrm>
          <a:prstGeom prst="rect">
            <a:avLst/>
          </a:prstGeom>
        </p:spPr>
      </p:pic>
      <p:grpSp>
        <p:nvGrpSpPr>
          <p:cNvPr id="40" name="组合 39"/>
          <p:cNvGrpSpPr/>
          <p:nvPr/>
        </p:nvGrpSpPr>
        <p:grpSpPr>
          <a:xfrm>
            <a:off x="3960440" y="3701216"/>
            <a:ext cx="4252376" cy="2775784"/>
            <a:chOff x="4067944" y="3582168"/>
            <a:chExt cx="4252376" cy="2775784"/>
          </a:xfrm>
        </p:grpSpPr>
        <p:grpSp>
          <p:nvGrpSpPr>
            <p:cNvPr id="41" name="组合 40"/>
            <p:cNvGrpSpPr/>
            <p:nvPr/>
          </p:nvGrpSpPr>
          <p:grpSpPr>
            <a:xfrm>
              <a:off x="4067944" y="3582168"/>
              <a:ext cx="3367355" cy="2775784"/>
              <a:chOff x="4067944" y="3582168"/>
              <a:chExt cx="3367355" cy="2775784"/>
            </a:xfrm>
          </p:grpSpPr>
          <p:sp>
            <p:nvSpPr>
              <p:cNvPr id="43" name="椭圆 42"/>
              <p:cNvSpPr/>
              <p:nvPr/>
            </p:nvSpPr>
            <p:spPr bwMode="auto">
              <a:xfrm>
                <a:off x="5438829" y="4373840"/>
                <a:ext cx="432048" cy="64918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400" b="1">
                  <a:solidFill>
                    <a:srgbClr val="800080"/>
                  </a:solidFill>
                  <a:latin typeface="Arial" panose="020B0604020202020204" pitchFamily="34" charset="0"/>
                  <a:ea typeface="楷体_GB2312" pitchFamily="49" charset="-122"/>
                </a:endParaRPr>
              </a:p>
            </p:txBody>
          </p:sp>
          <p:sp>
            <p:nvSpPr>
              <p:cNvPr id="44" name="弧 25"/>
              <p:cNvSpPr/>
              <p:nvPr/>
            </p:nvSpPr>
            <p:spPr bwMode="auto">
              <a:xfrm rot="11190199">
                <a:off x="5461624" y="3962640"/>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algn="ct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cxnSp>
            <p:nvCxnSpPr>
              <p:cNvPr id="45" name="直线箭头连接符 26"/>
              <p:cNvCxnSpPr>
                <a:endCxn id="43" idx="2"/>
              </p:cNvCxnSpPr>
              <p:nvPr/>
            </p:nvCxnSpPr>
            <p:spPr bwMode="auto">
              <a:xfrm>
                <a:off x="4270218" y="4698434"/>
                <a:ext cx="1168611" cy="0"/>
              </a:xfrm>
              <a:prstGeom prst="straightConnector1">
                <a:avLst/>
              </a:prstGeom>
              <a:noFill/>
              <a:ln w="9525" cap="flat" cmpd="sng" algn="ctr">
                <a:solidFill>
                  <a:srgbClr val="000000"/>
                </a:solidFill>
                <a:prstDash val="solid"/>
                <a:round/>
                <a:headEnd type="none" w="med" len="med"/>
                <a:tailEnd type="triangle"/>
              </a:ln>
              <a:effectLst/>
            </p:spPr>
          </p:cxnSp>
          <p:sp>
            <p:nvSpPr>
              <p:cNvPr id="46" name="椭圆 45"/>
              <p:cNvSpPr/>
              <p:nvPr/>
            </p:nvSpPr>
            <p:spPr bwMode="auto">
              <a:xfrm>
                <a:off x="7003251" y="4382623"/>
                <a:ext cx="432048" cy="64918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400" b="1">
                  <a:solidFill>
                    <a:srgbClr val="800080"/>
                  </a:solidFill>
                  <a:latin typeface="Arial" panose="020B0604020202020204" pitchFamily="34" charset="0"/>
                  <a:ea typeface="楷体_GB2312" pitchFamily="49" charset="-122"/>
                </a:endParaRPr>
              </a:p>
            </p:txBody>
          </p:sp>
          <p:cxnSp>
            <p:nvCxnSpPr>
              <p:cNvPr id="47" name="直线箭头连接符 34"/>
              <p:cNvCxnSpPr>
                <a:stCxn id="43" idx="7"/>
                <a:endCxn id="46" idx="1"/>
              </p:cNvCxnSpPr>
              <p:nvPr/>
            </p:nvCxnSpPr>
            <p:spPr bwMode="auto">
              <a:xfrm>
                <a:off x="5807605" y="4468911"/>
                <a:ext cx="1258918" cy="8783"/>
              </a:xfrm>
              <a:prstGeom prst="straightConnector1">
                <a:avLst/>
              </a:prstGeom>
              <a:noFill/>
              <a:ln w="9525" cap="flat" cmpd="sng" algn="ctr">
                <a:solidFill>
                  <a:srgbClr val="000000"/>
                </a:solidFill>
                <a:prstDash val="solid"/>
                <a:round/>
                <a:headEnd type="none" w="med" len="med"/>
                <a:tailEnd type="triangle"/>
              </a:ln>
              <a:effectLst/>
            </p:spPr>
          </p:cxnSp>
          <p:pic>
            <p:nvPicPr>
              <p:cNvPr id="48" name="图片 47"/>
              <p:cNvPicPr>
                <a:picLocks noChangeAspect="1"/>
              </p:cNvPicPr>
              <p:nvPr/>
            </p:nvPicPr>
            <p:blipFill>
              <a:blip r:embed="rId4"/>
              <a:stretch>
                <a:fillRect/>
              </a:stretch>
            </p:blipFill>
            <p:spPr>
              <a:xfrm>
                <a:off x="4067944" y="4321738"/>
                <a:ext cx="1499799" cy="162141"/>
              </a:xfrm>
              <a:prstGeom prst="rect">
                <a:avLst/>
              </a:prstGeom>
            </p:spPr>
          </p:pic>
          <p:sp>
            <p:nvSpPr>
              <p:cNvPr id="49" name="椭圆 48"/>
              <p:cNvSpPr/>
              <p:nvPr/>
            </p:nvSpPr>
            <p:spPr bwMode="auto">
              <a:xfrm>
                <a:off x="6216290" y="5674188"/>
                <a:ext cx="432048" cy="64918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400" b="1">
                  <a:solidFill>
                    <a:srgbClr val="800080"/>
                  </a:solidFill>
                  <a:latin typeface="Arial" panose="020B0604020202020204" pitchFamily="34" charset="0"/>
                  <a:ea typeface="楷体_GB2312" pitchFamily="49" charset="-122"/>
                </a:endParaRPr>
              </a:p>
            </p:txBody>
          </p:sp>
          <p:sp>
            <p:nvSpPr>
              <p:cNvPr id="50" name="椭圆 49"/>
              <p:cNvSpPr/>
              <p:nvPr/>
            </p:nvSpPr>
            <p:spPr bwMode="auto">
              <a:xfrm>
                <a:off x="6236732" y="5708764"/>
                <a:ext cx="391164" cy="64918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400" b="1">
                  <a:solidFill>
                    <a:srgbClr val="800080"/>
                  </a:solidFill>
                  <a:latin typeface="Arial" panose="020B0604020202020204" pitchFamily="34" charset="0"/>
                  <a:ea typeface="楷体_GB2312" pitchFamily="49" charset="-122"/>
                </a:endParaRPr>
              </a:p>
            </p:txBody>
          </p:sp>
          <p:cxnSp>
            <p:nvCxnSpPr>
              <p:cNvPr id="51" name="直线箭头连接符 52"/>
              <p:cNvCxnSpPr>
                <a:stCxn id="46" idx="3"/>
                <a:endCxn id="43" idx="5"/>
              </p:cNvCxnSpPr>
              <p:nvPr/>
            </p:nvCxnSpPr>
            <p:spPr bwMode="auto">
              <a:xfrm flipH="1" flipV="1">
                <a:off x="5807605" y="4927957"/>
                <a:ext cx="1258918" cy="8783"/>
              </a:xfrm>
              <a:prstGeom prst="straightConnector1">
                <a:avLst/>
              </a:prstGeom>
              <a:noFill/>
              <a:ln w="9525" cap="flat" cmpd="sng" algn="ctr">
                <a:solidFill>
                  <a:srgbClr val="000000"/>
                </a:solidFill>
                <a:prstDash val="solid"/>
                <a:round/>
                <a:headEnd type="none" w="med" len="med"/>
                <a:tailEnd type="triangle"/>
              </a:ln>
              <a:effectLst/>
            </p:spPr>
          </p:cxnSp>
          <p:cxnSp>
            <p:nvCxnSpPr>
              <p:cNvPr id="52" name="直线箭头连接符 53"/>
              <p:cNvCxnSpPr>
                <a:stCxn id="43" idx="4"/>
                <a:endCxn id="49" idx="1"/>
              </p:cNvCxnSpPr>
              <p:nvPr/>
            </p:nvCxnSpPr>
            <p:spPr bwMode="auto">
              <a:xfrm>
                <a:off x="5654853" y="5023028"/>
                <a:ext cx="624709" cy="746231"/>
              </a:xfrm>
              <a:prstGeom prst="straightConnector1">
                <a:avLst/>
              </a:prstGeom>
              <a:noFill/>
              <a:ln w="9525" cap="flat" cmpd="sng" algn="ctr">
                <a:solidFill>
                  <a:srgbClr val="000000"/>
                </a:solidFill>
                <a:prstDash val="solid"/>
                <a:round/>
                <a:headEnd type="none" w="med" len="med"/>
                <a:tailEnd type="triangle"/>
              </a:ln>
              <a:effectLst/>
            </p:spPr>
          </p:cxnSp>
          <p:cxnSp>
            <p:nvCxnSpPr>
              <p:cNvPr id="53" name="直线箭头连接符 54"/>
              <p:cNvCxnSpPr>
                <a:stCxn id="46" idx="4"/>
                <a:endCxn id="49" idx="7"/>
              </p:cNvCxnSpPr>
              <p:nvPr/>
            </p:nvCxnSpPr>
            <p:spPr bwMode="auto">
              <a:xfrm flipH="1">
                <a:off x="6585066" y="5031811"/>
                <a:ext cx="634209" cy="737448"/>
              </a:xfrm>
              <a:prstGeom prst="straightConnector1">
                <a:avLst/>
              </a:prstGeom>
              <a:noFill/>
              <a:ln w="9525" cap="flat" cmpd="sng" algn="ctr">
                <a:solidFill>
                  <a:srgbClr val="000000"/>
                </a:solidFill>
                <a:prstDash val="solid"/>
                <a:round/>
                <a:headEnd type="none" w="med" len="med"/>
                <a:tailEnd type="triangle"/>
              </a:ln>
              <a:effectLst/>
            </p:spPr>
          </p:cxnSp>
          <p:pic>
            <p:nvPicPr>
              <p:cNvPr id="54" name="图片 53"/>
              <p:cNvPicPr>
                <a:picLocks noChangeAspect="1"/>
              </p:cNvPicPr>
              <p:nvPr/>
            </p:nvPicPr>
            <p:blipFill>
              <a:blip r:embed="rId5"/>
              <a:stretch>
                <a:fillRect/>
              </a:stretch>
            </p:blipFill>
            <p:spPr>
              <a:xfrm>
                <a:off x="5061004" y="3688888"/>
                <a:ext cx="1187698" cy="189632"/>
              </a:xfrm>
              <a:prstGeom prst="rect">
                <a:avLst/>
              </a:prstGeom>
            </p:spPr>
          </p:pic>
          <p:pic>
            <p:nvPicPr>
              <p:cNvPr id="55" name="图片 54"/>
              <p:cNvPicPr>
                <a:picLocks noChangeAspect="1"/>
              </p:cNvPicPr>
              <p:nvPr/>
            </p:nvPicPr>
            <p:blipFill>
              <a:blip r:embed="rId5"/>
              <a:stretch>
                <a:fillRect/>
              </a:stretch>
            </p:blipFill>
            <p:spPr>
              <a:xfrm>
                <a:off x="5859592" y="4996248"/>
                <a:ext cx="1187698" cy="189632"/>
              </a:xfrm>
              <a:prstGeom prst="rect">
                <a:avLst/>
              </a:prstGeom>
            </p:spPr>
          </p:pic>
          <p:pic>
            <p:nvPicPr>
              <p:cNvPr id="56" name="图片 55"/>
              <p:cNvPicPr>
                <a:picLocks noChangeAspect="1"/>
              </p:cNvPicPr>
              <p:nvPr/>
            </p:nvPicPr>
            <p:blipFill>
              <a:blip r:embed="rId6"/>
              <a:stretch>
                <a:fillRect/>
              </a:stretch>
            </p:blipFill>
            <p:spPr>
              <a:xfrm>
                <a:off x="5675626" y="3582168"/>
                <a:ext cx="1617233" cy="233704"/>
              </a:xfrm>
              <a:prstGeom prst="rect">
                <a:avLst/>
              </a:prstGeom>
            </p:spPr>
          </p:pic>
          <p:pic>
            <p:nvPicPr>
              <p:cNvPr id="57" name="图片 56"/>
              <p:cNvPicPr>
                <a:picLocks noChangeAspect="1"/>
              </p:cNvPicPr>
              <p:nvPr/>
            </p:nvPicPr>
            <p:blipFill>
              <a:blip r:embed="rId7"/>
              <a:stretch>
                <a:fillRect/>
              </a:stretch>
            </p:blipFill>
            <p:spPr>
              <a:xfrm>
                <a:off x="5654853" y="3862328"/>
                <a:ext cx="1658780" cy="245382"/>
              </a:xfrm>
              <a:prstGeom prst="rect">
                <a:avLst/>
              </a:prstGeom>
            </p:spPr>
          </p:pic>
          <p:pic>
            <p:nvPicPr>
              <p:cNvPr id="58" name="图片 57"/>
              <p:cNvPicPr>
                <a:picLocks noChangeAspect="1"/>
              </p:cNvPicPr>
              <p:nvPr/>
            </p:nvPicPr>
            <p:blipFill>
              <a:blip r:embed="rId8"/>
              <a:stretch>
                <a:fillRect/>
              </a:stretch>
            </p:blipFill>
            <p:spPr>
              <a:xfrm>
                <a:off x="5713305" y="4158179"/>
                <a:ext cx="1600327" cy="218623"/>
              </a:xfrm>
              <a:prstGeom prst="rect">
                <a:avLst/>
              </a:prstGeom>
            </p:spPr>
          </p:pic>
          <p:pic>
            <p:nvPicPr>
              <p:cNvPr id="59" name="图片 58"/>
              <p:cNvPicPr>
                <a:picLocks noChangeAspect="1"/>
              </p:cNvPicPr>
              <p:nvPr/>
            </p:nvPicPr>
            <p:blipFill>
              <a:blip r:embed="rId9"/>
              <a:stretch>
                <a:fillRect/>
              </a:stretch>
            </p:blipFill>
            <p:spPr>
              <a:xfrm>
                <a:off x="4478440" y="5165881"/>
                <a:ext cx="1683207" cy="250477"/>
              </a:xfrm>
              <a:prstGeom prst="rect">
                <a:avLst/>
              </a:prstGeom>
            </p:spPr>
          </p:pic>
        </p:grpSp>
        <p:pic>
          <p:nvPicPr>
            <p:cNvPr id="42" name="图片 41"/>
            <p:cNvPicPr>
              <a:picLocks noChangeAspect="1"/>
            </p:cNvPicPr>
            <p:nvPr/>
          </p:nvPicPr>
          <p:blipFill>
            <a:blip r:embed="rId9"/>
            <a:stretch>
              <a:fillRect/>
            </a:stretch>
          </p:blipFill>
          <p:spPr>
            <a:xfrm>
              <a:off x="6637113" y="5156966"/>
              <a:ext cx="1683207" cy="250477"/>
            </a:xfrm>
            <a:prstGeom prst="rect">
              <a:avLst/>
            </a:prstGeom>
          </p:spPr>
        </p:pic>
      </p:grpSp>
      <p:grpSp>
        <p:nvGrpSpPr>
          <p:cNvPr id="60" name="组合 59"/>
          <p:cNvGrpSpPr/>
          <p:nvPr/>
        </p:nvGrpSpPr>
        <p:grpSpPr>
          <a:xfrm>
            <a:off x="395166" y="4440788"/>
            <a:ext cx="3259770" cy="1009876"/>
            <a:chOff x="358787" y="3985018"/>
            <a:chExt cx="3259770" cy="1009876"/>
          </a:xfrm>
        </p:grpSpPr>
        <p:pic>
          <p:nvPicPr>
            <p:cNvPr id="61" name="图片 60"/>
            <p:cNvPicPr>
              <a:picLocks noChangeAspect="1"/>
            </p:cNvPicPr>
            <p:nvPr/>
          </p:nvPicPr>
          <p:blipFill>
            <a:blip r:embed="rId10"/>
            <a:stretch>
              <a:fillRect/>
            </a:stretch>
          </p:blipFill>
          <p:spPr>
            <a:xfrm>
              <a:off x="1666492" y="4109720"/>
              <a:ext cx="1952065" cy="238057"/>
            </a:xfrm>
            <a:prstGeom prst="rect">
              <a:avLst/>
            </a:prstGeom>
          </p:spPr>
        </p:pic>
        <p:grpSp>
          <p:nvGrpSpPr>
            <p:cNvPr id="62" name="组合 61"/>
            <p:cNvGrpSpPr/>
            <p:nvPr/>
          </p:nvGrpSpPr>
          <p:grpSpPr>
            <a:xfrm>
              <a:off x="358787" y="3985018"/>
              <a:ext cx="3172818" cy="1009876"/>
              <a:chOff x="358787" y="3985018"/>
              <a:chExt cx="3172818" cy="1009876"/>
            </a:xfrm>
          </p:grpSpPr>
          <p:pic>
            <p:nvPicPr>
              <p:cNvPr id="63" name="图片 62"/>
              <p:cNvPicPr>
                <a:picLocks noChangeAspect="1"/>
              </p:cNvPicPr>
              <p:nvPr/>
            </p:nvPicPr>
            <p:blipFill>
              <a:blip r:embed="rId11"/>
              <a:stretch>
                <a:fillRect/>
              </a:stretch>
            </p:blipFill>
            <p:spPr>
              <a:xfrm>
                <a:off x="398709" y="4107710"/>
                <a:ext cx="1952065" cy="233501"/>
              </a:xfrm>
              <a:prstGeom prst="rect">
                <a:avLst/>
              </a:prstGeom>
            </p:spPr>
          </p:pic>
          <p:pic>
            <p:nvPicPr>
              <p:cNvPr id="64" name="图片 63"/>
              <p:cNvPicPr>
                <a:picLocks noChangeAspect="1"/>
              </p:cNvPicPr>
              <p:nvPr/>
            </p:nvPicPr>
            <p:blipFill>
              <a:blip r:embed="rId12"/>
              <a:stretch>
                <a:fillRect/>
              </a:stretch>
            </p:blipFill>
            <p:spPr>
              <a:xfrm>
                <a:off x="358787" y="4430297"/>
                <a:ext cx="1952065" cy="247724"/>
              </a:xfrm>
              <a:prstGeom prst="rect">
                <a:avLst/>
              </a:prstGeom>
            </p:spPr>
          </p:pic>
          <p:pic>
            <p:nvPicPr>
              <p:cNvPr id="65" name="图片 64"/>
              <p:cNvPicPr>
                <a:picLocks noChangeAspect="1"/>
              </p:cNvPicPr>
              <p:nvPr/>
            </p:nvPicPr>
            <p:blipFill>
              <a:blip r:embed="rId13"/>
              <a:stretch>
                <a:fillRect/>
              </a:stretch>
            </p:blipFill>
            <p:spPr>
              <a:xfrm>
                <a:off x="358787" y="4742093"/>
                <a:ext cx="1628039" cy="252801"/>
              </a:xfrm>
              <a:prstGeom prst="rect">
                <a:avLst/>
              </a:prstGeom>
            </p:spPr>
          </p:pic>
          <p:pic>
            <p:nvPicPr>
              <p:cNvPr id="66" name="图片 65"/>
              <p:cNvPicPr>
                <a:picLocks noChangeAspect="1"/>
              </p:cNvPicPr>
              <p:nvPr/>
            </p:nvPicPr>
            <p:blipFill>
              <a:blip r:embed="rId14"/>
              <a:stretch>
                <a:fillRect/>
              </a:stretch>
            </p:blipFill>
            <p:spPr>
              <a:xfrm>
                <a:off x="1632054" y="4428718"/>
                <a:ext cx="1899551" cy="252600"/>
              </a:xfrm>
              <a:prstGeom prst="rect">
                <a:avLst/>
              </a:prstGeom>
            </p:spPr>
          </p:pic>
          <p:pic>
            <p:nvPicPr>
              <p:cNvPr id="67" name="图片 66"/>
              <p:cNvPicPr>
                <a:picLocks noChangeAspect="1"/>
              </p:cNvPicPr>
              <p:nvPr/>
            </p:nvPicPr>
            <p:blipFill>
              <a:blip r:embed="rId15"/>
              <a:stretch>
                <a:fillRect/>
              </a:stretch>
            </p:blipFill>
            <p:spPr>
              <a:xfrm>
                <a:off x="1632054" y="4742092"/>
                <a:ext cx="1628039" cy="252802"/>
              </a:xfrm>
              <a:prstGeom prst="rect">
                <a:avLst/>
              </a:prstGeom>
            </p:spPr>
          </p:pic>
          <p:sp>
            <p:nvSpPr>
              <p:cNvPr id="68" name="圆角矩形 57"/>
              <p:cNvSpPr/>
              <p:nvPr/>
            </p:nvSpPr>
            <p:spPr bwMode="auto">
              <a:xfrm>
                <a:off x="683568" y="3985018"/>
                <a:ext cx="2571041" cy="1009875"/>
              </a:xfrm>
              <a:prstGeom prst="roundRect">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400" b="1">
                  <a:solidFill>
                    <a:srgbClr val="800080"/>
                  </a:solidFill>
                  <a:latin typeface="Arial" panose="020B0604020202020204" pitchFamily="34" charset="0"/>
                  <a:ea typeface="楷体_GB2312" pitchFamily="49" charset="-122"/>
                </a:endParaRPr>
              </a:p>
            </p:txBody>
          </p:sp>
        </p:grpSp>
      </p:grpSp>
      <p:pic>
        <p:nvPicPr>
          <p:cNvPr id="69" name="图片 68"/>
          <p:cNvPicPr>
            <a:picLocks noChangeAspect="1"/>
          </p:cNvPicPr>
          <p:nvPr/>
        </p:nvPicPr>
        <p:blipFill>
          <a:blip r:embed="rId5"/>
          <a:stretch>
            <a:fillRect/>
          </a:stretch>
        </p:blipFill>
        <p:spPr>
          <a:xfrm>
            <a:off x="1367770" y="4106650"/>
            <a:ext cx="1187698" cy="1896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155</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8" name="Text Box 40"/>
          <p:cNvSpPr txBox="1">
            <a:spLocks noChangeArrowheads="1"/>
          </p:cNvSpPr>
          <p:nvPr/>
        </p:nvSpPr>
        <p:spPr bwMode="auto">
          <a:xfrm>
            <a:off x="609600" y="1340769"/>
            <a:ext cx="8229600" cy="461665"/>
          </a:xfrm>
          <a:prstGeom prst="rect">
            <a:avLst/>
          </a:prstGeom>
          <a:noFill/>
          <a:ln w="9525">
            <a:noFill/>
            <a:miter lim="800000"/>
          </a:ln>
        </p:spPr>
        <p:txBody>
          <a:bodyPr wrap="square">
            <a:spAutoFit/>
          </a:bodyPr>
          <a:lstStyle/>
          <a:p>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6</a:t>
            </a:r>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请构造下列语言的一个</a:t>
            </a:r>
            <a:r>
              <a:rPr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PDA</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（空栈接受或终态接受均可）</a:t>
            </a:r>
            <a:endPar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6" name="图片 15"/>
          <p:cNvPicPr>
            <a:picLocks noChangeAspect="1"/>
          </p:cNvPicPr>
          <p:nvPr/>
        </p:nvPicPr>
        <p:blipFill rotWithShape="1">
          <a:blip r:embed="rId12"/>
          <a:srcRect l="21878" t="63550" r="13399" b="-3337"/>
          <a:stretch>
            <a:fillRect/>
          </a:stretch>
        </p:blipFill>
        <p:spPr>
          <a:xfrm>
            <a:off x="2009775" y="1905000"/>
            <a:ext cx="5429250" cy="365760"/>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5" y="195263"/>
            <a:ext cx="4294542"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下推自动机</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70" name="Text Box 40"/>
          <p:cNvSpPr txBox="1">
            <a:spLocks noChangeArrowheads="1"/>
          </p:cNvSpPr>
          <p:nvPr/>
        </p:nvSpPr>
        <p:spPr bwMode="auto">
          <a:xfrm>
            <a:off x="609600" y="1340769"/>
            <a:ext cx="8229600" cy="461665"/>
          </a:xfrm>
          <a:prstGeom prst="rect">
            <a:avLst/>
          </a:prstGeom>
          <a:noFill/>
          <a:ln w="9525">
            <a:noFill/>
            <a:miter lim="800000"/>
          </a:ln>
        </p:spPr>
        <p:txBody>
          <a:bodyPr wrap="square">
            <a:spAutoFit/>
          </a:bodyPr>
          <a:lstStyle/>
          <a:p>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6</a:t>
            </a:r>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请构造下列语言的一个</a:t>
            </a:r>
            <a:r>
              <a:rPr lang="en-US"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PDA</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（空栈接受或终态接受均可）</a:t>
            </a:r>
            <a:endPar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71" name="图片 70"/>
          <p:cNvPicPr>
            <a:picLocks noChangeAspect="1"/>
          </p:cNvPicPr>
          <p:nvPr/>
        </p:nvPicPr>
        <p:blipFill rotWithShape="1">
          <a:blip r:embed="rId2"/>
          <a:srcRect l="21878" t="63550" r="13399" b="-3337"/>
          <a:stretch>
            <a:fillRect/>
          </a:stretch>
        </p:blipFill>
        <p:spPr>
          <a:xfrm>
            <a:off x="2009775" y="1905000"/>
            <a:ext cx="5429250" cy="365760"/>
          </a:xfrm>
          <a:prstGeom prst="rect">
            <a:avLst/>
          </a:prstGeom>
        </p:spPr>
      </p:pic>
      <p:pic>
        <p:nvPicPr>
          <p:cNvPr id="72" name="图片 71"/>
          <p:cNvPicPr>
            <a:picLocks noChangeAspect="1"/>
          </p:cNvPicPr>
          <p:nvPr/>
        </p:nvPicPr>
        <p:blipFill>
          <a:blip r:embed="rId3"/>
          <a:stretch>
            <a:fillRect/>
          </a:stretch>
        </p:blipFill>
        <p:spPr>
          <a:xfrm>
            <a:off x="0" y="2662945"/>
            <a:ext cx="9144000" cy="595700"/>
          </a:xfrm>
          <a:prstGeom prst="rect">
            <a:avLst/>
          </a:prstGeom>
        </p:spPr>
      </p:pic>
      <p:grpSp>
        <p:nvGrpSpPr>
          <p:cNvPr id="73" name="组合 72"/>
          <p:cNvGrpSpPr/>
          <p:nvPr/>
        </p:nvGrpSpPr>
        <p:grpSpPr>
          <a:xfrm>
            <a:off x="1329719" y="3933056"/>
            <a:ext cx="6484567" cy="2162156"/>
            <a:chOff x="1089105" y="4038776"/>
            <a:chExt cx="6484567" cy="2162156"/>
          </a:xfrm>
        </p:grpSpPr>
        <p:sp>
          <p:nvSpPr>
            <p:cNvPr id="74" name="椭圆 73"/>
            <p:cNvSpPr/>
            <p:nvPr/>
          </p:nvSpPr>
          <p:spPr bwMode="auto">
            <a:xfrm>
              <a:off x="2459990" y="5170137"/>
              <a:ext cx="432048" cy="64918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400" b="1">
                <a:solidFill>
                  <a:srgbClr val="800080"/>
                </a:solidFill>
                <a:latin typeface="Arial" panose="020B0604020202020204" pitchFamily="34" charset="0"/>
                <a:ea typeface="楷体_GB2312" pitchFamily="49" charset="-122"/>
              </a:endParaRPr>
            </a:p>
          </p:txBody>
        </p:sp>
        <p:sp>
          <p:nvSpPr>
            <p:cNvPr id="75" name="弧 39"/>
            <p:cNvSpPr/>
            <p:nvPr/>
          </p:nvSpPr>
          <p:spPr bwMode="auto">
            <a:xfrm rot="11190199">
              <a:off x="2482785" y="4741713"/>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algn="ct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cxnSp>
          <p:nvCxnSpPr>
            <p:cNvPr id="76" name="直线箭头连接符 40"/>
            <p:cNvCxnSpPr>
              <a:endCxn id="74" idx="2"/>
            </p:cNvCxnSpPr>
            <p:nvPr/>
          </p:nvCxnSpPr>
          <p:spPr bwMode="auto">
            <a:xfrm>
              <a:off x="1260858" y="5481786"/>
              <a:ext cx="1199132" cy="12945"/>
            </a:xfrm>
            <a:prstGeom prst="straightConnector1">
              <a:avLst/>
            </a:prstGeom>
            <a:noFill/>
            <a:ln w="9525" cap="flat" cmpd="sng" algn="ctr">
              <a:solidFill>
                <a:srgbClr val="000000"/>
              </a:solidFill>
              <a:prstDash val="solid"/>
              <a:round/>
              <a:headEnd type="none" w="med" len="med"/>
              <a:tailEnd type="triangle"/>
            </a:ln>
            <a:effectLst/>
          </p:spPr>
        </p:cxnSp>
        <p:sp>
          <p:nvSpPr>
            <p:cNvPr id="77" name="椭圆 76"/>
            <p:cNvSpPr/>
            <p:nvPr/>
          </p:nvSpPr>
          <p:spPr bwMode="auto">
            <a:xfrm>
              <a:off x="4024412" y="5170137"/>
              <a:ext cx="432048" cy="64918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400" b="1">
                <a:solidFill>
                  <a:srgbClr val="800080"/>
                </a:solidFill>
                <a:latin typeface="Arial" panose="020B0604020202020204" pitchFamily="34" charset="0"/>
                <a:ea typeface="楷体_GB2312" pitchFamily="49" charset="-122"/>
              </a:endParaRPr>
            </a:p>
          </p:txBody>
        </p:sp>
        <p:cxnSp>
          <p:nvCxnSpPr>
            <p:cNvPr id="78" name="直线箭头连接符 42"/>
            <p:cNvCxnSpPr>
              <a:stCxn id="74" idx="6"/>
              <a:endCxn id="77" idx="2"/>
            </p:cNvCxnSpPr>
            <p:nvPr/>
          </p:nvCxnSpPr>
          <p:spPr bwMode="auto">
            <a:xfrm>
              <a:off x="2892038" y="5494731"/>
              <a:ext cx="1132374" cy="0"/>
            </a:xfrm>
            <a:prstGeom prst="straightConnector1">
              <a:avLst/>
            </a:prstGeom>
            <a:noFill/>
            <a:ln w="9525" cap="flat" cmpd="sng" algn="ctr">
              <a:solidFill>
                <a:srgbClr val="000000"/>
              </a:solidFill>
              <a:prstDash val="solid"/>
              <a:round/>
              <a:headEnd type="none" w="med" len="med"/>
              <a:tailEnd type="triangle"/>
            </a:ln>
            <a:effectLst/>
          </p:spPr>
        </p:cxnSp>
        <p:pic>
          <p:nvPicPr>
            <p:cNvPr id="79" name="图片 78"/>
            <p:cNvPicPr>
              <a:picLocks noChangeAspect="1"/>
            </p:cNvPicPr>
            <p:nvPr/>
          </p:nvPicPr>
          <p:blipFill>
            <a:blip r:embed="rId4"/>
            <a:stretch>
              <a:fillRect/>
            </a:stretch>
          </p:blipFill>
          <p:spPr>
            <a:xfrm>
              <a:off x="1089105" y="5100811"/>
              <a:ext cx="1499799" cy="162141"/>
            </a:xfrm>
            <a:prstGeom prst="rect">
              <a:avLst/>
            </a:prstGeom>
          </p:spPr>
        </p:pic>
        <p:sp>
          <p:nvSpPr>
            <p:cNvPr id="80" name="椭圆 79"/>
            <p:cNvSpPr/>
            <p:nvPr/>
          </p:nvSpPr>
          <p:spPr bwMode="auto">
            <a:xfrm>
              <a:off x="7162066" y="5188326"/>
              <a:ext cx="391164" cy="64918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400" b="1">
                <a:solidFill>
                  <a:srgbClr val="800080"/>
                </a:solidFill>
                <a:latin typeface="Arial" panose="020B0604020202020204" pitchFamily="34" charset="0"/>
                <a:ea typeface="楷体_GB2312" pitchFamily="49" charset="-122"/>
              </a:endParaRPr>
            </a:p>
          </p:txBody>
        </p:sp>
        <p:sp>
          <p:nvSpPr>
            <p:cNvPr id="81" name="椭圆 80"/>
            <p:cNvSpPr/>
            <p:nvPr/>
          </p:nvSpPr>
          <p:spPr bwMode="auto">
            <a:xfrm>
              <a:off x="5583018" y="5170137"/>
              <a:ext cx="432048" cy="64918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400" b="1">
                <a:solidFill>
                  <a:srgbClr val="800080"/>
                </a:solidFill>
                <a:latin typeface="Arial" panose="020B0604020202020204" pitchFamily="34" charset="0"/>
                <a:ea typeface="楷体_GB2312" pitchFamily="49" charset="-122"/>
              </a:endParaRPr>
            </a:p>
          </p:txBody>
        </p:sp>
        <p:cxnSp>
          <p:nvCxnSpPr>
            <p:cNvPr id="82" name="直线箭头连接符 64"/>
            <p:cNvCxnSpPr>
              <a:stCxn id="77" idx="6"/>
              <a:endCxn id="81" idx="2"/>
            </p:cNvCxnSpPr>
            <p:nvPr/>
          </p:nvCxnSpPr>
          <p:spPr bwMode="auto">
            <a:xfrm>
              <a:off x="4456460" y="5494731"/>
              <a:ext cx="1126558" cy="0"/>
            </a:xfrm>
            <a:prstGeom prst="straightConnector1">
              <a:avLst/>
            </a:prstGeom>
            <a:noFill/>
            <a:ln w="9525" cap="flat" cmpd="sng" algn="ctr">
              <a:solidFill>
                <a:srgbClr val="000000"/>
              </a:solidFill>
              <a:prstDash val="solid"/>
              <a:round/>
              <a:headEnd type="none" w="med" len="med"/>
              <a:tailEnd type="triangle"/>
            </a:ln>
            <a:effectLst/>
          </p:spPr>
        </p:cxnSp>
        <p:sp>
          <p:nvSpPr>
            <p:cNvPr id="83" name="椭圆 82"/>
            <p:cNvSpPr/>
            <p:nvPr/>
          </p:nvSpPr>
          <p:spPr bwMode="auto">
            <a:xfrm>
              <a:off x="7141624" y="5157192"/>
              <a:ext cx="432048" cy="649188"/>
            </a:xfrm>
            <a:prstGeom prst="ellipse">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defTabSz="914400" fontAlgn="base">
                <a:spcBef>
                  <a:spcPct val="0"/>
                </a:spcBef>
                <a:spcAft>
                  <a:spcPct val="0"/>
                </a:spcAft>
              </a:pPr>
              <a:endParaRPr kumimoji="1" lang="zh-CN" altLang="en-US" sz="2400" b="1">
                <a:solidFill>
                  <a:srgbClr val="800080"/>
                </a:solidFill>
                <a:latin typeface="Arial" panose="020B0604020202020204" pitchFamily="34" charset="0"/>
                <a:ea typeface="楷体_GB2312" pitchFamily="49" charset="-122"/>
              </a:endParaRPr>
            </a:p>
          </p:txBody>
        </p:sp>
        <p:cxnSp>
          <p:nvCxnSpPr>
            <p:cNvPr id="84" name="直线箭头连接符 66"/>
            <p:cNvCxnSpPr>
              <a:stCxn id="81" idx="6"/>
              <a:endCxn id="83" idx="2"/>
            </p:cNvCxnSpPr>
            <p:nvPr/>
          </p:nvCxnSpPr>
          <p:spPr bwMode="auto">
            <a:xfrm flipV="1">
              <a:off x="6015066" y="5481786"/>
              <a:ext cx="1126558" cy="12945"/>
            </a:xfrm>
            <a:prstGeom prst="straightConnector1">
              <a:avLst/>
            </a:prstGeom>
            <a:noFill/>
            <a:ln w="9525" cap="flat" cmpd="sng" algn="ctr">
              <a:solidFill>
                <a:srgbClr val="000000"/>
              </a:solidFill>
              <a:prstDash val="solid"/>
              <a:round/>
              <a:headEnd type="none" w="med" len="med"/>
              <a:tailEnd type="triangle"/>
            </a:ln>
            <a:effectLst/>
          </p:spPr>
        </p:cxnSp>
        <p:sp>
          <p:nvSpPr>
            <p:cNvPr id="85" name="弧 73"/>
            <p:cNvSpPr/>
            <p:nvPr/>
          </p:nvSpPr>
          <p:spPr bwMode="auto">
            <a:xfrm rot="11190199">
              <a:off x="4041390" y="4741713"/>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algn="ct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sp>
          <p:nvSpPr>
            <p:cNvPr id="86" name="弧 74"/>
            <p:cNvSpPr/>
            <p:nvPr/>
          </p:nvSpPr>
          <p:spPr bwMode="auto">
            <a:xfrm rot="11190199">
              <a:off x="5602905" y="4745992"/>
              <a:ext cx="392274" cy="424801"/>
            </a:xfrm>
            <a:prstGeom prst="arc">
              <a:avLst>
                <a:gd name="adj1" fmla="val 17142475"/>
                <a:gd name="adj2" fmla="val 14430358"/>
              </a:avLst>
            </a:prstGeom>
            <a:noFill/>
            <a:ln w="9525" cap="flat" cmpd="sng" algn="ctr">
              <a:solidFill>
                <a:srgbClr val="000000"/>
              </a:solidFill>
              <a:prstDash val="solid"/>
              <a:round/>
              <a:headEnd type="none" w="med" len="med"/>
              <a:tailEnd type="triangle" w="lg" len="lg"/>
            </a:ln>
            <a:effectLst/>
          </p:spPr>
          <p:txBody>
            <a:bodyPr vert="horz" wrap="none" lIns="91440" tIns="45720" rIns="91440" bIns="45720" numCol="1" rtlCol="0" anchor="t" anchorCtr="0" compatLnSpc="1"/>
            <a:lstStyle/>
            <a:p>
              <a:pPr algn="ctr" defTabSz="914400" fontAlgn="base">
                <a:spcBef>
                  <a:spcPct val="0"/>
                </a:spcBef>
                <a:spcAft>
                  <a:spcPct val="0"/>
                </a:spcAft>
              </a:pPr>
              <a:endParaRPr kumimoji="1" lang="zh-CN" altLang="en-US" sz="2000" b="1" i="1">
                <a:solidFill>
                  <a:srgbClr val="800080"/>
                </a:solidFill>
                <a:latin typeface="Times New Roman" panose="02020603050405020304" pitchFamily="18" charset="0"/>
                <a:ea typeface="宋体" panose="02010600030101010101" pitchFamily="2" charset="-122"/>
              </a:endParaRPr>
            </a:p>
          </p:txBody>
        </p:sp>
        <p:pic>
          <p:nvPicPr>
            <p:cNvPr id="87" name="图片 86"/>
            <p:cNvPicPr>
              <a:picLocks noChangeAspect="1"/>
            </p:cNvPicPr>
            <p:nvPr/>
          </p:nvPicPr>
          <p:blipFill>
            <a:blip r:embed="rId5"/>
            <a:stretch>
              <a:fillRect/>
            </a:stretch>
          </p:blipFill>
          <p:spPr>
            <a:xfrm>
              <a:off x="1662278" y="4038776"/>
              <a:ext cx="2068070" cy="247377"/>
            </a:xfrm>
            <a:prstGeom prst="rect">
              <a:avLst/>
            </a:prstGeom>
          </p:spPr>
        </p:pic>
        <p:pic>
          <p:nvPicPr>
            <p:cNvPr id="88" name="图片 87"/>
            <p:cNvPicPr>
              <a:picLocks noChangeAspect="1"/>
            </p:cNvPicPr>
            <p:nvPr/>
          </p:nvPicPr>
          <p:blipFill>
            <a:blip r:embed="rId6"/>
            <a:stretch>
              <a:fillRect/>
            </a:stretch>
          </p:blipFill>
          <p:spPr>
            <a:xfrm>
              <a:off x="1641979" y="4352435"/>
              <a:ext cx="2068070" cy="262445"/>
            </a:xfrm>
            <a:prstGeom prst="rect">
              <a:avLst/>
            </a:prstGeom>
          </p:spPr>
        </p:pic>
        <p:pic>
          <p:nvPicPr>
            <p:cNvPr id="89" name="图片 88"/>
            <p:cNvPicPr>
              <a:picLocks noChangeAspect="1"/>
            </p:cNvPicPr>
            <p:nvPr/>
          </p:nvPicPr>
          <p:blipFill>
            <a:blip r:embed="rId7"/>
            <a:stretch>
              <a:fillRect/>
            </a:stretch>
          </p:blipFill>
          <p:spPr>
            <a:xfrm>
              <a:off x="3131840" y="4049718"/>
              <a:ext cx="2371374" cy="260019"/>
            </a:xfrm>
            <a:prstGeom prst="rect">
              <a:avLst/>
            </a:prstGeom>
          </p:spPr>
        </p:pic>
        <p:pic>
          <p:nvPicPr>
            <p:cNvPr id="90" name="图片 89"/>
            <p:cNvPicPr>
              <a:picLocks noChangeAspect="1"/>
            </p:cNvPicPr>
            <p:nvPr/>
          </p:nvPicPr>
          <p:blipFill>
            <a:blip r:embed="rId8"/>
            <a:stretch>
              <a:fillRect/>
            </a:stretch>
          </p:blipFill>
          <p:spPr>
            <a:xfrm>
              <a:off x="3131840" y="4352394"/>
              <a:ext cx="2197520" cy="254343"/>
            </a:xfrm>
            <a:prstGeom prst="rect">
              <a:avLst/>
            </a:prstGeom>
          </p:spPr>
        </p:pic>
        <p:pic>
          <p:nvPicPr>
            <p:cNvPr id="91" name="图片 90"/>
            <p:cNvPicPr>
              <a:picLocks noChangeAspect="1"/>
            </p:cNvPicPr>
            <p:nvPr/>
          </p:nvPicPr>
          <p:blipFill>
            <a:blip r:embed="rId9"/>
            <a:stretch>
              <a:fillRect/>
            </a:stretch>
          </p:blipFill>
          <p:spPr>
            <a:xfrm>
              <a:off x="4932040" y="4182877"/>
              <a:ext cx="1739524" cy="270112"/>
            </a:xfrm>
            <a:prstGeom prst="rect">
              <a:avLst/>
            </a:prstGeom>
          </p:spPr>
        </p:pic>
        <p:pic>
          <p:nvPicPr>
            <p:cNvPr id="92" name="图片 91"/>
            <p:cNvPicPr>
              <a:picLocks noChangeAspect="1"/>
            </p:cNvPicPr>
            <p:nvPr/>
          </p:nvPicPr>
          <p:blipFill>
            <a:blip r:embed="rId10"/>
            <a:stretch>
              <a:fillRect/>
            </a:stretch>
          </p:blipFill>
          <p:spPr>
            <a:xfrm>
              <a:off x="2459990" y="5576107"/>
              <a:ext cx="1843777" cy="251882"/>
            </a:xfrm>
            <a:prstGeom prst="rect">
              <a:avLst/>
            </a:prstGeom>
          </p:spPr>
        </p:pic>
        <p:pic>
          <p:nvPicPr>
            <p:cNvPr id="93" name="图片 92"/>
            <p:cNvPicPr>
              <a:picLocks noChangeAspect="1"/>
            </p:cNvPicPr>
            <p:nvPr/>
          </p:nvPicPr>
          <p:blipFill>
            <a:blip r:embed="rId11"/>
            <a:stretch>
              <a:fillRect/>
            </a:stretch>
          </p:blipFill>
          <p:spPr>
            <a:xfrm>
              <a:off x="2411760" y="5925195"/>
              <a:ext cx="1843777" cy="267991"/>
            </a:xfrm>
            <a:prstGeom prst="rect">
              <a:avLst/>
            </a:prstGeom>
          </p:spPr>
        </p:pic>
        <p:pic>
          <p:nvPicPr>
            <p:cNvPr id="94" name="图片 93"/>
            <p:cNvPicPr>
              <a:picLocks noChangeAspect="1"/>
            </p:cNvPicPr>
            <p:nvPr/>
          </p:nvPicPr>
          <p:blipFill>
            <a:blip r:embed="rId10"/>
            <a:stretch>
              <a:fillRect/>
            </a:stretch>
          </p:blipFill>
          <p:spPr>
            <a:xfrm>
              <a:off x="4073736" y="5583853"/>
              <a:ext cx="1843777" cy="251882"/>
            </a:xfrm>
            <a:prstGeom prst="rect">
              <a:avLst/>
            </a:prstGeom>
          </p:spPr>
        </p:pic>
        <p:pic>
          <p:nvPicPr>
            <p:cNvPr id="95" name="图片 94"/>
            <p:cNvPicPr>
              <a:picLocks noChangeAspect="1"/>
            </p:cNvPicPr>
            <p:nvPr/>
          </p:nvPicPr>
          <p:blipFill>
            <a:blip r:embed="rId11"/>
            <a:stretch>
              <a:fillRect/>
            </a:stretch>
          </p:blipFill>
          <p:spPr>
            <a:xfrm>
              <a:off x="4025506" y="5932941"/>
              <a:ext cx="1843777" cy="267991"/>
            </a:xfrm>
            <a:prstGeom prst="rect">
              <a:avLst/>
            </a:prstGeom>
          </p:spPr>
        </p:pic>
        <p:pic>
          <p:nvPicPr>
            <p:cNvPr id="96" name="图片 95"/>
            <p:cNvPicPr>
              <a:picLocks noChangeAspect="1"/>
            </p:cNvPicPr>
            <p:nvPr/>
          </p:nvPicPr>
          <p:blipFill>
            <a:blip r:embed="rId12"/>
            <a:stretch>
              <a:fillRect/>
            </a:stretch>
          </p:blipFill>
          <p:spPr>
            <a:xfrm>
              <a:off x="5681047" y="5587702"/>
              <a:ext cx="1676601" cy="249494"/>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157</a:t>
            </a:fld>
            <a:endParaRPr lang="en-US" altLang="zh-CN"/>
          </a:p>
        </p:txBody>
      </p:sp>
      <p:sp>
        <p:nvSpPr>
          <p:cNvPr id="5"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习题练习</a:t>
            </a:r>
            <a:r>
              <a:rPr lang="en-US" altLang="zh-CN" sz="3600" dirty="0">
                <a:solidFill>
                  <a:schemeClr val="bg1"/>
                </a:solidFill>
              </a:rPr>
              <a:t>-</a:t>
            </a:r>
            <a:r>
              <a:rPr lang="zh-CN" altLang="en-US" sz="3600" dirty="0">
                <a:solidFill>
                  <a:schemeClr val="bg1"/>
                </a:solidFill>
              </a:rPr>
              <a:t>上下文无关文法性质</a:t>
            </a:r>
            <a:endParaRPr lang="en-AU" sz="36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158</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8" name="Text Box 40"/>
          <p:cNvSpPr txBox="1">
            <a:spLocks noChangeArrowheads="1"/>
          </p:cNvSpPr>
          <p:nvPr/>
        </p:nvSpPr>
        <p:spPr bwMode="auto">
          <a:xfrm>
            <a:off x="609600" y="1340769"/>
            <a:ext cx="8229600" cy="461665"/>
          </a:xfrm>
          <a:prstGeom prst="rect">
            <a:avLst/>
          </a:prstGeom>
          <a:noFill/>
          <a:ln w="9525">
            <a:noFill/>
            <a:miter lim="800000"/>
          </a:ln>
        </p:spPr>
        <p:txBody>
          <a:bodyPr wrap="square">
            <a:spAutoFit/>
          </a:bodyPr>
          <a:lstStyle/>
          <a:p>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5" name="图片 14"/>
          <p:cNvPicPr>
            <a:picLocks noChangeAspect="1"/>
          </p:cNvPicPr>
          <p:nvPr/>
        </p:nvPicPr>
        <p:blipFill rotWithShape="1">
          <a:blip r:embed="rId12"/>
          <a:srcRect l="6274" t="-1763" r="25728" b="94691"/>
          <a:stretch>
            <a:fillRect/>
          </a:stretch>
        </p:blipFill>
        <p:spPr>
          <a:xfrm>
            <a:off x="1533524" y="1340768"/>
            <a:ext cx="6493773" cy="461665"/>
          </a:xfrm>
          <a:prstGeom prst="rect">
            <a:avLst/>
          </a:prstGeom>
        </p:spPr>
      </p:pic>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4" y="195263"/>
            <a:ext cx="5534025"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上下文无关文法性质</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31" name="Text Box 40"/>
          <p:cNvSpPr txBox="1">
            <a:spLocks noChangeArrowheads="1"/>
          </p:cNvSpPr>
          <p:nvPr/>
        </p:nvSpPr>
        <p:spPr bwMode="auto">
          <a:xfrm>
            <a:off x="609600" y="914401"/>
            <a:ext cx="8229600" cy="461665"/>
          </a:xfrm>
          <a:prstGeom prst="rect">
            <a:avLst/>
          </a:prstGeom>
          <a:noFill/>
          <a:ln w="9525">
            <a:noFill/>
            <a:miter lim="800000"/>
          </a:ln>
        </p:spPr>
        <p:txBody>
          <a:bodyPr wrap="square">
            <a:spAutoFit/>
          </a:bodyPr>
          <a:lstStyle/>
          <a:p>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2" name="图片 31"/>
          <p:cNvPicPr>
            <a:picLocks noChangeAspect="1"/>
          </p:cNvPicPr>
          <p:nvPr/>
        </p:nvPicPr>
        <p:blipFill rotWithShape="1">
          <a:blip r:embed="rId2"/>
          <a:srcRect l="6274" t="-1763" r="25728" b="94691"/>
          <a:stretch>
            <a:fillRect/>
          </a:stretch>
        </p:blipFill>
        <p:spPr>
          <a:xfrm>
            <a:off x="1533524" y="914400"/>
            <a:ext cx="6493773" cy="461665"/>
          </a:xfrm>
          <a:prstGeom prst="rect">
            <a:avLst/>
          </a:prstGeom>
        </p:spPr>
      </p:pic>
      <p:pic>
        <p:nvPicPr>
          <p:cNvPr id="33" name="图片 32"/>
          <p:cNvPicPr>
            <a:picLocks noChangeAspect="1"/>
          </p:cNvPicPr>
          <p:nvPr/>
        </p:nvPicPr>
        <p:blipFill rotWithShape="1">
          <a:blip r:embed="rId2"/>
          <a:srcRect t="8406"/>
          <a:stretch>
            <a:fillRect/>
          </a:stretch>
        </p:blipFill>
        <p:spPr>
          <a:xfrm>
            <a:off x="424720" y="1433483"/>
            <a:ext cx="8294560" cy="519373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160</a:t>
            </a:fld>
            <a:endParaRPr lang="en-US" altLang="zh-CN"/>
          </a:p>
        </p:txBody>
      </p:sp>
      <p:sp>
        <p:nvSpPr>
          <p:cNvPr id="5" name="Title 1"/>
          <p:cNvSpPr>
            <a:spLocks noGrp="1"/>
          </p:cNvSpPr>
          <p:nvPr>
            <p:ph type="title"/>
          </p:nvPr>
        </p:nvSpPr>
        <p:spPr>
          <a:xfrm>
            <a:off x="685800" y="152400"/>
            <a:ext cx="8229600" cy="393065"/>
          </a:xfrm>
        </p:spPr>
        <p:txBody>
          <a:bodyPr/>
          <a:lstStyle/>
          <a:p>
            <a:pPr algn="r"/>
            <a:r>
              <a:rPr lang="zh-CN" altLang="en-US" sz="3600" dirty="0">
                <a:solidFill>
                  <a:schemeClr val="bg1"/>
                </a:solidFill>
              </a:rPr>
              <a:t>习题练习</a:t>
            </a:r>
            <a:r>
              <a:rPr lang="en-US" altLang="zh-CN" sz="3600" dirty="0">
                <a:solidFill>
                  <a:schemeClr val="bg1"/>
                </a:solidFill>
              </a:rPr>
              <a:t>-</a:t>
            </a:r>
            <a:r>
              <a:rPr lang="zh-CN" altLang="en-US" sz="3600" dirty="0">
                <a:solidFill>
                  <a:schemeClr val="bg1"/>
                </a:solidFill>
              </a:rPr>
              <a:t>图灵机的设计</a:t>
            </a:r>
            <a:endParaRPr lang="en-AU" sz="36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60C455B-B212-44F5-BDE5-4E865130930B}" type="slidenum">
              <a:rPr lang="en-US" altLang="zh-CN" smtClean="0"/>
              <a:t>161</a:t>
            </a:fld>
            <a:endParaRPr lang="en-US" altLang="zh-CN"/>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18" name="Text Box 40"/>
          <p:cNvSpPr txBox="1">
            <a:spLocks noChangeArrowheads="1"/>
          </p:cNvSpPr>
          <p:nvPr/>
        </p:nvSpPr>
        <p:spPr bwMode="auto">
          <a:xfrm>
            <a:off x="609600" y="1340769"/>
            <a:ext cx="8229600" cy="830997"/>
          </a:xfrm>
          <a:prstGeom prst="rect">
            <a:avLst/>
          </a:prstGeom>
          <a:noFill/>
          <a:ln w="9525">
            <a:noFill/>
            <a:miter lim="800000"/>
          </a:ln>
        </p:spPr>
        <p:txBody>
          <a:bodyPr wrap="square">
            <a:spAutoFit/>
          </a:bodyPr>
          <a:lstStyle/>
          <a:p>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：为下列语言设计图灵机：带有相同个数的</a:t>
            </a:r>
            <a:r>
              <a:rPr lang="en-US" altLang="zh-CN"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的串的集合</a:t>
            </a:r>
            <a:endPar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dirty="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6" name="图片 5"/>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5" name="Rectangle 19"/>
          <p:cNvSpPr>
            <a:spLocks noChangeArrowheads="1"/>
          </p:cNvSpPr>
          <p:nvPr/>
        </p:nvSpPr>
        <p:spPr bwMode="auto">
          <a:xfrm>
            <a:off x="1476374" y="195263"/>
            <a:ext cx="5534025" cy="661720"/>
          </a:xfrm>
          <a:prstGeom prst="rect">
            <a:avLst/>
          </a:prstGeom>
          <a:noFill/>
          <a:ln w="9525" algn="ctr">
            <a:noFill/>
            <a:miter lim="800000"/>
          </a:ln>
          <a:effectLst/>
        </p:spPr>
        <p:txBody>
          <a:bodyPr wrap="square">
            <a:spAutoFit/>
          </a:bodyPr>
          <a:lstStyle/>
          <a:p>
            <a:pPr>
              <a:lnSpc>
                <a:spcPct val="90000"/>
              </a:lnSpc>
            </a:pPr>
            <a:r>
              <a:rPr lang="zh-CN" altLang="en-US" sz="4000" i="0" dirty="0">
                <a:ea typeface="华文行楷" panose="02010800040101010101" pitchFamily="2" charset="-122"/>
              </a:rPr>
              <a:t>上下文无关文法性质</a:t>
            </a:r>
          </a:p>
        </p:txBody>
      </p:sp>
      <p:sp>
        <p:nvSpPr>
          <p:cNvPr id="14" name="文本框 13"/>
          <p:cNvSpPr txBox="1"/>
          <p:nvPr/>
        </p:nvSpPr>
        <p:spPr>
          <a:xfrm>
            <a:off x="8604448" y="6471931"/>
            <a:ext cx="539552" cy="400110"/>
          </a:xfrm>
          <a:prstGeom prst="rect">
            <a:avLst/>
          </a:prstGeom>
          <a:noFill/>
        </p:spPr>
        <p:txBody>
          <a:bodyPr wrap="square" rtlCol="0">
            <a:spAutoFit/>
          </a:bodyPr>
          <a:lstStyle/>
          <a:p>
            <a:r>
              <a:rPr kumimoji="1" lang="en-US" altLang="zh-CN" sz="2000" b="0" i="0" dirty="0">
                <a:solidFill>
                  <a:srgbClr val="000066"/>
                </a:solidFill>
              </a:rPr>
              <a:t>42</a:t>
            </a:r>
            <a:endParaRPr kumimoji="1" lang="zh-CN" altLang="en-US" sz="2000" b="0" i="0" dirty="0">
              <a:solidFill>
                <a:srgbClr val="000066"/>
              </a:solidFill>
            </a:endParaRPr>
          </a:p>
        </p:txBody>
      </p:sp>
      <p:sp>
        <p:nvSpPr>
          <p:cNvPr id="7" name="Text Box 40"/>
          <p:cNvSpPr txBox="1">
            <a:spLocks noChangeArrowheads="1"/>
          </p:cNvSpPr>
          <p:nvPr/>
        </p:nvSpPr>
        <p:spPr bwMode="auto">
          <a:xfrm>
            <a:off x="609600" y="1340769"/>
            <a:ext cx="8229600" cy="830997"/>
          </a:xfrm>
          <a:prstGeom prst="rect">
            <a:avLst/>
          </a:prstGeom>
          <a:noFill/>
          <a:ln w="9525">
            <a:noFill/>
            <a:miter lim="800000"/>
          </a:ln>
        </p:spPr>
        <p:txBody>
          <a:bodyPr wrap="square">
            <a:spAutoFit/>
          </a:bodyPr>
          <a:lstStyle/>
          <a:p>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：为下列语言设计图灵机：带有相同个数的</a:t>
            </a:r>
            <a:r>
              <a:rPr lang="en-US" altLang="zh-CN"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0" i="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的串的集合</a:t>
            </a:r>
            <a:endPar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8" name="图片 7"/>
          <p:cNvPicPr>
            <a:picLocks noChangeAspect="1"/>
          </p:cNvPicPr>
          <p:nvPr/>
        </p:nvPicPr>
        <p:blipFill>
          <a:blip r:embed="rId2">
            <a:clrChange>
              <a:clrFrom>
                <a:srgbClr val="FFFFFF"/>
              </a:clrFrom>
              <a:clrTo>
                <a:srgbClr val="FFFFFF">
                  <a:alpha val="0"/>
                </a:srgbClr>
              </a:clrTo>
            </a:clrChange>
          </a:blip>
          <a:stretch>
            <a:fillRect/>
          </a:stretch>
        </p:blipFill>
        <p:spPr>
          <a:xfrm>
            <a:off x="1877296" y="2171766"/>
            <a:ext cx="5694208" cy="40262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60C455B-B212-44F5-BDE5-4E865130930B}" type="slidenum">
              <a:rPr lang="en-US" altLang="zh-CN" smtClean="0"/>
              <a:t>163</a:t>
            </a:fld>
            <a:endParaRPr lang="en-US" altLang="zh-CN"/>
          </a:p>
        </p:txBody>
      </p:sp>
      <p:sp>
        <p:nvSpPr>
          <p:cNvPr id="3" name="Text Box 40"/>
          <p:cNvSpPr txBox="1">
            <a:spLocks noChangeArrowheads="1"/>
          </p:cNvSpPr>
          <p:nvPr/>
        </p:nvSpPr>
        <p:spPr bwMode="auto">
          <a:xfrm>
            <a:off x="457200" y="2514600"/>
            <a:ext cx="8229600" cy="1215717"/>
          </a:xfrm>
          <a:prstGeom prst="rect">
            <a:avLst/>
          </a:prstGeom>
          <a:noFill/>
          <a:ln w="9525">
            <a:noFill/>
            <a:miter lim="800000"/>
          </a:ln>
        </p:spPr>
        <p:txBody>
          <a:bodyPr wrap="square">
            <a:spAutoFit/>
          </a:bodyPr>
          <a:lstStyle/>
          <a:p>
            <a:pPr algn="ctr">
              <a:lnSpc>
                <a:spcPct val="90000"/>
              </a:lnSpc>
            </a:pPr>
            <a:r>
              <a:rPr lang="zh-CN" altLang="en-US" sz="4000" dirty="0">
                <a:solidFill>
                  <a:srgbClr val="FF0000"/>
                </a:solidFill>
                <a:ea typeface="华文行楷" panose="02010800040101010101" pitchFamily="2" charset="-122"/>
              </a:rPr>
              <a:t>谢谢大家</a:t>
            </a:r>
            <a:endParaRPr lang="en-US" altLang="zh-CN" sz="4000" dirty="0">
              <a:solidFill>
                <a:srgbClr val="FF0000"/>
              </a:solidFill>
              <a:ea typeface="华文行楷" panose="02010800040101010101" pitchFamily="2" charset="-122"/>
            </a:endParaRPr>
          </a:p>
          <a:p>
            <a:pPr algn="ctr">
              <a:lnSpc>
                <a:spcPct val="90000"/>
              </a:lnSpc>
            </a:pPr>
            <a:r>
              <a:rPr lang="zh-CN" altLang="en-US" sz="4000" dirty="0">
                <a:solidFill>
                  <a:srgbClr val="FF0000"/>
                </a:solidFill>
                <a:ea typeface="华文行楷" panose="02010800040101010101" pitchFamily="2" charset="-122"/>
              </a:rPr>
              <a:t>祝大家考试顺利</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Tc2ZGZiNzZiNDVlOGViOWVmM2JhOTY0NGJkNjUyYzgifQ=="/>
  <p:tag name="KSO_WPP_MARK_KEY" val="2245fab3-8b5d-43ef-ac76-55ce7ac4eb05"/>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315,&quot;width&quot;:5505}"/>
</p:tagLst>
</file>

<file path=ppt/tags/tag3.xml><?xml version="1.0" encoding="utf-8"?>
<p:tagLst xmlns:a="http://schemas.openxmlformats.org/drawingml/2006/main" xmlns:r="http://schemas.openxmlformats.org/officeDocument/2006/relationships" xmlns:p="http://schemas.openxmlformats.org/presentationml/2006/main">
  <p:tag name="TIMING" val="|20"/>
</p:tagLst>
</file>

<file path=ppt/tags/tag4.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7.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7.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6.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5.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4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5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3.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6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62.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7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71.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8.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7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80.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7.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8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89.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6.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9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98.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0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07.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4.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1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16.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25.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2.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3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3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4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43.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0.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5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52.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9.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6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61.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8.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6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70.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7.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7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79.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6.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8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88.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5.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9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97.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4.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0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06.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1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15.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2.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2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2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3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33.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0.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4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42.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9.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5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51.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8.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5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60.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7.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6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69.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6.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7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78.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5.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8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87.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4.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9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96.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0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05.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2.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1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1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2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23.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0.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3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32.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9.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4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41.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8.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4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50.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7.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5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59.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6.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6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68.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5.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7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77.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4.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8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86.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9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95.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2.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40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0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4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4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TotalTime>
  <Words>9794</Words>
  <Application>Microsoft Office PowerPoint</Application>
  <PresentationFormat>全屏显示(4:3)</PresentationFormat>
  <Paragraphs>1404</Paragraphs>
  <Slides>163</Slides>
  <Notes>20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163</vt:i4>
      </vt:variant>
    </vt:vector>
  </HeadingPairs>
  <TitlesOfParts>
    <vt:vector size="176" baseType="lpstr">
      <vt:lpstr>LMRoman12-Regular-Identity-H</vt:lpstr>
      <vt:lpstr>黑体</vt:lpstr>
      <vt:lpstr>华文行楷</vt:lpstr>
      <vt:lpstr>楷体</vt:lpstr>
      <vt:lpstr>宋体</vt:lpstr>
      <vt:lpstr>微软雅黑</vt:lpstr>
      <vt:lpstr>Arial</vt:lpstr>
      <vt:lpstr>Calibri</vt:lpstr>
      <vt:lpstr>Cambria Math</vt:lpstr>
      <vt:lpstr>Symbol</vt:lpstr>
      <vt:lpstr>Times New Roman</vt:lpstr>
      <vt:lpstr>Wingdings</vt:lpstr>
      <vt:lpstr>Office 主题</vt:lpstr>
      <vt:lpstr>课程总结</vt:lpstr>
      <vt:lpstr>课程内容</vt:lpstr>
      <vt:lpstr>内容大纲</vt:lpstr>
      <vt:lpstr>内容大纲</vt:lpstr>
      <vt:lpstr>乔姆斯基文法系统</vt:lpstr>
      <vt:lpstr>乔姆斯基文法系统</vt:lpstr>
      <vt:lpstr>内容大纲</vt:lpstr>
      <vt:lpstr>形式语言与自动机</vt:lpstr>
      <vt:lpstr>形式语言与自动机</vt:lpstr>
      <vt:lpstr>形式语言与自动机</vt:lpstr>
      <vt:lpstr>形式语言与自动机</vt:lpstr>
      <vt:lpstr>形式语言与自动机</vt:lpstr>
      <vt:lpstr>自动机、正则表达式和文法之间的转换</vt:lpstr>
      <vt:lpstr>自动机、正则表达式和文法之间的转换</vt:lpstr>
      <vt:lpstr>DFA和NFA的比较</vt:lpstr>
      <vt:lpstr>从NFA到DFA：子集构造法</vt:lpstr>
      <vt:lpstr>DFA到正则表达式</vt:lpstr>
      <vt:lpstr>DFA-&gt;正则表达式:递归法</vt:lpstr>
      <vt:lpstr>DFA-&gt;正则表达式:递归法</vt:lpstr>
      <vt:lpstr>PowerPoint 演示文稿</vt:lpstr>
      <vt:lpstr>DFA-&gt;正则表达式:递归法</vt:lpstr>
      <vt:lpstr>DFA-&gt;正则表达式:递归法</vt:lpstr>
      <vt:lpstr>DFA-&gt;正则表达式:递归法</vt:lpstr>
      <vt:lpstr>DFA到正则表达式</vt:lpstr>
      <vt:lpstr>DFA-&gt;正则表达式:状态消除法</vt:lpstr>
      <vt:lpstr>DFA-&gt;正则表达式:状态消除法</vt:lpstr>
      <vt:lpstr>DFA-&gt;正则表达式:状态消除法</vt:lpstr>
      <vt:lpstr>正则表达式-&gt;DFA:递推构造法</vt:lpstr>
      <vt:lpstr>正则表达式-&gt;DFA:递推构造法</vt:lpstr>
      <vt:lpstr>正则表达式-&gt;DFA:递推构造法</vt:lpstr>
      <vt:lpstr>DFA的化简</vt:lpstr>
      <vt:lpstr>DFA的化简</vt:lpstr>
      <vt:lpstr>形式语言与自动机</vt:lpstr>
      <vt:lpstr>文法化简</vt:lpstr>
      <vt:lpstr>由CFG到PDA</vt:lpstr>
      <vt:lpstr>由CFG到PDA</vt:lpstr>
      <vt:lpstr>由PDA到CFG</vt:lpstr>
      <vt:lpstr>由PDA到CFG</vt:lpstr>
      <vt:lpstr>由PDA到CFG</vt:lpstr>
      <vt:lpstr>形式语言与自动机</vt:lpstr>
      <vt:lpstr>图灵机简介与定义</vt:lpstr>
      <vt:lpstr>图灵机的形式化定义</vt:lpstr>
      <vt:lpstr>图灵机的动作及状态转移图</vt:lpstr>
      <vt:lpstr>几个重要的问题</vt:lpstr>
      <vt:lpstr>习题练习-确定有限自动机的设计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习题练习-非确定有限自动机的设计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习题练习-正则表达式的设计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习题练习-上下文无关文法的设计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习题练习-下推自动机的设计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习题练习-上下文无关文法性质</vt:lpstr>
      <vt:lpstr>PowerPoint 演示文稿</vt:lpstr>
      <vt:lpstr>PowerPoint 演示文稿</vt:lpstr>
      <vt:lpstr>习题练习-图灵机的设计</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人工神经网络  Artificial Neural Networks</dc:title>
  <dc:creator>jiangzl</dc:creator>
  <cp:lastModifiedBy>buzhou tang</cp:lastModifiedBy>
  <cp:revision>1130</cp:revision>
  <dcterms:created xsi:type="dcterms:W3CDTF">2003-03-23T06:01:00Z</dcterms:created>
  <dcterms:modified xsi:type="dcterms:W3CDTF">2024-04-23T14:29:02Z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8C260F7BD5514DF6A15EAB866AEB3C44</vt:lpwstr>
  </property>
  <property fmtid="{D5CDD505-2E9C-101B-9397-08002B2CF9AE}" pid="3" name="KSOProductBuildVer">
    <vt:lpwstr>2052-11.1.0.14036</vt:lpwstr>
  </property>
</Properties>
</file>