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heme/themeOverride1.xml" ContentType="application/vnd.openxmlformats-officedocument.themeOverr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tags/tag172.xml" ContentType="application/vnd.openxmlformats-officedocument.presentationml.tags+xml"/>
  <Override PartName="/ppt/notesSlides/notesSlide75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80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76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810.xml" ContentType="application/vnd.openxmlformats-officedocument.presentationml.tags+xml"/>
  <Override PartName="/ppt/tags/tag210.xml" ContentType="application/vnd.openxmlformats-officedocument.presentationml.tags+xml"/>
  <Override PartName="/ppt/tags/tag350.xml" ContentType="application/vnd.openxmlformats-officedocument.presentationml.tags+xml"/>
  <Override PartName="/ppt/tags/tag500.xml" ContentType="application/vnd.openxmlformats-officedocument.presentationml.tags+xml"/>
  <Override PartName="/ppt/tags/tag780.xml" ContentType="application/vnd.openxmlformats-officedocument.presentationml.tags+xml"/>
  <Override PartName="/ppt/tags/tag930.xml" ContentType="application/vnd.openxmlformats-officedocument.presentationml.tags+xml"/>
  <Override PartName="/ppt/tags/tag1480.xml" ContentType="application/vnd.openxmlformats-officedocument.presentationml.tags+xml"/>
  <Override PartName="/ppt/tags/tag176.xml" ContentType="application/vnd.openxmlformats-officedocument.presentationml.tags+xml"/>
  <Override PartName="/ppt/tags/tag179.xml" ContentType="application/vnd.openxmlformats-officedocument.presentationml.tags+xml"/>
  <Override PartName="/ppt/tags/tag181.xml" ContentType="application/vnd.openxmlformats-officedocument.presentationml.tags+xml"/>
  <Override PartName="/ppt/tags/tag1830.xml" ContentType="application/vnd.openxmlformats-officedocument.presentationml.tags+xml"/>
  <Override PartName="/ppt/tags/tag1930.xml" ContentType="application/vnd.openxmlformats-officedocument.presentationml.tags+xml"/>
  <Override PartName="/ppt/tags/tag20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3"/>
  </p:notesMasterIdLst>
  <p:sldIdLst>
    <p:sldId id="1497" r:id="rId2"/>
    <p:sldId id="1498" r:id="rId3"/>
    <p:sldId id="1499" r:id="rId4"/>
    <p:sldId id="1385" r:id="rId5"/>
    <p:sldId id="1386" r:id="rId6"/>
    <p:sldId id="1403" r:id="rId7"/>
    <p:sldId id="1506" r:id="rId8"/>
    <p:sldId id="1281" r:id="rId9"/>
    <p:sldId id="1364" r:id="rId10"/>
    <p:sldId id="1512" r:id="rId11"/>
    <p:sldId id="1513" r:id="rId12"/>
    <p:sldId id="1500" r:id="rId13"/>
    <p:sldId id="1507" r:id="rId14"/>
    <p:sldId id="1337" r:id="rId15"/>
    <p:sldId id="1521" r:id="rId16"/>
    <p:sldId id="1522" r:id="rId17"/>
    <p:sldId id="1508" r:id="rId18"/>
    <p:sldId id="1520" r:id="rId19"/>
    <p:sldId id="1326" r:id="rId20"/>
    <p:sldId id="1342" r:id="rId21"/>
    <p:sldId id="1338" r:id="rId22"/>
    <p:sldId id="1339" r:id="rId23"/>
    <p:sldId id="1328" r:id="rId24"/>
    <p:sldId id="1343" r:id="rId25"/>
    <p:sldId id="1329" r:id="rId26"/>
    <p:sldId id="1334" r:id="rId27"/>
    <p:sldId id="1287" r:id="rId28"/>
    <p:sldId id="1330" r:id="rId29"/>
    <p:sldId id="1331" r:id="rId30"/>
    <p:sldId id="1333" r:id="rId31"/>
    <p:sldId id="1344" r:id="rId32"/>
    <p:sldId id="1346" r:id="rId33"/>
    <p:sldId id="1345" r:id="rId34"/>
    <p:sldId id="1289" r:id="rId35"/>
    <p:sldId id="1523" r:id="rId36"/>
    <p:sldId id="1509" r:id="rId37"/>
    <p:sldId id="1290" r:id="rId38"/>
    <p:sldId id="1291" r:id="rId39"/>
    <p:sldId id="1293" r:id="rId40"/>
    <p:sldId id="1294" r:id="rId41"/>
    <p:sldId id="1524" r:id="rId42"/>
    <p:sldId id="1511" r:id="rId43"/>
    <p:sldId id="1510" r:id="rId44"/>
    <p:sldId id="1404" r:id="rId45"/>
    <p:sldId id="1295" r:id="rId46"/>
    <p:sldId id="1296" r:id="rId47"/>
    <p:sldId id="1348" r:id="rId48"/>
    <p:sldId id="1496" r:id="rId49"/>
    <p:sldId id="1634" r:id="rId50"/>
    <p:sldId id="1297" r:id="rId51"/>
    <p:sldId id="1526" r:id="rId52"/>
    <p:sldId id="1527" r:id="rId53"/>
    <p:sldId id="1515" r:id="rId54"/>
    <p:sldId id="1525" r:id="rId55"/>
    <p:sldId id="1528" r:id="rId56"/>
    <p:sldId id="1298" r:id="rId57"/>
    <p:sldId id="1636" r:id="rId58"/>
    <p:sldId id="1637" r:id="rId59"/>
    <p:sldId id="1635" r:id="rId60"/>
    <p:sldId id="1640" r:id="rId61"/>
    <p:sldId id="1490" r:id="rId62"/>
    <p:sldId id="1491" r:id="rId63"/>
    <p:sldId id="1492" r:id="rId64"/>
    <p:sldId id="1493" r:id="rId65"/>
    <p:sldId id="1495" r:id="rId66"/>
    <p:sldId id="1494" r:id="rId67"/>
    <p:sldId id="1529" r:id="rId68"/>
    <p:sldId id="1366" r:id="rId69"/>
    <p:sldId id="1304" r:id="rId70"/>
    <p:sldId id="1306" r:id="rId71"/>
    <p:sldId id="1307" r:id="rId72"/>
    <p:sldId id="1516" r:id="rId73"/>
    <p:sldId id="1517" r:id="rId74"/>
    <p:sldId id="1534" r:id="rId75"/>
    <p:sldId id="1542" r:id="rId76"/>
    <p:sldId id="1533" r:id="rId77"/>
    <p:sldId id="1308" r:id="rId78"/>
    <p:sldId id="1518" r:id="rId79"/>
    <p:sldId id="1638" r:id="rId80"/>
    <p:sldId id="1519" r:id="rId81"/>
    <p:sldId id="1538" r:id="rId82"/>
    <p:sldId id="1309" r:id="rId83"/>
    <p:sldId id="1310" r:id="rId84"/>
    <p:sldId id="1312" r:id="rId85"/>
    <p:sldId id="1354" r:id="rId86"/>
    <p:sldId id="1536" r:id="rId87"/>
    <p:sldId id="1313" r:id="rId88"/>
    <p:sldId id="1314" r:id="rId89"/>
    <p:sldId id="1408" r:id="rId90"/>
    <p:sldId id="1539" r:id="rId91"/>
    <p:sldId id="1315" r:id="rId92"/>
    <p:sldId id="1411" r:id="rId93"/>
    <p:sldId id="1317" r:id="rId94"/>
    <p:sldId id="1639" r:id="rId95"/>
    <p:sldId id="1357" r:id="rId96"/>
    <p:sldId id="1318" r:id="rId97"/>
    <p:sldId id="1537" r:id="rId98"/>
    <p:sldId id="1322" r:id="rId99"/>
    <p:sldId id="1358" r:id="rId100"/>
    <p:sldId id="1321" r:id="rId101"/>
    <p:sldId id="1320" r:id="rId102"/>
    <p:sldId id="1359" r:id="rId103"/>
    <p:sldId id="1541" r:id="rId104"/>
    <p:sldId id="1540" r:id="rId105"/>
    <p:sldId id="1641" r:id="rId106"/>
    <p:sldId id="1299" r:id="rId107"/>
    <p:sldId id="1367" r:id="rId108"/>
    <p:sldId id="1377" r:id="rId109"/>
    <p:sldId id="1379" r:id="rId110"/>
    <p:sldId id="1406" r:id="rId111"/>
    <p:sldId id="1407" r:id="rId112"/>
    <p:sldId id="1369" r:id="rId113"/>
    <p:sldId id="1381" r:id="rId114"/>
    <p:sldId id="1717" r:id="rId115"/>
    <p:sldId id="1718" r:id="rId116"/>
    <p:sldId id="1387" r:id="rId117"/>
    <p:sldId id="1388" r:id="rId118"/>
    <p:sldId id="1389" r:id="rId119"/>
    <p:sldId id="1392" r:id="rId120"/>
    <p:sldId id="1530" r:id="rId121"/>
    <p:sldId id="1531" r:id="rId122"/>
    <p:sldId id="1391" r:id="rId123"/>
    <p:sldId id="1395" r:id="rId124"/>
    <p:sldId id="1393" r:id="rId125"/>
    <p:sldId id="1402" r:id="rId126"/>
    <p:sldId id="1532" r:id="rId127"/>
    <p:sldId id="1394" r:id="rId128"/>
    <p:sldId id="1399" r:id="rId129"/>
    <p:sldId id="1719" r:id="rId130"/>
    <p:sldId id="1401" r:id="rId131"/>
    <p:sldId id="1503" r:id="rId132"/>
  </p:sldIdLst>
  <p:sldSz cx="9144000" cy="6858000" type="screen4x3"/>
  <p:notesSz cx="6858000" cy="9144000"/>
  <p:custDataLst>
    <p:tags r:id="rId1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FF0000"/>
    <a:srgbClr val="3333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4" autoAdjust="0"/>
    <p:restoredTop sz="88701" autoAdjust="0"/>
  </p:normalViewPr>
  <p:slideViewPr>
    <p:cSldViewPr showGuides="1">
      <p:cViewPr varScale="1">
        <p:scale>
          <a:sx n="67" d="100"/>
          <a:sy n="67" d="100"/>
        </p:scale>
        <p:origin x="1698" y="48"/>
      </p:cViewPr>
      <p:guideLst>
        <p:guide orient="horz" pos="21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50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gs" Target="tags/tag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D0B409A-9510-4679-9C86-74CCD54373D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从这个图中找出从初始状态到目标状态的一条有向路，就是这个问题的一个解。</a:t>
            </a:r>
            <a:endParaRPr lang="en-US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E4B673B-8262-4C9D-A51A-3F5C79901365}" type="slidenum">
              <a:rPr kumimoji="0" lang="en-US" altLang="zh-CN" smtClean="0"/>
              <a:t>7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有穷状态系统在日常生活中有着广泛的应用。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而我们这里学习的有穷自动机是作为语言的一种识别装置。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有穷自动机可以抽象为这样的一个装置。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输入带划分为单元格，每个格子可以放置一个字符，那么整条输入带可以表示一个字符串。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读头可以从左到右扫描输入带，将每次的字符传输给控制器。控制器根据读入的字符和当前的状态，进行状态转移。然后控制读头进行下一个字符的读取。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有穷自动机可以抽象为这样的一个装置。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输入带划分为单元格，每个格子可以放置一个字符，那么整条输入带可以表示一个字符串。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读头可以从左到右扫描输入带，将每次的字符传输给控制器。控制器根据读入的字符和当前的状态，进行状态转移。然后控制读头进行下一个字符的读取。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有穷自动机可以抽象为这样的一个装置。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输入带划分为单元格，每个格子可以放置一个字符，那么整条输入带可以表示一个字符串。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读头可以从左到右扫描输入带，将每次的字符传输给控制器。控制器根据读入的字符和当前的状态，进行状态转移。然后控制读头进行下一个字符的读取。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39D5CB6-AA69-4338-8D93-527A597B0857}" type="slidenum">
              <a:rPr kumimoji="0" lang="en-US" altLang="zh-CN" smtClean="0"/>
              <a:t>13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AU" dirty="0"/>
                  <a:t>: sigma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delta</a:t>
                </a:r>
              </a:p>
              <a:p>
                <a:endParaRPr lang="en-US" dirty="0"/>
              </a:p>
              <a:p>
                <a:r>
                  <a:rPr lang="zh-CN" altLang="en-US" dirty="0"/>
                  <a:t>接受状态集是一个集合。读入一个符号串，只要最后</a:t>
                </a:r>
                <a:r>
                  <a:rPr lang="en-AU" altLang="zh-CN" dirty="0"/>
                  <a:t>DFA</a:t>
                </a:r>
                <a:r>
                  <a:rPr lang="zh-CN" altLang="en-US" dirty="0"/>
                  <a:t>所处的状态是属于接受状态集，那么该串就 是被接受的。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EE8AD09-9859-4A81-81EC-47E99165B500}" type="slidenum">
              <a:rPr kumimoji="0" lang="en-US" altLang="zh-CN" smtClean="0"/>
              <a:t>17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EE8AD09-9859-4A81-81EC-47E99165B500}" type="slidenum">
              <a:rPr kumimoji="0" lang="en-US" altLang="zh-CN" smtClean="0"/>
              <a:t>18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前面我们讲了用五元组去表示</a:t>
            </a:r>
            <a:r>
              <a:rPr lang="en-US" altLang="zh-CN" dirty="0"/>
              <a:t>DFA</a:t>
            </a:r>
            <a:r>
              <a:rPr lang="zh-CN" altLang="en-US" dirty="0"/>
              <a:t>。这种方式不太直观，下面我们介绍两种直观的</a:t>
            </a:r>
            <a:r>
              <a:rPr lang="en-US" altLang="zh-CN" dirty="0"/>
              <a:t>DFA</a:t>
            </a:r>
            <a:r>
              <a:rPr lang="zh-CN" altLang="en-US" dirty="0"/>
              <a:t>表示方式。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首先我们来看一下状态转移图。这里我们先给出表示包含</a:t>
            </a:r>
            <a:r>
              <a:rPr lang="en-US" altLang="zh-CN" dirty="0"/>
              <a:t>01</a:t>
            </a:r>
            <a:r>
              <a:rPr lang="zh-CN" altLang="en-US" dirty="0"/>
              <a:t>子串的字符串集合对应的状态转移图。在这个状态转移图里面，每个状态对应一个节点，用圆圈表示。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用一条从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且标记为输入字符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的有向边表示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开始状态节点用一个标有</a:t>
            </a:r>
            <a:r>
              <a:rPr lang="en-US" altLang="zh-CN" dirty="0"/>
              <a:t>start</a:t>
            </a:r>
            <a:r>
              <a:rPr lang="zh-CN" altLang="en-US" dirty="0"/>
              <a:t>的箭头标识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接受状态节点用双圆圈表示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另一种直观的表示方法是状态转移表，用一个二维表格来描述</a:t>
            </a:r>
            <a:r>
              <a:rPr lang="en-US" altLang="zh-CN" dirty="0"/>
              <a:t>DFA</a:t>
            </a:r>
            <a:r>
              <a:rPr lang="zh-CN" altLang="en-US" dirty="0"/>
              <a:t>的五元组。每个状态对应一行，每个字符对应一列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，用第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行第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列中填入的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表示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开始状态用在其前面标记箭头的方式标识，接受状态用在其前面标记星号的方式标识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介绍完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的定义和多种表示方法，我们回到我们这门课的核心问题，设计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，使其接受且仅接受给定的语言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我们来看一个例子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作出接受偶数个</a:t>
            </a:r>
            <a:r>
              <a:rPr lang="en-AU" altLang="zh-CN" dirty="0"/>
              <a:t>0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和接受偶数个</a:t>
            </a:r>
            <a:r>
              <a:rPr lang="en-AU" altLang="zh-CN" dirty="0"/>
              <a:t>1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，然后做它们的笛卡尔积。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每个单独的</a:t>
            </a:r>
            <a:r>
              <a:rPr lang="en-AU" altLang="zh-CN" dirty="0"/>
              <a:t>DFA</a:t>
            </a:r>
            <a:r>
              <a:rPr lang="zh-CN" altLang="en-US" dirty="0"/>
              <a:t>有两个状态，它们的笛卡尔积有四个状态，因此统一起来的</a:t>
            </a:r>
            <a:r>
              <a:rPr lang="en-AU" altLang="zh-CN" dirty="0"/>
              <a:t>DFA</a:t>
            </a:r>
            <a:r>
              <a:rPr lang="zh-CN" altLang="en-US" dirty="0"/>
              <a:t>有四个状态，每个状态表示两个</a:t>
            </a:r>
            <a:r>
              <a:rPr lang="en-AU" altLang="zh-CN" dirty="0"/>
              <a:t>DFA</a:t>
            </a:r>
            <a:r>
              <a:rPr lang="zh-CN" altLang="en-US" dirty="0"/>
              <a:t>的两两状态组合。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作出接受偶数个</a:t>
            </a:r>
            <a:r>
              <a:rPr lang="en-AU" altLang="zh-CN" dirty="0"/>
              <a:t>0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和接受偶数个</a:t>
            </a:r>
            <a:r>
              <a:rPr lang="en-AU" altLang="zh-CN" dirty="0"/>
              <a:t>1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，然后做它们的笛卡尔积。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每个单独的</a:t>
            </a:r>
            <a:r>
              <a:rPr lang="en-AU" altLang="zh-CN" dirty="0"/>
              <a:t>DFA</a:t>
            </a:r>
            <a:r>
              <a:rPr lang="zh-CN" altLang="en-US" dirty="0"/>
              <a:t>有两个状态，它们的笛卡尔积有四个状态，因此统一起来的</a:t>
            </a:r>
            <a:r>
              <a:rPr lang="en-AU" altLang="zh-CN" dirty="0"/>
              <a:t>DFA</a:t>
            </a:r>
            <a:r>
              <a:rPr lang="zh-CN" altLang="en-US" dirty="0"/>
              <a:t>有四个状态，每个状态表示两个</a:t>
            </a:r>
            <a:r>
              <a:rPr lang="en-AU" altLang="zh-CN" dirty="0"/>
              <a:t>DFA</a:t>
            </a:r>
            <a:r>
              <a:rPr lang="zh-CN" altLang="en-US" dirty="0"/>
              <a:t>的两两状态组合。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作出接受偶数个</a:t>
            </a:r>
            <a:r>
              <a:rPr lang="en-AU" altLang="zh-CN" dirty="0"/>
              <a:t>0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和接受偶数个</a:t>
            </a:r>
            <a:r>
              <a:rPr lang="en-AU" altLang="zh-CN" dirty="0"/>
              <a:t>1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，然后做它们的笛卡尔积。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每个单独的</a:t>
            </a:r>
            <a:r>
              <a:rPr lang="en-AU" altLang="zh-CN" dirty="0"/>
              <a:t>DFA</a:t>
            </a:r>
            <a:r>
              <a:rPr lang="zh-CN" altLang="en-US" dirty="0"/>
              <a:t>有两个状态，它们的笛卡尔积有四个状态，因此统一起来的</a:t>
            </a:r>
            <a:r>
              <a:rPr lang="en-AU" altLang="zh-CN" dirty="0"/>
              <a:t>DFA</a:t>
            </a:r>
            <a:r>
              <a:rPr lang="zh-CN" altLang="en-US" dirty="0"/>
              <a:t>有四个状态，每个状态表示两个</a:t>
            </a:r>
            <a:r>
              <a:rPr lang="en-AU" altLang="zh-CN" dirty="0"/>
              <a:t>DFA</a:t>
            </a:r>
            <a:r>
              <a:rPr lang="zh-CN" altLang="en-US" dirty="0"/>
              <a:t>的两两状态组合。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DFA</a:t>
            </a:r>
            <a:r>
              <a:rPr lang="zh-CN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实际读入的是一个字符串，而状态转移函数处理的是一个字符，为了理论分析的时候更加便于处理字符串，我们希望</a:t>
            </a:r>
            <a:r>
              <a:rPr lang="en-AU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delta</a:t>
            </a:r>
            <a:r>
              <a:rPr lang="zh-CN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能直接处理字符串，因此我们定义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了</a:t>
            </a:r>
            <a:r>
              <a:rPr lang="zh-CN" sz="1800" b="0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扩展转移函数。</a:t>
            </a:r>
            <a:endParaRPr lang="en-AU" sz="1800" b="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DFA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实际读入的是一个字符串，而状态转移函数处理的是一个字符，为了理论分析的时候更加便于处理字符串，我们希望</a:t>
            </a: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delta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能直接处理字符串，因此我们定义扩展转移函数。</a:t>
            </a: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DFA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实际读入的是一个字符串，而状态转移函数处理的是一个字符，为了理论分析的时候更加便于处理字符串，我们希望</a:t>
            </a: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delta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能直接处理字符串，因此我们定义扩展转移函数。</a:t>
            </a: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DFA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实际读入的是一个字符串，而状态转移函数处理的是一个字符，为了理论分析的时候更加便于处理字符串，我们希望</a:t>
            </a:r>
            <a:r>
              <a:rPr lang="en-AU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delta</a:t>
            </a: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能直接处理字符串，因此我们定义扩展转移函数。</a:t>
            </a: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先对其进行展开，直到没有</a:t>
            </a:r>
            <a:r>
              <a:rPr lang="en-AU" altLang="zh-CN" dirty="0"/>
              <a:t>del</a:t>
            </a:r>
            <a:r>
              <a:rPr lang="en-US" altLang="en-AU" dirty="0"/>
              <a:t>ta</a:t>
            </a:r>
            <a:r>
              <a:rPr lang="en-AU" altLang="zh-CN" dirty="0"/>
              <a:t>-hat</a:t>
            </a:r>
            <a:r>
              <a:rPr lang="zh-CN" altLang="en-US" dirty="0"/>
              <a:t>的形式。然后利用</a:t>
            </a:r>
            <a:r>
              <a:rPr lang="en-AU" altLang="zh-CN" dirty="0"/>
              <a:t>delta</a:t>
            </a:r>
            <a:r>
              <a:rPr lang="zh-CN" altLang="en-US" dirty="0"/>
              <a:t>，进行一个一个字符的状态转移。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先对其进行展开，直到没有</a:t>
            </a:r>
            <a:r>
              <a:rPr lang="en-AU" altLang="zh-CN" dirty="0"/>
              <a:t>del</a:t>
            </a:r>
            <a:r>
              <a:rPr lang="en-US" altLang="zh-CN" dirty="0"/>
              <a:t>ta</a:t>
            </a:r>
            <a:r>
              <a:rPr lang="en-AU" altLang="zh-CN" dirty="0"/>
              <a:t>-hat</a:t>
            </a:r>
            <a:r>
              <a:rPr lang="zh-CN" altLang="en-US" dirty="0"/>
              <a:t>的形式。然后利用</a:t>
            </a:r>
            <a:r>
              <a:rPr lang="en-AU" altLang="zh-CN" dirty="0"/>
              <a:t>delta</a:t>
            </a:r>
            <a:r>
              <a:rPr lang="zh-CN" altLang="en-US" dirty="0"/>
              <a:t>，进行一个一个字符的状态转移。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通过扩展状态转移函数，我们可以定义</a:t>
            </a:r>
            <a:r>
              <a:rPr lang="en-AU" altLang="zh-CN" dirty="0"/>
              <a:t>DFA</a:t>
            </a:r>
            <a:r>
              <a:rPr lang="zh-CN" altLang="en-US" dirty="0"/>
              <a:t>接受的语言。</a:t>
            </a:r>
            <a:endParaRPr lang="en-AU" altLang="zh-CN" dirty="0"/>
          </a:p>
          <a:p>
            <a:r>
              <a:rPr lang="zh-CN" altLang="en-US" dirty="0"/>
              <a:t>也就是，</a:t>
            </a:r>
            <a:r>
              <a:rPr lang="en-AU" altLang="zh-CN" dirty="0"/>
              <a:t>DFA</a:t>
            </a:r>
            <a:r>
              <a:rPr lang="zh-CN" altLang="en-US" dirty="0"/>
              <a:t>的语言是所有可以被</a:t>
            </a:r>
            <a:r>
              <a:rPr lang="en-AU" altLang="zh-CN" dirty="0"/>
              <a:t>DFA</a:t>
            </a:r>
            <a:r>
              <a:rPr lang="zh-CN" altLang="en-US" dirty="0"/>
              <a:t>所接受的字符串的集合。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邱奇论题是一个关于可计算性理论的假设。该假设论述了关于函数特性的，可有效计算的函数值（用更现代的表述来说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在算法上可计算的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。简单来说，邱奇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图灵论题认为“任何在算法上可计算的问题同样可由图灵机计算”。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百度百科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接下来我们学习有穷自动机的另外一种变形，非确定有穷自动机。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在学习非确定有穷自动机的概念之前，我们先通过一个例子，来理解什么是有穷自动机的非确定性。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这个例子的</a:t>
            </a:r>
            <a:r>
              <a:rPr lang="en-AU" altLang="zh-CN" dirty="0"/>
              <a:t>DFA</a:t>
            </a:r>
            <a:r>
              <a:rPr lang="zh-CN" altLang="en-US" dirty="0"/>
              <a:t>是这样的，有三个状态，</a:t>
            </a:r>
            <a:r>
              <a:rPr lang="en-AU" altLang="zh-CN" dirty="0"/>
              <a:t>q0, q1,</a:t>
            </a:r>
            <a:r>
              <a:rPr lang="zh-CN" altLang="en-US" dirty="0"/>
              <a:t>和</a:t>
            </a:r>
            <a:r>
              <a:rPr lang="en-AU" altLang="zh-CN" dirty="0"/>
              <a:t>q2</a:t>
            </a:r>
            <a:r>
              <a:rPr lang="zh-CN" altLang="en-US" dirty="0"/>
              <a:t>，从</a:t>
            </a:r>
            <a:r>
              <a:rPr lang="en-AU" altLang="zh-CN" dirty="0"/>
              <a:t>q0</a:t>
            </a:r>
            <a:r>
              <a:rPr lang="zh-CN" altLang="en-US" dirty="0"/>
              <a:t>开始，根据输入的符号进行转移。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下面我们为这个有穷自动机增加非确定的能力，使得它设计起来更加方便。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回到我们刚才给的那个例子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2</a:t>
            </a:r>
            <a:r>
              <a:rPr lang="en-US" dirty="0"/>
              <a:t>^Q</a:t>
            </a:r>
            <a:r>
              <a:rPr lang="zh-CN" altLang="en-US" dirty="0"/>
              <a:t>表示幂集，也就是状态集</a:t>
            </a:r>
            <a:r>
              <a:rPr lang="en-AU" altLang="zh-CN" dirty="0"/>
              <a:t>Q</a:t>
            </a:r>
            <a:r>
              <a:rPr lang="zh-CN" altLang="en-US" dirty="0"/>
              <a:t>的子集。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下一步跳转的时候，每个状态都要作为当前状态进行跳转。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w</a:t>
            </a:r>
            <a:r>
              <a:rPr lang="zh-CN" altLang="en-US" dirty="0"/>
              <a:t>为空串的时候，还是状态</a:t>
            </a:r>
            <a:r>
              <a:rPr lang="en-AU" altLang="zh-CN" dirty="0"/>
              <a:t>q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当</a:t>
            </a:r>
            <a:r>
              <a:rPr lang="en-AU" altLang="zh-CN" dirty="0"/>
              <a:t>w</a:t>
            </a:r>
            <a:r>
              <a:rPr lang="zh-CN" altLang="en-US" dirty="0"/>
              <a:t>不为空串的时候，分为前面字符串和最后一个字符看待。这样，先输入前面的字符串的时候，可以到达多个状态，</a:t>
            </a:r>
            <a:r>
              <a:rPr lang="en-AU" altLang="zh-CN" dirty="0"/>
              <a:t>delta-hat(x)</a:t>
            </a:r>
            <a:r>
              <a:rPr lang="zh-CN" altLang="en-US" dirty="0"/>
              <a:t>。我们对每个状态应用状态转移函数，然后把状态求并集即可。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我们首先回顾一下，</a:t>
            </a:r>
            <a:r>
              <a:rPr lang="en-US" altLang="zh-CN" dirty="0"/>
              <a:t>DFA</a:t>
            </a:r>
            <a:r>
              <a:rPr lang="zh-CN" altLang="en-US" dirty="0"/>
              <a:t>接受的语言是所有使得开始状态能够转移到终止状态的字符串集合</a:t>
            </a:r>
            <a:endParaRPr lang="en-US" altLang="zh-CN" dirty="0"/>
          </a:p>
          <a:p>
            <a:r>
              <a:rPr lang="zh-CN" altLang="en-US" dirty="0"/>
              <a:t>类似地，</a:t>
            </a:r>
            <a:r>
              <a:rPr lang="en-US" altLang="zh-CN" dirty="0"/>
              <a:t>NFA</a:t>
            </a:r>
            <a:r>
              <a:rPr lang="zh-CN" altLang="en-US" dirty="0"/>
              <a:t>接受的语言是所有使得开始状态能够转移到终止状态的字符串集合，考虑到处理完一个字符串能到达多个状态，所以，只需要最后所处的多个状态里面包含终止状态即可。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接下来我们给出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AU" altLang="zh-CN" dirty="0"/>
              <a:t>NFA</a:t>
            </a:r>
            <a:r>
              <a:rPr lang="zh-CN" altLang="en-US" dirty="0"/>
              <a:t>的等价性证明。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那么大家想，一个</a:t>
            </a:r>
            <a:r>
              <a:rPr lang="en-AU" altLang="zh-CN" dirty="0"/>
              <a:t>DFA</a:t>
            </a:r>
            <a:r>
              <a:rPr lang="zh-CN" altLang="en-US" dirty="0"/>
              <a:t>，显然，肯定能被一个</a:t>
            </a:r>
            <a:r>
              <a:rPr lang="en-AU" altLang="zh-CN" dirty="0"/>
              <a:t>NFA</a:t>
            </a:r>
            <a:r>
              <a:rPr lang="zh-CN" altLang="en-US" dirty="0"/>
              <a:t>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一个</a:t>
            </a:r>
            <a:r>
              <a:rPr lang="en-AU" altLang="zh-CN" dirty="0"/>
              <a:t>DFA</a:t>
            </a:r>
            <a:r>
              <a:rPr lang="zh-CN" altLang="en-US" dirty="0"/>
              <a:t>识别的语言，可以由一个</a:t>
            </a:r>
            <a:r>
              <a:rPr lang="en-AU" altLang="zh-CN" dirty="0"/>
              <a:t>NFA</a:t>
            </a:r>
            <a:r>
              <a:rPr lang="zh-CN" altLang="en-US" dirty="0"/>
              <a:t>识别。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但是，如果一个</a:t>
            </a:r>
            <a:r>
              <a:rPr lang="en-AU" altLang="zh-CN" dirty="0"/>
              <a:t>NFA</a:t>
            </a:r>
            <a:r>
              <a:rPr lang="zh-CN" altLang="en-US" dirty="0"/>
              <a:t>所能识别的语言，是否能被一个</a:t>
            </a:r>
            <a:r>
              <a:rPr lang="en-AU" altLang="zh-CN" dirty="0"/>
              <a:t>DFA</a:t>
            </a:r>
            <a:r>
              <a:rPr lang="zh-CN" altLang="en-US" dirty="0"/>
              <a:t>识别。我们由如下定理：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也就是，通过</a:t>
            </a:r>
            <a:r>
              <a:rPr lang="en-AU" altLang="zh-CN" dirty="0"/>
              <a:t>NFA</a:t>
            </a:r>
            <a:r>
              <a:rPr lang="zh-CN" altLang="en-US" dirty="0"/>
              <a:t>五元组的形式，来构造一个</a:t>
            </a:r>
            <a:r>
              <a:rPr lang="en-AU" altLang="zh-CN" dirty="0"/>
              <a:t>DFA</a:t>
            </a:r>
            <a:r>
              <a:rPr lang="zh-CN" altLang="en-US" dirty="0"/>
              <a:t>的五元组，最后证明它们是等价的。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这里我们使用子集构造法。</a:t>
            </a:r>
            <a:r>
              <a:rPr lang="en-AU" altLang="zh-CN" dirty="0"/>
              <a:t>DFA</a:t>
            </a:r>
            <a:r>
              <a:rPr lang="zh-CN" altLang="en-US" dirty="0"/>
              <a:t>的初始状态为</a:t>
            </a:r>
            <a:r>
              <a:rPr lang="en-AU" altLang="zh-CN" dirty="0"/>
              <a:t>{q0},q0</a:t>
            </a:r>
            <a:r>
              <a:rPr lang="zh-CN" altLang="en-US" dirty="0"/>
              <a:t>的集合。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QD</a:t>
            </a:r>
            <a:r>
              <a:rPr lang="zh-CN" altLang="en-US" dirty="0"/>
              <a:t>也就是</a:t>
            </a:r>
            <a:r>
              <a:rPr lang="en-AU" altLang="zh-CN" dirty="0"/>
              <a:t>QN</a:t>
            </a:r>
            <a:r>
              <a:rPr lang="zh-CN" altLang="en-US" dirty="0"/>
              <a:t>的幂集，也就是</a:t>
            </a:r>
            <a:r>
              <a:rPr lang="en-AU" altLang="zh-CN" dirty="0"/>
              <a:t>QN</a:t>
            </a:r>
            <a:r>
              <a:rPr lang="zh-CN" altLang="en-US" dirty="0"/>
              <a:t>的子集。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DFA</a:t>
            </a:r>
            <a:r>
              <a:rPr lang="zh-CN" altLang="en-US" dirty="0"/>
              <a:t>的状态集为</a:t>
            </a:r>
            <a:r>
              <a:rPr lang="en-AU" altLang="zh-CN" dirty="0"/>
              <a:t>NFA</a:t>
            </a:r>
            <a:r>
              <a:rPr lang="zh-CN" altLang="en-US" dirty="0"/>
              <a:t>的状态集的所有子集。</a:t>
            </a:r>
            <a:endParaRPr lang="en-AU" altLang="zh-CN" dirty="0"/>
          </a:p>
          <a:p>
            <a:endParaRPr lang="en-AU" dirty="0"/>
          </a:p>
          <a:p>
            <a:r>
              <a:rPr lang="en-US" altLang="zh-CN" dirty="0"/>
              <a:t>DFA</a:t>
            </a:r>
            <a:r>
              <a:rPr lang="zh-CN" altLang="en-US" dirty="0"/>
              <a:t>里面每个状态用</a:t>
            </a:r>
            <a:r>
              <a:rPr lang="en-US" altLang="zh-CN" dirty="0"/>
              <a:t>{}</a:t>
            </a:r>
            <a:r>
              <a:rPr lang="zh-CN" altLang="en-US" dirty="0"/>
              <a:t>括号表示，因为</a:t>
            </a:r>
            <a:r>
              <a:rPr lang="en-US" altLang="zh-CN" dirty="0"/>
              <a:t>DFA</a:t>
            </a:r>
            <a:r>
              <a:rPr lang="zh-CN" altLang="en-US" dirty="0"/>
              <a:t>的每个状态可能是</a:t>
            </a:r>
            <a:r>
              <a:rPr lang="en-AU" altLang="zh-CN" dirty="0"/>
              <a:t>NFA</a:t>
            </a:r>
            <a:r>
              <a:rPr lang="zh-CN" altLang="en-US" dirty="0"/>
              <a:t>中多个状态的集合。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因为我们知道，在</a:t>
            </a:r>
            <a:r>
              <a:rPr lang="en-AU" altLang="zh-CN" dirty="0"/>
              <a:t>NFA</a:t>
            </a:r>
            <a:r>
              <a:rPr lang="zh-CN" altLang="en-US" dirty="0"/>
              <a:t>中，是可以同时存在多个状态的，我们通过以括号的方式，可以把</a:t>
            </a:r>
            <a:r>
              <a:rPr lang="en-AU" altLang="zh-CN" dirty="0"/>
              <a:t>NFA</a:t>
            </a:r>
            <a:r>
              <a:rPr lang="zh-CN" altLang="en-US" dirty="0"/>
              <a:t>的多个状态的信息囊括起来表示。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因此，</a:t>
            </a:r>
            <a:r>
              <a:rPr lang="en-AU" altLang="zh-CN" dirty="0"/>
              <a:t>DFA</a:t>
            </a:r>
            <a:r>
              <a:rPr lang="zh-CN" altLang="en-US" dirty="0"/>
              <a:t>中的每一个状态，对应于</a:t>
            </a:r>
            <a:r>
              <a:rPr lang="en-AU" altLang="zh-CN" dirty="0"/>
              <a:t>NFA</a:t>
            </a:r>
            <a:r>
              <a:rPr lang="zh-CN" altLang="en-US" dirty="0"/>
              <a:t>中状态集的某个子集。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接下来我们给出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AU" altLang="zh-CN" dirty="0"/>
              <a:t>NFA</a:t>
            </a:r>
            <a:r>
              <a:rPr lang="zh-CN" altLang="en-US" dirty="0"/>
              <a:t>的等价性证明。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那么大家想，一个</a:t>
            </a:r>
            <a:r>
              <a:rPr lang="en-AU" altLang="zh-CN" dirty="0"/>
              <a:t>DFA</a:t>
            </a:r>
            <a:r>
              <a:rPr lang="zh-CN" altLang="en-US" dirty="0"/>
              <a:t>，显然，肯定能被一个</a:t>
            </a:r>
            <a:r>
              <a:rPr lang="en-AU" altLang="zh-CN" dirty="0"/>
              <a:t>NFA</a:t>
            </a:r>
            <a:r>
              <a:rPr lang="zh-CN" altLang="en-US" dirty="0"/>
              <a:t>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一个</a:t>
            </a:r>
            <a:r>
              <a:rPr lang="en-AU" altLang="zh-CN" dirty="0"/>
              <a:t>DFA</a:t>
            </a:r>
            <a:r>
              <a:rPr lang="zh-CN" altLang="en-US" dirty="0"/>
              <a:t>识别的语言，可以由一个</a:t>
            </a:r>
            <a:r>
              <a:rPr lang="en-AU" altLang="zh-CN" dirty="0"/>
              <a:t>NFA</a:t>
            </a:r>
            <a:r>
              <a:rPr lang="zh-CN" altLang="en-US" dirty="0"/>
              <a:t>识别。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但是，如果一个</a:t>
            </a:r>
            <a:r>
              <a:rPr lang="en-AU" altLang="zh-CN" dirty="0"/>
              <a:t>NFA</a:t>
            </a:r>
            <a:r>
              <a:rPr lang="zh-CN" altLang="en-US" dirty="0"/>
              <a:t>所能识别的语言，是否能被一个</a:t>
            </a:r>
            <a:r>
              <a:rPr lang="en-AU" altLang="zh-CN" dirty="0"/>
              <a:t>DFA</a:t>
            </a:r>
            <a:r>
              <a:rPr lang="zh-CN" altLang="en-US" dirty="0"/>
              <a:t>识别。我们由如下定理：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也就是，通过</a:t>
            </a:r>
            <a:r>
              <a:rPr lang="en-AU" altLang="zh-CN" dirty="0"/>
              <a:t>NFA</a:t>
            </a:r>
            <a:r>
              <a:rPr lang="zh-CN" altLang="en-US" dirty="0"/>
              <a:t>五元组的形式，来构造一个</a:t>
            </a:r>
            <a:r>
              <a:rPr lang="en-AU" altLang="zh-CN" dirty="0"/>
              <a:t>DFA</a:t>
            </a:r>
            <a:r>
              <a:rPr lang="zh-CN" altLang="en-US" dirty="0"/>
              <a:t>的五元组，最后证明它们是等价的。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这里我们使用子集构造法。</a:t>
            </a:r>
            <a:r>
              <a:rPr lang="en-AU" altLang="zh-CN" dirty="0"/>
              <a:t>DFA</a:t>
            </a:r>
            <a:r>
              <a:rPr lang="zh-CN" altLang="en-US" dirty="0"/>
              <a:t>的初始状态为</a:t>
            </a:r>
            <a:r>
              <a:rPr lang="en-AU" altLang="zh-CN" dirty="0"/>
              <a:t>{q0},q0</a:t>
            </a:r>
            <a:r>
              <a:rPr lang="zh-CN" altLang="en-US" dirty="0"/>
              <a:t>的集合。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QD</a:t>
            </a:r>
            <a:r>
              <a:rPr lang="zh-CN" altLang="en-US" dirty="0"/>
              <a:t>也就是</a:t>
            </a:r>
            <a:r>
              <a:rPr lang="en-AU" altLang="zh-CN" dirty="0"/>
              <a:t>QN</a:t>
            </a:r>
            <a:r>
              <a:rPr lang="zh-CN" altLang="en-US" dirty="0"/>
              <a:t>的幂集，也就是</a:t>
            </a:r>
            <a:r>
              <a:rPr lang="en-AU" altLang="zh-CN" dirty="0"/>
              <a:t>QN</a:t>
            </a:r>
            <a:r>
              <a:rPr lang="zh-CN" altLang="en-US" dirty="0"/>
              <a:t>的子集。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DFA</a:t>
            </a:r>
            <a:r>
              <a:rPr lang="zh-CN" altLang="en-US" dirty="0"/>
              <a:t>的状态集为</a:t>
            </a:r>
            <a:r>
              <a:rPr lang="en-AU" altLang="zh-CN" dirty="0"/>
              <a:t>NFA</a:t>
            </a:r>
            <a:r>
              <a:rPr lang="zh-CN" altLang="en-US" dirty="0"/>
              <a:t>的状态集的所有子集。</a:t>
            </a:r>
            <a:endParaRPr lang="en-AU" altLang="zh-CN" dirty="0"/>
          </a:p>
          <a:p>
            <a:endParaRPr lang="en-AU" dirty="0"/>
          </a:p>
          <a:p>
            <a:r>
              <a:rPr lang="en-US" altLang="zh-CN" dirty="0"/>
              <a:t>DFA</a:t>
            </a:r>
            <a:r>
              <a:rPr lang="zh-CN" altLang="en-US" dirty="0"/>
              <a:t>里面每个状态用</a:t>
            </a:r>
            <a:r>
              <a:rPr lang="en-US" altLang="zh-CN" dirty="0"/>
              <a:t>{}</a:t>
            </a:r>
            <a:r>
              <a:rPr lang="zh-CN" altLang="en-US" dirty="0"/>
              <a:t>括号表示，因为</a:t>
            </a:r>
            <a:r>
              <a:rPr lang="en-US" altLang="zh-CN" dirty="0"/>
              <a:t>DFA</a:t>
            </a:r>
            <a:r>
              <a:rPr lang="zh-CN" altLang="en-US" dirty="0"/>
              <a:t>的每个状态可能是</a:t>
            </a:r>
            <a:r>
              <a:rPr lang="en-AU" altLang="zh-CN" dirty="0"/>
              <a:t>NFA</a:t>
            </a:r>
            <a:r>
              <a:rPr lang="zh-CN" altLang="en-US" dirty="0"/>
              <a:t>中多个状态的集合。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因为我们知道，在</a:t>
            </a:r>
            <a:r>
              <a:rPr lang="en-AU" altLang="zh-CN" dirty="0"/>
              <a:t>NFA</a:t>
            </a:r>
            <a:r>
              <a:rPr lang="zh-CN" altLang="en-US" dirty="0"/>
              <a:t>中，是可以同时存在多个状态的，我们通过以括号的方式，可以把</a:t>
            </a:r>
            <a:r>
              <a:rPr lang="en-AU" altLang="zh-CN" dirty="0"/>
              <a:t>NFA</a:t>
            </a:r>
            <a:r>
              <a:rPr lang="zh-CN" altLang="en-US" dirty="0"/>
              <a:t>的多个状态的信息囊括起来表示。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因此，</a:t>
            </a:r>
            <a:r>
              <a:rPr lang="en-AU" altLang="zh-CN" dirty="0"/>
              <a:t>DFA</a:t>
            </a:r>
            <a:r>
              <a:rPr lang="zh-CN" altLang="en-US" dirty="0"/>
              <a:t>中的每一个状态，对应于</a:t>
            </a:r>
            <a:r>
              <a:rPr lang="en-AU" altLang="zh-CN" dirty="0"/>
              <a:t>NFA</a:t>
            </a:r>
            <a:r>
              <a:rPr lang="zh-CN" altLang="en-US" dirty="0"/>
              <a:t>中状态集的某个子集。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接下来我们给出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AU" altLang="zh-CN" dirty="0"/>
              <a:t>NFA</a:t>
            </a:r>
            <a:r>
              <a:rPr lang="zh-CN" altLang="en-US" dirty="0"/>
              <a:t>的等价性证明。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那么大家想，一个</a:t>
            </a:r>
            <a:r>
              <a:rPr lang="en-AU" altLang="zh-CN" dirty="0"/>
              <a:t>DFA</a:t>
            </a:r>
            <a:r>
              <a:rPr lang="zh-CN" altLang="en-US" dirty="0"/>
              <a:t>，显然，肯定能被一个</a:t>
            </a:r>
            <a:r>
              <a:rPr lang="en-AU" altLang="zh-CN" dirty="0"/>
              <a:t>NFA</a:t>
            </a:r>
            <a:r>
              <a:rPr lang="zh-CN" altLang="en-US" dirty="0"/>
              <a:t>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一个</a:t>
            </a:r>
            <a:r>
              <a:rPr lang="en-AU" altLang="zh-CN" dirty="0"/>
              <a:t>DFA</a:t>
            </a:r>
            <a:r>
              <a:rPr lang="zh-CN" altLang="en-US" dirty="0"/>
              <a:t>识别的语言，可以由一个</a:t>
            </a:r>
            <a:r>
              <a:rPr lang="en-AU" altLang="zh-CN" dirty="0"/>
              <a:t>NFA</a:t>
            </a:r>
            <a:r>
              <a:rPr lang="zh-CN" altLang="en-US" dirty="0"/>
              <a:t>识别。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但是，如果一个</a:t>
            </a:r>
            <a:r>
              <a:rPr lang="en-AU" altLang="zh-CN" dirty="0"/>
              <a:t>NFA</a:t>
            </a:r>
            <a:r>
              <a:rPr lang="zh-CN" altLang="en-US" dirty="0"/>
              <a:t>所能识别的语言，是否能被一个</a:t>
            </a:r>
            <a:r>
              <a:rPr lang="en-AU" altLang="zh-CN" dirty="0"/>
              <a:t>DFA</a:t>
            </a:r>
            <a:r>
              <a:rPr lang="zh-CN" altLang="en-US" dirty="0"/>
              <a:t>识别。我们由如下定理：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也就是，通过</a:t>
            </a:r>
            <a:r>
              <a:rPr lang="en-AU" altLang="zh-CN" dirty="0"/>
              <a:t>NFA</a:t>
            </a:r>
            <a:r>
              <a:rPr lang="zh-CN" altLang="en-US" dirty="0"/>
              <a:t>五元组的形式，来构造一个</a:t>
            </a:r>
            <a:r>
              <a:rPr lang="en-AU" altLang="zh-CN" dirty="0"/>
              <a:t>DFA</a:t>
            </a:r>
            <a:r>
              <a:rPr lang="zh-CN" altLang="en-US" dirty="0"/>
              <a:t>的五元组，最后证明它们是等价的。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这里我们使用子集构造法。</a:t>
            </a:r>
            <a:r>
              <a:rPr lang="en-AU" altLang="zh-CN" dirty="0"/>
              <a:t>DFA</a:t>
            </a:r>
            <a:r>
              <a:rPr lang="zh-CN" altLang="en-US" dirty="0"/>
              <a:t>的初始状态为</a:t>
            </a:r>
            <a:r>
              <a:rPr lang="en-AU" altLang="zh-CN" dirty="0"/>
              <a:t>{q0},q0</a:t>
            </a:r>
            <a:r>
              <a:rPr lang="zh-CN" altLang="en-US" dirty="0"/>
              <a:t>的集合。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QD</a:t>
            </a:r>
            <a:r>
              <a:rPr lang="zh-CN" altLang="en-US" dirty="0"/>
              <a:t>也就是</a:t>
            </a:r>
            <a:r>
              <a:rPr lang="en-AU" altLang="zh-CN" dirty="0"/>
              <a:t>QN</a:t>
            </a:r>
            <a:r>
              <a:rPr lang="zh-CN" altLang="en-US" dirty="0"/>
              <a:t>的幂集，也就是</a:t>
            </a:r>
            <a:r>
              <a:rPr lang="en-AU" altLang="zh-CN" dirty="0"/>
              <a:t>QN</a:t>
            </a:r>
            <a:r>
              <a:rPr lang="zh-CN" altLang="en-US" dirty="0"/>
              <a:t>的子集。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DFA</a:t>
            </a:r>
            <a:r>
              <a:rPr lang="zh-CN" altLang="en-US" dirty="0"/>
              <a:t>的状态集为</a:t>
            </a:r>
            <a:r>
              <a:rPr lang="en-AU" altLang="zh-CN" dirty="0"/>
              <a:t>NFA</a:t>
            </a:r>
            <a:r>
              <a:rPr lang="zh-CN" altLang="en-US" dirty="0"/>
              <a:t>的状态集的所有子集。</a:t>
            </a:r>
            <a:endParaRPr lang="en-AU" altLang="zh-CN" dirty="0"/>
          </a:p>
          <a:p>
            <a:endParaRPr lang="en-AU" dirty="0"/>
          </a:p>
          <a:p>
            <a:r>
              <a:rPr lang="en-US" altLang="zh-CN" dirty="0"/>
              <a:t>DFA</a:t>
            </a:r>
            <a:r>
              <a:rPr lang="zh-CN" altLang="en-US" dirty="0"/>
              <a:t>里面每个状态用</a:t>
            </a:r>
            <a:r>
              <a:rPr lang="en-US" altLang="zh-CN" dirty="0"/>
              <a:t>{}</a:t>
            </a:r>
            <a:r>
              <a:rPr lang="zh-CN" altLang="en-US" dirty="0"/>
              <a:t>括号表示，因为</a:t>
            </a:r>
            <a:r>
              <a:rPr lang="en-US" altLang="zh-CN" dirty="0"/>
              <a:t>DFA</a:t>
            </a:r>
            <a:r>
              <a:rPr lang="zh-CN" altLang="en-US" dirty="0"/>
              <a:t>的每个状态可能是</a:t>
            </a:r>
            <a:r>
              <a:rPr lang="en-AU" altLang="zh-CN" dirty="0"/>
              <a:t>NFA</a:t>
            </a:r>
            <a:r>
              <a:rPr lang="zh-CN" altLang="en-US" dirty="0"/>
              <a:t>中多个状态的集合。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因为我们知道，在</a:t>
            </a:r>
            <a:r>
              <a:rPr lang="en-AU" altLang="zh-CN" dirty="0"/>
              <a:t>NFA</a:t>
            </a:r>
            <a:r>
              <a:rPr lang="zh-CN" altLang="en-US" dirty="0"/>
              <a:t>中，是可以同时存在多个状态的，我们通过以括号的方式，可以把</a:t>
            </a:r>
            <a:r>
              <a:rPr lang="en-AU" altLang="zh-CN" dirty="0"/>
              <a:t>NFA</a:t>
            </a:r>
            <a:r>
              <a:rPr lang="zh-CN" altLang="en-US" dirty="0"/>
              <a:t>的多个状态的信息囊括起来表示。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因此，</a:t>
            </a:r>
            <a:r>
              <a:rPr lang="en-AU" altLang="zh-CN" dirty="0"/>
              <a:t>DFA</a:t>
            </a:r>
            <a:r>
              <a:rPr lang="zh-CN" altLang="en-US" dirty="0"/>
              <a:t>中的每一个状态，对应于</a:t>
            </a:r>
            <a:r>
              <a:rPr lang="en-AU" altLang="zh-CN" dirty="0"/>
              <a:t>NFA</a:t>
            </a:r>
            <a:r>
              <a:rPr lang="zh-CN" altLang="en-US" dirty="0"/>
              <a:t>中状态集的某个子集。</a:t>
            </a:r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要证明这个式子，对于</a:t>
            </a:r>
            <a:r>
              <a:rPr lang="en-AU" altLang="zh-CN" dirty="0"/>
              <a:t>DFA</a:t>
            </a:r>
            <a:r>
              <a:rPr lang="zh-CN" altLang="en-US" dirty="0"/>
              <a:t>来说，</a:t>
            </a:r>
            <a:r>
              <a:rPr lang="en-US" altLang="zh-CN" dirty="0"/>
              <a:t>delta-hat({q0},w)</a:t>
            </a:r>
            <a:r>
              <a:rPr lang="zh-CN" altLang="en-US" dirty="0"/>
              <a:t>表示从开始状态集开始，输入字符串</a:t>
            </a:r>
            <a:r>
              <a:rPr lang="en-AU" altLang="zh-CN" dirty="0"/>
              <a:t>w</a:t>
            </a:r>
            <a:r>
              <a:rPr lang="zh-CN" altLang="en-US" dirty="0"/>
              <a:t>，所能到达的状态集。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如果右边是从</a:t>
            </a:r>
            <a:r>
              <a:rPr lang="en-AU" altLang="zh-CN" dirty="0"/>
              <a:t>q0</a:t>
            </a:r>
            <a:r>
              <a:rPr lang="zh-CN" altLang="en-US" dirty="0"/>
              <a:t>开始，经过</a:t>
            </a:r>
            <a:r>
              <a:rPr lang="en-AU" altLang="zh-CN" dirty="0"/>
              <a:t>w</a:t>
            </a:r>
            <a:r>
              <a:rPr lang="zh-CN" altLang="en-US" dirty="0"/>
              <a:t>，所到的状态集。如果</a:t>
            </a:r>
            <a:r>
              <a:rPr lang="en-AU" altLang="zh-CN" dirty="0"/>
              <a:t>w</a:t>
            </a:r>
            <a:r>
              <a:rPr lang="zh-CN" altLang="en-US" dirty="0"/>
              <a:t>能被</a:t>
            </a:r>
            <a:r>
              <a:rPr lang="en-AU" altLang="zh-CN" dirty="0"/>
              <a:t>NFA</a:t>
            </a:r>
            <a:r>
              <a:rPr lang="zh-CN" altLang="en-US" dirty="0"/>
              <a:t>接受，那么状态集里面含有接受状态。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要证明这个式子，对于</a:t>
            </a:r>
            <a:r>
              <a:rPr lang="en-AU" altLang="zh-CN" dirty="0"/>
              <a:t>DFA</a:t>
            </a:r>
            <a:r>
              <a:rPr lang="zh-CN" altLang="en-US" dirty="0"/>
              <a:t>来说，</a:t>
            </a:r>
            <a:r>
              <a:rPr lang="en-US" altLang="zh-CN" dirty="0"/>
              <a:t>delta-hat({q0},w)</a:t>
            </a:r>
            <a:r>
              <a:rPr lang="zh-CN" altLang="en-US" dirty="0"/>
              <a:t>表示从开始状态集开始，输入字符串</a:t>
            </a:r>
            <a:r>
              <a:rPr lang="en-AU" altLang="zh-CN" dirty="0"/>
              <a:t>w</a:t>
            </a:r>
            <a:r>
              <a:rPr lang="zh-CN" altLang="en-US" dirty="0"/>
              <a:t>，所能到达的状态集。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如果右边是从</a:t>
            </a:r>
            <a:r>
              <a:rPr lang="en-AU" altLang="zh-CN" dirty="0"/>
              <a:t>q0</a:t>
            </a:r>
            <a:r>
              <a:rPr lang="zh-CN" altLang="en-US" dirty="0"/>
              <a:t>开始，经过</a:t>
            </a:r>
            <a:r>
              <a:rPr lang="en-AU" altLang="zh-CN" dirty="0"/>
              <a:t>w</a:t>
            </a:r>
            <a:r>
              <a:rPr lang="zh-CN" altLang="en-US" dirty="0"/>
              <a:t>，所到的状态集。如果</a:t>
            </a:r>
            <a:r>
              <a:rPr lang="en-AU" altLang="zh-CN" dirty="0"/>
              <a:t>w</a:t>
            </a:r>
            <a:r>
              <a:rPr lang="zh-CN" altLang="en-US" dirty="0"/>
              <a:t>能被</a:t>
            </a:r>
            <a:r>
              <a:rPr lang="en-AU" altLang="zh-CN" dirty="0"/>
              <a:t>NFA</a:t>
            </a:r>
            <a:r>
              <a:rPr lang="zh-CN" altLang="en-US" dirty="0"/>
              <a:t>接受，那么状态集里面含有接受状态。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要证明这个式子，对于</a:t>
            </a:r>
            <a:r>
              <a:rPr lang="en-AU" altLang="zh-CN" dirty="0"/>
              <a:t>DFA</a:t>
            </a:r>
            <a:r>
              <a:rPr lang="zh-CN" altLang="en-US" dirty="0"/>
              <a:t>来说，</a:t>
            </a:r>
            <a:r>
              <a:rPr lang="en-US" altLang="zh-CN" dirty="0"/>
              <a:t>delta-hat({q0},w)</a:t>
            </a:r>
            <a:r>
              <a:rPr lang="zh-CN" altLang="en-US" dirty="0"/>
              <a:t>表示从开始状态集开始，输入字符串</a:t>
            </a:r>
            <a:r>
              <a:rPr lang="en-AU" altLang="zh-CN" dirty="0"/>
              <a:t>w</a:t>
            </a:r>
            <a:r>
              <a:rPr lang="zh-CN" altLang="en-US" dirty="0"/>
              <a:t>，所能到达的状态集。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如果右边是从</a:t>
            </a:r>
            <a:r>
              <a:rPr lang="en-AU" altLang="zh-CN" dirty="0"/>
              <a:t>q0</a:t>
            </a:r>
            <a:r>
              <a:rPr lang="zh-CN" altLang="en-US" dirty="0"/>
              <a:t>开始，经过</a:t>
            </a:r>
            <a:r>
              <a:rPr lang="en-AU" altLang="zh-CN" dirty="0"/>
              <a:t>w</a:t>
            </a:r>
            <a:r>
              <a:rPr lang="zh-CN" altLang="en-US" dirty="0"/>
              <a:t>，所到的状态集。如果</a:t>
            </a:r>
            <a:r>
              <a:rPr lang="en-AU" altLang="zh-CN" dirty="0"/>
              <a:t>w</a:t>
            </a:r>
            <a:r>
              <a:rPr lang="zh-CN" altLang="en-US" dirty="0"/>
              <a:t>能被</a:t>
            </a:r>
            <a:r>
              <a:rPr lang="en-AU" altLang="zh-CN" dirty="0"/>
              <a:t>NFA</a:t>
            </a:r>
            <a:r>
              <a:rPr lang="zh-CN" altLang="en-US" dirty="0"/>
              <a:t>接受，那么状态集里面含有接受状态。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cs typeface="Times New Roman" panose="02020603050405020304" pitchFamily="18" charset="0"/>
              </a:rPr>
              <a:t>删除含有</a:t>
            </a:r>
            <a:r>
              <a:rPr lang="en-US" altLang="en-US" b="1" i="1" dirty="0"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的状态，删除不能从开始状态达到的状态。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99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哪个是接受状态？含有</a:t>
            </a:r>
            <a:r>
              <a:rPr lang="en-AU" altLang="zh-CN" dirty="0"/>
              <a:t>NFA</a:t>
            </a:r>
            <a:r>
              <a:rPr lang="zh-CN" altLang="en-US" dirty="0"/>
              <a:t>接受状态的那些状态集就是</a:t>
            </a:r>
            <a:r>
              <a:rPr lang="en-AU" altLang="zh-CN" dirty="0"/>
              <a:t>DFA</a:t>
            </a:r>
            <a:r>
              <a:rPr lang="zh-CN" altLang="en-US" dirty="0"/>
              <a:t>的接受状态。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哪个是接受状态？含有</a:t>
            </a:r>
            <a:r>
              <a:rPr lang="en-AU" altLang="zh-CN" dirty="0"/>
              <a:t>NFA</a:t>
            </a:r>
            <a:r>
              <a:rPr lang="zh-CN" altLang="en-US" dirty="0"/>
              <a:t>接受状态的那些状态集就是</a:t>
            </a:r>
            <a:r>
              <a:rPr lang="en-AU" altLang="zh-CN" dirty="0"/>
              <a:t>DFA</a:t>
            </a:r>
            <a:r>
              <a:rPr lang="zh-CN" altLang="en-US" dirty="0"/>
              <a:t>的接受状态。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哪个是接受状态？含有</a:t>
            </a:r>
            <a:r>
              <a:rPr lang="en-AU" altLang="zh-CN" dirty="0"/>
              <a:t>NFA</a:t>
            </a:r>
            <a:r>
              <a:rPr lang="zh-CN" altLang="en-US" dirty="0"/>
              <a:t>接受状态的那些状态集就是</a:t>
            </a:r>
            <a:r>
              <a:rPr lang="en-AU" altLang="zh-CN" dirty="0"/>
              <a:t>DFA</a:t>
            </a:r>
            <a:r>
              <a:rPr lang="zh-CN" altLang="en-US" dirty="0"/>
              <a:t>的接受状态。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哪个是接受状态？含有</a:t>
            </a:r>
            <a:r>
              <a:rPr lang="en-AU" altLang="zh-CN" dirty="0"/>
              <a:t>NFA</a:t>
            </a:r>
            <a:r>
              <a:rPr lang="zh-CN" altLang="en-US" dirty="0"/>
              <a:t>接受状态的那些状态集就是</a:t>
            </a:r>
            <a:r>
              <a:rPr lang="en-AU" altLang="zh-CN" dirty="0"/>
              <a:t>DFA</a:t>
            </a:r>
            <a:r>
              <a:rPr lang="zh-CN" altLang="en-US" dirty="0"/>
              <a:t>的接受状态。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b="1" dirty="0">
                <a:cs typeface="Times New Roman" panose="02020603050405020304" pitchFamily="18" charset="0"/>
              </a:rPr>
              <a:t>根据等价证明过程中的构造规则来实现</a:t>
            </a:r>
            <a:r>
              <a:rPr lang="en-US" altLang="zh-CN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状态集</a:t>
            </a:r>
            <a:r>
              <a:rPr lang="en-US" altLang="zh-CN" b="1" dirty="0"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𝑸_𝑫=𝟐^(𝑸_𝑵 )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开始状态</a:t>
            </a:r>
            <a:r>
              <a:rPr lang="en-US" altLang="zh-CN" b="1" dirty="0"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zh-CN" b="1" i="1" dirty="0">
                <a:cs typeface="Times New Roman" panose="02020603050405020304" pitchFamily="18" charset="0"/>
              </a:rPr>
              <a:t>q</a:t>
            </a:r>
            <a:r>
              <a:rPr lang="en-US" altLang="zh-CN" b="1" baseline="-25000" dirty="0"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cs typeface="Times New Roman" panose="02020603050405020304" pitchFamily="18" charset="0"/>
              </a:rPr>
              <a:t>}</a:t>
            </a: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终止状态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𝑭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𝑫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={𝑺│𝑺𝑸_𝑵,𝑺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sym typeface="Symbol" panose="05050102010706020507" pitchFamily="18" charset="2"/>
              </a:rPr>
              <a:t>∩𝑭_𝑵≠∅}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zh-CN" altLang="en-US" b="1" dirty="0">
                <a:cs typeface="Times New Roman" panose="02020603050405020304" pitchFamily="18" charset="0"/>
              </a:rPr>
              <a:t>状态转移函数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删除不能从开始状态达到的状态。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AU" altLang="zh-CN" dirty="0"/>
              <a:t>q1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q2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所以，通过空转移的方式，简化了自动机的设计。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109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AU" altLang="zh-CN" dirty="0"/>
              <a:t>q1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q2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所以，通过空转移的方式，简化了自动机的设计。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AU" altLang="zh-CN" dirty="0"/>
              <a:t>q1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q2</a:t>
            </a:r>
            <a:r>
              <a:rPr lang="zh-CN" altLang="en-US" dirty="0"/>
              <a:t>增加</a:t>
            </a:r>
            <a:r>
              <a:rPr lang="en-AU" altLang="zh-CN" dirty="0"/>
              <a:t>epsilon</a:t>
            </a:r>
            <a:r>
              <a:rPr lang="zh-CN" altLang="en-US" dirty="0"/>
              <a:t>转移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所以，通过空转移的方式，简化了自动机的设计。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给空转移增加一列。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其实就是把到达某个状态后，可能因为继续发生空转移而到达的所有可能状态包括进来。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0B409A-9510-4679-9C86-74CCD54373DF}" type="slidenum">
              <a:rPr lang="en-US" altLang="zh-CN" smtClean="0"/>
              <a:t>131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 noProof="1">
              <a:solidFill>
                <a:prstClr val="white"/>
              </a:solidFill>
            </a:endParaRPr>
          </a:p>
        </p:txBody>
      </p:sp>
      <p:sp>
        <p:nvSpPr>
          <p:cNvPr id="8" name="平行四边形 49"/>
          <p:cNvSpPr/>
          <p:nvPr/>
        </p:nvSpPr>
        <p:spPr>
          <a:xfrm>
            <a:off x="-30161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 noProof="1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E03C2985-DA0A-423A-A02E-2E38F06C445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B7352C-3D72-49DD-AA22-11A40F7EDD3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1953FA-5DB8-4030-80BD-DF448571A82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D03E33-E1A8-40A9-B401-87A197CE39D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 noProof="1">
              <a:solidFill>
                <a:prstClr val="white"/>
              </a:solidFill>
            </a:endParaRPr>
          </a:p>
        </p:txBody>
      </p:sp>
      <p:sp>
        <p:nvSpPr>
          <p:cNvPr id="6" name="平行四边形 49"/>
          <p:cNvSpPr/>
          <p:nvPr/>
        </p:nvSpPr>
        <p:spPr>
          <a:xfrm>
            <a:off x="-30161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 noProof="1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1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702554A5-A581-4AB9-AEA0-FA3C5F0DF6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9891A0AF-8D07-42A7-B1EB-C2BD93C0D5E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A53FDE-4960-4598-8A19-D798676052A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EC92D9-5065-4D74-9A70-DE43FE41D50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D7EF7E-B2EB-447F-B03C-8795FC4C954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685964-C6AF-40EC-BE1A-7FA689D160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2026/3/20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7332379-8504-4B52-80B8-13CE9A73535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2026/3/20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8.png"/><Relationship Id="rId2" Type="http://schemas.openxmlformats.org/officeDocument/2006/relationships/tags" Target="../tags/tag3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9.png"/><Relationship Id="rId3" Type="http://schemas.openxmlformats.org/officeDocument/2006/relationships/tags" Target="../tags/tag19.xml"/><Relationship Id="rId21" Type="http://schemas.openxmlformats.org/officeDocument/2006/relationships/image" Target="../media/image8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1810.xml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6.xml"/><Relationship Id="rId20" Type="http://schemas.openxmlformats.org/officeDocument/2006/relationships/image" Target="../media/image10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19" Type="http://schemas.openxmlformats.org/officeDocument/2006/relationships/tags" Target="../tags/tag210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image" Target="../media/image31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350.xml"/><Relationship Id="rId2" Type="http://schemas.openxmlformats.org/officeDocument/2006/relationships/tags" Target="../tags/tag33.xml"/><Relationship Id="rId16" Type="http://schemas.openxmlformats.org/officeDocument/2006/relationships/notesSlide" Target="../notesSlides/notesSlide24.xml"/><Relationship Id="rId20" Type="http://schemas.openxmlformats.org/officeDocument/2006/relationships/image" Target="../media/image8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41.xml"/><Relationship Id="rId19" Type="http://schemas.openxmlformats.org/officeDocument/2006/relationships/image" Target="../media/image32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image" Target="../media/image37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36.png"/><Relationship Id="rId2" Type="http://schemas.openxmlformats.org/officeDocument/2006/relationships/tags" Target="../tags/tag47.xml"/><Relationship Id="rId16" Type="http://schemas.openxmlformats.org/officeDocument/2006/relationships/tags" Target="../tags/tag500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55.xml"/><Relationship Id="rId19" Type="http://schemas.openxmlformats.org/officeDocument/2006/relationships/image" Target="../media/image8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image" Target="../media/image8.png"/><Relationship Id="rId10" Type="http://schemas.openxmlformats.org/officeDocument/2006/relationships/tags" Target="../tags/tag69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image" Target="../media/image51.png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image" Target="../media/image50.png"/><Relationship Id="rId2" Type="http://schemas.openxmlformats.org/officeDocument/2006/relationships/tags" Target="../tags/tag74.xml"/><Relationship Id="rId16" Type="http://schemas.openxmlformats.org/officeDocument/2006/relationships/tags" Target="../tags/tag780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82.xml"/><Relationship Id="rId19" Type="http://schemas.openxmlformats.org/officeDocument/2006/relationships/image" Target="../media/image8.png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image" Target="../media/image53.png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image" Target="../media/image52.png"/><Relationship Id="rId2" Type="http://schemas.openxmlformats.org/officeDocument/2006/relationships/tags" Target="../tags/tag88.xml"/><Relationship Id="rId16" Type="http://schemas.openxmlformats.org/officeDocument/2006/relationships/tags" Target="../tags/tag930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96.xml"/><Relationship Id="rId19" Type="http://schemas.openxmlformats.org/officeDocument/2006/relationships/image" Target="../media/image8.png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9.png"/><Relationship Id="rId9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9.png"/><Relationship Id="rId9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image" Target="../media/image8.png"/><Relationship Id="rId2" Type="http://schemas.openxmlformats.org/officeDocument/2006/relationships/tags" Target="../tags/tag103.xml"/><Relationship Id="rId16" Type="http://schemas.openxmlformats.org/officeDocument/2006/relationships/image" Target="../media/image69.png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image" Target="../media/image8.png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71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8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71.png"/><Relationship Id="rId5" Type="http://schemas.openxmlformats.org/officeDocument/2006/relationships/tags" Target="../tags/tag137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36.xml"/><Relationship Id="rId9" Type="http://schemas.openxmlformats.org/officeDocument/2006/relationships/tags" Target="../tags/tag14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71.png"/><Relationship Id="rId7" Type="http://schemas.openxmlformats.org/officeDocument/2006/relationships/image" Target="../media/image7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79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13" Type="http://schemas.openxmlformats.org/officeDocument/2006/relationships/image" Target="../media/image71.png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12" Type="http://schemas.openxmlformats.org/officeDocument/2006/relationships/image" Target="../media/image88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tags" Target="../tags/tag1480.xml"/><Relationship Id="rId5" Type="http://schemas.openxmlformats.org/officeDocument/2006/relationships/tags" Target="../tags/tag146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71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9.png"/><Relationship Id="rId9" Type="http://schemas.openxmlformats.org/officeDocument/2006/relationships/image" Target="../media/image85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9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9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image" Target="../media/image8.png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image" Target="../media/image90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111.png"/><Relationship Id="rId5" Type="http://schemas.openxmlformats.org/officeDocument/2006/relationships/tags" Target="../tags/tag155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18.png"/><Relationship Id="rId4" Type="http://schemas.openxmlformats.org/officeDocument/2006/relationships/image" Target="../media/image11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10" Type="http://schemas.openxmlformats.org/officeDocument/2006/relationships/image" Target="../media/image8.png"/><Relationship Id="rId4" Type="http://schemas.openxmlformats.org/officeDocument/2006/relationships/tags" Target="../tags/tag163.xml"/><Relationship Id="rId9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8.xml"/><Relationship Id="rId4" Type="http://schemas.openxmlformats.org/officeDocument/2006/relationships/image" Target="../media/image12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2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png"/><Relationship Id="rId4" Type="http://schemas.openxmlformats.org/officeDocument/2006/relationships/image" Target="../media/image11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9.png"/><Relationship Id="rId3" Type="http://schemas.openxmlformats.org/officeDocument/2006/relationships/tags" Target="../tags/tag171.xml"/><Relationship Id="rId7" Type="http://schemas.openxmlformats.org/officeDocument/2006/relationships/image" Target="../media/image119.png"/><Relationship Id="rId12" Type="http://schemas.openxmlformats.org/officeDocument/2006/relationships/tags" Target="../tags/tag176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image" Target="../media/image128.png"/><Relationship Id="rId11" Type="http://schemas.openxmlformats.org/officeDocument/2006/relationships/image" Target="../media/image138.png"/><Relationship Id="rId5" Type="http://schemas.openxmlformats.org/officeDocument/2006/relationships/notesSlide" Target="../notesSlides/notesSlide72.xml"/><Relationship Id="rId15" Type="http://schemas.openxmlformats.org/officeDocument/2006/relationships/image" Target="../media/image140.png"/><Relationship Id="rId10" Type="http://schemas.openxmlformats.org/officeDocument/2006/relationships/image" Target="../media/image137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36.png"/><Relationship Id="rId14" Type="http://schemas.openxmlformats.org/officeDocument/2006/relationships/tags" Target="../tags/tag179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28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4.png"/><Relationship Id="rId4" Type="http://schemas.openxmlformats.org/officeDocument/2006/relationships/image" Target="../media/image119.png"/><Relationship Id="rId9" Type="http://schemas.openxmlformats.org/officeDocument/2006/relationships/image" Target="../media/image14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119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2.xml"/><Relationship Id="rId6" Type="http://schemas.openxmlformats.org/officeDocument/2006/relationships/tags" Target="../tags/tag181.xml"/><Relationship Id="rId5" Type="http://schemas.openxmlformats.org/officeDocument/2006/relationships/image" Target="../media/image130.png"/><Relationship Id="rId4" Type="http://schemas.openxmlformats.org/officeDocument/2006/relationships/image" Target="../media/image14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4.png"/><Relationship Id="rId4" Type="http://schemas.openxmlformats.org/officeDocument/2006/relationships/image" Target="../media/image119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image" Target="../media/image119.png"/><Relationship Id="rId3" Type="http://schemas.openxmlformats.org/officeDocument/2006/relationships/tags" Target="../tags/tag175.xml"/><Relationship Id="rId7" Type="http://schemas.openxmlformats.org/officeDocument/2006/relationships/tags" Target="../tags/tag182.xml"/><Relationship Id="rId12" Type="http://schemas.openxmlformats.org/officeDocument/2006/relationships/image" Target="../media/image157.png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80.xml"/><Relationship Id="rId11" Type="http://schemas.openxmlformats.org/officeDocument/2006/relationships/tags" Target="../tags/tag1830.xml"/><Relationship Id="rId5" Type="http://schemas.openxmlformats.org/officeDocument/2006/relationships/tags" Target="../tags/tag178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77.xml"/><Relationship Id="rId9" Type="http://schemas.openxmlformats.org/officeDocument/2006/relationships/tags" Target="../tags/tag184.xml"/><Relationship Id="rId14" Type="http://schemas.openxmlformats.org/officeDocument/2006/relationships/image" Target="../media/image8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13" Type="http://schemas.openxmlformats.org/officeDocument/2006/relationships/image" Target="../media/image146.png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69.png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tags" Target="../tags/tag1930.xml"/><Relationship Id="rId5" Type="http://schemas.openxmlformats.org/officeDocument/2006/relationships/tags" Target="../tags/tag189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88.xml"/><Relationship Id="rId9" Type="http://schemas.openxmlformats.org/officeDocument/2006/relationships/tags" Target="../tags/tag193.xml"/><Relationship Id="rId14" Type="http://schemas.openxmlformats.org/officeDocument/2006/relationships/image" Target="../media/image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6.png"/><Relationship Id="rId4" Type="http://schemas.openxmlformats.org/officeDocument/2006/relationships/image" Target="../media/image17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7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4.xml"/><Relationship Id="rId6" Type="http://schemas.openxmlformats.org/officeDocument/2006/relationships/image" Target="../media/image173.png"/><Relationship Id="rId5" Type="http://schemas.openxmlformats.org/officeDocument/2006/relationships/tags" Target="../tags/tag203.xml"/><Relationship Id="rId4" Type="http://schemas.openxmlformats.org/officeDocument/2006/relationships/image" Target="../media/image146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tags" Target="../tags/tag207.xml"/><Relationship Id="rId17" Type="http://schemas.openxmlformats.org/officeDocument/2006/relationships/image" Target="../media/image174.png"/><Relationship Id="rId2" Type="http://schemas.openxmlformats.org/officeDocument/2006/relationships/tags" Target="../tags/tag196.xml"/><Relationship Id="rId16" Type="http://schemas.openxmlformats.org/officeDocument/2006/relationships/image" Target="../media/image175.png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6.xml"/><Relationship Id="rId5" Type="http://schemas.openxmlformats.org/officeDocument/2006/relationships/tags" Target="../tags/tag199.xml"/><Relationship Id="rId15" Type="http://schemas.openxmlformats.org/officeDocument/2006/relationships/image" Target="../media/image146.png"/><Relationship Id="rId10" Type="http://schemas.openxmlformats.org/officeDocument/2006/relationships/tags" Target="../tags/tag205.xml"/><Relationship Id="rId4" Type="http://schemas.openxmlformats.org/officeDocument/2006/relationships/tags" Target="../tags/tag198.xml"/><Relationship Id="rId9" Type="http://schemas.openxmlformats.org/officeDocument/2006/relationships/tags" Target="../tags/tag204.xml"/><Relationship Id="rId14" Type="http://schemas.openxmlformats.org/officeDocument/2006/relationships/image" Target="../media/image163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5" Type="http://schemas.openxmlformats.org/officeDocument/2006/relationships/image" Target="../media/image146.png"/><Relationship Id="rId4" Type="http://schemas.openxmlformats.org/officeDocument/2006/relationships/image" Target="../media/image17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5950" y="2304417"/>
            <a:ext cx="7772400" cy="1470025"/>
          </a:xfrm>
          <a:ln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2C2C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有穷状态自动机</a:t>
            </a:r>
            <a:endParaRPr lang="en-US" altLang="zh-CN" b="1" dirty="0">
              <a:solidFill>
                <a:srgbClr val="2C2C2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09624" y="974727"/>
            <a:ext cx="7473952" cy="1158875"/>
          </a:xfrm>
          <a:prstGeom prst="roundRect">
            <a:avLst>
              <a:gd name="adj" fmla="val 9948"/>
            </a:avLst>
          </a:prstGeom>
          <a:noFill/>
          <a:ln w="254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3200" b="1" dirty="0" err="1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形式语言与自动机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200" b="1" dirty="0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Formal Languages and Automata Theory</a:t>
            </a:r>
          </a:p>
        </p:txBody>
      </p:sp>
      <p:grpSp>
        <p:nvGrpSpPr>
          <p:cNvPr id="5126" name="组合 9"/>
          <p:cNvGrpSpPr/>
          <p:nvPr/>
        </p:nvGrpSpPr>
        <p:grpSpPr>
          <a:xfrm>
            <a:off x="0" y="5030788"/>
            <a:ext cx="8699500" cy="1117600"/>
            <a:chOff x="0" y="5030681"/>
            <a:chExt cx="8700121" cy="1116947"/>
          </a:xfrm>
        </p:grpSpPr>
        <p:sp>
          <p:nvSpPr>
            <p:cNvPr id="11" name="矩形 10"/>
            <p:cNvSpPr/>
            <p:nvPr/>
          </p:nvSpPr>
          <p:spPr>
            <a:xfrm>
              <a:off x="0" y="5030681"/>
              <a:ext cx="8700121" cy="1116947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47337" y="5345000"/>
              <a:ext cx="2040083" cy="4613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400" b="1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汤步洲</a:t>
              </a:r>
              <a:r>
                <a:rPr lang="en-US" altLang="zh-CN" sz="2400" b="1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 rot="10800000">
              <a:off x="149602" y="5139274"/>
              <a:ext cx="3166930" cy="810003"/>
              <a:chOff x="2077999" y="5178439"/>
              <a:chExt cx="2948941" cy="683692"/>
            </a:xfrm>
            <a:solidFill>
              <a:schemeClr val="bg1"/>
            </a:solidFill>
          </p:grpSpPr>
          <p:sp>
            <p:nvSpPr>
              <p:cNvPr id="14" name="矩形 13"/>
              <p:cNvSpPr/>
              <p:nvPr/>
            </p:nvSpPr>
            <p:spPr>
              <a:xfrm>
                <a:off x="4662430" y="5178441"/>
                <a:ext cx="364510" cy="683690"/>
              </a:xfrm>
              <a:prstGeom prst="rect">
                <a:avLst/>
              </a:prstGeom>
              <a:solidFill>
                <a:srgbClr val="78AF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5" name="矩形 25"/>
              <p:cNvSpPr/>
              <p:nvPr/>
            </p:nvSpPr>
            <p:spPr>
              <a:xfrm>
                <a:off x="2077999" y="5178439"/>
                <a:ext cx="2520000" cy="683178"/>
              </a:xfrm>
              <a:custGeom>
                <a:avLst/>
                <a:gdLst/>
                <a:ahLst/>
                <a:cxnLst/>
                <a:rect l="l" t="t" r="r" b="b"/>
                <a:pathLst>
                  <a:path w="3995780" h="1199745">
                    <a:moveTo>
                      <a:pt x="3696727" y="760691"/>
                    </a:moveTo>
                    <a:lnTo>
                      <a:pt x="1033246" y="760691"/>
                    </a:lnTo>
                    <a:lnTo>
                      <a:pt x="1029703" y="940654"/>
                    </a:lnTo>
                    <a:lnTo>
                      <a:pt x="3696727" y="940654"/>
                    </a:lnTo>
                    <a:close/>
                    <a:moveTo>
                      <a:pt x="3700429" y="298400"/>
                    </a:moveTo>
                    <a:lnTo>
                      <a:pt x="1042348" y="298400"/>
                    </a:lnTo>
                    <a:lnTo>
                      <a:pt x="1038805" y="478363"/>
                    </a:lnTo>
                    <a:lnTo>
                      <a:pt x="3700429" y="478363"/>
                    </a:lnTo>
                    <a:close/>
                    <a:moveTo>
                      <a:pt x="3995780" y="2065"/>
                    </a:moveTo>
                    <a:lnTo>
                      <a:pt x="3995780" y="1198688"/>
                    </a:lnTo>
                    <a:lnTo>
                      <a:pt x="1024623" y="1198688"/>
                    </a:lnTo>
                    <a:lnTo>
                      <a:pt x="1024602" y="1199745"/>
                    </a:lnTo>
                    <a:lnTo>
                      <a:pt x="1022842" y="1198688"/>
                    </a:lnTo>
                    <a:lnTo>
                      <a:pt x="1014564" y="1198688"/>
                    </a:lnTo>
                    <a:lnTo>
                      <a:pt x="1014564" y="1193714"/>
                    </a:lnTo>
                    <a:lnTo>
                      <a:pt x="0" y="584102"/>
                    </a:lnTo>
                    <a:lnTo>
                      <a:pt x="1014564" y="18756"/>
                    </a:lnTo>
                    <a:lnTo>
                      <a:pt x="1014564" y="2065"/>
                    </a:lnTo>
                    <a:lnTo>
                      <a:pt x="1044517" y="2065"/>
                    </a:lnTo>
                    <a:lnTo>
                      <a:pt x="1048224" y="0"/>
                    </a:lnTo>
                    <a:lnTo>
                      <a:pt x="1048183" y="206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276600" y="3774440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计算机科学与技术学院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哈尔滨工业大学（深圳）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</p:spPr>
            <p:txBody>
              <a:bodyPr/>
              <a:lstStyle/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(1) 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有穷状态系统简介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(2) 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确定的有穷自动机（</a:t>
                </a: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DFA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(3) 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非确定有穷自动机（</a:t>
                </a: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NFA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(4) 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带空转移的非确定有穷自动机（</a:t>
                </a:r>
                <a14:m>
                  <m:oMath xmlns:m="http://schemas.openxmlformats.org/officeDocument/2006/math">
                    <m:r>
                      <a:rPr lang="zh-CN" altLang="en-AU" sz="36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en-AU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-NFA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  <a:blipFill rotWithShape="1">
                <a:blip r:embed="rId3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39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(1) 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有穷状态系统简介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确定有穷自动机（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非确定有穷自动机（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 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带空转移的非确定有穷自动机（𝜺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-NFA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>
            <a:noAutofit/>
          </a:bodyPr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有穷状态系统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2"/>
            <a:ext cx="8229600" cy="4525963"/>
          </a:xfrm>
        </p:spPr>
        <p:txBody>
          <a:bodyPr/>
          <a:lstStyle/>
          <a:p>
            <a:r>
              <a:rPr lang="zh-CN" altLang="en-US" dirty="0"/>
              <a:t>在系统的运行过程中，系统的状态在有限状态间不断变化，每个状态可以迁移到零个或多个状态，系统的输入决定执行哪个状态的迁移。</a:t>
            </a:r>
            <a:endParaRPr lang="en-AU" altLang="zh-CN" dirty="0"/>
          </a:p>
          <a:p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有穷状态系统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2"/>
            <a:ext cx="8229600" cy="4525963"/>
          </a:xfrm>
        </p:spPr>
        <p:txBody>
          <a:bodyPr/>
          <a:lstStyle/>
          <a:p>
            <a:r>
              <a:rPr lang="zh-CN" altLang="en-US" dirty="0"/>
              <a:t>在系统的运行过程中，系统的状态在有限状态间不断变化，每个状态可以迁移到零个或多个状态，系统的输入决定执行哪个状态的迁移。</a:t>
            </a:r>
            <a:endParaRPr lang="en-AU" altLang="zh-CN" dirty="0"/>
          </a:p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电视遥控器开关。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</a:t>
            </a:fld>
            <a:endParaRPr lang="en-US" altLang="zh-CN"/>
          </a:p>
        </p:txBody>
      </p:sp>
      <p:grpSp>
        <p:nvGrpSpPr>
          <p:cNvPr id="5" name="组合 15"/>
          <p:cNvGrpSpPr/>
          <p:nvPr/>
        </p:nvGrpSpPr>
        <p:grpSpPr bwMode="auto">
          <a:xfrm>
            <a:off x="1034585" y="3978277"/>
            <a:ext cx="7195017" cy="2574925"/>
            <a:chOff x="1981200" y="2971800"/>
            <a:chExt cx="7195756" cy="2575636"/>
          </a:xfrm>
        </p:grpSpPr>
        <p:grpSp>
          <p:nvGrpSpPr>
            <p:cNvPr id="6" name="组合 9"/>
            <p:cNvGrpSpPr/>
            <p:nvPr/>
          </p:nvGrpSpPr>
          <p:grpSpPr bwMode="auto">
            <a:xfrm>
              <a:off x="1981200" y="3013315"/>
              <a:ext cx="4361040" cy="2534121"/>
              <a:chOff x="2438400" y="3805409"/>
              <a:chExt cx="4361040" cy="2534121"/>
            </a:xfrm>
          </p:grpSpPr>
          <p:sp>
            <p:nvSpPr>
              <p:cNvPr id="10" name="椭圆 6"/>
              <p:cNvSpPr/>
              <p:nvPr/>
            </p:nvSpPr>
            <p:spPr>
              <a:xfrm>
                <a:off x="2438400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电视开</a:t>
                </a:r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4970723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电视关</a:t>
                </a:r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上弧形箭头 7"/>
              <p:cNvSpPr/>
              <p:nvPr/>
            </p:nvSpPr>
            <p:spPr>
              <a:xfrm>
                <a:off x="3352894" y="424980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上弧形箭头 12"/>
              <p:cNvSpPr/>
              <p:nvPr/>
            </p:nvSpPr>
            <p:spPr>
              <a:xfrm rot="10800000">
                <a:off x="3352894" y="543599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矩形 8"/>
              <p:cNvSpPr>
                <a:spLocks noChangeArrowheads="1"/>
              </p:cNvSpPr>
              <p:nvPr/>
            </p:nvSpPr>
            <p:spPr bwMode="auto">
              <a:xfrm>
                <a:off x="4254937" y="3805409"/>
                <a:ext cx="80345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关闭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4254936" y="5877865"/>
                <a:ext cx="80345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打开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7" name="椭圆 17"/>
            <p:cNvSpPr/>
            <p:nvPr/>
          </p:nvSpPr>
          <p:spPr>
            <a:xfrm>
              <a:off x="6325046" y="2997207"/>
              <a:ext cx="533455" cy="319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13"/>
            <p:cNvSpPr>
              <a:spLocks noChangeArrowheads="1"/>
            </p:cNvSpPr>
            <p:nvPr/>
          </p:nvSpPr>
          <p:spPr bwMode="auto">
            <a:xfrm>
              <a:off x="6858000" y="2971800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状态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" name="矩形 19"/>
            <p:cNvSpPr>
              <a:spLocks noChangeArrowheads="1"/>
            </p:cNvSpPr>
            <p:nvPr/>
          </p:nvSpPr>
          <p:spPr bwMode="auto">
            <a:xfrm>
              <a:off x="6324600" y="3361490"/>
              <a:ext cx="2852356" cy="369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关闭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打开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—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输入字符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命令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有穷状态系统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2"/>
            <a:ext cx="8229600" cy="4525963"/>
          </a:xfrm>
        </p:spPr>
        <p:txBody>
          <a:bodyPr/>
          <a:lstStyle/>
          <a:p>
            <a:r>
              <a:rPr lang="zh-CN" altLang="en-US" dirty="0"/>
              <a:t>在系统的运行过程中，系统的状态在有限状态间不断变化，每个状态可以迁移到零个或多个状态，系统的输入决定执行哪个状态的迁移。</a:t>
            </a:r>
            <a:endParaRPr lang="en-AU" altLang="zh-CN" dirty="0"/>
          </a:p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交通信号灯。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</a:t>
            </a:fld>
            <a:endParaRPr lang="en-US" altLang="zh-CN"/>
          </a:p>
        </p:txBody>
      </p:sp>
      <p:pic>
        <p:nvPicPr>
          <p:cNvPr id="17" name="Picture 16" descr="A picture containing shape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124501"/>
            <a:ext cx="3708612" cy="28806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2400" y="6538913"/>
            <a:ext cx="6088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>
                <a:solidFill>
                  <a:schemeClr val="bg2">
                    <a:lumMod val="75000"/>
                  </a:schemeClr>
                </a:solidFill>
              </a:rPr>
              <a:t>Source: https://medium.com/well-red/state-machines-for-everyone-part-1-introduction-b7ac9aaf482e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7A3537-6807-4DB9-9C27-CC2CC5635447}" type="datetime1">
              <a:rPr lang="zh-CN" altLang="en-US"/>
              <a:t>2026/3/20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41364-C50F-4372-9E08-A69EFF92445A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2"/>
            <a:ext cx="8686800" cy="4525963"/>
          </a:xfrm>
        </p:spPr>
        <p:txBody>
          <a:bodyPr/>
          <a:lstStyle/>
          <a:p>
            <a:pPr marL="533400" indent="-533400" algn="just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有穷状态系统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ea typeface="宋体" panose="02010600030101010101" pitchFamily="2" charset="-122"/>
              </a:rPr>
              <a:t>狼、羊、菜问题”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17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2"/>
            <a:ext cx="8001000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7" y="2130425"/>
            <a:ext cx="79978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有穷状态系统</a:t>
            </a:r>
            <a:endParaRPr lang="en-AU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有穷状态系统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r>
              <a:rPr lang="zh-CN" altLang="en-US" dirty="0"/>
              <a:t>数字电路设计</a:t>
            </a:r>
            <a:endParaRPr lang="en-AU" altLang="zh-CN" dirty="0"/>
          </a:p>
          <a:p>
            <a:r>
              <a:rPr lang="zh-CN" altLang="en-US" dirty="0"/>
              <a:t>电脑游戏设计</a:t>
            </a:r>
            <a:endParaRPr lang="en-AU" altLang="zh-CN" dirty="0"/>
          </a:p>
          <a:p>
            <a:r>
              <a:rPr lang="zh-CN" altLang="en-US" dirty="0"/>
              <a:t>各种通信协议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TCP, HTTP, Bluetooth, </a:t>
            </a:r>
            <a:r>
              <a:rPr lang="en-AU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en-A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/>
              <a:t>文本搜索，词法分析等</a:t>
            </a:r>
            <a:endParaRPr lang="en-US" altLang="zh-CN" dirty="0"/>
          </a:p>
          <a:p>
            <a:r>
              <a:rPr lang="zh-CN" altLang="en-US" dirty="0"/>
              <a:t>编译器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有穷自动机抽象装置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一条输入带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一个读头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一个有穷控制器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97" y="730550"/>
            <a:ext cx="4799655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701038" y="4027944"/>
            <a:ext cx="74523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输入带划分为单元格，每个格子可以放置一个字符，整条输入带可以表示一个符号串。</a:t>
            </a: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有穷自动机抽象装置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一条输入带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一个读头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一个有穷控制器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97" y="730550"/>
            <a:ext cx="4799655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701038" y="4027944"/>
            <a:ext cx="74523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输入带划分为单元格，每个格子可以放置一个字符，整条输入带可以表示一个符号串。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</a:rPr>
              <a:t>读头可以从左到右扫描输入带，将每次的字符传输给控制器。</a:t>
            </a: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有穷自动机抽象装置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一条输入带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一个读头</a:t>
            </a:r>
            <a:endParaRPr lang="en-AU" altLang="zh-CN" sz="2400" dirty="0"/>
          </a:p>
          <a:p>
            <a:endParaRPr lang="en-AU" altLang="zh-CN" sz="2400" dirty="0"/>
          </a:p>
          <a:p>
            <a:r>
              <a:rPr lang="zh-CN" altLang="en-US" sz="2400" dirty="0"/>
              <a:t>一个有穷控制器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97" y="730550"/>
            <a:ext cx="4799655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701038" y="4027944"/>
            <a:ext cx="74523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输入带划分为单元格，每个格子可以放置一个字符，整条输入带可以表示一个符号串。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</a:rPr>
              <a:t>读头可以从左到右扫描输入带，将每次的字符传输给控制器。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r>
              <a:rPr lang="zh-CN" altLang="en-US" sz="2400" dirty="0">
                <a:latin typeface="宋体" panose="02010600030101010101" pitchFamily="2" charset="-122"/>
              </a:rPr>
              <a:t>控制器根据读入的字符和当前的状态，进行状态转移。然后控制读头进行下一个字符的读取。</a:t>
            </a: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Tx/>
              <a:buChar char="-"/>
            </a:pPr>
            <a:endParaRPr lang="en-AU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39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 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有穷状态系统简介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确定有穷自动机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非确定有穷自动机</a:t>
            </a:r>
          </a:p>
          <a:p>
            <a:pPr algn="just">
              <a:buNone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 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带空转移的非确定有穷自动机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7A3537-6807-4DB9-9C27-CC2CC5635447}" type="datetime1">
              <a:rPr lang="zh-CN" altLang="en-US"/>
              <a:t>2026/3/20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96ABC-C04D-4C19-B219-FA1C55B06346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2"/>
            <a:ext cx="8686800" cy="4525963"/>
          </a:xfrm>
        </p:spPr>
        <p:txBody>
          <a:bodyPr/>
          <a:lstStyle/>
          <a:p>
            <a:pPr marL="533400" indent="-533400" algn="just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确定有穷自动机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eterministic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inite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utomaton, DFA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具有有穷个状态，不同的状态代表不同的意义。按照实际的需要，可以在不同的状态间转换。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将输入字符串中的字符汇集在一起构成一个字母表。处理的所有字符串都是该字母表上的字符串。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在任一状态下，从输入字符串中读入一个字符，根据当前状态和读入的这个字符转到新的状态。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有一个开始状态</a:t>
            </a:r>
            <a:r>
              <a:rPr lang="zh-CN" altLang="en-US" b="1" dirty="0">
                <a:ea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还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有一些终止（或接受）状态</a:t>
            </a:r>
            <a:r>
              <a:rPr lang="zh-CN" altLang="en-US" b="1" dirty="0">
                <a:ea typeface="宋体" panose="02010600030101010101" pitchFamily="2" charset="-122"/>
              </a:rPr>
              <a:t>，表示到目前为止所读入的字符构成的字符串是语言的一个句子。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92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确定有穷自动机</a:t>
            </a:r>
            <a:endParaRPr lang="en-AU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形式化定义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2"/>
                <a:ext cx="8229600" cy="4525963"/>
              </a:xfrm>
            </p:spPr>
            <p:txBody>
              <a:bodyPr>
                <a:noAutofit/>
              </a:bodyPr>
              <a:lstStyle/>
              <a:p>
                <a:pPr indent="0">
                  <a:lnSpc>
                    <a:spcPct val="125000"/>
                  </a:lnSpc>
                  <a:buNone/>
                </a:pPr>
                <a:r>
                  <a:rPr lang="zh-CN" altLang="en-US" dirty="0"/>
                  <a:t>定义：确定的有穷自动机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DFA, Deterministic Finite Automaton</a:t>
                </a:r>
                <a:r>
                  <a:rPr lang="en-AU" altLang="zh-CN" dirty="0"/>
                  <a:t>)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为五元组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dirty="0"/>
              </a:p>
              <a:p>
                <a:pPr marL="400050" lvl="1" indent="0">
                  <a:lnSpc>
                    <a:spcPct val="125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有穷状态集；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125000"/>
                  </a:lnSpc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有穷输入符号集或字母表；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finite set of input symbols/alphabet)</a:t>
                </a:r>
              </a:p>
              <a:p>
                <a:pPr marL="400050" lvl="1" indent="0">
                  <a:lnSpc>
                    <a:spcPct val="125000"/>
                  </a:lnSpc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状态转移函数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transition function)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AU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125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初始状态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start state)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125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终结状态集或接受状态集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set of accepting states)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indent="0">
                  <a:lnSpc>
                    <a:spcPct val="125000"/>
                  </a:lnSpc>
                  <a:spcBef>
                    <a:spcPts val="0"/>
                  </a:spcBef>
                </a:pP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2"/>
                <a:ext cx="8229600" cy="4525963"/>
              </a:xfrm>
              <a:blipFill rotWithShape="1">
                <a:blip r:embed="rId3"/>
                <a:stretch>
                  <a:fillRect b="-40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15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例：用</a:t>
            </a:r>
            <a:r>
              <a:rPr lang="en-US" altLang="zh-CN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表示电视遥控器开关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5" name="组合 15"/>
          <p:cNvGrpSpPr/>
          <p:nvPr/>
        </p:nvGrpSpPr>
        <p:grpSpPr bwMode="auto">
          <a:xfrm>
            <a:off x="1371600" y="2151052"/>
            <a:ext cx="6597085" cy="1985665"/>
            <a:chOff x="1981200" y="2922234"/>
            <a:chExt cx="7651164" cy="2684699"/>
          </a:xfrm>
        </p:grpSpPr>
        <p:grpSp>
          <p:nvGrpSpPr>
            <p:cNvPr id="16" name="组合 9"/>
            <p:cNvGrpSpPr/>
            <p:nvPr/>
          </p:nvGrpSpPr>
          <p:grpSpPr bwMode="auto">
            <a:xfrm>
              <a:off x="1981200" y="2922234"/>
              <a:ext cx="4361311" cy="2684699"/>
              <a:chOff x="2438400" y="3714328"/>
              <a:chExt cx="4361311" cy="2684699"/>
            </a:xfrm>
          </p:grpSpPr>
          <p:sp>
            <p:nvSpPr>
              <p:cNvPr id="20" name="椭圆 6"/>
              <p:cNvSpPr/>
              <p:nvPr/>
            </p:nvSpPr>
            <p:spPr>
              <a:xfrm>
                <a:off x="2438400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电视开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4970723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电视关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上弧形箭头 7"/>
              <p:cNvSpPr/>
              <p:nvPr/>
            </p:nvSpPr>
            <p:spPr>
              <a:xfrm>
                <a:off x="3352894" y="424980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上弧形箭头 19"/>
              <p:cNvSpPr/>
              <p:nvPr/>
            </p:nvSpPr>
            <p:spPr>
              <a:xfrm rot="10800000">
                <a:off x="3352894" y="543599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矩形 8"/>
              <p:cNvSpPr>
                <a:spLocks noChangeArrowheads="1"/>
              </p:cNvSpPr>
              <p:nvPr/>
            </p:nvSpPr>
            <p:spPr bwMode="auto">
              <a:xfrm>
                <a:off x="4254937" y="3714328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关闭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矩形 24"/>
              <p:cNvSpPr>
                <a:spLocks noChangeArrowheads="1"/>
              </p:cNvSpPr>
              <p:nvPr/>
            </p:nvSpPr>
            <p:spPr bwMode="auto">
              <a:xfrm>
                <a:off x="4254936" y="5774837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打开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7" name="椭圆 17"/>
            <p:cNvSpPr/>
            <p:nvPr/>
          </p:nvSpPr>
          <p:spPr>
            <a:xfrm>
              <a:off x="6325046" y="2997207"/>
              <a:ext cx="533455" cy="319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3"/>
            <p:cNvSpPr>
              <a:spLocks noChangeArrowheads="1"/>
            </p:cNvSpPr>
            <p:nvPr/>
          </p:nvSpPr>
          <p:spPr bwMode="auto">
            <a:xfrm>
              <a:off x="6858000" y="2971800"/>
              <a:ext cx="749601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状态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矩形 19"/>
            <p:cNvSpPr>
              <a:spLocks noChangeArrowheads="1"/>
            </p:cNvSpPr>
            <p:nvPr/>
          </p:nvSpPr>
          <p:spPr bwMode="auto">
            <a:xfrm>
              <a:off x="6324600" y="3361490"/>
              <a:ext cx="3307764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关闭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打开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—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输入字符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命令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2480" cy="341632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933450" lvl="1" indent="-533400" algn="just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  <a:cs typeface="Times New Roman" panose="02020603050405020304" pitchFamily="18" charset="0"/>
              </a:rPr>
              <a:t>字母表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按开关键）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33450" lvl="1" indent="-533400" algn="just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有穷状态集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457200" algn="just">
              <a:lnSpc>
                <a:spcPct val="90000"/>
              </a:lnSpc>
              <a:buFontTx/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电视关（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初始状态，也是终止符）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457200" algn="just">
              <a:lnSpc>
                <a:spcPct val="90000"/>
              </a:lnSpc>
              <a:buFontTx/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电视开（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33450" lvl="1" indent="-533400" algn="just">
              <a:lnSpc>
                <a:spcPct val="90000"/>
              </a:lnSpc>
            </a:pPr>
            <a:r>
              <a:rPr lang="zh-CN" altLang="en-US" sz="2400" b="1" dirty="0">
                <a:ea typeface="宋体" panose="02010600030101010101" pitchFamily="2" charset="-122"/>
              </a:rPr>
              <a:t>状态转换函数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24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宋体" panose="02010600030101010101" pitchFamily="2" charset="-122"/>
              </a:rPr>
              <a:t>：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marL="933450" lvl="1" indent="-533400" algn="just">
              <a:lnSpc>
                <a:spcPct val="90000"/>
              </a:lnSpc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	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grpSp>
        <p:nvGrpSpPr>
          <p:cNvPr id="32" name="组合 31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9" name="RemarkBa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RemarkBlock"/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RemarkTitleText"/>
            <p:cNvSpPr txBox="1"/>
            <p:nvPr>
              <p:custDataLst>
                <p:tags r:id="rId1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36" name="组合 35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16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例：设计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800" dirty="0"/>
                  <a:t>，在任何由</a:t>
                </a:r>
                <a:r>
                  <a:rPr lang="en-US" altLang="zh-CN" sz="2800" dirty="0"/>
                  <a:t>0</a:t>
                </a:r>
                <a:r>
                  <a:rPr lang="zh-CN" altLang="en-US" sz="2800" dirty="0"/>
                  <a:t>和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构成的串中，接受含有</a:t>
                </a:r>
                <a:r>
                  <a:rPr lang="en-US" altLang="zh-CN" sz="2800" dirty="0"/>
                  <a:t>01</a:t>
                </a:r>
                <a:r>
                  <a:rPr lang="zh-CN" altLang="en-US" sz="2800" dirty="0"/>
                  <a:t>子串的全部串。</a:t>
                </a:r>
                <a:endParaRPr lang="en-US" altLang="zh-CN" sz="2800" dirty="0"/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zh-CN" altLang="en-US" sz="2800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779000" y="1270000"/>
                <a:ext cx="3332480" cy="4801314"/>
              </a:xfrm>
              <a:prstGeom prst="rect">
                <a:avLst/>
              </a:prstGeom>
              <a:noFill/>
            </p:spPr>
            <p:txBody>
              <a:bodyPr vert="horz" rtlCol="0" anchor="t" anchorCtr="0">
                <a:spAutoFit/>
              </a:bodyPr>
              <a:lstStyle/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已经发现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子串，不再关心串的其余部分（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终止）</a:t>
                </a:r>
              </a:p>
              <a:p>
                <a:pPr lvl="1"/>
                <a:r>
                  <a:rPr lang="zh-CN" altLang="en-US" dirty="0"/>
                  <a:t>状态转换函数</a:t>
                </a:r>
                <a:r>
                  <a:rPr lang="en-AU" altLang="zh-CN" dirty="0"/>
                  <a:t>: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b="0" i="0" dirty="0">
                    <a:latin typeface="Cambria Math" panose="02040503050406030204" pitchFamily="18" charset="0"/>
                    <a:ea typeface="宋体" panose="02010600030101010101" pitchFamily="2" charset="-122"/>
                  </a:rPr>
                  <a:t>,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Cambria Math" panose="02040503050406030204" pitchFamily="18" charset="0"/>
                    <a:ea typeface="宋体" panose="02010600030101010101" pitchFamily="2" charset="-122"/>
                  </a:rPr>
                  <a:t>,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</a:p>
              <a:p>
                <a:pPr marL="74295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𝛿</m:t>
                      </m:r>
                      <m:d>
                        <m:dPr>
                          <m:ctrlPr>
                            <a:rPr lang="en-AU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,1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AU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𝑞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779000" y="1270000"/>
                <a:ext cx="3332480" cy="4801314"/>
              </a:xfrm>
              <a:prstGeom prst="rect">
                <a:avLst/>
              </a:prstGeom>
              <a:blipFill rotWithShape="1">
                <a:blip r:embed="rId20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7A3537-6807-4DB9-9C27-CC2CC5635447}" type="datetime1">
              <a:rPr lang="zh-CN" altLang="en-US"/>
              <a:t>2026/3/20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3072B-168B-43A8-9AEC-00E9DB025B2B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87216"/>
            <a:ext cx="8686800" cy="5138948"/>
          </a:xfrm>
        </p:spPr>
        <p:txBody>
          <a:bodyPr/>
          <a:lstStyle/>
          <a:p>
            <a:pPr marL="533400" indent="-533400" algn="just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例：电视遥控器开关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2" name="Rectangle 1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3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grpSp>
        <p:nvGrpSpPr>
          <p:cNvPr id="12" name="组合 15"/>
          <p:cNvGrpSpPr/>
          <p:nvPr/>
        </p:nvGrpSpPr>
        <p:grpSpPr bwMode="auto">
          <a:xfrm>
            <a:off x="1034585" y="1334944"/>
            <a:ext cx="6597085" cy="1985665"/>
            <a:chOff x="1981200" y="2922234"/>
            <a:chExt cx="7651164" cy="2684699"/>
          </a:xfrm>
        </p:grpSpPr>
        <p:grpSp>
          <p:nvGrpSpPr>
            <p:cNvPr id="13" name="组合 9"/>
            <p:cNvGrpSpPr/>
            <p:nvPr/>
          </p:nvGrpSpPr>
          <p:grpSpPr bwMode="auto">
            <a:xfrm>
              <a:off x="1981200" y="2922234"/>
              <a:ext cx="4361311" cy="2684699"/>
              <a:chOff x="2438400" y="3714328"/>
              <a:chExt cx="4361311" cy="2684699"/>
            </a:xfrm>
          </p:grpSpPr>
          <p:sp>
            <p:nvSpPr>
              <p:cNvPr id="17" name="椭圆 6"/>
              <p:cNvSpPr/>
              <p:nvPr/>
            </p:nvSpPr>
            <p:spPr>
              <a:xfrm>
                <a:off x="2438400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电视开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4970723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电视关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上弧形箭头 7"/>
              <p:cNvSpPr/>
              <p:nvPr/>
            </p:nvSpPr>
            <p:spPr>
              <a:xfrm>
                <a:off x="3352894" y="424980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上弧形箭头 19"/>
              <p:cNvSpPr/>
              <p:nvPr/>
            </p:nvSpPr>
            <p:spPr>
              <a:xfrm rot="10800000">
                <a:off x="3352894" y="543599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 8"/>
              <p:cNvSpPr>
                <a:spLocks noChangeArrowheads="1"/>
              </p:cNvSpPr>
              <p:nvPr/>
            </p:nvSpPr>
            <p:spPr bwMode="auto">
              <a:xfrm>
                <a:off x="4254937" y="3714328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关闭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矩形 21"/>
              <p:cNvSpPr>
                <a:spLocks noChangeArrowheads="1"/>
              </p:cNvSpPr>
              <p:nvPr/>
            </p:nvSpPr>
            <p:spPr bwMode="auto">
              <a:xfrm>
                <a:off x="4254936" y="5774837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打开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4" name="椭圆 17"/>
            <p:cNvSpPr/>
            <p:nvPr/>
          </p:nvSpPr>
          <p:spPr>
            <a:xfrm>
              <a:off x="6325046" y="2997207"/>
              <a:ext cx="533455" cy="319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矩形 13"/>
            <p:cNvSpPr>
              <a:spLocks noChangeArrowheads="1"/>
            </p:cNvSpPr>
            <p:nvPr/>
          </p:nvSpPr>
          <p:spPr bwMode="auto">
            <a:xfrm>
              <a:off x="6858000" y="2971800"/>
              <a:ext cx="749601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状态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" name="矩形 19"/>
            <p:cNvSpPr>
              <a:spLocks noChangeArrowheads="1"/>
            </p:cNvSpPr>
            <p:nvPr/>
          </p:nvSpPr>
          <p:spPr bwMode="auto">
            <a:xfrm>
              <a:off x="6324600" y="3361490"/>
              <a:ext cx="3307764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关闭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打开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—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输入字符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命令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7A3537-6807-4DB9-9C27-CC2CC5635447}" type="datetime1">
              <a:rPr lang="zh-CN" altLang="en-US"/>
              <a:t>2026/3/20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3072B-168B-43A8-9AEC-00E9DB025B2B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87216"/>
            <a:ext cx="8686800" cy="5138948"/>
          </a:xfrm>
        </p:spPr>
        <p:txBody>
          <a:bodyPr/>
          <a:lstStyle/>
          <a:p>
            <a:pPr marL="533400" indent="-533400" algn="just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例：电视遥控器开关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3400" indent="-533400" algn="just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 algn="just">
              <a:lnSpc>
                <a:spcPct val="90000"/>
              </a:lnSpc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3400" indent="-533400" algn="just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 algn="just">
              <a:lnSpc>
                <a:spcPct val="90000"/>
              </a:lnSpc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33450" lvl="1" indent="-533400" algn="just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  <a:cs typeface="Times New Roman" panose="02020603050405020304" pitchFamily="18" charset="0"/>
              </a:rPr>
              <a:t>字母表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按开关键）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33450" lvl="1" indent="-533400" algn="just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有穷状态集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457200" algn="just">
              <a:lnSpc>
                <a:spcPct val="90000"/>
              </a:lnSpc>
              <a:buFontTx/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电视关（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初始状态，也是终止符）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457200" algn="just">
              <a:lnSpc>
                <a:spcPct val="90000"/>
              </a:lnSpc>
              <a:buFontTx/>
              <a:buAutoNum type="arabicParenBoth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电视开（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33450" lvl="1" indent="-533400" algn="just"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</a:rPr>
              <a:t>状态转换函数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endParaRPr lang="en-US" altLang="zh-CN" b="1" dirty="0">
              <a:ea typeface="宋体" panose="02010600030101010101" pitchFamily="2" charset="-122"/>
            </a:endParaRPr>
          </a:p>
          <a:p>
            <a:pPr marL="933450" lvl="1" indent="-533400" algn="just">
              <a:lnSpc>
                <a:spcPct val="90000"/>
              </a:lnSpc>
              <a:buNone/>
            </a:pPr>
            <a:r>
              <a:rPr lang="en-US" altLang="zh-CN" b="1" dirty="0">
                <a:ea typeface="宋体" panose="02010600030101010101" pitchFamily="2" charset="-122"/>
              </a:rPr>
              <a:t>	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b="1" dirty="0">
              <a:ea typeface="宋体" panose="02010600030101010101" pitchFamily="2" charset="-122"/>
            </a:endParaRPr>
          </a:p>
          <a:p>
            <a:pPr marL="933450" lvl="1" indent="-533400" algn="just">
              <a:lnSpc>
                <a:spcPct val="90000"/>
              </a:lnSpc>
              <a:buNone/>
            </a:pP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2" name="Rectangle 1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273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grpSp>
        <p:nvGrpSpPr>
          <p:cNvPr id="12" name="组合 15"/>
          <p:cNvGrpSpPr/>
          <p:nvPr/>
        </p:nvGrpSpPr>
        <p:grpSpPr bwMode="auto">
          <a:xfrm>
            <a:off x="1034585" y="1334944"/>
            <a:ext cx="6597085" cy="1985665"/>
            <a:chOff x="1981200" y="2922234"/>
            <a:chExt cx="7651164" cy="2684699"/>
          </a:xfrm>
        </p:grpSpPr>
        <p:grpSp>
          <p:nvGrpSpPr>
            <p:cNvPr id="13" name="组合 9"/>
            <p:cNvGrpSpPr/>
            <p:nvPr/>
          </p:nvGrpSpPr>
          <p:grpSpPr bwMode="auto">
            <a:xfrm>
              <a:off x="1981200" y="2922234"/>
              <a:ext cx="4361311" cy="2684699"/>
              <a:chOff x="2438400" y="3714328"/>
              <a:chExt cx="4361311" cy="2684699"/>
            </a:xfrm>
          </p:grpSpPr>
          <p:sp>
            <p:nvSpPr>
              <p:cNvPr id="17" name="椭圆 6"/>
              <p:cNvSpPr/>
              <p:nvPr/>
            </p:nvSpPr>
            <p:spPr>
              <a:xfrm>
                <a:off x="2438400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电视开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4970723" y="4707129"/>
                <a:ext cx="1828988" cy="7288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电视关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上弧形箭头 7"/>
              <p:cNvSpPr/>
              <p:nvPr/>
            </p:nvSpPr>
            <p:spPr>
              <a:xfrm>
                <a:off x="3352894" y="424980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上弧形箭头 19"/>
              <p:cNvSpPr/>
              <p:nvPr/>
            </p:nvSpPr>
            <p:spPr>
              <a:xfrm rot="10800000">
                <a:off x="3352894" y="5435993"/>
                <a:ext cx="2608531" cy="457326"/>
              </a:xfrm>
              <a:prstGeom prst="curved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 8"/>
              <p:cNvSpPr>
                <a:spLocks noChangeArrowheads="1"/>
              </p:cNvSpPr>
              <p:nvPr/>
            </p:nvSpPr>
            <p:spPr bwMode="auto">
              <a:xfrm>
                <a:off x="4254937" y="3714328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关闭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矩形 21"/>
              <p:cNvSpPr>
                <a:spLocks noChangeArrowheads="1"/>
              </p:cNvSpPr>
              <p:nvPr/>
            </p:nvSpPr>
            <p:spPr bwMode="auto">
              <a:xfrm>
                <a:off x="4254936" y="5774837"/>
                <a:ext cx="931796" cy="624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打开</a:t>
                </a:r>
                <a:endParaRPr lang="en-US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4" name="椭圆 17"/>
            <p:cNvSpPr/>
            <p:nvPr/>
          </p:nvSpPr>
          <p:spPr>
            <a:xfrm>
              <a:off x="6325046" y="2997207"/>
              <a:ext cx="533455" cy="319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矩形 13"/>
            <p:cNvSpPr>
              <a:spLocks noChangeArrowheads="1"/>
            </p:cNvSpPr>
            <p:nvPr/>
          </p:nvSpPr>
          <p:spPr bwMode="auto">
            <a:xfrm>
              <a:off x="6858000" y="2971800"/>
              <a:ext cx="749601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状态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" name="矩形 19"/>
            <p:cNvSpPr>
              <a:spLocks noChangeArrowheads="1"/>
            </p:cNvSpPr>
            <p:nvPr/>
          </p:nvSpPr>
          <p:spPr bwMode="auto">
            <a:xfrm>
              <a:off x="6324600" y="3361490"/>
              <a:ext cx="3307764" cy="499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关闭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打开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—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输入字符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命令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endParaRPr lang="en-US" altLang="zh-CN" dirty="0"/>
              </a:p>
              <a:p>
                <a:pPr marL="342900" lvl="1" indent="0">
                  <a:buNone/>
                </a:pPr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marL="342900" lvl="1" indent="0">
                  <a:buNone/>
                </a:pPr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={0,1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={0,1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已经发现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子串，不再关心串的其余部分（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终止）</a:t>
                </a: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2"/>
                <a:stretch>
                  <a:fillRect r="-204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21335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={0,1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已经发现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子串，不再关心串的其余部分（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终止）</a:t>
                </a:r>
              </a:p>
              <a:p>
                <a:pPr lvl="1"/>
                <a:r>
                  <a:rPr lang="zh-CN" altLang="en-US" dirty="0"/>
                  <a:t>状态转换函数</a:t>
                </a:r>
                <a:r>
                  <a:rPr lang="en-AU" altLang="zh-CN" dirty="0"/>
                  <a:t>: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endParaRPr lang="en-AU" altLang="zh-CN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</m:t>
                    </m:r>
                  </m:oMath>
                </a14:m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213350"/>
              </a:xfrm>
              <a:blipFill rotWithShape="1">
                <a:blip r:embed="rId2"/>
                <a:stretch>
                  <a:fillRect r="-2045" b="-5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1816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={0,1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已经发现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子串，不再关心串的其余部分（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终止）</a:t>
                </a:r>
              </a:p>
              <a:p>
                <a:pPr lvl="1"/>
                <a:r>
                  <a:rPr lang="zh-CN" altLang="en-US" dirty="0"/>
                  <a:t>状态转换函数</a:t>
                </a:r>
                <a:r>
                  <a:rPr lang="en-AU" altLang="zh-CN" dirty="0"/>
                  <a:t>: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</m:t>
                    </m:r>
                  </m:oMath>
                </a14:m>
                <a:endParaRPr lang="en-AU" altLang="zh-CN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</m:t>
                    </m:r>
                  </m:oMath>
                </a14:m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181600"/>
              </a:xfrm>
              <a:blipFill rotWithShape="1">
                <a:blip r:embed="rId2"/>
                <a:stretch>
                  <a:fillRect r="-2045" b="-6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例：设计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，在任何由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构成的串中，接受含有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子串的全部串。</a:t>
                </a:r>
              </a:p>
              <a:p>
                <a:pPr lvl="1"/>
                <a:r>
                  <a:rPr lang="zh-CN" altLang="en-US" dirty="0"/>
                  <a:t>字母表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={0,1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有穷状态集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子串，且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也还没出现（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初始状态）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没发现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子串，但刚刚已经读入了一个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，只需再读入一个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就符合条件了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</a:p>
              <a:p>
                <a:pPr lvl="2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已经发现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子串，不再关心串的其余部分（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终止）</a:t>
                </a:r>
              </a:p>
              <a:p>
                <a:pPr lvl="1"/>
                <a:r>
                  <a:rPr lang="zh-CN" altLang="en-US" dirty="0"/>
                  <a:t>状态转换函数</a:t>
                </a:r>
                <a:r>
                  <a:rPr lang="en-AU" altLang="zh-CN" dirty="0"/>
                  <a:t>:</a:t>
                </a: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,0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endParaRPr lang="en-AU" altLang="zh-CN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742950" lvl="2" indent="0" algn="just"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d>
                      <m:d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3"/>
                <a:stretch>
                  <a:fillRect r="-2045" b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状态转移图和状态转移表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r>
              <a:rPr lang="zh-CN" altLang="en-US" dirty="0"/>
              <a:t>两种直观的表示方式</a:t>
            </a: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5" name="Rectangle: Rounded Corners 4"/>
          <p:cNvSpPr/>
          <p:nvPr/>
        </p:nvSpPr>
        <p:spPr>
          <a:xfrm>
            <a:off x="1238250" y="2910840"/>
            <a:ext cx="3048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状态转移图</a:t>
            </a:r>
            <a:endParaRPr lang="en-AU" sz="4000" b="1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4876800" y="2910840"/>
            <a:ext cx="3048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状态转移表</a:t>
            </a:r>
            <a:endParaRPr lang="en-AU" sz="40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状态转移图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对应一个节点，用圆圈表示；</a:t>
                </a:r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27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14" y="4494373"/>
            <a:ext cx="5448772" cy="17984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状态转移图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对应一个节点，用圆圈表示；</a:t>
                </a:r>
                <a:endParaRPr lang="en-AU" altLang="zh-CN" dirty="0"/>
              </a:p>
              <a:p>
                <a:r>
                  <a:rPr lang="zh-CN" altLang="en-US" dirty="0"/>
                  <a:t>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为一条从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且标记为输入字符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的有向边</a:t>
                </a:r>
                <a:r>
                  <a:rPr lang="en-US" altLang="zh-CN" dirty="0"/>
                  <a:t>;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28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14" y="4494373"/>
            <a:ext cx="5448772" cy="17984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状态转移图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对应一个节点，用圆圈表示；</a:t>
                </a:r>
                <a:endParaRPr lang="en-AU" altLang="zh-CN" dirty="0"/>
              </a:p>
              <a:p>
                <a:r>
                  <a:rPr lang="zh-CN" altLang="en-US" dirty="0"/>
                  <a:t>状态转移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为一条从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且标记为输入字符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的有向边</a:t>
                </a:r>
                <a:r>
                  <a:rPr lang="en-US" altLang="zh-CN" dirty="0"/>
                  <a:t>;</a:t>
                </a:r>
              </a:p>
              <a:p>
                <a:r>
                  <a:rPr lang="zh-CN" altLang="en-US" dirty="0"/>
                  <a:t>开始状态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节点用一个标有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/>
                  <a:t>箭头标识</a:t>
                </a:r>
                <a:r>
                  <a:rPr lang="en-US" altLang="zh-CN" dirty="0"/>
                  <a:t>;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29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14" y="4494373"/>
            <a:ext cx="5448772" cy="17984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状态转移图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对应一个节点，用圆圈表示；</a:t>
                </a:r>
                <a:endParaRPr lang="en-AU" altLang="zh-CN" dirty="0"/>
              </a:p>
              <a:p>
                <a:r>
                  <a:rPr lang="zh-CN" altLang="en-US" dirty="0"/>
                  <a:t>状态转移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为一条从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且标记为输入字符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的有向边</a:t>
                </a:r>
                <a:r>
                  <a:rPr lang="en-US" altLang="zh-CN" dirty="0"/>
                  <a:t>;</a:t>
                </a:r>
              </a:p>
              <a:p>
                <a:r>
                  <a:rPr lang="zh-CN" altLang="en-US" dirty="0"/>
                  <a:t>开始状态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节点用一个标有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/>
                  <a:t>箭头标识</a:t>
                </a:r>
                <a:r>
                  <a:rPr lang="en-US" altLang="zh-CN" dirty="0"/>
                  <a:t>;</a:t>
                </a:r>
              </a:p>
              <a:p>
                <a:r>
                  <a:rPr lang="zh-CN" altLang="en-US" dirty="0"/>
                  <a:t>接受状态节点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用双圆圈表示。</a:t>
                </a:r>
                <a:endParaRPr lang="en-US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30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14" y="4494373"/>
            <a:ext cx="5448772" cy="17984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状态转移表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8006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对应一行，每个字符</a:t>
                </a:r>
                <a14:m>
                  <m:oMath xmlns:m="http://schemas.openxmlformats.org/officeDocument/2006/math">
                    <m:r>
                      <a:rPr lang="en-AU" altLang="zh-CN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对应一列；</a:t>
                </a:r>
              </a:p>
              <a:p>
                <a:pPr marL="0" indent="0">
                  <a:buNone/>
                </a:pPr>
                <a:endParaRPr lang="en-AU" altLang="zh-CN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8006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31</a:t>
            </a:fld>
            <a:endParaRPr lang="en-US" altLang="zh-CN"/>
          </a:p>
        </p:txBody>
      </p:sp>
      <p:pic>
        <p:nvPicPr>
          <p:cNvPr id="6" name="Picture 5" descr="Table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38" y="4111767"/>
            <a:ext cx="2850127" cy="2027096"/>
          </a:xfrm>
          <a:prstGeom prst="rect">
            <a:avLst/>
          </a:prstGeom>
        </p:spPr>
      </p:pic>
      <p:sp>
        <p:nvSpPr>
          <p:cNvPr id="5" name="左大括号 4"/>
          <p:cNvSpPr/>
          <p:nvPr/>
        </p:nvSpPr>
        <p:spPr>
          <a:xfrm>
            <a:off x="3124200" y="4648200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62200" y="5035034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状态</a:t>
            </a:r>
          </a:p>
        </p:txBody>
      </p:sp>
      <p:sp>
        <p:nvSpPr>
          <p:cNvPr id="9" name="左大括号 8"/>
          <p:cNvSpPr/>
          <p:nvPr/>
        </p:nvSpPr>
        <p:spPr>
          <a:xfrm rot="5400000">
            <a:off x="4800600" y="3459304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67332" y="3574358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字符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状态转移表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对应一行，每个字符</a:t>
                </a:r>
                <a14:m>
                  <m:oMath xmlns:m="http://schemas.openxmlformats.org/officeDocument/2006/math">
                    <m:r>
                      <a:rPr lang="en-AU" altLang="zh-CN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对应一列；</a:t>
                </a:r>
                <a:endParaRPr lang="en-AU" altLang="zh-CN" dirty="0"/>
              </a:p>
              <a:p>
                <a:r>
                  <a:rPr lang="zh-CN" altLang="en-US" dirty="0"/>
                  <a:t>若有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，用第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行第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列中填入的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表示；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32</a:t>
            </a:fld>
            <a:endParaRPr lang="en-US" altLang="zh-CN"/>
          </a:p>
        </p:txBody>
      </p:sp>
      <p:pic>
        <p:nvPicPr>
          <p:cNvPr id="6" name="Picture 5" descr="Table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38" y="4111767"/>
            <a:ext cx="2850127" cy="202709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3124200" y="4648200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62200" y="5035034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状态</a:t>
            </a:r>
          </a:p>
        </p:txBody>
      </p:sp>
      <p:sp>
        <p:nvSpPr>
          <p:cNvPr id="9" name="左大括号 8"/>
          <p:cNvSpPr/>
          <p:nvPr/>
        </p:nvSpPr>
        <p:spPr>
          <a:xfrm rot="5400000">
            <a:off x="4800600" y="3459304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67332" y="3574358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字符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状态转移表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每个状态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对应一行，每个字符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对应一列；</a:t>
                </a:r>
                <a:endParaRPr lang="en-AU" altLang="zh-CN" dirty="0"/>
              </a:p>
              <a:p>
                <a:r>
                  <a:rPr lang="zh-CN" altLang="en-US" dirty="0"/>
                  <a:t>若有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，用第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行第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列中填入的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表示；</a:t>
                </a:r>
                <a:endParaRPr lang="en-AU" altLang="zh-CN" dirty="0"/>
              </a:p>
              <a:p>
                <a:r>
                  <a:rPr lang="zh-CN" altLang="en-US" dirty="0"/>
                  <a:t>开始状态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，用在其前面标记箭头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的方式标识；</a:t>
                </a:r>
                <a:endParaRPr lang="en-US" altLang="zh-CN" dirty="0"/>
              </a:p>
              <a:p>
                <a:r>
                  <a:rPr lang="zh-CN" altLang="en-US" dirty="0"/>
                  <a:t>接受状态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，用在其前面标记星号</a:t>
                </a:r>
                <a:r>
                  <a:rPr lang="en-AU" altLang="zh-CN" dirty="0"/>
                  <a:t>*</a:t>
                </a:r>
                <a:r>
                  <a:rPr lang="zh-CN" altLang="en-US" dirty="0"/>
                  <a:t>的方式标识。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33</a:t>
            </a:fld>
            <a:endParaRPr lang="en-US" altLang="zh-CN"/>
          </a:p>
        </p:txBody>
      </p:sp>
      <p:pic>
        <p:nvPicPr>
          <p:cNvPr id="6" name="Picture 5" descr="Table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38" y="4111767"/>
            <a:ext cx="2850127" cy="2027096"/>
          </a:xfrm>
          <a:prstGeom prst="rect">
            <a:avLst/>
          </a:prstGeom>
        </p:spPr>
      </p:pic>
      <p:sp>
        <p:nvSpPr>
          <p:cNvPr id="7" name="左大括号 6"/>
          <p:cNvSpPr/>
          <p:nvPr/>
        </p:nvSpPr>
        <p:spPr>
          <a:xfrm>
            <a:off x="3124200" y="4648200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62200" y="5035034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状态</a:t>
            </a:r>
          </a:p>
        </p:txBody>
      </p:sp>
      <p:sp>
        <p:nvSpPr>
          <p:cNvPr id="9" name="左大括号 8"/>
          <p:cNvSpPr/>
          <p:nvPr/>
        </p:nvSpPr>
        <p:spPr>
          <a:xfrm rot="5400000">
            <a:off x="4800600" y="3459304"/>
            <a:ext cx="76200" cy="1143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67332" y="3574358"/>
            <a:ext cx="74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字符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典型问题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35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AU" altLang="zh-CN" sz="4000" dirty="0"/>
                  <a:t>:</a:t>
                </a:r>
                <a:r>
                  <a:rPr lang="zh-CN" altLang="en-US" sz="4000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sz="4000" dirty="0"/>
                  <a:t>,</a:t>
                </a:r>
                <a:r>
                  <a:rPr lang="zh-CN" altLang="en-US" sz="4000" dirty="0"/>
                  <a:t>给出接受全部含有奇数个</a:t>
                </a:r>
                <a:r>
                  <a:rPr lang="en-AU" altLang="zh-CN" sz="4000" dirty="0"/>
                  <a:t>1</a:t>
                </a:r>
                <a:r>
                  <a:rPr lang="zh-CN" altLang="en-US" sz="4000" dirty="0"/>
                  <a:t>的串的</a:t>
                </a:r>
                <a:r>
                  <a:rPr lang="en-AU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（用状态转移图表示）</a:t>
                </a:r>
                <a:r>
                  <a:rPr lang="zh-CN" altLang="en-US" sz="4000" dirty="0"/>
                  <a:t>。</a:t>
                </a:r>
                <a:endParaRPr lang="en-AU" altLang="zh-CN" sz="4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75800" y="2628502"/>
            <a:ext cx="3738880" cy="1600996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典型问题：设计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给出接受全部含有奇数个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/>
        </p:nvSpPr>
        <p:spPr>
          <a:xfrm>
            <a:off x="4705350" y="4122886"/>
            <a:ext cx="685800" cy="6351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典型问题：设计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给出接受全部含有奇数个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37</a:t>
            </a:fld>
            <a:endParaRPr lang="en-US" altLang="zh-CN"/>
          </a:p>
        </p:txBody>
      </p:sp>
      <p:grpSp>
        <p:nvGrpSpPr>
          <p:cNvPr id="7" name="Group 6"/>
          <p:cNvGrpSpPr/>
          <p:nvPr/>
        </p:nvGrpSpPr>
        <p:grpSpPr>
          <a:xfrm>
            <a:off x="2819400" y="4183301"/>
            <a:ext cx="533400" cy="533400"/>
            <a:chOff x="2133600" y="4191000"/>
            <a:chExt cx="533400" cy="533400"/>
          </a:xfrm>
        </p:grpSpPr>
        <p:sp>
          <p:nvSpPr>
            <p:cNvPr id="5" name="Oval 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81550" y="4173776"/>
            <a:ext cx="533400" cy="533400"/>
            <a:chOff x="2133600" y="4191000"/>
            <a:chExt cx="533400" cy="533400"/>
          </a:xfrm>
        </p:grpSpPr>
        <p:sp>
          <p:nvSpPr>
            <p:cNvPr id="9" name="Oval 8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2242760" y="50775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表示有偶数个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355995" y="5077500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表示有奇数个</a:t>
            </a:r>
            <a:r>
              <a:rPr lang="en-US" altLang="zh-CN" dirty="0"/>
              <a:t>1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981200" y="4504691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38275" y="4347369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/>
              <a:t>start</a:t>
            </a:r>
            <a:endParaRPr lang="en-A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/>
        </p:nvSpPr>
        <p:spPr>
          <a:xfrm>
            <a:off x="4705350" y="4122886"/>
            <a:ext cx="685800" cy="6351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典型问题：设计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b="0" dirty="0"/>
              </a:p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给出接受全部含有奇数个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38</a:t>
            </a:fld>
            <a:endParaRPr lang="en-US" altLang="zh-CN"/>
          </a:p>
        </p:txBody>
      </p:sp>
      <p:grpSp>
        <p:nvGrpSpPr>
          <p:cNvPr id="7" name="Group 6"/>
          <p:cNvGrpSpPr/>
          <p:nvPr/>
        </p:nvGrpSpPr>
        <p:grpSpPr>
          <a:xfrm>
            <a:off x="2819400" y="4183301"/>
            <a:ext cx="533400" cy="533400"/>
            <a:chOff x="2133600" y="4191000"/>
            <a:chExt cx="533400" cy="533400"/>
          </a:xfrm>
        </p:grpSpPr>
        <p:sp>
          <p:nvSpPr>
            <p:cNvPr id="5" name="Oval 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81550" y="4173776"/>
            <a:ext cx="533400" cy="533400"/>
            <a:chOff x="2133600" y="4191000"/>
            <a:chExt cx="533400" cy="533400"/>
          </a:xfrm>
        </p:grpSpPr>
        <p:sp>
          <p:nvSpPr>
            <p:cNvPr id="9" name="Oval 8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2242760" y="50775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表示有偶数个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355995" y="5077500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表示有奇数个</a:t>
            </a:r>
            <a:r>
              <a:rPr lang="en-US" altLang="zh-CN" dirty="0"/>
              <a:t>1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981200" y="4504691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38275" y="4347369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/>
              <a:t>start</a:t>
            </a:r>
            <a:endParaRPr lang="en-AU" dirty="0"/>
          </a:p>
        </p:txBody>
      </p:sp>
      <p:cxnSp>
        <p:nvCxnSpPr>
          <p:cNvPr id="26" name="Connector: Curved 25"/>
          <p:cNvCxnSpPr/>
          <p:nvPr/>
        </p:nvCxnSpPr>
        <p:spPr>
          <a:xfrm flipV="1">
            <a:off x="2895602" y="4192828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324147" y="4343400"/>
            <a:ext cx="1381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95600" y="36271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2917" y="4030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/>
        </p:nvSpPr>
        <p:spPr>
          <a:xfrm>
            <a:off x="4705350" y="4122886"/>
            <a:ext cx="685800" cy="6351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典型问题：设计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给出接受全部含有奇数个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39</a:t>
            </a:fld>
            <a:endParaRPr lang="en-US" altLang="zh-CN"/>
          </a:p>
        </p:txBody>
      </p:sp>
      <p:grpSp>
        <p:nvGrpSpPr>
          <p:cNvPr id="7" name="Group 6"/>
          <p:cNvGrpSpPr/>
          <p:nvPr/>
        </p:nvGrpSpPr>
        <p:grpSpPr>
          <a:xfrm>
            <a:off x="2819400" y="4183301"/>
            <a:ext cx="533400" cy="533400"/>
            <a:chOff x="2133600" y="4191000"/>
            <a:chExt cx="533400" cy="533400"/>
          </a:xfrm>
        </p:grpSpPr>
        <p:sp>
          <p:nvSpPr>
            <p:cNvPr id="5" name="Oval 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81550" y="4173776"/>
            <a:ext cx="533400" cy="533400"/>
            <a:chOff x="2133600" y="4191000"/>
            <a:chExt cx="533400" cy="533400"/>
          </a:xfrm>
        </p:grpSpPr>
        <p:sp>
          <p:nvSpPr>
            <p:cNvPr id="9" name="Oval 8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2242760" y="50775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表示有偶数个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355995" y="5077500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表示有奇数个</a:t>
            </a:r>
            <a:r>
              <a:rPr lang="en-US" altLang="zh-CN" dirty="0"/>
              <a:t>1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981200" y="4504691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38275" y="4347369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/>
              <a:t>start</a:t>
            </a:r>
            <a:endParaRPr lang="en-AU" dirty="0"/>
          </a:p>
        </p:txBody>
      </p:sp>
      <p:cxnSp>
        <p:nvCxnSpPr>
          <p:cNvPr id="26" name="Connector: Curved 25"/>
          <p:cNvCxnSpPr/>
          <p:nvPr/>
        </p:nvCxnSpPr>
        <p:spPr>
          <a:xfrm flipV="1">
            <a:off x="2895602" y="4192828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324147" y="4343400"/>
            <a:ext cx="1381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95600" y="36271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2917" y="4030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362327" y="4555292"/>
            <a:ext cx="1343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02917" y="4573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/>
        </p:nvSpPr>
        <p:spPr>
          <a:xfrm>
            <a:off x="4705350" y="4122886"/>
            <a:ext cx="685800" cy="6351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典型问题：设计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使其接受且仅接受给定的语言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(</a:t>
                </a:r>
                <a:r>
                  <a:rPr lang="zh-CN" altLang="en-US" dirty="0"/>
                  <a:t>符号串的集合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给出接受全部含有奇数个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40</a:t>
            </a:fld>
            <a:endParaRPr lang="en-US" altLang="zh-CN"/>
          </a:p>
        </p:txBody>
      </p:sp>
      <p:grpSp>
        <p:nvGrpSpPr>
          <p:cNvPr id="7" name="Group 6"/>
          <p:cNvGrpSpPr/>
          <p:nvPr/>
        </p:nvGrpSpPr>
        <p:grpSpPr>
          <a:xfrm>
            <a:off x="2819400" y="4183301"/>
            <a:ext cx="533400" cy="533400"/>
            <a:chOff x="2133600" y="4191000"/>
            <a:chExt cx="533400" cy="533400"/>
          </a:xfrm>
        </p:grpSpPr>
        <p:sp>
          <p:nvSpPr>
            <p:cNvPr id="5" name="Oval 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5447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81550" y="4173776"/>
            <a:ext cx="533400" cy="533400"/>
            <a:chOff x="2133600" y="4191000"/>
            <a:chExt cx="533400" cy="533400"/>
          </a:xfrm>
        </p:grpSpPr>
        <p:sp>
          <p:nvSpPr>
            <p:cNvPr id="9" name="Oval 8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60126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2242760" y="50775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表示有偶数个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355995" y="5077500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表示有奇数个</a:t>
            </a:r>
            <a:r>
              <a:rPr lang="en-US" altLang="zh-CN" dirty="0"/>
              <a:t>1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981200" y="4504691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38275" y="4347369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/>
              <a:t>start</a:t>
            </a:r>
            <a:endParaRPr lang="en-AU" dirty="0"/>
          </a:p>
        </p:txBody>
      </p:sp>
      <p:cxnSp>
        <p:nvCxnSpPr>
          <p:cNvPr id="26" name="Connector: Curved 25"/>
          <p:cNvCxnSpPr/>
          <p:nvPr/>
        </p:nvCxnSpPr>
        <p:spPr>
          <a:xfrm flipV="1">
            <a:off x="2895602" y="4192828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324147" y="4343400"/>
            <a:ext cx="1381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95600" y="36271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2917" y="4030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362327" y="4555292"/>
            <a:ext cx="1343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02917" y="4573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cxnSp>
        <p:nvCxnSpPr>
          <p:cNvPr id="23" name="Connector: Curved 22"/>
          <p:cNvCxnSpPr/>
          <p:nvPr/>
        </p:nvCxnSpPr>
        <p:spPr>
          <a:xfrm flipV="1">
            <a:off x="4893610" y="4135140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17211" y="3561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41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AU" altLang="zh-CN" sz="4000" dirty="0"/>
                  <a:t>:</a:t>
                </a:r>
                <a:r>
                  <a:rPr lang="zh-CN" altLang="en-US" sz="4000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4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4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AU" altLang="zh-CN" sz="4000" dirty="0"/>
                  <a:t>,</a:t>
                </a:r>
                <a:r>
                  <a:rPr lang="zh-CN" altLang="en-US" sz="4000" dirty="0"/>
                  <a:t>给出接受全部含有偶数个</a:t>
                </a:r>
                <a:r>
                  <a:rPr lang="en-US" altLang="zh-CN" sz="4000" dirty="0"/>
                  <a:t>0</a:t>
                </a:r>
                <a:r>
                  <a:rPr lang="zh-CN" altLang="en-US" sz="4000" dirty="0"/>
                  <a:t>和偶数个</a:t>
                </a:r>
                <a:r>
                  <a:rPr lang="en-AU" altLang="zh-CN" sz="4000" dirty="0"/>
                  <a:t>1</a:t>
                </a:r>
                <a:r>
                  <a:rPr lang="zh-CN" altLang="en-US" sz="4000" dirty="0"/>
                  <a:t>的串</a:t>
                </a:r>
                <a:r>
                  <a:rPr lang="en-US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（用状态转移图表示） 。</a:t>
                </a:r>
                <a:endParaRPr lang="en-AU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24" name="Picture 5" descr="Diagram&#10;&#10;Description automatically generated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692" y="1828800"/>
            <a:ext cx="3717433" cy="2819401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给出接受全部含有偶数个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和偶数个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给出接受全部含有偶数个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和偶数个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四个状态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1),</a:t>
                </a: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的设计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给出接受全部含有偶数个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和偶数个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的串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四个状态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1),</a:t>
                </a: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，偶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奇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8877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44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874206"/>
            <a:ext cx="3214146" cy="24376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扩展状态转移函数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delta-hat</a:t>
                </a:r>
                <a:r>
                  <a:rPr lang="en-AU" altLang="zh-CN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A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扩展状态转移函数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delta-hat</a:t>
                </a:r>
                <a:r>
                  <a:rPr lang="en-AU" altLang="zh-CN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A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那么，当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则有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扩展状态转移函数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delta-hat</a:t>
                </a:r>
                <a:r>
                  <a:rPr lang="en-AU" altLang="zh-CN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A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那么，当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则有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altLang="zh-CN" b="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2"/>
                <a:ext cx="8229600" cy="4525963"/>
              </a:xfrm>
              <a:blipFill rotWithShape="1">
                <a:blip r:embed="rId3"/>
                <a:stretch>
                  <a:fillRect b="-8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6019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扩展状态转移函数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delta-hat</a:t>
                </a:r>
                <a:r>
                  <a:rPr lang="en-AU" altLang="zh-CN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A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AU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那么，当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则有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altLang="zh-CN" b="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   		</a:t>
                </a:r>
                <a14:m>
                  <m:oMath xmlns:m="http://schemas.openxmlformats.org/officeDocument/2006/math">
                    <m:r>
                      <a:rPr lang="en-AU" altLang="zh-CN" b="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altLang="zh-CN" dirty="0"/>
                  <a:t>…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         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sSub>
                          <m:sSubPr>
                            <m:ctrlPr>
                              <a:rPr lang="en-AU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AU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60198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2" y="1981200"/>
            <a:ext cx="3932129" cy="1045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扩展转移函数使用示例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接受全部含有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处理串 </a:t>
                </a:r>
                <a:r>
                  <a:rPr lang="en-US" altLang="zh-CN" dirty="0"/>
                  <a:t>0101 </a:t>
                </a:r>
                <a:r>
                  <a:rPr lang="zh-CN" altLang="en-US" dirty="0"/>
                  <a:t>的过程。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  <a:blipFill rotWithShape="1">
                <a:blip r:embed="rId4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1905000" y="3054350"/>
                <a:ext cx="4926013" cy="17462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,0101)=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),0),1),0),1)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,0),1),0),1)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054350"/>
                <a:ext cx="4926013" cy="1746250"/>
              </a:xfrm>
              <a:prstGeom prst="rect">
                <a:avLst/>
              </a:prstGeom>
              <a:blipFill rotWithShape="1">
                <a:blip r:embed="rId5"/>
                <a:stretch>
                  <a:fillRect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2" y="1981200"/>
            <a:ext cx="3932129" cy="1045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扩展转移函数使用示例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接受全部含有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子串的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处理串 </a:t>
                </a:r>
                <a:r>
                  <a:rPr lang="en-US" altLang="zh-CN" dirty="0"/>
                  <a:t>0101 </a:t>
                </a:r>
                <a:r>
                  <a:rPr lang="zh-CN" altLang="en-US" dirty="0"/>
                  <a:t>的过程。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  <a:blipFill rotWithShape="1">
                <a:blip r:embed="rId4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1905000" y="3054350"/>
                <a:ext cx="4926013" cy="22796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,0101)=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),0),1),0),1)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,1),0),1)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                 =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,0),1)=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,1)=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054350"/>
                <a:ext cx="4926013" cy="2279650"/>
              </a:xfrm>
              <a:prstGeom prst="rect">
                <a:avLst/>
              </a:prstGeom>
              <a:blipFill rotWithShape="1">
                <a:blip r:embed="rId5"/>
                <a:stretch>
                  <a:fillRect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2286000" y="5408099"/>
            <a:ext cx="375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状态转移路径：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3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52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有限字符串集对应的语言是否是正则语言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否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21" name="组合 2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都是正则语言，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状态转移图是什么样的呢？</a:t>
                </a:r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3"/>
                <a:stretch>
                  <a:fillRect t="-7" b="-3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54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AU" altLang="zh-CN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4000" dirty="0"/>
                  <a:t>是正则语言，</a:t>
                </a:r>
                <a:r>
                  <a:rPr lang="zh-CN" altLang="en-US" sz="4000" dirty="0">
                    <a:solidFill>
                      <a:srgbClr val="FF0000"/>
                    </a:solidFill>
                  </a:rPr>
                  <a:t>状态转移图是什么样的呢？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0" y="2286000"/>
            <a:ext cx="3827780" cy="1963133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55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4000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zh-CN" altLang="en-US" sz="4000" i="1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4000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4000" dirty="0"/>
                  <a:t>是正则语言，</a:t>
                </a:r>
                <a:r>
                  <a:rPr lang="zh-CN" altLang="en-US" sz="4000" dirty="0">
                    <a:solidFill>
                      <a:srgbClr val="FF0000"/>
                    </a:solidFill>
                  </a:rPr>
                  <a:t>状态转移图是什么样的呢？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01200" y="2504382"/>
            <a:ext cx="3657600" cy="2305650"/>
          </a:xfrm>
          <a:prstGeom prst="rect">
            <a:avLst/>
          </a:prstGeom>
        </p:spPr>
      </p:pic>
      <p:grpSp>
        <p:nvGrpSpPr>
          <p:cNvPr id="15" name="组合 14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3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都是正则语言，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状态转移图是什么样的呢？</a:t>
                </a:r>
                <a:endParaRPr lang="zh-CN" altLang="en-US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4"/>
                <a:stretch>
                  <a:fillRect t="-7" b="-3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56</a:t>
            </a:fld>
            <a:endParaRPr lang="en-US" altLang="zh-CN"/>
          </a:p>
        </p:txBody>
      </p:sp>
      <p:graphicFrame>
        <p:nvGraphicFramePr>
          <p:cNvPr id="5" name="对象 12"/>
          <p:cNvGraphicFramePr>
            <a:graphicFrameLocks noChangeAspect="1"/>
          </p:cNvGraphicFramePr>
          <p:nvPr/>
        </p:nvGraphicFramePr>
        <p:xfrm>
          <a:off x="4478435" y="5028979"/>
          <a:ext cx="21272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44" name="Visio" r:id="rId5" imgW="1816100" imgH="812800" progId="Visio.Drawing.11">
                  <p:embed/>
                </p:oleObj>
              </mc:Choice>
              <mc:Fallback>
                <p:oleObj name="Visio" r:id="rId5" imgW="1816100" imgH="812800" progId="Visio.Drawing.11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435" y="5028979"/>
                        <a:ext cx="21272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2002155" y="5297517"/>
            <a:ext cx="538210" cy="533400"/>
            <a:chOff x="2133600" y="4191000"/>
            <a:chExt cx="538210" cy="533400"/>
          </a:xfrm>
        </p:grpSpPr>
        <p:sp>
          <p:nvSpPr>
            <p:cNvPr id="25" name="Oval 2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Straight Arrow Connector 31"/>
          <p:cNvCxnSpPr/>
          <p:nvPr/>
        </p:nvCxnSpPr>
        <p:spPr>
          <a:xfrm>
            <a:off x="1371602" y="5618907"/>
            <a:ext cx="630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51282" y="52694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A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: Curved 33"/>
          <p:cNvCxnSpPr/>
          <p:nvPr/>
        </p:nvCxnSpPr>
        <p:spPr>
          <a:xfrm flipV="1">
            <a:off x="2078357" y="5307044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197377" y="485961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856260" y="5902102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260" y="5902102"/>
                <a:ext cx="137160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30" t="-112" r="30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88010" y="5906871"/>
                <a:ext cx="3429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无接受状态，即该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不接受任何符号串（包括空串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0" y="5906871"/>
                <a:ext cx="3429000" cy="646331"/>
              </a:xfrm>
              <a:prstGeom prst="rect">
                <a:avLst/>
              </a:prstGeom>
              <a:blipFill rotWithShape="1">
                <a:blip r:embed="rId9"/>
                <a:stretch>
                  <a:fillRect t="-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latin typeface="+mn-lt"/>
                    <a:ea typeface="+mn-ea"/>
                    <a:sym typeface="微软雅黑" panose="020B0503020204020204" pitchFamily="34" charset="-122"/>
                  </a:rPr>
                  <a:t>有限字符串集对应的语言是否是正则语言</a:t>
                </a:r>
                <a:r>
                  <a:rPr lang="en-US" altLang="zh-CN" dirty="0">
                    <a:latin typeface="+mn-lt"/>
                    <a:ea typeface="+mn-ea"/>
                    <a:sym typeface="微软雅黑" panose="020B0503020204020204" pitchFamily="34" charset="-122"/>
                  </a:rPr>
                  <a:t>?</a:t>
                </a:r>
                <a:r>
                  <a:rPr lang="zh-CN" altLang="en-US" dirty="0">
                    <a:latin typeface="+mn-lt"/>
                    <a:ea typeface="+mn-ea"/>
                    <a:sym typeface="微软雅黑" panose="020B0503020204020204" pitchFamily="34" charset="-122"/>
                  </a:rPr>
                  <a:t>为什么？</a:t>
                </a:r>
                <a:endParaRPr lang="en-AU" altLang="zh-CN" dirty="0">
                  <a:latin typeface="+mn-lt"/>
                  <a:ea typeface="+mn-ea"/>
                </a:endParaRPr>
              </a:p>
              <a:p>
                <a:pPr marL="457200" lvl="1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3"/>
                <a:stretch>
                  <a:fillRect t="-7" b="-3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latin typeface="+mn-lt"/>
                    <a:ea typeface="+mn-ea"/>
                    <a:sym typeface="微软雅黑" panose="020B0503020204020204" pitchFamily="34" charset="-122"/>
                  </a:rPr>
                  <a:t>有限字符串集对应的语言是否是正则语言</a:t>
                </a:r>
                <a:r>
                  <a:rPr lang="en-US" altLang="zh-CN" dirty="0">
                    <a:latin typeface="+mn-lt"/>
                    <a:ea typeface="+mn-ea"/>
                    <a:sym typeface="微软雅黑" panose="020B0503020204020204" pitchFamily="34" charset="-122"/>
                  </a:rPr>
                  <a:t>?</a:t>
                </a:r>
                <a:endParaRPr lang="en-AU" altLang="zh-CN" dirty="0">
                  <a:latin typeface="+mn-lt"/>
                  <a:ea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都是正则语言，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状态转移图是什么样的呢？</a:t>
                </a:r>
                <a:endParaRPr lang="zh-CN" altLang="en-US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3"/>
                <a:stretch>
                  <a:fillRect t="-7" b="-14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的语言与正则语言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即所有能使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从开始状态到达接受状态的符号串集合。</a:t>
                </a: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是某个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的语言，则称其为正则语言。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latin typeface="+mn-lt"/>
                    <a:ea typeface="+mn-ea"/>
                    <a:sym typeface="微软雅黑" panose="020B0503020204020204" pitchFamily="34" charset="-122"/>
                  </a:rPr>
                  <a:t>有限字符串集对应的语言是否是正则语言</a:t>
                </a:r>
                <a:r>
                  <a:rPr lang="en-US" altLang="zh-CN" dirty="0">
                    <a:latin typeface="+mn-lt"/>
                    <a:ea typeface="+mn-ea"/>
                    <a:sym typeface="微软雅黑" panose="020B0503020204020204" pitchFamily="34" charset="-122"/>
                  </a:rPr>
                  <a:t>?</a:t>
                </a:r>
                <a:endParaRPr lang="en-AU" altLang="zh-CN" dirty="0">
                  <a:latin typeface="+mn-lt"/>
                  <a:ea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都是正则语言，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状态转移图是什么样的呢？</a:t>
                </a:r>
                <a:endParaRPr lang="zh-CN" altLang="en-US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39"/>
                <a:ext cx="8229600" cy="4525963"/>
              </a:xfrm>
              <a:blipFill rotWithShape="1">
                <a:blip r:embed="rId4"/>
                <a:stretch>
                  <a:fillRect t="-7" b="-14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59</a:t>
            </a:fld>
            <a:endParaRPr lang="en-US" altLang="zh-CN"/>
          </a:p>
        </p:txBody>
      </p:sp>
      <p:graphicFrame>
        <p:nvGraphicFramePr>
          <p:cNvPr id="5" name="对象 12"/>
          <p:cNvGraphicFramePr>
            <a:graphicFrameLocks noChangeAspect="1"/>
          </p:cNvGraphicFramePr>
          <p:nvPr/>
        </p:nvGraphicFramePr>
        <p:xfrm>
          <a:off x="5111750" y="5333777"/>
          <a:ext cx="21272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4" name="Visio" r:id="rId5" imgW="1816100" imgH="812800" progId="Visio.Drawing.11">
                  <p:embed/>
                </p:oleObj>
              </mc:Choice>
              <mc:Fallback>
                <p:oleObj name="Visio" r:id="rId5" imgW="1816100" imgH="812800" progId="Visio.Drawing.11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5333777"/>
                        <a:ext cx="21272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2635470" y="5602315"/>
            <a:ext cx="538210" cy="533400"/>
            <a:chOff x="2133600" y="4191000"/>
            <a:chExt cx="538210" cy="533400"/>
          </a:xfrm>
        </p:grpSpPr>
        <p:sp>
          <p:nvSpPr>
            <p:cNvPr id="25" name="Oval 2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Straight Arrow Connector 31"/>
          <p:cNvCxnSpPr/>
          <p:nvPr/>
        </p:nvCxnSpPr>
        <p:spPr>
          <a:xfrm>
            <a:off x="2004917" y="5923705"/>
            <a:ext cx="630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84597" y="55742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A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: Curved 33"/>
          <p:cNvCxnSpPr/>
          <p:nvPr/>
        </p:nvCxnSpPr>
        <p:spPr>
          <a:xfrm flipV="1">
            <a:off x="2711672" y="5611842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30692" y="516440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89575" y="6206900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575" y="6206900"/>
                <a:ext cx="137160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111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221325" y="6211669"/>
                <a:ext cx="3429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无接受状态，即该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不接受任何符号串（包括空串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25" y="6211669"/>
                <a:ext cx="3429000" cy="646331"/>
              </a:xfrm>
              <a:prstGeom prst="rect">
                <a:avLst/>
              </a:prstGeom>
              <a:blipFill rotWithShape="1">
                <a:blip r:embed="rId9"/>
                <a:stretch>
                  <a:fillRect l="-6" t="-15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</p:spPr>
            <p:txBody>
              <a:bodyPr/>
              <a:lstStyle/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(1) 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有穷状态系统简介</a:t>
                </a:r>
                <a:endParaRPr lang="en-US" altLang="zh-CN" sz="36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(2) 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确定的有穷自动机（</a:t>
                </a: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DFA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(3) 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非确定有穷自动机（</a:t>
                </a: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NFA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</a:p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(4) 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带空转移的非确定有穷自动机（</a:t>
                </a:r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-NFA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  <a:blipFill rotWithShape="1">
                <a:blip r:embed="rId3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非确定性有限状态自动机理论的开创者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61</a:t>
            </a:fld>
            <a:endParaRPr lang="en-US" altLang="zh-CN"/>
          </a:p>
        </p:txBody>
      </p:sp>
      <p:pic>
        <p:nvPicPr>
          <p:cNvPr id="88066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238" y="1146175"/>
            <a:ext cx="3878262" cy="13398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8067" name="组合 7"/>
          <p:cNvGrpSpPr/>
          <p:nvPr/>
        </p:nvGrpSpPr>
        <p:grpSpPr>
          <a:xfrm>
            <a:off x="-81280" y="2859088"/>
            <a:ext cx="4199890" cy="2655234"/>
            <a:chOff x="-129" y="3824"/>
            <a:chExt cx="6614" cy="4182"/>
          </a:xfrm>
        </p:grpSpPr>
        <p:pic>
          <p:nvPicPr>
            <p:cNvPr id="88068" name="图片 3"/>
            <p:cNvPicPr>
              <a:picLocks noChangeAspect="1"/>
            </p:cNvPicPr>
            <p:nvPr/>
          </p:nvPicPr>
          <p:blipFill>
            <a:blip r:embed="rId4"/>
            <a:srcRect b="13170"/>
            <a:stretch>
              <a:fillRect/>
            </a:stretch>
          </p:blipFill>
          <p:spPr>
            <a:xfrm>
              <a:off x="3410" y="3824"/>
              <a:ext cx="2476" cy="32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8069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" y="3824"/>
              <a:ext cx="2656" cy="31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070" name="文本框 5"/>
            <p:cNvSpPr txBox="1"/>
            <p:nvPr/>
          </p:nvSpPr>
          <p:spPr>
            <a:xfrm>
              <a:off x="-129" y="7087"/>
              <a:ext cx="3559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/>
              <a:r>
                <a:rPr lang="zh-CN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米凯尔</a:t>
              </a:r>
              <a:r>
                <a:rPr lang="en-US" altLang="zh-CN" sz="1600">
                  <a:latin typeface="Arial" panose="020B0604020202020204" pitchFamily="34" charset="0"/>
                </a:rPr>
                <a:t>·</a:t>
              </a:r>
              <a:r>
                <a:rPr lang="zh-CN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拉宾</a:t>
              </a:r>
            </a:p>
            <a:p>
              <a:pPr algn="ctr"/>
              <a:r>
                <a:rPr lang="zh-CN" altLang="zh-CN" sz="16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Michael O. Rabin</a:t>
              </a:r>
            </a:p>
          </p:txBody>
        </p:sp>
        <p:sp>
          <p:nvSpPr>
            <p:cNvPr id="88071" name="文本框 6"/>
            <p:cNvSpPr txBox="1"/>
            <p:nvPr/>
          </p:nvSpPr>
          <p:spPr>
            <a:xfrm>
              <a:off x="2938" y="7087"/>
              <a:ext cx="3547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/>
              <a:r>
                <a:rPr lang="zh-CN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达纳</a:t>
              </a:r>
              <a:r>
                <a:rPr lang="en-US" altLang="zh-CN" sz="1600">
                  <a:latin typeface="Arial" panose="020B0604020202020204" pitchFamily="34" charset="0"/>
                </a:rPr>
                <a:t>·</a:t>
              </a:r>
              <a:r>
                <a:rPr lang="zh-CN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斯科特</a:t>
              </a:r>
            </a:p>
            <a:p>
              <a:pPr algn="ctr"/>
              <a:r>
                <a:rPr lang="zh-CN" altLang="zh-CN" sz="16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Dana Steward Scott</a:t>
              </a:r>
            </a:p>
          </p:txBody>
        </p:sp>
      </p:grpSp>
      <p:sp>
        <p:nvSpPr>
          <p:cNvPr id="88072" name="文本框 99"/>
          <p:cNvSpPr txBox="1"/>
          <p:nvPr/>
        </p:nvSpPr>
        <p:spPr>
          <a:xfrm>
            <a:off x="4114800" y="874395"/>
            <a:ext cx="4466590" cy="5492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342900">
              <a:lnSpc>
                <a:spcPct val="13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1976 年度的图灵奖由当时在以色列希伯莱大学任教的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米凯尔.拉宾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和在英国牛津大学任数理逻辑教授的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达纳.斯科特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共同获得。</a:t>
            </a:r>
          </a:p>
          <a:p>
            <a:pPr indent="342900">
              <a:lnSpc>
                <a:spcPct val="13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拉宾和斯科特是师兄弟，两人在20世纪50年代先后师从著名的逻辑学家和计算机专家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阿隆索.邱奇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（Alonzo Church，他因与Curry 一起发明了λ-演算以及提出了“邱奇论题”的命题而闻名于世），并在有限自动机及其判定问题的研究中进行合作，奠定了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非确定性有限状态自动机（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的理论基础。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米凯尔·拉宾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62</a:t>
            </a:fld>
            <a:endParaRPr lang="en-US" altLang="zh-CN"/>
          </a:p>
        </p:txBody>
      </p:sp>
      <p:pic>
        <p:nvPicPr>
          <p:cNvPr id="2" name="图片 1"/>
          <p:cNvPicPr/>
          <p:nvPr/>
        </p:nvPicPr>
        <p:blipFill>
          <a:blip r:embed="rId2"/>
          <a:srcRect r="20553"/>
          <a:stretch>
            <a:fillRect/>
          </a:stretch>
        </p:blipFill>
        <p:spPr>
          <a:xfrm>
            <a:off x="533402" y="1066800"/>
            <a:ext cx="3117215" cy="2494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990285" y="3935730"/>
            <a:ext cx="2390775" cy="245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内容占位符 2"/>
          <p:cNvSpPr txBox="1"/>
          <p:nvPr/>
        </p:nvSpPr>
        <p:spPr>
          <a:xfrm>
            <a:off x="3886200" y="1295402"/>
            <a:ext cx="4724400" cy="628205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Tx/>
              <a:buSzTx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1931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日生于德国的布雷斯劳。他父亲是一名犹太教教士，也是一位博士；拉宾的母亲也是知识分子，有文学博士头街。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从莱利学院（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Reali College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）毕业以后，拉宾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进入希伯莱大学学习数学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 在那里，他通过数学家克林（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S. C. Kleene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因提出不动点定理而闻名于世）所著的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元数学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一书，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首次接触到图灵关于可计算机的概念和图灵机这一理论计算模型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，立即被深深吸引。 </a:t>
            </a:r>
          </a:p>
          <a:p>
            <a:pPr algn="just" fontAlgn="auto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年，他获得希伯来大学的理学硕士，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年获普林斯顿大学博士学位。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达纳·斯科特</a:t>
            </a:r>
          </a:p>
        </p:txBody>
      </p:sp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63</a:t>
            </a:fld>
            <a:endParaRPr lang="en-US" altLang="zh-CN"/>
          </a:p>
        </p:txBody>
      </p:sp>
      <p:sp>
        <p:nvSpPr>
          <p:cNvPr id="4" name="内容占位符 2"/>
          <p:cNvSpPr txBox="1"/>
          <p:nvPr/>
        </p:nvSpPr>
        <p:spPr>
          <a:xfrm>
            <a:off x="4114802" y="990600"/>
            <a:ext cx="4391025" cy="47078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斯科特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日生于美国加利福尼亚州，在加州大学伯克利分校获得学士学位以后，进入普林斯顿大学研究生院学习，与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米凯尔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一起师从阿隆索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邱奇，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年取得博士学位。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他先后在芝加哥大学、加州大学伯克利分校、斯坦福大学、荷兰的阿姆斯特丹大学、普林斯顿大学和英国牛津大学等学府任教。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年被卡内基梅隆大学聘为计算机科学、数理逻辑和哲学教授。</a:t>
            </a:r>
          </a:p>
        </p:txBody>
      </p:sp>
      <p:pic>
        <p:nvPicPr>
          <p:cNvPr id="103" name="图片 102"/>
          <p:cNvPicPr/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2" y="1295402"/>
            <a:ext cx="3270885" cy="36188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的诞生背景</a:t>
            </a:r>
          </a:p>
        </p:txBody>
      </p:sp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64</a:t>
            </a:fld>
            <a:endParaRPr lang="en-US" altLang="zh-CN"/>
          </a:p>
        </p:txBody>
      </p:sp>
      <p:sp>
        <p:nvSpPr>
          <p:cNvPr id="4" name="内容占位符 2"/>
          <p:cNvSpPr txBox="1"/>
          <p:nvPr/>
        </p:nvSpPr>
        <p:spPr>
          <a:xfrm>
            <a:off x="4114802" y="1219200"/>
            <a:ext cx="4391025" cy="47078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拉宾博士学位拿到以后，于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1957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年进入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IBM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研究中心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，遇到了一起后来获得图灵奖的斯科特。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IBM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研究中心允许他们作他们感兴趣的任何工作，于是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拉宾和斯科特就决定联手研究图灵机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图灵在研究这种机器时的基本信条是：机器在输入相同时，其“心智状态”也相同，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即对于具有给定指令集的机器而言，一定输入的机器总是按同一方式运行的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426"/>
          <a:stretch>
            <a:fillRect/>
          </a:stretch>
        </p:blipFill>
        <p:spPr>
          <a:xfrm>
            <a:off x="165100" y="990602"/>
            <a:ext cx="3949700" cy="52749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的诞生背景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65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5166" r="1426"/>
          <a:stretch>
            <a:fillRect/>
          </a:stretch>
        </p:blipFill>
        <p:spPr>
          <a:xfrm>
            <a:off x="130810" y="934722"/>
            <a:ext cx="3742690" cy="52749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4" r="1635"/>
          <a:stretch>
            <a:fillRect/>
          </a:stretch>
        </p:blipFill>
        <p:spPr>
          <a:xfrm>
            <a:off x="4191002" y="1447802"/>
            <a:ext cx="4581525" cy="41090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906463" y="19050"/>
            <a:ext cx="8229600" cy="6731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r">
              <a:defRPr/>
            </a:pPr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的诞生背景</a:t>
            </a:r>
          </a:p>
        </p:txBody>
      </p:sp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66</a:t>
            </a:fld>
            <a:endParaRPr lang="en-US" altLang="zh-CN"/>
          </a:p>
        </p:txBody>
      </p:sp>
      <p:sp>
        <p:nvSpPr>
          <p:cNvPr id="4" name="内容占位符 2"/>
          <p:cNvSpPr txBox="1"/>
          <p:nvPr/>
        </p:nvSpPr>
        <p:spPr>
          <a:xfrm>
            <a:off x="4114800" y="974090"/>
            <a:ext cx="4724400" cy="535051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拉宾和斯科特认为，这种具有“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确定性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行为的机器带来了</a:t>
            </a:r>
            <a:r>
              <a:rPr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局限性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。因此，他们定义了一种新的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、“</a:t>
            </a:r>
            <a:r>
              <a:rPr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非确定性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”的有限状态自动机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(nondeterministic finite state automata)，这种机器在读取到一定的输入后，有一个可以进入的新状态的“菜单”可供选择，这样对给定的输入计算便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不单一了，每个选择代表一种可能的计算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拉宾和斯科特将图灵的有限状态自动机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从确定性一种形态扩展到非确定性的另一种形态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，极大地推动了有限状态自动机理论的发展。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426"/>
          <a:stretch>
            <a:fillRect/>
          </a:stretch>
        </p:blipFill>
        <p:spPr>
          <a:xfrm>
            <a:off x="165100" y="990602"/>
            <a:ext cx="3949700" cy="52749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67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000" dirty="0"/>
              <a:t>例</a:t>
            </a:r>
            <a:r>
              <a:rPr lang="en-AU" altLang="zh-CN" sz="4000" dirty="0"/>
              <a:t>:</a:t>
            </a:r>
            <a:r>
              <a:rPr lang="zh-CN" altLang="en-US" sz="4000" dirty="0"/>
              <a:t>由</a:t>
            </a:r>
            <a:r>
              <a:rPr lang="en-US" altLang="zh-CN" sz="4000" dirty="0"/>
              <a:t>0</a:t>
            </a:r>
            <a:r>
              <a:rPr lang="zh-CN" altLang="en-US" sz="4000" dirty="0"/>
              <a:t>和</a:t>
            </a:r>
            <a:r>
              <a:rPr lang="en-US" altLang="zh-CN" sz="4000" dirty="0"/>
              <a:t>1</a:t>
            </a:r>
            <a:r>
              <a:rPr lang="zh-CN" altLang="en-US" sz="4000" dirty="0"/>
              <a:t>构成的串中</a:t>
            </a:r>
            <a:r>
              <a:rPr lang="en-US" altLang="zh-CN" sz="4000" dirty="0"/>
              <a:t>, </a:t>
            </a:r>
            <a:r>
              <a:rPr lang="zh-CN" altLang="en-US" sz="4000" dirty="0"/>
              <a:t>接受全部以</a:t>
            </a:r>
            <a:r>
              <a:rPr lang="en-US" altLang="zh-CN" sz="4000" dirty="0"/>
              <a:t>01</a:t>
            </a:r>
            <a:r>
              <a:rPr lang="zh-CN" altLang="en-US" sz="4000" dirty="0"/>
              <a:t>结尾的串</a:t>
            </a:r>
            <a:r>
              <a:rPr lang="en-US" altLang="zh-CN" sz="4000" dirty="0"/>
              <a:t>, </a:t>
            </a:r>
            <a:r>
              <a:rPr lang="zh-CN" altLang="en-US" sz="4000" dirty="0"/>
              <a:t>如何设计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有穷自动机</a:t>
            </a:r>
            <a:r>
              <a:rPr lang="en-US" altLang="zh-CN" sz="4000" dirty="0"/>
              <a:t>?</a:t>
            </a:r>
            <a:endParaRPr lang="en-AU" altLang="zh-CN" sz="4000" dirty="0"/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25" name="Picture 5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7" y="2697324"/>
            <a:ext cx="3840481" cy="1330916"/>
          </a:xfrm>
          <a:prstGeom prst="rect">
            <a:avLst/>
          </a:prstGeom>
        </p:spPr>
      </p:pic>
      <p:sp>
        <p:nvSpPr>
          <p:cNvPr id="26" name="TextBox 6"/>
          <p:cNvSpPr txBox="1"/>
          <p:nvPr/>
        </p:nvSpPr>
        <p:spPr>
          <a:xfrm>
            <a:off x="10897081" y="4011034"/>
            <a:ext cx="1096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endParaRPr kumimoji="0" lang="en-AU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非确定有穷自动机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构成的串中</a:t>
            </a:r>
            <a:r>
              <a:rPr lang="en-US" altLang="zh-CN" dirty="0"/>
              <a:t>, </a:t>
            </a:r>
            <a:r>
              <a:rPr lang="zh-CN" altLang="en-US" dirty="0"/>
              <a:t>接受全部以</a:t>
            </a:r>
            <a:r>
              <a:rPr lang="en-US" altLang="zh-CN" dirty="0"/>
              <a:t>01</a:t>
            </a:r>
            <a:r>
              <a:rPr lang="zh-CN" altLang="en-US" dirty="0"/>
              <a:t>结尾的串</a:t>
            </a:r>
            <a:r>
              <a:rPr lang="en-US" altLang="zh-CN" dirty="0"/>
              <a:t>, </a:t>
            </a:r>
            <a:r>
              <a:rPr lang="zh-CN" altLang="en-US" dirty="0"/>
              <a:t>如何设计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有穷自动机</a:t>
            </a:r>
            <a:r>
              <a:rPr lang="en-US" altLang="zh-CN" dirty="0"/>
              <a:t>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68</a:t>
            </a:fld>
            <a:endParaRPr lang="en-US" altLang="zh-C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819400"/>
            <a:ext cx="5189670" cy="1798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054" y="3457028"/>
            <a:ext cx="1096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066802" y="55626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能否进行简化？</a:t>
            </a:r>
            <a:endParaRPr lang="en-AU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状态的非确定转移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3811589"/>
            <a:ext cx="8229600" cy="2544763"/>
          </a:xfrm>
        </p:spPr>
        <p:txBody>
          <a:bodyPr>
            <a:normAutofit/>
          </a:bodyPr>
          <a:lstStyle/>
          <a:p>
            <a:r>
              <a:rPr lang="zh-CN" altLang="en-US" dirty="0"/>
              <a:t>同一状态在相同的输入下</a:t>
            </a:r>
            <a:r>
              <a:rPr lang="en-US" altLang="zh-CN" dirty="0"/>
              <a:t>, </a:t>
            </a:r>
            <a:r>
              <a:rPr lang="zh-CN" altLang="en-US" dirty="0"/>
              <a:t>可以有多个转移状态，这样自动机在某一时刻可以处在多个状态</a:t>
            </a:r>
            <a:endParaRPr lang="en-AU" altLang="zh-CN" dirty="0"/>
          </a:p>
          <a:p>
            <a:pPr lvl="1"/>
            <a:r>
              <a:rPr lang="zh-CN" altLang="en-US" dirty="0"/>
              <a:t>因此给定一个输入和当前状态，状态转移函数的</a:t>
            </a:r>
            <a:r>
              <a:rPr lang="zh-CN" altLang="en-US" dirty="0">
                <a:solidFill>
                  <a:srgbClr val="FF0000"/>
                </a:solidFill>
              </a:rPr>
              <a:t>输出是一个状态集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69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49" y="975149"/>
            <a:ext cx="3284505" cy="24538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05334" y="3325083"/>
            <a:ext cx="4674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状态集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非确定有穷自动机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525963"/>
          </a:xfrm>
        </p:spPr>
        <p:txBody>
          <a:bodyPr/>
          <a:lstStyle/>
          <a:p>
            <a:r>
              <a:rPr lang="zh-CN" altLang="en-US" dirty="0"/>
              <a:t>续例</a:t>
            </a:r>
            <a:r>
              <a:rPr lang="en-AU" altLang="zh-CN" dirty="0"/>
              <a:t>:</a:t>
            </a: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构成的串中</a:t>
            </a:r>
            <a:r>
              <a:rPr lang="en-US" altLang="zh-CN" dirty="0"/>
              <a:t>, </a:t>
            </a:r>
            <a:r>
              <a:rPr lang="zh-CN" altLang="en-US" dirty="0"/>
              <a:t>接受全部以</a:t>
            </a:r>
            <a:r>
              <a:rPr lang="en-US" altLang="zh-CN" dirty="0"/>
              <a:t>01</a:t>
            </a:r>
            <a:r>
              <a:rPr lang="zh-CN" altLang="en-US" dirty="0"/>
              <a:t>结尾的串。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70</a:t>
            </a:fld>
            <a:endParaRPr lang="en-US" altLang="zh-C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438400"/>
            <a:ext cx="5189670" cy="1798476"/>
          </a:xfrm>
          <a:prstGeom prst="rect">
            <a:avLst/>
          </a:prstGeom>
        </p:spPr>
      </p:pic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550" y="4448331"/>
            <a:ext cx="5098222" cy="14555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517632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52475" y="307657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确定的</a:t>
            </a:r>
            <a:endParaRPr lang="en-AU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运转模式：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，如果读入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，则状态保持在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71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79333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2098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运转模式：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，如果读入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，则状态保持在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的话，处于两个状态，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72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79333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2098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>
              <a:defRPr/>
            </a:pPr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运转模式：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，如果读入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，则状态保持在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的话，处于两个状态，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并且在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的时候，只有读入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，才可以跳转到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即只有以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01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结尾，才可能跳转到状态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pPr marL="457200" lvl="1" indent="0">
                  <a:buNone/>
                </a:pPr>
                <a:endParaRPr lang="en-AU" altLang="zh-CN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2"/>
                <a:ext cx="8229600" cy="4525963"/>
              </a:xfrm>
              <a:blipFill rotWithShape="1">
                <a:blip r:embed="rId3"/>
                <a:stretch>
                  <a:fillRect b="-25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73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79333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2098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续例</a:t>
            </a:r>
            <a:r>
              <a:rPr lang="en-AU" altLang="zh-CN" dirty="0"/>
              <a:t>:</a:t>
            </a: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构成的串中</a:t>
            </a:r>
            <a:r>
              <a:rPr lang="en-US" altLang="zh-CN" dirty="0"/>
              <a:t>, </a:t>
            </a:r>
            <a:r>
              <a:rPr lang="zh-CN" altLang="en-US" dirty="0"/>
              <a:t>接受全部以</a:t>
            </a:r>
            <a:r>
              <a:rPr lang="en-US" altLang="zh-CN" dirty="0"/>
              <a:t>01</a:t>
            </a:r>
            <a:r>
              <a:rPr lang="zh-CN" altLang="en-US" dirty="0"/>
              <a:t>结尾的串。</a:t>
            </a:r>
            <a:endParaRPr lang="en-AU" altLang="zh-CN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r>
              <a:rPr lang="zh-CN" altLang="en-US" dirty="0"/>
              <a:t>以读入</a:t>
            </a:r>
            <a:r>
              <a:rPr lang="en-AU" altLang="zh-CN" dirty="0"/>
              <a:t>101</a:t>
            </a:r>
            <a:r>
              <a:rPr lang="zh-CN" altLang="en-US" dirty="0"/>
              <a:t>为例看</a:t>
            </a:r>
            <a:r>
              <a:rPr lang="en-US" altLang="zh-CN" dirty="0"/>
              <a:t>NFA</a:t>
            </a:r>
            <a:r>
              <a:rPr lang="zh-CN" altLang="en-US" dirty="0"/>
              <a:t>的运行模式：</a:t>
            </a:r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74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9050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75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28800" y="31861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40433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828800" y="49006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,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828800" y="57578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以上都不是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25040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10765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96490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82215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914400" y="109902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续例</a:t>
            </a:r>
            <a:r>
              <a:rPr lang="en-AU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构成的串中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接受全部以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结尾的串。</a:t>
            </a: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以读入</a:t>
            </a:r>
            <a:r>
              <a:rPr lang="en-AU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为例看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到达的状态集：</a:t>
            </a: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89" y="1600200"/>
            <a:ext cx="4648200" cy="1327064"/>
          </a:xfrm>
          <a:prstGeom prst="rect">
            <a:avLst/>
          </a:prstGeom>
        </p:spPr>
      </p:pic>
      <p:sp>
        <p:nvSpPr>
          <p:cNvPr id="28" name="TextBox 7"/>
          <p:cNvSpPr txBox="1"/>
          <p:nvPr/>
        </p:nvSpPr>
        <p:spPr>
          <a:xfrm>
            <a:off x="983411" y="168371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非确定有穷自动机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76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109902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续例</a:t>
            </a:r>
            <a:r>
              <a:rPr lang="en-AU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构成的串中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接受全部以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结尾的串。</a:t>
            </a: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以读入</a:t>
            </a:r>
            <a:r>
              <a:rPr lang="en-AU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为例看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的运行模式：</a:t>
            </a:r>
            <a:endParaRPr lang="en-AU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5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89" y="1435676"/>
            <a:ext cx="4648200" cy="1327064"/>
          </a:xfrm>
          <a:prstGeom prst="rect">
            <a:avLst/>
          </a:prstGeom>
        </p:spPr>
      </p:pic>
      <p:sp>
        <p:nvSpPr>
          <p:cNvPr id="16" name="TextBox 7"/>
          <p:cNvSpPr txBox="1"/>
          <p:nvPr/>
        </p:nvSpPr>
        <p:spPr>
          <a:xfrm>
            <a:off x="983411" y="168371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非确定有穷自动机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以读入</a:t>
                </a:r>
                <a:r>
                  <a:rPr lang="en-AU" altLang="zh-CN" dirty="0"/>
                  <a:t>101</a:t>
                </a:r>
                <a:r>
                  <a:rPr lang="zh-CN" altLang="en-US" dirty="0"/>
                  <a:t>为例看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的运行模式：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77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9050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以读入</a:t>
                </a:r>
                <a:r>
                  <a:rPr lang="en-AU" altLang="zh-CN" dirty="0"/>
                  <a:t>101</a:t>
                </a:r>
                <a:r>
                  <a:rPr lang="zh-CN" altLang="en-US" dirty="0"/>
                  <a:t>为例看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的运行模式：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，跳转到两个状态，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AU" altLang="zh-CN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-4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78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9050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以读入</a:t>
                </a:r>
                <a:r>
                  <a:rPr lang="en-AU" altLang="zh-CN" dirty="0"/>
                  <a:t>101</a:t>
                </a:r>
                <a:r>
                  <a:rPr lang="zh-CN" altLang="en-US" dirty="0"/>
                  <a:t>为例看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的运行模式：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，跳转到两个状态，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，即处于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AU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79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526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以读入</a:t>
                </a:r>
                <a:r>
                  <a:rPr lang="en-AU" altLang="zh-CN" dirty="0"/>
                  <a:t>101</a:t>
                </a:r>
                <a:r>
                  <a:rPr lang="zh-CN" altLang="en-US" dirty="0"/>
                  <a:t>为例看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的运行模式：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，跳转到两个状态，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，即处于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AU" altLang="zh-CN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由于最后的状态中包含有接受状态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，该串被接受。</a:t>
                </a:r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t="-168" b="-2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80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526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非确定有穷自动机运转模式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续例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由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构成的串中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接受全部以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结尾的串。</a:t>
                </a:r>
                <a:endParaRPr lang="en-AU" altLang="zh-CN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以读入</a:t>
                </a:r>
                <a:r>
                  <a:rPr lang="en-AU" altLang="zh-CN" dirty="0"/>
                  <a:t>101</a:t>
                </a:r>
                <a:r>
                  <a:rPr lang="zh-CN" altLang="en-US" dirty="0"/>
                  <a:t>为例看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的运行模式：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开始处于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，则状态还是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；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，跳转到两个状态，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接下来读入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，即处于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AU" altLang="zh-CN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由于最后的状态中包含有接受状态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，该串被接受。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t="-16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81</a:t>
            </a:fld>
            <a:endParaRPr lang="en-US" altLang="zh-CN"/>
          </a:p>
        </p:txBody>
      </p:sp>
      <p:pic>
        <p:nvPicPr>
          <p:cNvPr id="7" name="Picture 6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752600"/>
            <a:ext cx="4648200" cy="1327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3622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非确定</a:t>
            </a:r>
            <a:endParaRPr lang="en-AU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304800" y="5638800"/>
            <a:ext cx="7696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需要描述状态集之间的转移关系，如何形式化定义？</a:t>
            </a:r>
            <a:endParaRPr lang="en-AU" altLang="zh-CN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非确定有穷自动机的形式定义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143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定义：非确定有穷自动机</a:t>
                </a:r>
                <a:r>
                  <a:rPr lang="en-AU" altLang="zh-CN" dirty="0"/>
                  <a:t>(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FA, Non-deterministic Finite Automaton</a:t>
                </a:r>
                <a:r>
                  <a:rPr lang="en-AU" altLang="zh-CN" dirty="0"/>
                  <a:t>)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为五元组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:</a:t>
                </a:r>
                <a:r>
                  <a:rPr lang="zh-CN" altLang="en-US" dirty="0"/>
                  <a:t>有穷状态集；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 有穷输入符号集或字母表；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(3) </a:t>
                </a:r>
                <a14:m>
                  <m:oMath xmlns:m="http://schemas.openxmlformats.org/officeDocument/2006/math">
                    <m:r>
                      <a:rPr lang="zh-CN" altLang="en-AU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l-GR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AU" altLang="zh-CN" dirty="0">
                    <a:solidFill>
                      <a:schemeClr val="accent1"/>
                    </a:solidFill>
                  </a:rPr>
                  <a:t>:</a:t>
                </a:r>
                <a:r>
                  <a:rPr lang="zh-CN" altLang="en-US" dirty="0">
                    <a:solidFill>
                      <a:schemeClr val="accent1"/>
                    </a:solidFill>
                  </a:rPr>
                  <a:t>状态转移函数；</a:t>
                </a:r>
                <a:endParaRPr lang="en-AU" altLang="zh-CN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: </a:t>
                </a:r>
                <a:r>
                  <a:rPr lang="zh-CN" altLang="en-US" dirty="0"/>
                  <a:t>初始状态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(5)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终结状态集或接受状态集。</a:t>
                </a:r>
                <a:endParaRPr lang="en-AU" altLang="zh-CN" dirty="0"/>
              </a:p>
              <a:p>
                <a:pPr lvl="1"/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1439"/>
                <a:ext cx="8229600" cy="4525963"/>
              </a:xfrm>
              <a:blipFill rotWithShape="1">
                <a:blip r:embed="rId3"/>
                <a:stretch>
                  <a:fillRect t="-7" b="-85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2000" y="5339984"/>
                <a:ext cx="7086600" cy="832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注</a:t>
                </a:r>
                <a:r>
                  <a:rPr lang="en-AU" altLang="zh-CN" sz="2400" dirty="0">
                    <a:solidFill>
                      <a:schemeClr val="accent1"/>
                    </a:solidFill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是幂集</a:t>
                </a:r>
                <a:r>
                  <a:rPr lang="zh-CN" altLang="en-US" sz="2400" dirty="0">
                    <a:solidFill>
                      <a:schemeClr val="accent1"/>
                    </a:solidFill>
                  </a:rPr>
                  <a:t>，</a:t>
                </a:r>
                <a:r>
                  <a:rPr lang="zh-CN" altLang="en-US" sz="24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AU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AU" altLang="zh-CN" sz="2400" dirty="0">
                    <a:solidFill>
                      <a:schemeClr val="accent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solidFill>
                      <a:schemeClr val="accent1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2400" dirty="0">
                    <a:solidFill>
                      <a:schemeClr val="accent1"/>
                    </a:solidFill>
                  </a:rPr>
                  <a:t>的子集</a:t>
                </a:r>
                <a:r>
                  <a:rPr lang="en-AU" altLang="zh-CN" sz="2400" dirty="0">
                    <a:solidFill>
                      <a:schemeClr val="accent1"/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9984"/>
                <a:ext cx="7086600" cy="832216"/>
              </a:xfrm>
              <a:prstGeom prst="rect">
                <a:avLst/>
              </a:prstGeom>
              <a:blipFill rotWithShape="1">
                <a:blip r:embed="rId4"/>
                <a:stretch>
                  <a:fillRect t="-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的形式定义示例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r>
              <a:rPr lang="zh-CN" altLang="en-US" dirty="0"/>
              <a:t>续例：接受全部以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结尾的串的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五元组为                                               ，转移函数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83</a:t>
            </a:fld>
            <a:endParaRPr lang="en-US" altLang="zh-CN"/>
          </a:p>
        </p:txBody>
      </p:sp>
      <p:pic>
        <p:nvPicPr>
          <p:cNvPr id="5" name="Picture 4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2362200"/>
            <a:ext cx="4648200" cy="1327064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81200" y="4214546"/>
          <a:ext cx="4103112" cy="47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4" name="Equation" r:id="rId4" imgW="47548800" imgH="5486400" progId="Equation.DSMT4">
                  <p:embed/>
                </p:oleObj>
              </mc:Choice>
              <mc:Fallback>
                <p:oleObj name="Equation" r:id="rId4" imgW="47548800" imgH="548640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81200" y="4214546"/>
                        <a:ext cx="4103112" cy="473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924802" y="4214548"/>
          <a:ext cx="322885" cy="4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5" name="Equation" r:id="rId6" imgW="3352800" imgH="4267200" progId="Equation.DSMT4">
                  <p:embed/>
                </p:oleObj>
              </mc:Choice>
              <mc:Fallback>
                <p:oleObj name="Equation" r:id="rId6" imgW="3352800" imgH="4267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24802" y="4214548"/>
                        <a:ext cx="322885" cy="4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353506" y="4885980"/>
          <a:ext cx="6436991" cy="1007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6" name="Equation" r:id="rId8" imgW="70104000" imgH="10972800" progId="Equation.DSMT4">
                  <p:embed/>
                </p:oleObj>
              </mc:Choice>
              <mc:Fallback>
                <p:oleObj name="Equation" r:id="rId8" imgW="70104000" imgH="109728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53506" y="4885980"/>
                        <a:ext cx="6436991" cy="1007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的形式定义示例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r>
              <a:rPr lang="zh-CN" altLang="en-US" dirty="0"/>
              <a:t>续例：接受全部以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结尾的串的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/>
              <a:t>。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状态转移表：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84</a:t>
            </a:fld>
            <a:endParaRPr lang="en-US" altLang="zh-CN"/>
          </a:p>
        </p:txBody>
      </p:sp>
      <p:pic>
        <p:nvPicPr>
          <p:cNvPr id="5" name="Picture 4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2362200"/>
            <a:ext cx="4648200" cy="1327064"/>
          </a:xfrm>
          <a:prstGeom prst="rect">
            <a:avLst/>
          </a:prstGeom>
        </p:spPr>
      </p:pic>
      <p:pic>
        <p:nvPicPr>
          <p:cNvPr id="8" name="Picture 7" descr="Text&#10;&#10;Description automatically generated with low confidence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07" y="4391975"/>
            <a:ext cx="3535986" cy="187468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2"/>
                <a:ext cx="86868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.</a:t>
                </a:r>
                <a:r>
                  <a:rPr lang="zh-CN" altLang="en-US" dirty="0"/>
                  <a:t>扩展</a:t>
                </a:r>
                <a14:m>
                  <m:oMath xmlns:m="http://schemas.openxmlformats.org/officeDocument/2006/math">
                    <m:r>
                      <a:rPr lang="zh-CN" altLang="en-AU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zh-CN" altLang="en-US" dirty="0"/>
                  <a:t>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},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∪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),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不为空串的时候，先输入前面的字符串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，可以到达多个状态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。对每个状态应用状态转移函数，然后把状态求并集即可。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2"/>
                <a:ext cx="86868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85</a:t>
            </a:fld>
            <a:endParaRPr lang="en-US" altLang="zh-CN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86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AU" altLang="zh-CN" sz="4000" dirty="0"/>
                  <a:t>. </a:t>
                </a:r>
                <a:r>
                  <a:rPr lang="zh-CN" altLang="en-US" sz="4000" dirty="0"/>
                  <a:t>接受</a:t>
                </a:r>
                <a:r>
                  <a:rPr lang="en-US" altLang="zh-CN" sz="4000" dirty="0"/>
                  <a:t>01</a:t>
                </a:r>
                <a:r>
                  <a:rPr lang="zh-CN" altLang="en-US" sz="4000" dirty="0"/>
                  <a:t>结尾的串的</a:t>
                </a:r>
                <a:r>
                  <a:rPr lang="en-US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AU" altLang="zh-CN" sz="4000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4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400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sz="4000" dirty="0"/>
                  <a:t>处理</a:t>
                </a:r>
                <a:r>
                  <a:rPr lang="en-US" altLang="zh-CN" sz="4000" dirty="0"/>
                  <a:t>00101</a:t>
                </a:r>
                <a:r>
                  <a:rPr lang="zh-CN" altLang="en-US" sz="4000" dirty="0"/>
                  <a:t>时每步的状态转移</a:t>
                </a:r>
                <a:endParaRPr lang="en-AU" altLang="zh-CN" sz="4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5" name="Picture 4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671079"/>
            <a:ext cx="4000500" cy="1142145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ock, watch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936337"/>
            <a:ext cx="4000500" cy="11421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. </a:t>
                </a:r>
                <a:r>
                  <a:rPr lang="zh-CN" altLang="en-US" dirty="0"/>
                  <a:t>接受</a:t>
                </a:r>
                <a:r>
                  <a:rPr lang="en-US" altLang="zh-CN" dirty="0"/>
                  <a:t>01</a:t>
                </a:r>
                <a:r>
                  <a:rPr lang="zh-CN" altLang="en-US" dirty="0"/>
                  <a:t>结尾的串的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处理</a:t>
                </a:r>
                <a:r>
                  <a:rPr lang="en-US" altLang="zh-CN" dirty="0"/>
                  <a:t>00101</a:t>
                </a:r>
                <a:r>
                  <a:rPr lang="zh-CN" altLang="en-US" dirty="0"/>
                  <a:t>时每步的状态转移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  <a:blipFill rotWithShape="1">
                <a:blip r:embed="rId4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6172202"/>
            <a:ext cx="2133600" cy="365125"/>
          </a:xfrm>
        </p:spPr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87</a:t>
            </a:fld>
            <a:endParaRPr lang="en-US" altLang="zh-CN"/>
          </a:p>
        </p:txBody>
      </p:sp>
      <p:grpSp>
        <p:nvGrpSpPr>
          <p:cNvPr id="20" name="Group 19"/>
          <p:cNvGrpSpPr/>
          <p:nvPr/>
        </p:nvGrpSpPr>
        <p:grpSpPr>
          <a:xfrm>
            <a:off x="952539" y="2971802"/>
            <a:ext cx="303957" cy="2422615"/>
            <a:chOff x="952537" y="3821547"/>
            <a:chExt cx="303957" cy="2422615"/>
          </a:xfrm>
        </p:grpSpPr>
        <p:sp>
          <p:nvSpPr>
            <p:cNvPr id="9" name="TextBox 8"/>
            <p:cNvSpPr txBox="1"/>
            <p:nvPr/>
          </p:nvSpPr>
          <p:spPr>
            <a:xfrm>
              <a:off x="952537" y="38215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52537" y="419167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52537" y="462952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4808" y="506702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52537" y="543732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52537" y="58748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6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5791200" y="5029202"/>
            <a:ext cx="781050" cy="427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969470" y="5557388"/>
            <a:ext cx="6194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最后含有接受状态，所以</a:t>
            </a:r>
            <a:r>
              <a:rPr lang="en-AU" altLang="zh-CN" sz="2400" dirty="0"/>
              <a:t>00101</a:t>
            </a:r>
            <a:r>
              <a:rPr lang="zh-CN" altLang="en-US" sz="2400" dirty="0"/>
              <a:t>可以被接受。</a:t>
            </a:r>
            <a:endParaRPr lang="en-AU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8"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9" name="Equation" r:id="rId7" imgW="2743200" imgH="4267200" progId="Equation.DSMT4">
                  <p:embed/>
                </p:oleObj>
              </mc:Choice>
              <mc:Fallback>
                <p:oleObj name="Equation" r:id="rId7" imgW="2743200" imgH="4267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71600" y="2970394"/>
          <a:ext cx="5233778" cy="243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60" name="Equation" r:id="rId8" imgW="81076800" imgH="37795200" progId="Equation.DSMT4">
                  <p:embed/>
                </p:oleObj>
              </mc:Choice>
              <mc:Fallback>
                <p:oleObj name="Equation" r:id="rId8" imgW="81076800" imgH="37795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71600" y="2970394"/>
                        <a:ext cx="5233778" cy="2439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接受的语言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回顾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≠∅}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88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和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对比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89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3412" y="1507153"/>
                <a:ext cx="43434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状态的转移是确定的</a:t>
                </a:r>
                <a:endParaRPr lang="en-AU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一次状态转移只会转移到一个确定的状态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3333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对于每一个状态，需要明确定义对应于各个可能的输入符号的状态转移</a:t>
                </a:r>
                <a:endParaRPr lang="en-AU" altLang="zh-CN" sz="2400" dirty="0">
                  <a:solidFill>
                    <a:srgbClr val="3333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有时设计较复杂</a:t>
                </a:r>
                <a:endParaRPr lang="en-AU" sz="2400" dirty="0">
                  <a:solidFill>
                    <a:schemeClr val="accent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最后所处的状态在接受状态集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中时，才接受符号串。</a:t>
                </a:r>
                <a:endParaRPr lang="en-AU" altLang="zh-CN" sz="2400" dirty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易于机器实现</a:t>
                </a:r>
                <a:endParaRPr lang="en-AU" sz="2400" u="sng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12" y="1507153"/>
                <a:ext cx="4343400" cy="4154984"/>
              </a:xfrm>
              <a:prstGeom prst="rect">
                <a:avLst/>
              </a:prstGeom>
              <a:blipFill rotWithShape="1">
                <a:blip r:embed="rId2"/>
                <a:stretch>
                  <a:fillRect l="-4" t="-7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48200" y="1507155"/>
                <a:ext cx="43434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状态的转移是非确定的</a:t>
                </a:r>
                <a:endParaRPr lang="en-AU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一次状态转移可能转移到多个状态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3333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不需要明确地定义所有的状态转移（如果未定义的话那么会进入一个</a:t>
                </a:r>
                <a:r>
                  <a:rPr lang="en-AU" altLang="zh-CN" sz="2400" dirty="0">
                    <a:solidFill>
                      <a:srgbClr val="3333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dead state</a:t>
                </a:r>
                <a:r>
                  <a:rPr lang="zh-CN" altLang="en-US" sz="2400" dirty="0">
                    <a:solidFill>
                      <a:srgbClr val="3333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endParaRPr lang="en-AU" altLang="zh-CN" sz="2400" dirty="0">
                  <a:solidFill>
                    <a:srgbClr val="3333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u="sng" dirty="0">
                    <a:solidFill>
                      <a:schemeClr val="accent2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通常比</a:t>
                </a:r>
                <a:r>
                  <a:rPr lang="en-AU" altLang="zh-CN" sz="2400" u="sng" dirty="0">
                    <a:solidFill>
                      <a:schemeClr val="accent2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DFA</a:t>
                </a:r>
                <a:r>
                  <a:rPr lang="zh-CN" altLang="en-US" sz="2400" u="sng" dirty="0">
                    <a:solidFill>
                      <a:schemeClr val="accent2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更为容易设计</a:t>
                </a:r>
                <a:endParaRPr lang="en-AU" sz="2400" u="sng" dirty="0">
                  <a:solidFill>
                    <a:schemeClr val="accent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最后所处的状态集中有某个状态在接受状态集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中时，才接受符号串。</a:t>
                </a:r>
                <a:endParaRPr lang="en-AU" altLang="zh-CN" sz="2400" dirty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507155"/>
                <a:ext cx="4343400" cy="4524315"/>
              </a:xfrm>
              <a:prstGeom prst="rect">
                <a:avLst/>
              </a:prstGeom>
              <a:blipFill rotWithShape="1">
                <a:blip r:embed="rId3"/>
                <a:stretch>
                  <a:fillRect t="-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483659" y="911844"/>
            <a:ext cx="2182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18997" y="865678"/>
            <a:ext cx="2182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483659" y="5534674"/>
            <a:ext cx="6355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但是，</a:t>
            </a:r>
            <a:r>
              <a:rPr lang="en-AU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AU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表示语言的能力是等价的。</a:t>
            </a:r>
            <a:endParaRPr lang="en-AU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的等价性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接受，当且仅当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接受。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即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一个被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接受的语言，也能被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接受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且，一个被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接受的语言，也能被</a:t>
                </a:r>
                <a:r>
                  <a:rPr lang="en-US" altLang="zh-CN" dirty="0"/>
                  <a:t>NFA</a:t>
                </a:r>
                <a:r>
                  <a:rPr lang="zh-CN" altLang="en-US" dirty="0"/>
                  <a:t>接受（√）</a:t>
                </a:r>
                <a:endParaRPr lang="en-US" altLang="zh-CN" dirty="0"/>
              </a:p>
              <a:p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90</a:t>
            </a:fld>
            <a:endParaRPr lang="en-US" altLang="zh-CN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的等价性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接受，当且仅当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接受。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给定一个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的五元组，构造一个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，然后证明它们是等价的。通过子集构造法（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Subset Construction</a:t>
                </a:r>
                <a:r>
                  <a:rPr lang="zh-CN" altLang="en-US" dirty="0"/>
                  <a:t>）进行。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91</a:t>
            </a:fld>
            <a:endParaRPr lang="en-US" altLang="zh-CN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从</a:t>
            </a:r>
            <a:r>
              <a:rPr lang="en-US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到</a:t>
            </a:r>
            <a:r>
              <a:rPr lang="en-AU" altLang="zh-CN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：子集构造法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838200"/>
                <a:ext cx="8229600" cy="65151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目标：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 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构造</a:t>
                </a:r>
                <a14:m>
                  <m:oMath xmlns:m="http://schemas.openxmlformats.org/officeDocument/2006/math">
                    <m:r>
                      <a:rPr lang="en-AU" altLang="zh-CN" sz="2400" b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，且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构造</a:t>
                </a:r>
                <a:r>
                  <a:rPr lang="en-AU" altLang="zh-CN" sz="2400" dirty="0"/>
                  <a:t>:</a:t>
                </a:r>
              </a:p>
              <a:p>
                <a:pPr lvl="1"/>
                <a:r>
                  <a:rPr lang="zh-CN" altLang="en-US" sz="2400" dirty="0"/>
                  <a:t>状态集：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即每个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状态是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子集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>
                    <a:latin typeface="Cambria Math" panose="02040503050406030204" pitchFamily="18" charset="0"/>
                  </a:rPr>
                  <a:t>接受状态集：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sz="2400" dirty="0"/>
                  <a:t> (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of subsets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sz="2400" dirty="0"/>
                  <a:t> 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AU" sz="2400" dirty="0"/>
                  <a:t>)</a:t>
                </a:r>
              </a:p>
              <a:p>
                <a:pPr lvl="1"/>
                <a:r>
                  <a:rPr lang="zh-CN" altLang="en-US" sz="2400" dirty="0"/>
                  <a:t>状态转移函数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,∀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AU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457200" lvl="1" indent="0">
                  <a:buNone/>
                </a:pPr>
                <a:endParaRPr lang="en-AU" altLang="zh-CN" dirty="0"/>
              </a:p>
              <a:p>
                <a:pPr marL="342900" lvl="1" indent="0">
                  <a:buNone/>
                </a:pPr>
                <a:r>
                  <a:rPr lang="zh-CN" altLang="en-US" sz="2400" dirty="0"/>
                  <a:t>例如，假设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的某个状态为</a:t>
                </a:r>
                <a:r>
                  <a:rPr lang="en-AU" altLang="zh-CN" sz="2400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altLang="zh-CN" sz="2400" dirty="0"/>
                  <a:t>}</a:t>
                </a:r>
                <a:r>
                  <a:rPr lang="zh-CN" altLang="en-US" sz="2400" dirty="0"/>
                  <a:t>，输入符号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altLang="zh-CN" sz="2400" dirty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AU" altLang="zh-CN" sz="240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AU" altLang="zh-CN" sz="2400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AU" altLang="zh-CN" sz="2400" dirty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AU" altLang="zh-CN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2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的并集</a:t>
                </a:r>
                <a:r>
                  <a:rPr lang="en-AU" altLang="zh-CN" sz="2400" dirty="0"/>
                  <a:t>(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=1,2,3</m:t>
                    </m:r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342900" lvl="1" indent="0">
                  <a:buNone/>
                </a:pPr>
                <a:r>
                  <a:rPr lang="zh-CN" altLang="en-US" sz="2400" dirty="0"/>
                  <a:t>（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注意</a:t>
                </a:r>
                <a:r>
                  <a:rPr lang="zh-CN" altLang="en-US" sz="2400" dirty="0"/>
                  <a:t>，这里</a:t>
                </a:r>
                <a:r>
                  <a:rPr lang="en-AU" altLang="zh-CN" sz="2400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altLang="zh-CN" sz="2400" dirty="0"/>
                  <a:t>}</a:t>
                </a:r>
                <a:r>
                  <a:rPr lang="zh-CN" altLang="en-US" sz="2400" dirty="0"/>
                  <a:t>表示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的一个状态）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838200"/>
                <a:ext cx="8229600" cy="65151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92</a:t>
            </a:fld>
            <a:endParaRPr lang="en-US" altLang="zh-CN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归纳法证明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0010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用归纳法证明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，对串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的长度进行归纳，往证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dirty="0"/>
                  <a:t>，即输入相同的字符串能够从开始状态转移相同的状态。</a:t>
                </a:r>
                <a:endParaRPr lang="en-AU" dirty="0"/>
              </a:p>
              <a:p>
                <a:r>
                  <a:rPr lang="zh-CN" altLang="en-US" dirty="0"/>
                  <a:t>归纳基础：当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,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AU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AU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}=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AU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0010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93</a:t>
            </a:fld>
            <a:endParaRPr lang="en-US" altLang="zh-C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的等价性证明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归纳假设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时，命题成立。</a:t>
                </a:r>
                <a:endParaRPr lang="en-AU" altLang="zh-CN" dirty="0"/>
              </a:p>
              <a:p>
                <a:r>
                  <a:rPr lang="zh-CN" altLang="en-US" dirty="0"/>
                  <a:t>归纳递推：当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时，则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𝑥𝑎</m:t>
                    </m:r>
                  </m:oMath>
                </a14:m>
                <a:r>
                  <a:rPr lang="en-AU" dirty="0"/>
                  <a:t>,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94</a:t>
            </a:fld>
            <a:endParaRPr lang="en-US" altLang="zh-CN"/>
          </a:p>
        </p:txBody>
      </p:sp>
      <p:sp>
        <p:nvSpPr>
          <p:cNvPr id="8" name="TextBox 7"/>
          <p:cNvSpPr txBox="1"/>
          <p:nvPr/>
        </p:nvSpPr>
        <p:spPr>
          <a:xfrm>
            <a:off x="914402" y="534256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因此上式成立。</a:t>
            </a:r>
            <a:endParaRPr lang="en-AU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200" y="2971800"/>
                <a:ext cx="5939383" cy="20460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AU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AU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AU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𝑥𝑎</m:t>
                      </m:r>
                      <m:r>
                        <a:rPr lang="en-AU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AU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AU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AU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</m:t>
                          </m:r>
                          <m:r>
                            <a:rPr lang="en-AU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AU" altLang="zh-CN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m:rPr>
                            <m:brk m:alnAt="9"/>
                          </m:rPr>
                          <a:rPr lang="en-AU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brk m:alnAt="9"/>
                          </m:r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brk m:alnAt="9"/>
                          </m:r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AU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m:rPr>
                            <m:brk m:alnAt="9"/>
                          </m:rPr>
                          <a:rPr lang="en-AU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brk m:alnAt="9"/>
                              </m:r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sz="2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AU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i="1">
                            <a:latin typeface="Cambria Math" panose="02040503050406030204" pitchFamily="18" charset="0"/>
                          </a:rPr>
                          <m:t>𝑥𝑎</m:t>
                        </m:r>
                      </m:e>
                    </m:d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971800"/>
                <a:ext cx="5939383" cy="2046009"/>
              </a:xfrm>
              <a:prstGeom prst="rect">
                <a:avLst/>
              </a:prstGeom>
              <a:blipFill rotWithShape="1">
                <a:blip r:embed="rId4"/>
                <a:stretch>
                  <a:fillRect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67400" y="2957107"/>
                <a:ext cx="1879489" cy="482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sz="2400" dirty="0"/>
                  <a:t>定义</a:t>
                </a:r>
                <a:endParaRPr lang="en-AU" altLang="zh-CN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957107"/>
                <a:ext cx="1879489" cy="482440"/>
              </a:xfrm>
              <a:prstGeom prst="rect">
                <a:avLst/>
              </a:prstGeom>
              <a:blipFill rotWithShape="1">
                <a:blip r:embed="rId5"/>
                <a:stretch>
                  <a:fillRect t="-113" r="28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867400" y="3977002"/>
            <a:ext cx="167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归纳假设</a:t>
            </a:r>
            <a:endParaRPr lang="en-AU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867400" y="3477442"/>
                <a:ext cx="32362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的状态转移函数定义</a:t>
                </a:r>
                <a:endParaRPr lang="en-AU" altLang="zh-CN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477442"/>
                <a:ext cx="3236205" cy="461665"/>
              </a:xfrm>
              <a:prstGeom prst="rect">
                <a:avLst/>
              </a:prstGeom>
              <a:blipFill rotWithShape="1">
                <a:blip r:embed="rId6"/>
                <a:stretch>
                  <a:fillRect t="-39" r="8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67400" y="4476563"/>
                <a:ext cx="2018474" cy="482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sz="2400" dirty="0"/>
                  <a:t>定义</a:t>
                </a:r>
                <a:endParaRPr lang="en-AU" altLang="zh-CN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476563"/>
                <a:ext cx="2018474" cy="482440"/>
              </a:xfrm>
              <a:prstGeom prst="rect">
                <a:avLst/>
              </a:prstGeom>
              <a:blipFill rotWithShape="1">
                <a:blip r:embed="rId7"/>
                <a:stretch>
                  <a:fillRect t="-93" r="2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的等价性证明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归纳假设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时，命题成立。</a:t>
                </a:r>
                <a:endParaRPr lang="en-AU" altLang="zh-CN" dirty="0"/>
              </a:p>
              <a:p>
                <a:r>
                  <a:rPr lang="zh-CN" altLang="en-US" dirty="0"/>
                  <a:t>归纳递推：当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时，则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𝑥𝑎</m:t>
                    </m:r>
                  </m:oMath>
                </a14:m>
                <a:r>
                  <a:rPr lang="en-AU" dirty="0"/>
                  <a:t>,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95</a:t>
            </a:fld>
            <a:endParaRPr lang="en-US" altLang="zh-CN"/>
          </a:p>
        </p:txBody>
      </p:sp>
      <p:sp>
        <p:nvSpPr>
          <p:cNvPr id="8" name="TextBox 7"/>
          <p:cNvSpPr txBox="1"/>
          <p:nvPr/>
        </p:nvSpPr>
        <p:spPr>
          <a:xfrm>
            <a:off x="914402" y="534256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因此上式成立。</a:t>
            </a:r>
            <a:endParaRPr lang="en-AU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4183" y="2884507"/>
                <a:ext cx="5357492" cy="2511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AU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</m:e>
                        <m:sub>
                          <m:r>
                            <m:rPr>
                              <m:brk m:alnAt="9"/>
                            </m:rPr>
                            <a:rPr lang="en-AU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AU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m:rPr>
                              <m:brk m:alnAt="9"/>
                            </m:r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9"/>
                            </m:r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AU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m:rPr>
                            <m:brk m:alnAt="9"/>
                          </m:rPr>
                          <a:rPr lang="en-AU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brk m:alnAt="9"/>
                              </m:r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),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𝑥𝑎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i="1" dirty="0">
                  <a:latin typeface="Cambria Math" panose="02040503050406030204" pitchFamily="18" charset="0"/>
                </a:endParaRPr>
              </a:p>
              <a:p>
                <a:endParaRPr lang="en-A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3" y="2884507"/>
                <a:ext cx="5357492" cy="2511072"/>
              </a:xfrm>
              <a:prstGeom prst="rect">
                <a:avLst/>
              </a:prstGeom>
              <a:blipFill rotWithShape="1">
                <a:blip r:embed="rId4"/>
                <a:stretch>
                  <a:fillRect t="-13" b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16713" y="2957107"/>
                <a:ext cx="1879489" cy="482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sz="2400" dirty="0"/>
                  <a:t>定义</a:t>
                </a:r>
                <a:endParaRPr lang="en-AU" altLang="zh-CN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713" y="2957107"/>
                <a:ext cx="1879489" cy="482440"/>
              </a:xfrm>
              <a:prstGeom prst="rect">
                <a:avLst/>
              </a:prstGeom>
              <a:blipFill rotWithShape="1">
                <a:blip r:embed="rId5"/>
                <a:stretch>
                  <a:fillRect l="-6" t="-11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823163" y="3414595"/>
            <a:ext cx="2247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归纳假设</a:t>
            </a:r>
            <a:endParaRPr lang="en-AU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83612" y="4001296"/>
                <a:ext cx="36603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的状态转移函数定义</a:t>
                </a:r>
                <a:endParaRPr lang="en-AU" altLang="zh-CN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612" y="4001296"/>
                <a:ext cx="3660388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1" t="-35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34020" y="4491041"/>
                <a:ext cx="2927563" cy="482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sz="2400" dirty="0"/>
                  <a:t>定义</a:t>
                </a:r>
                <a:endParaRPr lang="en-AU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020" y="4491041"/>
                <a:ext cx="2927563" cy="482440"/>
              </a:xfrm>
              <a:prstGeom prst="rect">
                <a:avLst/>
              </a:prstGeom>
              <a:blipFill rotWithShape="1">
                <a:blip r:embed="rId7"/>
                <a:stretch>
                  <a:fillRect l="-10" t="-67" r="1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en-AU" sz="3600" dirty="0">
                <a:solidFill>
                  <a:schemeClr val="bg1"/>
                </a:solidFill>
              </a:rPr>
              <a:t>DFA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AU" altLang="zh-CN" sz="3600" dirty="0">
                <a:solidFill>
                  <a:schemeClr val="bg1"/>
                </a:solidFill>
              </a:rPr>
              <a:t>NFA</a:t>
            </a:r>
            <a:r>
              <a:rPr lang="zh-CN" altLang="en-US" sz="3600" dirty="0">
                <a:solidFill>
                  <a:schemeClr val="bg1"/>
                </a:solidFill>
              </a:rPr>
              <a:t>的等价性证明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endParaRPr lang="en-AU" altLang="zh-CN" dirty="0"/>
              </a:p>
              <a:p>
                <a:r>
                  <a:rPr lang="zh-CN" altLang="en-US" dirty="0"/>
                  <a:t>所以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0600" y="4953000"/>
                <a:ext cx="32632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AU" altLang="zh-CN" sz="2800" b="1" i="1" dirty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AU" altLang="zh-CN" sz="2800" b="1" i="1" dirty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953000"/>
                <a:ext cx="3263266" cy="523220"/>
              </a:xfrm>
              <a:prstGeom prst="rect">
                <a:avLst/>
              </a:prstGeom>
              <a:blipFill rotWithShape="1">
                <a:blip r:embed="rId4"/>
                <a:stretch>
                  <a:fillRect r="-1070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43000" y="2241354"/>
          <a:ext cx="5304542" cy="2481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6" name="Equation" r:id="rId5" imgW="52120800" imgH="24384000" progId="Equation.DSMT4">
                  <p:embed/>
                </p:oleObj>
              </mc:Choice>
              <mc:Fallback>
                <p:oleObj name="Equation" r:id="rId5" imgW="52120800" imgH="2438400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2241354"/>
                        <a:ext cx="5304542" cy="2481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133342" y="2314547"/>
            <a:ext cx="1629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NFA</a:t>
            </a:r>
            <a:r>
              <a:rPr lang="zh-CN" altLang="en-US" sz="2400" dirty="0">
                <a:latin typeface="+mn-ea"/>
              </a:rPr>
              <a:t>的语言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33342" y="2967337"/>
            <a:ext cx="1629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刚证明的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133342" y="3657995"/>
            <a:ext cx="1629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D</a:t>
            </a:r>
            <a:r>
              <a:rPr lang="zh-CN" altLang="en-US" sz="2400" dirty="0">
                <a:latin typeface="+mn-ea"/>
              </a:rPr>
              <a:t>的构造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133342" y="4174462"/>
            <a:ext cx="1629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DFA</a:t>
            </a:r>
            <a:r>
              <a:rPr lang="zh-CN" altLang="en-US" sz="2400" dirty="0">
                <a:latin typeface="+mn-ea"/>
              </a:rPr>
              <a:t>的语言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90487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000" dirty="0"/>
              <a:t>例</a:t>
            </a:r>
            <a:r>
              <a:rPr lang="en-AU" altLang="zh-CN" sz="4000" dirty="0"/>
              <a:t>: </a:t>
            </a:r>
            <a:r>
              <a:rPr lang="zh-CN" altLang="en-US" sz="4000" dirty="0"/>
              <a:t>请将下面“接受全部以 </a:t>
            </a:r>
            <a:r>
              <a:rPr lang="en-US" altLang="zh-CN" sz="4000" dirty="0"/>
              <a:t>01 </a:t>
            </a:r>
            <a:r>
              <a:rPr lang="zh-CN" altLang="en-US" sz="4000" dirty="0"/>
              <a:t>结尾的串”的</a:t>
            </a:r>
            <a:r>
              <a:rPr lang="en-AU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4000" dirty="0"/>
              <a:t>。</a:t>
            </a:r>
            <a:endParaRPr lang="en-AU" altLang="zh-CN" sz="4000" dirty="0"/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0"/>
              <p:cNvGraphicFramePr>
                <a:graphicFrameLocks noGrp="1"/>
              </p:cNvGraphicFramePr>
              <p:nvPr/>
            </p:nvGraphicFramePr>
            <p:xfrm>
              <a:off x="5170924" y="301244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0"/>
              <p:cNvGraphicFramePr>
                <a:graphicFrameLocks noGrp="1"/>
              </p:cNvGraphicFramePr>
              <p:nvPr/>
            </p:nvGraphicFramePr>
            <p:xfrm>
              <a:off x="5170924" y="301244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1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1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6" name="Picture 12" descr="A picture containing clock&#10;&#10;Description automatically generated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3219700"/>
            <a:ext cx="3221772" cy="1138618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请将下面“接受全部以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结尾的串”的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70924" y="1815402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70924" y="1815402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5611673" y="2425002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8471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8471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84054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84054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9" name="Straight Arrow Connector 18"/>
          <p:cNvCxnSpPr/>
          <p:nvPr/>
        </p:nvCxnSpPr>
        <p:spPr>
          <a:xfrm>
            <a:off x="468025" y="48006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 descr="A picture containing clock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2022662"/>
            <a:ext cx="3221772" cy="11386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7241" y="3353854"/>
            <a:ext cx="8298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列出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的所有可能状态集</a:t>
            </a:r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状态集的所有子集</a:t>
            </a:r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AU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请将下面“接受全部以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结尾的串”的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99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70924" y="1739202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70924" y="1739202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5611673" y="2348802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7709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7709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76434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76434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9" name="Straight Arrow Connector 18"/>
          <p:cNvCxnSpPr/>
          <p:nvPr/>
        </p:nvCxnSpPr>
        <p:spPr>
          <a:xfrm>
            <a:off x="468025" y="47244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7239" y="3277654"/>
            <a:ext cx="5395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转移状态为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中相应状态的并集。</a:t>
            </a:r>
            <a:endParaRPr lang="en-AU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14" descr="A picture containing clock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1946462"/>
            <a:ext cx="3221772" cy="113861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请将下面“接受全部以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结尾的串”的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。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19050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19050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5562602" y="25146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7709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7709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789363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789363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695325" y="43434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95325" y="51054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95325" y="54864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315620" y="5105400"/>
            <a:ext cx="2895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025" y="47244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4593" y="3378807"/>
            <a:ext cx="7109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删除不能从开始状态达到的状态（无用状态）。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" name="Picture 19" descr="A picture containing clock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1946462"/>
            <a:ext cx="3221772" cy="1138618"/>
          </a:xfrm>
          <a:prstGeom prst="rect">
            <a:avLst/>
          </a:prstGeom>
        </p:spPr>
      </p:pic>
      <p:cxnSp>
        <p:nvCxnSpPr>
          <p:cNvPr id="21" name="Straight Connector 14"/>
          <p:cNvCxnSpPr/>
          <p:nvPr/>
        </p:nvCxnSpPr>
        <p:spPr>
          <a:xfrm flipV="1">
            <a:off x="4135440" y="5476352"/>
            <a:ext cx="3255960" cy="251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AU" altLang="zh-CN" dirty="0"/>
              <a:t>:</a:t>
            </a:r>
            <a:r>
              <a:rPr lang="zh-CN" altLang="en-US" dirty="0"/>
              <a:t>请将下面“接受全部以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结尾的串”的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。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19812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19812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5562602" y="25908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8471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0"/>
              <p:cNvGraphicFramePr>
                <a:graphicFrameLocks noGrp="1"/>
              </p:cNvGraphicFramePr>
              <p:nvPr/>
            </p:nvGraphicFramePr>
            <p:xfrm>
              <a:off x="228600" y="3847170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865563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zh-CN" altLang="en-US" sz="1800" b="1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0"/>
              <p:cNvGraphicFramePr>
                <a:graphicFrameLocks noGrp="1"/>
              </p:cNvGraphicFramePr>
              <p:nvPr/>
            </p:nvGraphicFramePr>
            <p:xfrm>
              <a:off x="4133850" y="3865563"/>
              <a:ext cx="33528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704850" y="44196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4850" y="51816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04850" y="5562600"/>
            <a:ext cx="26479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315620" y="5181600"/>
            <a:ext cx="2895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025" y="48006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75" y="3472968"/>
            <a:ext cx="7221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含有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接受状态的状态集就是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的接受状态。</a:t>
            </a:r>
            <a:endParaRPr lang="en-AU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1" name="Picture 20" descr="A picture containing clock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2022662"/>
            <a:ext cx="3221772" cy="1138618"/>
          </a:xfrm>
          <a:prstGeom prst="rect">
            <a:avLst/>
          </a:prstGeom>
        </p:spPr>
      </p:pic>
      <p:cxnSp>
        <p:nvCxnSpPr>
          <p:cNvPr id="22" name="Straight Connector 14"/>
          <p:cNvCxnSpPr/>
          <p:nvPr/>
        </p:nvCxnSpPr>
        <p:spPr>
          <a:xfrm flipV="1">
            <a:off x="4135440" y="5560088"/>
            <a:ext cx="3255960" cy="251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2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请将下面“接受全部以 </a:t>
            </a:r>
            <a:r>
              <a:rPr lang="en-US" altLang="zh-CN" dirty="0"/>
              <a:t>01 </a:t>
            </a:r>
            <a:r>
              <a:rPr lang="zh-CN" altLang="en-US" dirty="0"/>
              <a:t>结尾的串”的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转化成等价的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。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21336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AU" sz="1800" dirty="0"/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/>
              <p:cNvGraphicFramePr>
                <a:graphicFrameLocks noGrp="1"/>
              </p:cNvGraphicFramePr>
              <p:nvPr/>
            </p:nvGraphicFramePr>
            <p:xfrm>
              <a:off x="5121853" y="2133600"/>
              <a:ext cx="335280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17600"/>
                    <a:gridCol w="1117600"/>
                    <a:gridCol w="11176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5562602" y="2743200"/>
            <a:ext cx="321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75" y="3625368"/>
            <a:ext cx="7221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含有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接受状态的状态集就是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的接受状态。</a:t>
            </a:r>
            <a:endParaRPr lang="en-AU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1" name="Picture 20" descr="A picture containing clock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43" y="2175062"/>
            <a:ext cx="3221772" cy="1138618"/>
          </a:xfrm>
          <a:prstGeom prst="rect">
            <a:avLst/>
          </a:prstGeom>
        </p:spPr>
      </p:pic>
      <p:pic>
        <p:nvPicPr>
          <p:cNvPr id="22" name="Picture 21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020" y="4314635"/>
            <a:ext cx="3723580" cy="168735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103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矩形: 圆角 7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685800" y="152402"/>
            <a:ext cx="8229600" cy="39306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60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16" name="Content Placeholder 2"/>
          <p:cNvSpPr txBox="1"/>
          <p:nvPr/>
        </p:nvSpPr>
        <p:spPr>
          <a:xfrm>
            <a:off x="457200" y="11430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: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给定如下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，构造与其等价的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3"/>
          <p:cNvSpPr txBox="1"/>
          <p:nvPr/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0C455B-B212-44F5-BDE5-4E865130930B}" type="slidenum">
              <a:rPr lang="en-US" altLang="zh-CN" smtClean="0"/>
              <a:t>103</a:t>
            </a:fld>
            <a:endParaRPr lang="en-US" altLang="zh-CN"/>
          </a:p>
        </p:txBody>
      </p:sp>
      <p:sp>
        <p:nvSpPr>
          <p:cNvPr id="18" name="TextBox 1"/>
          <p:cNvSpPr txBox="1"/>
          <p:nvPr/>
        </p:nvSpPr>
        <p:spPr>
          <a:xfrm>
            <a:off x="2221232" y="2601909"/>
            <a:ext cx="74295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</a:rPr>
              <a:t>NFA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581400" y="1752600"/>
            <a:ext cx="3048002" cy="2446676"/>
            <a:chOff x="5364163" y="1052513"/>
            <a:chExt cx="3422650" cy="2668395"/>
          </a:xfrm>
        </p:grpSpPr>
        <p:sp>
          <p:nvSpPr>
            <p:cNvPr id="20" name="Line 13"/>
            <p:cNvSpPr/>
            <p:nvPr/>
          </p:nvSpPr>
          <p:spPr>
            <a:xfrm>
              <a:off x="6880225" y="2119313"/>
              <a:ext cx="990600" cy="1524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4"/>
            <p:cNvSpPr/>
            <p:nvPr/>
          </p:nvSpPr>
          <p:spPr>
            <a:xfrm flipV="1">
              <a:off x="6804025" y="1509713"/>
              <a:ext cx="1143000" cy="4572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3"/>
            <p:cNvSpPr/>
            <p:nvPr/>
          </p:nvSpPr>
          <p:spPr>
            <a:xfrm>
              <a:off x="7092948" y="3141663"/>
              <a:ext cx="935038" cy="2158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4"/>
            <p:cNvSpPr/>
            <p:nvPr/>
          </p:nvSpPr>
          <p:spPr>
            <a:xfrm flipV="1">
              <a:off x="7092950" y="2565400"/>
              <a:ext cx="935038" cy="57626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5"/>
            <p:cNvSpPr/>
            <p:nvPr/>
          </p:nvSpPr>
          <p:spPr>
            <a:xfrm flipV="1">
              <a:off x="7092950" y="1628775"/>
              <a:ext cx="935038" cy="151288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9"/>
            <p:cNvSpPr/>
            <p:nvPr/>
          </p:nvSpPr>
          <p:spPr>
            <a:xfrm>
              <a:off x="6948488" y="2276475"/>
              <a:ext cx="1152525" cy="792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9"/>
            <p:cNvSpPr/>
            <p:nvPr/>
          </p:nvSpPr>
          <p:spPr>
            <a:xfrm>
              <a:off x="6011863" y="2924175"/>
              <a:ext cx="360362" cy="217488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5364163" y="1052513"/>
              <a:ext cx="3422650" cy="2668395"/>
              <a:chOff x="5364163" y="1052513"/>
              <a:chExt cx="3422650" cy="2668395"/>
            </a:xfrm>
          </p:grpSpPr>
          <p:sp>
            <p:nvSpPr>
              <p:cNvPr id="28" name="Line 38"/>
              <p:cNvSpPr/>
              <p:nvPr/>
            </p:nvSpPr>
            <p:spPr>
              <a:xfrm flipV="1">
                <a:off x="6011863" y="2492375"/>
                <a:ext cx="215900" cy="144463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5364163" y="1052513"/>
                <a:ext cx="3422650" cy="2668395"/>
                <a:chOff x="5364163" y="1052513"/>
                <a:chExt cx="3422650" cy="2668395"/>
              </a:xfrm>
            </p:grpSpPr>
            <p:sp>
              <p:nvSpPr>
                <p:cNvPr id="30" name="Text Box 10"/>
                <p:cNvSpPr txBox="1"/>
                <p:nvPr/>
              </p:nvSpPr>
              <p:spPr>
                <a:xfrm>
                  <a:off x="7114747" y="13067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1" name="Text Box 12"/>
                <p:cNvSpPr txBox="1"/>
                <p:nvPr/>
              </p:nvSpPr>
              <p:spPr>
                <a:xfrm>
                  <a:off x="7114747" y="2133600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2" name="Text Box 26"/>
                <p:cNvSpPr txBox="1"/>
                <p:nvPr/>
              </p:nvSpPr>
              <p:spPr>
                <a:xfrm>
                  <a:off x="7532260" y="32845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33" name="Text Box 27"/>
                <p:cNvSpPr txBox="1"/>
                <p:nvPr/>
              </p:nvSpPr>
              <p:spPr>
                <a:xfrm>
                  <a:off x="7478986" y="2772893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4" name="Text Box 28"/>
                <p:cNvSpPr txBox="1"/>
                <p:nvPr/>
              </p:nvSpPr>
              <p:spPr>
                <a:xfrm>
                  <a:off x="7508020" y="22558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5" name="Text Box 30"/>
                <p:cNvSpPr txBox="1"/>
                <p:nvPr/>
              </p:nvSpPr>
              <p:spPr>
                <a:xfrm>
                  <a:off x="7135750" y="1779621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grpSp>
              <p:nvGrpSpPr>
                <p:cNvPr id="36" name="组合 35"/>
                <p:cNvGrpSpPr/>
                <p:nvPr/>
              </p:nvGrpSpPr>
              <p:grpSpPr>
                <a:xfrm>
                  <a:off x="5364163" y="1052513"/>
                  <a:ext cx="3422650" cy="2557462"/>
                  <a:chOff x="5364163" y="1052513"/>
                  <a:chExt cx="3422650" cy="2557462"/>
                </a:xfrm>
              </p:grpSpPr>
              <p:sp>
                <p:nvSpPr>
                  <p:cNvPr id="39" name="Oval 5"/>
                  <p:cNvSpPr/>
                  <p:nvPr/>
                </p:nvSpPr>
                <p:spPr>
                  <a:xfrm>
                    <a:off x="8020050" y="1052513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0" name="Text Box 8"/>
                  <p:cNvSpPr txBox="1"/>
                  <p:nvPr/>
                </p:nvSpPr>
                <p:spPr>
                  <a:xfrm>
                    <a:off x="8102283" y="1114777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41" name="Oval 9"/>
                  <p:cNvSpPr/>
                  <p:nvPr/>
                </p:nvSpPr>
                <p:spPr>
                  <a:xfrm>
                    <a:off x="7961313" y="2057400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2" name="Text Box 11"/>
                  <p:cNvSpPr txBox="1"/>
                  <p:nvPr/>
                </p:nvSpPr>
                <p:spPr>
                  <a:xfrm>
                    <a:off x="8071927" y="2112042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3</a:t>
                    </a:r>
                  </a:p>
                </p:txBody>
              </p:sp>
              <p:grpSp>
                <p:nvGrpSpPr>
                  <p:cNvPr id="43" name="组合 42"/>
                  <p:cNvGrpSpPr/>
                  <p:nvPr/>
                </p:nvGrpSpPr>
                <p:grpSpPr>
                  <a:xfrm>
                    <a:off x="6257925" y="2030413"/>
                    <a:ext cx="800100" cy="1508125"/>
                    <a:chOff x="6257925" y="2030413"/>
                    <a:chExt cx="800100" cy="1508125"/>
                  </a:xfrm>
                </p:grpSpPr>
                <p:sp>
                  <p:nvSpPr>
                    <p:cNvPr id="48" name="Oval 6"/>
                    <p:cNvSpPr/>
                    <p:nvPr/>
                  </p:nvSpPr>
                  <p:spPr>
                    <a:xfrm>
                      <a:off x="6372225" y="2852738"/>
                      <a:ext cx="685800" cy="685800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49" name="组合 48"/>
                    <p:cNvGrpSpPr/>
                    <p:nvPr/>
                  </p:nvGrpSpPr>
                  <p:grpSpPr>
                    <a:xfrm>
                      <a:off x="6257925" y="2030413"/>
                      <a:ext cx="685800" cy="685800"/>
                      <a:chOff x="6257925" y="2030413"/>
                      <a:chExt cx="685800" cy="685800"/>
                    </a:xfrm>
                  </p:grpSpPr>
                  <p:sp>
                    <p:nvSpPr>
                      <p:cNvPr id="51" name="Text Box 7"/>
                      <p:cNvSpPr txBox="1"/>
                      <p:nvPr/>
                    </p:nvSpPr>
                    <p:spPr>
                      <a:xfrm>
                        <a:off x="6371715" y="2112042"/>
                        <a:ext cx="489971" cy="4363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2000" b="1" dirty="0">
                            <a:latin typeface="Arial" panose="020B0604020202020204" pitchFamily="34" charset="0"/>
                          </a:rPr>
                          <a:t>q</a:t>
                        </a:r>
                        <a:r>
                          <a:rPr lang="en-US" altLang="zh-CN" sz="2000" b="1" baseline="-25000" dirty="0">
                            <a:latin typeface="Arial" panose="020B0604020202020204" pitchFamily="34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" name="Oval 19"/>
                      <p:cNvSpPr/>
                      <p:nvPr/>
                    </p:nvSpPr>
                    <p:spPr>
                      <a:xfrm>
                        <a:off x="6257925" y="2030413"/>
                        <a:ext cx="685800" cy="685800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zh-CN" altLang="en-US" sz="14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50" name="Text Box 20"/>
                    <p:cNvSpPr txBox="1"/>
                    <p:nvPr/>
                  </p:nvSpPr>
                  <p:spPr>
                    <a:xfrm>
                      <a:off x="6466170" y="2943098"/>
                      <a:ext cx="489972" cy="436369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anchor="t" anchorCtr="0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altLang="zh-CN" sz="2000" b="1" baseline="-25000" dirty="0">
                          <a:latin typeface="Arial" panose="020B0604020202020204" pitchFamily="34" charset="0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44" name="Oval 21"/>
                  <p:cNvSpPr/>
                  <p:nvPr/>
                </p:nvSpPr>
                <p:spPr>
                  <a:xfrm>
                    <a:off x="8101013" y="2924175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" name="Text Box 22"/>
                  <p:cNvSpPr txBox="1"/>
                  <p:nvPr/>
                </p:nvSpPr>
                <p:spPr>
                  <a:xfrm>
                    <a:off x="8195751" y="3026203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46" name="Oval 36"/>
                  <p:cNvSpPr/>
                  <p:nvPr/>
                </p:nvSpPr>
                <p:spPr>
                  <a:xfrm>
                    <a:off x="5364163" y="2420938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7" name="Text Box 37"/>
                  <p:cNvSpPr txBox="1"/>
                  <p:nvPr/>
                </p:nvSpPr>
                <p:spPr>
                  <a:xfrm>
                    <a:off x="5456520" y="2465306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37" name="Text Box 40"/>
                <p:cNvSpPr txBox="1"/>
                <p:nvPr/>
              </p:nvSpPr>
              <p:spPr>
                <a:xfrm>
                  <a:off x="5874910" y="2060575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38" name="Text Box 41"/>
                <p:cNvSpPr txBox="1"/>
                <p:nvPr/>
              </p:nvSpPr>
              <p:spPr>
                <a:xfrm>
                  <a:off x="5926264" y="2971926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3</a:t>
                  </a:r>
                </a:p>
              </p:txBody>
            </p:sp>
          </p:grpSp>
        </p:grpSp>
      </p:grpSp>
      <p:sp>
        <p:nvSpPr>
          <p:cNvPr id="53" name="Line 52"/>
          <p:cNvSpPr/>
          <p:nvPr/>
        </p:nvSpPr>
        <p:spPr>
          <a:xfrm flipV="1">
            <a:off x="3011716" y="3321723"/>
            <a:ext cx="56968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示例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给定如下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，构造与其等价的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104</a:t>
            </a:fld>
            <a:endParaRPr lang="en-US" altLang="zh-CN"/>
          </a:p>
        </p:txBody>
      </p:sp>
      <p:sp>
        <p:nvSpPr>
          <p:cNvPr id="11" name="TextBox 1"/>
          <p:cNvSpPr txBox="1"/>
          <p:nvPr/>
        </p:nvSpPr>
        <p:spPr>
          <a:xfrm>
            <a:off x="2221232" y="2601909"/>
            <a:ext cx="74295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</a:rPr>
              <a:t>NFA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81400" y="1752600"/>
            <a:ext cx="3048002" cy="2446676"/>
            <a:chOff x="5364163" y="1052513"/>
            <a:chExt cx="3422650" cy="2668395"/>
          </a:xfrm>
        </p:grpSpPr>
        <p:sp>
          <p:nvSpPr>
            <p:cNvPr id="15" name="Line 13"/>
            <p:cNvSpPr/>
            <p:nvPr/>
          </p:nvSpPr>
          <p:spPr>
            <a:xfrm>
              <a:off x="6880225" y="2119313"/>
              <a:ext cx="990600" cy="1524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/>
            <p:cNvSpPr/>
            <p:nvPr/>
          </p:nvSpPr>
          <p:spPr>
            <a:xfrm flipV="1">
              <a:off x="6804025" y="1509713"/>
              <a:ext cx="1143000" cy="4572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3"/>
            <p:cNvSpPr/>
            <p:nvPr/>
          </p:nvSpPr>
          <p:spPr>
            <a:xfrm>
              <a:off x="7092948" y="3141663"/>
              <a:ext cx="935038" cy="2158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4"/>
            <p:cNvSpPr/>
            <p:nvPr/>
          </p:nvSpPr>
          <p:spPr>
            <a:xfrm flipV="1">
              <a:off x="7092950" y="2565400"/>
              <a:ext cx="935038" cy="57626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5"/>
            <p:cNvSpPr/>
            <p:nvPr/>
          </p:nvSpPr>
          <p:spPr>
            <a:xfrm flipV="1">
              <a:off x="7092950" y="1628775"/>
              <a:ext cx="935038" cy="151288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9"/>
            <p:cNvSpPr/>
            <p:nvPr/>
          </p:nvSpPr>
          <p:spPr>
            <a:xfrm>
              <a:off x="6948488" y="2276475"/>
              <a:ext cx="1152525" cy="792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9"/>
            <p:cNvSpPr/>
            <p:nvPr/>
          </p:nvSpPr>
          <p:spPr>
            <a:xfrm>
              <a:off x="6011863" y="2924175"/>
              <a:ext cx="360362" cy="217488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364163" y="1052513"/>
              <a:ext cx="3422650" cy="2668395"/>
              <a:chOff x="5364163" y="1052513"/>
              <a:chExt cx="3422650" cy="2668395"/>
            </a:xfrm>
          </p:grpSpPr>
          <p:sp>
            <p:nvSpPr>
              <p:cNvPr id="26" name="Line 38"/>
              <p:cNvSpPr/>
              <p:nvPr/>
            </p:nvSpPr>
            <p:spPr>
              <a:xfrm flipV="1">
                <a:off x="6011863" y="2492375"/>
                <a:ext cx="215900" cy="144463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5364163" y="1052513"/>
                <a:ext cx="3422650" cy="2668395"/>
                <a:chOff x="5364163" y="1052513"/>
                <a:chExt cx="3422650" cy="2668395"/>
              </a:xfrm>
            </p:grpSpPr>
            <p:sp>
              <p:nvSpPr>
                <p:cNvPr id="28" name="Text Box 10"/>
                <p:cNvSpPr txBox="1"/>
                <p:nvPr/>
              </p:nvSpPr>
              <p:spPr>
                <a:xfrm>
                  <a:off x="7114747" y="13067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9" name="Text Box 12"/>
                <p:cNvSpPr txBox="1"/>
                <p:nvPr/>
              </p:nvSpPr>
              <p:spPr>
                <a:xfrm>
                  <a:off x="7114747" y="2133600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0" name="Text Box 26"/>
                <p:cNvSpPr txBox="1"/>
                <p:nvPr/>
              </p:nvSpPr>
              <p:spPr>
                <a:xfrm>
                  <a:off x="7532260" y="32845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31" name="Text Box 27"/>
                <p:cNvSpPr txBox="1"/>
                <p:nvPr/>
              </p:nvSpPr>
              <p:spPr>
                <a:xfrm>
                  <a:off x="7478986" y="2772893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2" name="Text Box 28"/>
                <p:cNvSpPr txBox="1"/>
                <p:nvPr/>
              </p:nvSpPr>
              <p:spPr>
                <a:xfrm>
                  <a:off x="7508020" y="2255839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3" name="Text Box 30"/>
                <p:cNvSpPr txBox="1"/>
                <p:nvPr/>
              </p:nvSpPr>
              <p:spPr>
                <a:xfrm>
                  <a:off x="7135750" y="1779621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grpSp>
              <p:nvGrpSpPr>
                <p:cNvPr id="34" name="组合 33"/>
                <p:cNvGrpSpPr/>
                <p:nvPr/>
              </p:nvGrpSpPr>
              <p:grpSpPr>
                <a:xfrm>
                  <a:off x="5364163" y="1052513"/>
                  <a:ext cx="3422650" cy="2557462"/>
                  <a:chOff x="5364163" y="1052513"/>
                  <a:chExt cx="3422650" cy="2557462"/>
                </a:xfrm>
              </p:grpSpPr>
              <p:sp>
                <p:nvSpPr>
                  <p:cNvPr id="37" name="Oval 5"/>
                  <p:cNvSpPr/>
                  <p:nvPr/>
                </p:nvSpPr>
                <p:spPr>
                  <a:xfrm>
                    <a:off x="8020050" y="1052513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" name="Text Box 8"/>
                  <p:cNvSpPr txBox="1"/>
                  <p:nvPr/>
                </p:nvSpPr>
                <p:spPr>
                  <a:xfrm>
                    <a:off x="8102283" y="1114777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39" name="Oval 9"/>
                  <p:cNvSpPr/>
                  <p:nvPr/>
                </p:nvSpPr>
                <p:spPr>
                  <a:xfrm>
                    <a:off x="7961313" y="2057400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0" name="Text Box 11"/>
                  <p:cNvSpPr txBox="1"/>
                  <p:nvPr/>
                </p:nvSpPr>
                <p:spPr>
                  <a:xfrm>
                    <a:off x="8071927" y="2112042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3</a:t>
                    </a:r>
                  </a:p>
                </p:txBody>
              </p: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6257925" y="2030413"/>
                    <a:ext cx="800100" cy="1508125"/>
                    <a:chOff x="6257925" y="2030413"/>
                    <a:chExt cx="800100" cy="1508125"/>
                  </a:xfrm>
                </p:grpSpPr>
                <p:sp>
                  <p:nvSpPr>
                    <p:cNvPr id="46" name="Oval 6"/>
                    <p:cNvSpPr/>
                    <p:nvPr/>
                  </p:nvSpPr>
                  <p:spPr>
                    <a:xfrm>
                      <a:off x="6372225" y="2852738"/>
                      <a:ext cx="685800" cy="685800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47" name="组合 46"/>
                    <p:cNvGrpSpPr/>
                    <p:nvPr/>
                  </p:nvGrpSpPr>
                  <p:grpSpPr>
                    <a:xfrm>
                      <a:off x="6257925" y="2030413"/>
                      <a:ext cx="685800" cy="685800"/>
                      <a:chOff x="6257925" y="2030413"/>
                      <a:chExt cx="685800" cy="685800"/>
                    </a:xfrm>
                  </p:grpSpPr>
                  <p:sp>
                    <p:nvSpPr>
                      <p:cNvPr id="49" name="Text Box 7"/>
                      <p:cNvSpPr txBox="1"/>
                      <p:nvPr/>
                    </p:nvSpPr>
                    <p:spPr>
                      <a:xfrm>
                        <a:off x="6371715" y="2112042"/>
                        <a:ext cx="489971" cy="4363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en-US" altLang="zh-CN" sz="2000" b="1" dirty="0">
                            <a:latin typeface="Arial" panose="020B0604020202020204" pitchFamily="34" charset="0"/>
                          </a:rPr>
                          <a:t>q</a:t>
                        </a:r>
                        <a:r>
                          <a:rPr lang="en-US" altLang="zh-CN" sz="2000" b="1" baseline="-25000" dirty="0">
                            <a:latin typeface="Arial" panose="020B0604020202020204" pitchFamily="34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0" name="Oval 19"/>
                      <p:cNvSpPr/>
                      <p:nvPr/>
                    </p:nvSpPr>
                    <p:spPr>
                      <a:xfrm>
                        <a:off x="6257925" y="2030413"/>
                        <a:ext cx="685800" cy="685800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zh-CN" altLang="en-US" sz="14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48" name="Text Box 20"/>
                    <p:cNvSpPr txBox="1"/>
                    <p:nvPr/>
                  </p:nvSpPr>
                  <p:spPr>
                    <a:xfrm>
                      <a:off x="6466170" y="2943098"/>
                      <a:ext cx="489972" cy="436369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anchor="t" anchorCtr="0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000" b="1" dirty="0"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altLang="zh-CN" sz="2000" b="1" baseline="-25000" dirty="0">
                          <a:latin typeface="Arial" panose="020B0604020202020204" pitchFamily="34" charset="0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42" name="Oval 21"/>
                  <p:cNvSpPr/>
                  <p:nvPr/>
                </p:nvSpPr>
                <p:spPr>
                  <a:xfrm>
                    <a:off x="8101013" y="2924175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3" name="Text Box 22"/>
                  <p:cNvSpPr txBox="1"/>
                  <p:nvPr/>
                </p:nvSpPr>
                <p:spPr>
                  <a:xfrm>
                    <a:off x="8195751" y="3026203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44" name="Oval 36"/>
                  <p:cNvSpPr/>
                  <p:nvPr/>
                </p:nvSpPr>
                <p:spPr>
                  <a:xfrm>
                    <a:off x="5364163" y="2420938"/>
                    <a:ext cx="685800" cy="6858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" name="Text Box 37"/>
                  <p:cNvSpPr txBox="1"/>
                  <p:nvPr/>
                </p:nvSpPr>
                <p:spPr>
                  <a:xfrm>
                    <a:off x="5456520" y="2465306"/>
                    <a:ext cx="489971" cy="4363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q</a:t>
                    </a:r>
                    <a:r>
                      <a:rPr lang="en-US" altLang="zh-CN" sz="2000" b="1" baseline="-25000" dirty="0">
                        <a:latin typeface="Arial" panose="020B0604020202020204" pitchFamily="34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35" name="Text Box 40"/>
                <p:cNvSpPr txBox="1"/>
                <p:nvPr/>
              </p:nvSpPr>
              <p:spPr>
                <a:xfrm>
                  <a:off x="5874910" y="2060575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36" name="Text Box 41"/>
                <p:cNvSpPr txBox="1"/>
                <p:nvPr/>
              </p:nvSpPr>
              <p:spPr>
                <a:xfrm>
                  <a:off x="5926264" y="2971926"/>
                  <a:ext cx="367569" cy="436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latin typeface="Arial" panose="020B0604020202020204" pitchFamily="34" charset="0"/>
                    </a:rPr>
                    <a:t>3</a:t>
                  </a:r>
                </a:p>
              </p:txBody>
            </p:sp>
          </p:grpSp>
        </p:grpSp>
      </p:grpSp>
      <p:sp>
        <p:nvSpPr>
          <p:cNvPr id="14" name="Line 52"/>
          <p:cNvSpPr/>
          <p:nvPr/>
        </p:nvSpPr>
        <p:spPr>
          <a:xfrm flipV="1">
            <a:off x="3011716" y="3321723"/>
            <a:ext cx="56968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2"/>
          <p:cNvSpPr txBox="1"/>
          <p:nvPr/>
        </p:nvSpPr>
        <p:spPr>
          <a:xfrm>
            <a:off x="2221232" y="5377654"/>
            <a:ext cx="633413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</a:rPr>
              <a:t>DFA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2971800" y="4343400"/>
            <a:ext cx="4328101" cy="2231033"/>
            <a:chOff x="539750" y="3644900"/>
            <a:chExt cx="5463578" cy="2631941"/>
          </a:xfrm>
        </p:grpSpPr>
        <p:sp>
          <p:nvSpPr>
            <p:cNvPr id="60" name="Oval 42"/>
            <p:cNvSpPr/>
            <p:nvPr/>
          </p:nvSpPr>
          <p:spPr>
            <a:xfrm>
              <a:off x="3929063" y="3644900"/>
              <a:ext cx="2074265" cy="685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51"/>
            <p:cNvSpPr/>
            <p:nvPr/>
          </p:nvSpPr>
          <p:spPr>
            <a:xfrm flipV="1">
              <a:off x="3203575" y="4102100"/>
              <a:ext cx="711200" cy="5508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2"/>
            <p:cNvSpPr/>
            <p:nvPr/>
          </p:nvSpPr>
          <p:spPr>
            <a:xfrm flipV="1">
              <a:off x="539750" y="5373688"/>
              <a:ext cx="71913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Oval 53"/>
            <p:cNvSpPr/>
            <p:nvPr/>
          </p:nvSpPr>
          <p:spPr>
            <a:xfrm>
              <a:off x="2474913" y="4688032"/>
              <a:ext cx="1369892" cy="7822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Oval 65"/>
            <p:cNvSpPr/>
            <p:nvPr/>
          </p:nvSpPr>
          <p:spPr>
            <a:xfrm>
              <a:off x="1331913" y="5013325"/>
              <a:ext cx="685800" cy="685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67"/>
            <p:cNvSpPr/>
            <p:nvPr/>
          </p:nvSpPr>
          <p:spPr>
            <a:xfrm flipV="1">
              <a:off x="1979612" y="5059493"/>
              <a:ext cx="489250" cy="169731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Oval 78"/>
            <p:cNvSpPr/>
            <p:nvPr/>
          </p:nvSpPr>
          <p:spPr>
            <a:xfrm>
              <a:off x="4752976" y="5495216"/>
              <a:ext cx="810598" cy="78162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79"/>
            <p:cNvSpPr/>
            <p:nvPr/>
          </p:nvSpPr>
          <p:spPr>
            <a:xfrm>
              <a:off x="3810000" y="5265350"/>
              <a:ext cx="936625" cy="57626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" name="Text Box 37"/>
          <p:cNvSpPr txBox="1"/>
          <p:nvPr/>
        </p:nvSpPr>
        <p:spPr>
          <a:xfrm>
            <a:off x="3636922" y="5542515"/>
            <a:ext cx="436338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latin typeface="Arial" panose="020B0604020202020204" pitchFamily="34" charset="0"/>
              </a:rPr>
              <a:t>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4" name="Text Box 7"/>
          <p:cNvSpPr txBox="1"/>
          <p:nvPr/>
        </p:nvSpPr>
        <p:spPr>
          <a:xfrm>
            <a:off x="4288311" y="5329027"/>
            <a:ext cx="1451067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latin typeface="Arial" panose="020B0604020202020204" pitchFamily="34" charset="0"/>
              </a:rPr>
              <a:t>{q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</a:rPr>
              <a:t>, 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en-US" altLang="zh-CN" sz="2000" b="1" baseline="-25000" dirty="0">
              <a:latin typeface="Arial" panose="020B0604020202020204" pitchFamily="34" charset="0"/>
            </a:endParaRPr>
          </a:p>
        </p:txBody>
      </p:sp>
      <p:sp>
        <p:nvSpPr>
          <p:cNvPr id="55" name="Text Box 41"/>
          <p:cNvSpPr txBox="1"/>
          <p:nvPr/>
        </p:nvSpPr>
        <p:spPr>
          <a:xfrm>
            <a:off x="4097769" y="5276245"/>
            <a:ext cx="327334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6" name="Text Box 7"/>
          <p:cNvSpPr txBox="1"/>
          <p:nvPr/>
        </p:nvSpPr>
        <p:spPr>
          <a:xfrm>
            <a:off x="5705474" y="4393033"/>
            <a:ext cx="1671436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latin typeface="Arial" panose="020B0604020202020204" pitchFamily="34" charset="0"/>
              </a:rPr>
              <a:t>{q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</a:rPr>
              <a:t>, 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2000" b="1" dirty="0">
                <a:latin typeface="Arial" panose="020B0604020202020204" pitchFamily="34" charset="0"/>
              </a:rPr>
              <a:t>, 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5</a:t>
            </a: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en-US" altLang="zh-CN" sz="2000" b="1" baseline="-25000" dirty="0">
              <a:latin typeface="Arial" panose="020B0604020202020204" pitchFamily="34" charset="0"/>
            </a:endParaRPr>
          </a:p>
        </p:txBody>
      </p:sp>
      <p:sp>
        <p:nvSpPr>
          <p:cNvPr id="57" name="Text Box 22"/>
          <p:cNvSpPr txBox="1"/>
          <p:nvPr/>
        </p:nvSpPr>
        <p:spPr>
          <a:xfrm>
            <a:off x="6412304" y="5986465"/>
            <a:ext cx="436338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latin typeface="Arial" panose="020B0604020202020204" pitchFamily="34" charset="0"/>
              </a:rPr>
              <a:t>q</a:t>
            </a:r>
            <a:r>
              <a:rPr lang="en-US" altLang="zh-CN" sz="2000" b="1" baseline="-25000" dirty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8" name="Text Box 10"/>
          <p:cNvSpPr txBox="1"/>
          <p:nvPr/>
        </p:nvSpPr>
        <p:spPr>
          <a:xfrm>
            <a:off x="5119650" y="4652611"/>
            <a:ext cx="327334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9" name="Text Box 26"/>
          <p:cNvSpPr txBox="1"/>
          <p:nvPr/>
        </p:nvSpPr>
        <p:spPr>
          <a:xfrm>
            <a:off x="5630212" y="5890755"/>
            <a:ext cx="327334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" panose="020B0604020202020204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/>
              <p:cNvSpPr/>
              <p:nvPr/>
            </p:nvSpPr>
            <p:spPr>
              <a:xfrm>
                <a:off x="3608521" y="4343400"/>
                <a:ext cx="524890" cy="55251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椭圆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521" y="4343400"/>
                <a:ext cx="524890" cy="552510"/>
              </a:xfrm>
              <a:prstGeom prst="ellipse">
                <a:avLst/>
              </a:prstGeom>
              <a:blipFill rotWithShape="1">
                <a:blip r:embed="rId4"/>
                <a:stretch>
                  <a:fillRect l="-1296" t="-1149" r="-1172" b="-1138"/>
                </a:stretch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/>
          <p:cNvCxnSpPr>
            <a:stCxn id="53" idx="0"/>
            <a:endCxn id="7" idx="4"/>
          </p:cNvCxnSpPr>
          <p:nvPr/>
        </p:nvCxnSpPr>
        <p:spPr>
          <a:xfrm flipV="1">
            <a:off x="3855091" y="4895910"/>
            <a:ext cx="15875" cy="64660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60" idx="2"/>
            <a:endCxn id="7" idx="6"/>
          </p:cNvCxnSpPr>
          <p:nvPr/>
        </p:nvCxnSpPr>
        <p:spPr>
          <a:xfrm flipH="1" flipV="1">
            <a:off x="4133411" y="4619655"/>
            <a:ext cx="1523313" cy="144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曲线 78"/>
          <p:cNvCxnSpPr>
            <a:stCxn id="66" idx="3"/>
            <a:endCxn id="7" idx="4"/>
          </p:cNvCxnSpPr>
          <p:nvPr/>
        </p:nvCxnSpPr>
        <p:spPr>
          <a:xfrm rot="5400000" flipH="1">
            <a:off x="4346458" y="4420419"/>
            <a:ext cx="1581493" cy="2532477"/>
          </a:xfrm>
          <a:prstGeom prst="curvedConnector3">
            <a:avLst>
              <a:gd name="adj1" fmla="val -505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3284303" y="5020481"/>
            <a:ext cx="633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</a:t>
            </a:r>
            <a:endParaRPr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4598295" y="4250323"/>
            <a:ext cx="77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4649923" y="6144100"/>
            <a:ext cx="797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cxnSp>
        <p:nvCxnSpPr>
          <p:cNvPr id="4" name="曲线连接符 3"/>
          <p:cNvCxnSpPr>
            <a:stCxn id="7" idx="7"/>
            <a:endCxn id="7" idx="1"/>
          </p:cNvCxnSpPr>
          <p:nvPr/>
        </p:nvCxnSpPr>
        <p:spPr>
          <a:xfrm rot="16200000" flipH="1" flipV="1">
            <a:off x="3870960" y="4238625"/>
            <a:ext cx="3175" cy="371475"/>
          </a:xfrm>
          <a:prstGeom prst="curvedConnector3">
            <a:avLst>
              <a:gd name="adj1" fmla="val -10000000"/>
            </a:avLst>
          </a:prstGeom>
          <a:ln>
            <a:solidFill>
              <a:srgbClr val="F7964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414395" y="3810000"/>
            <a:ext cx="93662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D85971C-4038-401A-934B-E9735E8C12D6}"/>
              </a:ext>
            </a:extLst>
          </p:cNvPr>
          <p:cNvCxnSpPr>
            <a:cxnSpLocks/>
            <a:endCxn id="7" idx="5"/>
          </p:cNvCxnSpPr>
          <p:nvPr/>
        </p:nvCxnSpPr>
        <p:spPr>
          <a:xfrm flipH="1" flipV="1">
            <a:off x="4056543" y="4814997"/>
            <a:ext cx="667857" cy="46124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0D83481-08CC-4A9F-9C9D-BAEA527589A0}"/>
              </a:ext>
            </a:extLst>
          </p:cNvPr>
          <p:cNvSpPr txBox="1"/>
          <p:nvPr/>
        </p:nvSpPr>
        <p:spPr>
          <a:xfrm>
            <a:off x="4380431" y="4758131"/>
            <a:ext cx="633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</p:spPr>
            <p:txBody>
              <a:bodyPr/>
              <a:lstStyle/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(1) 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有穷状态系统简介</a:t>
                </a:r>
                <a:endParaRPr lang="en-US" altLang="zh-CN" sz="36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(2) 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确定的有穷自动机（</a:t>
                </a: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DFA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(3)  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非确定有穷自动机（</a:t>
                </a:r>
                <a:r>
                  <a:rPr lang="en-US" altLang="zh-CN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NFA</a:t>
                </a:r>
                <a:r>
                  <a:rPr lang="zh-CN" altLang="en-US" sz="36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(4) 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带空转移的非确定有穷自动机（</a:t>
                </a:r>
                <a14:m>
                  <m:oMath xmlns:m="http://schemas.openxmlformats.org/officeDocument/2006/math">
                    <m:r>
                      <a:rPr lang="zh-CN" altLang="en-AU" sz="36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en-AU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-NFA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  <a:blipFill rotWithShape="1">
                <a:blip r:embed="rId3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105</a:t>
            </a:fld>
            <a:endParaRPr lang="en-US" altLang="zh-CN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带有空转移的</a:t>
                </a:r>
                <a:r>
                  <a:rPr lang="en-AU" altLang="zh-CN" sz="3600" dirty="0">
                    <a:solidFill>
                      <a:schemeClr val="bg1"/>
                    </a:solidFill>
                  </a:rPr>
                  <a:t>NFA(</a:t>
                </a:r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-NFA)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9039"/>
                <a:ext cx="82296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：对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进行扩展，在不输入任何字符的情况下</a:t>
                </a:r>
                <a:r>
                  <a:rPr lang="en-AU" altLang="zh-CN" dirty="0"/>
                  <a:t>(</a:t>
                </a:r>
                <a:r>
                  <a:rPr lang="zh-CN" altLang="en-US" dirty="0"/>
                  <a:t>空串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)</a:t>
                </a:r>
                <a:r>
                  <a:rPr lang="zh-CN" altLang="en-US" dirty="0"/>
                  <a:t>，可以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自发地</a:t>
                </a:r>
                <a:r>
                  <a:rPr lang="zh-CN" altLang="en-US" dirty="0"/>
                  <a:t>发生状态转移。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可以简化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的构造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明确地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定义了至少一个空转移的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在状态表里面多了对应于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的一列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9039"/>
                <a:ext cx="8229600" cy="4525963"/>
              </a:xfrm>
              <a:blipFill rotWithShape="1">
                <a:blip r:embed="rId4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106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127" y="4001294"/>
            <a:ext cx="2415749" cy="256054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的形式化定义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带空转移非确定有穷自动机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altLang="zh-CN" dirty="0"/>
                  <a:t>-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AU" altLang="zh-CN" dirty="0"/>
                  <a:t>)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为五元组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altLang="zh-CN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l-G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:</a:t>
                </a:r>
                <a:r>
                  <a:rPr lang="zh-CN" altLang="en-US" dirty="0"/>
                  <a:t>有穷状态集；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 有穷输入符号集或字母表；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(3) </a:t>
                </a:r>
                <a14:m>
                  <m:oMath xmlns:m="http://schemas.openxmlformats.org/officeDocument/2006/math">
                    <m:r>
                      <a:rPr lang="zh-CN" altLang="en-AU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m:rPr>
                        <m:sty m:val="p"/>
                      </m:rPr>
                      <a:rPr lang="el-GR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zh-CN" altLang="el-G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l-GR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l-GR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AU" altLang="zh-CN" dirty="0">
                    <a:solidFill>
                      <a:schemeClr val="accent1"/>
                    </a:solidFill>
                  </a:rPr>
                  <a:t>:</a:t>
                </a:r>
                <a:r>
                  <a:rPr lang="zh-CN" altLang="en-US" dirty="0">
                    <a:solidFill>
                      <a:schemeClr val="accent1"/>
                    </a:solidFill>
                  </a:rPr>
                  <a:t>状态转移函数；</a:t>
                </a:r>
                <a:endParaRPr lang="en-AU" altLang="zh-CN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: </a:t>
                </a:r>
                <a:r>
                  <a:rPr lang="zh-CN" altLang="en-US" dirty="0"/>
                  <a:t>初始状态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(5)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终结状态集或接受状态集。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1436" y="4876802"/>
                <a:ext cx="78486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</a:p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此后除非特别申明，不再明确区分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r>
                  <a:rPr lang="en-AU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en-AU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NFA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而是都称为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6" y="4876802"/>
                <a:ext cx="784860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" r="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示例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90600"/>
                <a:ext cx="8550910" cy="452628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600" dirty="0"/>
                  <a:t>例</a:t>
                </a:r>
                <a:r>
                  <a:rPr lang="en-AU" altLang="zh-CN" sz="26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6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6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600" dirty="0"/>
                  <a:t>的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600" dirty="0"/>
                  <a:t>。</a:t>
                </a:r>
                <a:endParaRPr lang="en-AU" dirty="0"/>
              </a:p>
              <a:p>
                <a:pPr marL="0" indent="0">
                  <a:buNone/>
                </a:pPr>
                <a:r>
                  <a:rPr lang="zh-CN" altLang="en-US" sz="2400" dirty="0"/>
                  <a:t>不带空转移的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/>
                  <a:t>：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90600"/>
                <a:ext cx="8550910" cy="452628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108</a:t>
            </a:fld>
            <a:endParaRPr lang="en-US" altLang="zh-CN"/>
          </a:p>
        </p:txBody>
      </p:sp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2" y="2461895"/>
            <a:ext cx="5037455" cy="1357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3887472"/>
                <a:ext cx="8655050" cy="2153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先在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输入消耗前面所有的字符，</a:t>
                </a:r>
                <a:endParaRPr lang="en-AU" altLang="zh-CN" sz="32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14400" lvl="1" indent="-457200">
                  <a:buFontTx/>
                  <a:buChar char="—"/>
                </a:pP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当最后一个是</a:t>
                </a:r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时，最终会跳转到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AU" altLang="zh-CN" sz="22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14400" lvl="1" indent="-457200">
                  <a:buFontTx/>
                  <a:buChar char="—"/>
                </a:pP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当倒数第二是</a:t>
                </a:r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时，就会跳转到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（后续不管输入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都会到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AU" altLang="zh-CN" sz="22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14400" lvl="1" indent="-457200">
                  <a:buFontTx/>
                  <a:buChar char="—"/>
                </a:pP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当倒数第三个是</a:t>
                </a:r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时，就会跳转到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后续不管输入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都会到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2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887472"/>
                <a:ext cx="8655050" cy="21532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示例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583930" cy="452628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600" dirty="0"/>
                  <a:t>例</a:t>
                </a:r>
                <a:r>
                  <a:rPr lang="en-AU" altLang="zh-CN" sz="26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6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6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6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600" dirty="0"/>
                  <a:t>的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600" dirty="0"/>
                  <a:t>。</a:t>
                </a: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2400" dirty="0"/>
                  <a:t>-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/>
                  <a:t>：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583930" cy="4526280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109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1" y="4129405"/>
                <a:ext cx="8382001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先在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输入消耗前面所有的字符，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楷体" panose="02010609060101010101" pitchFamily="49" charset="-122"/>
                  <a:buChar char="—"/>
                </a:pP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只要倒数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个字符里面至少有一个</a:t>
                </a:r>
                <a:r>
                  <a:rPr lang="en-AU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，总能先跳到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，这样即使字符已经消耗完，也可以通过空转移跳到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AU" altLang="zh-CN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进入接受状态。</a:t>
                </a:r>
                <a:endParaRPr lang="en-AU" altLang="zh-CN" sz="22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4129405"/>
                <a:ext cx="8382001" cy="1477328"/>
              </a:xfrm>
              <a:prstGeom prst="rect">
                <a:avLst/>
              </a:prstGeom>
              <a:blipFill rotWithShape="1">
                <a:blip r:embed="rId5"/>
                <a:stretch>
                  <a:fillRect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2450465"/>
            <a:ext cx="631952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示例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6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110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533400" y="2819615"/>
            <a:ext cx="838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以输入</a:t>
            </a:r>
            <a:r>
              <a:rPr lang="en-AU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011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为例，</a:t>
            </a: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227" y="1256771"/>
            <a:ext cx="6058425" cy="1257409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219202" y="3554730"/>
            <a:ext cx="3880485" cy="1930400"/>
            <a:chOff x="360" y="5912"/>
            <a:chExt cx="6111" cy="30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4"/>
                <p:cNvSpPr txBox="1"/>
                <p:nvPr/>
              </p:nvSpPr>
              <p:spPr>
                <a:xfrm>
                  <a:off x="360" y="6276"/>
                  <a:ext cx="874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22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" y="6276"/>
                  <a:ext cx="874" cy="72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8"/>
            <p:cNvCxnSpPr/>
            <p:nvPr/>
          </p:nvCxnSpPr>
          <p:spPr>
            <a:xfrm>
              <a:off x="1069" y="6712"/>
              <a:ext cx="13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10"/>
            <p:cNvSpPr txBox="1"/>
            <p:nvPr/>
          </p:nvSpPr>
          <p:spPr>
            <a:xfrm>
              <a:off x="1369" y="5984"/>
              <a:ext cx="536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11"/>
                <p:cNvSpPr txBox="1"/>
                <p:nvPr/>
              </p:nvSpPr>
              <p:spPr>
                <a:xfrm>
                  <a:off x="2443" y="6246"/>
                  <a:ext cx="874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28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" y="6246"/>
                  <a:ext cx="874" cy="72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12"/>
            <p:cNvCxnSpPr/>
            <p:nvPr/>
          </p:nvCxnSpPr>
          <p:spPr>
            <a:xfrm>
              <a:off x="3190" y="6721"/>
              <a:ext cx="13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13"/>
            <p:cNvSpPr txBox="1"/>
            <p:nvPr/>
          </p:nvSpPr>
          <p:spPr>
            <a:xfrm>
              <a:off x="3587" y="5912"/>
              <a:ext cx="536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1</a:t>
              </a:r>
            </a:p>
          </p:txBody>
        </p:sp>
        <p:cxnSp>
          <p:nvCxnSpPr>
            <p:cNvPr id="32" name="Straight Arrow Connector 14"/>
            <p:cNvCxnSpPr/>
            <p:nvPr/>
          </p:nvCxnSpPr>
          <p:spPr>
            <a:xfrm>
              <a:off x="3120" y="7066"/>
              <a:ext cx="1200" cy="6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16"/>
            <p:cNvSpPr txBox="1"/>
            <p:nvPr/>
          </p:nvSpPr>
          <p:spPr>
            <a:xfrm>
              <a:off x="3587" y="6784"/>
              <a:ext cx="536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17"/>
                <p:cNvSpPr txBox="1"/>
                <p:nvPr/>
              </p:nvSpPr>
              <p:spPr>
                <a:xfrm>
                  <a:off x="4478" y="7279"/>
                  <a:ext cx="863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35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8" y="7279"/>
                  <a:ext cx="863" cy="727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8"/>
                <p:cNvSpPr txBox="1"/>
                <p:nvPr/>
              </p:nvSpPr>
              <p:spPr>
                <a:xfrm>
                  <a:off x="4535" y="6273"/>
                  <a:ext cx="874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37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" y="6273"/>
                  <a:ext cx="874" cy="72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24"/>
                <p:cNvSpPr txBox="1"/>
                <p:nvPr/>
              </p:nvSpPr>
              <p:spPr>
                <a:xfrm>
                  <a:off x="5597" y="8225"/>
                  <a:ext cx="874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38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" y="8225"/>
                  <a:ext cx="874" cy="72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26"/>
            <p:cNvCxnSpPr/>
            <p:nvPr/>
          </p:nvCxnSpPr>
          <p:spPr>
            <a:xfrm>
              <a:off x="5202" y="7938"/>
              <a:ext cx="641" cy="6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33"/>
                <p:cNvSpPr txBox="1"/>
                <p:nvPr/>
              </p:nvSpPr>
              <p:spPr>
                <a:xfrm>
                  <a:off x="5416" y="7599"/>
                  <a:ext cx="634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AU" sz="2400" dirty="0"/>
                </a:p>
              </p:txBody>
            </p:sp>
          </mc:Choice>
          <mc:Fallback xmlns="">
            <p:sp>
              <p:nvSpPr>
                <p:cNvPr id="42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6" y="7599"/>
                  <a:ext cx="634" cy="72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5076502" y="5551038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5076502" y="5551038"/>
                <a:ext cx="555280" cy="461665"/>
              </a:xfrm>
              <a:prstGeom prst="rect">
                <a:avLst/>
              </a:prstGeom>
              <a:blipFill rotWithShape="1">
                <a:blip r:embed="rId13"/>
                <a:stretch>
                  <a:fillRect l="-56" t="-109" r="108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>
            <p:custDataLst>
              <p:tags r:id="rId2"/>
            </p:custDataLst>
          </p:nvPr>
        </p:nvCxnSpPr>
        <p:spPr>
          <a:xfrm>
            <a:off x="4876650" y="5486513"/>
            <a:ext cx="304800" cy="228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876528" y="5230636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4876528" y="5230636"/>
                <a:ext cx="402803" cy="461665"/>
              </a:xfrm>
              <a:prstGeom prst="rect">
                <a:avLst/>
              </a:prstGeom>
              <a:blipFill rotWithShape="1">
                <a:blip r:embed="rId15"/>
                <a:stretch>
                  <a:fillRect l="-90" t="-31" r="143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altLang="zh-CN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示例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111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533400" y="2437978"/>
            <a:ext cx="838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以输入</a:t>
            </a:r>
            <a:r>
              <a:rPr lang="en-AU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011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为例，</a:t>
            </a: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Tx/>
              <a:buChar char="—"/>
            </a:pP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Tx/>
              <a:buChar char="—"/>
            </a:pP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Tx/>
              <a:buChar char="—"/>
            </a:pP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Tx/>
              <a:buChar char="—"/>
            </a:pP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buFontTx/>
              <a:buChar char="—"/>
            </a:pPr>
            <a:endParaRPr lang="en-AU" altLang="zh-CN" sz="2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227" y="951971"/>
            <a:ext cx="6058425" cy="1257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0" y="3223017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223017"/>
                <a:ext cx="555280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85" r="52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679107" y="3499807"/>
            <a:ext cx="8448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9605" y="30381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51160" y="3204200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160" y="3204200"/>
                <a:ext cx="55528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8" t="-135" r="26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025391" y="3505604"/>
            <a:ext cx="8448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77758" y="299218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981200" y="3725012"/>
            <a:ext cx="762176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77758" y="354562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843513" y="3859901"/>
                <a:ext cx="5481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513" y="3859901"/>
                <a:ext cx="548163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13" t="-80" r="26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879763" y="3221514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763" y="3221514"/>
                <a:ext cx="55528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7" t="-34" r="5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3491124" y="3428368"/>
            <a:ext cx="1538076" cy="254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43492" y="297336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184" y="34283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554192" y="4460843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192" y="4460843"/>
                <a:ext cx="55528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7" t="-131" r="70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009702" y="5017638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702" y="5017638"/>
                <a:ext cx="55528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56" t="-109" r="108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3302998" y="4278844"/>
            <a:ext cx="407143" cy="4028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809850" y="4953113"/>
            <a:ext cx="304800" cy="228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457470" y="4193585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70" y="4193585"/>
                <a:ext cx="402803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132" t="-10" r="27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809728" y="4697236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728" y="4697236"/>
                <a:ext cx="402803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90" t="-31" r="143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3444522" y="3586298"/>
            <a:ext cx="1950136" cy="302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399695" y="4151240"/>
            <a:ext cx="1994965" cy="42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03611" y="37038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009920" y="4715872"/>
            <a:ext cx="1247880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09472" y="431674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495376" y="5316580"/>
            <a:ext cx="14482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94928" y="491745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373253" y="3078436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53" y="3078436"/>
                <a:ext cx="55528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93" t="-128" r="31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394660" y="3529444"/>
                <a:ext cx="5481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660" y="3529444"/>
                <a:ext cx="548163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61" t="-25" r="90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425376" y="3915514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376" y="3915514"/>
                <a:ext cx="55528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03" t="-23" r="4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425376" y="4399529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376" y="4399529"/>
                <a:ext cx="55528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03" t="-54" r="41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/>
          <p:cNvCxnSpPr/>
          <p:nvPr/>
        </p:nvCxnSpPr>
        <p:spPr>
          <a:xfrm flipH="1">
            <a:off x="6038852" y="5248468"/>
            <a:ext cx="183484" cy="22197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6021855" y="5262548"/>
            <a:ext cx="200483" cy="1976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882756" y="3817877"/>
            <a:ext cx="793650" cy="674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077461" y="3441654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61" y="3441654"/>
                <a:ext cx="402803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127" t="-128" r="22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660140" y="3609803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140" y="3609803"/>
                <a:ext cx="55528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7" t="-100" r="99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7079922" y="3879392"/>
            <a:ext cx="852819" cy="55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7925197" y="3629068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197" y="3629068"/>
                <a:ext cx="55528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71" t="-9" r="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290683" y="3524817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683" y="3524817"/>
                <a:ext cx="402803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62" t="-123" r="114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/>
          <p:cNvCxnSpPr/>
          <p:nvPr/>
        </p:nvCxnSpPr>
        <p:spPr>
          <a:xfrm>
            <a:off x="5924016" y="4249749"/>
            <a:ext cx="793650" cy="674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6118721" y="3873526"/>
                <a:ext cx="40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721" y="3873526"/>
                <a:ext cx="402803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123" t="-6" r="18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6696162" y="4047051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162" y="4047051"/>
                <a:ext cx="55528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6" t="-42" r="6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456718" y="2934165"/>
            <a:ext cx="3320481" cy="191549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01552" y="5619791"/>
                <a:ext cx="54350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最终所处的状态为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altLang="zh-CN" sz="2000" dirty="0"/>
                  <a:t>(011</a:t>
                </a:r>
                <a:r>
                  <a:rPr lang="zh-CN" altLang="en-US" sz="2000" dirty="0"/>
                  <a:t>可被接受</a:t>
                </a:r>
                <a:r>
                  <a:rPr lang="en-AU" altLang="zh-CN" sz="2000" dirty="0"/>
                  <a:t>)</a:t>
                </a:r>
                <a:r>
                  <a:rPr lang="zh-CN" altLang="en-US" sz="2000" dirty="0"/>
                  <a:t>。</a:t>
                </a:r>
                <a:endParaRPr lang="en-AU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52" y="5619791"/>
                <a:ext cx="5435078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9" t="-10" r="1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状态转移表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</p:spPr>
            <p:txBody>
              <a:bodyPr/>
              <a:lstStyle/>
              <a:p>
                <a:r>
                  <a:rPr lang="zh-CN" altLang="en-US" sz="2400" dirty="0"/>
                  <a:t>例续</a:t>
                </a:r>
                <a:r>
                  <a:rPr lang="en-AU" altLang="zh-CN" sz="24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-NFA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的状态转移表</a:t>
                </a:r>
                <a:r>
                  <a:rPr lang="zh-CN" altLang="en-US" sz="2400" dirty="0"/>
                  <a:t>。</a:t>
                </a:r>
                <a:endParaRPr lang="en-AU" sz="2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112</a:t>
            </a:fld>
            <a:endParaRPr lang="en-US" altLang="zh-CN"/>
          </a:p>
        </p:txBody>
      </p:sp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89" y="2439087"/>
            <a:ext cx="6058425" cy="1257409"/>
          </a:xfrm>
          <a:prstGeom prst="rect">
            <a:avLst/>
          </a:prstGeom>
        </p:spPr>
      </p:pic>
      <p:pic>
        <p:nvPicPr>
          <p:cNvPr id="8" name="Picture 7" descr="Text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062225"/>
            <a:ext cx="4496190" cy="2171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状态的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闭包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</a:t>
                </a:r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-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表示从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经过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序列可到达的全部状态的集合。（即经过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个或</a:t>
                </a:r>
                <a:r>
                  <a:rPr lang="en-US" altLang="zh-CN" dirty="0"/>
                  <a:t>&gt;0</a:t>
                </a:r>
                <a:r>
                  <a:rPr lang="zh-CN" altLang="en-US" dirty="0"/>
                  <a:t>个空转移到达的状态集合）</a:t>
                </a:r>
                <a:endParaRPr lang="en-AU" altLang="zh-CN" dirty="0"/>
              </a:p>
              <a:p>
                <a:r>
                  <a:rPr lang="zh-CN" altLang="en-US" dirty="0"/>
                  <a:t>递归定义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zh-CN" altLang="en-US" sz="2400" dirty="0"/>
                  <a:t>（包含当前状态本身）</a:t>
                </a: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  <a:blipFill rotWithShape="1">
                <a:blip r:embed="rId3"/>
                <a:stretch>
                  <a:fillRect b="-5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113</a:t>
            </a:fld>
            <a:endParaRPr lang="en-US" altLang="zh-C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状态的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闭包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</a:t>
                </a:r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-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表示从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经过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序列可到达的全部状态的集合。（即经过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个或</a:t>
                </a:r>
                <a:r>
                  <a:rPr lang="en-US" altLang="zh-CN" dirty="0"/>
                  <a:t>&gt;0</a:t>
                </a:r>
                <a:r>
                  <a:rPr lang="zh-CN" altLang="en-US" dirty="0"/>
                  <a:t>个空转移到达的状态集合）</a:t>
                </a:r>
                <a:endParaRPr lang="en-AU" altLang="zh-CN" dirty="0"/>
              </a:p>
              <a:p>
                <a:r>
                  <a:rPr lang="zh-CN" altLang="en-US" dirty="0"/>
                  <a:t>递归定义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zh-CN" altLang="en-US" sz="2400" dirty="0"/>
                  <a:t>（包含当前状态本身）</a:t>
                </a: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  <a:blipFill rotWithShape="1">
                <a:blip r:embed="rId3"/>
                <a:stretch>
                  <a:fillRect b="-5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114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114800"/>
            <a:ext cx="5105400" cy="172247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状态的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闭包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</a:t>
                </a:r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-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表示从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经过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序列可到达的全部状态的集合。（即经过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个或</a:t>
                </a:r>
                <a:r>
                  <a:rPr lang="en-US" altLang="zh-CN" dirty="0"/>
                  <a:t>&gt;0</a:t>
                </a:r>
                <a:r>
                  <a:rPr lang="zh-CN" altLang="en-US" dirty="0"/>
                  <a:t>个空转移到达的状态集合）</a:t>
                </a:r>
                <a:endParaRPr lang="en-AU" altLang="zh-CN" dirty="0"/>
              </a:p>
              <a:p>
                <a:r>
                  <a:rPr lang="zh-CN" altLang="en-US" dirty="0"/>
                  <a:t>递归定义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zh-CN" altLang="en-US" sz="2400" dirty="0"/>
                  <a:t>（包含当前状态本身）</a:t>
                </a: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sty m:val="p"/>
                      </m:rPr>
                      <a:rPr lang="en-AU" sz="2400" dirty="0" err="1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AU" sz="2400" b="0" dirty="0">
                        <a:latin typeface="Cambria Math" panose="02040503050406030204" pitchFamily="18" charset="0"/>
                      </a:rPr>
                      <m:t>CLOSE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2819400"/>
              </a:xfrm>
              <a:blipFill rotWithShape="1">
                <a:blip r:embed="rId4"/>
                <a:stretch>
                  <a:fillRect b="-5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115</a:t>
            </a:fld>
            <a:endParaRPr lang="en-US" altLang="zh-CN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14800"/>
            <a:ext cx="5105400" cy="1722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5881608" y="4401543"/>
                <a:ext cx="2630805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dirty="0" smtClean="0">
                          <a:latin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1,2,5,3,4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dirty="0">
                          <a:latin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={2,3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,4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881608" y="4401543"/>
                <a:ext cx="2630805" cy="645160"/>
              </a:xfrm>
              <a:prstGeom prst="rect">
                <a:avLst/>
              </a:prstGeom>
              <a:blipFill rotWithShape="1">
                <a:blip r:embed="rId7"/>
                <a:stretch>
                  <a:fillRect l="-9" t="-55" r="9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状态集的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闭包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4900" y="1600202"/>
                <a:ext cx="73914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状态集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dirty="0" smtClean="0">
                          <a:latin typeface="Cambria Math" panose="02040503050406030204" pitchFamily="18" charset="0"/>
                        </a:rPr>
                        <m:t>ECLOSE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) = </m:t>
                      </m:r>
                      <m:sSub>
                        <m:sSub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AU" dirty="0">
                          <a:latin typeface="Cambria Math" panose="02040503050406030204" pitchFamily="18" charset="0"/>
                        </a:rPr>
                        <m:t>ECLOSE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即，一个状态集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闭包为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里面每个状态的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zh-CN" altLang="en-US" dirty="0"/>
                  <a:t>闭包的并集。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900" y="1600202"/>
                <a:ext cx="73914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116</a:t>
            </a:fld>
            <a:endParaRPr lang="en-US" altLang="zh-CN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状态的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闭包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续例</a:t>
                </a:r>
                <a:r>
                  <a:rPr lang="en-AU" altLang="zh-CN" sz="24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/>
                  <a:t>状态转移表及每个状态的闭包</a:t>
                </a:r>
                <a:r>
                  <a:rPr lang="en-US" altLang="zh-CN" sz="2400" dirty="0"/>
                  <a:t>: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117</a:t>
            </a:fld>
            <a:endParaRPr lang="en-US" altLang="zh-CN"/>
          </a:p>
        </p:txBody>
      </p:sp>
      <p:pic>
        <p:nvPicPr>
          <p:cNvPr id="7" name="Picture 6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09800"/>
            <a:ext cx="5562600" cy="1154502"/>
          </a:xfrm>
          <a:prstGeom prst="rect">
            <a:avLst/>
          </a:prstGeom>
        </p:spPr>
      </p:pic>
      <p:pic>
        <p:nvPicPr>
          <p:cNvPr id="9" name="Picture 8" descr="Text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30" y="4245121"/>
            <a:ext cx="5799323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扩展状态转移函数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扩展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到字符串，定义扩展状态转移函数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zh-CN" altLang="en-US" dirty="0"/>
                  <a:t>为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ECLOSE</m:t>
                              </m:r>
                              <m:d>
                                <m:dPr>
                                  <m:ctrlP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altLang="zh-CN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      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ECLOSE</m:t>
                              </m:r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∪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A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AU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</a:rPr>
                                <m:t>𝑥𝑎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是一个字符，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是字符串。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118</a:t>
            </a:fld>
            <a:endParaRPr lang="en-US" altLang="zh-CN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扩展状态转移函数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sz="2400" dirty="0"/>
                  <a:t>续例</a:t>
                </a:r>
                <a:r>
                  <a:rPr lang="en-AU" altLang="zh-CN" sz="24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-NFA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如下，求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,10</m:t>
                        </m:r>
                      </m:e>
                    </m:d>
                    <m:r>
                      <a:rPr 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sz="2000" dirty="0"/>
              </a:p>
              <a:p>
                <a:pPr marL="0" indent="0">
                  <a:buNone/>
                </a:pPr>
                <a:endParaRPr lang="en-AU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119</a:t>
            </a:fld>
            <a:endParaRPr lang="en-US" altLang="zh-CN"/>
          </a:p>
        </p:txBody>
      </p:sp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590800"/>
            <a:ext cx="4724400" cy="98053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120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续例</a:t>
                </a:r>
                <a:r>
                  <a:rPr lang="en-AU" altLang="zh-CN" sz="28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8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8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-NFA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如下，求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,10</m:t>
                        </m:r>
                      </m:e>
                    </m:d>
                    <m:r>
                      <a:rPr lang="en-AU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AU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5" name="Picture 4" descr="Diagram&#10;&#10;Description automatically generated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590800"/>
            <a:ext cx="4724400" cy="980536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2"/>
            <a:ext cx="8229600" cy="393065"/>
          </a:xfrm>
        </p:spPr>
        <p:txBody>
          <a:bodyPr/>
          <a:lstStyle/>
          <a:p>
            <a:pPr algn="r"/>
            <a:r>
              <a:rPr lang="zh-CN" altLang="en-US" sz="3600" dirty="0">
                <a:solidFill>
                  <a:schemeClr val="bg1"/>
                </a:solidFill>
              </a:rPr>
              <a:t>扩展转移函数</a:t>
            </a:r>
            <a:endParaRPr lang="en-AU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/>
              <a:lstStyle/>
              <a:p>
                <a:r>
                  <a:rPr lang="zh-CN" altLang="en-US" sz="2400" dirty="0"/>
                  <a:t>续例</a:t>
                </a:r>
                <a:r>
                  <a:rPr lang="en-AU" altLang="zh-CN" sz="2400" dirty="0"/>
                  <a:t>: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倒数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3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个字符至少有一个是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-NFA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如下，求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,10</m:t>
                        </m:r>
                      </m:e>
                    </m:d>
                    <m:r>
                      <a:rPr 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altLang="zh-CN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AU" altLang="zh-CN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altLang="zh-CN" sz="20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AU" altLang="zh-CN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AU" altLang="zh-CN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altLang="zh-CN" sz="20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acc>
                                <m:accPr>
                                  <m:chr m:val="̂"/>
                                  <m:ctrlPr>
                                    <a:rPr lang="en-AU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sub>
                          </m:sSub>
                          <m:r>
                            <a:rPr lang="en-AU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000" b="0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,1)</m:t>
                        </m:r>
                      </m:e>
                    </m:d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AU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,10</m:t>
                          </m:r>
                        </m:e>
                      </m:d>
                      <m:r>
                        <a:rPr lang="en-AU" altLang="zh-CN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altLang="zh-CN" sz="20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altLang="zh-CN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acc>
                                <m:accPr>
                                  <m:chr m:val="̂"/>
                                  <m:ctrlPr>
                                    <a:rPr lang="en-AU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AU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AU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</m:sub>
                          </m:sSub>
                          <m:r>
                            <a:rPr lang="en-AU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000" b="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,0)∪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,0)∪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,0)∪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,0)</m:t>
                        </m:r>
                      </m:e>
                    </m:d>
                  </m:oMath>
                </a14:m>
                <a:endParaRPr lang="en-AU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000" b="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AU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AU" altLang="zh-C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2"/>
                <a:stretch>
                  <a:fillRect b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121</a:t>
            </a:fld>
            <a:endParaRPr lang="en-US" altLang="zh-CN"/>
          </a:p>
        </p:txBody>
      </p:sp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590800"/>
            <a:ext cx="4724400" cy="98053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的语言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371602"/>
                <a:ext cx="7620000" cy="4525963"/>
              </a:xfrm>
            </p:spPr>
            <p:txBody>
              <a:bodyPr/>
              <a:lstStyle/>
              <a:p>
                <a:r>
                  <a:rPr lang="zh-CN" altLang="en-US" dirty="0"/>
                  <a:t>回顾</a:t>
                </a:r>
                <a:r>
                  <a:rPr lang="en-AU" altLang="zh-CN" dirty="0"/>
                  <a:t>: 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和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的语言分别为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dirty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dirty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≠∅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是一个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接受的语言为</a:t>
                </a: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AU" i="1" dirty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en-A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≠∅</m:t>
                      </m:r>
                      <m:r>
                        <a:rPr lang="en-AU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371602"/>
                <a:ext cx="7620000" cy="4525963"/>
              </a:xfrm>
              <a:blipFill rotWithShape="1">
                <a:blip r:embed="rId3"/>
                <a:stretch>
                  <a:fillRect b="-16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122</a:t>
            </a:fld>
            <a:endParaRPr lang="en-US" altLang="zh-CN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el-GR" sz="36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3600" dirty="0">
                    <a:solidFill>
                      <a:schemeClr val="bg1"/>
                    </a:solidFill>
                  </a:rPr>
                  <a:t>-</a:t>
                </a:r>
                <a:r>
                  <a:rPr lang="en-AU" sz="3600" dirty="0">
                    <a:solidFill>
                      <a:schemeClr val="bg1"/>
                    </a:solidFill>
                  </a:rPr>
                  <a:t>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与</a:t>
                </a:r>
                <a:r>
                  <a:rPr lang="en-AU" sz="3600" dirty="0">
                    <a:solidFill>
                      <a:schemeClr val="bg1"/>
                    </a:solidFill>
                  </a:rPr>
                  <a:t>DFA 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等价性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0772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接受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接受。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0772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123</a:t>
            </a:fld>
            <a:endParaRPr lang="en-US" altLang="zh-CN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构造与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等价的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DFA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子集构造法（消除空转移）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构造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altLang="zh-CN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sup>
                    </m:sSup>
                  </m:oMath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altLang="zh-CN" b="0" i="0" dirty="0" smtClean="0">
                          <a:latin typeface="Cambria Math" panose="02040503050406030204" pitchFamily="18" charset="0"/>
                        </a:rPr>
                        <m:t>ECLOSE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AU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124</a:t>
            </a:fld>
            <a:endParaRPr lang="en-US" altLang="zh-CN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a:rPr lang="el-GR" sz="36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3600" dirty="0">
                    <a:solidFill>
                      <a:schemeClr val="bg1"/>
                    </a:solidFill>
                  </a:rPr>
                  <a:t>-</a:t>
                </a:r>
                <a:r>
                  <a:rPr lang="en-AU" sz="3600" dirty="0">
                    <a:solidFill>
                      <a:schemeClr val="bg1"/>
                    </a:solidFill>
                  </a:rPr>
                  <a:t>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与</a:t>
                </a:r>
                <a:r>
                  <a:rPr lang="en-AU" sz="3600" dirty="0">
                    <a:solidFill>
                      <a:schemeClr val="bg1"/>
                    </a:solidFill>
                  </a:rPr>
                  <a:t>DFA 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等价性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816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-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接受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接受。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对串𝑤的长度进行归纳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往证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AU" altLang="zh-CN" sz="2400" dirty="0"/>
                  <a:t>(1) </a:t>
                </a:r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sz="2400" b="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400" b="0" dirty="0">
                        <a:latin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AU" sz="2400" b="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AU" altLang="zh-CN" sz="2400" dirty="0"/>
                  <a:t>(2) </a:t>
                </a:r>
                <a:r>
                  <a:rPr lang="zh-CN" altLang="en-US" sz="2400" dirty="0"/>
                  <a:t>假设当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时，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AU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AU" altLang="zh-CN" sz="2400" dirty="0"/>
                  <a:t>(3) </a:t>
                </a:r>
                <a:r>
                  <a:rPr lang="zh-CN" altLang="en-US" sz="2400" dirty="0"/>
                  <a:t>则当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𝑥𝑎</m:t>
                    </m:r>
                  </m:oMath>
                </a14:m>
                <a:r>
                  <a:rPr lang="zh-CN" altLang="en-US" sz="2400" dirty="0"/>
                  <a:t>时</a:t>
                </a:r>
                <a:r>
                  <a:rPr lang="en-AU" altLang="zh-CN" sz="240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AU" sz="2400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altLang="zh-CN" sz="2400" b="0">
                          <a:latin typeface="Cambria Math" panose="02040503050406030204" pitchFamily="18" charset="0"/>
                        </a:rPr>
                        <m:t>ECLOSE</m:t>
                      </m:r>
                      <m:d>
                        <m:dPr>
                          <m:ctrlPr>
                            <a:rPr lang="en-AU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AU" sz="2400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AU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4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AU" altLang="zh-C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sz="2400">
                        <a:latin typeface="Cambria Math" panose="02040503050406030204" pitchFamily="18" charset="0"/>
                      </a:rPr>
                      <m:t>ECLOSE</m:t>
                    </m:r>
                    <m:d>
                      <m:d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AU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AU" sz="2400" i="1" dirty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AU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sz="2400" b="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AU" i="1" dirty="0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AU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81600"/>
              </a:xfrm>
              <a:blipFill rotWithShape="1">
                <a:blip r:embed="rId4"/>
                <a:stretch>
                  <a:fillRect t="-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125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762000" y="4750713"/>
            <a:ext cx="521488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由归纳假设可知，所构造的</a:t>
            </a:r>
            <a:r>
              <a:rPr lang="en-AU" altLang="zh-CN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DFA</a:t>
            </a:r>
            <a:r>
              <a:rPr lang="zh-CN" altLang="en-US" sz="1900" b="1" dirty="0">
                <a:latin typeface="黑体" panose="02010609060101010101" pitchFamily="49" charset="-122"/>
                <a:ea typeface="黑体" panose="02010609060101010101" pitchFamily="49" charset="-122"/>
              </a:rPr>
              <a:t>的转移函数定义</a:t>
            </a:r>
            <a:endParaRPr lang="en-AU" altLang="zh-CN" sz="19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752600" y="3969445"/>
                <a:ext cx="4674358" cy="449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AU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AU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AU" sz="2200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n-AU" altLang="zh-CN" sz="2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AU" altLang="zh-CN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AU" altLang="zh-CN" sz="2200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AU" altLang="zh-CN" sz="22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200" b="0" i="1" dirty="0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</m:oMath>
                  </m:oMathPara>
                </a14:m>
                <a:endParaRPr lang="en-AU" altLang="zh-CN" sz="2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969445"/>
                <a:ext cx="4674358" cy="449995"/>
              </a:xfrm>
              <a:prstGeom prst="rect">
                <a:avLst/>
              </a:prstGeom>
              <a:blipFill rotWithShape="1">
                <a:blip r:embed="rId5"/>
                <a:stretch>
                  <a:fillRect t="-13" r="3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62000" y="5808860"/>
                <a:ext cx="46743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新构造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AU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AU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AU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AU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808860"/>
                <a:ext cx="467435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139" r="3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762000" y="6172200"/>
                <a:ext cx="67056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新构造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的状态转移函数：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ECLOSE</m:t>
                    </m:r>
                    <m:r>
                      <a:rPr lang="en-AU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172200"/>
                <a:ext cx="6705600" cy="390748"/>
              </a:xfrm>
              <a:prstGeom prst="rect">
                <a:avLst/>
              </a:prstGeom>
              <a:blipFill rotWithShape="1">
                <a:blip r:embed="rId7"/>
                <a:stretch>
                  <a:fillRect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126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例</a:t>
                </a:r>
                <a:r>
                  <a:rPr lang="en-AU" altLang="zh-CN" sz="2800" dirty="0"/>
                  <a:t>:</a:t>
                </a:r>
                <a:r>
                  <a:rPr lang="zh-CN" altLang="en-US" sz="2800" dirty="0"/>
                  <a:t>将下图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8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dirty="0"/>
                  <a:t>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US" altLang="zh-CN" sz="2800" dirty="0"/>
                  <a:t>, </a:t>
                </a:r>
                <a:r>
                  <a:rPr lang="zh-CN" altLang="en-US" sz="2800" dirty="0"/>
                  <a:t>转为等价的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</a:t>
                </a:r>
                <a:r>
                  <a:rPr lang="zh-CN" altLang="en-US" sz="2800" dirty="0"/>
                  <a:t>。</a:t>
                </a:r>
                <a:endParaRPr lang="en-AU" altLang="zh-CN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pic>
        <p:nvPicPr>
          <p:cNvPr id="15" name="Picture 7" descr="A black and silver musical instrument&#10;&#10;Description automatically generated with low confidence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255414"/>
            <a:ext cx="5029200" cy="1138555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构造与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等价的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DFA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将下图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/>
                  <a:t>-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转为等价的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</a:t>
                </a:r>
                <a:r>
                  <a:rPr lang="zh-CN" altLang="en-US" sz="2400" dirty="0"/>
                  <a:t>。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10"/>
              <p:cNvGraphicFramePr>
                <a:graphicFrameLocks noGrp="1"/>
              </p:cNvGraphicFramePr>
              <p:nvPr/>
            </p:nvGraphicFramePr>
            <p:xfrm>
              <a:off x="1143000" y="3762794"/>
              <a:ext cx="66294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80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ECLOSE()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10"/>
              <p:cNvGraphicFramePr>
                <a:graphicFrameLocks noGrp="1"/>
              </p:cNvGraphicFramePr>
              <p:nvPr/>
            </p:nvGraphicFramePr>
            <p:xfrm>
              <a:off x="1143000" y="3762794"/>
              <a:ext cx="662940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/>
                    <a:gridCol w="1325880"/>
                    <a:gridCol w="1325880"/>
                    <a:gridCol w="1325880"/>
                    <a:gridCol w="132588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ECLOSE()</a:t>
                          </a:r>
                          <a:endParaRPr lang="en-AU" sz="1800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8" name="Picture 7" descr="A black and silver musical instrument&#10;&#10;Description automatically generated with low confidence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255414"/>
            <a:ext cx="5029200" cy="1138555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构造与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等价的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DFA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3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128</a:t>
            </a:fld>
            <a:endParaRPr lang="en-US" altLang="zh-CN"/>
          </a:p>
        </p:txBody>
      </p:sp>
      <p:pic>
        <p:nvPicPr>
          <p:cNvPr id="5" name="Picture 4" descr="A black and silver musical instrument&#10;&#10;Description automatically generated with low confidence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29" y="1193089"/>
            <a:ext cx="5029200" cy="1138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0"/>
              <p:cNvGraphicFramePr>
                <a:graphicFrameLocks noGrp="1"/>
              </p:cNvGraphicFramePr>
              <p:nvPr>
                <p:custDataLst>
                  <p:tags r:id="rId1"/>
                </p:custDataLst>
              </p:nvPr>
            </p:nvGraphicFramePr>
            <p:xfrm>
              <a:off x="381000" y="2363154"/>
              <a:ext cx="397764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68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49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0"/>
              <p:cNvGraphicFramePr>
                <a:graphicFrameLocks noGrp="1"/>
              </p:cNvGraphicFramePr>
              <p:nvPr>
                <p:custDataLst>
                  <p:tags r:id="rId5"/>
                </p:custDataLst>
              </p:nvPr>
            </p:nvGraphicFramePr>
            <p:xfrm>
              <a:off x="381000" y="2363154"/>
              <a:ext cx="397764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/>
                    <a:gridCol w="1226820"/>
                    <a:gridCol w="142494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10"/>
              <p:cNvGraphicFramePr>
                <a:graphicFrameLocks noGrp="1"/>
              </p:cNvGraphicFramePr>
              <p:nvPr/>
            </p:nvGraphicFramePr>
            <p:xfrm>
              <a:off x="4648200" y="2356804"/>
              <a:ext cx="43434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3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96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306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10"/>
              <p:cNvGraphicFramePr>
                <a:graphicFrameLocks noGrp="1"/>
              </p:cNvGraphicFramePr>
              <p:nvPr/>
            </p:nvGraphicFramePr>
            <p:xfrm>
              <a:off x="4648200" y="2356804"/>
              <a:ext cx="43434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3038"/>
                    <a:gridCol w="1249680"/>
                    <a:gridCol w="1630682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28602" y="1531535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子集构造法</a:t>
            </a:r>
            <a:endParaRPr lang="en-AU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构造与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等价的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DFA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14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129</a:t>
            </a:fld>
            <a:endParaRPr lang="en-US" altLang="zh-CN"/>
          </a:p>
        </p:txBody>
      </p:sp>
      <p:pic>
        <p:nvPicPr>
          <p:cNvPr id="5" name="Picture 4" descr="A black and silver musical instrument&#10;&#10;Description automatically generated with low confidence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29" y="1193089"/>
            <a:ext cx="5029200" cy="1138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10"/>
              <p:cNvGraphicFramePr>
                <a:graphicFrameLocks noGrp="1"/>
              </p:cNvGraphicFramePr>
              <p:nvPr/>
            </p:nvGraphicFramePr>
            <p:xfrm>
              <a:off x="381000" y="2363154"/>
              <a:ext cx="397764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68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249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10"/>
              <p:cNvGraphicFramePr>
                <a:graphicFrameLocks noGrp="1"/>
              </p:cNvGraphicFramePr>
              <p:nvPr/>
            </p:nvGraphicFramePr>
            <p:xfrm>
              <a:off x="381000" y="2363154"/>
              <a:ext cx="397764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880"/>
                    <a:gridCol w="1226820"/>
                    <a:gridCol w="142494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10"/>
              <p:cNvGraphicFramePr>
                <a:graphicFrameLocks noGrp="1"/>
              </p:cNvGraphicFramePr>
              <p:nvPr/>
            </p:nvGraphicFramePr>
            <p:xfrm>
              <a:off x="4648200" y="2356804"/>
              <a:ext cx="43434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3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96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306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AU" sz="1800" dirty="0"/>
                            <a:t>,</a:t>
                          </a:r>
                          <a:r>
                            <a:rPr lang="en-AU" sz="1800" b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10"/>
              <p:cNvGraphicFramePr>
                <a:graphicFrameLocks noGrp="1"/>
              </p:cNvGraphicFramePr>
              <p:nvPr/>
            </p:nvGraphicFramePr>
            <p:xfrm>
              <a:off x="4648200" y="2356804"/>
              <a:ext cx="43434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3038"/>
                    <a:gridCol w="1249680"/>
                    <a:gridCol w="1630682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AU" sz="1800" dirty="0"/>
                            <a:t>∅</a:t>
                          </a:r>
                          <a:endParaRPr lang="en-AU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28602" y="1531535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子集构造法</a:t>
            </a:r>
            <a:endParaRPr lang="en-AU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Straight Connector 6"/>
          <p:cNvCxnSpPr/>
          <p:nvPr>
            <p:custDataLst>
              <p:tags r:id="rId1"/>
            </p:custDataLst>
          </p:nvPr>
        </p:nvCxnSpPr>
        <p:spPr>
          <a:xfrm>
            <a:off x="533400" y="3276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/>
          <p:cNvCxnSpPr/>
          <p:nvPr>
            <p:custDataLst>
              <p:tags r:id="rId2"/>
            </p:custDataLst>
          </p:nvPr>
        </p:nvCxnSpPr>
        <p:spPr>
          <a:xfrm>
            <a:off x="533400" y="3657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9"/>
          <p:cNvCxnSpPr/>
          <p:nvPr>
            <p:custDataLst>
              <p:tags r:id="rId3"/>
            </p:custDataLst>
          </p:nvPr>
        </p:nvCxnSpPr>
        <p:spPr>
          <a:xfrm>
            <a:off x="533400" y="4038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0"/>
          <p:cNvCxnSpPr/>
          <p:nvPr>
            <p:custDataLst>
              <p:tags r:id="rId4"/>
            </p:custDataLst>
          </p:nvPr>
        </p:nvCxnSpPr>
        <p:spPr>
          <a:xfrm>
            <a:off x="533400" y="4419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/>
          <p:cNvCxnSpPr/>
          <p:nvPr>
            <p:custDataLst>
              <p:tags r:id="rId5"/>
            </p:custDataLst>
          </p:nvPr>
        </p:nvCxnSpPr>
        <p:spPr>
          <a:xfrm>
            <a:off x="533400" y="4800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2"/>
          <p:cNvCxnSpPr/>
          <p:nvPr>
            <p:custDataLst>
              <p:tags r:id="rId6"/>
            </p:custDataLst>
          </p:nvPr>
        </p:nvCxnSpPr>
        <p:spPr>
          <a:xfrm>
            <a:off x="533400" y="5562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3"/>
          <p:cNvCxnSpPr/>
          <p:nvPr>
            <p:custDataLst>
              <p:tags r:id="rId7"/>
            </p:custDataLst>
          </p:nvPr>
        </p:nvCxnSpPr>
        <p:spPr>
          <a:xfrm>
            <a:off x="5029200" y="2895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/>
          <p:cNvCxnSpPr/>
          <p:nvPr>
            <p:custDataLst>
              <p:tags r:id="rId8"/>
            </p:custDataLst>
          </p:nvPr>
        </p:nvCxnSpPr>
        <p:spPr>
          <a:xfrm>
            <a:off x="5029200" y="33528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5"/>
          <p:cNvCxnSpPr/>
          <p:nvPr>
            <p:custDataLst>
              <p:tags r:id="rId9"/>
            </p:custDataLst>
          </p:nvPr>
        </p:nvCxnSpPr>
        <p:spPr>
          <a:xfrm>
            <a:off x="5029200" y="3657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/>
          <p:cNvCxnSpPr/>
          <p:nvPr>
            <p:custDataLst>
              <p:tags r:id="rId10"/>
            </p:custDataLst>
          </p:nvPr>
        </p:nvCxnSpPr>
        <p:spPr>
          <a:xfrm>
            <a:off x="5029200" y="4038600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7"/>
          <p:cNvCxnSpPr/>
          <p:nvPr>
            <p:custDataLst>
              <p:tags r:id="rId11"/>
            </p:custDataLst>
          </p:nvPr>
        </p:nvCxnSpPr>
        <p:spPr>
          <a:xfrm>
            <a:off x="5029200" y="4810676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8"/>
          <p:cNvCxnSpPr/>
          <p:nvPr>
            <p:custDataLst>
              <p:tags r:id="rId12"/>
            </p:custDataLst>
          </p:nvPr>
        </p:nvCxnSpPr>
        <p:spPr>
          <a:xfrm>
            <a:off x="5029200" y="5519777"/>
            <a:ext cx="3429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</p:spPr>
            <p:txBody>
              <a:bodyPr/>
              <a:lstStyle/>
              <a:p>
                <a:pPr algn="r"/>
                <a:r>
                  <a:rPr lang="zh-CN" altLang="en-US" sz="3600" dirty="0">
                    <a:solidFill>
                      <a:schemeClr val="bg1"/>
                    </a:solidFill>
                  </a:rPr>
                  <a:t>构造与</a:t>
                </a:r>
                <a14:m>
                  <m:oMath xmlns:m="http://schemas.openxmlformats.org/officeDocument/2006/math">
                    <m:r>
                      <a:rPr lang="zh-CN" alt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AU" sz="3600" dirty="0">
                    <a:solidFill>
                      <a:schemeClr val="bg1"/>
                    </a:solidFill>
                  </a:rPr>
                  <a:t>-NFA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等价的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DFA</a:t>
                </a:r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152402"/>
                <a:ext cx="8229600" cy="393065"/>
              </a:xfrm>
              <a:blipFill rotWithShape="1">
                <a:blip r:embed="rId2"/>
                <a:stretch>
                  <a:fillRect t="-19710" b="-1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将下图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/>
                  <a:t>-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转为等价的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</a:t>
                </a:r>
                <a:r>
                  <a:rPr lang="zh-CN" altLang="en-US" sz="2400" dirty="0"/>
                  <a:t>。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2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130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10"/>
              <p:cNvGraphicFramePr>
                <a:graphicFrameLocks noGrp="1"/>
              </p:cNvGraphicFramePr>
              <p:nvPr/>
            </p:nvGraphicFramePr>
            <p:xfrm>
              <a:off x="1700313" y="2870200"/>
              <a:ext cx="528828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63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68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4288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sSub>
                                      <m:sSubPr>
                                        <m:ctrlPr>
                                          <a:rPr lang="en-AU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18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AU" sz="1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10"/>
              <p:cNvGraphicFramePr>
                <a:graphicFrameLocks noGrp="1"/>
              </p:cNvGraphicFramePr>
              <p:nvPr/>
            </p:nvGraphicFramePr>
            <p:xfrm>
              <a:off x="1700313" y="2870200"/>
              <a:ext cx="528828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6399"/>
                    <a:gridCol w="1768995"/>
                    <a:gridCol w="18428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0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  <a:endParaRPr lang="en-AU" sz="1800" dirty="0"/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8" name="Picture 7" descr="A black and silver musical instrument&#10;&#10;Description automatically generated with low confidence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393" y="1563689"/>
            <a:ext cx="5029200" cy="1138555"/>
          </a:xfrm>
          <a:prstGeom prst="rect">
            <a:avLst/>
          </a:prstGeom>
        </p:spPr>
      </p:pic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726" y="4743209"/>
            <a:ext cx="6039453" cy="168740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1675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内容大纲</a:t>
            </a:r>
            <a:endParaRPr lang="en-AU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</p:spPr>
            <p:txBody>
              <a:bodyPr/>
              <a:lstStyle/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(1) 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有穷状态系统简介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(2)  </a:t>
                </a:r>
                <a:r>
                  <a:rPr lang="zh-CN" altLang="en-US" sz="3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确定有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穷自动机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(3) 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非确定有穷自动机</a:t>
                </a:r>
              </a:p>
              <a:p>
                <a:pPr algn="just">
                  <a:buNone/>
                </a:pPr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(4)  </a:t>
                </a:r>
                <a:r>
                  <a:rPr lang="zh-CN" altLang="en-US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带空转移的非确定有穷自动机</a:t>
                </a:r>
                <a:endParaRPr lang="en-US" altLang="zh-CN" sz="3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:r>
                  <a:rPr lang="en-US" altLang="zh-CN" sz="3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	</a:t>
                </a:r>
                <a:r>
                  <a:rPr lang="zh-CN" altLang="en-US" b="1" dirty="0">
                    <a:latin typeface="宋体" panose="02010600030101010101" pitchFamily="2" charset="-122"/>
                  </a:rPr>
                  <a:t>构造与</a:t>
                </a:r>
                <a:r>
                  <a:rPr lang="en-US" altLang="zh-CN" b="1" dirty="0">
                    <a:latin typeface="宋体" panose="02010600030101010101" pitchFamily="2" charset="-122"/>
                  </a:rPr>
                  <a:t>NFA</a:t>
                </a:r>
                <a:r>
                  <a:rPr lang="zh-CN" altLang="en-US" b="1" dirty="0">
                    <a:latin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</a:rPr>
                  <a:t>-NFA</a:t>
                </a:r>
                <a:r>
                  <a:rPr lang="zh-CN" altLang="en-US" b="1" dirty="0">
                    <a:latin typeface="宋体" panose="02010600030101010101" pitchFamily="2" charset="-122"/>
                  </a:rPr>
                  <a:t>等价的</a:t>
                </a:r>
                <a:r>
                  <a:rPr lang="en-US" altLang="zh-CN" b="1" dirty="0">
                    <a:latin typeface="宋体" panose="02010600030101010101" pitchFamily="2" charset="-122"/>
                  </a:rPr>
                  <a:t>DFA</a:t>
                </a:r>
                <a:r>
                  <a:rPr lang="zh-CN" altLang="en-US" b="1" dirty="0">
                    <a:latin typeface="宋体" panose="02010600030101010101" pitchFamily="2" charset="-122"/>
                  </a:rPr>
                  <a:t>的方法（子集构造法）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27239"/>
                <a:ext cx="8229600" cy="4525963"/>
              </a:xfrm>
              <a:blipFill rotWithShape="1">
                <a:blip r:embed="rId3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0C455B-B212-44F5-BDE5-4E865130930B}" type="slidenum">
              <a:rPr lang="en-US" altLang="zh-CN" smtClean="0"/>
              <a:t>131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9462b7b-25a1-4530-8096-00752b2f612b"/>
  <p:tag name="COMMONDATA" val="eyJoZGlkIjoiYTc2ZGZiNzZiNDVlOGViOWVmM2JhOTY0NGJkNjUyYz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10.0"/>
  <p:tag name="PROBLEMREMARK" val="字母表={p}（p—按开关键）&#10;有穷状态集Q：&#10;电视关（q0- 初始状态，也是终止符）&#10;电视开（q1）&#10;状态转换函数 ：&#10;  (q0, p)=q1，(q1, p)=q0"/>
  <p:tag name="PROBLEMVOICEALLOW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有穷状态集𝑄：&#10;没发现01子串，且0也还没出现（_x001A_𝑞_x001B_0_x001B_-初始状态）&#10;没发现01子串，但刚刚已经读入了一个0，只需再读入一个1就符合条件了(_x001A_𝑞_x001B_1_x001B_)&#10;已经发现01子串，不再关心串的其余部分（_x001A_𝑞_x001B_2_x001B_-终止）&#10;状态转换函数:&#10;𝛿_x001A__x001A_𝑞_x001B_0_x001B_,0_x001B_=_x001A_𝑞_x001B_1_x001B_,&#10;𝛿_x001A__x001A_𝑞_x001B_1_x001B_,0_x001B_=_x001A_𝑞_x001B_1_x001B_,&#10;𝛿_x001A__x001A_𝑞_x001B_2_x001B_,0_x001B_=_x001A_𝑞_x001B_2_x001B_,&#10;𝛿_x001A__x001A_𝑞_x001B_0_x001B_,1_x001B_=_x001A_𝑞_x001B_0_x001B_,&#10;𝛿_x001A__x001A_𝑞_x001B_1_x001B_,1_x001B_=_x001A_𝑞_x001B_2_x001B_,&#10;𝛿_x001A__x001A_𝑞_x001B_2_x001B_,1_x001B_=_x001A_𝑞_x001B_2_x001B_"/>
  <p:tag name="PROBLEMVOICEALLOWED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500,&quot;width&quot;:600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5db1d37-70c2-4bea-8ad5-745e2643f4f9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UNIT_TABLE_BEAUTIFY" val="smartTable{95db1d37-70c2-4bea-8ad5-745e2643f4f9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RAINPROBLEM" val="ProblemRemark"/>
</p:tagLst>
</file>

<file path=ppt/tags/tag350.xml><?xml version="1.0" encoding="utf-8"?>
<p:tagLst xmlns:p="http://schemas.openxmlformats.org/presentationml/2006/main">
  <p:tag name="RAINPROBLEM" val="ProblemBody"/>
</p:tagLst>
</file>

<file path=ppt/tags/tag500.xml><?xml version="1.0" encoding="utf-8"?>
<p:tagLst xmlns:p="http://schemas.openxmlformats.org/presentationml/2006/main">
  <p:tag name="RAINPROBLEM" val="ProblemBody"/>
</p:tagLst>
</file>

<file path=ppt/tags/tag780.xml><?xml version="1.0" encoding="utf-8"?>
<p:tagLst xmlns:p="http://schemas.openxmlformats.org/presentationml/2006/main">
  <p:tag name="RAINPROBLEM" val="ProblemBody"/>
</p:tagLst>
</file>

<file path=ppt/tags/tag930.xml><?xml version="1.0" encoding="utf-8"?>
<p:tagLst xmlns:p="http://schemas.openxmlformats.org/presentationml/2006/main">
  <p:tag name="RAINPROBLEM" val="ProblemBody"/>
</p:tagLst>
</file>

<file path=ppt/tags/tag1480.xml><?xml version="1.0" encoding="utf-8"?>
<p:tagLst xmlns:p="http://schemas.openxmlformats.org/presentationml/2006/main">
  <p:tag name="RAINPROBLEM" val="ProblemBody"/>
</p:tagLst>
</file>

<file path=ppt/tags/tag1810.xml><?xml version="1.0" encoding="utf-8"?>
<p:tagLst xmlns:p="http://schemas.openxmlformats.org/presentationml/2006/main">
  <p:tag name="RAINPROBLEM" val="ProblemBody"/>
</p:tagLst>
</file>

<file path=ppt/tags/tag1830.xml><?xml version="1.0" encoding="utf-8"?>
<p:tagLst xmlns:p="http://schemas.openxmlformats.org/presentationml/2006/main">
  <p:tag name="RAINPROBLEM" val="ProblemBody"/>
</p:tagLst>
</file>

<file path=ppt/tags/tag1930.xml><?xml version="1.0" encoding="utf-8"?>
<p:tagLst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12477</Words>
  <Application>Microsoft Office PowerPoint</Application>
  <PresentationFormat>全屏显示(4:3)</PresentationFormat>
  <Paragraphs>1673</Paragraphs>
  <Slides>131</Slides>
  <Notes>77</Notes>
  <HiddenSlides>16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131</vt:i4>
      </vt:variant>
    </vt:vector>
  </HeadingPairs>
  <TitlesOfParts>
    <vt:vector size="145" baseType="lpstr"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1_Office 主题</vt:lpstr>
      <vt:lpstr>Visio</vt:lpstr>
      <vt:lpstr>Equation</vt:lpstr>
      <vt:lpstr>有穷状态自动机</vt:lpstr>
      <vt:lpstr>内容大纲</vt:lpstr>
      <vt:lpstr>内容大纲</vt:lpstr>
      <vt:lpstr>有穷状态系统</vt:lpstr>
      <vt:lpstr>有穷状态系统</vt:lpstr>
      <vt:lpstr>有穷状态系统</vt:lpstr>
      <vt:lpstr>有穷状态系统</vt:lpstr>
      <vt:lpstr>有穷状态系统</vt:lpstr>
      <vt:lpstr>有穷自动机抽象装置</vt:lpstr>
      <vt:lpstr>有穷自动机抽象装置</vt:lpstr>
      <vt:lpstr>有穷自动机抽象装置</vt:lpstr>
      <vt:lpstr>内容大纲</vt:lpstr>
      <vt:lpstr>确定有穷自动机</vt:lpstr>
      <vt:lpstr>形式化定义</vt:lpstr>
      <vt:lpstr>PowerPoint 演示文稿</vt:lpstr>
      <vt:lpstr>PowerPoint 演示文稿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状态转移图和状态转移表</vt:lpstr>
      <vt:lpstr>状态转移图</vt:lpstr>
      <vt:lpstr>状态转移图</vt:lpstr>
      <vt:lpstr>状态转移图</vt:lpstr>
      <vt:lpstr>状态转移图</vt:lpstr>
      <vt:lpstr>状态转移表</vt:lpstr>
      <vt:lpstr>状态转移表</vt:lpstr>
      <vt:lpstr>状态转移表</vt:lpstr>
      <vt:lpstr>典型问题</vt:lpstr>
      <vt:lpstr>PowerPoint 演示文稿</vt:lpstr>
      <vt:lpstr>DFA的设计</vt:lpstr>
      <vt:lpstr>DFA的设计</vt:lpstr>
      <vt:lpstr>DFA的设计</vt:lpstr>
      <vt:lpstr>DFA的设计</vt:lpstr>
      <vt:lpstr>DFA的设计</vt:lpstr>
      <vt:lpstr>PowerPoint 演示文稿</vt:lpstr>
      <vt:lpstr>DFA的设计</vt:lpstr>
      <vt:lpstr>DFA的设计</vt:lpstr>
      <vt:lpstr>DFA的设计</vt:lpstr>
      <vt:lpstr>扩展转移函数</vt:lpstr>
      <vt:lpstr>扩展转移函数</vt:lpstr>
      <vt:lpstr>扩展转移函数</vt:lpstr>
      <vt:lpstr>扩展转移函数</vt:lpstr>
      <vt:lpstr>扩展转移函数使用示例</vt:lpstr>
      <vt:lpstr>扩展转移函数使用示例</vt:lpstr>
      <vt:lpstr>DFA的语言与正则语言</vt:lpstr>
      <vt:lpstr>PowerPoint 演示文稿</vt:lpstr>
      <vt:lpstr>DFA的语言与正则语言</vt:lpstr>
      <vt:lpstr>PowerPoint 演示文稿</vt:lpstr>
      <vt:lpstr>PowerPoint 演示文稿</vt:lpstr>
      <vt:lpstr>DFA的语言与正则语言</vt:lpstr>
      <vt:lpstr>DFA的语言与正则语言</vt:lpstr>
      <vt:lpstr>DFA的语言与正则语言</vt:lpstr>
      <vt:lpstr>DFA的语言与正则语言</vt:lpstr>
      <vt:lpstr>内容大纲</vt:lpstr>
      <vt:lpstr>非确定性有限状态自动机理论的开创者</vt:lpstr>
      <vt:lpstr>米凯尔·拉宾</vt:lpstr>
      <vt:lpstr>达纳·斯科特</vt:lpstr>
      <vt:lpstr>NFA的诞生背景</vt:lpstr>
      <vt:lpstr>NFA的诞生背景</vt:lpstr>
      <vt:lpstr>NFA的诞生背景</vt:lpstr>
      <vt:lpstr>PowerPoint 演示文稿</vt:lpstr>
      <vt:lpstr>非确定有穷自动机</vt:lpstr>
      <vt:lpstr>状态的非确定转移</vt:lpstr>
      <vt:lpstr>非确定有穷自动机</vt:lpstr>
      <vt:lpstr>非确定有穷自动机运转模式</vt:lpstr>
      <vt:lpstr>非确定有穷自动机运转模式</vt:lpstr>
      <vt:lpstr>非确定有穷自动机运转模式</vt:lpstr>
      <vt:lpstr>非确定有穷自动机运转模式</vt:lpstr>
      <vt:lpstr>PowerPoint 演示文稿</vt:lpstr>
      <vt:lpstr>PowerPoint 演示文稿</vt:lpstr>
      <vt:lpstr>非确定有穷自动机运转模式</vt:lpstr>
      <vt:lpstr>非确定有穷自动机运转模式</vt:lpstr>
      <vt:lpstr>非确定有穷自动机运转模式</vt:lpstr>
      <vt:lpstr>非确定有穷自动机运转模式</vt:lpstr>
      <vt:lpstr>非确定有穷自动机运转模式</vt:lpstr>
      <vt:lpstr>非确定有穷自动机的形式定义</vt:lpstr>
      <vt:lpstr>NFA的形式定义示例</vt:lpstr>
      <vt:lpstr>NFA的形式定义示例</vt:lpstr>
      <vt:lpstr>扩展转移函数</vt:lpstr>
      <vt:lpstr>PowerPoint 演示文稿</vt:lpstr>
      <vt:lpstr>示例</vt:lpstr>
      <vt:lpstr>NFA接受的语言</vt:lpstr>
      <vt:lpstr>DFA和NFA对比</vt:lpstr>
      <vt:lpstr>DFA与NFA的等价性</vt:lpstr>
      <vt:lpstr>DFA与NFA的等价性</vt:lpstr>
      <vt:lpstr>从NFA到DFA：子集构造法</vt:lpstr>
      <vt:lpstr>归纳法证明</vt:lpstr>
      <vt:lpstr>DFA与NFA的等价性证明</vt:lpstr>
      <vt:lpstr>DFA与NFA的等价性证明</vt:lpstr>
      <vt:lpstr>DFA与NFA的等价性证明</vt:lpstr>
      <vt:lpstr>PowerPoint 演示文稿</vt:lpstr>
      <vt:lpstr>示例</vt:lpstr>
      <vt:lpstr>示例</vt:lpstr>
      <vt:lpstr>示例</vt:lpstr>
      <vt:lpstr>示例</vt:lpstr>
      <vt:lpstr>示例</vt:lpstr>
      <vt:lpstr>PowerPoint 演示文稿</vt:lpstr>
      <vt:lpstr>示例</vt:lpstr>
      <vt:lpstr>内容大纲</vt:lpstr>
      <vt:lpstr>带有空转移的NFA(ε-NFA)</vt:lpstr>
      <vt:lpstr>ε-NFA的形式化定义</vt:lpstr>
      <vt:lpstr>ε-NFA示例</vt:lpstr>
      <vt:lpstr>ε-NFA示例</vt:lpstr>
      <vt:lpstr>ε-NFA示例</vt:lpstr>
      <vt:lpstr>ε-NFA示例</vt:lpstr>
      <vt:lpstr>状态转移表</vt:lpstr>
      <vt:lpstr>状态的ε-闭包</vt:lpstr>
      <vt:lpstr>状态的ε-闭包</vt:lpstr>
      <vt:lpstr>状态的ε-闭包</vt:lpstr>
      <vt:lpstr>状态集的ε-闭包</vt:lpstr>
      <vt:lpstr>状态的ε-闭包</vt:lpstr>
      <vt:lpstr>扩展状态转移函数</vt:lpstr>
      <vt:lpstr>扩展状态转移函数</vt:lpstr>
      <vt:lpstr>PowerPoint 演示文稿</vt:lpstr>
      <vt:lpstr>扩展转移函数</vt:lpstr>
      <vt:lpstr>ε-NFA的语言</vt:lpstr>
      <vt:lpstr>ε-NFA与DFA 等价性</vt:lpstr>
      <vt:lpstr>构造与ε-NFA等价的DFA</vt:lpstr>
      <vt:lpstr>ε-NFA与DFA 等价性</vt:lpstr>
      <vt:lpstr>PowerPoint 演示文稿</vt:lpstr>
      <vt:lpstr>构造与ε-NFA等价的DFA</vt:lpstr>
      <vt:lpstr>构造与ε-NFA等价的DFA</vt:lpstr>
      <vt:lpstr>构造与ε-NFA等价的DFA</vt:lpstr>
      <vt:lpstr>构造与ε-NFA等价的DFA</vt:lpstr>
      <vt:lpstr>内容大纲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人工神经网络  Artificial Neural Networks</dc:title>
  <dc:creator>jiangzl</dc:creator>
  <cp:lastModifiedBy>Administrator</cp:lastModifiedBy>
  <cp:revision>1193</cp:revision>
  <dcterms:created xsi:type="dcterms:W3CDTF">2003-03-23T06:01:00Z</dcterms:created>
  <dcterms:modified xsi:type="dcterms:W3CDTF">2026-03-20T00:38:14Z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AFCB24AC138F42E8AB7F52965699743F</vt:lpwstr>
  </property>
  <property fmtid="{D5CDD505-2E9C-101B-9397-08002B2CF9AE}" pid="3" name="KSOProductBuildVer">
    <vt:lpwstr>2052-11.1.0.13703</vt:lpwstr>
  </property>
</Properties>
</file>