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5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6.xml" ContentType="application/vnd.openxmlformats-officedocument.presentationml.notesSlid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7.xml" ContentType="application/vnd.openxmlformats-officedocument.presentationml.notesSlide+xml"/>
  <Override PartName="/ppt/tags/tag37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38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notesSlides/notesSlide13.xml" ContentType="application/vnd.openxmlformats-officedocument.presentationml.notesSlide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tags/tag51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tag350.xml" ContentType="application/vnd.openxmlformats-officedocument.presentationml.tags+xml"/>
  <Override PartName="/ppt/tags/tag480.xml" ContentType="application/vnd.openxmlformats-officedocument.presentationml.tags+xml"/>
  <Override PartName="/ppt/tags/tag50.xml" ContentType="application/vnd.openxmlformats-officedocument.presentationml.tags+xml"/>
  <Override PartName="/ppt/tags/tag52.xml" ContentType="application/vnd.openxmlformats-officedocument.presentationml.tags+xml"/>
  <Override PartName="/ppt/tags/tag570.xml" ContentType="application/vnd.openxmlformats-officedocument.presentationml.tag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65"/>
  </p:notesMasterIdLst>
  <p:handoutMasterIdLst>
    <p:handoutMasterId r:id="rId66"/>
  </p:handoutMasterIdLst>
  <p:sldIdLst>
    <p:sldId id="1416" r:id="rId3"/>
    <p:sldId id="1432" r:id="rId4"/>
    <p:sldId id="1421" r:id="rId5"/>
    <p:sldId id="1422" r:id="rId6"/>
    <p:sldId id="1418" r:id="rId7"/>
    <p:sldId id="1419" r:id="rId8"/>
    <p:sldId id="1310" r:id="rId9"/>
    <p:sldId id="1311" r:id="rId10"/>
    <p:sldId id="1313" r:id="rId11"/>
    <p:sldId id="1312" r:id="rId12"/>
    <p:sldId id="1314" r:id="rId13"/>
    <p:sldId id="1323" r:id="rId14"/>
    <p:sldId id="1315" r:id="rId15"/>
    <p:sldId id="1324" r:id="rId16"/>
    <p:sldId id="1426" r:id="rId17"/>
    <p:sldId id="1279" r:id="rId18"/>
    <p:sldId id="1428" r:id="rId19"/>
    <p:sldId id="1423" r:id="rId20"/>
    <p:sldId id="1354" r:id="rId21"/>
    <p:sldId id="1496" r:id="rId22"/>
    <p:sldId id="1355" r:id="rId23"/>
    <p:sldId id="1319" r:id="rId24"/>
    <p:sldId id="1381" r:id="rId25"/>
    <p:sldId id="1329" r:id="rId26"/>
    <p:sldId id="1327" r:id="rId27"/>
    <p:sldId id="1325" r:id="rId28"/>
    <p:sldId id="1420" r:id="rId29"/>
    <p:sldId id="1380" r:id="rId30"/>
    <p:sldId id="1307" r:id="rId31"/>
    <p:sldId id="1427" r:id="rId32"/>
    <p:sldId id="1357" r:id="rId33"/>
    <p:sldId id="1330" r:id="rId34"/>
    <p:sldId id="1429" r:id="rId35"/>
    <p:sldId id="1344" r:id="rId36"/>
    <p:sldId id="1335" r:id="rId37"/>
    <p:sldId id="1360" r:id="rId38"/>
    <p:sldId id="1430" r:id="rId39"/>
    <p:sldId id="1293" r:id="rId40"/>
    <p:sldId id="1294" r:id="rId41"/>
    <p:sldId id="1295" r:id="rId42"/>
    <p:sldId id="1296" r:id="rId43"/>
    <p:sldId id="1424" r:id="rId44"/>
    <p:sldId id="1436" r:id="rId45"/>
    <p:sldId id="1434" r:id="rId46"/>
    <p:sldId id="1435" r:id="rId47"/>
    <p:sldId id="1433" r:id="rId48"/>
    <p:sldId id="1362" r:id="rId49"/>
    <p:sldId id="1363" r:id="rId50"/>
    <p:sldId id="1367" r:id="rId51"/>
    <p:sldId id="1364" r:id="rId52"/>
    <p:sldId id="1377" r:id="rId53"/>
    <p:sldId id="1378" r:id="rId54"/>
    <p:sldId id="1368" r:id="rId55"/>
    <p:sldId id="1431" r:id="rId56"/>
    <p:sldId id="1369" r:id="rId57"/>
    <p:sldId id="1301" r:id="rId58"/>
    <p:sldId id="1425" r:id="rId59"/>
    <p:sldId id="1371" r:id="rId60"/>
    <p:sldId id="1348" r:id="rId61"/>
    <p:sldId id="1349" r:id="rId62"/>
    <p:sldId id="1352" r:id="rId63"/>
    <p:sldId id="1379" r:id="rId64"/>
  </p:sldIdLst>
  <p:sldSz cx="9144000" cy="6858000" type="screen4x3"/>
  <p:notesSz cx="6858000" cy="9144000"/>
  <p:custDataLst>
    <p:tags r:id="rId6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32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BFBF"/>
    <a:srgbClr val="CC0000"/>
    <a:srgbClr val="3333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91" autoAdjust="0"/>
    <p:restoredTop sz="85013" autoAdjust="0"/>
  </p:normalViewPr>
  <p:slideViewPr>
    <p:cSldViewPr showGuides="1">
      <p:cViewPr varScale="1">
        <p:scale>
          <a:sx n="64" d="100"/>
          <a:sy n="64" d="100"/>
        </p:scale>
        <p:origin x="1878" y="78"/>
      </p:cViewPr>
      <p:guideLst>
        <p:guide orient="horz" pos="2232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5" d="100"/>
          <a:sy n="65" d="100"/>
        </p:scale>
        <p:origin x="3154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presProps" Target="presProps.xml"/><Relationship Id="rId7" Type="http://schemas.openxmlformats.org/officeDocument/2006/relationships/slide" Target="slides/slide5.xml"/><Relationship Id="rId71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tags" Target="tags/tag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0D5E4C-1B4D-42B6-9104-8B16EF56A880}" type="datetimeFigureOut">
              <a:rPr lang="en-AU" smtClean="0"/>
              <a:t>23/03/2026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7ADB8B-F5CA-408B-AF8B-A3E85D1315B5}" type="slidenum">
              <a:rPr lang="en-AU" smtClean="0"/>
              <a:t>‹#›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4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76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76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6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pPr>
              <a:defRPr/>
            </a:pPr>
            <a:fld id="{B1753CD8-C123-4A94-885F-23A3E3911552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3555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zh-CN" altLang="en-US" dirty="0"/>
              <a:t>在前面我们学习三种有穷自动机，我们通过构造法证明了它们之间的等价性。（箭头可看作识别的方向，</a:t>
            </a:r>
            <a:r>
              <a:rPr lang="en-AU" altLang="zh-CN" dirty="0"/>
              <a:t>xx</a:t>
            </a:r>
            <a:r>
              <a:rPr lang="zh-CN" altLang="en-US" dirty="0"/>
              <a:t>识别</a:t>
            </a:r>
            <a:r>
              <a:rPr lang="en-US" altLang="zh-CN" dirty="0"/>
              <a:t>xx</a:t>
            </a:r>
            <a:r>
              <a:rPr lang="zh-CN" altLang="en-US" dirty="0"/>
              <a:t>所表示的语言）</a:t>
            </a:r>
            <a:endParaRPr lang="en-AU" altLang="zh-CN" dirty="0"/>
          </a:p>
          <a:p>
            <a:endParaRPr lang="en-AU" altLang="en-US" dirty="0"/>
          </a:p>
          <a:p>
            <a:endParaRPr lang="en-US" altLang="en-US" dirty="0"/>
          </a:p>
          <a:p>
            <a:r>
              <a:rPr lang="zh-CN" altLang="en-US" dirty="0"/>
              <a:t>任何一个</a:t>
            </a:r>
            <a:r>
              <a:rPr lang="en-AU" altLang="zh-CN" dirty="0"/>
              <a:t>NFA</a:t>
            </a:r>
            <a:r>
              <a:rPr lang="zh-CN" altLang="en-US" dirty="0"/>
              <a:t>都可以不使用非确定性去模拟一个</a:t>
            </a:r>
            <a:r>
              <a:rPr lang="en-AU" altLang="zh-CN" dirty="0"/>
              <a:t>DFA</a:t>
            </a:r>
            <a:r>
              <a:rPr lang="zh-CN" altLang="en-US" dirty="0"/>
              <a:t>，所以任何</a:t>
            </a:r>
            <a:r>
              <a:rPr lang="en-AU" altLang="zh-CN" dirty="0"/>
              <a:t>DFA</a:t>
            </a:r>
            <a:r>
              <a:rPr lang="zh-CN" altLang="en-US" dirty="0"/>
              <a:t>所能表示的语言都能被</a:t>
            </a:r>
            <a:r>
              <a:rPr lang="en-US" altLang="zh-CN" dirty="0"/>
              <a:t>NFA</a:t>
            </a:r>
            <a:r>
              <a:rPr lang="zh-CN" altLang="en-US" dirty="0"/>
              <a:t>所表示。</a:t>
            </a:r>
            <a:endParaRPr lang="en-AU" altLang="zh-CN" dirty="0"/>
          </a:p>
          <a:p>
            <a:endParaRPr lang="en-US" altLang="en-US" dirty="0"/>
          </a:p>
          <a:p>
            <a:r>
              <a:rPr lang="zh-CN" altLang="en-US" dirty="0"/>
              <a:t>任何</a:t>
            </a:r>
            <a:r>
              <a:rPr lang="en-AU" altLang="zh-CN" dirty="0"/>
              <a:t>NFA</a:t>
            </a:r>
            <a:r>
              <a:rPr lang="zh-CN" altLang="en-US" dirty="0"/>
              <a:t>表示的语言，都可以通过子集构造法构造一个等价的</a:t>
            </a:r>
            <a:r>
              <a:rPr lang="en-AU" altLang="zh-CN" dirty="0"/>
              <a:t>DFA, </a:t>
            </a:r>
            <a:r>
              <a:rPr lang="zh-CN" altLang="en-US" dirty="0"/>
              <a:t>所以其语言可以被一个</a:t>
            </a:r>
            <a:r>
              <a:rPr lang="en-AU" altLang="zh-CN" dirty="0"/>
              <a:t>DFA</a:t>
            </a:r>
            <a:r>
              <a:rPr lang="zh-CN" altLang="en-US" dirty="0"/>
              <a:t>表示识别。</a:t>
            </a:r>
            <a:endParaRPr lang="en-AU" altLang="zh-CN" dirty="0"/>
          </a:p>
          <a:p>
            <a:endParaRPr lang="en-AU" altLang="zh-CN" dirty="0"/>
          </a:p>
          <a:p>
            <a:endParaRPr lang="en-AU" altLang="zh-CN" dirty="0"/>
          </a:p>
          <a:p>
            <a:r>
              <a:rPr lang="zh-CN" altLang="en-US" dirty="0"/>
              <a:t>类似的，</a:t>
            </a:r>
            <a:endParaRPr lang="en-AU" altLang="zh-CN" dirty="0"/>
          </a:p>
          <a:p>
            <a:endParaRPr lang="en-AU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AU" altLang="zh-CN" dirty="0"/>
              <a:t>Epsilon-NFA</a:t>
            </a:r>
            <a:r>
              <a:rPr lang="zh-CN" altLang="en-US" dirty="0"/>
              <a:t>可以不使用非确定性、空转移去模拟任何一个</a:t>
            </a:r>
            <a:r>
              <a:rPr lang="en-AU" altLang="zh-CN" dirty="0"/>
              <a:t>DFA</a:t>
            </a:r>
            <a:r>
              <a:rPr lang="zh-CN" altLang="en-US" dirty="0"/>
              <a:t>，所以任何</a:t>
            </a:r>
            <a:r>
              <a:rPr lang="en-AU" altLang="zh-CN" dirty="0"/>
              <a:t>DFA</a:t>
            </a:r>
            <a:r>
              <a:rPr lang="zh-CN" altLang="en-US" dirty="0"/>
              <a:t>所能表示的语言都能被</a:t>
            </a:r>
            <a:r>
              <a:rPr lang="en-AU" altLang="zh-CN" dirty="0"/>
              <a:t>epsilon-</a:t>
            </a:r>
            <a:r>
              <a:rPr lang="en-US" altLang="zh-CN" dirty="0"/>
              <a:t>NFA</a:t>
            </a:r>
            <a:r>
              <a:rPr lang="zh-CN" altLang="en-US" dirty="0"/>
              <a:t>所表示。</a:t>
            </a:r>
            <a:endParaRPr lang="en-AU" altLang="zh-CN" dirty="0"/>
          </a:p>
          <a:p>
            <a:endParaRPr lang="en-AU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任何</a:t>
            </a:r>
            <a:r>
              <a:rPr lang="en-AU" altLang="zh-CN" dirty="0"/>
              <a:t>epsilon-NFA</a:t>
            </a:r>
            <a:r>
              <a:rPr lang="zh-CN" altLang="en-US" dirty="0"/>
              <a:t>表示的语言，都可以通过子集构造法构造一个等价的</a:t>
            </a:r>
            <a:r>
              <a:rPr lang="en-AU" altLang="zh-CN" dirty="0"/>
              <a:t>DFA, </a:t>
            </a:r>
            <a:r>
              <a:rPr lang="zh-CN" altLang="en-US" dirty="0"/>
              <a:t>所以其语言可以被一个</a:t>
            </a:r>
            <a:r>
              <a:rPr lang="en-AU" altLang="zh-CN" dirty="0"/>
              <a:t>DFA</a:t>
            </a:r>
            <a:r>
              <a:rPr lang="zh-CN" altLang="en-US" dirty="0"/>
              <a:t>表示识别。</a:t>
            </a:r>
            <a:endParaRPr lang="en-AU" altLang="zh-CN" dirty="0"/>
          </a:p>
          <a:p>
            <a:endParaRPr lang="en-AU" altLang="zh-CN" dirty="0"/>
          </a:p>
          <a:p>
            <a:endParaRPr lang="en-AU" altLang="zh-CN" dirty="0"/>
          </a:p>
          <a:p>
            <a:endParaRPr lang="en-AU" altLang="zh-CN" dirty="0"/>
          </a:p>
          <a:p>
            <a:endParaRPr lang="en-AU" altLang="zh-CN" dirty="0"/>
          </a:p>
          <a:p>
            <a:endParaRPr lang="en-AU" altLang="zh-CN" dirty="0"/>
          </a:p>
          <a:p>
            <a:endParaRPr lang="en-AU" altLang="zh-CN" dirty="0"/>
          </a:p>
          <a:p>
            <a:endParaRPr lang="en-AU" altLang="zh-CN" dirty="0"/>
          </a:p>
          <a:p>
            <a:endParaRPr lang="en-AU" altLang="en-US" dirty="0"/>
          </a:p>
          <a:p>
            <a:endParaRPr lang="en-US" altLang="en-US" dirty="0"/>
          </a:p>
        </p:txBody>
      </p:sp>
      <p:sp>
        <p:nvSpPr>
          <p:cNvPr id="2355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F5659BAE-FAC2-497E-A16D-03D4340F02AB}" type="slidenum">
              <a:rPr kumimoji="0" lang="en-US" altLang="zh-CN" smtClean="0"/>
              <a:t>2</a:t>
            </a:fld>
            <a:endParaRPr kumimoji="0"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我们先来看下语言的运算。</a:t>
            </a:r>
            <a:endParaRPr lang="en-AU" altLang="zh-CN" dirty="0"/>
          </a:p>
          <a:p>
            <a:endParaRPr lang="en-AU" dirty="0"/>
          </a:p>
          <a:p>
            <a:r>
              <a:rPr lang="zh-CN" altLang="en-US" dirty="0"/>
              <a:t>其实语言就是一个字符串的集合。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1753CD8-C123-4A94-885F-23A3E3911552}" type="slidenum">
              <a:rPr lang="en-US" altLang="zh-CN" smtClean="0"/>
              <a:t>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在给出正则表达式的形式定义，我们先来看下我们所熟悉的四则运算的递归定义。</a:t>
            </a:r>
            <a:endParaRPr lang="en-AU" altLang="zh-CN" dirty="0"/>
          </a:p>
          <a:p>
            <a:endParaRPr lang="en-AU" dirty="0"/>
          </a:p>
          <a:p>
            <a:r>
              <a:rPr lang="zh-CN" altLang="en-US" dirty="0"/>
              <a:t>首先，任何数都可以看作是四则运算表达式。</a:t>
            </a:r>
            <a:endParaRPr lang="en-AU" altLang="zh-CN" dirty="0"/>
          </a:p>
          <a:p>
            <a:endParaRPr lang="en-AU" dirty="0"/>
          </a:p>
          <a:p>
            <a:r>
              <a:rPr lang="zh-CN" altLang="en-US" dirty="0"/>
              <a:t>如果</a:t>
            </a:r>
            <a:r>
              <a:rPr lang="en-AU" altLang="zh-CN" dirty="0"/>
              <a:t>a</a:t>
            </a:r>
            <a:r>
              <a:rPr lang="zh-CN" altLang="en-US" dirty="0"/>
              <a:t>和</a:t>
            </a:r>
            <a:r>
              <a:rPr lang="en-US" altLang="zh-CN" dirty="0"/>
              <a:t>b</a:t>
            </a:r>
            <a:r>
              <a:rPr lang="zh-CN" altLang="en-US" dirty="0"/>
              <a:t>是四则运算表达式，那么</a:t>
            </a:r>
            <a:r>
              <a:rPr lang="en-US" altLang="zh-CN" dirty="0"/>
              <a:t>xxx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1753CD8-C123-4A94-885F-23A3E3911552}" type="slidenum">
              <a:rPr lang="en-US" altLang="zh-CN" smtClean="0"/>
              <a:t>10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正则表达式的三种运算：“加”（</a:t>
            </a:r>
            <a:r>
              <a:rPr lang="en-US" altLang="zh-CN" dirty="0"/>
              <a:t>+</a:t>
            </a:r>
            <a:r>
              <a:rPr lang="zh-CN" altLang="en-US" dirty="0"/>
              <a:t>），“连接”（</a:t>
            </a:r>
            <a:r>
              <a:rPr lang="en-US" altLang="zh-CN" dirty="0"/>
              <a:t>.</a:t>
            </a:r>
            <a:r>
              <a:rPr lang="zh-CN" altLang="en-US" dirty="0"/>
              <a:t>一般省略）和“星”（*）</a:t>
            </a:r>
            <a:endParaRPr lang="en-US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1753CD8-C123-4A94-885F-23A3E3911552}" type="slidenum">
              <a:rPr lang="en-US" altLang="zh-CN" smtClean="0"/>
              <a:t>13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1507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  <p:sp>
        <p:nvSpPr>
          <p:cNvPr id="21508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85601DD0-070D-4565-A60A-BE11C85BC43B}" type="slidenum">
              <a:rPr kumimoji="0" lang="en-US" altLang="zh-CN" smtClean="0"/>
              <a:t>16</a:t>
            </a:fld>
            <a:endParaRPr kumimoji="0"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3555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zh-CN" altLang="en-US" dirty="0"/>
              <a:t>在前面我们学习三种有穷自动机，我们通过构造法证明了它们之间的等价性。（箭头可看作识别的方向，</a:t>
            </a:r>
            <a:r>
              <a:rPr lang="en-AU" altLang="zh-CN" dirty="0"/>
              <a:t>xx</a:t>
            </a:r>
            <a:r>
              <a:rPr lang="zh-CN" altLang="en-US" dirty="0"/>
              <a:t>识别</a:t>
            </a:r>
            <a:r>
              <a:rPr lang="en-US" altLang="zh-CN" dirty="0"/>
              <a:t>xx</a:t>
            </a:r>
            <a:r>
              <a:rPr lang="zh-CN" altLang="en-US" dirty="0"/>
              <a:t>所表示的语言）</a:t>
            </a:r>
            <a:endParaRPr lang="en-AU" altLang="zh-CN" dirty="0"/>
          </a:p>
          <a:p>
            <a:endParaRPr lang="en-AU" altLang="en-US" dirty="0"/>
          </a:p>
          <a:p>
            <a:endParaRPr lang="en-US" altLang="en-US" dirty="0"/>
          </a:p>
          <a:p>
            <a:r>
              <a:rPr lang="zh-CN" altLang="en-US" dirty="0"/>
              <a:t>任何一个</a:t>
            </a:r>
            <a:r>
              <a:rPr lang="en-AU" altLang="zh-CN" dirty="0"/>
              <a:t>NFA</a:t>
            </a:r>
            <a:r>
              <a:rPr lang="zh-CN" altLang="en-US" dirty="0"/>
              <a:t>都可以不使用非确定性去模拟一个</a:t>
            </a:r>
            <a:r>
              <a:rPr lang="en-AU" altLang="zh-CN" dirty="0"/>
              <a:t>DFA</a:t>
            </a:r>
            <a:r>
              <a:rPr lang="zh-CN" altLang="en-US" dirty="0"/>
              <a:t>，所以任何</a:t>
            </a:r>
            <a:r>
              <a:rPr lang="en-AU" altLang="zh-CN" dirty="0"/>
              <a:t>DFA</a:t>
            </a:r>
            <a:r>
              <a:rPr lang="zh-CN" altLang="en-US" dirty="0"/>
              <a:t>所能表示的语言都能被</a:t>
            </a:r>
            <a:r>
              <a:rPr lang="en-US" altLang="zh-CN" dirty="0"/>
              <a:t>NFA</a:t>
            </a:r>
            <a:r>
              <a:rPr lang="zh-CN" altLang="en-US" dirty="0"/>
              <a:t>所表示。</a:t>
            </a:r>
            <a:endParaRPr lang="en-AU" altLang="zh-CN" dirty="0"/>
          </a:p>
          <a:p>
            <a:endParaRPr lang="en-US" altLang="en-US" dirty="0"/>
          </a:p>
          <a:p>
            <a:r>
              <a:rPr lang="zh-CN" altLang="en-US" dirty="0"/>
              <a:t>任何</a:t>
            </a:r>
            <a:r>
              <a:rPr lang="en-AU" altLang="zh-CN" dirty="0"/>
              <a:t>NFA</a:t>
            </a:r>
            <a:r>
              <a:rPr lang="zh-CN" altLang="en-US" dirty="0"/>
              <a:t>表示的语言，都可以通过子集构造法构造一个等价的</a:t>
            </a:r>
            <a:r>
              <a:rPr lang="en-AU" altLang="zh-CN" dirty="0"/>
              <a:t>DFA, </a:t>
            </a:r>
            <a:r>
              <a:rPr lang="zh-CN" altLang="en-US" dirty="0"/>
              <a:t>所以其语言可以被一个</a:t>
            </a:r>
            <a:r>
              <a:rPr lang="en-AU" altLang="zh-CN" dirty="0"/>
              <a:t>DFA</a:t>
            </a:r>
            <a:r>
              <a:rPr lang="zh-CN" altLang="en-US" dirty="0"/>
              <a:t>表示识别。</a:t>
            </a:r>
            <a:endParaRPr lang="en-AU" altLang="zh-CN" dirty="0"/>
          </a:p>
          <a:p>
            <a:endParaRPr lang="en-AU" altLang="zh-CN" dirty="0"/>
          </a:p>
          <a:p>
            <a:endParaRPr lang="en-AU" altLang="zh-CN" dirty="0"/>
          </a:p>
          <a:p>
            <a:r>
              <a:rPr lang="zh-CN" altLang="en-US" dirty="0"/>
              <a:t>类似的，</a:t>
            </a:r>
            <a:endParaRPr lang="en-AU" altLang="zh-CN" dirty="0"/>
          </a:p>
          <a:p>
            <a:endParaRPr lang="en-AU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AU" altLang="zh-CN" dirty="0"/>
              <a:t>Epsilon-NFA</a:t>
            </a:r>
            <a:r>
              <a:rPr lang="zh-CN" altLang="en-US" dirty="0"/>
              <a:t>可以不使用非确定性、空转移去模拟任何一个</a:t>
            </a:r>
            <a:r>
              <a:rPr lang="en-AU" altLang="zh-CN" dirty="0"/>
              <a:t>DFA</a:t>
            </a:r>
            <a:r>
              <a:rPr lang="zh-CN" altLang="en-US" dirty="0"/>
              <a:t>，所以任何</a:t>
            </a:r>
            <a:r>
              <a:rPr lang="en-AU" altLang="zh-CN" dirty="0"/>
              <a:t>DFA</a:t>
            </a:r>
            <a:r>
              <a:rPr lang="zh-CN" altLang="en-US" dirty="0"/>
              <a:t>所能表示的语言都能被</a:t>
            </a:r>
            <a:r>
              <a:rPr lang="en-AU" altLang="zh-CN" dirty="0"/>
              <a:t>epsilon-</a:t>
            </a:r>
            <a:r>
              <a:rPr lang="en-US" altLang="zh-CN" dirty="0"/>
              <a:t>NFA</a:t>
            </a:r>
            <a:r>
              <a:rPr lang="zh-CN" altLang="en-US" dirty="0"/>
              <a:t>所表示。</a:t>
            </a:r>
            <a:endParaRPr lang="en-AU" altLang="zh-CN" dirty="0"/>
          </a:p>
          <a:p>
            <a:endParaRPr lang="en-AU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任何</a:t>
            </a:r>
            <a:r>
              <a:rPr lang="en-AU" altLang="zh-CN" dirty="0"/>
              <a:t>epsilon-NFA</a:t>
            </a:r>
            <a:r>
              <a:rPr lang="zh-CN" altLang="en-US" dirty="0"/>
              <a:t>表示的语言，都可以通过子集构造法构造一个等价的</a:t>
            </a:r>
            <a:r>
              <a:rPr lang="en-AU" altLang="zh-CN" dirty="0"/>
              <a:t>DFA, </a:t>
            </a:r>
            <a:r>
              <a:rPr lang="zh-CN" altLang="en-US" dirty="0"/>
              <a:t>所以其语言可以被一个</a:t>
            </a:r>
            <a:r>
              <a:rPr lang="en-AU" altLang="zh-CN" dirty="0"/>
              <a:t>DFA</a:t>
            </a:r>
            <a:r>
              <a:rPr lang="zh-CN" altLang="en-US" dirty="0"/>
              <a:t>表示识别。</a:t>
            </a:r>
            <a:endParaRPr lang="en-AU" altLang="zh-CN" dirty="0"/>
          </a:p>
          <a:p>
            <a:endParaRPr lang="en-AU" altLang="zh-CN" dirty="0"/>
          </a:p>
          <a:p>
            <a:endParaRPr lang="en-AU" altLang="zh-CN" dirty="0"/>
          </a:p>
          <a:p>
            <a:endParaRPr lang="en-AU" altLang="zh-CN" dirty="0"/>
          </a:p>
          <a:p>
            <a:endParaRPr lang="en-AU" altLang="zh-CN" dirty="0"/>
          </a:p>
          <a:p>
            <a:endParaRPr lang="en-AU" altLang="zh-CN" dirty="0"/>
          </a:p>
          <a:p>
            <a:endParaRPr lang="en-AU" altLang="zh-CN" dirty="0"/>
          </a:p>
          <a:p>
            <a:endParaRPr lang="en-AU" altLang="zh-CN" dirty="0"/>
          </a:p>
          <a:p>
            <a:endParaRPr lang="en-AU" altLang="en-US" dirty="0"/>
          </a:p>
          <a:p>
            <a:endParaRPr lang="en-US" altLang="en-US" dirty="0"/>
          </a:p>
        </p:txBody>
      </p:sp>
      <p:sp>
        <p:nvSpPr>
          <p:cNvPr id="2355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F5659BAE-FAC2-497E-A16D-03D4340F02AB}" type="slidenum">
              <a:rPr kumimoji="0" lang="en-US" altLang="zh-CN" smtClean="0"/>
              <a:t>19</a:t>
            </a:fld>
            <a:endParaRPr kumimoji="0"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3555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zh-CN" altLang="en-US" dirty="0"/>
              <a:t>在前面我们学习三种有穷自动机，我们通过构造法证明了它们之间的等价性。（箭头可看作识别的方向，</a:t>
            </a:r>
            <a:r>
              <a:rPr lang="en-AU" altLang="zh-CN" dirty="0"/>
              <a:t>xx</a:t>
            </a:r>
            <a:r>
              <a:rPr lang="zh-CN" altLang="en-US" dirty="0"/>
              <a:t>识别</a:t>
            </a:r>
            <a:r>
              <a:rPr lang="en-US" altLang="zh-CN" dirty="0"/>
              <a:t>xx</a:t>
            </a:r>
            <a:r>
              <a:rPr lang="zh-CN" altLang="en-US" dirty="0"/>
              <a:t>所表示的语言）</a:t>
            </a:r>
            <a:endParaRPr lang="en-AU" altLang="zh-CN" dirty="0"/>
          </a:p>
          <a:p>
            <a:endParaRPr lang="en-AU" altLang="en-US" dirty="0"/>
          </a:p>
          <a:p>
            <a:endParaRPr lang="en-US" altLang="en-US" dirty="0"/>
          </a:p>
          <a:p>
            <a:r>
              <a:rPr lang="zh-CN" altLang="en-US" dirty="0"/>
              <a:t>任何一个</a:t>
            </a:r>
            <a:r>
              <a:rPr lang="en-AU" altLang="zh-CN" dirty="0"/>
              <a:t>NFA</a:t>
            </a:r>
            <a:r>
              <a:rPr lang="zh-CN" altLang="en-US" dirty="0"/>
              <a:t>都可以不使用非确定性去模拟一个</a:t>
            </a:r>
            <a:r>
              <a:rPr lang="en-AU" altLang="zh-CN" dirty="0"/>
              <a:t>DFA</a:t>
            </a:r>
            <a:r>
              <a:rPr lang="zh-CN" altLang="en-US" dirty="0"/>
              <a:t>，所以任何</a:t>
            </a:r>
            <a:r>
              <a:rPr lang="en-AU" altLang="zh-CN" dirty="0"/>
              <a:t>DFA</a:t>
            </a:r>
            <a:r>
              <a:rPr lang="zh-CN" altLang="en-US" dirty="0"/>
              <a:t>所能表示的语言都能被</a:t>
            </a:r>
            <a:r>
              <a:rPr lang="en-US" altLang="zh-CN" dirty="0"/>
              <a:t>NFA</a:t>
            </a:r>
            <a:r>
              <a:rPr lang="zh-CN" altLang="en-US" dirty="0"/>
              <a:t>所表示。</a:t>
            </a:r>
            <a:endParaRPr lang="en-AU" altLang="zh-CN" dirty="0"/>
          </a:p>
          <a:p>
            <a:endParaRPr lang="en-US" altLang="en-US" dirty="0"/>
          </a:p>
          <a:p>
            <a:r>
              <a:rPr lang="zh-CN" altLang="en-US" dirty="0"/>
              <a:t>任何</a:t>
            </a:r>
            <a:r>
              <a:rPr lang="en-AU" altLang="zh-CN" dirty="0"/>
              <a:t>NFA</a:t>
            </a:r>
            <a:r>
              <a:rPr lang="zh-CN" altLang="en-US" dirty="0"/>
              <a:t>表示的语言，都可以通过子集构造法构造一个等价的</a:t>
            </a:r>
            <a:r>
              <a:rPr lang="en-AU" altLang="zh-CN" dirty="0"/>
              <a:t>DFA, </a:t>
            </a:r>
            <a:r>
              <a:rPr lang="zh-CN" altLang="en-US" dirty="0"/>
              <a:t>所以其语言可以被一个</a:t>
            </a:r>
            <a:r>
              <a:rPr lang="en-AU" altLang="zh-CN" dirty="0"/>
              <a:t>DFA</a:t>
            </a:r>
            <a:r>
              <a:rPr lang="zh-CN" altLang="en-US" dirty="0"/>
              <a:t>表示识别。</a:t>
            </a:r>
            <a:endParaRPr lang="en-AU" altLang="zh-CN" dirty="0"/>
          </a:p>
          <a:p>
            <a:endParaRPr lang="en-AU" altLang="zh-CN" dirty="0"/>
          </a:p>
          <a:p>
            <a:endParaRPr lang="en-AU" altLang="zh-CN" dirty="0"/>
          </a:p>
          <a:p>
            <a:r>
              <a:rPr lang="zh-CN" altLang="en-US" dirty="0"/>
              <a:t>类似的，</a:t>
            </a:r>
            <a:endParaRPr lang="en-AU" altLang="zh-CN" dirty="0"/>
          </a:p>
          <a:p>
            <a:endParaRPr lang="en-AU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AU" altLang="zh-CN" dirty="0"/>
              <a:t>Epsilon-NFA</a:t>
            </a:r>
            <a:r>
              <a:rPr lang="zh-CN" altLang="en-US" dirty="0"/>
              <a:t>可以不使用非确定性、空转移去模拟任何一个</a:t>
            </a:r>
            <a:r>
              <a:rPr lang="en-AU" altLang="zh-CN" dirty="0"/>
              <a:t>DFA</a:t>
            </a:r>
            <a:r>
              <a:rPr lang="zh-CN" altLang="en-US" dirty="0"/>
              <a:t>，所以任何</a:t>
            </a:r>
            <a:r>
              <a:rPr lang="en-AU" altLang="zh-CN" dirty="0"/>
              <a:t>DFA</a:t>
            </a:r>
            <a:r>
              <a:rPr lang="zh-CN" altLang="en-US" dirty="0"/>
              <a:t>所能表示的语言都能被</a:t>
            </a:r>
            <a:r>
              <a:rPr lang="en-AU" altLang="zh-CN" dirty="0"/>
              <a:t>epsilon-</a:t>
            </a:r>
            <a:r>
              <a:rPr lang="en-US" altLang="zh-CN" dirty="0"/>
              <a:t>NFA</a:t>
            </a:r>
            <a:r>
              <a:rPr lang="zh-CN" altLang="en-US" dirty="0"/>
              <a:t>所表示。</a:t>
            </a:r>
            <a:endParaRPr lang="en-AU" altLang="zh-CN" dirty="0"/>
          </a:p>
          <a:p>
            <a:endParaRPr lang="en-AU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任何</a:t>
            </a:r>
            <a:r>
              <a:rPr lang="en-AU" altLang="zh-CN" dirty="0"/>
              <a:t>epsilon-NFA</a:t>
            </a:r>
            <a:r>
              <a:rPr lang="zh-CN" altLang="en-US" dirty="0"/>
              <a:t>表示的语言，都可以通过子集构造法构造一个等价的</a:t>
            </a:r>
            <a:r>
              <a:rPr lang="en-AU" altLang="zh-CN" dirty="0"/>
              <a:t>DFA, </a:t>
            </a:r>
            <a:r>
              <a:rPr lang="zh-CN" altLang="en-US" dirty="0"/>
              <a:t>所以其语言可以被一个</a:t>
            </a:r>
            <a:r>
              <a:rPr lang="en-AU" altLang="zh-CN" dirty="0"/>
              <a:t>DFA</a:t>
            </a:r>
            <a:r>
              <a:rPr lang="zh-CN" altLang="en-US" dirty="0"/>
              <a:t>表示识别。</a:t>
            </a:r>
            <a:endParaRPr lang="en-AU" altLang="zh-CN" dirty="0"/>
          </a:p>
          <a:p>
            <a:endParaRPr lang="en-AU" altLang="zh-CN" dirty="0"/>
          </a:p>
          <a:p>
            <a:endParaRPr lang="en-AU" altLang="zh-CN" dirty="0"/>
          </a:p>
          <a:p>
            <a:endParaRPr lang="en-AU" altLang="zh-CN" dirty="0"/>
          </a:p>
          <a:p>
            <a:endParaRPr lang="en-AU" altLang="zh-CN" dirty="0"/>
          </a:p>
          <a:p>
            <a:endParaRPr lang="en-AU" altLang="zh-CN" dirty="0"/>
          </a:p>
          <a:p>
            <a:endParaRPr lang="en-AU" altLang="zh-CN" dirty="0"/>
          </a:p>
          <a:p>
            <a:endParaRPr lang="en-AU" altLang="zh-CN" dirty="0"/>
          </a:p>
          <a:p>
            <a:endParaRPr lang="en-AU" altLang="en-US" dirty="0"/>
          </a:p>
          <a:p>
            <a:endParaRPr lang="en-US" altLang="en-US" dirty="0"/>
          </a:p>
        </p:txBody>
      </p:sp>
      <p:sp>
        <p:nvSpPr>
          <p:cNvPr id="2355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F5659BAE-FAC2-497E-A16D-03D4340F02AB}" type="slidenum">
              <a:rPr kumimoji="0" lang="en-US" altLang="zh-CN" smtClean="0"/>
              <a:t>20</a:t>
            </a:fld>
            <a:endParaRPr kumimoji="0"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delta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1753CD8-C123-4A94-885F-23A3E3911552}" type="slidenum">
              <a:rPr lang="en-US" altLang="zh-CN" smtClean="0"/>
              <a:t>22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i</a:t>
            </a:r>
            <a:r>
              <a:rPr lang="zh-CN" altLang="en-US" dirty="0"/>
              <a:t>等于</a:t>
            </a:r>
            <a:r>
              <a:rPr lang="en-US" altLang="zh-CN" dirty="0"/>
              <a:t>j</a:t>
            </a:r>
            <a:r>
              <a:rPr lang="zh-CN" altLang="en-US" dirty="0"/>
              <a:t>时，如果状态</a:t>
            </a:r>
            <a:r>
              <a:rPr lang="en-AU" altLang="zh-CN" dirty="0" err="1"/>
              <a:t>i</a:t>
            </a:r>
            <a:r>
              <a:rPr lang="zh-CN" altLang="en-US" dirty="0"/>
              <a:t>有到自身的转移，则正则表达式</a:t>
            </a:r>
            <a:r>
              <a:rPr lang="en-AU" altLang="zh-CN" dirty="0"/>
              <a:t>R</a:t>
            </a:r>
            <a:r>
              <a:rPr lang="zh-CN" altLang="en-US" dirty="0"/>
              <a:t>为由符号</a:t>
            </a:r>
            <a:r>
              <a:rPr lang="en-AU" altLang="zh-CN" dirty="0"/>
              <a:t>a</a:t>
            </a:r>
            <a:r>
              <a:rPr lang="zh-CN" altLang="en-US" dirty="0"/>
              <a:t>构成</a:t>
            </a:r>
            <a:endParaRPr lang="en-AU" altLang="zh-CN" dirty="0"/>
          </a:p>
          <a:p>
            <a:endParaRPr lang="en-AU" dirty="0"/>
          </a:p>
          <a:p>
            <a:r>
              <a:rPr lang="zh-CN" altLang="en-US" dirty="0"/>
              <a:t>如果没有到时自身的状态转移，则是个空串。</a:t>
            </a:r>
            <a:endParaRPr lang="en-AU" altLang="zh-CN" dirty="0"/>
          </a:p>
          <a:p>
            <a:endParaRPr lang="en-AU" dirty="0"/>
          </a:p>
          <a:p>
            <a:r>
              <a:rPr lang="zh-CN" altLang="en-US" dirty="0"/>
              <a:t>这里的</a:t>
            </a:r>
            <a:r>
              <a:rPr lang="en-AU" altLang="zh-CN" dirty="0" err="1"/>
              <a:t>epsilo</a:t>
            </a:r>
            <a:r>
              <a:rPr lang="en-US" altLang="zh-CN" dirty="0"/>
              <a:t>n</a:t>
            </a:r>
            <a:r>
              <a:rPr lang="zh-CN" altLang="en-US" dirty="0"/>
              <a:t>是表示正则表达式。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1753CD8-C123-4A94-885F-23A3E3911552}" type="slidenum">
              <a:rPr lang="en-US" altLang="zh-CN" smtClean="0"/>
              <a:t>23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i</a:t>
            </a:r>
            <a:r>
              <a:rPr lang="zh-CN" altLang="en-US" dirty="0"/>
              <a:t>等于</a:t>
            </a:r>
            <a:r>
              <a:rPr lang="en-US" altLang="zh-CN" dirty="0"/>
              <a:t>j</a:t>
            </a:r>
            <a:r>
              <a:rPr lang="zh-CN" altLang="en-US" dirty="0"/>
              <a:t>时，如果状态</a:t>
            </a:r>
            <a:r>
              <a:rPr lang="en-AU" altLang="zh-CN" dirty="0" err="1"/>
              <a:t>i</a:t>
            </a:r>
            <a:r>
              <a:rPr lang="zh-CN" altLang="en-US" dirty="0"/>
              <a:t>有到自身的转移，则正则表达式</a:t>
            </a:r>
            <a:r>
              <a:rPr lang="en-AU" altLang="zh-CN" dirty="0"/>
              <a:t>R</a:t>
            </a:r>
            <a:r>
              <a:rPr lang="zh-CN" altLang="en-US" dirty="0"/>
              <a:t>为由符号</a:t>
            </a:r>
            <a:r>
              <a:rPr lang="en-AU" altLang="zh-CN" dirty="0"/>
              <a:t>a</a:t>
            </a:r>
            <a:r>
              <a:rPr lang="zh-CN" altLang="en-US" dirty="0"/>
              <a:t>构成</a:t>
            </a:r>
            <a:r>
              <a:rPr lang="en-AU" altLang="zh-CN" dirty="0"/>
              <a:t>, </a:t>
            </a:r>
            <a:r>
              <a:rPr lang="zh-CN" altLang="en-US"/>
              <a:t>加上空串。</a:t>
            </a:r>
            <a:endParaRPr lang="en-AU" altLang="zh-CN" dirty="0"/>
          </a:p>
          <a:p>
            <a:endParaRPr lang="en-AU" dirty="0"/>
          </a:p>
          <a:p>
            <a:r>
              <a:rPr lang="zh-CN" altLang="en-US" dirty="0"/>
              <a:t>如果没有到时自身的状态转移，则是个空串。</a:t>
            </a:r>
            <a:endParaRPr lang="en-AU" altLang="zh-CN" dirty="0"/>
          </a:p>
          <a:p>
            <a:endParaRPr lang="en-AU" dirty="0"/>
          </a:p>
          <a:p>
            <a:r>
              <a:rPr lang="zh-CN" altLang="en-US" dirty="0"/>
              <a:t>这里的</a:t>
            </a:r>
            <a:r>
              <a:rPr lang="en-AU" altLang="zh-CN" dirty="0" err="1"/>
              <a:t>epsilo</a:t>
            </a:r>
            <a:r>
              <a:rPr lang="en-US" altLang="zh-CN" dirty="0"/>
              <a:t>n</a:t>
            </a:r>
            <a:r>
              <a:rPr lang="zh-CN" altLang="en-US" dirty="0"/>
              <a:t>是表示正则表达式。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1753CD8-C123-4A94-885F-23A3E3911552}" type="slidenum">
              <a:rPr lang="en-US" altLang="zh-CN" smtClean="0"/>
              <a:t>24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6627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n-US"/>
              <a:t>“=&gt;”</a:t>
            </a:r>
            <a:r>
              <a:rPr lang="zh-CN" altLang="en-US"/>
              <a:t>表示转换成</a:t>
            </a:r>
            <a:endParaRPr lang="en-US" altLang="en-US"/>
          </a:p>
        </p:txBody>
      </p:sp>
      <p:sp>
        <p:nvSpPr>
          <p:cNvPr id="26628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5843A86A-B04A-48C8-B750-E8D50FA21A44}" type="slidenum">
              <a:rPr kumimoji="0" lang="en-US" altLang="zh-CN" smtClean="0"/>
              <a:t>27</a:t>
            </a:fld>
            <a:endParaRPr kumimoji="0" lang="en-US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3555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dirty="0"/>
          </a:p>
        </p:txBody>
      </p:sp>
      <p:sp>
        <p:nvSpPr>
          <p:cNvPr id="2355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F5659BAE-FAC2-497E-A16D-03D4340F02AB}" type="slidenum">
              <a:rPr kumimoji="0" lang="en-US" altLang="zh-CN" smtClean="0"/>
              <a:t>29</a:t>
            </a:fld>
            <a:endParaRPr kumimoji="0" lang="en-US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765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zh-CN" altLang="en-US" dirty="0"/>
              <a:t>由于</a:t>
            </a:r>
            <a:r>
              <a:rPr lang="en-US" altLang="zh-CN" dirty="0"/>
              <a:t>1</a:t>
            </a:r>
            <a:r>
              <a:rPr lang="zh-CN" altLang="en-US" dirty="0"/>
              <a:t>是开始状态，</a:t>
            </a:r>
            <a:r>
              <a:rPr lang="en-US" altLang="zh-CN" dirty="0"/>
              <a:t>2</a:t>
            </a:r>
            <a:r>
              <a:rPr lang="zh-CN" altLang="en-US" dirty="0"/>
              <a:t>是唯一的接受状态，结点个数是</a:t>
            </a:r>
            <a:r>
              <a:rPr lang="en-US" altLang="zh-CN" dirty="0"/>
              <a:t>2</a:t>
            </a:r>
            <a:r>
              <a:rPr lang="zh-CN" altLang="en-US" dirty="0"/>
              <a:t>，所以</a:t>
            </a:r>
            <a:r>
              <a:rPr lang="en-US" altLang="zh-CN" dirty="0"/>
              <a:t>DFA </a:t>
            </a:r>
            <a:r>
              <a:rPr lang="zh-CN" altLang="en-US" dirty="0"/>
              <a:t>的正则表达式只需要</a:t>
            </a:r>
            <a:r>
              <a:rPr lang="en-US" altLang="zh-CN" b="1" dirty="0">
                <a:solidFill>
                  <a:srgbClr val="3333FF"/>
                </a:solidFill>
                <a:latin typeface="Cambria Math" panose="02040503050406030204" pitchFamily="18" charset="0"/>
                <a:ea typeface="黑体" panose="02010609060101010101" pitchFamily="49" charset="-122"/>
              </a:rPr>
              <a:t>𝑹</a:t>
            </a:r>
            <a:r>
              <a:rPr lang="en-US" altLang="zh-CN" b="1" baseline="30000" dirty="0">
                <a:solidFill>
                  <a:srgbClr val="3333FF"/>
                </a:solidFill>
                <a:latin typeface="Cambria Math" panose="02040503050406030204" pitchFamily="18" charset="0"/>
                <a:ea typeface="黑体" panose="02010609060101010101" pitchFamily="49" charset="-122"/>
              </a:rPr>
              <a:t>(𝟐)</a:t>
            </a:r>
            <a:r>
              <a:rPr lang="en-US" altLang="zh-CN" b="1" baseline="-25000" dirty="0">
                <a:solidFill>
                  <a:srgbClr val="3333FF"/>
                </a:solidFill>
                <a:latin typeface="Cambria Math" panose="02040503050406030204" pitchFamily="18" charset="0"/>
                <a:ea typeface="黑体" panose="02010609060101010101" pitchFamily="49" charset="-122"/>
              </a:rPr>
              <a:t>𝟏𝟐</a:t>
            </a:r>
            <a:r>
              <a:rPr lang="en-US" altLang="zh-CN" dirty="0"/>
              <a:t>= 1</a:t>
            </a:r>
            <a:r>
              <a:rPr lang="en-US" altLang="zh-CN" baseline="30000" dirty="0"/>
              <a:t>*</a:t>
            </a:r>
            <a:r>
              <a:rPr lang="en-US" altLang="zh-CN" dirty="0"/>
              <a:t>0(0 + 1)</a:t>
            </a:r>
            <a:r>
              <a:rPr lang="zh-CN" altLang="en-US" baseline="30000" dirty="0"/>
              <a:t>*</a:t>
            </a:r>
            <a:r>
              <a:rPr lang="zh-CN" altLang="en-US" dirty="0"/>
              <a:t>。</a:t>
            </a:r>
            <a:endParaRPr lang="en-US" altLang="zh-CN" dirty="0"/>
          </a:p>
        </p:txBody>
      </p:sp>
      <p:sp>
        <p:nvSpPr>
          <p:cNvPr id="2765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8FFA2869-C11D-4E3C-80BF-7A2E210F7715}" type="slidenum">
              <a:rPr kumimoji="0" lang="en-US" altLang="zh-CN" sz="1200"/>
              <a:t>32</a:t>
            </a:fld>
            <a:endParaRPr kumimoji="0" lang="en-US" altLang="zh-CN" sz="12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765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zh-CN" altLang="en-US" dirty="0"/>
              <a:t>由于</a:t>
            </a:r>
            <a:r>
              <a:rPr lang="en-US" altLang="zh-CN" dirty="0"/>
              <a:t>1</a:t>
            </a:r>
            <a:r>
              <a:rPr lang="zh-CN" altLang="en-US" dirty="0"/>
              <a:t>是开始状态，</a:t>
            </a:r>
            <a:r>
              <a:rPr lang="en-US" altLang="zh-CN" dirty="0"/>
              <a:t>2</a:t>
            </a:r>
            <a:r>
              <a:rPr lang="zh-CN" altLang="en-US" dirty="0"/>
              <a:t>是唯一的接受状态，结点个数是</a:t>
            </a:r>
            <a:r>
              <a:rPr lang="en-US" altLang="zh-CN" dirty="0"/>
              <a:t>2</a:t>
            </a:r>
            <a:r>
              <a:rPr lang="zh-CN" altLang="en-US" dirty="0"/>
              <a:t>，所以</a:t>
            </a:r>
            <a:r>
              <a:rPr lang="en-US" altLang="zh-CN" dirty="0"/>
              <a:t>DFA </a:t>
            </a:r>
            <a:r>
              <a:rPr lang="zh-CN" altLang="en-US" dirty="0"/>
              <a:t>的正则表达式只需要</a:t>
            </a:r>
            <a:r>
              <a:rPr lang="en-US" altLang="zh-CN" b="1" dirty="0">
                <a:solidFill>
                  <a:srgbClr val="3333FF"/>
                </a:solidFill>
                <a:latin typeface="Cambria Math" panose="02040503050406030204" pitchFamily="18" charset="0"/>
                <a:ea typeface="黑体" panose="02010609060101010101" pitchFamily="49" charset="-122"/>
              </a:rPr>
              <a:t>𝑹</a:t>
            </a:r>
            <a:r>
              <a:rPr lang="en-US" altLang="zh-CN" b="1" baseline="30000" dirty="0">
                <a:solidFill>
                  <a:srgbClr val="3333FF"/>
                </a:solidFill>
                <a:latin typeface="Cambria Math" panose="02040503050406030204" pitchFamily="18" charset="0"/>
                <a:ea typeface="黑体" panose="02010609060101010101" pitchFamily="49" charset="-122"/>
              </a:rPr>
              <a:t>(𝟐)</a:t>
            </a:r>
            <a:r>
              <a:rPr lang="en-US" altLang="zh-CN" b="1" baseline="-25000" dirty="0">
                <a:solidFill>
                  <a:srgbClr val="3333FF"/>
                </a:solidFill>
                <a:latin typeface="Cambria Math" panose="02040503050406030204" pitchFamily="18" charset="0"/>
                <a:ea typeface="黑体" panose="02010609060101010101" pitchFamily="49" charset="-122"/>
              </a:rPr>
              <a:t>𝟏𝟐</a:t>
            </a:r>
            <a:r>
              <a:rPr lang="en-US" altLang="zh-CN" dirty="0"/>
              <a:t>= 1</a:t>
            </a:r>
            <a:r>
              <a:rPr lang="en-US" altLang="zh-CN" baseline="30000" dirty="0"/>
              <a:t>*</a:t>
            </a:r>
            <a:r>
              <a:rPr lang="en-US" altLang="zh-CN" dirty="0"/>
              <a:t>0(0 + 1)</a:t>
            </a:r>
            <a:r>
              <a:rPr lang="zh-CN" altLang="en-US" baseline="30000" dirty="0"/>
              <a:t>*</a:t>
            </a:r>
            <a:r>
              <a:rPr lang="zh-CN" altLang="en-US" dirty="0"/>
              <a:t>。</a:t>
            </a:r>
            <a:endParaRPr lang="en-US" altLang="zh-CN" dirty="0"/>
          </a:p>
        </p:txBody>
      </p:sp>
      <p:sp>
        <p:nvSpPr>
          <p:cNvPr id="2765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8FFA2869-C11D-4E3C-80BF-7A2E210F7715}" type="slidenum">
              <a:rPr kumimoji="0" lang="en-US" altLang="zh-CN" sz="1200"/>
              <a:t>33</a:t>
            </a:fld>
            <a:endParaRPr kumimoji="0" lang="en-US" altLang="zh-CN" sz="12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sz="1200" b="0" i="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等线" panose="02010600030101010101" charset="-122"/>
                <a:cs typeface="Times New Roman" panose="02020603050405020304" pitchFamily="18" charset="0"/>
              </a:rPr>
              <a:t>从 </a:t>
            </a:r>
            <a:r>
              <a:rPr lang="en-AU" sz="1200" b="0" i="0" dirty="0">
                <a:solidFill>
                  <a:srgbClr val="000000"/>
                </a:solidFill>
                <a:effectLst/>
                <a:latin typeface="LMRoman12-Regular-Identity-H"/>
                <a:ea typeface="等线" panose="02010600030101010101" charset="-122"/>
                <a:cs typeface="Times New Roman" panose="02020603050405020304" pitchFamily="18" charset="0"/>
              </a:rPr>
              <a:t>DFA </a:t>
            </a:r>
            <a:r>
              <a:rPr lang="zh-CN" sz="1200" b="0" i="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等线" panose="02010600030101010101" charset="-122"/>
                <a:cs typeface="Times New Roman" panose="02020603050405020304" pitchFamily="18" charset="0"/>
              </a:rPr>
              <a:t>中逐个删除状态。因此每个消除的状态会把它的边消除掉，所以我们要补上和这些边等价的一条边，这个我们用一个正则表达式来表示。这样，始终保持每消除一个节点后，仍保持等价。然后，消除掉所有节点之后，我们得到一条边，只有一条正则表达式。</a:t>
            </a:r>
            <a:endParaRPr lang="en-AU" sz="1200" dirty="0">
              <a:effectLst/>
              <a:latin typeface="Calibri" panose="020F0502020204030204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endParaRPr lang="en-AU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1753CD8-C123-4A94-885F-23A3E3911552}" type="slidenum">
              <a:rPr lang="en-US" altLang="zh-CN" smtClean="0"/>
              <a:t>34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sz="1800" b="0" i="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等线" panose="02010600030101010101" charset="-122"/>
                <a:cs typeface="Times New Roman" panose="02020603050405020304" pitchFamily="18" charset="0"/>
              </a:rPr>
              <a:t>我们知道正则表达式有三种运算，连接，加，和闭包。我们接下来看下着几种运算和</a:t>
            </a:r>
            <a:r>
              <a:rPr lang="en-AU" sz="1800" b="0" i="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等线" panose="02010600030101010101" charset="-122"/>
                <a:cs typeface="Times New Roman" panose="02020603050405020304" pitchFamily="18" charset="0"/>
              </a:rPr>
              <a:t>DFA</a:t>
            </a:r>
            <a:r>
              <a:rPr lang="zh-CN" sz="1800" b="0" i="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等线" panose="02010600030101010101" charset="-122"/>
                <a:cs typeface="Times New Roman" panose="02020603050405020304" pitchFamily="18" charset="0"/>
              </a:rPr>
              <a:t>中路径的关系。</a:t>
            </a:r>
            <a:endParaRPr lang="en-AU" altLang="zh-CN" sz="1800" b="0" i="0" dirty="0">
              <a:solidFill>
                <a:srgbClr val="000000"/>
              </a:solidFill>
              <a:effectLst/>
              <a:latin typeface="楷体" panose="02010609060101010101" pitchFamily="49" charset="-122"/>
              <a:ea typeface="等线" panose="02010600030101010101" charset="-122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AU" sz="1800" b="0" i="0" dirty="0">
              <a:solidFill>
                <a:srgbClr val="000000"/>
              </a:solidFill>
              <a:effectLst/>
              <a:latin typeface="楷体" panose="02010609060101010101" pitchFamily="49" charset="-122"/>
              <a:ea typeface="等线" panose="02010600030101010101" charset="-122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altLang="en-US" sz="1800" dirty="0">
                <a:effectLst/>
                <a:latin typeface="Calibri" panose="020F0502020204030204" charset="0"/>
                <a:ea typeface="等线" panose="02010600030101010101" charset="-122"/>
                <a:cs typeface="Times New Roman" panose="02020603050405020304" pitchFamily="18" charset="0"/>
              </a:rPr>
              <a:t>第一种，删除一个节点后，我们补上一条边，用</a:t>
            </a:r>
            <a:r>
              <a:rPr lang="en-AU" altLang="zh-CN" sz="1800" dirty="0">
                <a:effectLst/>
                <a:latin typeface="Calibri" panose="020F0502020204030204" charset="0"/>
                <a:ea typeface="等线" panose="02010600030101010101" charset="-122"/>
                <a:cs typeface="Times New Roman" panose="02020603050405020304" pitchFamily="18" charset="0"/>
              </a:rPr>
              <a:t>ab</a:t>
            </a:r>
            <a:r>
              <a:rPr lang="zh-CN" altLang="en-US" sz="1800" dirty="0">
                <a:effectLst/>
                <a:latin typeface="Calibri" panose="020F0502020204030204" charset="0"/>
                <a:ea typeface="等线" panose="02010600030101010101" charset="-122"/>
                <a:cs typeface="Times New Roman" panose="02020603050405020304" pitchFamily="18" charset="0"/>
              </a:rPr>
              <a:t>这条正则表达式去表示。</a:t>
            </a:r>
            <a:endParaRPr lang="en-AU" altLang="zh-CN" sz="1800" dirty="0">
              <a:effectLst/>
              <a:latin typeface="Calibri" panose="020F0502020204030204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AU" sz="1800" dirty="0">
              <a:effectLst/>
              <a:latin typeface="Calibri" panose="020F0502020204030204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altLang="en-US" sz="1800" dirty="0">
                <a:effectLst/>
                <a:latin typeface="Calibri" panose="020F0502020204030204" charset="0"/>
                <a:ea typeface="等线" panose="02010600030101010101" charset="-122"/>
                <a:cs typeface="Times New Roman" panose="02020603050405020304" pitchFamily="18" charset="0"/>
              </a:rPr>
              <a:t>第二种，如果我们删除了了一些节点之后，两个节点之间形成了两条边。一条是原来的字符，比如</a:t>
            </a:r>
            <a:r>
              <a:rPr lang="en-AU" altLang="zh-CN" sz="1800" dirty="0">
                <a:effectLst/>
                <a:latin typeface="Calibri" panose="020F0502020204030204" charset="0"/>
                <a:ea typeface="等线" panose="02010600030101010101" charset="-122"/>
                <a:cs typeface="Times New Roman" panose="02020603050405020304" pitchFamily="18" charset="0"/>
              </a:rPr>
              <a:t>b</a:t>
            </a:r>
            <a:r>
              <a:rPr lang="zh-CN" altLang="en-US" sz="1800" dirty="0">
                <a:effectLst/>
                <a:latin typeface="Calibri" panose="020F0502020204030204" charset="0"/>
                <a:ea typeface="等线" panose="02010600030101010101" charset="-122"/>
                <a:cs typeface="Times New Roman" panose="02020603050405020304" pitchFamily="18" charset="0"/>
              </a:rPr>
              <a:t>，另一条边是正则表达式</a:t>
            </a:r>
            <a:r>
              <a:rPr lang="en-AU" altLang="zh-CN" sz="1800" dirty="0">
                <a:effectLst/>
                <a:latin typeface="Calibri" panose="020F0502020204030204" charset="0"/>
                <a:ea typeface="等线" panose="02010600030101010101" charset="-122"/>
                <a:cs typeface="Times New Roman" panose="02020603050405020304" pitchFamily="18" charset="0"/>
              </a:rPr>
              <a:t>a</a:t>
            </a:r>
            <a:r>
              <a:rPr lang="zh-CN" altLang="en-US" sz="1800" dirty="0">
                <a:effectLst/>
                <a:latin typeface="Calibri" panose="020F0502020204030204" charset="0"/>
                <a:ea typeface="等线" panose="02010600030101010101" charset="-122"/>
                <a:cs typeface="Times New Roman" panose="02020603050405020304" pitchFamily="18" charset="0"/>
              </a:rPr>
              <a:t>表示。我们可以讲两条边合在一起，变成一条边。</a:t>
            </a:r>
            <a:endParaRPr lang="en-AU" altLang="zh-CN" sz="1800" dirty="0">
              <a:effectLst/>
              <a:latin typeface="Calibri" panose="020F0502020204030204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AU" sz="1800" dirty="0">
              <a:effectLst/>
              <a:latin typeface="Calibri" panose="020F0502020204030204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altLang="en-US" sz="1800" dirty="0">
                <a:effectLst/>
                <a:latin typeface="Calibri" panose="020F0502020204030204" charset="0"/>
                <a:ea typeface="等线" panose="02010600030101010101" charset="-122"/>
                <a:cs typeface="Times New Roman" panose="02020603050405020304" pitchFamily="18" charset="0"/>
              </a:rPr>
              <a:t>第三种，当我们消除的节点有</a:t>
            </a:r>
            <a:r>
              <a:rPr lang="en-AU" altLang="zh-CN" sz="1800" dirty="0">
                <a:effectLst/>
                <a:latin typeface="Calibri" panose="020F0502020204030204" charset="0"/>
                <a:ea typeface="等线" panose="02010600030101010101" charset="-122"/>
                <a:cs typeface="Times New Roman" panose="02020603050405020304" pitchFamily="18" charset="0"/>
              </a:rPr>
              <a:t>loop</a:t>
            </a:r>
            <a:r>
              <a:rPr lang="zh-CN" altLang="en-US" sz="1800" dirty="0">
                <a:effectLst/>
                <a:latin typeface="Calibri" panose="020F0502020204030204" charset="0"/>
                <a:ea typeface="等线" panose="02010600030101010101" charset="-122"/>
                <a:cs typeface="Times New Roman" panose="02020603050405020304" pitchFamily="18" charset="0"/>
              </a:rPr>
              <a:t>循环的话，我们消掉的路径集合就是</a:t>
            </a:r>
            <a:r>
              <a:rPr lang="en-AU" altLang="zh-CN" sz="1800" dirty="0">
                <a:effectLst/>
                <a:latin typeface="Calibri" panose="020F0502020204030204" charset="0"/>
                <a:ea typeface="等线" panose="02010600030101010101" charset="-122"/>
                <a:cs typeface="Times New Roman" panose="02020603050405020304" pitchFamily="18" charset="0"/>
              </a:rPr>
              <a:t>ac*b</a:t>
            </a:r>
            <a:r>
              <a:rPr lang="zh-CN" altLang="en-US" sz="1800" dirty="0">
                <a:effectLst/>
                <a:latin typeface="Calibri" panose="020F0502020204030204" charset="0"/>
                <a:ea typeface="等线" panose="02010600030101010101" charset="-122"/>
                <a:cs typeface="Times New Roman" panose="02020603050405020304" pitchFamily="18" charset="0"/>
              </a:rPr>
              <a:t>。带有克林闭包。</a:t>
            </a:r>
            <a:endParaRPr lang="en-AU" sz="1800" dirty="0">
              <a:effectLst/>
              <a:latin typeface="Calibri" panose="020F0502020204030204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1753CD8-C123-4A94-885F-23A3E3911552}" type="slidenum">
              <a:rPr lang="en-US" altLang="zh-CN" smtClean="0"/>
              <a:t>35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072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zh-CN" altLang="en-US" dirty="0"/>
              <a:t>首先，利用空转移，增加新的表示开始状态合结束状态的两个节点。因为如果不增加节点的话，就没法把</a:t>
            </a:r>
            <a:r>
              <a:rPr lang="en-US" altLang="zh-CN" dirty="0"/>
              <a:t>DFA</a:t>
            </a:r>
            <a:r>
              <a:rPr lang="zh-CN" altLang="en-US" dirty="0"/>
              <a:t>种的节点全部消除掉。增加之后，只要我们把</a:t>
            </a:r>
            <a:r>
              <a:rPr lang="en-AU" altLang="zh-CN" dirty="0"/>
              <a:t>DFA</a:t>
            </a:r>
            <a:r>
              <a:rPr lang="zh-CN" altLang="en-US" dirty="0"/>
              <a:t>种的节点逐个消除，到最后只剩下新增加的两个节点和一条边，我们就得到了相应的正则表达式。</a:t>
            </a:r>
            <a:endParaRPr lang="en-AU" altLang="zh-CN" dirty="0"/>
          </a:p>
          <a:p>
            <a:endParaRPr lang="en-AU" altLang="zh-CN" dirty="0"/>
          </a:p>
          <a:p>
            <a:r>
              <a:rPr lang="zh-CN" altLang="en-US" dirty="0"/>
              <a:t>并且，通过这种方式，可以使得有多个结束状态的</a:t>
            </a:r>
            <a:r>
              <a:rPr lang="en-AU" altLang="zh-CN" dirty="0"/>
              <a:t>DFA</a:t>
            </a:r>
            <a:r>
              <a:rPr lang="zh-CN" altLang="en-US" dirty="0"/>
              <a:t>，合并到一个结束状态之上。</a:t>
            </a:r>
            <a:endParaRPr lang="en-AU" altLang="zh-CN" dirty="0"/>
          </a:p>
          <a:p>
            <a:endParaRPr lang="en-AU" altLang="zh-CN" dirty="0"/>
          </a:p>
          <a:p>
            <a:r>
              <a:rPr lang="zh-CN" altLang="en-US" dirty="0"/>
              <a:t>所以呢，这是个折衷的办法。</a:t>
            </a:r>
            <a:endParaRPr lang="en-US" altLang="zh-CN" dirty="0"/>
          </a:p>
        </p:txBody>
      </p:sp>
      <p:sp>
        <p:nvSpPr>
          <p:cNvPr id="3072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7AD34F38-063D-4C3E-9508-089EC35437AA}" type="slidenum">
              <a:rPr kumimoji="0" lang="en-US" altLang="zh-CN" sz="1200"/>
              <a:t>38</a:t>
            </a:fld>
            <a:endParaRPr kumimoji="0" lang="en-US" altLang="zh-CN" sz="120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072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zh-CN" altLang="en-US" b="1">
                <a:ea typeface="黑体" panose="02010609060101010101" pitchFamily="49" charset="-122"/>
              </a:rPr>
              <a:t>对如图所示</a:t>
            </a:r>
            <a:r>
              <a:rPr lang="en-US" altLang="zh-CN" b="1">
                <a:ea typeface="黑体" panose="02010609060101010101" pitchFamily="49" charset="-122"/>
              </a:rPr>
              <a:t>DFA</a:t>
            </a:r>
            <a:r>
              <a:rPr lang="zh-CN" altLang="en-US" b="1">
                <a:ea typeface="黑体" panose="02010609060101010101" pitchFamily="49" charset="-122"/>
              </a:rPr>
              <a:t>，通过状态消除构造正则表达式</a:t>
            </a:r>
            <a:endParaRPr lang="en-US" altLang="zh-CN"/>
          </a:p>
        </p:txBody>
      </p:sp>
      <p:sp>
        <p:nvSpPr>
          <p:cNvPr id="3072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79DBAA03-400A-4C5D-8691-6AC942E194BE}" type="slidenum">
              <a:rPr kumimoji="0" lang="en-US" altLang="zh-CN" sz="1200"/>
              <a:t>39</a:t>
            </a:fld>
            <a:endParaRPr kumimoji="0" lang="en-US" altLang="zh-CN" sz="120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072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zh-CN" altLang="en-US" b="1">
                <a:ea typeface="黑体" panose="02010609060101010101" pitchFamily="49" charset="-122"/>
              </a:rPr>
              <a:t>对如图所示</a:t>
            </a:r>
            <a:r>
              <a:rPr lang="en-US" altLang="zh-CN" b="1">
                <a:ea typeface="黑体" panose="02010609060101010101" pitchFamily="49" charset="-122"/>
              </a:rPr>
              <a:t>DFA</a:t>
            </a:r>
            <a:r>
              <a:rPr lang="zh-CN" altLang="en-US" b="1">
                <a:ea typeface="黑体" panose="02010609060101010101" pitchFamily="49" charset="-122"/>
              </a:rPr>
              <a:t>，通过状态消除构造正则表达式</a:t>
            </a:r>
            <a:endParaRPr lang="en-US" altLang="zh-CN"/>
          </a:p>
        </p:txBody>
      </p:sp>
      <p:sp>
        <p:nvSpPr>
          <p:cNvPr id="3072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B7102B36-D5DB-40DC-A9D6-45B3430231C8}" type="slidenum">
              <a:rPr kumimoji="0" lang="en-US" altLang="zh-CN" sz="1200"/>
              <a:t>40</a:t>
            </a:fld>
            <a:endParaRPr kumimoji="0" lang="en-US" altLang="zh-CN" sz="120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0723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zh-CN" altLang="en-US" b="1">
                <a:ea typeface="黑体" panose="02010609060101010101" pitchFamily="49" charset="-122"/>
              </a:rPr>
              <a:t>对如图所示</a:t>
            </a:r>
            <a:r>
              <a:rPr lang="en-US" altLang="zh-CN" b="1">
                <a:ea typeface="黑体" panose="02010609060101010101" pitchFamily="49" charset="-122"/>
              </a:rPr>
              <a:t>DFA</a:t>
            </a:r>
            <a:r>
              <a:rPr lang="zh-CN" altLang="en-US" b="1">
                <a:ea typeface="黑体" panose="02010609060101010101" pitchFamily="49" charset="-122"/>
              </a:rPr>
              <a:t>，通过状态消除构造正则表达式</a:t>
            </a:r>
            <a:endParaRPr lang="en-US" altLang="zh-CN"/>
          </a:p>
        </p:txBody>
      </p:sp>
      <p:sp>
        <p:nvSpPr>
          <p:cNvPr id="3072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C5BFFB9C-4B89-4D7D-8F4B-E4551EA59EBC}" type="slidenum">
              <a:rPr kumimoji="0" lang="en-US" altLang="zh-CN" sz="1200"/>
              <a:t>41</a:t>
            </a:fld>
            <a:endParaRPr kumimoji="0" lang="en-US" altLang="zh-CN" sz="120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delta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1753CD8-C123-4A94-885F-23A3E3911552}" type="slidenum">
              <a:rPr lang="en-US" altLang="zh-CN" smtClean="0"/>
              <a:t>44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前面已经证明：一个</a:t>
            </a:r>
            <a:r>
              <a:rPr lang="en-US" altLang="zh-CN" dirty="0"/>
              <a:t>DFA</a:t>
            </a:r>
            <a:r>
              <a:rPr lang="zh-CN" altLang="en-US" dirty="0"/>
              <a:t>识别的语言必然对应到一个正则表达式。</a:t>
            </a:r>
            <a:endParaRPr lang="en-US" altLang="zh-CN" dirty="0"/>
          </a:p>
          <a:p>
            <a:r>
              <a:rPr lang="zh-CN" altLang="en-US" dirty="0"/>
              <a:t>那么，每个由正则表达式定义的语言都可以由有穷自动机识别吗？（</a:t>
            </a:r>
            <a:r>
              <a:rPr lang="en-US" altLang="zh-CN" dirty="0"/>
              <a:t>DFA</a:t>
            </a:r>
            <a:r>
              <a:rPr lang="zh-CN" altLang="en-US" dirty="0"/>
              <a:t>、</a:t>
            </a:r>
            <a:r>
              <a:rPr lang="en-US" altLang="zh-CN" dirty="0"/>
              <a:t>NFA</a:t>
            </a:r>
            <a:r>
              <a:rPr lang="zh-CN" altLang="en-US" dirty="0"/>
              <a:t>和</a:t>
            </a:r>
            <a:r>
              <a:rPr lang="en-US" altLang="zh-CN" i="1" dirty="0"/>
              <a:t>ε</a:t>
            </a:r>
            <a:r>
              <a:rPr lang="en-US" altLang="zh-CN" dirty="0"/>
              <a:t>-NFA</a:t>
            </a:r>
            <a:r>
              <a:rPr lang="zh-CN" altLang="en-US" dirty="0"/>
              <a:t>三者等价</a:t>
            </a:r>
            <a:endParaRPr lang="en-AU" dirty="0"/>
          </a:p>
          <a:p>
            <a:r>
              <a:rPr lang="zh-CN" altLang="en-US" dirty="0"/>
              <a:t>也就是说，对于正则表达式定义的语言，我们可以构造一个相应的有穷自动机来识别。</a:t>
            </a:r>
            <a:endParaRPr lang="en-AU" altLang="zh-CN" dirty="0"/>
          </a:p>
          <a:p>
            <a:endParaRPr lang="en-AU" dirty="0"/>
          </a:p>
          <a:p>
            <a:r>
              <a:rPr lang="zh-CN" altLang="en-US" dirty="0"/>
              <a:t>更严格的，我们有：</a:t>
            </a:r>
            <a:endParaRPr lang="en-AU" altLang="zh-CN" dirty="0"/>
          </a:p>
          <a:p>
            <a:endParaRPr lang="en-AU" altLang="zh-CN" dirty="0"/>
          </a:p>
          <a:p>
            <a:endParaRPr lang="en-AU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1753CD8-C123-4A94-885F-23A3E3911552}" type="slidenum">
              <a:rPr lang="en-US" altLang="zh-CN" smtClean="0"/>
              <a:t>47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对于空集，它的</a:t>
            </a:r>
            <a:r>
              <a:rPr lang="en-AU" altLang="zh-CN" dirty="0"/>
              <a:t>epsilon-NFA</a:t>
            </a:r>
            <a:r>
              <a:rPr lang="zh-CN" altLang="en-US" dirty="0"/>
              <a:t>是这样的，仅有一个接受状态，没有离开开始状态的边，没有离开接受状态的边。</a:t>
            </a:r>
            <a:endParaRPr lang="en-AU" altLang="zh-CN" dirty="0"/>
          </a:p>
          <a:p>
            <a:endParaRPr lang="en-AU" dirty="0"/>
          </a:p>
          <a:p>
            <a:r>
              <a:rPr lang="zh-CN" altLang="en-US" dirty="0"/>
              <a:t>对于空串，我们可以使用刚才</a:t>
            </a:r>
            <a:r>
              <a:rPr lang="en-AU" altLang="zh-CN" dirty="0"/>
              <a:t>NFA, </a:t>
            </a:r>
            <a:r>
              <a:rPr lang="zh-CN" altLang="en-US" dirty="0"/>
              <a:t>通过空串转移到接受状态。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1753CD8-C123-4A94-885F-23A3E3911552}" type="slidenum">
              <a:rPr lang="en-US" altLang="zh-CN" smtClean="0"/>
              <a:t>48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归纳假设是，</a:t>
            </a:r>
            <a:endParaRPr lang="en-AU" altLang="zh-CN" dirty="0"/>
          </a:p>
          <a:p>
            <a:endParaRPr lang="en-AU" dirty="0"/>
          </a:p>
          <a:p>
            <a:r>
              <a:rPr lang="zh-CN" altLang="en-US" dirty="0"/>
              <a:t>若</a:t>
            </a:r>
            <a:r>
              <a:rPr lang="en-AU" altLang="zh-CN" dirty="0"/>
              <a:t>r, s</a:t>
            </a:r>
            <a:r>
              <a:rPr lang="zh-CN" altLang="en-US" dirty="0"/>
              <a:t>是正则表达式，假设存在这样的</a:t>
            </a:r>
            <a:r>
              <a:rPr lang="en-AU" altLang="zh-CN" dirty="0"/>
              <a:t>NFA</a:t>
            </a:r>
            <a:r>
              <a:rPr lang="zh-CN" altLang="en-US" dirty="0"/>
              <a:t>。那么，由</a:t>
            </a:r>
            <a:r>
              <a:rPr lang="en-AU" altLang="zh-CN" dirty="0"/>
              <a:t>r</a:t>
            </a:r>
            <a:r>
              <a:rPr lang="zh-CN" altLang="en-US" dirty="0"/>
              <a:t>和</a:t>
            </a:r>
            <a:r>
              <a:rPr lang="en-AU" altLang="zh-CN" dirty="0"/>
              <a:t>s</a:t>
            </a:r>
            <a:r>
              <a:rPr lang="zh-CN" altLang="en-US" dirty="0"/>
              <a:t>构造的其他正则表达式，如何从它们的</a:t>
            </a:r>
            <a:r>
              <a:rPr lang="en-AU" altLang="zh-CN" dirty="0"/>
              <a:t>NFA</a:t>
            </a:r>
            <a:r>
              <a:rPr lang="zh-CN" altLang="en-US" dirty="0"/>
              <a:t>构造出相应的</a:t>
            </a:r>
            <a:r>
              <a:rPr lang="en-AU" altLang="zh-CN" dirty="0"/>
              <a:t>NFA</a:t>
            </a:r>
            <a:r>
              <a:rPr lang="zh-CN" altLang="en-US" dirty="0"/>
              <a:t>呢。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1753CD8-C123-4A94-885F-23A3E3911552}" type="slidenum">
              <a:rPr lang="en-US" altLang="zh-CN" smtClean="0"/>
              <a:t>49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满足三点要求。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1753CD8-C123-4A94-885F-23A3E3911552}" type="slidenum">
              <a:rPr lang="en-US" altLang="zh-CN" smtClean="0"/>
              <a:t>51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满足三点要求。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1753CD8-C123-4A94-885F-23A3E3911552}" type="slidenum">
              <a:rPr lang="en-US" altLang="zh-CN" smtClean="0"/>
              <a:t>52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1753CD8-C123-4A94-885F-23A3E3911552}" type="slidenum">
              <a:rPr lang="en-US" altLang="zh-CN" smtClean="0"/>
              <a:t>55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867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867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B2D5A1E8-1A5D-459E-9ABC-1DEDD4207930}" type="slidenum">
              <a:rPr kumimoji="0" lang="en-US" altLang="zh-CN" sz="1200"/>
              <a:t>56</a:t>
            </a:fld>
            <a:endParaRPr kumimoji="0" lang="en-US" altLang="zh-CN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fontAlgn="auto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FA3FDBF-AFA2-4CD6-A594-D8B231ECC728}" type="datetime1">
              <a:rPr lang="zh-CN" altLang="en-US" smtClean="0"/>
              <a:t>2026/3/23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19564F-3A13-4140-9CFC-3B75A7CC7F9C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pattFill prst="smGrid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9144000" cy="692696"/>
          </a:xfrm>
          <a:prstGeom prst="rect">
            <a:avLst/>
          </a:prstGeom>
          <a:gradFill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7500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 fontAlgn="auto"/>
            <a:endParaRPr lang="zh-CN" altLang="en-US" strike="noStrike" noProof="1"/>
          </a:p>
        </p:txBody>
      </p:sp>
      <p:sp>
        <p:nvSpPr>
          <p:cNvPr id="8" name="平行四边形 49"/>
          <p:cNvSpPr/>
          <p:nvPr/>
        </p:nvSpPr>
        <p:spPr>
          <a:xfrm>
            <a:off x="-30162" y="-14287"/>
            <a:ext cx="2536825" cy="706438"/>
          </a:xfrm>
          <a:custGeom>
            <a:avLst/>
            <a:gdLst>
              <a:gd name="connsiteX0" fmla="*/ 0 w 1547664"/>
              <a:gd name="connsiteY0" fmla="*/ 692696 h 692696"/>
              <a:gd name="connsiteX1" fmla="*/ 173174 w 1547664"/>
              <a:gd name="connsiteY1" fmla="*/ 0 h 692696"/>
              <a:gd name="connsiteX2" fmla="*/ 1547664 w 1547664"/>
              <a:gd name="connsiteY2" fmla="*/ 0 h 692696"/>
              <a:gd name="connsiteX3" fmla="*/ 1374490 w 1547664"/>
              <a:gd name="connsiteY3" fmla="*/ 692696 h 692696"/>
              <a:gd name="connsiteX4" fmla="*/ 0 w 1547664"/>
              <a:gd name="connsiteY4" fmla="*/ 692696 h 692696"/>
              <a:gd name="connsiteX0-1" fmla="*/ 61228 w 1608892"/>
              <a:gd name="connsiteY0-2" fmla="*/ 722676 h 722676"/>
              <a:gd name="connsiteX1-3" fmla="*/ 234402 w 1608892"/>
              <a:gd name="connsiteY1-4" fmla="*/ 29980 h 722676"/>
              <a:gd name="connsiteX2-5" fmla="*/ 1267 w 1608892"/>
              <a:gd name="connsiteY2-6" fmla="*/ 0 h 722676"/>
              <a:gd name="connsiteX3-7" fmla="*/ 1608892 w 1608892"/>
              <a:gd name="connsiteY3-8" fmla="*/ 29980 h 722676"/>
              <a:gd name="connsiteX4-9" fmla="*/ 1435718 w 1608892"/>
              <a:gd name="connsiteY4-10" fmla="*/ 722676 h 722676"/>
              <a:gd name="connsiteX5" fmla="*/ 61228 w 1608892"/>
              <a:gd name="connsiteY5" fmla="*/ 722676 h 722676"/>
              <a:gd name="connsiteX0-11" fmla="*/ 63273 w 1610937"/>
              <a:gd name="connsiteY0-12" fmla="*/ 722676 h 722676"/>
              <a:gd name="connsiteX1-13" fmla="*/ 56565 w 1610937"/>
              <a:gd name="connsiteY1-14" fmla="*/ 44970 h 722676"/>
              <a:gd name="connsiteX2-15" fmla="*/ 3312 w 1610937"/>
              <a:gd name="connsiteY2-16" fmla="*/ 0 h 722676"/>
              <a:gd name="connsiteX3-17" fmla="*/ 1610937 w 1610937"/>
              <a:gd name="connsiteY3-18" fmla="*/ 29980 h 722676"/>
              <a:gd name="connsiteX4-19" fmla="*/ 1437763 w 1610937"/>
              <a:gd name="connsiteY4-20" fmla="*/ 722676 h 722676"/>
              <a:gd name="connsiteX5-21" fmla="*/ 63273 w 1610937"/>
              <a:gd name="connsiteY5-22" fmla="*/ 722676 h 722676"/>
              <a:gd name="connsiteX0-23" fmla="*/ 63273 w 2075632"/>
              <a:gd name="connsiteY0-24" fmla="*/ 722676 h 722676"/>
              <a:gd name="connsiteX1-25" fmla="*/ 56565 w 2075632"/>
              <a:gd name="connsiteY1-26" fmla="*/ 44970 h 722676"/>
              <a:gd name="connsiteX2-27" fmla="*/ 3312 w 2075632"/>
              <a:gd name="connsiteY2-28" fmla="*/ 0 h 722676"/>
              <a:gd name="connsiteX3-29" fmla="*/ 2075632 w 2075632"/>
              <a:gd name="connsiteY3-30" fmla="*/ 29980 h 722676"/>
              <a:gd name="connsiteX4-31" fmla="*/ 1437763 w 2075632"/>
              <a:gd name="connsiteY4-32" fmla="*/ 722676 h 722676"/>
              <a:gd name="connsiteX5-33" fmla="*/ 63273 w 2075632"/>
              <a:gd name="connsiteY5-34" fmla="*/ 722676 h 722676"/>
              <a:gd name="connsiteX0-35" fmla="*/ 6708 w 2019067"/>
              <a:gd name="connsiteY0-36" fmla="*/ 771160 h 771160"/>
              <a:gd name="connsiteX1-37" fmla="*/ 0 w 2019067"/>
              <a:gd name="connsiteY1-38" fmla="*/ 93454 h 771160"/>
              <a:gd name="connsiteX2-39" fmla="*/ 2019067 w 2019067"/>
              <a:gd name="connsiteY2-40" fmla="*/ 78464 h 771160"/>
              <a:gd name="connsiteX3-41" fmla="*/ 1381198 w 2019067"/>
              <a:gd name="connsiteY3-42" fmla="*/ 771160 h 771160"/>
              <a:gd name="connsiteX4-43" fmla="*/ 6708 w 2019067"/>
              <a:gd name="connsiteY4-44" fmla="*/ 771160 h 771160"/>
              <a:gd name="connsiteX0-45" fmla="*/ 6708 w 2019067"/>
              <a:gd name="connsiteY0-46" fmla="*/ 740785 h 740785"/>
              <a:gd name="connsiteX1-47" fmla="*/ 0 w 2019067"/>
              <a:gd name="connsiteY1-48" fmla="*/ 63079 h 740785"/>
              <a:gd name="connsiteX2-49" fmla="*/ 2019067 w 2019067"/>
              <a:gd name="connsiteY2-50" fmla="*/ 48089 h 740785"/>
              <a:gd name="connsiteX3-51" fmla="*/ 1381198 w 2019067"/>
              <a:gd name="connsiteY3-52" fmla="*/ 740785 h 740785"/>
              <a:gd name="connsiteX4-53" fmla="*/ 6708 w 2019067"/>
              <a:gd name="connsiteY4-54" fmla="*/ 740785 h 740785"/>
              <a:gd name="connsiteX0-55" fmla="*/ 6708 w 2019067"/>
              <a:gd name="connsiteY0-56" fmla="*/ 692696 h 692696"/>
              <a:gd name="connsiteX1-57" fmla="*/ 0 w 2019067"/>
              <a:gd name="connsiteY1-58" fmla="*/ 14990 h 692696"/>
              <a:gd name="connsiteX2-59" fmla="*/ 2019067 w 2019067"/>
              <a:gd name="connsiteY2-60" fmla="*/ 0 h 692696"/>
              <a:gd name="connsiteX3-61" fmla="*/ 1381198 w 2019067"/>
              <a:gd name="connsiteY3-62" fmla="*/ 692696 h 692696"/>
              <a:gd name="connsiteX4-63" fmla="*/ 6708 w 2019067"/>
              <a:gd name="connsiteY4-64" fmla="*/ 692696 h 692696"/>
              <a:gd name="connsiteX0-65" fmla="*/ 21698 w 2034057"/>
              <a:gd name="connsiteY0-66" fmla="*/ 707686 h 707686"/>
              <a:gd name="connsiteX1-67" fmla="*/ 0 w 2034057"/>
              <a:gd name="connsiteY1-68" fmla="*/ 0 h 707686"/>
              <a:gd name="connsiteX2-69" fmla="*/ 2034057 w 2034057"/>
              <a:gd name="connsiteY2-70" fmla="*/ 14990 h 707686"/>
              <a:gd name="connsiteX3-71" fmla="*/ 1396188 w 2034057"/>
              <a:gd name="connsiteY3-72" fmla="*/ 707686 h 707686"/>
              <a:gd name="connsiteX4-73" fmla="*/ 21698 w 2034057"/>
              <a:gd name="connsiteY4-74" fmla="*/ 707686 h 707686"/>
              <a:gd name="connsiteX0-75" fmla="*/ 0 w 2042339"/>
              <a:gd name="connsiteY0-76" fmla="*/ 707686 h 707686"/>
              <a:gd name="connsiteX1-77" fmla="*/ 8282 w 2042339"/>
              <a:gd name="connsiteY1-78" fmla="*/ 0 h 707686"/>
              <a:gd name="connsiteX2-79" fmla="*/ 2042339 w 2042339"/>
              <a:gd name="connsiteY2-80" fmla="*/ 14990 h 707686"/>
              <a:gd name="connsiteX3-81" fmla="*/ 1404470 w 2042339"/>
              <a:gd name="connsiteY3-82" fmla="*/ 707686 h 707686"/>
              <a:gd name="connsiteX4-83" fmla="*/ 0 w 2042339"/>
              <a:gd name="connsiteY4-84" fmla="*/ 707686 h 707686"/>
              <a:gd name="connsiteX0-85" fmla="*/ 0 w 2042339"/>
              <a:gd name="connsiteY0-86" fmla="*/ 707686 h 707686"/>
              <a:gd name="connsiteX1-87" fmla="*/ 8282 w 2042339"/>
              <a:gd name="connsiteY1-88" fmla="*/ 0 h 707686"/>
              <a:gd name="connsiteX2-89" fmla="*/ 2042339 w 2042339"/>
              <a:gd name="connsiteY2-90" fmla="*/ 14990 h 707686"/>
              <a:gd name="connsiteX3-91" fmla="*/ 1659303 w 2042339"/>
              <a:gd name="connsiteY3-92" fmla="*/ 707686 h 707686"/>
              <a:gd name="connsiteX4-93" fmla="*/ 0 w 2042339"/>
              <a:gd name="connsiteY4-94" fmla="*/ 707686 h 707686"/>
              <a:gd name="connsiteX0-95" fmla="*/ 0 w 2297172"/>
              <a:gd name="connsiteY0-96" fmla="*/ 707686 h 707686"/>
              <a:gd name="connsiteX1-97" fmla="*/ 8282 w 2297172"/>
              <a:gd name="connsiteY1-98" fmla="*/ 0 h 707686"/>
              <a:gd name="connsiteX2-99" fmla="*/ 2297172 w 2297172"/>
              <a:gd name="connsiteY2-100" fmla="*/ 0 h 707686"/>
              <a:gd name="connsiteX3-101" fmla="*/ 1659303 w 2297172"/>
              <a:gd name="connsiteY3-102" fmla="*/ 707686 h 707686"/>
              <a:gd name="connsiteX4-103" fmla="*/ 0 w 2297172"/>
              <a:gd name="connsiteY4-104" fmla="*/ 707686 h 707686"/>
              <a:gd name="connsiteX0-105" fmla="*/ 0 w 2537015"/>
              <a:gd name="connsiteY0-106" fmla="*/ 707686 h 707686"/>
              <a:gd name="connsiteX1-107" fmla="*/ 8282 w 2537015"/>
              <a:gd name="connsiteY1-108" fmla="*/ 0 h 707686"/>
              <a:gd name="connsiteX2-109" fmla="*/ 2537015 w 2537015"/>
              <a:gd name="connsiteY2-110" fmla="*/ 0 h 707686"/>
              <a:gd name="connsiteX3-111" fmla="*/ 1659303 w 2537015"/>
              <a:gd name="connsiteY3-112" fmla="*/ 707686 h 707686"/>
              <a:gd name="connsiteX4-113" fmla="*/ 0 w 2537015"/>
              <a:gd name="connsiteY4-114" fmla="*/ 707686 h 707686"/>
              <a:gd name="connsiteX0-115" fmla="*/ 0 w 2537015"/>
              <a:gd name="connsiteY0-116" fmla="*/ 707686 h 707686"/>
              <a:gd name="connsiteX1-117" fmla="*/ 8282 w 2537015"/>
              <a:gd name="connsiteY1-118" fmla="*/ 0 h 707686"/>
              <a:gd name="connsiteX2-119" fmla="*/ 2537015 w 2537015"/>
              <a:gd name="connsiteY2-120" fmla="*/ 0 h 707686"/>
              <a:gd name="connsiteX3-121" fmla="*/ 1869165 w 2537015"/>
              <a:gd name="connsiteY3-122" fmla="*/ 707686 h 707686"/>
              <a:gd name="connsiteX4-123" fmla="*/ 0 w 2537015"/>
              <a:gd name="connsiteY4-124" fmla="*/ 707686 h 70768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537015" h="707686">
                <a:moveTo>
                  <a:pt x="0" y="707686"/>
                </a:moveTo>
                <a:cubicBezTo>
                  <a:pt x="2761" y="471791"/>
                  <a:pt x="5521" y="235895"/>
                  <a:pt x="8282" y="0"/>
                </a:cubicBezTo>
                <a:lnTo>
                  <a:pt x="2537015" y="0"/>
                </a:lnTo>
                <a:lnTo>
                  <a:pt x="1869165" y="707686"/>
                </a:lnTo>
                <a:lnTo>
                  <a:pt x="0" y="707686"/>
                </a:lnTo>
                <a:close/>
              </a:path>
            </a:pathLst>
          </a:custGeom>
          <a:solidFill>
            <a:srgbClr val="F6941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fontAlgn="auto"/>
            <a:endParaRPr lang="zh-CN" altLang="en-US" strike="noStrike" noProof="1"/>
          </a:p>
        </p:txBody>
      </p:sp>
      <p:cxnSp>
        <p:nvCxnSpPr>
          <p:cNvPr id="9" name="直接连接符 8"/>
          <p:cNvCxnSpPr/>
          <p:nvPr/>
        </p:nvCxnSpPr>
        <p:spPr>
          <a:xfrm flipH="1">
            <a:off x="7864321" y="5431711"/>
            <a:ext cx="1019148" cy="1145940"/>
          </a:xfrm>
          <a:prstGeom prst="line">
            <a:avLst/>
          </a:prstGeom>
          <a:ln w="12700">
            <a:gradFill>
              <a:gsLst>
                <a:gs pos="1250">
                  <a:schemeClr val="bg1">
                    <a:lumMod val="65000"/>
                    <a:alpha val="0"/>
                  </a:schemeClr>
                </a:gs>
                <a:gs pos="100000">
                  <a:schemeClr val="bg1">
                    <a:lumMod val="65000"/>
                    <a:alpha val="0"/>
                  </a:schemeClr>
                </a:gs>
                <a:gs pos="50000">
                  <a:schemeClr val="tx1">
                    <a:lumMod val="95000"/>
                    <a:lumOff val="5000"/>
                  </a:schemeClr>
                </a:gs>
                <a:gs pos="100000">
                  <a:schemeClr val="bg1">
                    <a:lumMod val="65000"/>
                    <a:alpha val="0"/>
                  </a:schemeClr>
                </a:gs>
              </a:gsLst>
              <a:lin ang="0" scaled="0"/>
            </a:gradFill>
          </a:ln>
          <a:effectLst>
            <a:outerShdw blurRad="63500" dist="25400" dir="5400000" sx="170000" sy="170000" algn="ctr" rotWithShape="0">
              <a:schemeClr val="tx1">
                <a:alpha val="92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8229600" cy="393065"/>
          </a:xfrm>
        </p:spPr>
        <p:txBody>
          <a:bodyPr/>
          <a:lstStyle>
            <a:lvl1pPr algn="r">
              <a:defRPr sz="3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>
              <a:defRPr/>
            </a:pPr>
            <a:fld id="{E03C2985-DA0A-423A-A02E-2E38F06C445F}" type="datetime1">
              <a:rPr lang="zh-CN" altLang="en-US" strike="noStrike" noProof="1" smtClean="0">
                <a:latin typeface="+mn-lt"/>
                <a:ea typeface="+mn-ea"/>
                <a:cs typeface="+mn-cs"/>
              </a:rPr>
              <a:t>2026/3/23</a:t>
            </a:fld>
            <a:endParaRPr lang="en-US" altLang="zh-CN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fld id="{A619564F-3A13-4140-9CFC-3B75A7CC7F9C}" type="slidenum">
              <a:rPr lang="en-US" altLang="zh-CN" smtClean="0"/>
              <a:t>‹#›</a:t>
            </a:fld>
            <a:endParaRPr lang="en-US" altLang="zh-CN" dirty="0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9F77452-AFA3-45A1-87C8-D45E04D21A03}" type="datetime1">
              <a:rPr lang="zh-CN" altLang="en-US" smtClean="0"/>
              <a:t>2026/3/23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19564F-3A13-4140-9CFC-3B75A7CC7F9C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E073DC0-53BD-418C-804B-0B4D02C75462}" type="datetime1">
              <a:rPr lang="zh-CN" altLang="en-US" smtClean="0"/>
              <a:t>2026/3/23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19564F-3A13-4140-9CFC-3B75A7CC7F9C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40D0AED-5178-4EC5-A3F7-3BEC2C0BC4AE}" type="datetime1">
              <a:rPr lang="zh-CN" altLang="en-US" smtClean="0"/>
              <a:t>2026/3/23</a:t>
            </a:fld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19564F-3A13-4140-9CFC-3B75A7CC7F9C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pattFill prst="smGrid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9144000" cy="692696"/>
          </a:xfrm>
          <a:prstGeom prst="rect">
            <a:avLst/>
          </a:prstGeom>
          <a:gradFill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7500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 fontAlgn="auto"/>
            <a:endParaRPr lang="zh-CN" altLang="en-US" strike="noStrike" noProof="1"/>
          </a:p>
        </p:txBody>
      </p:sp>
      <p:sp>
        <p:nvSpPr>
          <p:cNvPr id="6" name="平行四边形 49"/>
          <p:cNvSpPr/>
          <p:nvPr/>
        </p:nvSpPr>
        <p:spPr>
          <a:xfrm>
            <a:off x="-30162" y="-14287"/>
            <a:ext cx="2536825" cy="706438"/>
          </a:xfrm>
          <a:custGeom>
            <a:avLst/>
            <a:gdLst>
              <a:gd name="connsiteX0" fmla="*/ 0 w 1547664"/>
              <a:gd name="connsiteY0" fmla="*/ 692696 h 692696"/>
              <a:gd name="connsiteX1" fmla="*/ 173174 w 1547664"/>
              <a:gd name="connsiteY1" fmla="*/ 0 h 692696"/>
              <a:gd name="connsiteX2" fmla="*/ 1547664 w 1547664"/>
              <a:gd name="connsiteY2" fmla="*/ 0 h 692696"/>
              <a:gd name="connsiteX3" fmla="*/ 1374490 w 1547664"/>
              <a:gd name="connsiteY3" fmla="*/ 692696 h 692696"/>
              <a:gd name="connsiteX4" fmla="*/ 0 w 1547664"/>
              <a:gd name="connsiteY4" fmla="*/ 692696 h 692696"/>
              <a:gd name="connsiteX0-1" fmla="*/ 61228 w 1608892"/>
              <a:gd name="connsiteY0-2" fmla="*/ 722676 h 722676"/>
              <a:gd name="connsiteX1-3" fmla="*/ 234402 w 1608892"/>
              <a:gd name="connsiteY1-4" fmla="*/ 29980 h 722676"/>
              <a:gd name="connsiteX2-5" fmla="*/ 1267 w 1608892"/>
              <a:gd name="connsiteY2-6" fmla="*/ 0 h 722676"/>
              <a:gd name="connsiteX3-7" fmla="*/ 1608892 w 1608892"/>
              <a:gd name="connsiteY3-8" fmla="*/ 29980 h 722676"/>
              <a:gd name="connsiteX4-9" fmla="*/ 1435718 w 1608892"/>
              <a:gd name="connsiteY4-10" fmla="*/ 722676 h 722676"/>
              <a:gd name="connsiteX5" fmla="*/ 61228 w 1608892"/>
              <a:gd name="connsiteY5" fmla="*/ 722676 h 722676"/>
              <a:gd name="connsiteX0-11" fmla="*/ 63273 w 1610937"/>
              <a:gd name="connsiteY0-12" fmla="*/ 722676 h 722676"/>
              <a:gd name="connsiteX1-13" fmla="*/ 56565 w 1610937"/>
              <a:gd name="connsiteY1-14" fmla="*/ 44970 h 722676"/>
              <a:gd name="connsiteX2-15" fmla="*/ 3312 w 1610937"/>
              <a:gd name="connsiteY2-16" fmla="*/ 0 h 722676"/>
              <a:gd name="connsiteX3-17" fmla="*/ 1610937 w 1610937"/>
              <a:gd name="connsiteY3-18" fmla="*/ 29980 h 722676"/>
              <a:gd name="connsiteX4-19" fmla="*/ 1437763 w 1610937"/>
              <a:gd name="connsiteY4-20" fmla="*/ 722676 h 722676"/>
              <a:gd name="connsiteX5-21" fmla="*/ 63273 w 1610937"/>
              <a:gd name="connsiteY5-22" fmla="*/ 722676 h 722676"/>
              <a:gd name="connsiteX0-23" fmla="*/ 63273 w 2075632"/>
              <a:gd name="connsiteY0-24" fmla="*/ 722676 h 722676"/>
              <a:gd name="connsiteX1-25" fmla="*/ 56565 w 2075632"/>
              <a:gd name="connsiteY1-26" fmla="*/ 44970 h 722676"/>
              <a:gd name="connsiteX2-27" fmla="*/ 3312 w 2075632"/>
              <a:gd name="connsiteY2-28" fmla="*/ 0 h 722676"/>
              <a:gd name="connsiteX3-29" fmla="*/ 2075632 w 2075632"/>
              <a:gd name="connsiteY3-30" fmla="*/ 29980 h 722676"/>
              <a:gd name="connsiteX4-31" fmla="*/ 1437763 w 2075632"/>
              <a:gd name="connsiteY4-32" fmla="*/ 722676 h 722676"/>
              <a:gd name="connsiteX5-33" fmla="*/ 63273 w 2075632"/>
              <a:gd name="connsiteY5-34" fmla="*/ 722676 h 722676"/>
              <a:gd name="connsiteX0-35" fmla="*/ 6708 w 2019067"/>
              <a:gd name="connsiteY0-36" fmla="*/ 771160 h 771160"/>
              <a:gd name="connsiteX1-37" fmla="*/ 0 w 2019067"/>
              <a:gd name="connsiteY1-38" fmla="*/ 93454 h 771160"/>
              <a:gd name="connsiteX2-39" fmla="*/ 2019067 w 2019067"/>
              <a:gd name="connsiteY2-40" fmla="*/ 78464 h 771160"/>
              <a:gd name="connsiteX3-41" fmla="*/ 1381198 w 2019067"/>
              <a:gd name="connsiteY3-42" fmla="*/ 771160 h 771160"/>
              <a:gd name="connsiteX4-43" fmla="*/ 6708 w 2019067"/>
              <a:gd name="connsiteY4-44" fmla="*/ 771160 h 771160"/>
              <a:gd name="connsiteX0-45" fmla="*/ 6708 w 2019067"/>
              <a:gd name="connsiteY0-46" fmla="*/ 740785 h 740785"/>
              <a:gd name="connsiteX1-47" fmla="*/ 0 w 2019067"/>
              <a:gd name="connsiteY1-48" fmla="*/ 63079 h 740785"/>
              <a:gd name="connsiteX2-49" fmla="*/ 2019067 w 2019067"/>
              <a:gd name="connsiteY2-50" fmla="*/ 48089 h 740785"/>
              <a:gd name="connsiteX3-51" fmla="*/ 1381198 w 2019067"/>
              <a:gd name="connsiteY3-52" fmla="*/ 740785 h 740785"/>
              <a:gd name="connsiteX4-53" fmla="*/ 6708 w 2019067"/>
              <a:gd name="connsiteY4-54" fmla="*/ 740785 h 740785"/>
              <a:gd name="connsiteX0-55" fmla="*/ 6708 w 2019067"/>
              <a:gd name="connsiteY0-56" fmla="*/ 692696 h 692696"/>
              <a:gd name="connsiteX1-57" fmla="*/ 0 w 2019067"/>
              <a:gd name="connsiteY1-58" fmla="*/ 14990 h 692696"/>
              <a:gd name="connsiteX2-59" fmla="*/ 2019067 w 2019067"/>
              <a:gd name="connsiteY2-60" fmla="*/ 0 h 692696"/>
              <a:gd name="connsiteX3-61" fmla="*/ 1381198 w 2019067"/>
              <a:gd name="connsiteY3-62" fmla="*/ 692696 h 692696"/>
              <a:gd name="connsiteX4-63" fmla="*/ 6708 w 2019067"/>
              <a:gd name="connsiteY4-64" fmla="*/ 692696 h 692696"/>
              <a:gd name="connsiteX0-65" fmla="*/ 21698 w 2034057"/>
              <a:gd name="connsiteY0-66" fmla="*/ 707686 h 707686"/>
              <a:gd name="connsiteX1-67" fmla="*/ 0 w 2034057"/>
              <a:gd name="connsiteY1-68" fmla="*/ 0 h 707686"/>
              <a:gd name="connsiteX2-69" fmla="*/ 2034057 w 2034057"/>
              <a:gd name="connsiteY2-70" fmla="*/ 14990 h 707686"/>
              <a:gd name="connsiteX3-71" fmla="*/ 1396188 w 2034057"/>
              <a:gd name="connsiteY3-72" fmla="*/ 707686 h 707686"/>
              <a:gd name="connsiteX4-73" fmla="*/ 21698 w 2034057"/>
              <a:gd name="connsiteY4-74" fmla="*/ 707686 h 707686"/>
              <a:gd name="connsiteX0-75" fmla="*/ 0 w 2042339"/>
              <a:gd name="connsiteY0-76" fmla="*/ 707686 h 707686"/>
              <a:gd name="connsiteX1-77" fmla="*/ 8282 w 2042339"/>
              <a:gd name="connsiteY1-78" fmla="*/ 0 h 707686"/>
              <a:gd name="connsiteX2-79" fmla="*/ 2042339 w 2042339"/>
              <a:gd name="connsiteY2-80" fmla="*/ 14990 h 707686"/>
              <a:gd name="connsiteX3-81" fmla="*/ 1404470 w 2042339"/>
              <a:gd name="connsiteY3-82" fmla="*/ 707686 h 707686"/>
              <a:gd name="connsiteX4-83" fmla="*/ 0 w 2042339"/>
              <a:gd name="connsiteY4-84" fmla="*/ 707686 h 707686"/>
              <a:gd name="connsiteX0-85" fmla="*/ 0 w 2042339"/>
              <a:gd name="connsiteY0-86" fmla="*/ 707686 h 707686"/>
              <a:gd name="connsiteX1-87" fmla="*/ 8282 w 2042339"/>
              <a:gd name="connsiteY1-88" fmla="*/ 0 h 707686"/>
              <a:gd name="connsiteX2-89" fmla="*/ 2042339 w 2042339"/>
              <a:gd name="connsiteY2-90" fmla="*/ 14990 h 707686"/>
              <a:gd name="connsiteX3-91" fmla="*/ 1659303 w 2042339"/>
              <a:gd name="connsiteY3-92" fmla="*/ 707686 h 707686"/>
              <a:gd name="connsiteX4-93" fmla="*/ 0 w 2042339"/>
              <a:gd name="connsiteY4-94" fmla="*/ 707686 h 707686"/>
              <a:gd name="connsiteX0-95" fmla="*/ 0 w 2297172"/>
              <a:gd name="connsiteY0-96" fmla="*/ 707686 h 707686"/>
              <a:gd name="connsiteX1-97" fmla="*/ 8282 w 2297172"/>
              <a:gd name="connsiteY1-98" fmla="*/ 0 h 707686"/>
              <a:gd name="connsiteX2-99" fmla="*/ 2297172 w 2297172"/>
              <a:gd name="connsiteY2-100" fmla="*/ 0 h 707686"/>
              <a:gd name="connsiteX3-101" fmla="*/ 1659303 w 2297172"/>
              <a:gd name="connsiteY3-102" fmla="*/ 707686 h 707686"/>
              <a:gd name="connsiteX4-103" fmla="*/ 0 w 2297172"/>
              <a:gd name="connsiteY4-104" fmla="*/ 707686 h 707686"/>
              <a:gd name="connsiteX0-105" fmla="*/ 0 w 2537015"/>
              <a:gd name="connsiteY0-106" fmla="*/ 707686 h 707686"/>
              <a:gd name="connsiteX1-107" fmla="*/ 8282 w 2537015"/>
              <a:gd name="connsiteY1-108" fmla="*/ 0 h 707686"/>
              <a:gd name="connsiteX2-109" fmla="*/ 2537015 w 2537015"/>
              <a:gd name="connsiteY2-110" fmla="*/ 0 h 707686"/>
              <a:gd name="connsiteX3-111" fmla="*/ 1659303 w 2537015"/>
              <a:gd name="connsiteY3-112" fmla="*/ 707686 h 707686"/>
              <a:gd name="connsiteX4-113" fmla="*/ 0 w 2537015"/>
              <a:gd name="connsiteY4-114" fmla="*/ 707686 h 707686"/>
              <a:gd name="connsiteX0-115" fmla="*/ 0 w 2537015"/>
              <a:gd name="connsiteY0-116" fmla="*/ 707686 h 707686"/>
              <a:gd name="connsiteX1-117" fmla="*/ 8282 w 2537015"/>
              <a:gd name="connsiteY1-118" fmla="*/ 0 h 707686"/>
              <a:gd name="connsiteX2-119" fmla="*/ 2537015 w 2537015"/>
              <a:gd name="connsiteY2-120" fmla="*/ 0 h 707686"/>
              <a:gd name="connsiteX3-121" fmla="*/ 1869165 w 2537015"/>
              <a:gd name="connsiteY3-122" fmla="*/ 707686 h 707686"/>
              <a:gd name="connsiteX4-123" fmla="*/ 0 w 2537015"/>
              <a:gd name="connsiteY4-124" fmla="*/ 707686 h 70768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537015" h="707686">
                <a:moveTo>
                  <a:pt x="0" y="707686"/>
                </a:moveTo>
                <a:cubicBezTo>
                  <a:pt x="2761" y="471791"/>
                  <a:pt x="5521" y="235895"/>
                  <a:pt x="8282" y="0"/>
                </a:cubicBezTo>
                <a:lnTo>
                  <a:pt x="2537015" y="0"/>
                </a:lnTo>
                <a:lnTo>
                  <a:pt x="1869165" y="707686"/>
                </a:lnTo>
                <a:lnTo>
                  <a:pt x="0" y="707686"/>
                </a:lnTo>
                <a:close/>
              </a:path>
            </a:pathLst>
          </a:custGeom>
          <a:solidFill>
            <a:srgbClr val="F6941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fontAlgn="auto"/>
            <a:endParaRPr lang="zh-CN" altLang="en-US" strike="noStrike" noProof="1"/>
          </a:p>
        </p:txBody>
      </p:sp>
      <p:cxnSp>
        <p:nvCxnSpPr>
          <p:cNvPr id="8" name="直接连接符 7"/>
          <p:cNvCxnSpPr/>
          <p:nvPr/>
        </p:nvCxnSpPr>
        <p:spPr>
          <a:xfrm flipH="1">
            <a:off x="7864321" y="5431711"/>
            <a:ext cx="1019148" cy="1145940"/>
          </a:xfrm>
          <a:prstGeom prst="line">
            <a:avLst/>
          </a:prstGeom>
          <a:ln w="12700">
            <a:gradFill>
              <a:gsLst>
                <a:gs pos="1250">
                  <a:schemeClr val="bg1">
                    <a:lumMod val="65000"/>
                    <a:alpha val="0"/>
                  </a:schemeClr>
                </a:gs>
                <a:gs pos="100000">
                  <a:schemeClr val="bg1">
                    <a:lumMod val="65000"/>
                    <a:alpha val="0"/>
                  </a:schemeClr>
                </a:gs>
                <a:gs pos="50000">
                  <a:schemeClr val="tx1">
                    <a:lumMod val="95000"/>
                    <a:lumOff val="5000"/>
                  </a:schemeClr>
                </a:gs>
                <a:gs pos="100000">
                  <a:schemeClr val="bg1">
                    <a:lumMod val="65000"/>
                    <a:alpha val="0"/>
                  </a:schemeClr>
                </a:gs>
              </a:gsLst>
              <a:lin ang="0" scaled="0"/>
            </a:gradFill>
          </a:ln>
          <a:effectLst>
            <a:outerShdw blurRad="63500" dist="25400" dir="5400000" sx="170000" sy="170000" algn="ctr" rotWithShape="0">
              <a:schemeClr val="tx1">
                <a:alpha val="92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589040" y="0"/>
            <a:ext cx="5554960" cy="692696"/>
          </a:xfrm>
        </p:spPr>
        <p:txBody>
          <a:bodyPr>
            <a:noAutofit/>
          </a:bodyPr>
          <a:lstStyle>
            <a:lvl1pPr algn="r">
              <a:defRPr sz="3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fld id="{8D495EEA-7B4C-46DB-8433-CB635A28F557}" type="datetime1">
              <a:rPr lang="zh-CN" altLang="en-US" smtClean="0"/>
              <a:t>2026/3/23</a:t>
            </a:fld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fld id="{A619564F-3A13-4140-9CFC-3B75A7CC7F9C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pattFill prst="smGrid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 flipH="1">
            <a:off x="7864321" y="5431711"/>
            <a:ext cx="1019148" cy="1145940"/>
          </a:xfrm>
          <a:prstGeom prst="line">
            <a:avLst/>
          </a:prstGeom>
          <a:ln w="12700">
            <a:gradFill>
              <a:gsLst>
                <a:gs pos="1250">
                  <a:schemeClr val="bg1">
                    <a:lumMod val="65000"/>
                    <a:alpha val="0"/>
                  </a:schemeClr>
                </a:gs>
                <a:gs pos="100000">
                  <a:schemeClr val="bg1">
                    <a:lumMod val="65000"/>
                    <a:alpha val="0"/>
                  </a:schemeClr>
                </a:gs>
                <a:gs pos="50000">
                  <a:schemeClr val="tx1">
                    <a:lumMod val="95000"/>
                    <a:lumOff val="5000"/>
                  </a:schemeClr>
                </a:gs>
                <a:gs pos="100000">
                  <a:schemeClr val="bg1">
                    <a:lumMod val="65000"/>
                    <a:alpha val="0"/>
                  </a:schemeClr>
                </a:gs>
              </a:gsLst>
              <a:lin ang="0" scaled="0"/>
            </a:gradFill>
          </a:ln>
          <a:effectLst>
            <a:outerShdw blurRad="63500" dist="25400" dir="5400000" sx="170000" sy="170000" algn="ctr" rotWithShape="0">
              <a:schemeClr val="tx1">
                <a:alpha val="92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fld id="{6B4B1BCF-F181-43C5-B632-C5776C85F789}" type="datetime1">
              <a:rPr lang="zh-CN" altLang="en-US" smtClean="0"/>
              <a:t>2026/3/23</a:t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fld id="{A619564F-3A13-4140-9CFC-3B75A7CC7F9C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E04C7BD-6198-4A1E-BAFE-D1AF19E4C1EB}" type="datetime1">
              <a:rPr lang="zh-CN" altLang="en-US" smtClean="0"/>
              <a:t>2026/3/23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19564F-3A13-4140-9CFC-3B75A7CC7F9C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fontAlgn="auto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E44F8C1-27C8-48A4-AE5F-1C5B35A4CC8E}" type="datetime1">
              <a:rPr lang="zh-CN" altLang="en-US" smtClean="0"/>
              <a:t>2026/3/23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19564F-3A13-4140-9CFC-3B75A7CC7F9C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DB653DD-DADC-45FE-8130-3F970BFA8A00}" type="datetime1">
              <a:rPr lang="zh-CN" altLang="en-US" smtClean="0"/>
              <a:t>2026/3/23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19564F-3A13-4140-9CFC-3B75A7CC7F9C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DBECA9D-37DD-47B9-897F-BD244CE09592}" type="datetime1">
              <a:rPr lang="zh-CN" altLang="en-US" smtClean="0"/>
              <a:t>2026/3/23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19564F-3A13-4140-9CFC-3B75A7CC7F9C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pattFill prst="smGrid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9144000" cy="692696"/>
          </a:xfrm>
          <a:prstGeom prst="rect">
            <a:avLst/>
          </a:prstGeom>
          <a:gradFill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7500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fontAlgn="auto"/>
            <a:endParaRPr lang="zh-CN" altLang="en-US" strike="noStrike" noProof="1">
              <a:solidFill>
                <a:prstClr val="white"/>
              </a:solidFill>
            </a:endParaRPr>
          </a:p>
        </p:txBody>
      </p:sp>
      <p:sp>
        <p:nvSpPr>
          <p:cNvPr id="8" name="平行四边形 49"/>
          <p:cNvSpPr/>
          <p:nvPr/>
        </p:nvSpPr>
        <p:spPr>
          <a:xfrm>
            <a:off x="-30162" y="-14287"/>
            <a:ext cx="2536825" cy="706438"/>
          </a:xfrm>
          <a:custGeom>
            <a:avLst/>
            <a:gdLst>
              <a:gd name="connsiteX0" fmla="*/ 0 w 1547664"/>
              <a:gd name="connsiteY0" fmla="*/ 692696 h 692696"/>
              <a:gd name="connsiteX1" fmla="*/ 173174 w 1547664"/>
              <a:gd name="connsiteY1" fmla="*/ 0 h 692696"/>
              <a:gd name="connsiteX2" fmla="*/ 1547664 w 1547664"/>
              <a:gd name="connsiteY2" fmla="*/ 0 h 692696"/>
              <a:gd name="connsiteX3" fmla="*/ 1374490 w 1547664"/>
              <a:gd name="connsiteY3" fmla="*/ 692696 h 692696"/>
              <a:gd name="connsiteX4" fmla="*/ 0 w 1547664"/>
              <a:gd name="connsiteY4" fmla="*/ 692696 h 692696"/>
              <a:gd name="connsiteX0-1" fmla="*/ 61228 w 1608892"/>
              <a:gd name="connsiteY0-2" fmla="*/ 722676 h 722676"/>
              <a:gd name="connsiteX1-3" fmla="*/ 234402 w 1608892"/>
              <a:gd name="connsiteY1-4" fmla="*/ 29980 h 722676"/>
              <a:gd name="connsiteX2-5" fmla="*/ 1267 w 1608892"/>
              <a:gd name="connsiteY2-6" fmla="*/ 0 h 722676"/>
              <a:gd name="connsiteX3-7" fmla="*/ 1608892 w 1608892"/>
              <a:gd name="connsiteY3-8" fmla="*/ 29980 h 722676"/>
              <a:gd name="connsiteX4-9" fmla="*/ 1435718 w 1608892"/>
              <a:gd name="connsiteY4-10" fmla="*/ 722676 h 722676"/>
              <a:gd name="connsiteX5" fmla="*/ 61228 w 1608892"/>
              <a:gd name="connsiteY5" fmla="*/ 722676 h 722676"/>
              <a:gd name="connsiteX0-11" fmla="*/ 63273 w 1610937"/>
              <a:gd name="connsiteY0-12" fmla="*/ 722676 h 722676"/>
              <a:gd name="connsiteX1-13" fmla="*/ 56565 w 1610937"/>
              <a:gd name="connsiteY1-14" fmla="*/ 44970 h 722676"/>
              <a:gd name="connsiteX2-15" fmla="*/ 3312 w 1610937"/>
              <a:gd name="connsiteY2-16" fmla="*/ 0 h 722676"/>
              <a:gd name="connsiteX3-17" fmla="*/ 1610937 w 1610937"/>
              <a:gd name="connsiteY3-18" fmla="*/ 29980 h 722676"/>
              <a:gd name="connsiteX4-19" fmla="*/ 1437763 w 1610937"/>
              <a:gd name="connsiteY4-20" fmla="*/ 722676 h 722676"/>
              <a:gd name="connsiteX5-21" fmla="*/ 63273 w 1610937"/>
              <a:gd name="connsiteY5-22" fmla="*/ 722676 h 722676"/>
              <a:gd name="connsiteX0-23" fmla="*/ 63273 w 2075632"/>
              <a:gd name="connsiteY0-24" fmla="*/ 722676 h 722676"/>
              <a:gd name="connsiteX1-25" fmla="*/ 56565 w 2075632"/>
              <a:gd name="connsiteY1-26" fmla="*/ 44970 h 722676"/>
              <a:gd name="connsiteX2-27" fmla="*/ 3312 w 2075632"/>
              <a:gd name="connsiteY2-28" fmla="*/ 0 h 722676"/>
              <a:gd name="connsiteX3-29" fmla="*/ 2075632 w 2075632"/>
              <a:gd name="connsiteY3-30" fmla="*/ 29980 h 722676"/>
              <a:gd name="connsiteX4-31" fmla="*/ 1437763 w 2075632"/>
              <a:gd name="connsiteY4-32" fmla="*/ 722676 h 722676"/>
              <a:gd name="connsiteX5-33" fmla="*/ 63273 w 2075632"/>
              <a:gd name="connsiteY5-34" fmla="*/ 722676 h 722676"/>
              <a:gd name="connsiteX0-35" fmla="*/ 6708 w 2019067"/>
              <a:gd name="connsiteY0-36" fmla="*/ 771160 h 771160"/>
              <a:gd name="connsiteX1-37" fmla="*/ 0 w 2019067"/>
              <a:gd name="connsiteY1-38" fmla="*/ 93454 h 771160"/>
              <a:gd name="connsiteX2-39" fmla="*/ 2019067 w 2019067"/>
              <a:gd name="connsiteY2-40" fmla="*/ 78464 h 771160"/>
              <a:gd name="connsiteX3-41" fmla="*/ 1381198 w 2019067"/>
              <a:gd name="connsiteY3-42" fmla="*/ 771160 h 771160"/>
              <a:gd name="connsiteX4-43" fmla="*/ 6708 w 2019067"/>
              <a:gd name="connsiteY4-44" fmla="*/ 771160 h 771160"/>
              <a:gd name="connsiteX0-45" fmla="*/ 6708 w 2019067"/>
              <a:gd name="connsiteY0-46" fmla="*/ 740785 h 740785"/>
              <a:gd name="connsiteX1-47" fmla="*/ 0 w 2019067"/>
              <a:gd name="connsiteY1-48" fmla="*/ 63079 h 740785"/>
              <a:gd name="connsiteX2-49" fmla="*/ 2019067 w 2019067"/>
              <a:gd name="connsiteY2-50" fmla="*/ 48089 h 740785"/>
              <a:gd name="connsiteX3-51" fmla="*/ 1381198 w 2019067"/>
              <a:gd name="connsiteY3-52" fmla="*/ 740785 h 740785"/>
              <a:gd name="connsiteX4-53" fmla="*/ 6708 w 2019067"/>
              <a:gd name="connsiteY4-54" fmla="*/ 740785 h 740785"/>
              <a:gd name="connsiteX0-55" fmla="*/ 6708 w 2019067"/>
              <a:gd name="connsiteY0-56" fmla="*/ 692696 h 692696"/>
              <a:gd name="connsiteX1-57" fmla="*/ 0 w 2019067"/>
              <a:gd name="connsiteY1-58" fmla="*/ 14990 h 692696"/>
              <a:gd name="connsiteX2-59" fmla="*/ 2019067 w 2019067"/>
              <a:gd name="connsiteY2-60" fmla="*/ 0 h 692696"/>
              <a:gd name="connsiteX3-61" fmla="*/ 1381198 w 2019067"/>
              <a:gd name="connsiteY3-62" fmla="*/ 692696 h 692696"/>
              <a:gd name="connsiteX4-63" fmla="*/ 6708 w 2019067"/>
              <a:gd name="connsiteY4-64" fmla="*/ 692696 h 692696"/>
              <a:gd name="connsiteX0-65" fmla="*/ 21698 w 2034057"/>
              <a:gd name="connsiteY0-66" fmla="*/ 707686 h 707686"/>
              <a:gd name="connsiteX1-67" fmla="*/ 0 w 2034057"/>
              <a:gd name="connsiteY1-68" fmla="*/ 0 h 707686"/>
              <a:gd name="connsiteX2-69" fmla="*/ 2034057 w 2034057"/>
              <a:gd name="connsiteY2-70" fmla="*/ 14990 h 707686"/>
              <a:gd name="connsiteX3-71" fmla="*/ 1396188 w 2034057"/>
              <a:gd name="connsiteY3-72" fmla="*/ 707686 h 707686"/>
              <a:gd name="connsiteX4-73" fmla="*/ 21698 w 2034057"/>
              <a:gd name="connsiteY4-74" fmla="*/ 707686 h 707686"/>
              <a:gd name="connsiteX0-75" fmla="*/ 0 w 2042339"/>
              <a:gd name="connsiteY0-76" fmla="*/ 707686 h 707686"/>
              <a:gd name="connsiteX1-77" fmla="*/ 8282 w 2042339"/>
              <a:gd name="connsiteY1-78" fmla="*/ 0 h 707686"/>
              <a:gd name="connsiteX2-79" fmla="*/ 2042339 w 2042339"/>
              <a:gd name="connsiteY2-80" fmla="*/ 14990 h 707686"/>
              <a:gd name="connsiteX3-81" fmla="*/ 1404470 w 2042339"/>
              <a:gd name="connsiteY3-82" fmla="*/ 707686 h 707686"/>
              <a:gd name="connsiteX4-83" fmla="*/ 0 w 2042339"/>
              <a:gd name="connsiteY4-84" fmla="*/ 707686 h 707686"/>
              <a:gd name="connsiteX0-85" fmla="*/ 0 w 2042339"/>
              <a:gd name="connsiteY0-86" fmla="*/ 707686 h 707686"/>
              <a:gd name="connsiteX1-87" fmla="*/ 8282 w 2042339"/>
              <a:gd name="connsiteY1-88" fmla="*/ 0 h 707686"/>
              <a:gd name="connsiteX2-89" fmla="*/ 2042339 w 2042339"/>
              <a:gd name="connsiteY2-90" fmla="*/ 14990 h 707686"/>
              <a:gd name="connsiteX3-91" fmla="*/ 1659303 w 2042339"/>
              <a:gd name="connsiteY3-92" fmla="*/ 707686 h 707686"/>
              <a:gd name="connsiteX4-93" fmla="*/ 0 w 2042339"/>
              <a:gd name="connsiteY4-94" fmla="*/ 707686 h 707686"/>
              <a:gd name="connsiteX0-95" fmla="*/ 0 w 2297172"/>
              <a:gd name="connsiteY0-96" fmla="*/ 707686 h 707686"/>
              <a:gd name="connsiteX1-97" fmla="*/ 8282 w 2297172"/>
              <a:gd name="connsiteY1-98" fmla="*/ 0 h 707686"/>
              <a:gd name="connsiteX2-99" fmla="*/ 2297172 w 2297172"/>
              <a:gd name="connsiteY2-100" fmla="*/ 0 h 707686"/>
              <a:gd name="connsiteX3-101" fmla="*/ 1659303 w 2297172"/>
              <a:gd name="connsiteY3-102" fmla="*/ 707686 h 707686"/>
              <a:gd name="connsiteX4-103" fmla="*/ 0 w 2297172"/>
              <a:gd name="connsiteY4-104" fmla="*/ 707686 h 707686"/>
              <a:gd name="connsiteX0-105" fmla="*/ 0 w 2537015"/>
              <a:gd name="connsiteY0-106" fmla="*/ 707686 h 707686"/>
              <a:gd name="connsiteX1-107" fmla="*/ 8282 w 2537015"/>
              <a:gd name="connsiteY1-108" fmla="*/ 0 h 707686"/>
              <a:gd name="connsiteX2-109" fmla="*/ 2537015 w 2537015"/>
              <a:gd name="connsiteY2-110" fmla="*/ 0 h 707686"/>
              <a:gd name="connsiteX3-111" fmla="*/ 1659303 w 2537015"/>
              <a:gd name="connsiteY3-112" fmla="*/ 707686 h 707686"/>
              <a:gd name="connsiteX4-113" fmla="*/ 0 w 2537015"/>
              <a:gd name="connsiteY4-114" fmla="*/ 707686 h 707686"/>
              <a:gd name="connsiteX0-115" fmla="*/ 0 w 2537015"/>
              <a:gd name="connsiteY0-116" fmla="*/ 707686 h 707686"/>
              <a:gd name="connsiteX1-117" fmla="*/ 8282 w 2537015"/>
              <a:gd name="connsiteY1-118" fmla="*/ 0 h 707686"/>
              <a:gd name="connsiteX2-119" fmla="*/ 2537015 w 2537015"/>
              <a:gd name="connsiteY2-120" fmla="*/ 0 h 707686"/>
              <a:gd name="connsiteX3-121" fmla="*/ 1869165 w 2537015"/>
              <a:gd name="connsiteY3-122" fmla="*/ 707686 h 707686"/>
              <a:gd name="connsiteX4-123" fmla="*/ 0 w 2537015"/>
              <a:gd name="connsiteY4-124" fmla="*/ 707686 h 70768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537015" h="707686">
                <a:moveTo>
                  <a:pt x="0" y="707686"/>
                </a:moveTo>
                <a:cubicBezTo>
                  <a:pt x="2761" y="471791"/>
                  <a:pt x="5521" y="235895"/>
                  <a:pt x="8282" y="0"/>
                </a:cubicBezTo>
                <a:lnTo>
                  <a:pt x="2537015" y="0"/>
                </a:lnTo>
                <a:lnTo>
                  <a:pt x="1869165" y="707686"/>
                </a:lnTo>
                <a:lnTo>
                  <a:pt x="0" y="707686"/>
                </a:lnTo>
                <a:close/>
              </a:path>
            </a:pathLst>
          </a:custGeom>
          <a:solidFill>
            <a:srgbClr val="F6941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fontAlgn="auto"/>
            <a:endParaRPr lang="zh-CN" altLang="en-US" strike="noStrike" noProof="1">
              <a:solidFill>
                <a:prstClr val="white"/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 flipH="1">
            <a:off x="7864321" y="5431711"/>
            <a:ext cx="1019148" cy="1145940"/>
          </a:xfrm>
          <a:prstGeom prst="line">
            <a:avLst/>
          </a:prstGeom>
          <a:ln w="12700">
            <a:gradFill>
              <a:gsLst>
                <a:gs pos="1250">
                  <a:schemeClr val="bg1">
                    <a:lumMod val="65000"/>
                    <a:alpha val="0"/>
                  </a:schemeClr>
                </a:gs>
                <a:gs pos="100000">
                  <a:schemeClr val="bg1">
                    <a:lumMod val="65000"/>
                    <a:alpha val="0"/>
                  </a:schemeClr>
                </a:gs>
                <a:gs pos="50000">
                  <a:schemeClr val="tx1">
                    <a:lumMod val="95000"/>
                    <a:lumOff val="5000"/>
                  </a:schemeClr>
                </a:gs>
                <a:gs pos="100000">
                  <a:schemeClr val="bg1">
                    <a:lumMod val="65000"/>
                    <a:alpha val="0"/>
                  </a:schemeClr>
                </a:gs>
              </a:gsLst>
              <a:lin ang="0" scaled="0"/>
            </a:gradFill>
          </a:ln>
          <a:effectLst>
            <a:outerShdw blurRad="63500" dist="25400" dir="5400000" sx="170000" sy="170000" algn="ctr" rotWithShape="0">
              <a:schemeClr val="tx1">
                <a:alpha val="92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>
              <a:defRPr/>
            </a:pPr>
            <a:fld id="{E03C2985-DA0A-423A-A02E-2E38F06C445F}" type="datetime1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  <a:t>2026/3/23</a:t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>
              <a:defRPr/>
            </a:pPr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>
              <a:defRPr/>
            </a:pPr>
            <a:fld id="{A60C455B-B212-44F5-BDE5-4E865130930B}" type="slidenum">
              <a:rPr lang="en-US" altLang="zh-CN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>
              <a:defRPr/>
            </a:pPr>
            <a:fld id="{77332379-8504-4B52-80B8-13CE9A735353}" type="datetime1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  <a:t>2026/3/23</a:t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>
              <a:defRPr/>
            </a:pPr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>
              <a:defRPr/>
            </a:pPr>
            <a:fld id="{A60C455B-B212-44F5-BDE5-4E865130930B}" type="slidenum">
              <a:rPr lang="en-US" altLang="zh-CN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>
              <a:defRPr/>
            </a:pPr>
            <a:fld id="{77332379-8504-4B52-80B8-13CE9A735353}" type="datetime1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  <a:t>2026/3/23</a:t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>
              <a:defRPr/>
            </a:pPr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>
              <a:defRPr/>
            </a:pPr>
            <a:fld id="{A60C455B-B212-44F5-BDE5-4E865130930B}" type="slidenum">
              <a:rPr lang="en-US" altLang="zh-CN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>
              <a:defRPr/>
            </a:pPr>
            <a:fld id="{77332379-8504-4B52-80B8-13CE9A735353}" type="datetime1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  <a:t>2026/3/23</a:t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>
              <a:defRPr/>
            </a:pPr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>
              <a:defRPr/>
            </a:pPr>
            <a:fld id="{A60C455B-B212-44F5-BDE5-4E865130930B}" type="slidenum">
              <a:rPr lang="en-US" altLang="zh-CN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pattFill prst="smGrid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9144000" cy="692696"/>
          </a:xfrm>
          <a:prstGeom prst="rect">
            <a:avLst/>
          </a:prstGeom>
          <a:gradFill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7500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fontAlgn="auto"/>
            <a:endParaRPr lang="zh-CN" altLang="en-US" strike="noStrike" noProof="1">
              <a:solidFill>
                <a:prstClr val="white"/>
              </a:solidFill>
            </a:endParaRPr>
          </a:p>
        </p:txBody>
      </p:sp>
      <p:sp>
        <p:nvSpPr>
          <p:cNvPr id="6" name="平行四边形 49"/>
          <p:cNvSpPr/>
          <p:nvPr/>
        </p:nvSpPr>
        <p:spPr>
          <a:xfrm>
            <a:off x="-30162" y="-14287"/>
            <a:ext cx="2536825" cy="706438"/>
          </a:xfrm>
          <a:custGeom>
            <a:avLst/>
            <a:gdLst>
              <a:gd name="connsiteX0" fmla="*/ 0 w 1547664"/>
              <a:gd name="connsiteY0" fmla="*/ 692696 h 692696"/>
              <a:gd name="connsiteX1" fmla="*/ 173174 w 1547664"/>
              <a:gd name="connsiteY1" fmla="*/ 0 h 692696"/>
              <a:gd name="connsiteX2" fmla="*/ 1547664 w 1547664"/>
              <a:gd name="connsiteY2" fmla="*/ 0 h 692696"/>
              <a:gd name="connsiteX3" fmla="*/ 1374490 w 1547664"/>
              <a:gd name="connsiteY3" fmla="*/ 692696 h 692696"/>
              <a:gd name="connsiteX4" fmla="*/ 0 w 1547664"/>
              <a:gd name="connsiteY4" fmla="*/ 692696 h 692696"/>
              <a:gd name="connsiteX0-1" fmla="*/ 61228 w 1608892"/>
              <a:gd name="connsiteY0-2" fmla="*/ 722676 h 722676"/>
              <a:gd name="connsiteX1-3" fmla="*/ 234402 w 1608892"/>
              <a:gd name="connsiteY1-4" fmla="*/ 29980 h 722676"/>
              <a:gd name="connsiteX2-5" fmla="*/ 1267 w 1608892"/>
              <a:gd name="connsiteY2-6" fmla="*/ 0 h 722676"/>
              <a:gd name="connsiteX3-7" fmla="*/ 1608892 w 1608892"/>
              <a:gd name="connsiteY3-8" fmla="*/ 29980 h 722676"/>
              <a:gd name="connsiteX4-9" fmla="*/ 1435718 w 1608892"/>
              <a:gd name="connsiteY4-10" fmla="*/ 722676 h 722676"/>
              <a:gd name="connsiteX5" fmla="*/ 61228 w 1608892"/>
              <a:gd name="connsiteY5" fmla="*/ 722676 h 722676"/>
              <a:gd name="connsiteX0-11" fmla="*/ 63273 w 1610937"/>
              <a:gd name="connsiteY0-12" fmla="*/ 722676 h 722676"/>
              <a:gd name="connsiteX1-13" fmla="*/ 56565 w 1610937"/>
              <a:gd name="connsiteY1-14" fmla="*/ 44970 h 722676"/>
              <a:gd name="connsiteX2-15" fmla="*/ 3312 w 1610937"/>
              <a:gd name="connsiteY2-16" fmla="*/ 0 h 722676"/>
              <a:gd name="connsiteX3-17" fmla="*/ 1610937 w 1610937"/>
              <a:gd name="connsiteY3-18" fmla="*/ 29980 h 722676"/>
              <a:gd name="connsiteX4-19" fmla="*/ 1437763 w 1610937"/>
              <a:gd name="connsiteY4-20" fmla="*/ 722676 h 722676"/>
              <a:gd name="connsiteX5-21" fmla="*/ 63273 w 1610937"/>
              <a:gd name="connsiteY5-22" fmla="*/ 722676 h 722676"/>
              <a:gd name="connsiteX0-23" fmla="*/ 63273 w 2075632"/>
              <a:gd name="connsiteY0-24" fmla="*/ 722676 h 722676"/>
              <a:gd name="connsiteX1-25" fmla="*/ 56565 w 2075632"/>
              <a:gd name="connsiteY1-26" fmla="*/ 44970 h 722676"/>
              <a:gd name="connsiteX2-27" fmla="*/ 3312 w 2075632"/>
              <a:gd name="connsiteY2-28" fmla="*/ 0 h 722676"/>
              <a:gd name="connsiteX3-29" fmla="*/ 2075632 w 2075632"/>
              <a:gd name="connsiteY3-30" fmla="*/ 29980 h 722676"/>
              <a:gd name="connsiteX4-31" fmla="*/ 1437763 w 2075632"/>
              <a:gd name="connsiteY4-32" fmla="*/ 722676 h 722676"/>
              <a:gd name="connsiteX5-33" fmla="*/ 63273 w 2075632"/>
              <a:gd name="connsiteY5-34" fmla="*/ 722676 h 722676"/>
              <a:gd name="connsiteX0-35" fmla="*/ 6708 w 2019067"/>
              <a:gd name="connsiteY0-36" fmla="*/ 771160 h 771160"/>
              <a:gd name="connsiteX1-37" fmla="*/ 0 w 2019067"/>
              <a:gd name="connsiteY1-38" fmla="*/ 93454 h 771160"/>
              <a:gd name="connsiteX2-39" fmla="*/ 2019067 w 2019067"/>
              <a:gd name="connsiteY2-40" fmla="*/ 78464 h 771160"/>
              <a:gd name="connsiteX3-41" fmla="*/ 1381198 w 2019067"/>
              <a:gd name="connsiteY3-42" fmla="*/ 771160 h 771160"/>
              <a:gd name="connsiteX4-43" fmla="*/ 6708 w 2019067"/>
              <a:gd name="connsiteY4-44" fmla="*/ 771160 h 771160"/>
              <a:gd name="connsiteX0-45" fmla="*/ 6708 w 2019067"/>
              <a:gd name="connsiteY0-46" fmla="*/ 740785 h 740785"/>
              <a:gd name="connsiteX1-47" fmla="*/ 0 w 2019067"/>
              <a:gd name="connsiteY1-48" fmla="*/ 63079 h 740785"/>
              <a:gd name="connsiteX2-49" fmla="*/ 2019067 w 2019067"/>
              <a:gd name="connsiteY2-50" fmla="*/ 48089 h 740785"/>
              <a:gd name="connsiteX3-51" fmla="*/ 1381198 w 2019067"/>
              <a:gd name="connsiteY3-52" fmla="*/ 740785 h 740785"/>
              <a:gd name="connsiteX4-53" fmla="*/ 6708 w 2019067"/>
              <a:gd name="connsiteY4-54" fmla="*/ 740785 h 740785"/>
              <a:gd name="connsiteX0-55" fmla="*/ 6708 w 2019067"/>
              <a:gd name="connsiteY0-56" fmla="*/ 692696 h 692696"/>
              <a:gd name="connsiteX1-57" fmla="*/ 0 w 2019067"/>
              <a:gd name="connsiteY1-58" fmla="*/ 14990 h 692696"/>
              <a:gd name="connsiteX2-59" fmla="*/ 2019067 w 2019067"/>
              <a:gd name="connsiteY2-60" fmla="*/ 0 h 692696"/>
              <a:gd name="connsiteX3-61" fmla="*/ 1381198 w 2019067"/>
              <a:gd name="connsiteY3-62" fmla="*/ 692696 h 692696"/>
              <a:gd name="connsiteX4-63" fmla="*/ 6708 w 2019067"/>
              <a:gd name="connsiteY4-64" fmla="*/ 692696 h 692696"/>
              <a:gd name="connsiteX0-65" fmla="*/ 21698 w 2034057"/>
              <a:gd name="connsiteY0-66" fmla="*/ 707686 h 707686"/>
              <a:gd name="connsiteX1-67" fmla="*/ 0 w 2034057"/>
              <a:gd name="connsiteY1-68" fmla="*/ 0 h 707686"/>
              <a:gd name="connsiteX2-69" fmla="*/ 2034057 w 2034057"/>
              <a:gd name="connsiteY2-70" fmla="*/ 14990 h 707686"/>
              <a:gd name="connsiteX3-71" fmla="*/ 1396188 w 2034057"/>
              <a:gd name="connsiteY3-72" fmla="*/ 707686 h 707686"/>
              <a:gd name="connsiteX4-73" fmla="*/ 21698 w 2034057"/>
              <a:gd name="connsiteY4-74" fmla="*/ 707686 h 707686"/>
              <a:gd name="connsiteX0-75" fmla="*/ 0 w 2042339"/>
              <a:gd name="connsiteY0-76" fmla="*/ 707686 h 707686"/>
              <a:gd name="connsiteX1-77" fmla="*/ 8282 w 2042339"/>
              <a:gd name="connsiteY1-78" fmla="*/ 0 h 707686"/>
              <a:gd name="connsiteX2-79" fmla="*/ 2042339 w 2042339"/>
              <a:gd name="connsiteY2-80" fmla="*/ 14990 h 707686"/>
              <a:gd name="connsiteX3-81" fmla="*/ 1404470 w 2042339"/>
              <a:gd name="connsiteY3-82" fmla="*/ 707686 h 707686"/>
              <a:gd name="connsiteX4-83" fmla="*/ 0 w 2042339"/>
              <a:gd name="connsiteY4-84" fmla="*/ 707686 h 707686"/>
              <a:gd name="connsiteX0-85" fmla="*/ 0 w 2042339"/>
              <a:gd name="connsiteY0-86" fmla="*/ 707686 h 707686"/>
              <a:gd name="connsiteX1-87" fmla="*/ 8282 w 2042339"/>
              <a:gd name="connsiteY1-88" fmla="*/ 0 h 707686"/>
              <a:gd name="connsiteX2-89" fmla="*/ 2042339 w 2042339"/>
              <a:gd name="connsiteY2-90" fmla="*/ 14990 h 707686"/>
              <a:gd name="connsiteX3-91" fmla="*/ 1659303 w 2042339"/>
              <a:gd name="connsiteY3-92" fmla="*/ 707686 h 707686"/>
              <a:gd name="connsiteX4-93" fmla="*/ 0 w 2042339"/>
              <a:gd name="connsiteY4-94" fmla="*/ 707686 h 707686"/>
              <a:gd name="connsiteX0-95" fmla="*/ 0 w 2297172"/>
              <a:gd name="connsiteY0-96" fmla="*/ 707686 h 707686"/>
              <a:gd name="connsiteX1-97" fmla="*/ 8282 w 2297172"/>
              <a:gd name="connsiteY1-98" fmla="*/ 0 h 707686"/>
              <a:gd name="connsiteX2-99" fmla="*/ 2297172 w 2297172"/>
              <a:gd name="connsiteY2-100" fmla="*/ 0 h 707686"/>
              <a:gd name="connsiteX3-101" fmla="*/ 1659303 w 2297172"/>
              <a:gd name="connsiteY3-102" fmla="*/ 707686 h 707686"/>
              <a:gd name="connsiteX4-103" fmla="*/ 0 w 2297172"/>
              <a:gd name="connsiteY4-104" fmla="*/ 707686 h 707686"/>
              <a:gd name="connsiteX0-105" fmla="*/ 0 w 2537015"/>
              <a:gd name="connsiteY0-106" fmla="*/ 707686 h 707686"/>
              <a:gd name="connsiteX1-107" fmla="*/ 8282 w 2537015"/>
              <a:gd name="connsiteY1-108" fmla="*/ 0 h 707686"/>
              <a:gd name="connsiteX2-109" fmla="*/ 2537015 w 2537015"/>
              <a:gd name="connsiteY2-110" fmla="*/ 0 h 707686"/>
              <a:gd name="connsiteX3-111" fmla="*/ 1659303 w 2537015"/>
              <a:gd name="connsiteY3-112" fmla="*/ 707686 h 707686"/>
              <a:gd name="connsiteX4-113" fmla="*/ 0 w 2537015"/>
              <a:gd name="connsiteY4-114" fmla="*/ 707686 h 707686"/>
              <a:gd name="connsiteX0-115" fmla="*/ 0 w 2537015"/>
              <a:gd name="connsiteY0-116" fmla="*/ 707686 h 707686"/>
              <a:gd name="connsiteX1-117" fmla="*/ 8282 w 2537015"/>
              <a:gd name="connsiteY1-118" fmla="*/ 0 h 707686"/>
              <a:gd name="connsiteX2-119" fmla="*/ 2537015 w 2537015"/>
              <a:gd name="connsiteY2-120" fmla="*/ 0 h 707686"/>
              <a:gd name="connsiteX3-121" fmla="*/ 1869165 w 2537015"/>
              <a:gd name="connsiteY3-122" fmla="*/ 707686 h 707686"/>
              <a:gd name="connsiteX4-123" fmla="*/ 0 w 2537015"/>
              <a:gd name="connsiteY4-124" fmla="*/ 707686 h 70768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537015" h="707686">
                <a:moveTo>
                  <a:pt x="0" y="707686"/>
                </a:moveTo>
                <a:cubicBezTo>
                  <a:pt x="2761" y="471791"/>
                  <a:pt x="5521" y="235895"/>
                  <a:pt x="8282" y="0"/>
                </a:cubicBezTo>
                <a:lnTo>
                  <a:pt x="2537015" y="0"/>
                </a:lnTo>
                <a:lnTo>
                  <a:pt x="1869165" y="707686"/>
                </a:lnTo>
                <a:lnTo>
                  <a:pt x="0" y="707686"/>
                </a:lnTo>
                <a:close/>
              </a:path>
            </a:pathLst>
          </a:custGeom>
          <a:solidFill>
            <a:srgbClr val="F6941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fontAlgn="auto"/>
            <a:endParaRPr lang="zh-CN" altLang="en-US" strike="noStrike" noProof="1">
              <a:solidFill>
                <a:prstClr val="white"/>
              </a:solidFill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H="1">
            <a:off x="7864321" y="5431711"/>
            <a:ext cx="1019148" cy="1145940"/>
          </a:xfrm>
          <a:prstGeom prst="line">
            <a:avLst/>
          </a:prstGeom>
          <a:ln w="12700">
            <a:gradFill>
              <a:gsLst>
                <a:gs pos="1250">
                  <a:schemeClr val="bg1">
                    <a:lumMod val="65000"/>
                    <a:alpha val="0"/>
                  </a:schemeClr>
                </a:gs>
                <a:gs pos="100000">
                  <a:schemeClr val="bg1">
                    <a:lumMod val="65000"/>
                    <a:alpha val="0"/>
                  </a:schemeClr>
                </a:gs>
                <a:gs pos="50000">
                  <a:schemeClr val="tx1">
                    <a:lumMod val="95000"/>
                    <a:lumOff val="5000"/>
                  </a:schemeClr>
                </a:gs>
                <a:gs pos="100000">
                  <a:schemeClr val="bg1">
                    <a:lumMod val="65000"/>
                    <a:alpha val="0"/>
                  </a:schemeClr>
                </a:gs>
              </a:gsLst>
              <a:lin ang="0" scaled="0"/>
            </a:gradFill>
          </a:ln>
          <a:effectLst>
            <a:outerShdw blurRad="63500" dist="25400" dir="5400000" sx="170000" sy="170000" algn="ctr" rotWithShape="0">
              <a:schemeClr val="tx1">
                <a:alpha val="92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589040" y="0"/>
            <a:ext cx="5554960" cy="692696"/>
          </a:xfrm>
        </p:spPr>
        <p:txBody>
          <a:bodyPr>
            <a:noAutofit/>
          </a:bodyPr>
          <a:lstStyle>
            <a:lvl1pPr algn="r">
              <a:defRPr sz="3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>
              <a:defRPr/>
            </a:pPr>
            <a:fld id="{702554A5-A581-4AB9-AEA0-FA3C5F0DF619}" type="datetime1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  <a:t>2026/3/23</a:t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>
              <a:defRPr/>
            </a:pPr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>
              <a:defRPr/>
            </a:pPr>
            <a:fld id="{A60C455B-B212-44F5-BDE5-4E865130930B}" type="slidenum">
              <a:rPr lang="en-US" altLang="zh-CN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pattFill prst="smGrid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 flipH="1">
            <a:off x="7864321" y="5431711"/>
            <a:ext cx="1019148" cy="1145940"/>
          </a:xfrm>
          <a:prstGeom prst="line">
            <a:avLst/>
          </a:prstGeom>
          <a:ln w="12700">
            <a:gradFill>
              <a:gsLst>
                <a:gs pos="1250">
                  <a:schemeClr val="bg1">
                    <a:lumMod val="65000"/>
                    <a:alpha val="0"/>
                  </a:schemeClr>
                </a:gs>
                <a:gs pos="100000">
                  <a:schemeClr val="bg1">
                    <a:lumMod val="65000"/>
                    <a:alpha val="0"/>
                  </a:schemeClr>
                </a:gs>
                <a:gs pos="50000">
                  <a:schemeClr val="tx1">
                    <a:lumMod val="95000"/>
                    <a:lumOff val="5000"/>
                  </a:schemeClr>
                </a:gs>
                <a:gs pos="100000">
                  <a:schemeClr val="bg1">
                    <a:lumMod val="65000"/>
                    <a:alpha val="0"/>
                  </a:schemeClr>
                </a:gs>
              </a:gsLst>
              <a:lin ang="0" scaled="0"/>
            </a:gradFill>
          </a:ln>
          <a:effectLst>
            <a:outerShdw blurRad="63500" dist="25400" dir="5400000" sx="170000" sy="170000" algn="ctr" rotWithShape="0">
              <a:schemeClr val="tx1">
                <a:alpha val="92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>
              <a:defRPr/>
            </a:pPr>
            <a:fld id="{9891A0AF-8D07-42A7-B1EB-C2BD93C0D5E5}" type="datetime1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  <a:t>2026/3/23</a:t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>
              <a:defRPr/>
            </a:pPr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fontAlgn="auto">
              <a:defRPr/>
            </a:pPr>
            <a:fld id="{A60C455B-B212-44F5-BDE5-4E865130930B}" type="slidenum">
              <a:rPr lang="en-US" altLang="zh-CN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>
              <a:defRPr/>
            </a:pPr>
            <a:fld id="{77332379-8504-4B52-80B8-13CE9A735353}" type="datetime1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  <a:t>2026/3/23</a:t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>
              <a:defRPr/>
            </a:pPr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>
              <a:defRPr/>
            </a:pPr>
            <a:fld id="{A60C455B-B212-44F5-BDE5-4E865130930B}" type="slidenum">
              <a:rPr lang="en-US" altLang="zh-CN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fontAlgn="auto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>
              <a:defRPr/>
            </a:pPr>
            <a:fld id="{77332379-8504-4B52-80B8-13CE9A735353}" type="datetime1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  <a:t>2026/3/23</a:t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>
              <a:defRPr/>
            </a:pPr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>
              <a:defRPr/>
            </a:pPr>
            <a:fld id="{A60C455B-B212-44F5-BDE5-4E865130930B}" type="slidenum">
              <a:rPr lang="en-US" altLang="zh-CN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>
              <a:defRPr/>
            </a:pPr>
            <a:fld id="{77332379-8504-4B52-80B8-13CE9A735353}" type="datetime1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  <a:t>2026/3/23</a:t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>
              <a:defRPr/>
            </a:pPr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>
              <a:defRPr/>
            </a:pPr>
            <a:fld id="{A60C455B-B212-44F5-BDE5-4E865130930B}" type="slidenum">
              <a:rPr lang="en-US" altLang="zh-CN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>
              <a:defRPr/>
            </a:pPr>
            <a:fld id="{77332379-8504-4B52-80B8-13CE9A735353}" type="datetime1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  <a:t>2026/3/23</a:t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>
              <a:defRPr/>
            </a:pPr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>
              <a:defRPr/>
            </a:pPr>
            <a:fld id="{A60C455B-B212-44F5-BDE5-4E865130930B}" type="slidenum">
              <a:rPr lang="en-US" altLang="zh-CN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fontAlgn="auto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>
              <a:defRPr/>
            </a:pPr>
            <a:fld id="{77332379-8504-4B52-80B8-13CE9A735353}" type="datetime1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  <a:t>2026/3/23</a:t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>
              <a:defRPr/>
            </a:pPr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>
              <a:defRPr/>
            </a:pPr>
            <a:fld id="{A60C455B-B212-44F5-BDE5-4E865130930B}" type="slidenum">
              <a:rPr lang="en-US" altLang="zh-CN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smGrid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 anchorCtr="0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defRPr/>
            </a:pPr>
            <a:fld id="{77332379-8504-4B52-80B8-13CE9A735353}" type="datetime1">
              <a:rPr lang="zh-CN" altLang="en-US" strike="noStrike" noProof="1" smtClean="0">
                <a:latin typeface="+mn-lt"/>
                <a:ea typeface="+mn-ea"/>
                <a:cs typeface="+mn-cs"/>
              </a:rPr>
              <a:t>2026/3/23</a:t>
            </a:fld>
            <a:endParaRPr lang="en-US" altLang="zh-CN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619564F-3A13-4140-9CFC-3B75A7CC7F9C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smGrid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2051" name="文本占位符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defRPr/>
            </a:pPr>
            <a:fld id="{77332379-8504-4B52-80B8-13CE9A735353}" type="datetime1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  <a:t>2026/3/23</a:t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defRPr/>
            </a:pPr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defRPr/>
            </a:pPr>
            <a:fld id="{A60C455B-B212-44F5-BDE5-4E865130930B}" type="slidenum">
              <a:rPr lang="en-US" altLang="zh-CN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altLang="zh-CN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3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11.xml"/><Relationship Id="rId3" Type="http://schemas.openxmlformats.org/officeDocument/2006/relationships/tags" Target="../tags/tag6.xml"/><Relationship Id="rId7" Type="http://schemas.openxmlformats.org/officeDocument/2006/relationships/tags" Target="../tags/tag10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tags" Target="../tags/tag9.xml"/><Relationship Id="rId11" Type="http://schemas.openxmlformats.org/officeDocument/2006/relationships/image" Target="../media/image17.png"/><Relationship Id="rId5" Type="http://schemas.openxmlformats.org/officeDocument/2006/relationships/tags" Target="../tags/tag8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7.xml"/><Relationship Id="rId9" Type="http://schemas.openxmlformats.org/officeDocument/2006/relationships/tags" Target="../tags/tag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tags" Target="../tags/tag21.xml"/><Relationship Id="rId13" Type="http://schemas.openxmlformats.org/officeDocument/2006/relationships/notesSlide" Target="../notesSlides/notesSlide6.xml"/><Relationship Id="rId3" Type="http://schemas.openxmlformats.org/officeDocument/2006/relationships/tags" Target="../tags/tag16.xml"/><Relationship Id="rId7" Type="http://schemas.openxmlformats.org/officeDocument/2006/relationships/tags" Target="../tags/tag20.xml"/><Relationship Id="rId12" Type="http://schemas.openxmlformats.org/officeDocument/2006/relationships/slideLayout" Target="../slideLayouts/slideLayout2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tags" Target="../tags/tag19.xml"/><Relationship Id="rId11" Type="http://schemas.openxmlformats.org/officeDocument/2006/relationships/tags" Target="../tags/tag24.xml"/><Relationship Id="rId5" Type="http://schemas.openxmlformats.org/officeDocument/2006/relationships/tags" Target="../tags/tag18.xml"/><Relationship Id="rId10" Type="http://schemas.openxmlformats.org/officeDocument/2006/relationships/tags" Target="../tags/tag23.xml"/><Relationship Id="rId4" Type="http://schemas.openxmlformats.org/officeDocument/2006/relationships/tags" Target="../tags/tag17.xml"/><Relationship Id="rId9" Type="http://schemas.openxmlformats.org/officeDocument/2006/relationships/tags" Target="../tags/tag2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tags" Target="../tags/tag32.xml"/><Relationship Id="rId13" Type="http://schemas.openxmlformats.org/officeDocument/2006/relationships/slideLayout" Target="../slideLayouts/slideLayout2.xml"/><Relationship Id="rId3" Type="http://schemas.openxmlformats.org/officeDocument/2006/relationships/tags" Target="../tags/tag27.xml"/><Relationship Id="rId7" Type="http://schemas.openxmlformats.org/officeDocument/2006/relationships/tags" Target="../tags/tag31.xml"/><Relationship Id="rId12" Type="http://schemas.openxmlformats.org/officeDocument/2006/relationships/tags" Target="../tags/tag36.xml"/><Relationship Id="rId2" Type="http://schemas.openxmlformats.org/officeDocument/2006/relationships/tags" Target="../tags/tag26.xml"/><Relationship Id="rId16" Type="http://schemas.openxmlformats.org/officeDocument/2006/relationships/image" Target="../media/image20.png"/><Relationship Id="rId1" Type="http://schemas.openxmlformats.org/officeDocument/2006/relationships/tags" Target="../tags/tag25.xml"/><Relationship Id="rId6" Type="http://schemas.openxmlformats.org/officeDocument/2006/relationships/tags" Target="../tags/tag30.xml"/><Relationship Id="rId11" Type="http://schemas.openxmlformats.org/officeDocument/2006/relationships/tags" Target="../tags/tag35.xml"/><Relationship Id="rId5" Type="http://schemas.openxmlformats.org/officeDocument/2006/relationships/tags" Target="../tags/tag29.xml"/><Relationship Id="rId15" Type="http://schemas.openxmlformats.org/officeDocument/2006/relationships/tags" Target="../tags/tag350.xml"/><Relationship Id="rId10" Type="http://schemas.openxmlformats.org/officeDocument/2006/relationships/tags" Target="../tags/tag34.xml"/><Relationship Id="rId4" Type="http://schemas.openxmlformats.org/officeDocument/2006/relationships/tags" Target="../tags/tag28.xml"/><Relationship Id="rId9" Type="http://schemas.openxmlformats.org/officeDocument/2006/relationships/tags" Target="../tags/tag33.xml"/><Relationship Id="rId14" Type="http://schemas.openxmlformats.org/officeDocument/2006/relationships/notesSlide" Target="../notesSlides/notesSlide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7.xml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8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tags" Target="../tags/tag45.xml"/><Relationship Id="rId13" Type="http://schemas.openxmlformats.org/officeDocument/2006/relationships/image" Target="../media/image42.emf"/><Relationship Id="rId3" Type="http://schemas.openxmlformats.org/officeDocument/2006/relationships/tags" Target="../tags/tag40.xml"/><Relationship Id="rId7" Type="http://schemas.openxmlformats.org/officeDocument/2006/relationships/tags" Target="../tags/tag44.xml"/><Relationship Id="rId12" Type="http://schemas.openxmlformats.org/officeDocument/2006/relationships/oleObject" Target="../embeddings/oleObject1.bin"/><Relationship Id="rId2" Type="http://schemas.openxmlformats.org/officeDocument/2006/relationships/tags" Target="../tags/tag39.xml"/><Relationship Id="rId1" Type="http://schemas.openxmlformats.org/officeDocument/2006/relationships/vmlDrawing" Target="../drawings/vmlDrawing1.vml"/><Relationship Id="rId6" Type="http://schemas.openxmlformats.org/officeDocument/2006/relationships/tags" Target="../tags/tag43.xml"/><Relationship Id="rId11" Type="http://schemas.openxmlformats.org/officeDocument/2006/relationships/image" Target="../media/image46.png"/><Relationship Id="rId5" Type="http://schemas.openxmlformats.org/officeDocument/2006/relationships/tags" Target="../tags/tag42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41.xml"/><Relationship Id="rId9" Type="http://schemas.openxmlformats.org/officeDocument/2006/relationships/tags" Target="../tags/tag46.xml"/><Relationship Id="rId14" Type="http://schemas.openxmlformats.org/officeDocument/2006/relationships/image" Target="../media/image1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42.emf"/><Relationship Id="rId4" Type="http://schemas.openxmlformats.org/officeDocument/2006/relationships/oleObject" Target="../embeddings/oleObject2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50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49.png"/><Relationship Id="rId5" Type="http://schemas.openxmlformats.org/officeDocument/2006/relationships/image" Target="../media/image42.emf"/><Relationship Id="rId4" Type="http://schemas.openxmlformats.org/officeDocument/2006/relationships/oleObject" Target="../embeddings/oleObject3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emf"/><Relationship Id="rId13" Type="http://schemas.openxmlformats.org/officeDocument/2006/relationships/tags" Target="../tags/tag52.xml"/><Relationship Id="rId3" Type="http://schemas.openxmlformats.org/officeDocument/2006/relationships/tags" Target="../tags/tag48.xml"/><Relationship Id="rId7" Type="http://schemas.openxmlformats.org/officeDocument/2006/relationships/oleObject" Target="../embeddings/oleObject4.bin"/><Relationship Id="rId12" Type="http://schemas.openxmlformats.org/officeDocument/2006/relationships/image" Target="../media/image52.png"/><Relationship Id="rId2" Type="http://schemas.openxmlformats.org/officeDocument/2006/relationships/tags" Target="../tags/tag47.xml"/><Relationship Id="rId16" Type="http://schemas.openxmlformats.org/officeDocument/2006/relationships/image" Target="../media/image51.png"/><Relationship Id="rId1" Type="http://schemas.openxmlformats.org/officeDocument/2006/relationships/vmlDrawing" Target="../drawings/vmlDrawing4.vml"/><Relationship Id="rId6" Type="http://schemas.openxmlformats.org/officeDocument/2006/relationships/notesSlide" Target="../notesSlides/notesSlide14.xml"/><Relationship Id="rId11" Type="http://schemas.openxmlformats.org/officeDocument/2006/relationships/tags" Target="../tags/tag50.xml"/><Relationship Id="rId5" Type="http://schemas.openxmlformats.org/officeDocument/2006/relationships/slideLayout" Target="../slideLayouts/slideLayout2.xml"/><Relationship Id="rId15" Type="http://schemas.openxmlformats.org/officeDocument/2006/relationships/image" Target="../media/image54.png"/><Relationship Id="rId10" Type="http://schemas.openxmlformats.org/officeDocument/2006/relationships/image" Target="../media/image49.png"/><Relationship Id="rId4" Type="http://schemas.openxmlformats.org/officeDocument/2006/relationships/tags" Target="../tags/tag49.xml"/><Relationship Id="rId9" Type="http://schemas.openxmlformats.org/officeDocument/2006/relationships/tags" Target="../tags/tag480.xml"/><Relationship Id="rId14" Type="http://schemas.openxmlformats.org/officeDocument/2006/relationships/image" Target="../media/image53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tags" Target="../tags/tag59.xml"/><Relationship Id="rId13" Type="http://schemas.openxmlformats.org/officeDocument/2006/relationships/tags" Target="../tags/tag64.xml"/><Relationship Id="rId18" Type="http://schemas.openxmlformats.org/officeDocument/2006/relationships/tags" Target="../tags/tag570.xml"/><Relationship Id="rId3" Type="http://schemas.openxmlformats.org/officeDocument/2006/relationships/tags" Target="../tags/tag54.xml"/><Relationship Id="rId7" Type="http://schemas.openxmlformats.org/officeDocument/2006/relationships/tags" Target="../tags/tag58.xml"/><Relationship Id="rId12" Type="http://schemas.openxmlformats.org/officeDocument/2006/relationships/tags" Target="../tags/tag63.xml"/><Relationship Id="rId17" Type="http://schemas.openxmlformats.org/officeDocument/2006/relationships/image" Target="../media/image57.png"/><Relationship Id="rId2" Type="http://schemas.openxmlformats.org/officeDocument/2006/relationships/tags" Target="../tags/tag53.xml"/><Relationship Id="rId16" Type="http://schemas.openxmlformats.org/officeDocument/2006/relationships/slideLayout" Target="../slideLayouts/slideLayout7.xml"/><Relationship Id="rId20" Type="http://schemas.openxmlformats.org/officeDocument/2006/relationships/image" Target="../media/image17.png"/><Relationship Id="rId1" Type="http://schemas.openxmlformats.org/officeDocument/2006/relationships/tags" Target="../tags/tag51.xml"/><Relationship Id="rId6" Type="http://schemas.openxmlformats.org/officeDocument/2006/relationships/tags" Target="../tags/tag57.xml"/><Relationship Id="rId11" Type="http://schemas.openxmlformats.org/officeDocument/2006/relationships/tags" Target="../tags/tag62.xml"/><Relationship Id="rId5" Type="http://schemas.openxmlformats.org/officeDocument/2006/relationships/tags" Target="../tags/tag56.xml"/><Relationship Id="rId15" Type="http://schemas.openxmlformats.org/officeDocument/2006/relationships/tags" Target="../tags/tag66.xml"/><Relationship Id="rId10" Type="http://schemas.openxmlformats.org/officeDocument/2006/relationships/tags" Target="../tags/tag61.xml"/><Relationship Id="rId19" Type="http://schemas.openxmlformats.org/officeDocument/2006/relationships/image" Target="../media/image59.png"/><Relationship Id="rId4" Type="http://schemas.openxmlformats.org/officeDocument/2006/relationships/tags" Target="../tags/tag55.xml"/><Relationship Id="rId9" Type="http://schemas.openxmlformats.org/officeDocument/2006/relationships/tags" Target="../tags/tag60.xml"/><Relationship Id="rId14" Type="http://schemas.openxmlformats.org/officeDocument/2006/relationships/tags" Target="../tags/tag6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8.png"/><Relationship Id="rId4" Type="http://schemas.openxmlformats.org/officeDocument/2006/relationships/image" Target="../media/image6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2.png"/><Relationship Id="rId4" Type="http://schemas.openxmlformats.org/officeDocument/2006/relationships/image" Target="../media/image6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5" Type="http://schemas.openxmlformats.org/officeDocument/2006/relationships/image" Target="../media/image64.png"/><Relationship Id="rId4" Type="http://schemas.openxmlformats.org/officeDocument/2006/relationships/image" Target="../media/image62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66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6.png"/><Relationship Id="rId4" Type="http://schemas.openxmlformats.org/officeDocument/2006/relationships/image" Target="../media/image74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0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9.png"/><Relationship Id="rId4" Type="http://schemas.openxmlformats.org/officeDocument/2006/relationships/image" Target="../media/image82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3.png"/><Relationship Id="rId4" Type="http://schemas.openxmlformats.org/officeDocument/2006/relationships/image" Target="../media/image85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7" Type="http://schemas.openxmlformats.org/officeDocument/2006/relationships/image" Target="../media/image89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5" Type="http://schemas.openxmlformats.org/officeDocument/2006/relationships/image" Target="../media/image79.png"/><Relationship Id="rId4" Type="http://schemas.openxmlformats.org/officeDocument/2006/relationships/image" Target="../media/image77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tags" Target="../tags/tag74.xml"/><Relationship Id="rId3" Type="http://schemas.openxmlformats.org/officeDocument/2006/relationships/tags" Target="../tags/tag69.xml"/><Relationship Id="rId7" Type="http://schemas.openxmlformats.org/officeDocument/2006/relationships/tags" Target="../tags/tag73.xml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6" Type="http://schemas.openxmlformats.org/officeDocument/2006/relationships/tags" Target="../tags/tag72.xml"/><Relationship Id="rId11" Type="http://schemas.openxmlformats.org/officeDocument/2006/relationships/image" Target="../media/image17.png"/><Relationship Id="rId5" Type="http://schemas.openxmlformats.org/officeDocument/2006/relationships/tags" Target="../tags/tag71.xml"/><Relationship Id="rId10" Type="http://schemas.openxmlformats.org/officeDocument/2006/relationships/image" Target="../media/image90.png"/><Relationship Id="rId4" Type="http://schemas.openxmlformats.org/officeDocument/2006/relationships/tags" Target="../tags/tag70.xml"/><Relationship Id="rId9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2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981200"/>
            <a:ext cx="7772400" cy="1470025"/>
          </a:xfrm>
          <a:ln>
            <a:miter lim="800000"/>
          </a:ln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120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正则表达式</a:t>
            </a:r>
          </a:p>
        </p:txBody>
      </p:sp>
      <p:sp>
        <p:nvSpPr>
          <p:cNvPr id="5122" name="灯片编号占位符 2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wrap="square" lIns="91440" tIns="45720" rIns="91440" bIns="45720" anchor="ctr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200" dirty="0">
                <a:solidFill>
                  <a:srgbClr val="FFFFFF"/>
                </a:solidFill>
              </a:rPr>
              <a:t>1</a:t>
            </a:fld>
            <a:endParaRPr lang="en-US" altLang="zh-CN" sz="1200" dirty="0">
              <a:solidFill>
                <a:srgbClr val="FFFFFF"/>
              </a:solidFill>
            </a:endParaRPr>
          </a:p>
        </p:txBody>
      </p:sp>
      <p:grpSp>
        <p:nvGrpSpPr>
          <p:cNvPr id="5126" name="组合 9"/>
          <p:cNvGrpSpPr/>
          <p:nvPr/>
        </p:nvGrpSpPr>
        <p:grpSpPr>
          <a:xfrm>
            <a:off x="0" y="5030788"/>
            <a:ext cx="8699500" cy="1117600"/>
            <a:chOff x="0" y="5030681"/>
            <a:chExt cx="8700121" cy="1116947"/>
          </a:xfrm>
        </p:grpSpPr>
        <p:sp>
          <p:nvSpPr>
            <p:cNvPr id="11" name="矩形 10"/>
            <p:cNvSpPr/>
            <p:nvPr/>
          </p:nvSpPr>
          <p:spPr>
            <a:xfrm>
              <a:off x="0" y="5030681"/>
              <a:ext cx="8700121" cy="1116947"/>
            </a:xfrm>
            <a:prstGeom prst="rect">
              <a:avLst/>
            </a:prstGeom>
            <a:gradFill>
              <a:gsLst>
                <a:gs pos="0">
                  <a:schemeClr val="bg1">
                    <a:lumMod val="50000"/>
                  </a:schemeClr>
                </a:gs>
                <a:gs pos="99000">
                  <a:schemeClr val="bg1">
                    <a:lumMod val="75000"/>
                  </a:schemeClr>
                </a:gs>
              </a:gsLst>
              <a:path path="circle">
                <a:fillToRect l="100000" t="100000"/>
              </a:path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13" name="组合 12"/>
            <p:cNvGrpSpPr/>
            <p:nvPr/>
          </p:nvGrpSpPr>
          <p:grpSpPr>
            <a:xfrm rot="10800000">
              <a:off x="149602" y="5139274"/>
              <a:ext cx="3166930" cy="810003"/>
              <a:chOff x="2077999" y="5178439"/>
              <a:chExt cx="2948941" cy="683692"/>
            </a:xfrm>
            <a:solidFill>
              <a:schemeClr val="bg1"/>
            </a:solidFill>
          </p:grpSpPr>
          <p:sp>
            <p:nvSpPr>
              <p:cNvPr id="14" name="矩形 13"/>
              <p:cNvSpPr/>
              <p:nvPr/>
            </p:nvSpPr>
            <p:spPr>
              <a:xfrm>
                <a:off x="4662430" y="5178441"/>
                <a:ext cx="364510" cy="683690"/>
              </a:xfrm>
              <a:prstGeom prst="rect">
                <a:avLst/>
              </a:prstGeom>
              <a:solidFill>
                <a:srgbClr val="78AF2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5" name="矩形 25"/>
              <p:cNvSpPr/>
              <p:nvPr/>
            </p:nvSpPr>
            <p:spPr>
              <a:xfrm>
                <a:off x="2077999" y="5178439"/>
                <a:ext cx="2520000" cy="683178"/>
              </a:xfrm>
              <a:custGeom>
                <a:avLst/>
                <a:gdLst/>
                <a:ahLst/>
                <a:cxnLst/>
                <a:rect l="l" t="t" r="r" b="b"/>
                <a:pathLst>
                  <a:path w="3995780" h="1199745">
                    <a:moveTo>
                      <a:pt x="3696727" y="760691"/>
                    </a:moveTo>
                    <a:lnTo>
                      <a:pt x="1033246" y="760691"/>
                    </a:lnTo>
                    <a:lnTo>
                      <a:pt x="1029703" y="940654"/>
                    </a:lnTo>
                    <a:lnTo>
                      <a:pt x="3696727" y="940654"/>
                    </a:lnTo>
                    <a:close/>
                    <a:moveTo>
                      <a:pt x="3700429" y="298400"/>
                    </a:moveTo>
                    <a:lnTo>
                      <a:pt x="1042348" y="298400"/>
                    </a:lnTo>
                    <a:lnTo>
                      <a:pt x="1038805" y="478363"/>
                    </a:lnTo>
                    <a:lnTo>
                      <a:pt x="3700429" y="478363"/>
                    </a:lnTo>
                    <a:close/>
                    <a:moveTo>
                      <a:pt x="3995780" y="2065"/>
                    </a:moveTo>
                    <a:lnTo>
                      <a:pt x="3995780" y="1198688"/>
                    </a:lnTo>
                    <a:lnTo>
                      <a:pt x="1024623" y="1198688"/>
                    </a:lnTo>
                    <a:lnTo>
                      <a:pt x="1024602" y="1199745"/>
                    </a:lnTo>
                    <a:lnTo>
                      <a:pt x="1022842" y="1198688"/>
                    </a:lnTo>
                    <a:lnTo>
                      <a:pt x="1014564" y="1198688"/>
                    </a:lnTo>
                    <a:lnTo>
                      <a:pt x="1014564" y="1193714"/>
                    </a:lnTo>
                    <a:lnTo>
                      <a:pt x="0" y="584102"/>
                    </a:lnTo>
                    <a:lnTo>
                      <a:pt x="1014564" y="18756"/>
                    </a:lnTo>
                    <a:lnTo>
                      <a:pt x="1014564" y="2065"/>
                    </a:lnTo>
                    <a:lnTo>
                      <a:pt x="1044517" y="2065"/>
                    </a:lnTo>
                    <a:lnTo>
                      <a:pt x="1048224" y="0"/>
                    </a:lnTo>
                    <a:lnTo>
                      <a:pt x="1048183" y="2065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</p:grpSp>
      <p:sp>
        <p:nvSpPr>
          <p:cNvPr id="3" name="文本框 2"/>
          <p:cNvSpPr txBox="1"/>
          <p:nvPr/>
        </p:nvSpPr>
        <p:spPr>
          <a:xfrm>
            <a:off x="3276600" y="3644900"/>
            <a:ext cx="2540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eaLnBrk="1" hangingPunct="1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计算机科学与技术学院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哈尔滨工业大学（深圳）</a:t>
            </a:r>
            <a:endParaRPr lang="zh-CN" altLang="en-US"/>
          </a:p>
        </p:txBody>
      </p:sp>
      <p:sp>
        <p:nvSpPr>
          <p:cNvPr id="16" name="圆角矩形 7"/>
          <p:cNvSpPr/>
          <p:nvPr/>
        </p:nvSpPr>
        <p:spPr>
          <a:xfrm>
            <a:off x="835024" y="539092"/>
            <a:ext cx="7473952" cy="1158875"/>
          </a:xfrm>
          <a:prstGeom prst="roundRect">
            <a:avLst>
              <a:gd name="adj" fmla="val 9948"/>
            </a:avLst>
          </a:prstGeom>
          <a:noFill/>
          <a:ln w="25400">
            <a:solidFill>
              <a:srgbClr val="F69418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altLang="zh-CN" sz="3200" b="1" dirty="0" err="1">
                <a:solidFill>
                  <a:srgbClr val="F69418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形式语言与自动机</a:t>
            </a:r>
            <a:endParaRPr lang="en-US" altLang="zh-CN" sz="3200" b="1" dirty="0">
              <a:solidFill>
                <a:srgbClr val="F69418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ctr"/>
            <a:r>
              <a:rPr lang="en-US" altLang="zh-CN" sz="3200" b="1" dirty="0">
                <a:solidFill>
                  <a:srgbClr val="F69418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Formal Languages and Automata Theory</a:t>
            </a:r>
          </a:p>
        </p:txBody>
      </p:sp>
      <p:sp>
        <p:nvSpPr>
          <p:cNvPr id="17" name="TextBox 11"/>
          <p:cNvSpPr txBox="1"/>
          <p:nvPr/>
        </p:nvSpPr>
        <p:spPr>
          <a:xfrm>
            <a:off x="6646863" y="5345291"/>
            <a:ext cx="2039937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algn="ctr" defTabSz="914400">
              <a:buClrTx/>
              <a:buSzTx/>
              <a:buFontTx/>
              <a:defRPr/>
            </a:pPr>
            <a:r>
              <a:rPr kumimoji="0" lang="zh-CN" altLang="en-US" sz="2400" b="1" kern="1200" cap="none" spc="600" normalizeH="0" baseline="0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汤步洲</a:t>
            </a:r>
            <a:r>
              <a:rPr kumimoji="0" lang="en-US" altLang="zh-CN" sz="2400" b="1" kern="1200" cap="none" spc="600" normalizeH="0" baseline="0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kumimoji="0" lang="zh-CN" altLang="en-US" sz="2400" b="1" kern="1200" cap="none" spc="600" normalizeH="0" baseline="0" noProof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课程回顾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990600"/>
            <a:ext cx="8229600" cy="4525963"/>
          </a:xfrm>
        </p:spPr>
        <p:txBody>
          <a:bodyPr/>
          <a:lstStyle/>
          <a:p>
            <a:pPr marL="533400" indent="-533400" algn="just" eaLnBrk="1" hangingPunct="1">
              <a:lnSpc>
                <a:spcPct val="90000"/>
              </a:lnSpc>
              <a:defRPr/>
            </a:pPr>
            <a:r>
              <a:rPr 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DFA, NFA, </a:t>
            </a:r>
            <a:r>
              <a:rPr lang="zh-CN" altLang="en-US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  <a:r>
              <a:rPr 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-NFA</a:t>
            </a:r>
            <a:r>
              <a:rPr lang="zh-CN" altLang="en-US" dirty="0">
                <a:cs typeface="Times New Roman" panose="02020603050405020304" pitchFamily="18" charset="0"/>
              </a:rPr>
              <a:t>在表示语言的能力上是等价的</a:t>
            </a:r>
            <a:endParaRPr lang="en-US" altLang="zh-CN" dirty="0">
              <a:cs typeface="Times New Roman" panose="02020603050405020304" pitchFamily="18" charset="0"/>
            </a:endParaRPr>
          </a:p>
          <a:p>
            <a:pPr marL="933450" lvl="1" indent="-533400" algn="just" eaLnBrk="1" hangingPunct="1">
              <a:lnSpc>
                <a:spcPct val="90000"/>
              </a:lnSpc>
              <a:defRPr/>
            </a:pP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相互之间的转换关系</a:t>
            </a:r>
            <a:endParaRPr lang="en-US" altLang="zh-CN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00050" lvl="1" indent="0" algn="just" eaLnBrk="1" hangingPunct="1">
              <a:lnSpc>
                <a:spcPct val="90000"/>
              </a:lnSpc>
              <a:buFontTx/>
              <a:buNone/>
              <a:defRPr/>
            </a:pPr>
            <a:endParaRPr lang="en-US" altLang="zh-CN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54AF8B-81E5-4F9F-86A5-A682C2C09B60}" type="slidenum">
              <a:rPr lang="en-US" altLang="zh-CN"/>
              <a:t>2</a:t>
            </a:fld>
            <a:endParaRPr lang="en-US" altLang="zh-CN"/>
          </a:p>
        </p:txBody>
      </p:sp>
      <p:sp>
        <p:nvSpPr>
          <p:cNvPr id="819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</p:txBody>
      </p:sp>
      <p:sp>
        <p:nvSpPr>
          <p:cNvPr id="13" name="椭圆 12"/>
          <p:cNvSpPr/>
          <p:nvPr/>
        </p:nvSpPr>
        <p:spPr bwMode="auto">
          <a:xfrm>
            <a:off x="1081087" y="2973388"/>
            <a:ext cx="1828800" cy="72866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DFA</a:t>
            </a:r>
            <a:endParaRPr lang="en-US" sz="28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" name="椭圆 18"/>
          <p:cNvSpPr/>
          <p:nvPr/>
        </p:nvSpPr>
        <p:spPr bwMode="auto">
          <a:xfrm>
            <a:off x="152400" y="4300538"/>
            <a:ext cx="1828800" cy="72866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NFA</a:t>
            </a:r>
            <a:endParaRPr lang="en-US" sz="28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" name="椭圆 19"/>
          <p:cNvSpPr/>
          <p:nvPr/>
        </p:nvSpPr>
        <p:spPr bwMode="auto">
          <a:xfrm>
            <a:off x="2681287" y="4300538"/>
            <a:ext cx="1828800" cy="72866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NFA</a:t>
            </a:r>
            <a:endParaRPr lang="en-US" sz="28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23" name="曲线连接符 22"/>
          <p:cNvCxnSpPr>
            <a:stCxn id="19" idx="1"/>
          </p:cNvCxnSpPr>
          <p:nvPr/>
        </p:nvCxnSpPr>
        <p:spPr bwMode="auto">
          <a:xfrm rot="5400000" flipH="1" flipV="1">
            <a:off x="446474" y="3569436"/>
            <a:ext cx="811560" cy="864065"/>
          </a:xfrm>
          <a:prstGeom prst="curvedConnector2">
            <a:avLst/>
          </a:prstGeom>
          <a:ln w="19050" cmpd="sng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曲线连接符 31"/>
          <p:cNvCxnSpPr>
            <a:stCxn id="13" idx="4"/>
          </p:cNvCxnSpPr>
          <p:nvPr/>
        </p:nvCxnSpPr>
        <p:spPr bwMode="auto">
          <a:xfrm rot="16200000" flipH="1">
            <a:off x="2100262" y="3597275"/>
            <a:ext cx="704850" cy="914400"/>
          </a:xfrm>
          <a:prstGeom prst="curvedConnector2">
            <a:avLst/>
          </a:prstGeom>
          <a:ln w="19050" cmpd="sng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44" name="弧形 14343"/>
          <p:cNvSpPr/>
          <p:nvPr/>
        </p:nvSpPr>
        <p:spPr bwMode="auto">
          <a:xfrm rot="1843104">
            <a:off x="1435100" y="3603625"/>
            <a:ext cx="468312" cy="785813"/>
          </a:xfrm>
          <a:prstGeom prst="arc">
            <a:avLst>
              <a:gd name="adj1" fmla="val 16664903"/>
              <a:gd name="adj2" fmla="val 4224522"/>
            </a:avLst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46" name="曲线连接符 45"/>
          <p:cNvCxnSpPr>
            <a:stCxn id="20" idx="4"/>
            <a:endCxn id="19" idx="4"/>
          </p:cNvCxnSpPr>
          <p:nvPr/>
        </p:nvCxnSpPr>
        <p:spPr bwMode="auto">
          <a:xfrm rot="5400000">
            <a:off x="2331085" y="3764915"/>
            <a:ext cx="3175" cy="2528570"/>
          </a:xfrm>
          <a:prstGeom prst="curvedConnector3">
            <a:avLst>
              <a:gd name="adj1" fmla="val 12210000"/>
            </a:avLst>
          </a:prstGeom>
          <a:ln w="19050" cmpd="sng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4" descr="Diagram&#10;&#10;Description automatically generated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8695" y="3478392"/>
            <a:ext cx="3845084" cy="1036278"/>
          </a:xfrm>
          <a:prstGeom prst="rect">
            <a:avLst/>
          </a:prstGeom>
        </p:spPr>
      </p:pic>
      <p:pic>
        <p:nvPicPr>
          <p:cNvPr id="18" name="Picture 5" descr="Diagram&#10;&#10;Description automatically generated"/>
          <p:cNvPicPr>
            <a:picLocks noChangeAspect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0989" y="2209800"/>
            <a:ext cx="3997150" cy="1116792"/>
          </a:xfrm>
          <a:prstGeom prst="rect">
            <a:avLst/>
          </a:prstGeom>
        </p:spPr>
      </p:pic>
      <p:pic>
        <p:nvPicPr>
          <p:cNvPr id="21" name="Picture 7" descr="A black and silver musical instrument&#10;&#10;Description automatically generated with low confidence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89" r="7963"/>
          <a:stretch>
            <a:fillRect/>
          </a:stretch>
        </p:blipFill>
        <p:spPr>
          <a:xfrm>
            <a:off x="4800600" y="4866233"/>
            <a:ext cx="3967539" cy="1058600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2101993" y="6045621"/>
            <a:ext cx="494001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DFA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所接受的语言是正则语言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828800" y="4953000"/>
            <a:ext cx="99949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简化</a:t>
            </a: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2209800" y="3783965"/>
            <a:ext cx="99949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转换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721"/>
    </mc:Choice>
    <mc:Fallback xmlns="">
      <p:transition spd="slow" advTm="1172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内容大纲</a:t>
            </a:r>
            <a:endParaRPr lang="en-AU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正则表达式</a:t>
            </a:r>
            <a:r>
              <a:rPr lang="en-AU" altLang="zh-CN" dirty="0"/>
              <a:t>	</a:t>
            </a:r>
          </a:p>
          <a:p>
            <a:pPr lvl="1"/>
            <a:r>
              <a:rPr lang="zh-CN" altLang="en-US" dirty="0"/>
              <a:t>正则表达式的递归定义</a:t>
            </a:r>
            <a:endParaRPr lang="en-AU" altLang="zh-CN" dirty="0"/>
          </a:p>
          <a:p>
            <a:pPr lvl="1"/>
            <a:r>
              <a:rPr lang="zh-CN" altLang="en-US" dirty="0"/>
              <a:t>正则表达式的示例</a:t>
            </a:r>
            <a:endParaRPr lang="en-AU" altLang="zh-CN" dirty="0"/>
          </a:p>
          <a:p>
            <a:r>
              <a:rPr lang="zh-CN" altLang="en-US" dirty="0"/>
              <a:t>有穷自动机和正则表达式</a:t>
            </a:r>
            <a:endParaRPr lang="en-AU" altLang="zh-CN" dirty="0"/>
          </a:p>
          <a:p>
            <a:pPr lvl="1"/>
            <a:r>
              <a:rPr lang="zh-CN" altLang="en-US" dirty="0"/>
              <a:t>由自动机到正则表达式</a:t>
            </a:r>
            <a:endParaRPr lang="en-AU" altLang="zh-CN" dirty="0"/>
          </a:p>
          <a:p>
            <a:pPr lvl="1"/>
            <a:r>
              <a:rPr lang="zh-CN" altLang="en-US" dirty="0"/>
              <a:t>由正则表达式到自动机</a:t>
            </a:r>
            <a:endParaRPr lang="en-AU" altLang="zh-CN" dirty="0"/>
          </a:p>
          <a:p>
            <a:r>
              <a:rPr lang="zh-CN" altLang="en-US" dirty="0"/>
              <a:t>正则表达式的代数定律</a:t>
            </a:r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19564F-3A13-4140-9CFC-3B75A7CC7F9C}" type="slidenum">
              <a:rPr lang="en-US" altLang="zh-CN" smtClean="0"/>
              <a:t>3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775"/>
    </mc:Choice>
    <mc:Fallback xmlns="">
      <p:transition spd="slow" advTm="19775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内容大纲</a:t>
            </a:r>
            <a:endParaRPr lang="en-AU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正则表达式</a:t>
            </a:r>
            <a:r>
              <a:rPr lang="en-AU" altLang="zh-CN" dirty="0"/>
              <a:t>	</a:t>
            </a:r>
          </a:p>
          <a:p>
            <a:pPr lvl="1"/>
            <a:r>
              <a:rPr lang="zh-CN" altLang="en-US" dirty="0"/>
              <a:t>正则表达式的递归定义</a:t>
            </a:r>
            <a:endParaRPr lang="en-AU" altLang="zh-CN" dirty="0"/>
          </a:p>
          <a:p>
            <a:pPr lvl="1"/>
            <a:r>
              <a:rPr lang="zh-CN" altLang="en-US" dirty="0"/>
              <a:t>正则表达式的示例</a:t>
            </a:r>
            <a:endParaRPr lang="en-AU" altLang="zh-CN" dirty="0"/>
          </a:p>
          <a:p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有穷自动机和正则表达式</a:t>
            </a:r>
            <a:endParaRPr lang="en-AU" altLang="zh-CN" dirty="0">
              <a:solidFill>
                <a:schemeClr val="bg1">
                  <a:lumMod val="75000"/>
                </a:schemeClr>
              </a:solidFill>
            </a:endParaRPr>
          </a:p>
          <a:p>
            <a:pPr lvl="1"/>
            <a:r>
              <a:rPr lang="zh-CN" altLang="en-US" dirty="0">
                <a:solidFill>
                  <a:srgbClr val="BFBFBF"/>
                </a:solidFill>
              </a:rPr>
              <a:t>由自动机到正则表达式</a:t>
            </a:r>
            <a:endParaRPr lang="en-AU" altLang="zh-CN" dirty="0">
              <a:solidFill>
                <a:srgbClr val="BFBFBF"/>
              </a:solidFill>
            </a:endParaRPr>
          </a:p>
          <a:p>
            <a:pPr lvl="1"/>
            <a:r>
              <a:rPr lang="zh-CN" altLang="en-US" dirty="0">
                <a:solidFill>
                  <a:srgbClr val="BFBFBF"/>
                </a:solidFill>
              </a:rPr>
              <a:t>由正则表达式到自动机</a:t>
            </a:r>
            <a:endParaRPr lang="en-AU" altLang="zh-CN" dirty="0">
              <a:solidFill>
                <a:srgbClr val="BFBFBF"/>
              </a:solidFill>
            </a:endParaRPr>
          </a:p>
          <a:p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正则表达式的代数定律</a:t>
            </a:r>
            <a:endParaRPr lang="en-AU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19564F-3A13-4140-9CFC-3B75A7CC7F9C}" type="slidenum">
              <a:rPr lang="en-US" altLang="zh-CN" smtClean="0"/>
              <a:t>4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775"/>
    </mc:Choice>
    <mc:Fallback xmlns="">
      <p:transition spd="slow" advTm="19775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正则表达式的起源</a:t>
            </a:r>
            <a:endParaRPr lang="en-AU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28794" y="933972"/>
            <a:ext cx="4343400" cy="5571000"/>
          </a:xfrm>
        </p:spPr>
        <p:txBody>
          <a:bodyPr>
            <a:normAutofit/>
          </a:bodyPr>
          <a:lstStyle/>
          <a:p>
            <a:pPr>
              <a:lnSpc>
                <a:spcPct val="125000"/>
              </a:lnSpc>
            </a:pPr>
            <a:r>
              <a:rPr lang="zh-CN" altLang="en-US" sz="1800" b="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正则表达式的“鼻祖”</a:t>
            </a: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或许可一直追溯到科学家对人类神经系统工作原理的早期研究。美国新泽西州的</a:t>
            </a:r>
            <a:r>
              <a:rPr lang="en-US" altLang="zh-CN" sz="1800" b="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Warren McCulloch</a:t>
            </a: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和出生在美国底特律的</a:t>
            </a:r>
            <a:r>
              <a:rPr lang="en-US" altLang="zh-CN" sz="1800" b="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Walter Pitts</a:t>
            </a: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这两位神经生理方面的科学家，研究出了一种用数学方式来描述神经网络的新方法。</a:t>
            </a:r>
            <a:endParaRPr lang="en-US" altLang="zh-CN" sz="18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1951 </a:t>
            </a: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一位名叫</a:t>
            </a:r>
            <a:r>
              <a:rPr lang="en-US" altLang="zh-CN" sz="1800" b="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Stephen Kleene</a:t>
            </a:r>
            <a:r>
              <a:rPr lang="zh-CN" altLang="en-US" sz="1800" b="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（师从</a:t>
            </a:r>
            <a:r>
              <a:rPr lang="en-US" altLang="zh-CN" sz="1800" b="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Alonzo Church </a:t>
            </a:r>
            <a:r>
              <a:rPr lang="zh-CN" altLang="en-US" sz="1800" b="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的数学科学家，他在</a:t>
            </a:r>
            <a:r>
              <a:rPr lang="en-US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Warren McCulloch</a:t>
            </a: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Walter Pitts</a:t>
            </a: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早期工作的基础之上，发表了一篇题目是</a:t>
            </a:r>
            <a:r>
              <a:rPr lang="en-US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神经网事件的表示法</a:t>
            </a:r>
            <a:r>
              <a:rPr lang="en-US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的论文，利用称之为</a:t>
            </a:r>
            <a:r>
              <a:rPr lang="zh-CN" altLang="en-US" sz="1800" b="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正则集合的数学符号</a:t>
            </a: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来描述此模型，引入了</a:t>
            </a:r>
            <a:r>
              <a:rPr lang="zh-CN" altLang="en-US" sz="1800" b="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正则表达式</a:t>
            </a: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的概念。</a:t>
            </a:r>
            <a:endParaRPr lang="en-AU" sz="18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19564F-3A13-4140-9CFC-3B75A7CC7F9C}" type="slidenum">
              <a:rPr lang="en-US" altLang="zh-CN" smtClean="0"/>
              <a:t>5</a:t>
            </a:fld>
            <a:endParaRPr lang="en-US" altLang="zh-C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788" b="21895"/>
          <a:stretch>
            <a:fillRect/>
          </a:stretch>
        </p:blipFill>
        <p:spPr bwMode="auto">
          <a:xfrm>
            <a:off x="685800" y="822375"/>
            <a:ext cx="2766848" cy="1969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本框 6"/>
          <p:cNvSpPr txBox="1"/>
          <p:nvPr/>
        </p:nvSpPr>
        <p:spPr>
          <a:xfrm>
            <a:off x="685800" y="2791511"/>
            <a:ext cx="2832766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ctr"/>
            <a:r>
              <a:rPr lang="zh-CN" altLang="en-US" sz="1200" b="1" i="0" dirty="0">
                <a:solidFill>
                  <a:srgbClr val="333333"/>
                </a:solidFill>
                <a:effectLst/>
                <a:latin typeface="Helvetica Neue"/>
              </a:rPr>
              <a:t>沃伦</a:t>
            </a:r>
            <a:r>
              <a:rPr lang="en-US" altLang="zh-CN" sz="1200" b="1" i="0" dirty="0">
                <a:solidFill>
                  <a:srgbClr val="333333"/>
                </a:solidFill>
                <a:effectLst/>
                <a:latin typeface="Helvetica Neue"/>
              </a:rPr>
              <a:t>·</a:t>
            </a:r>
            <a:r>
              <a:rPr lang="zh-CN" altLang="en-US" sz="1200" b="1" i="0" dirty="0">
                <a:solidFill>
                  <a:srgbClr val="333333"/>
                </a:solidFill>
                <a:effectLst/>
                <a:latin typeface="Helvetica Neue"/>
              </a:rPr>
              <a:t>麦卡洛克</a:t>
            </a:r>
            <a:endParaRPr lang="en-US" altLang="zh-CN" sz="1200" b="1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ctr"/>
            <a:r>
              <a:rPr lang="zh-CN" altLang="en-US" sz="1200" b="1" i="0" dirty="0">
                <a:solidFill>
                  <a:srgbClr val="333333"/>
                </a:solidFill>
                <a:effectLst/>
                <a:latin typeface="Helvetica Neue"/>
              </a:rPr>
              <a:t>神经学家，</a:t>
            </a:r>
            <a:r>
              <a:rPr lang="zh-CN" altLang="en-US" sz="1200" b="1" dirty="0">
                <a:solidFill>
                  <a:srgbClr val="333333"/>
                </a:solidFill>
                <a:latin typeface="Helvetica Neue"/>
              </a:rPr>
              <a:t>计算神经科学的开创者之一</a:t>
            </a:r>
            <a:endParaRPr lang="zh-CN" altLang="zh-CN" sz="1200" b="1" dirty="0">
              <a:solidFill>
                <a:srgbClr val="333333"/>
              </a:solidFill>
              <a:latin typeface="Helvetica Neue"/>
              <a:sym typeface="+mn-ea"/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04" t="13649" r="15198" b="36409"/>
          <a:stretch>
            <a:fillRect/>
          </a:stretch>
        </p:blipFill>
        <p:spPr bwMode="auto">
          <a:xfrm>
            <a:off x="371806" y="3490867"/>
            <a:ext cx="1752601" cy="1825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文本框 6"/>
          <p:cNvSpPr txBox="1"/>
          <p:nvPr/>
        </p:nvSpPr>
        <p:spPr>
          <a:xfrm>
            <a:off x="56754" y="5454883"/>
            <a:ext cx="2366759" cy="646331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ctr"/>
            <a:r>
              <a:rPr lang="zh-CN" altLang="en-US" sz="1200" b="1" i="0" dirty="0">
                <a:solidFill>
                  <a:srgbClr val="333333"/>
                </a:solidFill>
                <a:effectLst/>
                <a:latin typeface="Helvetica Neue"/>
              </a:rPr>
              <a:t>沃尔特</a:t>
            </a:r>
            <a:r>
              <a:rPr lang="en-US" altLang="zh-CN" sz="1200" b="1" i="0" dirty="0">
                <a:solidFill>
                  <a:srgbClr val="333333"/>
                </a:solidFill>
                <a:effectLst/>
                <a:latin typeface="Helvetica Neue"/>
              </a:rPr>
              <a:t>·</a:t>
            </a:r>
            <a:r>
              <a:rPr lang="zh-CN" altLang="en-US" sz="1200" b="1" i="0" dirty="0">
                <a:solidFill>
                  <a:srgbClr val="333333"/>
                </a:solidFill>
                <a:effectLst/>
                <a:latin typeface="Helvetica Neue"/>
              </a:rPr>
              <a:t>皮茨</a:t>
            </a:r>
            <a:endParaRPr lang="en-US" altLang="zh-CN" sz="1200" b="1" i="0" dirty="0">
              <a:solidFill>
                <a:srgbClr val="333333"/>
              </a:solidFill>
              <a:effectLst/>
              <a:latin typeface="Helvetica Neue"/>
            </a:endParaRPr>
          </a:p>
          <a:p>
            <a:r>
              <a:rPr lang="zh-CN" altLang="en-US" sz="1200" b="1" dirty="0">
                <a:solidFill>
                  <a:srgbClr val="333333"/>
                </a:solidFill>
                <a:latin typeface="Helvetica Neue"/>
                <a:sym typeface="+mn-ea"/>
              </a:rPr>
              <a:t>数学家，与麦卡洛克一起研究出世界上第一个神经元网络模型</a:t>
            </a:r>
            <a:endParaRPr lang="zh-CN" altLang="zh-CN" sz="1200" b="1" dirty="0">
              <a:solidFill>
                <a:srgbClr val="333333"/>
              </a:solidFill>
              <a:latin typeface="Helvetica Neue"/>
              <a:sym typeface="+mn-ea"/>
            </a:endParaRPr>
          </a:p>
        </p:txBody>
      </p:sp>
      <p:pic>
        <p:nvPicPr>
          <p:cNvPr id="1030" name="Picture 6" descr="斯蒂芬·科尔·克莱尼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2519" y="3429000"/>
            <a:ext cx="1612970" cy="2190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文本框 6"/>
          <p:cNvSpPr txBox="1"/>
          <p:nvPr/>
        </p:nvSpPr>
        <p:spPr>
          <a:xfrm>
            <a:off x="2295458" y="5712459"/>
            <a:ext cx="2366759" cy="646331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ctr"/>
            <a:r>
              <a:rPr lang="zh-CN" altLang="en-US" sz="1200" b="1" dirty="0">
                <a:solidFill>
                  <a:srgbClr val="333333"/>
                </a:solidFill>
                <a:latin typeface="Helvetica Neue"/>
              </a:rPr>
              <a:t>斯蒂芬</a:t>
            </a:r>
            <a:r>
              <a:rPr lang="en-US" altLang="zh-CN" sz="1200" b="1" dirty="0">
                <a:solidFill>
                  <a:srgbClr val="333333"/>
                </a:solidFill>
                <a:latin typeface="Helvetica Neue"/>
              </a:rPr>
              <a:t>·</a:t>
            </a:r>
            <a:r>
              <a:rPr lang="zh-CN" altLang="en-US" sz="1200" b="1" dirty="0">
                <a:solidFill>
                  <a:srgbClr val="333333"/>
                </a:solidFill>
                <a:latin typeface="Helvetica Neue"/>
              </a:rPr>
              <a:t>科尔</a:t>
            </a:r>
            <a:r>
              <a:rPr lang="en-US" altLang="zh-CN" sz="1200" b="1" dirty="0">
                <a:solidFill>
                  <a:srgbClr val="333333"/>
                </a:solidFill>
                <a:latin typeface="Helvetica Neue"/>
              </a:rPr>
              <a:t>·</a:t>
            </a:r>
            <a:r>
              <a:rPr lang="zh-CN" altLang="en-US" sz="1200" b="1" dirty="0">
                <a:solidFill>
                  <a:srgbClr val="333333"/>
                </a:solidFill>
                <a:latin typeface="Helvetica Neue"/>
              </a:rPr>
              <a:t>克莱因</a:t>
            </a:r>
            <a:endParaRPr lang="en-US" altLang="zh-CN" sz="1200" b="1" dirty="0">
              <a:solidFill>
                <a:srgbClr val="333333"/>
              </a:solidFill>
              <a:latin typeface="Helvetica Neue"/>
            </a:endParaRPr>
          </a:p>
          <a:p>
            <a:r>
              <a:rPr lang="zh-CN" altLang="en-US" sz="1200" b="1" dirty="0">
                <a:solidFill>
                  <a:srgbClr val="333333"/>
                </a:solidFill>
                <a:latin typeface="Helvetica Neue"/>
                <a:sym typeface="+mn-ea"/>
              </a:rPr>
              <a:t>数学家，</a:t>
            </a:r>
            <a:r>
              <a:rPr lang="zh-CN" altLang="en-US" sz="1200" b="1" dirty="0">
                <a:solidFill>
                  <a:srgbClr val="333333"/>
                </a:solidFill>
                <a:latin typeface="Helvetica Neue"/>
              </a:rPr>
              <a:t>他的递归论研究有助于奠定理论计算机科学的基础</a:t>
            </a:r>
            <a:endParaRPr lang="zh-CN" altLang="zh-CN" sz="1200" b="1" dirty="0">
              <a:solidFill>
                <a:srgbClr val="333333"/>
              </a:solidFill>
              <a:latin typeface="Helvetica Neue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775"/>
    </mc:Choice>
    <mc:Fallback xmlns="">
      <p:transition spd="slow" advTm="19775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正则表达式的发展</a:t>
            </a:r>
            <a:endParaRPr lang="en-AU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23352" y="1058400"/>
            <a:ext cx="4468224" cy="5571000"/>
          </a:xfrm>
        </p:spPr>
        <p:txBody>
          <a:bodyPr>
            <a:normAutofit/>
          </a:bodyPr>
          <a:lstStyle/>
          <a:p>
            <a:pPr>
              <a:lnSpc>
                <a:spcPct val="125000"/>
              </a:lnSpc>
            </a:pP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之后一段时间，人们发现可以将正则表达式应用于其他方面。</a:t>
            </a:r>
            <a:r>
              <a:rPr lang="en-US" altLang="zh-CN" sz="1800" b="0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Ken Thompson</a:t>
            </a: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就把这一成果应用于计算搜索算法的一些早期研究，</a:t>
            </a:r>
            <a:r>
              <a:rPr lang="en-US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Ken Thompson</a:t>
            </a: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 </a:t>
            </a:r>
            <a:r>
              <a:rPr lang="en-US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Unix</a:t>
            </a: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的主要发明人，也就是大名鼎鼎的</a:t>
            </a:r>
            <a:r>
              <a:rPr lang="en-US" altLang="zh-CN" sz="1800" b="0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Unix</a:t>
            </a:r>
            <a:r>
              <a:rPr lang="zh-CN" altLang="en-US" sz="1800" b="0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之父</a:t>
            </a: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。自此以后，正则表达式被广泛地应用到各种</a:t>
            </a:r>
            <a:r>
              <a:rPr lang="en-US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UNIX</a:t>
            </a: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或类似于</a:t>
            </a:r>
            <a:r>
              <a:rPr lang="en-US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UNIX</a:t>
            </a: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的工具中，如大家熟知的</a:t>
            </a:r>
            <a:r>
              <a:rPr lang="en-US" altLang="zh-CN" sz="1800" b="0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Perl</a:t>
            </a: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8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不仅众多</a:t>
            </a:r>
            <a:r>
              <a:rPr lang="en-US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UNIX</a:t>
            </a: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工具支持正则表达式，近二十年来，在</a:t>
            </a:r>
            <a:r>
              <a:rPr lang="en-US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WINDOWS</a:t>
            </a: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的阵营下，正则表达式的思想和应用在大部分 </a:t>
            </a:r>
            <a:r>
              <a:rPr lang="en-US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Windows </a:t>
            </a: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开发者工具包中得到支持和嵌入应用。</a:t>
            </a:r>
            <a:endParaRPr lang="en-US" altLang="zh-CN" sz="18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19564F-3A13-4140-9CFC-3B75A7CC7F9C}" type="slidenum">
              <a:rPr lang="en-US" altLang="zh-CN" smtClean="0"/>
              <a:t>6</a:t>
            </a:fld>
            <a:endParaRPr lang="en-US" altLang="zh-CN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173" b="10975"/>
          <a:stretch>
            <a:fillRect/>
          </a:stretch>
        </p:blipFill>
        <p:spPr bwMode="auto">
          <a:xfrm>
            <a:off x="228600" y="922739"/>
            <a:ext cx="1853839" cy="2125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000" b="10975"/>
          <a:stretch>
            <a:fillRect/>
          </a:stretch>
        </p:blipFill>
        <p:spPr bwMode="auto">
          <a:xfrm>
            <a:off x="2082439" y="922739"/>
            <a:ext cx="2196291" cy="2125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236" t="8857" r="31334" b="6572"/>
          <a:stretch>
            <a:fillRect/>
          </a:stretch>
        </p:blipFill>
        <p:spPr bwMode="auto">
          <a:xfrm>
            <a:off x="152424" y="3276600"/>
            <a:ext cx="1066752" cy="136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3799" y="3276600"/>
            <a:ext cx="2814931" cy="1256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Content Placeholder 2"/>
          <p:cNvSpPr txBox="1"/>
          <p:nvPr/>
        </p:nvSpPr>
        <p:spPr>
          <a:xfrm>
            <a:off x="174021" y="4800600"/>
            <a:ext cx="4245579" cy="17548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00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5000"/>
              </a:lnSpc>
            </a:pPr>
            <a:r>
              <a:rPr lang="zh-CN" altLang="en-US" sz="1400" b="0" dirty="0">
                <a:solidFill>
                  <a:srgbClr val="333333"/>
                </a:solidFill>
                <a:latin typeface="Helvetica Neue"/>
              </a:rPr>
              <a:t>主流操作系统（*</a:t>
            </a:r>
            <a:r>
              <a:rPr lang="en-US" altLang="zh-CN" sz="1400" b="0" dirty="0">
                <a:solidFill>
                  <a:srgbClr val="333333"/>
                </a:solidFill>
                <a:latin typeface="Helvetica Neue"/>
              </a:rPr>
              <a:t>nix[Linux, Unix</a:t>
            </a:r>
            <a:r>
              <a:rPr lang="zh-CN" altLang="en-US" sz="1400" b="0" dirty="0">
                <a:solidFill>
                  <a:srgbClr val="333333"/>
                </a:solidFill>
                <a:latin typeface="Helvetica Neue"/>
              </a:rPr>
              <a:t>等</a:t>
            </a:r>
            <a:r>
              <a:rPr lang="en-US" altLang="zh-CN" sz="1400" b="0" dirty="0">
                <a:solidFill>
                  <a:srgbClr val="333333"/>
                </a:solidFill>
                <a:latin typeface="Helvetica Neue"/>
              </a:rPr>
              <a:t>]</a:t>
            </a:r>
            <a:r>
              <a:rPr lang="zh-CN" altLang="en-US" sz="1400" b="0" dirty="0">
                <a:solidFill>
                  <a:srgbClr val="333333"/>
                </a:solidFill>
                <a:latin typeface="Helvetica Neue"/>
              </a:rPr>
              <a:t>、</a:t>
            </a:r>
            <a:r>
              <a:rPr lang="en-US" altLang="zh-CN" sz="1400" b="0" dirty="0">
                <a:solidFill>
                  <a:srgbClr val="333333"/>
                </a:solidFill>
                <a:latin typeface="Helvetica Neue"/>
              </a:rPr>
              <a:t>Windows</a:t>
            </a:r>
            <a:r>
              <a:rPr lang="zh-CN" altLang="en-US" sz="1400" b="0" dirty="0">
                <a:solidFill>
                  <a:srgbClr val="333333"/>
                </a:solidFill>
                <a:latin typeface="Helvetica Neue"/>
              </a:rPr>
              <a:t>、</a:t>
            </a:r>
            <a:r>
              <a:rPr lang="en-US" altLang="zh-CN" sz="1400" b="0" dirty="0">
                <a:solidFill>
                  <a:srgbClr val="333333"/>
                </a:solidFill>
                <a:latin typeface="Helvetica Neue"/>
              </a:rPr>
              <a:t>HP</a:t>
            </a:r>
            <a:r>
              <a:rPr lang="zh-CN" altLang="en-US" sz="1400" b="0" dirty="0">
                <a:solidFill>
                  <a:srgbClr val="333333"/>
                </a:solidFill>
                <a:latin typeface="Helvetica Neue"/>
              </a:rPr>
              <a:t>、</a:t>
            </a:r>
            <a:r>
              <a:rPr lang="en-US" altLang="zh-CN" sz="1400" b="0" dirty="0">
                <a:solidFill>
                  <a:srgbClr val="333333"/>
                </a:solidFill>
                <a:latin typeface="Helvetica Neue"/>
              </a:rPr>
              <a:t>BeOS</a:t>
            </a:r>
            <a:r>
              <a:rPr lang="zh-CN" altLang="en-US" sz="1400" b="0" dirty="0">
                <a:solidFill>
                  <a:srgbClr val="333333"/>
                </a:solidFill>
                <a:latin typeface="Helvetica Neue"/>
              </a:rPr>
              <a:t>等）、主流的开发语言（</a:t>
            </a:r>
            <a:r>
              <a:rPr lang="en-US" altLang="zh-CN" sz="1400" b="0" dirty="0">
                <a:solidFill>
                  <a:srgbClr val="333333"/>
                </a:solidFill>
                <a:latin typeface="Helvetica Neue"/>
              </a:rPr>
              <a:t>Delphi</a:t>
            </a:r>
            <a:r>
              <a:rPr lang="zh-CN" altLang="en-US" sz="1400" b="0" dirty="0">
                <a:solidFill>
                  <a:srgbClr val="333333"/>
                </a:solidFill>
                <a:latin typeface="Helvetica Neue"/>
              </a:rPr>
              <a:t>、</a:t>
            </a:r>
            <a:r>
              <a:rPr lang="en-US" altLang="zh-CN" sz="1400" b="0" dirty="0">
                <a:solidFill>
                  <a:srgbClr val="333333"/>
                </a:solidFill>
                <a:latin typeface="Helvetica Neue"/>
              </a:rPr>
              <a:t>Scala</a:t>
            </a:r>
            <a:r>
              <a:rPr lang="zh-CN" altLang="en-US" sz="1400" b="0" dirty="0">
                <a:solidFill>
                  <a:srgbClr val="333333"/>
                </a:solidFill>
                <a:latin typeface="Helvetica Neue"/>
              </a:rPr>
              <a:t>、</a:t>
            </a:r>
            <a:r>
              <a:rPr lang="en-US" altLang="zh-CN" sz="1400" b="0" dirty="0">
                <a:solidFill>
                  <a:srgbClr val="333333"/>
                </a:solidFill>
                <a:latin typeface="Helvetica Neue"/>
              </a:rPr>
              <a:t>PHP</a:t>
            </a:r>
            <a:r>
              <a:rPr lang="zh-CN" altLang="en-US" sz="1400" b="0" dirty="0">
                <a:solidFill>
                  <a:srgbClr val="333333"/>
                </a:solidFill>
                <a:latin typeface="Helvetica Neue"/>
              </a:rPr>
              <a:t>、</a:t>
            </a:r>
            <a:r>
              <a:rPr lang="en-US" altLang="zh-CN" sz="1400" b="0" dirty="0">
                <a:solidFill>
                  <a:srgbClr val="333333"/>
                </a:solidFill>
                <a:latin typeface="Helvetica Neue"/>
              </a:rPr>
              <a:t>C#</a:t>
            </a:r>
            <a:r>
              <a:rPr lang="zh-CN" altLang="en-US" sz="1400" b="0" dirty="0">
                <a:solidFill>
                  <a:srgbClr val="333333"/>
                </a:solidFill>
                <a:latin typeface="Helvetica Neue"/>
              </a:rPr>
              <a:t>、</a:t>
            </a:r>
            <a:r>
              <a:rPr lang="en-US" altLang="zh-CN" sz="1400" b="0" dirty="0">
                <a:solidFill>
                  <a:srgbClr val="333333"/>
                </a:solidFill>
                <a:latin typeface="Helvetica Neue"/>
              </a:rPr>
              <a:t>Java</a:t>
            </a:r>
            <a:r>
              <a:rPr lang="zh-CN" altLang="en-US" sz="1400" b="0" dirty="0">
                <a:solidFill>
                  <a:srgbClr val="333333"/>
                </a:solidFill>
                <a:latin typeface="Helvetica Neue"/>
              </a:rPr>
              <a:t>、</a:t>
            </a:r>
            <a:r>
              <a:rPr lang="en-US" altLang="zh-CN" sz="1400" b="0" dirty="0">
                <a:solidFill>
                  <a:srgbClr val="333333"/>
                </a:solidFill>
                <a:latin typeface="Helvetica Neue"/>
              </a:rPr>
              <a:t>C++</a:t>
            </a:r>
            <a:r>
              <a:rPr lang="zh-CN" altLang="en-US" sz="1400" b="0" dirty="0">
                <a:solidFill>
                  <a:srgbClr val="333333"/>
                </a:solidFill>
                <a:latin typeface="Helvetica Neue"/>
              </a:rPr>
              <a:t>、</a:t>
            </a:r>
            <a:r>
              <a:rPr lang="en-US" altLang="zh-CN" sz="1400" b="0" dirty="0">
                <a:solidFill>
                  <a:srgbClr val="333333"/>
                </a:solidFill>
                <a:latin typeface="Helvetica Neue"/>
              </a:rPr>
              <a:t>Objective-c</a:t>
            </a:r>
            <a:r>
              <a:rPr lang="zh-CN" altLang="en-US" sz="1400" b="0" dirty="0">
                <a:solidFill>
                  <a:srgbClr val="333333"/>
                </a:solidFill>
                <a:latin typeface="Helvetica Neue"/>
              </a:rPr>
              <a:t>、</a:t>
            </a:r>
            <a:r>
              <a:rPr lang="en-US" altLang="zh-CN" sz="1400" b="0" dirty="0">
                <a:solidFill>
                  <a:srgbClr val="333333"/>
                </a:solidFill>
                <a:latin typeface="Helvetica Neue"/>
              </a:rPr>
              <a:t>Swift</a:t>
            </a:r>
            <a:r>
              <a:rPr lang="zh-CN" altLang="en-US" sz="1400" b="0" dirty="0">
                <a:solidFill>
                  <a:srgbClr val="333333"/>
                </a:solidFill>
                <a:latin typeface="Helvetica Neue"/>
              </a:rPr>
              <a:t>、</a:t>
            </a:r>
            <a:r>
              <a:rPr lang="en-US" altLang="zh-CN" sz="1400" b="0" dirty="0">
                <a:solidFill>
                  <a:srgbClr val="333333"/>
                </a:solidFill>
                <a:latin typeface="Helvetica Neue"/>
              </a:rPr>
              <a:t>VB</a:t>
            </a:r>
            <a:r>
              <a:rPr lang="zh-CN" altLang="en-US" sz="1400" b="0" dirty="0">
                <a:solidFill>
                  <a:srgbClr val="333333"/>
                </a:solidFill>
                <a:latin typeface="Helvetica Neue"/>
              </a:rPr>
              <a:t>、</a:t>
            </a:r>
            <a:r>
              <a:rPr lang="en-US" altLang="zh-CN" sz="1400" b="0" dirty="0" err="1">
                <a:solidFill>
                  <a:srgbClr val="333333"/>
                </a:solidFill>
                <a:latin typeface="Helvetica Neue"/>
              </a:rPr>
              <a:t>Javascript</a:t>
            </a:r>
            <a:r>
              <a:rPr lang="zh-CN" altLang="en-US" sz="1400" b="0" dirty="0">
                <a:solidFill>
                  <a:srgbClr val="333333"/>
                </a:solidFill>
                <a:latin typeface="Helvetica Neue"/>
              </a:rPr>
              <a:t>、</a:t>
            </a:r>
            <a:r>
              <a:rPr lang="en-US" altLang="zh-CN" sz="1400" b="0" dirty="0">
                <a:solidFill>
                  <a:srgbClr val="333333"/>
                </a:solidFill>
                <a:latin typeface="Helvetica Neue"/>
              </a:rPr>
              <a:t>Ruby</a:t>
            </a:r>
            <a:r>
              <a:rPr lang="zh-CN" altLang="en-US" sz="1400" b="0" dirty="0">
                <a:solidFill>
                  <a:srgbClr val="333333"/>
                </a:solidFill>
                <a:latin typeface="Helvetica Neue"/>
              </a:rPr>
              <a:t>以及</a:t>
            </a:r>
            <a:r>
              <a:rPr lang="en-US" altLang="zh-CN" sz="1400" b="0" dirty="0">
                <a:solidFill>
                  <a:srgbClr val="333333"/>
                </a:solidFill>
                <a:latin typeface="Helvetica Neue"/>
              </a:rPr>
              <a:t>Python</a:t>
            </a:r>
            <a:r>
              <a:rPr lang="zh-CN" altLang="en-US" sz="1400" b="0" dirty="0">
                <a:solidFill>
                  <a:srgbClr val="333333"/>
                </a:solidFill>
                <a:latin typeface="Helvetica Neue"/>
              </a:rPr>
              <a:t>等）、数以亿万计的各种应用软件中，都可以看到正则表达式优美的舞姿。</a:t>
            </a:r>
            <a:endParaRPr lang="en-US" altLang="zh-CN" sz="1400" b="0" dirty="0">
              <a:solidFill>
                <a:srgbClr val="333333"/>
              </a:solidFill>
              <a:latin typeface="Helvetica Neue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775"/>
    </mc:Choice>
    <mc:Fallback xmlns="">
      <p:transition spd="slow" advTm="19775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正则表达式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2889" y="1166018"/>
            <a:ext cx="8229600" cy="4525963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dirty="0"/>
              <a:t>有穷自动机</a:t>
            </a:r>
            <a:endParaRPr lang="en-AU" altLang="zh-CN" dirty="0"/>
          </a:p>
          <a:p>
            <a:pPr lvl="1"/>
            <a:r>
              <a:rPr lang="zh-CN" altLang="en-US" dirty="0"/>
              <a:t>通过抽象机器装置扫描和接受字符串识别（表示）正则语言</a:t>
            </a:r>
            <a:endParaRPr lang="en-AU" altLang="zh-CN" dirty="0"/>
          </a:p>
          <a:p>
            <a:r>
              <a:rPr lang="zh-CN" altLang="en-US" dirty="0"/>
              <a:t>正则表达式</a:t>
            </a:r>
            <a:endParaRPr lang="en-AU" altLang="zh-CN" dirty="0"/>
          </a:p>
          <a:p>
            <a:pPr lvl="1"/>
            <a:r>
              <a:rPr lang="zh-CN" altLang="en-US" dirty="0"/>
              <a:t>通过代数式表示或产生正则语言，便于正则语言的计算机处理</a:t>
            </a:r>
            <a:endParaRPr lang="en-US" altLang="zh-CN" dirty="0"/>
          </a:p>
          <a:p>
            <a:pPr lvl="1"/>
            <a:r>
              <a:rPr lang="zh-CN" altLang="en-US" dirty="0"/>
              <a:t>正则表达式所表示的语言与正则语言等价</a:t>
            </a:r>
            <a:endParaRPr lang="en-AU" altLang="zh-CN" dirty="0"/>
          </a:p>
          <a:p>
            <a:pPr lvl="1"/>
            <a:r>
              <a:rPr lang="zh-CN" altLang="en-US" dirty="0"/>
              <a:t>应用广泛</a:t>
            </a:r>
            <a:endParaRPr lang="en-AU" altLang="zh-CN" dirty="0"/>
          </a:p>
          <a:p>
            <a:pPr lvl="2"/>
            <a:r>
              <a:rPr lang="en-AU" dirty="0"/>
              <a:t>grep</a:t>
            </a:r>
            <a:r>
              <a:rPr lang="zh-CN" altLang="en-US" dirty="0"/>
              <a:t>工具</a:t>
            </a:r>
            <a:endParaRPr lang="en-AU" altLang="zh-CN" dirty="0"/>
          </a:p>
          <a:p>
            <a:pPr lvl="2"/>
            <a:r>
              <a:rPr lang="en-US" altLang="zh-CN" dirty="0"/>
              <a:t>Vim</a:t>
            </a:r>
            <a:r>
              <a:rPr lang="zh-CN" altLang="en-US" dirty="0"/>
              <a:t>文本编辑器</a:t>
            </a:r>
            <a:endParaRPr lang="en-AU" altLang="zh-CN" dirty="0"/>
          </a:p>
          <a:p>
            <a:pPr lvl="2"/>
            <a:r>
              <a:rPr lang="zh-CN" altLang="en-US" dirty="0"/>
              <a:t>各种程序设计语言（比如</a:t>
            </a:r>
            <a:r>
              <a:rPr lang="en-AU" altLang="zh-CN" dirty="0"/>
              <a:t>, Perl, Python</a:t>
            </a:r>
            <a:r>
              <a:rPr lang="zh-CN" altLang="en-US" dirty="0"/>
              <a:t>）</a:t>
            </a:r>
            <a:endParaRPr lang="en-AU" altLang="zh-CN" dirty="0"/>
          </a:p>
          <a:p>
            <a:pPr lvl="1"/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19564F-3A13-4140-9CFC-3B75A7CC7F9C}" type="slidenum">
              <a:rPr lang="en-US" altLang="zh-CN" smtClean="0"/>
              <a:t>7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4110"/>
    </mc:Choice>
    <mc:Fallback xmlns="">
      <p:transition spd="slow" advTm="4411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语言运算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dirty="0"/>
                  <a:t> 设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dirty="0"/>
                  <a:t>和</a:t>
                </a:r>
                <a14:m>
                  <m:oMath xmlns:m="http://schemas.openxmlformats.org/officeDocument/2006/math"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zh-CN" altLang="en-US" dirty="0"/>
                  <a:t>是两个语言，那么</a:t>
                </a:r>
                <a:endParaRPr lang="en-AU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  并</a:t>
                </a:r>
                <a:r>
                  <a:rPr lang="en-AU" altLang="zh-CN" dirty="0"/>
                  <a:t>: 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={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或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endParaRPr lang="en-AU" altLang="zh-CN" dirty="0"/>
              </a:p>
              <a:p>
                <a:pPr marL="0" indent="0">
                  <a:buNone/>
                </a:pPr>
                <a:r>
                  <a:rPr lang="en-AU" altLang="zh-CN" dirty="0"/>
                  <a:t>  </a:t>
                </a:r>
                <a:r>
                  <a:rPr lang="zh-CN" altLang="en-US" dirty="0"/>
                  <a:t>连接：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={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𝑥𝑦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且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endParaRPr lang="en-AU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  幂：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zh-CN" altLang="en-AU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AU" altLang="zh-CN" dirty="0"/>
                  <a:t>,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AU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AU" altLang="zh-CN" dirty="0"/>
                  <a:t>,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AU" altLang="zh-CN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AU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AU" altLang="zh-CN" dirty="0"/>
                  <a:t>,</a:t>
                </a:r>
              </a:p>
              <a:p>
                <a:pPr marL="0" indent="0">
                  <a:buNone/>
                </a:pPr>
                <a:r>
                  <a:rPr lang="zh-CN" altLang="en-US" dirty="0"/>
                  <a:t>  克林闭包：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⋃"/>
                        <m:ctrlPr>
                          <a:rPr lang="en-AU" altLang="zh-C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AU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AU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altLang="zh-CN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p>
                            <m:r>
                              <a:rPr lang="en-AU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</m:e>
                    </m:nary>
                  </m:oMath>
                </a14:m>
                <a:endParaRPr lang="en-AU" altLang="zh-CN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19564F-3A13-4140-9CFC-3B75A7CC7F9C}" type="slidenum">
              <a:rPr lang="en-US" altLang="zh-CN" smtClean="0"/>
              <a:t>8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3704"/>
    </mc:Choice>
    <mc:Fallback xmlns="">
      <p:transition spd="slow" advTm="63704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例子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33400" y="1187926"/>
                <a:ext cx="8229600" cy="4525963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sz="3200" dirty="0"/>
                  <a:t>例</a:t>
                </a:r>
                <a:r>
                  <a:rPr lang="en-US" altLang="zh-CN" sz="3200" dirty="0"/>
                  <a:t>:</a:t>
                </a:r>
                <a:r>
                  <a:rPr lang="zh-CN" altLang="en-US" sz="3200" dirty="0"/>
                  <a:t>若有</a:t>
                </a:r>
                <a14:m>
                  <m:oMath xmlns:m="http://schemas.openxmlformats.org/officeDocument/2006/math">
                    <m:r>
                      <a:rPr lang="en-AU" altLang="zh-CN" sz="32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altLang="zh-CN" sz="32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AU" altLang="zh-CN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sz="3200" b="0" i="1" smtClean="0">
                            <a:latin typeface="Cambria Math" panose="02040503050406030204" pitchFamily="18" charset="0"/>
                          </a:rPr>
                          <m:t>0,11</m:t>
                        </m:r>
                      </m:e>
                    </m:d>
                  </m:oMath>
                </a14:m>
                <a:r>
                  <a:rPr lang="en-AU" sz="3200" dirty="0"/>
                  <a:t>,</a:t>
                </a:r>
                <a14:m>
                  <m:oMath xmlns:m="http://schemas.openxmlformats.org/officeDocument/2006/math">
                    <m:r>
                      <a:rPr lang="en-AU" sz="3200" b="0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AU" sz="3200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AU" sz="3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3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  <m:r>
                          <a:rPr lang="en-AU" sz="3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,001</m:t>
                        </m:r>
                      </m:e>
                    </m:d>
                    <m:r>
                      <a:rPr lang="zh-CN" altLang="en-US" sz="3200" i="1" dirty="0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3200" b="0" dirty="0"/>
                  <a:t>那么</a:t>
                </a:r>
                <a:endParaRPr lang="en-AU" altLang="zh-CN" sz="3200" dirty="0"/>
              </a:p>
              <a:p>
                <a:pPr lvl="1"/>
                <a14:m>
                  <m:oMath xmlns:m="http://schemas.openxmlformats.org/officeDocument/2006/math">
                    <m:r>
                      <a:rPr lang="en-AU" altLang="zh-CN" sz="2800" b="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altLang="zh-CN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r>
                      <a:rPr lang="en-AU" altLang="zh-CN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  <m:r>
                      <a:rPr lang="en-US" altLang="zh-CN" sz="2800" b="0" i="1" dirty="0">
                        <a:latin typeface="Cambria Math" panose="02040503050406030204" pitchFamily="18" charset="0"/>
                      </a:rPr>
                      <m:t>={0,11</m:t>
                    </m:r>
                    <m:r>
                      <a:rPr lang="en-AU" altLang="zh-CN" sz="28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AU" sz="2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n-AU" sz="2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, 001}</m:t>
                    </m:r>
                  </m:oMath>
                </a14:m>
                <a:endParaRPr lang="en-US" altLang="zh-CN" sz="2800" b="0" dirty="0"/>
              </a:p>
              <a:p>
                <a:pPr lvl="1"/>
                <a14:m>
                  <m:oMath xmlns:m="http://schemas.openxmlformats.org/officeDocument/2006/math">
                    <m:r>
                      <a:rPr lang="en-AU" altLang="zh-CN" sz="2800" b="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altLang="zh-CN" sz="2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AU" altLang="zh-CN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  <m:r>
                      <a:rPr lang="en-US" altLang="zh-CN" sz="2800" b="0" i="1" dirty="0">
                        <a:latin typeface="Cambria Math" panose="02040503050406030204" pitchFamily="18" charset="0"/>
                      </a:rPr>
                      <m:t>={0,0001,11,11001}</m:t>
                    </m:r>
                  </m:oMath>
                </a14:m>
                <a:endParaRPr lang="en-US" altLang="zh-CN" sz="2800" b="0" dirty="0"/>
              </a:p>
              <a:p>
                <a:pPr lvl="1"/>
                <a14:m>
                  <m:oMath xmlns:m="http://schemas.openxmlformats.org/officeDocument/2006/math">
                    <m:r>
                      <a:rPr lang="en-AU" altLang="zh-CN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  <m:r>
                      <a:rPr lang="en-AU" altLang="zh-CN" sz="2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AU" altLang="zh-CN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r>
                      <a:rPr lang="en-US" altLang="zh-CN" sz="2800" b="0" i="1" dirty="0">
                        <a:latin typeface="Cambria Math" panose="02040503050406030204" pitchFamily="18" charset="0"/>
                      </a:rPr>
                      <m:t>={0,11,0010,00111}</m:t>
                    </m:r>
                  </m:oMath>
                </a14:m>
                <a:endParaRPr lang="en-US" altLang="zh-CN" sz="2800" b="0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AU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sz="2800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AU" altLang="zh-CN" sz="28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AU" altLang="zh-CN" sz="2800" b="0" i="1" dirty="0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zh-CN" altLang="en-AU" sz="2800" b="0" i="1" dirty="0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AU" altLang="zh-CN" sz="2800" b="0" i="1" dirty="0" smtClean="0">
                        <a:latin typeface="Cambria Math" panose="02040503050406030204" pitchFamily="18" charset="0"/>
                      </a:rPr>
                      <m:t>}</m:t>
                    </m:r>
                    <m:r>
                      <a:rPr lang="en-AU" altLang="zh-CN" sz="2800" i="1" dirty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AU" altLang="zh-CN" sz="28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sz="2800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AU" altLang="zh-CN" sz="2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AU" altLang="zh-CN" sz="28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altLang="zh-CN" sz="2800" b="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altLang="zh-CN" sz="2800" i="1" dirty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AU" altLang="zh-CN" sz="28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sz="2800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AU" altLang="zh-CN" sz="2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altLang="zh-CN" sz="2800" b="0" i="1" dirty="0" smtClean="0">
                        <a:latin typeface="Cambria Math" panose="02040503050406030204" pitchFamily="18" charset="0"/>
                      </a:rPr>
                      <m:t>={00,011,110,1111}</m:t>
                    </m:r>
                  </m:oMath>
                </a14:m>
                <a:endParaRPr lang="en-AU" altLang="zh-CN" sz="2800" b="0" dirty="0"/>
              </a:p>
              <a:p>
                <a:pPr lvl="1"/>
                <a:endParaRPr lang="en-AU" altLang="zh-CN" sz="2800" b="0" dirty="0"/>
              </a:p>
              <a:p>
                <a:r>
                  <a:rPr lang="zh-CN" altLang="en-US" sz="3200" dirty="0"/>
                  <a:t>例</a:t>
                </a:r>
                <a:r>
                  <a:rPr lang="en-US" altLang="zh-CN" sz="3200" dirty="0"/>
                  <a:t>:</a:t>
                </a:r>
                <a:r>
                  <a:rPr lang="zh-CN" altLang="en-US" sz="3200" b="0" dirty="0"/>
                  <a:t>对于空语言</a:t>
                </a:r>
                <a14:m>
                  <m:oMath xmlns:m="http://schemas.openxmlformats.org/officeDocument/2006/math">
                    <m:r>
                      <a:rPr lang="zh-CN" altLang="en-US" sz="3200" b="0" i="1" smtClean="0"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endParaRPr lang="en-AU" altLang="zh-CN" sz="3200" b="0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∅</m:t>
                        </m:r>
                      </m:e>
                      <m:sup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altLang="zh-CN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altLang="zh-CN" sz="2800" b="0" i="0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l-GR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n-AU" altLang="zh-CN" sz="2800" b="0" i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AU" altLang="zh-CN" sz="2800" dirty="0"/>
                  <a:t>,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∅</m:t>
                        </m:r>
                      </m:e>
                      <m:sup>
                        <m:r>
                          <a:rPr lang="en-AU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800" i="1"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en-US" altLang="zh-CN" sz="2800" b="0" dirty="0"/>
                  <a:t>,</a:t>
                </a:r>
                <a:r>
                  <a:rPr lang="en-US" altLang="zh-CN" sz="28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∅</m:t>
                        </m:r>
                      </m:e>
                      <m:sup>
                        <m:r>
                          <a:rPr lang="en-AU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AU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={</m:t>
                    </m:r>
                    <m:r>
                      <a:rPr lang="zh-CN" altLang="en-AU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n-AU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zh-CN" sz="2800" b="0" dirty="0"/>
              </a:p>
              <a:p>
                <a:pPr lvl="1"/>
                <a:endParaRPr lang="en-US" altLang="zh-CN" sz="2800" b="0" dirty="0"/>
              </a:p>
              <a:p>
                <a:endParaRPr lang="en-AU" altLang="zh-CN" sz="3200" b="0" dirty="0"/>
              </a:p>
              <a:p>
                <a:endParaRPr lang="en-AU" altLang="zh-CN" sz="3200" b="0" dirty="0"/>
              </a:p>
              <a:p>
                <a:pPr marL="0" indent="0">
                  <a:buNone/>
                </a:pPr>
                <a:endParaRPr lang="en-AU" sz="3200" b="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3400" y="1187926"/>
                <a:ext cx="8229600" cy="4525963"/>
              </a:xfrm>
              <a:blipFill rotWithShape="1">
                <a:blip r:embed="rId2"/>
                <a:stretch>
                  <a:fillRect t="-11" b="-429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19564F-3A13-4140-9CFC-3B75A7CC7F9C}" type="slidenum">
              <a:rPr lang="en-US" altLang="zh-CN" smtClean="0"/>
              <a:t>9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4306"/>
    </mc:Choice>
    <mc:Fallback xmlns="">
      <p:transition spd="slow" advTm="104306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四则运算的递归定义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任何数都是四则运算表达式。</a:t>
                </a:r>
                <a:endParaRPr lang="en-AU" altLang="zh-CN" dirty="0"/>
              </a:p>
              <a:p>
                <a:endParaRPr lang="en-AU" altLang="zh-CN" dirty="0"/>
              </a:p>
              <a:p>
                <a:r>
                  <a:rPr lang="zh-CN" altLang="en-US" dirty="0"/>
                  <a:t>如果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dirty="0"/>
                  <a:t>和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dirty="0"/>
                  <a:t>是四则运算表达式，那么</a:t>
                </a:r>
                <a:endParaRPr lang="en-AU" altLang="zh-CN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altLang="zh-CN" b="0" i="1" dirty="0" err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AU" altLang="zh-CN" b="0" i="1" dirty="0" err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altLang="zh-CN" b="0" i="1" dirty="0" err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 altLang="zh-CN" b="0" i="1" dirty="0" err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AU" altLang="zh-CN" b="0" i="1" dirty="0" err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AU" altLang="zh-CN" b="0" i="1" dirty="0" err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altLang="zh-CN" b="0" i="1" dirty="0" err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altLang="zh-CN" b="0" i="1" dirty="0" err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AU" altLang="zh-CN" b="0" i="1" dirty="0" err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AU" altLang="zh-CN" b="0" i="1" dirty="0" err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altLang="zh-CN" b="0" i="1" dirty="0" err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  <m:r>
                      <a:rPr lang="en-AU" altLang="zh-CN" b="0" i="1" dirty="0" err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AU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a:rPr lang="en-AU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AU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AU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altLang="zh-CN" dirty="0"/>
                  <a:t> </a:t>
                </a:r>
              </a:p>
              <a:p>
                <a:pPr marL="0" indent="0">
                  <a:buNone/>
                </a:pPr>
                <a:r>
                  <a:rPr lang="zh-CN" altLang="en-US" dirty="0"/>
                  <a:t>  都是四则运算表达式。</a:t>
                </a:r>
                <a:endParaRPr lang="en-AU" altLang="zh-CN" dirty="0"/>
              </a:p>
              <a:p>
                <a:pPr marL="0" indent="0">
                  <a:buNone/>
                </a:pPr>
                <a:endParaRPr lang="en-AU" altLang="zh-CN" dirty="0"/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19564F-3A13-4140-9CFC-3B75A7CC7F9C}" type="slidenum">
              <a:rPr lang="en-US" altLang="zh-CN" smtClean="0"/>
              <a:t>10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912"/>
    </mc:Choice>
    <mc:Fallback xmlns="">
      <p:transition spd="slow" advTm="25912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正则表达式的递归定义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62336" y="990600"/>
                <a:ext cx="8019327" cy="4525963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dirty="0"/>
                  <a:t>基础</a:t>
                </a:r>
                <a:r>
                  <a:rPr lang="en-US" altLang="zh-CN" dirty="0"/>
                  <a:t>1: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zh-CN" altLang="en-US" dirty="0"/>
                  <a:t>是一个正则表达式，表示空语言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 </m:t>
                    </m:r>
                  </m:oMath>
                </a14:m>
                <a:r>
                  <a:rPr lang="zh-CN" altLang="en-US" dirty="0"/>
                  <a:t>。</a:t>
                </a:r>
                <a:endParaRPr lang="en-AU" altLang="zh-CN" dirty="0"/>
              </a:p>
              <a:p>
                <a:pPr>
                  <a:lnSpc>
                    <a:spcPct val="150000"/>
                  </a:lnSpc>
                </a:pPr>
                <a:r>
                  <a:rPr lang="zh-CN" altLang="en-US" dirty="0"/>
                  <a:t>基础</a:t>
                </a:r>
                <a:r>
                  <a:rPr lang="en-US" altLang="zh-CN" dirty="0"/>
                  <a:t>2</a:t>
                </a:r>
                <a:r>
                  <a:rPr lang="en-AU" altLang="zh-CN" dirty="0"/>
                  <a:t>:</a:t>
                </a:r>
                <a14:m>
                  <m:oMath xmlns:m="http://schemas.openxmlformats.org/officeDocument/2006/math">
                    <m:r>
                      <a:rPr lang="zh-CN" altLang="en-US" b="0" i="1" smtClean="0">
                        <a:latin typeface="Cambria Math" panose="02040503050406030204" pitchFamily="18" charset="0"/>
                      </a:rPr>
                      <m:t>𝜀</m:t>
                    </m:r>
                    <m:r>
                      <a:rPr lang="zh-CN" altLang="en-US" b="0" i="1">
                        <a:latin typeface="Cambria Math" panose="02040503050406030204" pitchFamily="18" charset="0"/>
                      </a:rPr>
                      <m:t>是</m:t>
                    </m:r>
                  </m:oMath>
                </a14:m>
                <a:r>
                  <a:rPr lang="zh-CN" altLang="en-US" dirty="0"/>
                  <a:t>一个正则表达式，表示语言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zh-CN" altLang="en-AU" b="0" i="1" smtClean="0"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}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endParaRPr lang="en-AU" dirty="0"/>
              </a:p>
              <a:p>
                <a:pPr>
                  <a:lnSpc>
                    <a:spcPct val="150000"/>
                  </a:lnSpc>
                </a:pPr>
                <a:r>
                  <a:rPr lang="zh-CN" altLang="en-US" dirty="0"/>
                  <a:t>基础</a:t>
                </a:r>
                <a:r>
                  <a:rPr lang="en-AU" dirty="0"/>
                  <a:t>3:</a:t>
                </a:r>
                <a:r>
                  <a:rPr lang="zh-CN" altLang="en-US" dirty="0"/>
                  <a:t>对于任意一个符号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AU" dirty="0"/>
                  <a:t>,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dirty="0"/>
                  <a:t>是一个正则表达式，表示语言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AU" altLang="zh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zh-CN" altLang="en-US" sz="2000" dirty="0"/>
                  <a:t>，</a:t>
                </a:r>
                <a:r>
                  <a:rPr lang="zh-CN" altLang="en-US" dirty="0"/>
                  <a:t>其有一个长度为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的字符串。</a:t>
                </a:r>
                <a:endParaRPr lang="en-AU" altLang="zh-C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62336" y="990600"/>
                <a:ext cx="8019327" cy="4525963"/>
              </a:xfrm>
              <a:blipFill rotWithShape="1">
                <a:blip r:embed="rId2"/>
                <a:stretch>
                  <a:fillRect l="-5" r="-1778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19564F-3A13-4140-9CFC-3B75A7CC7F9C}" type="slidenum">
              <a:rPr lang="en-US" altLang="zh-CN" smtClean="0"/>
              <a:t>11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55"/>
    </mc:Choice>
    <mc:Fallback xmlns="">
      <p:transition spd="slow" advTm="455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正则表达式的递归定义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838200"/>
                <a:ext cx="7620000" cy="4525963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25000"/>
                  </a:lnSpc>
                </a:pPr>
                <a:r>
                  <a:rPr lang="zh-CN" altLang="en-US" dirty="0"/>
                  <a:t>归纳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：</a:t>
                </a:r>
                <a:r>
                  <a:rPr lang="zh-CN" altLang="en-US" b="0" dirty="0"/>
                  <a:t>如果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b="0" dirty="0"/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b="0" dirty="0"/>
                  <a:t>是正则表达式，那么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b="0" dirty="0"/>
                  <a:t>也是正则表达式，且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AU" altLang="zh-CN" b="0" i="0" dirty="0" smtClean="0">
                        <a:latin typeface="Cambria Math" panose="02040503050406030204" pitchFamily="18" charset="0"/>
                      </a:rPr>
                      <m:t>L</m:t>
                    </m:r>
                    <m:d>
                      <m:dPr>
                        <m:ctrlP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AU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altLang="zh-CN" b="0" i="1" dirty="0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AU" altLang="zh-CN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AU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altLang="zh-CN" b="0" i="1" dirty="0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AU" altLang="zh-CN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AU" altLang="zh-CN" b="0" i="0" dirty="0" smtClean="0">
                        <a:latin typeface="Cambria Math" panose="02040503050406030204" pitchFamily="18" charset="0"/>
                      </a:rPr>
                      <m:t>L</m:t>
                    </m:r>
                    <m:d>
                      <m:dPr>
                        <m:ctrlP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AU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altLang="zh-CN" b="0" i="1" dirty="0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AU" altLang="zh-CN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AU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AU" altLang="zh-CN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L</m:t>
                    </m:r>
                    <m:d>
                      <m:dPr>
                        <m:ctrlPr>
                          <a:rPr lang="en-AU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AU" altLang="zh-CN" b="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altLang="zh-CN" b="0" i="1" dirty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AU" altLang="zh-CN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zh-CN" altLang="en-US" b="0" i="1" dirty="0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endParaRPr lang="en-AU" altLang="zh-CN" b="0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25000"/>
                  </a:lnSpc>
                </a:pPr>
                <a:r>
                  <a:rPr lang="zh-CN" altLang="en-US" dirty="0"/>
                  <a:t>归纳</a:t>
                </a:r>
                <a:r>
                  <a:rPr lang="en-US" altLang="zh-CN" dirty="0"/>
                  <a:t>2</a:t>
                </a:r>
                <a:r>
                  <a:rPr lang="zh-CN" altLang="en-US" dirty="0"/>
                  <a:t>：</a:t>
                </a:r>
                <a:r>
                  <a:rPr lang="zh-CN" altLang="en-US" b="0" dirty="0"/>
                  <a:t>如果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b="0" dirty="0"/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b="0" dirty="0"/>
                  <a:t>是正则表达式，那么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b="0" dirty="0"/>
                  <a:t>也是正则表达式，且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AU" altLang="zh-CN" b="0" i="0" dirty="0" smtClean="0">
                        <a:latin typeface="Cambria Math" panose="02040503050406030204" pitchFamily="18" charset="0"/>
                      </a:rPr>
                      <m:t>L</m:t>
                    </m:r>
                    <m:d>
                      <m:dPr>
                        <m:ctrlP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AU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altLang="zh-CN" b="0" i="1" dirty="0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AU" altLang="zh-CN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AU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altLang="zh-CN" b="0" i="1" dirty="0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AU" altLang="zh-CN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AU" altLang="zh-CN" b="0" i="0" dirty="0" smtClean="0">
                        <a:latin typeface="Cambria Math" panose="02040503050406030204" pitchFamily="18" charset="0"/>
                      </a:rPr>
                      <m:t>L</m:t>
                    </m:r>
                    <m:d>
                      <m:dPr>
                        <m:ctrlP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AU" altLang="zh-CN" b="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altLang="zh-CN" b="0" i="1" dirty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AU" altLang="zh-CN" b="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a:rPr lang="en-AU" altLang="zh-CN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L</m:t>
                    </m:r>
                    <m:d>
                      <m:dPr>
                        <m:ctrlPr>
                          <a:rPr lang="en-AU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AU" altLang="zh-CN" b="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altLang="zh-CN" b="0" i="1" dirty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AU" altLang="zh-CN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zh-CN" altLang="en-US" b="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。</m:t>
                    </m:r>
                  </m:oMath>
                </a14:m>
                <a:endParaRPr lang="en-AU" altLang="zh-CN" b="0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25000"/>
                  </a:lnSpc>
                </a:pPr>
                <a:r>
                  <a:rPr lang="zh-CN" altLang="en-US" dirty="0"/>
                  <a:t>归纳</a:t>
                </a:r>
                <a:r>
                  <a:rPr lang="en-US" altLang="zh-CN" dirty="0"/>
                  <a:t>3</a:t>
                </a:r>
                <a:r>
                  <a:rPr lang="zh-CN" altLang="en-US" dirty="0"/>
                  <a:t>：</a:t>
                </a:r>
                <a:r>
                  <a:rPr lang="zh-CN" altLang="en-US" b="0" dirty="0"/>
                  <a:t>如果</a:t>
                </a:r>
                <a14:m>
                  <m:oMath xmlns:m="http://schemas.openxmlformats.org/officeDocument/2006/math"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zh-CN" altLang="en-US" b="0" dirty="0"/>
                  <a:t>是正则表达式，则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p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altLang="en-US" b="0" dirty="0"/>
                  <a:t>也是正则表达式。</a:t>
                </a:r>
                <a:endParaRPr lang="en-AU" altLang="zh-CN" b="0" dirty="0"/>
              </a:p>
              <a:p>
                <a:pPr>
                  <a:lnSpc>
                    <a:spcPct val="125000"/>
                  </a:lnSpc>
                </a:pPr>
                <a:r>
                  <a:rPr lang="zh-CN" altLang="en-US" dirty="0"/>
                  <a:t>归纳</a:t>
                </a:r>
                <a:r>
                  <a:rPr lang="en-AU" altLang="zh-CN" dirty="0"/>
                  <a:t>4:</a:t>
                </a:r>
                <a:r>
                  <a:rPr lang="zh-CN" altLang="en-US" b="0" dirty="0"/>
                  <a:t>如果</a:t>
                </a:r>
                <a14:m>
                  <m:oMath xmlns:m="http://schemas.openxmlformats.org/officeDocument/2006/math"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zh-CN" altLang="en-US" b="0" dirty="0"/>
                  <a:t>是正则表达式，则</a:t>
                </a:r>
                <a14:m>
                  <m:oMath xmlns:m="http://schemas.openxmlformats.org/officeDocument/2006/math"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b="0" dirty="0"/>
                  <a:t>也是正则表达式，表示语言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AU" altLang="zh-CN" b="0" i="0" smtClean="0">
                        <a:latin typeface="Cambria Math" panose="02040503050406030204" pitchFamily="18" charset="0"/>
                      </a:rPr>
                      <m:t>L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b="0" dirty="0"/>
                  <a:t>。</a:t>
                </a:r>
                <a:endParaRPr lang="en-AU" altLang="zh-CN" b="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838200"/>
                <a:ext cx="7620000" cy="4525963"/>
              </a:xfrm>
              <a:blipFill rotWithShape="1">
                <a:blip r:embed="rId2"/>
                <a:stretch>
                  <a:fillRect b="-127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19564F-3A13-4140-9CFC-3B75A7CC7F9C}" type="slidenum">
              <a:rPr lang="en-US" altLang="zh-CN" smtClean="0"/>
              <a:t>12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4079"/>
    </mc:Choice>
    <mc:Fallback xmlns="">
      <p:transition spd="slow" advTm="54079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运算符的优先级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88694" y="1200465"/>
                <a:ext cx="8229600" cy="4525963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25000"/>
                  </a:lnSpc>
                </a:pPr>
                <a:r>
                  <a:rPr lang="zh-CN" altLang="en-US" dirty="0"/>
                  <a:t>正则表达式中三种运算以及括号的优先级：</a:t>
                </a:r>
                <a:endParaRPr lang="en-AU" altLang="zh-CN" dirty="0"/>
              </a:p>
              <a:p>
                <a:pPr marL="457200" lvl="1" indent="0">
                  <a:lnSpc>
                    <a:spcPct val="125000"/>
                  </a:lnSpc>
                  <a:buNone/>
                </a:pPr>
                <a:r>
                  <a:rPr lang="en-US" altLang="zh-CN" dirty="0"/>
                  <a:t>(1)</a:t>
                </a:r>
                <a:r>
                  <a:rPr lang="zh-CN" altLang="en-US" dirty="0"/>
                  <a:t>“括号”优先级最高</a:t>
                </a:r>
                <a:endParaRPr lang="en-US" altLang="zh-CN" dirty="0"/>
              </a:p>
              <a:p>
                <a:pPr marL="457200" lvl="1" indent="0">
                  <a:lnSpc>
                    <a:spcPct val="125000"/>
                  </a:lnSpc>
                  <a:buNone/>
                </a:pPr>
                <a:r>
                  <a:rPr lang="en-US" altLang="zh-CN" dirty="0"/>
                  <a:t>(2)</a:t>
                </a:r>
                <a:r>
                  <a:rPr lang="zh-CN" altLang="en-US" dirty="0"/>
                  <a:t>“星”运算</a:t>
                </a:r>
                <a:r>
                  <a:rPr lang="en-US" altLang="zh-CN" dirty="0"/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p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en-AU" dirty="0"/>
              </a:p>
              <a:p>
                <a:pPr marL="457200" lvl="1" indent="0">
                  <a:lnSpc>
                    <a:spcPct val="125000"/>
                  </a:lnSpc>
                  <a:buNone/>
                </a:pPr>
                <a:r>
                  <a:rPr lang="en-US" altLang="zh-CN" dirty="0"/>
                  <a:t>(3)</a:t>
                </a:r>
                <a:r>
                  <a:rPr lang="zh-CN" altLang="en-US" dirty="0"/>
                  <a:t>“连接”运算</a:t>
                </a:r>
                <a:r>
                  <a:rPr lang="en-US" altLang="zh-CN" dirty="0"/>
                  <a:t>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AU" dirty="0"/>
              </a:p>
              <a:p>
                <a:pPr marL="457200" lvl="1" indent="0">
                  <a:lnSpc>
                    <a:spcPct val="125000"/>
                  </a:lnSpc>
                  <a:buNone/>
                </a:pPr>
                <a:r>
                  <a:rPr lang="en-US" altLang="zh-CN" dirty="0"/>
                  <a:t>(4)</a:t>
                </a:r>
                <a:r>
                  <a:rPr lang="zh-CN" altLang="en-US" dirty="0"/>
                  <a:t>“加”最低</a:t>
                </a:r>
                <a:r>
                  <a:rPr lang="en-AU" altLang="zh-CN" dirty="0"/>
                  <a:t>: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AU" dirty="0"/>
              </a:p>
              <a:p>
                <a:pPr marL="457200" lvl="1" indent="0">
                  <a:lnSpc>
                    <a:spcPct val="125000"/>
                  </a:lnSpc>
                  <a:buNone/>
                </a:pPr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8694" y="1200465"/>
                <a:ext cx="8229600" cy="4525963"/>
              </a:xfrm>
              <a:blipFill rotWithShape="1">
                <a:blip r:embed="rId3"/>
                <a:stretch>
                  <a:fillRect l="-4" t="-7" r="4" b="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19564F-3A13-4140-9CFC-3B75A7CC7F9C}" type="slidenum">
              <a:rPr lang="en-US" altLang="zh-CN" smtClean="0"/>
              <a:t>13</a:t>
            </a:fld>
            <a:endParaRPr lang="en-US" altLang="zh-CN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5829300" y="1905000"/>
          <a:ext cx="1447800" cy="2575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0040">
                <a:tc>
                  <a:txBody>
                    <a:bodyPr/>
                    <a:lstStyle>
                      <a:defPPr>
                        <a:defRPr lang="en-US" b="1">
                          <a:solidFill>
                            <a:schemeClr val="lt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lang="zh-CN" altLang="en-US" sz="1800" b="1" kern="1200" dirty="0">
                          <a:solidFill>
                            <a:schemeClr val="dk1"/>
                          </a:solidFill>
                          <a:latin typeface="宋体" panose="02010600030101010101" pitchFamily="2" charset="-122"/>
                          <a:ea typeface="+mn-ea"/>
                          <a:cs typeface="+mn-cs"/>
                        </a:rPr>
                        <a:t>括号</a:t>
                      </a:r>
                      <a:endParaRPr lang="en-US" altLang="zh-CN" sz="1800" b="1" kern="1200" dirty="0">
                        <a:solidFill>
                          <a:schemeClr val="dk1"/>
                        </a:solidFill>
                        <a:latin typeface="宋体" panose="02010600030101010101" pitchFamily="2" charset="-122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latin typeface="宋体" panose="02010600030101010101" pitchFamily="2" charset="-122"/>
                          <a:ea typeface="+mn-ea"/>
                          <a:cs typeface="+mn-cs"/>
                        </a:rPr>
                        <a:t>( 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800" b="1" kern="1200" dirty="0">
                          <a:solidFill>
                            <a:schemeClr val="dk1"/>
                          </a:solidFill>
                          <a:latin typeface="宋体" panose="02010600030101010101" pitchFamily="2" charset="-122"/>
                          <a:ea typeface="+mn-ea"/>
                          <a:cs typeface="+mn-cs"/>
                        </a:rPr>
                        <a:t>“星”</a:t>
                      </a:r>
                      <a:endParaRPr lang="en-US" altLang="zh-CN" sz="1800" b="1" kern="1200" dirty="0">
                        <a:solidFill>
                          <a:schemeClr val="dk1"/>
                        </a:solidFill>
                        <a:latin typeface="宋体" panose="02010600030101010101" pitchFamily="2" charset="-122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zh-CN" altLang="en-US" sz="1800" b="1" kern="1200" dirty="0">
                          <a:solidFill>
                            <a:schemeClr val="dk1"/>
                          </a:solidFill>
                          <a:latin typeface="宋体" panose="02010600030101010101" pitchFamily="2" charset="-122"/>
                          <a:ea typeface="+mn-ea"/>
                          <a:cs typeface="+mn-cs"/>
                        </a:rPr>
                        <a:t>*</a:t>
                      </a:r>
                      <a:endParaRPr lang="en-US" altLang="zh-CN" sz="1800" b="1" kern="1200" dirty="0">
                        <a:solidFill>
                          <a:schemeClr val="dk1"/>
                        </a:solidFill>
                        <a:latin typeface="宋体" panose="02010600030101010101" pitchFamily="2" charset="-122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5320"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lang="zh-CN" altLang="en-US" sz="1800" b="1" kern="1200" dirty="0">
                          <a:solidFill>
                            <a:schemeClr val="dk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“连接”</a:t>
                      </a:r>
                      <a:endParaRPr lang="en-US" altLang="zh-CN" sz="1800" b="1" kern="1200" dirty="0">
                        <a:solidFill>
                          <a:schemeClr val="dk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(</a:t>
                      </a:r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  <a:sym typeface="Symbol" panose="05050102010706020507"/>
                        </a:rPr>
                        <a:t></a:t>
                      </a:r>
                      <a:r>
                        <a:rPr lang="zh-CN" altLang="en-US" sz="1800" b="1" kern="1200" dirty="0">
                          <a:solidFill>
                            <a:schemeClr val="dk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一般省略</a:t>
                      </a:r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)</a:t>
                      </a:r>
                      <a:endParaRPr lang="en-US" sz="1800" b="1" kern="1200" dirty="0">
                        <a:solidFill>
                          <a:schemeClr val="dk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3071"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lang="zh-CN" altLang="en-US" sz="1800" b="1" kern="1200" dirty="0">
                          <a:solidFill>
                            <a:schemeClr val="dk1"/>
                          </a:solidFill>
                          <a:latin typeface="宋体" panose="02010600030101010101" pitchFamily="2" charset="-122"/>
                          <a:ea typeface="+mn-ea"/>
                          <a:cs typeface="+mn-cs"/>
                        </a:rPr>
                        <a:t>“加”</a:t>
                      </a:r>
                      <a:endParaRPr lang="en-US" altLang="zh-CN" sz="1800" b="1" kern="1200" dirty="0">
                        <a:solidFill>
                          <a:schemeClr val="dk1"/>
                        </a:solidFill>
                        <a:latin typeface="宋体" panose="02010600030101010101" pitchFamily="2" charset="-122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latin typeface="宋体" panose="02010600030101010101" pitchFamily="2" charset="-122"/>
                          <a:ea typeface="+mn-ea"/>
                          <a:cs typeface="+mn-cs"/>
                        </a:rPr>
                        <a:t>+</a:t>
                      </a:r>
                      <a:r>
                        <a:rPr lang="zh-CN" altLang="en-US" sz="1800" b="1" kern="1200" dirty="0">
                          <a:solidFill>
                            <a:schemeClr val="dk1"/>
                          </a:solidFill>
                          <a:latin typeface="宋体" panose="02010600030101010101" pitchFamily="2" charset="-122"/>
                          <a:ea typeface="+mn-ea"/>
                          <a:cs typeface="+mn-cs"/>
                        </a:rPr>
                        <a:t> </a:t>
                      </a:r>
                      <a:endParaRPr lang="en-US" sz="1800" b="1" kern="1200" dirty="0">
                        <a:solidFill>
                          <a:schemeClr val="dk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10" name="直接箭头连接符 9"/>
          <p:cNvCxnSpPr/>
          <p:nvPr/>
        </p:nvCxnSpPr>
        <p:spPr>
          <a:xfrm>
            <a:off x="7620000" y="2133600"/>
            <a:ext cx="0" cy="2151927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7688122" y="1943100"/>
            <a:ext cx="581025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b="1" dirty="0">
                <a:solidFill>
                  <a:srgbClr val="FF0000"/>
                </a:solidFill>
              </a:rPr>
              <a:t>高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743523" y="4067730"/>
            <a:ext cx="581025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b="1" dirty="0">
                <a:solidFill>
                  <a:srgbClr val="FF0000"/>
                </a:solidFill>
              </a:rPr>
              <a:t>低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147"/>
    </mc:Choice>
    <mc:Fallback xmlns="">
      <p:transition spd="slow" advTm="21147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运算符的优先级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5306" y="1187926"/>
                <a:ext cx="8229600" cy="4525963"/>
              </a:xfrm>
            </p:spPr>
            <p:txBody>
              <a:bodyPr/>
              <a:lstStyle/>
              <a:p>
                <a:r>
                  <a:rPr lang="zh-CN" altLang="en-US" dirty="0"/>
                  <a:t>例</a:t>
                </a:r>
                <a:r>
                  <a:rPr lang="en-AU" altLang="zh-CN" dirty="0"/>
                  <a:t>: 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𝟎</m:t>
                    </m:r>
                    <m:sSup>
                      <m:sSupPr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dirty="0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  <m:sup>
                        <m:r>
                          <a:rPr lang="zh-CN" altLang="en-US" b="1" i="1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+ </m:t>
                    </m:r>
                    <m:d>
                      <m:dPr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𝟎</m:t>
                        </m:r>
                        <m:d>
                          <m:dPr>
                            <m:ctrlPr>
                              <a:rPr lang="en-US" altLang="zh-CN" b="1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1" i="1" dirty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  <m:sup>
                                <m:r>
                                  <a:rPr lang="zh-CN" altLang="en-US" i="1" dirty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</m:e>
                    </m:d>
                  </m:oMath>
                </a14:m>
                <a:endParaRPr lang="en-AU" altLang="zh-CN" sz="3200" b="1" dirty="0"/>
              </a:p>
              <a:p>
                <a:pPr marL="0" indent="0">
                  <a:buNone/>
                </a:pPr>
                <a:endParaRPr lang="en-US" altLang="zh-CN" sz="2600" b="1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600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6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6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  <m:sup>
                              <m:r>
                                <a:rPr lang="zh-CN" altLang="en-US" sz="2600" i="1" dirty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altLang="zh-CN" sz="2600" b="1" i="1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26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600" b="0" i="1" dirty="0" smtClean="0">
                              <a:latin typeface="Cambria Math" panose="02040503050406030204" pitchFamily="18" charset="0"/>
                            </a:rPr>
                            <m:t>𝜀</m:t>
                          </m:r>
                          <m:r>
                            <a:rPr lang="en-AU" altLang="zh-CN" sz="2600" b="0" i="1" dirty="0" smtClean="0">
                              <a:latin typeface="Cambria Math" panose="02040503050406030204" pitchFamily="18" charset="0"/>
                            </a:rPr>
                            <m:t>,1,11,111,111,…</m:t>
                          </m:r>
                        </m:e>
                      </m:d>
                    </m:oMath>
                  </m:oMathPara>
                </a14:m>
                <a:endParaRPr lang="en-AU" altLang="zh-CN" sz="2600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600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  <m:d>
                        <m:dPr>
                          <m:ctrlPr>
                            <a:rPr lang="en-US" altLang="zh-CN" sz="2600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6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600" b="1" i="1" dirty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  <m:sup>
                              <m:r>
                                <a:rPr lang="zh-CN" altLang="en-US" sz="2600" i="1" dirty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AU" altLang="zh-CN" sz="26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600" b="1" i="1" dirty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sz="2600" b="1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AU" altLang="zh-CN" sz="26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AU" altLang="zh-CN" sz="2600" b="0" i="1" dirty="0" smtClean="0">
                          <a:latin typeface="Cambria Math" panose="02040503050406030204" pitchFamily="18" charset="0"/>
                        </a:rPr>
                        <m:t>01,011,0111,…</m:t>
                      </m:r>
                      <m:r>
                        <a:rPr lang="en-US" altLang="zh-CN" sz="2600" b="1" i="1" dirty="0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zh-CN" sz="2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6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2600" b="1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600" i="1" dirty="0" smtClean="0">
                          <a:latin typeface="Cambria Math" panose="02040503050406030204" pitchFamily="18" charset="0"/>
                        </a:rPr>
                        <m:t>+ </m:t>
                      </m:r>
                      <m:d>
                        <m:dPr>
                          <m:ctrlPr>
                            <a:rPr lang="en-US" altLang="zh-CN" sz="2600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600" b="1" i="1" dirty="0" smtClean="0">
                              <a:latin typeface="Cambria Math" panose="02040503050406030204" pitchFamily="18" charset="0"/>
                            </a:rPr>
                            <m:t>𝟎</m:t>
                          </m:r>
                          <m:d>
                            <m:dPr>
                              <m:ctrlPr>
                                <a:rPr lang="en-US" altLang="zh-CN" sz="26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26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600" b="1" i="1" dirty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  <m:sup>
                                  <m:r>
                                    <a:rPr lang="zh-CN" altLang="en-US" sz="2600" i="1" dirty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</m:d>
                        </m:e>
                      </m:d>
                      <m:r>
                        <a:rPr lang="en-AU" altLang="zh-CN" sz="2600" b="1" i="1" dirty="0" smtClean="0">
                          <a:latin typeface="Cambria Math" panose="02040503050406030204" pitchFamily="18" charset="0"/>
                        </a:rPr>
                        <m:t>={</m:t>
                      </m:r>
                      <m:r>
                        <a:rPr lang="en-AU" altLang="zh-CN" sz="2600" b="0" i="1" dirty="0" smtClean="0">
                          <a:latin typeface="Cambria Math" panose="02040503050406030204" pitchFamily="18" charset="0"/>
                        </a:rPr>
                        <m:t>1,0,01,011,0111,…}</m:t>
                      </m:r>
                    </m:oMath>
                  </m:oMathPara>
                </a14:m>
                <a:endParaRPr lang="en-US" altLang="zh-CN" sz="2600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5306" y="1187926"/>
                <a:ext cx="8229600" cy="4525963"/>
              </a:xfrm>
              <a:blipFill rotWithShape="1">
                <a:blip r:embed="rId2"/>
                <a:stretch>
                  <a:fillRect l="-3" t="-11" r="3" b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19564F-3A13-4140-9CFC-3B75A7CC7F9C}" type="slidenum">
              <a:rPr lang="en-US" altLang="zh-CN" smtClean="0"/>
              <a:t>14</a:t>
            </a:fld>
            <a:endParaRPr lang="en-US" altLang="zh-CN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6515100" y="1905000"/>
          <a:ext cx="1447800" cy="2575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0040">
                <a:tc>
                  <a:txBody>
                    <a:bodyPr/>
                    <a:lstStyle>
                      <a:defPPr>
                        <a:defRPr lang="en-US" b="1">
                          <a:solidFill>
                            <a:schemeClr val="lt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lang="zh-CN" altLang="en-US" sz="1800" b="1" kern="1200" dirty="0">
                          <a:solidFill>
                            <a:schemeClr val="dk1"/>
                          </a:solidFill>
                          <a:latin typeface="宋体" panose="02010600030101010101" pitchFamily="2" charset="-122"/>
                          <a:ea typeface="+mn-ea"/>
                          <a:cs typeface="+mn-cs"/>
                        </a:rPr>
                        <a:t>括号</a:t>
                      </a:r>
                      <a:endParaRPr lang="en-US" altLang="zh-CN" sz="1800" b="1" kern="1200" dirty="0">
                        <a:solidFill>
                          <a:schemeClr val="dk1"/>
                        </a:solidFill>
                        <a:latin typeface="宋体" panose="02010600030101010101" pitchFamily="2" charset="-122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latin typeface="宋体" panose="02010600030101010101" pitchFamily="2" charset="-122"/>
                          <a:ea typeface="+mn-ea"/>
                          <a:cs typeface="+mn-cs"/>
                        </a:rPr>
                        <a:t>( 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800" b="1" kern="1200" dirty="0">
                          <a:solidFill>
                            <a:schemeClr val="dk1"/>
                          </a:solidFill>
                          <a:latin typeface="宋体" panose="02010600030101010101" pitchFamily="2" charset="-122"/>
                          <a:ea typeface="+mn-ea"/>
                          <a:cs typeface="+mn-cs"/>
                        </a:rPr>
                        <a:t>“星”</a:t>
                      </a:r>
                      <a:endParaRPr lang="en-US" altLang="zh-CN" sz="1800" b="1" kern="1200" dirty="0">
                        <a:solidFill>
                          <a:schemeClr val="dk1"/>
                        </a:solidFill>
                        <a:latin typeface="宋体" panose="02010600030101010101" pitchFamily="2" charset="-122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zh-CN" altLang="en-US" sz="1800" b="1" kern="1200" dirty="0">
                          <a:solidFill>
                            <a:schemeClr val="dk1"/>
                          </a:solidFill>
                          <a:latin typeface="宋体" panose="02010600030101010101" pitchFamily="2" charset="-122"/>
                          <a:ea typeface="+mn-ea"/>
                          <a:cs typeface="+mn-cs"/>
                        </a:rPr>
                        <a:t>*</a:t>
                      </a:r>
                      <a:endParaRPr lang="en-US" altLang="zh-CN" sz="1800" b="1" kern="1200" dirty="0">
                        <a:solidFill>
                          <a:schemeClr val="dk1"/>
                        </a:solidFill>
                        <a:latin typeface="宋体" panose="02010600030101010101" pitchFamily="2" charset="-122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5320"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lang="zh-CN" altLang="en-US" sz="1800" b="1" kern="1200" dirty="0">
                          <a:solidFill>
                            <a:schemeClr val="dk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“连接”</a:t>
                      </a:r>
                      <a:endParaRPr lang="en-US" altLang="zh-CN" sz="1800" b="1" kern="1200" dirty="0">
                        <a:solidFill>
                          <a:schemeClr val="dk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(</a:t>
                      </a:r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  <a:sym typeface="Symbol" panose="05050102010706020507"/>
                        </a:rPr>
                        <a:t></a:t>
                      </a:r>
                      <a:r>
                        <a:rPr lang="zh-CN" altLang="en-US" sz="1800" b="1" kern="1200" dirty="0">
                          <a:solidFill>
                            <a:schemeClr val="dk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一般省略</a:t>
                      </a:r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)</a:t>
                      </a:r>
                      <a:endParaRPr lang="en-US" sz="1800" b="1" kern="1200" dirty="0">
                        <a:solidFill>
                          <a:schemeClr val="dk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3071"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lang="zh-CN" altLang="en-US" sz="1800" b="1" kern="1200" dirty="0">
                          <a:solidFill>
                            <a:schemeClr val="dk1"/>
                          </a:solidFill>
                          <a:latin typeface="宋体" panose="02010600030101010101" pitchFamily="2" charset="-122"/>
                          <a:ea typeface="+mn-ea"/>
                          <a:cs typeface="+mn-cs"/>
                        </a:rPr>
                        <a:t>“加”</a:t>
                      </a:r>
                      <a:endParaRPr lang="en-US" altLang="zh-CN" sz="1800" b="1" kern="1200" dirty="0">
                        <a:solidFill>
                          <a:schemeClr val="dk1"/>
                        </a:solidFill>
                        <a:latin typeface="宋体" panose="02010600030101010101" pitchFamily="2" charset="-122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en-US" altLang="zh-CN" sz="1800" b="1" kern="1200" dirty="0">
                          <a:solidFill>
                            <a:schemeClr val="dk1"/>
                          </a:solidFill>
                          <a:latin typeface="宋体" panose="02010600030101010101" pitchFamily="2" charset="-122"/>
                          <a:ea typeface="+mn-ea"/>
                          <a:cs typeface="+mn-cs"/>
                        </a:rPr>
                        <a:t>+</a:t>
                      </a:r>
                      <a:r>
                        <a:rPr lang="zh-CN" altLang="en-US" sz="1800" b="1" kern="1200" dirty="0">
                          <a:solidFill>
                            <a:schemeClr val="dk1"/>
                          </a:solidFill>
                          <a:latin typeface="宋体" panose="02010600030101010101" pitchFamily="2" charset="-122"/>
                          <a:ea typeface="+mn-ea"/>
                          <a:cs typeface="+mn-cs"/>
                        </a:rPr>
                        <a:t> </a:t>
                      </a:r>
                      <a:endParaRPr lang="en-US" sz="1800" b="1" kern="1200" dirty="0">
                        <a:solidFill>
                          <a:schemeClr val="dk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10" name="直接箭头连接符 9"/>
          <p:cNvCxnSpPr/>
          <p:nvPr/>
        </p:nvCxnSpPr>
        <p:spPr>
          <a:xfrm>
            <a:off x="8305800" y="2133600"/>
            <a:ext cx="0" cy="2151927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8373922" y="1943100"/>
            <a:ext cx="581025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b="1" dirty="0">
                <a:solidFill>
                  <a:srgbClr val="FF0000"/>
                </a:solidFill>
              </a:rPr>
              <a:t>高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429323" y="4067730"/>
            <a:ext cx="581025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b="1" dirty="0">
                <a:solidFill>
                  <a:srgbClr val="FF0000"/>
                </a:solidFill>
              </a:rPr>
              <a:t>低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3449"/>
    </mc:Choice>
    <mc:Fallback xmlns="">
      <p:transition spd="slow" advTm="73449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19564F-3A13-4140-9CFC-3B75A7CC7F9C}" type="slidenum">
              <a:rPr lang="en-US" altLang="zh-CN" smtClean="0"/>
              <a:t>15</a:t>
            </a:fld>
            <a:endParaRPr lang="en-US" altLang="zh-CN" dirty="0"/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marL="533400" indent="-533400" algn="just" eaLnBrk="1" hangingPunct="1">
              <a:lnSpc>
                <a:spcPct val="90000"/>
              </a:lnSpc>
            </a:pPr>
            <a:r>
              <a:rPr lang="zh-CN" altLang="en-US" sz="4000" dirty="0"/>
              <a:t>给出正则表达式</a:t>
            </a:r>
            <a:r>
              <a:rPr lang="en-US" altLang="zh-CN" sz="4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40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40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sz="40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sz="4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sz="4000" b="1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sz="4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40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40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sz="40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bb</a:t>
            </a:r>
            <a:r>
              <a:rPr lang="en-US" altLang="zh-CN" sz="4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4000" dirty="0">
                <a:cs typeface="Times New Roman" panose="02020603050405020304" pitchFamily="18" charset="0"/>
              </a:rPr>
              <a:t>定义的语言（用集合形式）</a:t>
            </a:r>
            <a:endParaRPr lang="en-US" altLang="zh-CN" sz="4000" dirty="0"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8" name="矩形: 圆角 7"/>
          <p:cNvSpPr/>
          <p:nvPr>
            <p:custDataLst>
              <p:tags r:id="rId3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作答</a:t>
            </a:r>
          </a:p>
        </p:txBody>
      </p:sp>
      <p:grpSp>
        <p:nvGrpSpPr>
          <p:cNvPr id="13" name="组合 12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9" name="TitleBackground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ColorBlock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TypeText"/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主观题</a:t>
              </a:r>
            </a:p>
          </p:txBody>
        </p:sp>
        <p:sp>
          <p:nvSpPr>
            <p:cNvPr id="12" name="TipText"/>
            <p:cNvSpPr txBox="1"/>
            <p:nvPr>
              <p:custDataLst>
                <p:tags r:id="rId9"/>
              </p:custDataLst>
            </p:nvPr>
          </p:nvSpPr>
          <p:spPr>
            <a:xfrm>
              <a:off x="142748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6" name="图片 5"/>
          <p:cNvPicPr/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/>
              <a:t>正则表达式示例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9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381000" y="1066800"/>
                <a:ext cx="8229600" cy="4525963"/>
              </a:xfrm>
            </p:spPr>
            <p:txBody>
              <a:bodyPr/>
              <a:lstStyle/>
              <a:p>
                <a:pPr marL="533400" indent="-533400" algn="just" eaLnBrk="1" hangingPunct="1">
                  <a:lnSpc>
                    <a:spcPct val="90000"/>
                  </a:lnSpc>
                </a:pPr>
                <a:r>
                  <a:rPr lang="zh-CN" altLang="en-US" dirty="0"/>
                  <a:t>给出正则表达式</a:t>
                </a:r>
                <a:r>
                  <a:rPr lang="en-US" altLang="zh-CN" b="1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b="1" i="1" dirty="0" err="1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b="1" dirty="0" err="1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+</a:t>
                </a:r>
                <a:r>
                  <a:rPr lang="en-US" altLang="zh-CN" b="1" i="1" dirty="0" err="1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b</a:t>
                </a:r>
                <a:r>
                  <a:rPr lang="en-US" altLang="zh-CN" b="1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)</a:t>
                </a:r>
                <a:r>
                  <a:rPr lang="en-US" altLang="zh-CN" b="1" baseline="300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*</a:t>
                </a:r>
                <a:r>
                  <a:rPr lang="en-US" altLang="zh-CN" b="1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b="1" i="1" dirty="0" err="1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b="1" dirty="0" err="1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+</a:t>
                </a:r>
                <a:r>
                  <a:rPr lang="en-US" altLang="zh-CN" b="1" i="1" dirty="0" err="1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bb</a:t>
                </a:r>
                <a:r>
                  <a:rPr lang="en-US" altLang="zh-CN" b="1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)</a:t>
                </a:r>
                <a:r>
                  <a:rPr lang="zh-CN" altLang="en-US" dirty="0">
                    <a:cs typeface="Times New Roman" panose="02020603050405020304" pitchFamily="18" charset="0"/>
                  </a:rPr>
                  <a:t>定义的语言</a:t>
                </a:r>
                <a:endParaRPr lang="en-US" altLang="zh-CN" dirty="0"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  <a:p>
                <a:pPr lvl="1" eaLnBrk="1" hangingPunct="1"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{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𝑎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}</m:t>
                    </m:r>
                    <m:r>
                      <a:rPr lang="zh-CN" altLang="en-US" b="0" i="1" dirty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，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{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𝑏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}</m:t>
                    </m:r>
                  </m:oMath>
                </a14:m>
                <a:endPara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={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}</m:t>
                    </m:r>
                    <m:r>
                      <a:rPr lang="en-US" altLang="zh-CN" b="1" i="1" dirty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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{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}={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}</m:t>
                    </m:r>
                    <m:r>
                      <a:rPr lang="zh-CN" altLang="en-US" b="0" i="1" dirty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，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𝑏𝑏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{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𝑏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}{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𝑏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}={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𝑏𝑏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Wingdings" panose="05000000000000000000" pitchFamily="2" charset="2"/>
                      </a:rPr>
                      <m:t>}</m:t>
                    </m:r>
                  </m:oMath>
                </a14:m>
                <a:endParaRPr lang="en-US" altLang="zh-CN" dirty="0"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lvl="1" eaLnBrk="1" hangingPunct="1">
                  <a:lnSpc>
                    <a:spcPct val="9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AU" altLang="zh-CN" b="0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AU" altLang="zh-CN" b="0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AU" altLang="zh-CN" b="0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AU" altLang="zh-CN" b="0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  <m:sup>
                        <m:r>
                          <a:rPr lang="en-AU" altLang="zh-CN" b="0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b="0" i="1" dirty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{</m:t>
                        </m:r>
                        <m:r>
                          <a:rPr lang="en-AU" altLang="zh-CN" b="0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AU" altLang="zh-CN" b="0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AU" altLang="zh-CN" b="0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AU" altLang="zh-CN" b="0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}</m:t>
                        </m:r>
                      </m:e>
                      <m:sup>
                        <m:r>
                          <a:rPr lang="en-AU" altLang="zh-CN" b="0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en-US" altLang="zh-CN" baseline="30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b="0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zh-CN" b="0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b="0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𝑏𝑏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)={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𝑏𝑏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}</m:t>
                    </m:r>
                  </m:oMath>
                </a14:m>
                <a:endParaRPr lang="en-US" altLang="zh-CN" baseline="30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AU" altLang="zh-CN" b="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AU" altLang="zh-CN" b="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AU" altLang="zh-CN" b="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AU" altLang="zh-CN" b="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AU" altLang="zh-CN" b="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  <m:sup>
                        <m:r>
                          <a:rPr lang="en-AU" altLang="zh-CN" b="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b="0" i="1" dirty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(</m:t>
                    </m:r>
                    <m:r>
                      <a:rPr lang="en-US" altLang="zh-CN" b="0" i="1" dirty="0" err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𝑎</m:t>
                    </m:r>
                    <m:r>
                      <a:rPr lang="en-US" altLang="zh-CN" b="0" i="1" dirty="0" err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+</m:t>
                    </m:r>
                    <m:r>
                      <a:rPr lang="en-US" altLang="zh-CN" b="0" i="1" dirty="0" err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𝑏𝑏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)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ea typeface="宋体" panose="02010600030101010101" pitchFamily="2" charset="-122"/>
                        <a:sym typeface="Symbol" panose="05050102010706020507" pitchFamily="18" charset="2"/>
                      </a:rPr>
                      <m:t>=</m:t>
                    </m:r>
                    <m:sSup>
                      <m:sSup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AU" altLang="zh-CN" b="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{</m:t>
                        </m:r>
                        <m:r>
                          <a:rPr lang="en-AU" altLang="zh-CN" b="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AU" altLang="zh-CN" b="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AU" altLang="zh-CN" b="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AU" altLang="zh-CN" b="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}</m:t>
                        </m:r>
                      </m:e>
                      <m:sup>
                        <m:r>
                          <a:rPr lang="en-AU" altLang="zh-CN" b="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b="0" i="1" dirty="0">
                        <a:latin typeface="Cambria Math" panose="02040503050406030204" pitchFamily="18" charset="0"/>
                        <a:ea typeface="宋体" panose="02010600030101010101" pitchFamily="2" charset="-122"/>
                        <a:sym typeface="Symbol" panose="05050102010706020507" pitchFamily="18" charset="2"/>
                      </a:rPr>
                      <m:t>{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𝑎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, 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𝑏𝑏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ea typeface="宋体" panose="02010600030101010101" pitchFamily="2" charset="-122"/>
                        <a:sym typeface="Symbol" panose="05050102010706020507" pitchFamily="18" charset="2"/>
                      </a:rPr>
                      <m:t>}={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ea typeface="宋体" panose="02010600030101010101" pitchFamily="2" charset="-122"/>
                        <a:sym typeface="Symbol" panose="05050102010706020507" pitchFamily="18" charset="2"/>
                      </a:rPr>
                      <m:t>𝑎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ea typeface="宋体" panose="02010600030101010101" pitchFamily="2" charset="-122"/>
                        <a:sym typeface="Symbol" panose="05050102010706020507" pitchFamily="18" charset="2"/>
                      </a:rPr>
                      <m:t>, 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ea typeface="宋体" panose="02010600030101010101" pitchFamily="2" charset="-122"/>
                        <a:sym typeface="Symbol" panose="05050102010706020507" pitchFamily="18" charset="2"/>
                      </a:rPr>
                      <m:t>𝑏𝑏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ea typeface="宋体" panose="02010600030101010101" pitchFamily="2" charset="-122"/>
                        <a:sym typeface="Symbol" panose="05050102010706020507" pitchFamily="18" charset="2"/>
                      </a:rPr>
                      <m:t>, 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ea typeface="宋体" panose="02010600030101010101" pitchFamily="2" charset="-122"/>
                        <a:sym typeface="Symbol" panose="05050102010706020507" pitchFamily="18" charset="2"/>
                      </a:rPr>
                      <m:t>𝑎𝑎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ea typeface="宋体" panose="02010600030101010101" pitchFamily="2" charset="-122"/>
                        <a:sym typeface="Symbol" panose="05050102010706020507" pitchFamily="18" charset="2"/>
                      </a:rPr>
                      <m:t>, </m:t>
                    </m:r>
                    <m:r>
                      <a:rPr lang="en-US" altLang="zh-CN" b="0" i="1" dirty="0" err="1">
                        <a:latin typeface="Cambria Math" panose="02040503050406030204" pitchFamily="18" charset="0"/>
                        <a:ea typeface="宋体" panose="02010600030101010101" pitchFamily="2" charset="-122"/>
                        <a:sym typeface="Symbol" panose="05050102010706020507" pitchFamily="18" charset="2"/>
                      </a:rPr>
                      <m:t>𝑎𝑏𝑏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ea typeface="宋体" panose="02010600030101010101" pitchFamily="2" charset="-122"/>
                        <a:sym typeface="Symbol" panose="05050102010706020507" pitchFamily="18" charset="2"/>
                      </a:rPr>
                      <m:t>, </m:t>
                    </m:r>
                    <m:r>
                      <a:rPr lang="en-US" altLang="zh-CN" b="0" i="1" dirty="0" err="1">
                        <a:latin typeface="Cambria Math" panose="02040503050406030204" pitchFamily="18" charset="0"/>
                        <a:ea typeface="宋体" panose="02010600030101010101" pitchFamily="2" charset="-122"/>
                        <a:sym typeface="Symbol" panose="05050102010706020507" pitchFamily="18" charset="2"/>
                      </a:rPr>
                      <m:t>𝑏𝑎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ea typeface="宋体" panose="02010600030101010101" pitchFamily="2" charset="-122"/>
                        <a:sym typeface="Symbol" panose="05050102010706020507" pitchFamily="18" charset="2"/>
                      </a:rPr>
                      <m:t>, </m:t>
                    </m:r>
                    <m:r>
                      <a:rPr lang="en-US" altLang="zh-CN" b="0" i="1" dirty="0" err="1">
                        <a:latin typeface="Cambria Math" panose="02040503050406030204" pitchFamily="18" charset="0"/>
                        <a:ea typeface="宋体" panose="02010600030101010101" pitchFamily="2" charset="-122"/>
                        <a:sym typeface="Symbol" panose="05050102010706020507" pitchFamily="18" charset="2"/>
                      </a:rPr>
                      <m:t>𝑏𝑏𝑏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ea typeface="宋体" panose="02010600030101010101" pitchFamily="2" charset="-122"/>
                        <a:sym typeface="Symbol" panose="05050102010706020507" pitchFamily="18" charset="2"/>
                      </a:rPr>
                      <m:t>,</m:t>
                    </m:r>
                    <m:r>
                      <a:rPr lang="zh-CN" altLang="en-US" b="0" i="1" dirty="0">
                        <a:latin typeface="Cambria Math" panose="02040503050406030204" pitchFamily="18" charset="0"/>
                        <a:ea typeface="宋体" panose="02010600030101010101" pitchFamily="2" charset="-122"/>
                        <a:sym typeface="Symbol" panose="05050102010706020507" pitchFamily="18" charset="2"/>
                      </a:rPr>
                      <m:t> 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  <a:ea typeface="宋体" panose="02010600030101010101" pitchFamily="2" charset="-122"/>
                        <a:sym typeface="Symbol" panose="05050102010706020507" pitchFamily="18" charset="2"/>
                      </a:rPr>
                      <m:t>…}</m:t>
                    </m:r>
                  </m:oMath>
                </a14:m>
                <a:endParaRPr lang="en-US" altLang="zh-CN" baseline="30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lvl="1" eaLnBrk="1" hangingPunct="1">
                  <a:lnSpc>
                    <a:spcPct val="90000"/>
                  </a:lnSpc>
                  <a:buFontTx/>
                  <a:buNone/>
                </a:pPr>
                <a:endParaRPr lang="en-AU" altLang="zh-CN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lvl="1">
                  <a:buNone/>
                </a:pPr>
                <a:r>
                  <a:rPr lang="zh-CN" altLang="en-US" b="1" dirty="0"/>
                  <a:t>所以</a:t>
                </a:r>
                <a14:m>
                  <m:oMath xmlns:m="http://schemas.openxmlformats.org/officeDocument/2006/math">
                    <m:r>
                      <a:rPr lang="en-US" altLang="en-US" b="1" i="0" dirty="0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𝐋</m:t>
                    </m:r>
                    <m:r>
                      <a:rPr lang="en-US" altLang="en-US" b="1" i="1" dirty="0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(</m:t>
                    </m:r>
                    <m:sSup>
                      <m:sSupPr>
                        <m:ctrlPr>
                          <a:rPr lang="en-US" altLang="zh-CN" b="1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AU" altLang="zh-CN" b="1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AU" altLang="zh-CN" b="1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𝒂</m:t>
                        </m:r>
                        <m:r>
                          <a:rPr lang="en-AU" altLang="zh-CN" b="1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AU" altLang="zh-CN" b="1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𝒃</m:t>
                        </m:r>
                        <m:r>
                          <a:rPr lang="en-AU" altLang="zh-CN" b="1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  <m:sup>
                        <m:r>
                          <a:rPr lang="en-AU" altLang="zh-CN" b="1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en-US" b="1" i="1" dirty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(</m:t>
                    </m:r>
                    <m:r>
                      <a:rPr lang="en-US" altLang="en-US" b="1" i="1" dirty="0" err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𝒂</m:t>
                    </m:r>
                    <m:r>
                      <a:rPr lang="en-US" altLang="en-US" b="1" i="1" dirty="0" err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+</m:t>
                    </m:r>
                    <m:r>
                      <a:rPr lang="en-US" altLang="en-US" b="1" i="1" dirty="0" err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𝒃𝒃</m:t>
                    </m:r>
                    <m:r>
                      <a:rPr lang="en-US" altLang="en-US" b="1" i="1" dirty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))={</m:t>
                    </m:r>
                  </m:oMath>
                </a14:m>
                <a:r>
                  <a:rPr lang="en-US" altLang="en-US" b="1" i="1" dirty="0" err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w</a:t>
                </a:r>
                <a:r>
                  <a:rPr lang="en-US" altLang="en-US" b="1" dirty="0" err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|</a:t>
                </a:r>
                <a:r>
                  <a:rPr lang="en-US" altLang="en-US" b="1" i="1" dirty="0" err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w</a:t>
                </a:r>
                <a:r>
                  <a:rPr lang="zh-CN" altLang="en-US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由</a:t>
                </a:r>
                <a:r>
                  <a:rPr lang="en-US" altLang="en-US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a</a:t>
                </a:r>
                <a:r>
                  <a:rPr lang="zh-CN" altLang="en-US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和</a:t>
                </a:r>
                <a:r>
                  <a:rPr lang="en-US" altLang="en-US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b</a:t>
                </a:r>
                <a:r>
                  <a:rPr lang="zh-CN" altLang="en-US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组成，仅以</a:t>
                </a:r>
                <a:r>
                  <a:rPr lang="en-US" altLang="en-US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a</a:t>
                </a:r>
                <a:r>
                  <a:rPr lang="zh-CN" altLang="en-US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或</a:t>
                </a:r>
                <a:r>
                  <a:rPr lang="en-US" altLang="en-US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bb</a:t>
                </a:r>
                <a:r>
                  <a:rPr lang="zh-CN" altLang="en-US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结尾</a:t>
                </a:r>
                <a:r>
                  <a:rPr lang="en-US" altLang="zh-CN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}</a:t>
                </a:r>
                <a:r>
                  <a:rPr lang="zh-CN" altLang="en-US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。</a:t>
                </a:r>
                <a:endPara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6149" name="Rectangle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1000" y="1066800"/>
                <a:ext cx="8229600" cy="4525963"/>
              </a:xfrm>
              <a:blipFill rotWithShape="1">
                <a:blip r:embed="rId4"/>
                <a:stretch>
                  <a:fillRect t="-1487" b="-18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88649B5-5251-45CD-B5C5-DC494CEB5F2A}" type="slidenum">
              <a:rPr lang="en-US" altLang="zh-CN"/>
              <a:t>16</a:t>
            </a:fld>
            <a:endParaRPr lang="en-US" altLang="zh-CN"/>
          </a:p>
        </p:txBody>
      </p:sp>
      <p:sp>
        <p:nvSpPr>
          <p:cNvPr id="615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8374"/>
    </mc:Choice>
    <mc:Fallback xmlns="">
      <p:transition spd="slow" advTm="98374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运算的若干化简规则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+E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</a:t>
                </a:r>
                <a:r>
                  <a:rPr lang="en-US" altLang="zh-CN" baseline="30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*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=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+E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</a:t>
                </a:r>
                <a:r>
                  <a:rPr lang="en-US" altLang="zh-CN" baseline="30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+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=</a:t>
                </a:r>
                <a:r>
                  <a:rPr lang="en-US" altLang="zh-CN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E</a:t>
                </a:r>
                <a:r>
                  <a:rPr lang="en-US" altLang="zh-CN" baseline="30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*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𝐸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𝐸</m:t>
                        </m:r>
                      </m:e>
                      <m: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𝐸</m:t>
                        </m:r>
                      </m:e>
                      <m: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baseline="30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*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𝐸</m:t>
                        </m:r>
                      </m:e>
                      <m: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𝐸</m:t>
                        </m:r>
                      </m:e>
                      <m: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2</m:t>
                        </m:r>
                      </m:sub>
                    </m:sSub>
                    <m:r>
                      <m:rPr>
                        <m:nor/>
                      </m:rPr>
                      <a:rPr lang="en-US" altLang="zh-CN" baseline="30000" dirty="0"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∗</m:t>
                    </m:r>
                  </m:oMath>
                </a14:m>
                <a:endParaRPr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∅</m:t>
                    </m:r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𝐸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1</m:t>
                        </m:r>
                      </m:sub>
                    </m:sSub>
                    <m:r>
                      <a:rPr lang="en-AU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 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=</a:t>
                </a:r>
                <a14:m>
                  <m:oMath xmlns:m="http://schemas.openxmlformats.org/officeDocument/2006/math">
                    <m:r>
                      <a:rPr lang="en-AU" altLang="zh-CN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 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𝐸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∅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∅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（零元）</a:t>
                </a:r>
                <a:endParaRPr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∅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+</m:t>
                    </m:r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𝐸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1</m:t>
                        </m:r>
                      </m:sub>
                    </m:sSub>
                    <m:r>
                      <a:rPr lang="en-AU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 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=</a:t>
                </a:r>
                <a:r>
                  <a:rPr lang="en-US" altLang="zh-CN" dirty="0"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𝐸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1</m:t>
                        </m:r>
                      </m:sub>
                    </m:sSub>
                    <m:r>
                      <a:rPr lang="en-AU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∅</m:t>
                    </m:r>
                    <m:r>
                      <a:rPr lang="en-AU" altLang="zh-C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𝐸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1</m:t>
                        </m:r>
                      </m:sub>
                    </m:sSub>
                    <m:r>
                      <a:rPr lang="en-AU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 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（单位元）</a:t>
                </a:r>
                <a:endParaRPr lang="en-AU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CN" baseline="300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1052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19564F-3A13-4140-9CFC-3B75A7CC7F9C}" type="slidenum">
              <a:rPr lang="en-US" altLang="zh-CN" smtClean="0"/>
              <a:t>17</a:t>
            </a:fld>
            <a:endParaRPr lang="en-US" altLang="zh-CN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内容大纲</a:t>
            </a:r>
            <a:endParaRPr lang="en-AU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olidFill>
                  <a:srgbClr val="BFBFBF"/>
                </a:solidFill>
              </a:rPr>
              <a:t>正则表达式</a:t>
            </a:r>
            <a:r>
              <a:rPr lang="en-AU" altLang="zh-CN" dirty="0">
                <a:solidFill>
                  <a:srgbClr val="BFBFBF"/>
                </a:solidFill>
              </a:rPr>
              <a:t>	</a:t>
            </a:r>
          </a:p>
          <a:p>
            <a:pPr lvl="1"/>
            <a:r>
              <a:rPr lang="zh-CN" altLang="en-US" dirty="0">
                <a:solidFill>
                  <a:srgbClr val="BFBFBF"/>
                </a:solidFill>
              </a:rPr>
              <a:t>正则表达式的递归定义</a:t>
            </a:r>
            <a:endParaRPr lang="en-AU" altLang="zh-CN" dirty="0">
              <a:solidFill>
                <a:srgbClr val="BFBFBF"/>
              </a:solidFill>
            </a:endParaRPr>
          </a:p>
          <a:p>
            <a:pPr lvl="1"/>
            <a:r>
              <a:rPr lang="zh-CN" altLang="en-US" dirty="0">
                <a:solidFill>
                  <a:srgbClr val="BFBFBF"/>
                </a:solidFill>
              </a:rPr>
              <a:t>正则表达式的示例</a:t>
            </a:r>
            <a:endParaRPr lang="en-AU" altLang="zh-CN" dirty="0">
              <a:solidFill>
                <a:srgbClr val="BFBFBF"/>
              </a:solidFill>
            </a:endParaRPr>
          </a:p>
          <a:p>
            <a:r>
              <a:rPr lang="zh-CN" altLang="en-US" dirty="0"/>
              <a:t>有穷自动机和正则表达式</a:t>
            </a:r>
            <a:endParaRPr lang="en-AU" altLang="zh-CN" dirty="0"/>
          </a:p>
          <a:p>
            <a:pPr lvl="1"/>
            <a:r>
              <a:rPr lang="zh-CN" altLang="en-US" dirty="0"/>
              <a:t>由自动机到正则表达式</a:t>
            </a:r>
            <a:endParaRPr lang="en-AU" altLang="zh-CN" dirty="0"/>
          </a:p>
          <a:p>
            <a:pPr lvl="1"/>
            <a:r>
              <a:rPr lang="zh-CN" altLang="en-US" dirty="0">
                <a:solidFill>
                  <a:srgbClr val="BFBFBF"/>
                </a:solidFill>
              </a:rPr>
              <a:t>由正则表达式到自动机</a:t>
            </a:r>
            <a:endParaRPr lang="en-AU" altLang="zh-CN" dirty="0">
              <a:solidFill>
                <a:srgbClr val="BFBFBF"/>
              </a:solidFill>
            </a:endParaRPr>
          </a:p>
          <a:p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正则表达式的代数定律</a:t>
            </a:r>
            <a:endParaRPr lang="en-AU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19564F-3A13-4140-9CFC-3B75A7CC7F9C}" type="slidenum">
              <a:rPr lang="en-US" altLang="zh-CN" smtClean="0"/>
              <a:t>18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775"/>
    </mc:Choice>
    <mc:Fallback xmlns="">
      <p:transition spd="slow" advTm="19775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/>
              <a:t>有穷自动机和正则表达式</a:t>
            </a:r>
            <a:endParaRPr lang="zh-CN" altLang="en-US" dirty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990600"/>
            <a:ext cx="8229600" cy="4525963"/>
          </a:xfrm>
        </p:spPr>
        <p:txBody>
          <a:bodyPr/>
          <a:lstStyle/>
          <a:p>
            <a:pPr marL="533400" indent="-533400" algn="just" eaLnBrk="1" hangingPunct="1">
              <a:lnSpc>
                <a:spcPct val="90000"/>
              </a:lnSpc>
              <a:defRPr/>
            </a:pPr>
            <a:r>
              <a:rPr 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DFA, NFA, </a:t>
            </a:r>
            <a:r>
              <a:rPr lang="zh-CN" altLang="en-US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  <a:r>
              <a:rPr 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-NFA</a:t>
            </a:r>
            <a:r>
              <a:rPr lang="zh-CN" altLang="en-US" dirty="0">
                <a:cs typeface="Times New Roman" panose="02020603050405020304" pitchFamily="18" charset="0"/>
              </a:rPr>
              <a:t>和正则表达式在表示语言的能力上是等价的</a:t>
            </a:r>
            <a:endParaRPr lang="en-US" altLang="zh-CN" dirty="0">
              <a:cs typeface="Times New Roman" panose="02020603050405020304" pitchFamily="18" charset="0"/>
            </a:endParaRPr>
          </a:p>
          <a:p>
            <a:pPr marL="933450" lvl="1" indent="-533400" algn="just" eaLnBrk="1" hangingPunct="1">
              <a:lnSpc>
                <a:spcPct val="90000"/>
              </a:lnSpc>
              <a:defRPr/>
            </a:pP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相互之间的转换关系</a:t>
            </a:r>
            <a:endParaRPr lang="en-US" altLang="zh-CN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00050" lvl="1" indent="0" algn="just" eaLnBrk="1" hangingPunct="1">
              <a:lnSpc>
                <a:spcPct val="90000"/>
              </a:lnSpc>
              <a:buFontTx/>
              <a:buNone/>
              <a:defRPr/>
            </a:pPr>
            <a:endParaRPr lang="en-US" altLang="zh-CN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54AF8B-81E5-4F9F-86A5-A682C2C09B60}" type="slidenum">
              <a:rPr lang="en-US" altLang="zh-CN"/>
              <a:t>19</a:t>
            </a:fld>
            <a:endParaRPr lang="en-US" altLang="zh-CN"/>
          </a:p>
        </p:txBody>
      </p:sp>
      <p:sp>
        <p:nvSpPr>
          <p:cNvPr id="819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</p:txBody>
      </p:sp>
      <p:sp>
        <p:nvSpPr>
          <p:cNvPr id="14" name="椭圆 13"/>
          <p:cNvSpPr/>
          <p:nvPr/>
        </p:nvSpPr>
        <p:spPr bwMode="auto">
          <a:xfrm>
            <a:off x="5289550" y="2743200"/>
            <a:ext cx="2801937" cy="72866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正则表达式</a:t>
            </a:r>
            <a:endParaRPr lang="en-US" sz="28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椭圆 1"/>
          <p:cNvSpPr/>
          <p:nvPr>
            <p:custDataLst>
              <p:tags r:id="rId1"/>
            </p:custDataLst>
          </p:nvPr>
        </p:nvSpPr>
        <p:spPr bwMode="auto">
          <a:xfrm>
            <a:off x="2300287" y="2744788"/>
            <a:ext cx="1828800" cy="72866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DFA</a:t>
            </a:r>
            <a:endParaRPr lang="en-US" sz="28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" name="椭圆 2"/>
          <p:cNvSpPr/>
          <p:nvPr>
            <p:custDataLst>
              <p:tags r:id="rId2"/>
            </p:custDataLst>
          </p:nvPr>
        </p:nvSpPr>
        <p:spPr bwMode="auto">
          <a:xfrm>
            <a:off x="1371600" y="4071938"/>
            <a:ext cx="1828800" cy="72866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NFA</a:t>
            </a:r>
            <a:endParaRPr lang="en-US" sz="28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椭圆 3"/>
          <p:cNvSpPr/>
          <p:nvPr>
            <p:custDataLst>
              <p:tags r:id="rId3"/>
            </p:custDataLst>
          </p:nvPr>
        </p:nvSpPr>
        <p:spPr bwMode="auto">
          <a:xfrm>
            <a:off x="3900487" y="4071938"/>
            <a:ext cx="1828800" cy="72866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NFA</a:t>
            </a:r>
            <a:endParaRPr lang="en-US" sz="28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5" name="曲线连接符 4"/>
          <p:cNvCxnSpPr>
            <a:stCxn id="3" idx="1"/>
          </p:cNvCxnSpPr>
          <p:nvPr>
            <p:custDataLst>
              <p:tags r:id="rId4"/>
            </p:custDataLst>
          </p:nvPr>
        </p:nvCxnSpPr>
        <p:spPr bwMode="auto">
          <a:xfrm rot="5400000" flipH="1" flipV="1">
            <a:off x="1665674" y="3340836"/>
            <a:ext cx="811560" cy="864065"/>
          </a:xfrm>
          <a:prstGeom prst="curvedConnector2">
            <a:avLst/>
          </a:prstGeom>
          <a:ln w="19050" cmpd="sng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曲线连接符 6"/>
          <p:cNvCxnSpPr>
            <a:stCxn id="2" idx="4"/>
          </p:cNvCxnSpPr>
          <p:nvPr>
            <p:custDataLst>
              <p:tags r:id="rId5"/>
            </p:custDataLst>
          </p:nvPr>
        </p:nvCxnSpPr>
        <p:spPr bwMode="auto">
          <a:xfrm rot="16200000" flipH="1">
            <a:off x="3319462" y="3368675"/>
            <a:ext cx="704850" cy="914400"/>
          </a:xfrm>
          <a:prstGeom prst="curvedConnector2">
            <a:avLst/>
          </a:prstGeom>
          <a:ln w="19050" cmpd="sng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弧形 7"/>
          <p:cNvSpPr/>
          <p:nvPr>
            <p:custDataLst>
              <p:tags r:id="rId6"/>
            </p:custDataLst>
          </p:nvPr>
        </p:nvSpPr>
        <p:spPr bwMode="auto">
          <a:xfrm rot="1843104">
            <a:off x="2654300" y="3375025"/>
            <a:ext cx="468312" cy="785813"/>
          </a:xfrm>
          <a:prstGeom prst="arc">
            <a:avLst>
              <a:gd name="adj1" fmla="val 16664903"/>
              <a:gd name="adj2" fmla="val 4224522"/>
            </a:avLst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9" name="曲线连接符 8"/>
          <p:cNvCxnSpPr>
            <a:stCxn id="4" idx="4"/>
            <a:endCxn id="3" idx="4"/>
          </p:cNvCxnSpPr>
          <p:nvPr>
            <p:custDataLst>
              <p:tags r:id="rId7"/>
            </p:custDataLst>
          </p:nvPr>
        </p:nvCxnSpPr>
        <p:spPr bwMode="auto">
          <a:xfrm rot="5400000">
            <a:off x="3550285" y="3536315"/>
            <a:ext cx="3175" cy="2528570"/>
          </a:xfrm>
          <a:prstGeom prst="curvedConnector3">
            <a:avLst>
              <a:gd name="adj1" fmla="val 12210000"/>
            </a:avLst>
          </a:prstGeom>
          <a:ln w="19050" cmpd="sng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3048000" y="4724400"/>
            <a:ext cx="99949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简化</a:t>
            </a:r>
          </a:p>
        </p:txBody>
      </p:sp>
      <p:sp>
        <p:nvSpPr>
          <p:cNvPr id="11" name="文本框 10"/>
          <p:cNvSpPr txBox="1"/>
          <p:nvPr>
            <p:custDataLst>
              <p:tags r:id="rId9"/>
            </p:custDataLst>
          </p:nvPr>
        </p:nvSpPr>
        <p:spPr>
          <a:xfrm>
            <a:off x="3429000" y="3555365"/>
            <a:ext cx="99949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转换</a:t>
            </a:r>
          </a:p>
        </p:txBody>
      </p:sp>
      <p:cxnSp>
        <p:nvCxnSpPr>
          <p:cNvPr id="25" name="曲线连接符 24"/>
          <p:cNvCxnSpPr>
            <a:stCxn id="2" idx="6"/>
            <a:endCxn id="14" idx="2"/>
          </p:cNvCxnSpPr>
          <p:nvPr>
            <p:custDataLst>
              <p:tags r:id="rId10"/>
            </p:custDataLst>
          </p:nvPr>
        </p:nvCxnSpPr>
        <p:spPr>
          <a:xfrm flipV="1">
            <a:off x="4128770" y="3107690"/>
            <a:ext cx="1160780" cy="3175"/>
          </a:xfrm>
          <a:prstGeom prst="curvedConnector3">
            <a:avLst>
              <a:gd name="adj1" fmla="val 50000"/>
            </a:avLst>
          </a:prstGeom>
          <a:ln w="19050" cmpd="sng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17"/>
          <p:cNvSpPr txBox="1"/>
          <p:nvPr>
            <p:custDataLst>
              <p:tags r:id="rId11"/>
            </p:custDataLst>
          </p:nvPr>
        </p:nvSpPr>
        <p:spPr>
          <a:xfrm>
            <a:off x="287020" y="5405755"/>
            <a:ext cx="8722995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对于一个</a:t>
            </a:r>
            <a:r>
              <a:rPr lang="en-AU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DFA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所能识别的语言，都存在一个正则表达式表示它。</a:t>
            </a:r>
            <a:endParaRPr lang="en-AU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721"/>
    </mc:Choice>
    <mc:Fallback xmlns="">
      <p:transition spd="slow" advTm="1172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/>
              <a:t>有穷自动机和正则表达式</a:t>
            </a:r>
            <a:endParaRPr lang="zh-CN" altLang="en-US" dirty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990600"/>
            <a:ext cx="8229600" cy="4525963"/>
          </a:xfrm>
        </p:spPr>
        <p:txBody>
          <a:bodyPr/>
          <a:lstStyle/>
          <a:p>
            <a:pPr marL="533400" indent="-533400" algn="just" eaLnBrk="1" hangingPunct="1">
              <a:lnSpc>
                <a:spcPct val="90000"/>
              </a:lnSpc>
              <a:defRPr/>
            </a:pPr>
            <a:r>
              <a:rPr 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DFA, NFA, </a:t>
            </a:r>
            <a:r>
              <a:rPr lang="zh-CN" altLang="en-US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  <a:r>
              <a:rPr 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-NFA</a:t>
            </a:r>
            <a:r>
              <a:rPr lang="zh-CN" altLang="en-US" dirty="0">
                <a:cs typeface="Times New Roman" panose="02020603050405020304" pitchFamily="18" charset="0"/>
              </a:rPr>
              <a:t>和正则表达式在表示语言的能力上是等价的</a:t>
            </a:r>
            <a:endParaRPr lang="en-US" altLang="zh-CN" dirty="0">
              <a:cs typeface="Times New Roman" panose="02020603050405020304" pitchFamily="18" charset="0"/>
            </a:endParaRPr>
          </a:p>
          <a:p>
            <a:pPr marL="933450" lvl="1" indent="-533400" algn="just" eaLnBrk="1" hangingPunct="1">
              <a:lnSpc>
                <a:spcPct val="90000"/>
              </a:lnSpc>
              <a:defRPr/>
            </a:pP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相互之间的转换关系</a:t>
            </a:r>
            <a:endParaRPr lang="en-US" altLang="zh-CN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00050" lvl="1" indent="0" algn="just" eaLnBrk="1" hangingPunct="1">
              <a:lnSpc>
                <a:spcPct val="90000"/>
              </a:lnSpc>
              <a:buFontTx/>
              <a:buNone/>
              <a:defRPr/>
            </a:pPr>
            <a:endParaRPr lang="en-US" altLang="zh-CN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54AF8B-81E5-4F9F-86A5-A682C2C09B60}" type="slidenum">
              <a:rPr lang="en-US" altLang="zh-CN"/>
              <a:t>20</a:t>
            </a:fld>
            <a:endParaRPr lang="en-US" altLang="zh-CN"/>
          </a:p>
        </p:txBody>
      </p:sp>
      <p:sp>
        <p:nvSpPr>
          <p:cNvPr id="819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</p:txBody>
      </p:sp>
      <p:sp>
        <p:nvSpPr>
          <p:cNvPr id="14" name="椭圆 13"/>
          <p:cNvSpPr/>
          <p:nvPr/>
        </p:nvSpPr>
        <p:spPr bwMode="auto">
          <a:xfrm>
            <a:off x="5289550" y="2743200"/>
            <a:ext cx="2801937" cy="72866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正则表达式</a:t>
            </a:r>
            <a:endParaRPr lang="en-US" sz="28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椭圆 1"/>
          <p:cNvSpPr/>
          <p:nvPr>
            <p:custDataLst>
              <p:tags r:id="rId1"/>
            </p:custDataLst>
          </p:nvPr>
        </p:nvSpPr>
        <p:spPr bwMode="auto">
          <a:xfrm>
            <a:off x="2300287" y="2744788"/>
            <a:ext cx="1828800" cy="72866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DFA</a:t>
            </a:r>
            <a:endParaRPr lang="en-US" sz="28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" name="椭圆 2"/>
          <p:cNvSpPr/>
          <p:nvPr>
            <p:custDataLst>
              <p:tags r:id="rId2"/>
            </p:custDataLst>
          </p:nvPr>
        </p:nvSpPr>
        <p:spPr bwMode="auto">
          <a:xfrm>
            <a:off x="1371600" y="4071938"/>
            <a:ext cx="1828800" cy="72866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NFA</a:t>
            </a:r>
            <a:endParaRPr lang="en-US" sz="28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椭圆 3"/>
          <p:cNvSpPr/>
          <p:nvPr>
            <p:custDataLst>
              <p:tags r:id="rId3"/>
            </p:custDataLst>
          </p:nvPr>
        </p:nvSpPr>
        <p:spPr bwMode="auto">
          <a:xfrm>
            <a:off x="3900487" y="4071938"/>
            <a:ext cx="1828800" cy="72866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NFA</a:t>
            </a:r>
            <a:endParaRPr lang="en-US" sz="28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5" name="曲线连接符 4"/>
          <p:cNvCxnSpPr>
            <a:stCxn id="3" idx="1"/>
          </p:cNvCxnSpPr>
          <p:nvPr>
            <p:custDataLst>
              <p:tags r:id="rId4"/>
            </p:custDataLst>
          </p:nvPr>
        </p:nvCxnSpPr>
        <p:spPr bwMode="auto">
          <a:xfrm rot="5400000" flipH="1" flipV="1">
            <a:off x="1665674" y="3340836"/>
            <a:ext cx="811560" cy="864065"/>
          </a:xfrm>
          <a:prstGeom prst="curvedConnector2">
            <a:avLst/>
          </a:prstGeom>
          <a:ln w="19050" cmpd="sng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曲线连接符 6"/>
          <p:cNvCxnSpPr>
            <a:stCxn id="2" idx="4"/>
          </p:cNvCxnSpPr>
          <p:nvPr>
            <p:custDataLst>
              <p:tags r:id="rId5"/>
            </p:custDataLst>
          </p:nvPr>
        </p:nvCxnSpPr>
        <p:spPr bwMode="auto">
          <a:xfrm rot="16200000" flipH="1">
            <a:off x="3319462" y="3368675"/>
            <a:ext cx="704850" cy="914400"/>
          </a:xfrm>
          <a:prstGeom prst="curvedConnector2">
            <a:avLst/>
          </a:prstGeom>
          <a:ln w="19050" cmpd="sng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弧形 7"/>
          <p:cNvSpPr/>
          <p:nvPr>
            <p:custDataLst>
              <p:tags r:id="rId6"/>
            </p:custDataLst>
          </p:nvPr>
        </p:nvSpPr>
        <p:spPr bwMode="auto">
          <a:xfrm rot="1843104">
            <a:off x="2654300" y="3375025"/>
            <a:ext cx="468312" cy="785813"/>
          </a:xfrm>
          <a:prstGeom prst="arc">
            <a:avLst>
              <a:gd name="adj1" fmla="val 16664903"/>
              <a:gd name="adj2" fmla="val 4224522"/>
            </a:avLst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9" name="曲线连接符 8"/>
          <p:cNvCxnSpPr>
            <a:stCxn id="4" idx="4"/>
            <a:endCxn id="3" idx="4"/>
          </p:cNvCxnSpPr>
          <p:nvPr>
            <p:custDataLst>
              <p:tags r:id="rId7"/>
            </p:custDataLst>
          </p:nvPr>
        </p:nvCxnSpPr>
        <p:spPr bwMode="auto">
          <a:xfrm rot="5400000">
            <a:off x="3550285" y="3536315"/>
            <a:ext cx="3175" cy="2528570"/>
          </a:xfrm>
          <a:prstGeom prst="curvedConnector3">
            <a:avLst>
              <a:gd name="adj1" fmla="val 12210000"/>
            </a:avLst>
          </a:prstGeom>
          <a:ln w="19050" cmpd="sng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3048000" y="4724400"/>
            <a:ext cx="99949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简化</a:t>
            </a:r>
          </a:p>
        </p:txBody>
      </p:sp>
      <p:sp>
        <p:nvSpPr>
          <p:cNvPr id="11" name="文本框 10"/>
          <p:cNvSpPr txBox="1"/>
          <p:nvPr>
            <p:custDataLst>
              <p:tags r:id="rId9"/>
            </p:custDataLst>
          </p:nvPr>
        </p:nvSpPr>
        <p:spPr>
          <a:xfrm>
            <a:off x="3429000" y="3555365"/>
            <a:ext cx="99949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转换</a:t>
            </a:r>
          </a:p>
        </p:txBody>
      </p:sp>
      <p:cxnSp>
        <p:nvCxnSpPr>
          <p:cNvPr id="25" name="曲线连接符 24"/>
          <p:cNvCxnSpPr>
            <a:stCxn id="2" idx="6"/>
            <a:endCxn id="14" idx="2"/>
          </p:cNvCxnSpPr>
          <p:nvPr>
            <p:custDataLst>
              <p:tags r:id="rId10"/>
            </p:custDataLst>
          </p:nvPr>
        </p:nvCxnSpPr>
        <p:spPr>
          <a:xfrm flipV="1">
            <a:off x="4128770" y="3107690"/>
            <a:ext cx="1160780" cy="3175"/>
          </a:xfrm>
          <a:prstGeom prst="curvedConnector3">
            <a:avLst>
              <a:gd name="adj1" fmla="val 50000"/>
            </a:avLst>
          </a:prstGeom>
          <a:ln w="19050" cmpd="sng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17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287020" y="5405755"/>
                <a:ext cx="8722995" cy="8299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对于一个</a:t>
                </a:r>
                <a:r>
                  <a:rPr lang="en-AU" altLang="zh-CN" sz="24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DFA</a:t>
                </a:r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所能识别的语言，都存在一个正则表达式表示它。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任何一个正则表达式表示的语言，都可以由一个</a:t>
                </a:r>
                <a14:m>
                  <m:oMath xmlns:m="http://schemas.openxmlformats.org/officeDocument/2006/math">
                    <m:r>
                      <a:rPr lang="zh-CN" altLang="en-AU" sz="24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𝜀</m:t>
                    </m:r>
                  </m:oMath>
                </a14:m>
                <a:r>
                  <a:rPr lang="en-AU" altLang="zh-CN" sz="2400" dirty="0"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-</a:t>
                </a:r>
                <a:r>
                  <a:rPr lang="en-AU" altLang="zh-CN" sz="24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+mn-ea"/>
                  </a:rPr>
                  <a:t>NFA</a:t>
                </a:r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识别。</a:t>
                </a:r>
                <a:endParaRPr lang="en-AU" altLang="zh-CN" sz="24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6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5"/>
                </p:custDataLst>
              </p:nvPr>
            </p:nvSpPr>
            <p:spPr>
              <a:xfrm>
                <a:off x="287020" y="5405755"/>
                <a:ext cx="8722995" cy="829945"/>
              </a:xfrm>
              <a:prstGeom prst="rect">
                <a:avLst/>
              </a:prstGeom>
              <a:blipFill rotWithShape="1">
                <a:blip r:embed="rId16"/>
                <a:stretch>
                  <a:fillRect b="-68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曲线连接符 22"/>
          <p:cNvCxnSpPr>
            <a:stCxn id="4" idx="6"/>
            <a:endCxn id="14" idx="4"/>
          </p:cNvCxnSpPr>
          <p:nvPr>
            <p:custDataLst>
              <p:tags r:id="rId12"/>
            </p:custDataLst>
          </p:nvPr>
        </p:nvCxnSpPr>
        <p:spPr bwMode="auto">
          <a:xfrm flipV="1">
            <a:off x="5728970" y="3471545"/>
            <a:ext cx="961390" cy="964565"/>
          </a:xfrm>
          <a:prstGeom prst="curvedConnector2">
            <a:avLst/>
          </a:prstGeom>
          <a:ln w="19050" cmpd="sng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721"/>
    </mc:Choice>
    <mc:Fallback xmlns="">
      <p:transition spd="slow" advTm="1172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DFA</a:t>
            </a:r>
            <a:r>
              <a:rPr lang="zh-CN" altLang="en-US" dirty="0"/>
              <a:t>到正则表达式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85800" y="1166018"/>
                <a:ext cx="8229600" cy="4525963"/>
              </a:xfrm>
            </p:spPr>
            <p:txBody>
              <a:bodyPr/>
              <a:lstStyle/>
              <a:p>
                <a:r>
                  <a:rPr lang="zh-CN" altLang="en-US" sz="2800" dirty="0"/>
                  <a:t>定理：若 </a:t>
                </a:r>
                <a14:m>
                  <m:oMath xmlns:m="http://schemas.openxmlformats.org/officeDocument/2006/math">
                    <m:r>
                      <a:rPr lang="en-AU" altLang="zh-CN" sz="2800" b="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altLang="zh-CN" sz="2800" b="1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AU" altLang="zh-CN" sz="2800" b="1" i="0" dirty="0" smtClean="0">
                        <a:latin typeface="Cambria Math" panose="02040503050406030204" pitchFamily="18" charset="0"/>
                      </a:rPr>
                      <m:t>𝐋</m:t>
                    </m:r>
                    <m:r>
                      <a:rPr lang="en-AU" altLang="zh-CN" sz="2800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zh-CN" sz="2800" b="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AU" altLang="zh-CN" sz="2800" b="1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zh-CN" altLang="en-US" sz="2800" dirty="0"/>
                  <a:t>是某 </a:t>
                </a:r>
                <a:r>
                  <a:rPr lang="en-AU" altLang="zh-C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</a:t>
                </a:r>
                <a:r>
                  <a:rPr lang="en-AU" altLang="zh-CN" sz="2800" dirty="0"/>
                  <a:t> </a:t>
                </a:r>
                <a14:m>
                  <m:oMath xmlns:m="http://schemas.openxmlformats.org/officeDocument/2006/math">
                    <m:r>
                      <a:rPr lang="en-AU" altLang="zh-CN" sz="28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AU" altLang="zh-CN" sz="2800" dirty="0"/>
                  <a:t> </a:t>
                </a:r>
                <a:r>
                  <a:rPr lang="zh-CN" altLang="en-US" sz="2800" dirty="0"/>
                  <a:t>的语言</a:t>
                </a:r>
                <a:r>
                  <a:rPr lang="en-US" altLang="zh-CN" sz="2800" dirty="0"/>
                  <a:t>, </a:t>
                </a:r>
                <a:r>
                  <a:rPr lang="zh-CN" altLang="en-US" sz="2800" dirty="0"/>
                  <a:t>那么存在正则表达式</a:t>
                </a:r>
                <a14:m>
                  <m:oMath xmlns:m="http://schemas.openxmlformats.org/officeDocument/2006/math">
                    <m:r>
                      <a:rPr lang="en-AU" altLang="zh-CN" sz="28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zh-CN" altLang="en-US" sz="2800" dirty="0"/>
                  <a:t>满足</a:t>
                </a:r>
                <a14:m>
                  <m:oMath xmlns:m="http://schemas.openxmlformats.org/officeDocument/2006/math">
                    <m:r>
                      <a:rPr lang="en-AU" altLang="zh-CN" sz="2800" b="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altLang="zh-CN" sz="2800" b="1" i="1" dirty="0" smtClean="0">
                        <a:latin typeface="Cambria Math" panose="02040503050406030204" pitchFamily="18" charset="0"/>
                      </a:rPr>
                      <m:t> =</m:t>
                    </m:r>
                    <m:r>
                      <a:rPr lang="en-AU" altLang="zh-CN" sz="2800" b="1" i="1" dirty="0" smtClean="0">
                        <a:latin typeface="Cambria Math" panose="02040503050406030204" pitchFamily="18" charset="0"/>
                      </a:rPr>
                      <m:t>𝑳</m:t>
                    </m:r>
                    <m:r>
                      <a:rPr lang="en-AU" altLang="zh-CN" sz="2800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zh-CN" sz="2800" b="0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AU" altLang="zh-CN" sz="2800" b="1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b="1" i="1" dirty="0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endParaRPr lang="en-AU" altLang="zh-CN" sz="2800" b="1" dirty="0"/>
              </a:p>
              <a:p>
                <a:r>
                  <a:rPr lang="zh-CN" altLang="en-US" dirty="0"/>
                  <a:t>证明方法：</a:t>
                </a:r>
                <a:endParaRPr lang="en-AU" altLang="zh-CN" dirty="0"/>
              </a:p>
              <a:p>
                <a:pPr lvl="1"/>
                <a:r>
                  <a:rPr lang="zh-CN" altLang="en-US" dirty="0"/>
                  <a:t>递归法</a:t>
                </a:r>
                <a:endParaRPr lang="en-AU" altLang="zh-CN" dirty="0"/>
              </a:p>
              <a:p>
                <a:pPr lvl="1"/>
                <a:r>
                  <a:rPr lang="zh-CN" altLang="en-US" dirty="0"/>
                  <a:t>状态消除法</a:t>
                </a:r>
                <a:endParaRPr lang="en-AU" altLang="zh-CN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800" y="1166018"/>
                <a:ext cx="8229600" cy="4525963"/>
              </a:xfrm>
              <a:blipFill rotWithShape="1">
                <a:blip r:embed="rId3"/>
                <a:stretch>
                  <a:fillRect t="-3" b="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19564F-3A13-4140-9CFC-3B75A7CC7F9C}" type="slidenum">
              <a:rPr lang="en-US" altLang="zh-CN" smtClean="0"/>
              <a:t>21</a:t>
            </a:fld>
            <a:endParaRPr lang="en-US" altLang="zh-CN"/>
          </a:p>
        </p:txBody>
      </p:sp>
      <p:pic>
        <p:nvPicPr>
          <p:cNvPr id="21" name="Picture 7" descr="A black and silver musical instrument&#10;&#10;Description automatically generated with low confidence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89" r="7963"/>
          <a:stretch>
            <a:fillRect/>
          </a:stretch>
        </p:blipFill>
        <p:spPr>
          <a:xfrm>
            <a:off x="2112645" y="4038600"/>
            <a:ext cx="4918075" cy="13119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778"/>
    </mc:Choice>
    <mc:Fallback xmlns="">
      <p:transition spd="slow" advTm="24778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DFA</a:t>
            </a:r>
            <a:r>
              <a:rPr lang="en-US" altLang="zh-CN" dirty="0"/>
              <a:t>-&gt;</a:t>
            </a:r>
            <a:r>
              <a:rPr lang="zh-CN" altLang="en-US" dirty="0"/>
              <a:t>正则表达式</a:t>
            </a:r>
            <a:r>
              <a:rPr lang="en-AU" altLang="zh-CN" dirty="0"/>
              <a:t>:</a:t>
            </a:r>
            <a:r>
              <a:rPr lang="zh-CN" altLang="en-US" dirty="0"/>
              <a:t>递归法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85273" y="1006354"/>
                <a:ext cx="8229600" cy="4525963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25000"/>
                  </a:lnSpc>
                </a:pPr>
                <a:r>
                  <a:rPr lang="zh-CN" altLang="en-US" sz="2800" b="1" dirty="0"/>
                  <a:t>对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en-US" sz="2800" b="1" dirty="0"/>
                  <a:t>的状态进行编号，令</a:t>
                </a:r>
                <a:r>
                  <a:rPr lang="en-US" altLang="zh-CN" sz="2800" b="1" dirty="0"/>
                  <a:t>1</a:t>
                </a:r>
                <a:r>
                  <a:rPr lang="zh-CN" altLang="en-US" sz="2800" b="1" dirty="0"/>
                  <a:t>为开始状态，即</a:t>
                </a:r>
                <a:endParaRPr lang="en-AU" altLang="zh-CN" sz="2800" b="1" dirty="0"/>
              </a:p>
              <a:p>
                <a:pPr marL="0" indent="0">
                  <a:lnSpc>
                    <a:spcPct val="125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altLang="zh-CN" sz="2800" b="0" i="1" dirty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AU" altLang="zh-CN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AU" altLang="zh-CN" sz="28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AU" altLang="zh-CN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altLang="zh-CN" sz="2800" b="0" i="1" dirty="0" smtClean="0">
                                  <a:latin typeface="Cambria Math" panose="02040503050406030204" pitchFamily="18" charset="0"/>
                                </a:rPr>
                                <m:t>1,2,3,…,</m:t>
                              </m:r>
                              <m:r>
                                <a:rPr lang="en-AU" altLang="zh-CN" sz="2800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en-AU" altLang="zh-CN" sz="28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l-GR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  <m:r>
                            <a:rPr lang="en-AU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AU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  <m:r>
                            <a:rPr lang="en-AU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,1,</m:t>
                          </m:r>
                          <m:r>
                            <a:rPr lang="en-AU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e>
                      </m:d>
                    </m:oMath>
                  </m:oMathPara>
                </a14:m>
                <a:endParaRPr lang="en-AU" altLang="zh-CN" sz="2800" b="0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25000"/>
                  </a:lnSpc>
                  <a:buNone/>
                </a:pPr>
                <a:r>
                  <a:rPr lang="zh-CN" altLang="en-US" sz="2800" dirty="0"/>
                  <a:t>设</a:t>
                </a:r>
                <a:r>
                  <a:rPr lang="zh-CN" altLang="en-US" sz="2800" dirty="0">
                    <a:solidFill>
                      <a:srgbClr val="3333FF"/>
                    </a:solidFill>
                  </a:rPr>
                  <a:t>正则表达式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800" i="1" dirty="0" smtClean="0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AU" altLang="zh-CN" sz="2800" b="0" i="1" dirty="0" smtClean="0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AU" altLang="zh-CN" sz="2800" b="0" i="1" dirty="0" smtClean="0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AU" altLang="zh-CN" sz="2800" b="0" i="1" dirty="0" smtClean="0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altLang="zh-CN" sz="2800" b="0" i="1" dirty="0" smtClean="0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AU" altLang="zh-CN" sz="2800" b="0" i="1" dirty="0" smtClean="0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AU" altLang="zh-CN" sz="2800" b="0" i="1" dirty="0" smtClean="0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AU" altLang="zh-CN" sz="2800" b="0" i="1" dirty="0" smtClean="0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en-US" altLang="zh-CN" sz="2800" dirty="0">
                    <a:solidFill>
                      <a:srgbClr val="0070C0"/>
                    </a:solidFill>
                  </a:rPr>
                  <a:t> </a:t>
                </a:r>
                <a:r>
                  <a:rPr lang="zh-CN" altLang="en-US" sz="2800" dirty="0"/>
                  <a:t>表示从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2800" dirty="0"/>
                  <a:t> </a:t>
                </a:r>
                <a:r>
                  <a:rPr lang="zh-CN" altLang="en-US" sz="2800" dirty="0"/>
                  <a:t>到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altLang="zh-CN" sz="2800" dirty="0"/>
                  <a:t> </a:t>
                </a:r>
                <a:r>
                  <a:rPr lang="zh-CN" altLang="en-US" sz="2800" dirty="0"/>
                  <a:t>但中间节点状态编号不超过</a:t>
                </a:r>
                <a14:m>
                  <m:oMath xmlns:m="http://schemas.openxmlformats.org/officeDocument/2006/math">
                    <m:r>
                      <a:rPr lang="en-US" altLang="zh-CN" sz="2800" b="1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800" b="1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800" dirty="0"/>
                  <a:t>全部路径的字符串集（简称</a:t>
                </a:r>
                <a14:m>
                  <m:oMath xmlns:m="http://schemas.openxmlformats.org/officeDocument/2006/math">
                    <m:r>
                      <a:rPr lang="en-AU" altLang="zh-CN" sz="280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AU" altLang="zh-CN" sz="2800" dirty="0"/>
                  <a:t>-</a:t>
                </a:r>
                <a:r>
                  <a:rPr lang="zh-CN" altLang="en-US" sz="2800" dirty="0"/>
                  <a:t>路径</a:t>
                </a:r>
                <a:r>
                  <a:rPr lang="en-AU" altLang="zh-CN" dirty="0"/>
                  <a:t>)</a:t>
                </a:r>
                <a:r>
                  <a:rPr lang="en-US" altLang="zh-CN" dirty="0"/>
                  <a:t>:</a:t>
                </a:r>
                <a:endParaRPr lang="en-US" altLang="zh-CN" sz="2800" dirty="0"/>
              </a:p>
              <a:p>
                <a:pPr marL="0" indent="0">
                  <a:buNone/>
                </a:pPr>
                <a:endParaRPr lang="en-US" altLang="zh-CN" sz="18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AU" altLang="zh-CN" sz="2400" i="1" dirty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AU" altLang="zh-CN" sz="24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AU" altLang="zh-CN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AU" altLang="zh-CN" sz="2400" i="1" dirty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AU" altLang="zh-CN" sz="24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AU" altLang="zh-CN" sz="2400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AU" altLang="zh-CN" sz="24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AU" altLang="zh-CN" sz="24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400" b="1" i="1" dirty="0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|"/>
                          <m:ctrlPr>
                            <a:rPr lang="en-US" altLang="zh-CN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acc>
                        <m:accPr>
                          <m:chr m:val="̂"/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</m:acc>
                      <m:d>
                        <m:dPr>
                          <m:ctrlPr>
                            <a:rPr lang="en-US" altLang="zh-CN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altLang="zh-CN" sz="24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AU" altLang="zh-CN" sz="24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AU" altLang="zh-CN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AU" altLang="zh-CN" sz="24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altLang="zh-CN" sz="2400" b="0" i="1" dirty="0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 , 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400" b="1" i="1" dirty="0">
                          <a:latin typeface="Cambria Math" panose="02040503050406030204" pitchFamily="18" charset="0"/>
                        </a:rPr>
                        <m:t>经过的状态除两端外都不超过</m:t>
                      </m:r>
                      <m:r>
                        <a:rPr lang="zh-CN" altLang="en-US" sz="2400" b="1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AU" altLang="zh-CN" sz="2400" b="0" i="1" dirty="0" smtClean="0"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5273" y="1006354"/>
                <a:ext cx="8229600" cy="4525963"/>
              </a:xfrm>
              <a:blipFill rotWithShape="1">
                <a:blip r:embed="rId3"/>
                <a:stretch>
                  <a:fillRect l="-2" t="-11" r="2" b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19564F-3A13-4140-9CFC-3B75A7CC7F9C}" type="slidenum">
              <a:rPr lang="en-US" altLang="zh-CN" smtClean="0"/>
              <a:t>22</a:t>
            </a:fld>
            <a:endParaRPr lang="en-US" altLang="zh-CN"/>
          </a:p>
        </p:txBody>
      </p:sp>
      <p:pic>
        <p:nvPicPr>
          <p:cNvPr id="9" name="Picture 8" descr="A picture containing hanger&#10;&#10;Description automatically generated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9977" y="4495800"/>
            <a:ext cx="5700023" cy="7160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3011"/>
    </mc:Choice>
    <mc:Fallback xmlns="">
      <p:transition spd="slow" advTm="6301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DFA</a:t>
            </a:r>
            <a:r>
              <a:rPr lang="en-US" altLang="zh-CN" dirty="0"/>
              <a:t>-&gt;</a:t>
            </a:r>
            <a:r>
              <a:rPr lang="zh-CN" altLang="en-US" dirty="0"/>
              <a:t>正则表达式</a:t>
            </a:r>
            <a:r>
              <a:rPr lang="en-AU" altLang="zh-CN" dirty="0"/>
              <a:t>:</a:t>
            </a:r>
            <a:r>
              <a:rPr lang="zh-CN" altLang="en-US" dirty="0"/>
              <a:t>递归法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2400" y="859403"/>
                <a:ext cx="8229600" cy="5846197"/>
              </a:xfrm>
            </p:spPr>
            <p:txBody>
              <a:bodyPr>
                <a:noAutofit/>
              </a:bodyPr>
              <a:lstStyle/>
              <a:p>
                <a:r>
                  <a:rPr lang="zh-CN" altLang="en-US" dirty="0"/>
                  <a:t>归纳基础</a:t>
                </a:r>
                <a:r>
                  <a:rPr lang="en-AU" altLang="zh-CN" dirty="0"/>
                  <a:t>: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AU" altLang="zh-CN" dirty="0"/>
                  <a:t>,</a:t>
                </a:r>
                <a:r>
                  <a:rPr lang="en-US" altLang="zh-CN" sz="3200" dirty="0">
                    <a:solidFill>
                      <a:srgbClr val="3333FF"/>
                    </a:solidFill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3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AU" altLang="zh-CN" sz="3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AU" altLang="zh-CN" sz="3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AU" altLang="zh-CN" sz="3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altLang="zh-CN" sz="3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AU" altLang="zh-CN" sz="3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(0)</m:t>
                        </m:r>
                      </m:sup>
                    </m:sSubSup>
                  </m:oMath>
                </a14:m>
                <a:r>
                  <a:rPr lang="zh-CN" altLang="en-US" dirty="0"/>
                  <a:t>为从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/>
                  <a:t>直接到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zh-CN" altLang="en-US" dirty="0"/>
                  <a:t> ，没有经过任何中间节点的字符串集合</a:t>
                </a:r>
                <a:endParaRPr lang="en-AU" altLang="zh-CN" dirty="0"/>
              </a:p>
              <a:p>
                <a:pPr>
                  <a:lnSpc>
                    <a:spcPct val="130000"/>
                  </a:lnSpc>
                </a:pPr>
                <a:r>
                  <a:rPr lang="zh-CN" altLang="en-US" dirty="0"/>
                  <a:t>情况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：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dirty="0"/>
                  <a:t>不等于</a:t>
                </a:r>
                <a14:m>
                  <m:oMath xmlns:m="http://schemas.openxmlformats.org/officeDocument/2006/math">
                    <m:r>
                      <a:rPr lang="en-AU" b="0" i="1" dirty="0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AU" b="0" i="1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zh-CN" altLang="en-US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没有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到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zh-CN" altLang="en-US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的状态转移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(0)</m:t>
                        </m:r>
                      </m:sup>
                    </m:sSubSup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altLang="zh-CN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endParaRPr lang="en-US" altLang="zh-CN" b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342900" lvl="1" indent="0">
                  <a:buNone/>
                </a:pPr>
                <a:endParaRPr lang="en-US" altLang="zh-CN" b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lvl="1"/>
                <a:r>
                  <a:rPr lang="zh-CN" altLang="en-US" dirty="0">
                    <a:latin typeface="Cambria Math" panose="02040503050406030204" pitchFamily="18" charset="0"/>
                  </a:rPr>
                  <a:t>有一个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到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zh-CN" altLang="en-US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的转移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(0)</m:t>
                        </m:r>
                      </m:sup>
                    </m:sSubSup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altLang="zh-CN" b="1" i="1" dirty="0" smtClean="0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US" altLang="zh-CN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 </a:t>
                </a:r>
                <a:endParaRPr lang="en-US" altLang="zh-CN" dirty="0">
                  <a:latin typeface="Cambria Math" panose="02040503050406030204" pitchFamily="18" charset="0"/>
                </a:endParaRPr>
              </a:p>
              <a:p>
                <a:pPr marL="342900" lvl="1" indent="0">
                  <a:buNone/>
                </a:pPr>
                <a:endParaRPr lang="en-AU" altLang="zh-CN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zh-CN" altLang="en-US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有多个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到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zh-CN" altLang="en-US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的转移</a:t>
                </a:r>
                <a:r>
                  <a:rPr lang="en-US" altLang="zh-CN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(0)</m:t>
                        </m:r>
                      </m:sup>
                    </m:sSubSup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1" i="1" dirty="0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AU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1" i="1" dirty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altLang="zh-CN" dirty="0">
                  <a:latin typeface="Cambria Math" panose="02040503050406030204" pitchFamily="18" charset="0"/>
                </a:endParaRPr>
              </a:p>
              <a:p>
                <a:pPr lvl="1"/>
                <a:endParaRPr lang="en-US" altLang="zh-CN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endParaRPr lang="en-US" altLang="zh-CN" dirty="0"/>
              </a:p>
              <a:p>
                <a:pPr lvl="1"/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" y="859403"/>
                <a:ext cx="8229600" cy="5846197"/>
              </a:xfrm>
              <a:blipFill rotWithShape="1">
                <a:blip r:embed="rId3"/>
                <a:stretch>
                  <a:fillRect t="-4" b="-102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19564F-3A13-4140-9CFC-3B75A7CC7F9C}" type="slidenum">
              <a:rPr lang="en-US" altLang="zh-CN" smtClean="0"/>
              <a:t>23</a:t>
            </a:fld>
            <a:endParaRPr lang="en-US" altLang="zh-CN"/>
          </a:p>
        </p:txBody>
      </p:sp>
      <p:pic>
        <p:nvPicPr>
          <p:cNvPr id="6" name="Picture 5" descr="A picture containing background pattern&#10;&#10;Description automatically generated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530" y="2814875"/>
            <a:ext cx="2133470" cy="635501"/>
          </a:xfrm>
          <a:prstGeom prst="rect">
            <a:avLst/>
          </a:prstGeom>
        </p:spPr>
      </p:pic>
      <p:pic>
        <p:nvPicPr>
          <p:cNvPr id="8" name="Picture 7" descr="A picture containing text, clock, gauge&#10;&#10;Description automatically generated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600" y="3943332"/>
            <a:ext cx="2133470" cy="791604"/>
          </a:xfrm>
          <a:prstGeom prst="rect">
            <a:avLst/>
          </a:prstGeom>
        </p:spPr>
      </p:pic>
      <p:pic>
        <p:nvPicPr>
          <p:cNvPr id="10" name="Picture 9" descr="Diagram&#10;&#10;Description automatically generated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3400" y="4911252"/>
            <a:ext cx="2057400" cy="125628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8450"/>
    </mc:Choice>
    <mc:Fallback xmlns="">
      <p:transition spd="slow" advTm="58450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DFA</a:t>
            </a:r>
            <a:r>
              <a:rPr lang="en-US" altLang="zh-CN" dirty="0"/>
              <a:t>-&gt;</a:t>
            </a:r>
            <a:r>
              <a:rPr lang="zh-CN" altLang="en-US" dirty="0"/>
              <a:t>正则表达式</a:t>
            </a:r>
            <a:r>
              <a:rPr lang="en-AU" altLang="zh-CN" dirty="0"/>
              <a:t>:</a:t>
            </a:r>
            <a:r>
              <a:rPr lang="zh-CN" altLang="en-US" dirty="0"/>
              <a:t>递归法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6200" y="846707"/>
                <a:ext cx="8534400" cy="4525963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归纳基础</a:t>
                </a:r>
                <a:r>
                  <a:rPr lang="en-AU" altLang="zh-CN" dirty="0"/>
                  <a:t>: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AU" altLang="zh-CN" dirty="0"/>
                  <a:t>,</a:t>
                </a:r>
                <a:r>
                  <a:rPr lang="en-US" altLang="zh-CN" sz="3200" dirty="0">
                    <a:solidFill>
                      <a:srgbClr val="3333FF"/>
                    </a:solidFill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3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AU" altLang="zh-CN" sz="3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AU" altLang="zh-CN" sz="3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AU" altLang="zh-CN" sz="3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altLang="zh-CN" sz="3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AU" altLang="zh-CN" sz="3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(0)</m:t>
                        </m:r>
                      </m:sup>
                    </m:sSubSup>
                  </m:oMath>
                </a14:m>
                <a:r>
                  <a:rPr lang="zh-CN" altLang="en-US" dirty="0"/>
                  <a:t>为从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dirty="0"/>
                  <a:t> 直接到</a:t>
                </a:r>
                <a14:m>
                  <m:oMath xmlns:m="http://schemas.openxmlformats.org/officeDocument/2006/math">
                    <m:r>
                      <a:rPr lang="en-US" altLang="zh-CN" b="1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zh-CN" altLang="en-US" dirty="0"/>
                  <a:t> ，没有经过任何中间节点的字符串集合</a:t>
                </a:r>
                <a:endParaRPr lang="en-AU" altLang="zh-CN" dirty="0"/>
              </a:p>
              <a:p>
                <a:r>
                  <a:rPr lang="zh-CN" altLang="en-US" dirty="0"/>
                  <a:t>情况</a:t>
                </a:r>
                <a:r>
                  <a:rPr lang="en-US" altLang="zh-CN" dirty="0"/>
                  <a:t>2</a:t>
                </a:r>
                <a:r>
                  <a:rPr lang="en-AU" altLang="zh-CN" dirty="0"/>
                  <a:t>: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dirty="0"/>
                  <a:t>等于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AU" altLang="zh-CN" b="1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lvl="1"/>
                <a:r>
                  <a:rPr lang="zh-CN" altLang="en-US" dirty="0"/>
                  <a:t>状态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dirty="0"/>
                  <a:t>没有到自身的转移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(0)</m:t>
                        </m:r>
                      </m:sup>
                    </m:sSubSup>
                    <m:r>
                      <a:rPr lang="en-AU" altLang="zh-CN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zh-CN" altLang="en-AU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𝜺</m:t>
                    </m:r>
                  </m:oMath>
                </a14:m>
                <a:endParaRPr lang="en-AU" altLang="zh-CN" dirty="0"/>
              </a:p>
              <a:p>
                <a:pPr lvl="1"/>
                <a:r>
                  <a:rPr lang="zh-CN" altLang="en-US" dirty="0"/>
                  <a:t>状态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dirty="0"/>
                  <a:t>有一个到自身的转移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(0)</m:t>
                        </m:r>
                      </m:sup>
                    </m:sSubSup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altLang="zh-CN" b="1" i="1" dirty="0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AU" altLang="zh-CN" b="1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AU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𝜺</m:t>
                    </m:r>
                  </m:oMath>
                </a14:m>
                <a:endParaRPr lang="en-AU" altLang="zh-CN" b="1" dirty="0"/>
              </a:p>
              <a:p>
                <a:pPr lvl="1"/>
                <a:r>
                  <a:rPr lang="zh-CN" altLang="en-US" dirty="0"/>
                  <a:t>状态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dirty="0"/>
                  <a:t>有多个到自身的转移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(0)</m:t>
                        </m:r>
                      </m:sup>
                    </m:sSubSup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AU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1" i="1" dirty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AU" altLang="zh-CN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AU" altLang="zh-CN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AU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1" i="1" dirty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AU" altLang="zh-CN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AU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𝜺</m:t>
                    </m:r>
                  </m:oMath>
                </a14:m>
                <a:endParaRPr lang="en-AU" altLang="zh-CN" dirty="0"/>
              </a:p>
              <a:p>
                <a:pPr lvl="1"/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" y="846707"/>
                <a:ext cx="8534400" cy="4525963"/>
              </a:xfrm>
              <a:blipFill rotWithShape="1">
                <a:blip r:embed="rId3"/>
                <a:stretch>
                  <a:fillRect t="-6" b="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19564F-3A13-4140-9CFC-3B75A7CC7F9C}" type="slidenum">
              <a:rPr lang="en-US" altLang="zh-CN" smtClean="0"/>
              <a:t>24</a:t>
            </a:fld>
            <a:endParaRPr lang="en-US" altLang="zh-CN"/>
          </a:p>
        </p:txBody>
      </p:sp>
      <p:pic>
        <p:nvPicPr>
          <p:cNvPr id="6" name="Picture 5" descr="A picture containing circle&#10;&#10;Description automatically generated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2788" y="2462467"/>
            <a:ext cx="1091584" cy="647222"/>
          </a:xfrm>
          <a:prstGeom prst="rect">
            <a:avLst/>
          </a:prstGeom>
        </p:spPr>
      </p:pic>
      <p:pic>
        <p:nvPicPr>
          <p:cNvPr id="8" name="Picture 7" descr="A picture containing text&#10;&#10;Description automatically generated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3240" y="3392582"/>
            <a:ext cx="1413560" cy="711460"/>
          </a:xfrm>
          <a:prstGeom prst="rect">
            <a:avLst/>
          </a:prstGeom>
        </p:spPr>
      </p:pic>
      <p:pic>
        <p:nvPicPr>
          <p:cNvPr id="10" name="Picture 9" descr="A picture containing text&#10;&#10;Description automatically generated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0780" y="4725449"/>
            <a:ext cx="1447800" cy="16813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8450"/>
    </mc:Choice>
    <mc:Fallback xmlns="">
      <p:transition spd="slow" advTm="58450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AU" altLang="zh-CN" b="1" i="1" dirty="0" smtClean="0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zh-CN" altLang="en-US" dirty="0"/>
                  <a:t>路径的情况</a:t>
                </a:r>
                <a:endParaRPr lang="en-AU" dirty="0"/>
              </a:p>
            </p:txBody>
          </p:sp>
        </mc:Choice>
        <mc:Fallback xmlns="">
          <p:sp>
            <p:nvSpPr>
              <p:cNvPr id="2" name="Title 1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3"/>
                <a:stretch>
                  <a:fillRect t="-19709" b="-198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913568" y="893941"/>
                <a:ext cx="8229600" cy="4525963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3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AU" altLang="zh-CN" sz="3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AU" altLang="zh-CN" sz="3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AU" altLang="zh-CN" sz="3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altLang="zh-CN" sz="3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AU" altLang="zh-CN" sz="3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AU" altLang="zh-CN" sz="3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AU" altLang="zh-CN" sz="3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zh-CN" alt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有</m:t>
                    </m:r>
                  </m:oMath>
                </a14:m>
                <a:r>
                  <a:rPr lang="zh-CN" altLang="en-US" dirty="0"/>
                  <a:t>两种情况：</a:t>
                </a:r>
                <a:endParaRPr lang="en-AU" altLang="zh-CN" dirty="0"/>
              </a:p>
              <a:p>
                <a:pPr lvl="1"/>
                <a:r>
                  <a:rPr lang="zh-CN" altLang="en-US" dirty="0"/>
                  <a:t>不经过状态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AU" altLang="zh-CN" dirty="0"/>
              </a:p>
              <a:p>
                <a:pPr lvl="1"/>
                <a:r>
                  <a:rPr lang="zh-CN" altLang="en-US" dirty="0"/>
                  <a:t>经过状态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en-US" dirty="0"/>
                  <a:t>一次或者多次</a:t>
                </a:r>
                <a:endParaRPr lang="en-AU" altLang="zh-CN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3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AU" altLang="zh-CN" sz="3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AU" altLang="zh-CN" sz="3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AU" altLang="zh-CN" sz="3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altLang="zh-CN" sz="3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AU" altLang="zh-CN" sz="3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AU" altLang="zh-CN" sz="3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AU" altLang="zh-CN" sz="3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en-US" altLang="zh-CN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AU" altLang="zh-CN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AU" altLang="zh-CN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AU" altLang="zh-CN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altLang="zh-CN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AU" altLang="zh-CN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AU" altLang="zh-CN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AU" altLang="zh-CN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en-US" altLang="zh-CN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altLang="zh-CN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AU" altLang="zh-CN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AU" altLang="zh-CN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AU" altLang="zh-CN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altLang="zh-CN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AU" altLang="zh-CN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AU" altLang="zh-CN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AU" altLang="zh-CN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  <m:r>
                          <a:rPr lang="en-AU" altLang="zh-CN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en-US" altLang="zh-CN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Sup>
                          <m:sSubSupPr>
                            <m:ctrlPr>
                              <a:rPr lang="en-US" altLang="zh-CN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AU" altLang="zh-CN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AU" altLang="zh-CN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AU" altLang="zh-CN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AU" altLang="zh-CN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AU" altLang="zh-CN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AU" altLang="zh-CN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AU" altLang="zh-CN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AU" altLang="zh-CN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−1)</m:t>
                            </m:r>
                          </m:sup>
                        </m:sSubSup>
                        <m:r>
                          <a:rPr lang="en-AU" altLang="zh-CN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AU" altLang="zh-CN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sSubSup>
                      <m:sSubSupPr>
                        <m:ctrlPr>
                          <a:rPr lang="en-US" altLang="zh-CN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AU" altLang="zh-CN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AU" altLang="zh-CN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AU" altLang="zh-CN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altLang="zh-CN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AU" altLang="zh-CN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AU" altLang="zh-CN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AU" altLang="zh-CN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  <m:r>
                          <a:rPr lang="en-AU" altLang="zh-CN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13568" y="893941"/>
                <a:ext cx="8229600" cy="4525963"/>
              </a:xfrm>
              <a:blipFill rotWithShape="1">
                <a:blip r:embed="rId4"/>
                <a:stretch>
                  <a:fillRect l="-5" t="-11" r="5" b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19564F-3A13-4140-9CFC-3B75A7CC7F9C}" type="slidenum">
              <a:rPr lang="en-US" altLang="zh-CN" smtClean="0"/>
              <a:t>25</a:t>
            </a:fld>
            <a:endParaRPr lang="en-US" altLang="zh-CN"/>
          </a:p>
        </p:txBody>
      </p:sp>
      <p:grpSp>
        <p:nvGrpSpPr>
          <p:cNvPr id="6" name="Group 6"/>
          <p:cNvGrpSpPr/>
          <p:nvPr/>
        </p:nvGrpSpPr>
        <p:grpSpPr bwMode="auto">
          <a:xfrm>
            <a:off x="1292645" y="3553849"/>
            <a:ext cx="1595438" cy="1516063"/>
            <a:chOff x="432" y="2640"/>
            <a:chExt cx="1005" cy="95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 Box 4"/>
                <p:cNvSpPr txBox="1">
                  <a:spLocks noChangeArrowheads="1"/>
                </p:cNvSpPr>
                <p:nvPr/>
              </p:nvSpPr>
              <p:spPr bwMode="auto">
                <a:xfrm>
                  <a:off x="432" y="3072"/>
                  <a:ext cx="1005" cy="52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r>
                    <a:rPr lang="zh-CN" altLang="en-US" dirty="0"/>
                    <a:t>不经过</a:t>
                  </a:r>
                  <a14:m>
                    <m:oMath xmlns:m="http://schemas.openxmlformats.org/officeDocument/2006/math">
                      <m:r>
                        <a:rPr lang="en-AU" altLang="zh-CN" i="1" dirty="0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a14:m>
                  <a:r>
                    <a:rPr lang="zh-CN" altLang="en-US" dirty="0"/>
                    <a:t>的</a:t>
                  </a:r>
                  <a:endParaRPr lang="en-AU" altLang="zh-CN" dirty="0"/>
                </a:p>
                <a:p>
                  <a:r>
                    <a:rPr lang="zh-CN" altLang="en-US" dirty="0"/>
                    <a:t>路径集合</a:t>
                  </a:r>
                  <a:endParaRPr lang="en-US" altLang="en-US" dirty="0"/>
                </a:p>
              </p:txBody>
            </p:sp>
          </mc:Choice>
          <mc:Fallback xmlns="">
            <p:sp>
              <p:nvSpPr>
                <p:cNvPr id="7" name="Text Box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32" y="3072"/>
                  <a:ext cx="1005" cy="523"/>
                </a:xfrm>
                <a:prstGeom prst="rect">
                  <a:avLst/>
                </a:prstGeom>
                <a:blipFill rotWithShape="1">
                  <a:blip r:embed="rId5"/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Line 5"/>
            <p:cNvSpPr>
              <a:spLocks noChangeShapeType="1"/>
            </p:cNvSpPr>
            <p:nvPr/>
          </p:nvSpPr>
          <p:spPr bwMode="auto">
            <a:xfrm flipV="1">
              <a:off x="1104" y="2640"/>
              <a:ext cx="144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9" name="Group 11"/>
          <p:cNvGrpSpPr/>
          <p:nvPr/>
        </p:nvGrpSpPr>
        <p:grpSpPr bwMode="auto">
          <a:xfrm>
            <a:off x="3185490" y="3670680"/>
            <a:ext cx="1701803" cy="766763"/>
            <a:chOff x="1536" y="2640"/>
            <a:chExt cx="1072" cy="48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1536" y="2832"/>
                  <a:ext cx="1072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r>
                    <a:rPr lang="zh-CN" altLang="en-US" dirty="0"/>
                    <a:t>首次从</a:t>
                  </a:r>
                  <a14:m>
                    <m:oMath xmlns:m="http://schemas.openxmlformats.org/officeDocument/2006/math">
                      <m:r>
                        <a:rPr lang="en-AU" altLang="zh-CN" i="1" dirty="0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a14:m>
                  <a:r>
                    <a:rPr lang="zh-CN" altLang="en-US" dirty="0"/>
                    <a:t>到</a:t>
                  </a:r>
                  <a14:m>
                    <m:oMath xmlns:m="http://schemas.openxmlformats.org/officeDocument/2006/math"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a14:m>
                  <a:endParaRPr lang="en-US" altLang="en-US" dirty="0"/>
                </a:p>
              </p:txBody>
            </p:sp>
          </mc:Choice>
          <mc:Fallback xmlns="">
            <p:sp>
              <p:nvSpPr>
                <p:cNvPr id="10" name="Text Box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536" y="2832"/>
                  <a:ext cx="1072" cy="291"/>
                </a:xfrm>
                <a:prstGeom prst="rect">
                  <a:avLst/>
                </a:prstGeom>
                <a:blipFill rotWithShape="1">
                  <a:blip r:embed="rId6"/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Line 10"/>
            <p:cNvSpPr>
              <a:spLocks noChangeShapeType="1"/>
            </p:cNvSpPr>
            <p:nvPr/>
          </p:nvSpPr>
          <p:spPr bwMode="auto">
            <a:xfrm flipV="1">
              <a:off x="2064" y="2640"/>
              <a:ext cx="48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2" name="Group 13"/>
          <p:cNvGrpSpPr/>
          <p:nvPr/>
        </p:nvGrpSpPr>
        <p:grpSpPr bwMode="auto">
          <a:xfrm>
            <a:off x="4925553" y="3670680"/>
            <a:ext cx="1724028" cy="1744663"/>
            <a:chOff x="2496" y="2640"/>
            <a:chExt cx="1086" cy="109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 Box 8"/>
                <p:cNvSpPr txBox="1">
                  <a:spLocks noChangeArrowheads="1"/>
                </p:cNvSpPr>
                <p:nvPr/>
              </p:nvSpPr>
              <p:spPr bwMode="auto">
                <a:xfrm>
                  <a:off x="2496" y="3216"/>
                  <a:ext cx="1086" cy="52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r>
                    <a:rPr lang="zh-CN" altLang="en-US" dirty="0"/>
                    <a:t>一次或多次</a:t>
                  </a:r>
                  <a:endParaRPr lang="en-AU" altLang="zh-CN" dirty="0"/>
                </a:p>
                <a:p>
                  <a:r>
                    <a:rPr lang="zh-CN" altLang="en-US" dirty="0"/>
                    <a:t>从</a:t>
                  </a:r>
                  <a14:m>
                    <m:oMath xmlns:m="http://schemas.openxmlformats.org/officeDocument/2006/math"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a14:m>
                  <a:r>
                    <a:rPr lang="zh-CN" altLang="en-US" dirty="0"/>
                    <a:t>到</a:t>
                  </a:r>
                  <a14:m>
                    <m:oMath xmlns:m="http://schemas.openxmlformats.org/officeDocument/2006/math"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a14:m>
                  <a:endParaRPr lang="en-US" altLang="en-US" dirty="0"/>
                </a:p>
              </p:txBody>
            </p:sp>
          </mc:Choice>
          <mc:Fallback xmlns="">
            <p:sp>
              <p:nvSpPr>
                <p:cNvPr id="13" name="Text Box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96" y="3216"/>
                  <a:ext cx="1086" cy="523"/>
                </a:xfrm>
                <a:prstGeom prst="rect">
                  <a:avLst/>
                </a:prstGeom>
                <a:blipFill rotWithShape="1">
                  <a:blip r:embed="rId7"/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Line 12"/>
            <p:cNvSpPr>
              <a:spLocks noChangeShapeType="1"/>
            </p:cNvSpPr>
            <p:nvPr/>
          </p:nvSpPr>
          <p:spPr bwMode="auto">
            <a:xfrm flipV="1">
              <a:off x="2976" y="2640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5" name="Group 15"/>
          <p:cNvGrpSpPr/>
          <p:nvPr/>
        </p:nvGrpSpPr>
        <p:grpSpPr bwMode="auto">
          <a:xfrm>
            <a:off x="6820382" y="3703867"/>
            <a:ext cx="2017715" cy="919163"/>
            <a:chOff x="3648" y="2640"/>
            <a:chExt cx="1271" cy="57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 Box 9"/>
                <p:cNvSpPr txBox="1">
                  <a:spLocks noChangeArrowheads="1"/>
                </p:cNvSpPr>
                <p:nvPr/>
              </p:nvSpPr>
              <p:spPr bwMode="auto">
                <a:xfrm>
                  <a:off x="3648" y="2928"/>
                  <a:ext cx="1271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r>
                    <a:rPr lang="zh-CN" altLang="en-US" dirty="0"/>
                    <a:t>最后，从</a:t>
                  </a:r>
                  <a14:m>
                    <m:oMath xmlns:m="http://schemas.openxmlformats.org/officeDocument/2006/math">
                      <m:r>
                        <a:rPr lang="en-AU" altLang="zh-CN" i="1" dirty="0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a14:m>
                  <a:r>
                    <a:rPr lang="zh-CN" altLang="en-US" dirty="0"/>
                    <a:t>到</a:t>
                  </a:r>
                  <a14:m>
                    <m:oMath xmlns:m="http://schemas.openxmlformats.org/officeDocument/2006/math"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a14:m>
                  <a:endParaRPr lang="en-US" altLang="en-US" dirty="0"/>
                </a:p>
              </p:txBody>
            </p:sp>
          </mc:Choice>
          <mc:Fallback xmlns="">
            <p:sp>
              <p:nvSpPr>
                <p:cNvPr id="16" name="Text Box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648" y="2928"/>
                  <a:ext cx="1271" cy="291"/>
                </a:xfrm>
                <a:prstGeom prst="rect">
                  <a:avLst/>
                </a:prstGeom>
                <a:blipFill rotWithShape="1">
                  <a:blip r:embed="rId8"/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Line 14"/>
            <p:cNvSpPr>
              <a:spLocks noChangeShapeType="1"/>
            </p:cNvSpPr>
            <p:nvPr/>
          </p:nvSpPr>
          <p:spPr bwMode="auto">
            <a:xfrm flipH="1" flipV="1">
              <a:off x="3888" y="2640"/>
              <a:ext cx="192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</p:grp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7132"/>
    </mc:Choice>
    <mc:Fallback xmlns="">
      <p:transition spd="slow" advTm="2713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递归关系示意图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85800" y="1143000"/>
                <a:ext cx="8458200" cy="4548981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sz="2400" dirty="0"/>
                  <a:t>递归关系：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AU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AU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AU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AU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AU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AU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en-US" altLang="zh-CN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AU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AU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AU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AU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AU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AU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en-US" altLang="zh-CN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AU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AU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AU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AU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AU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AU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  <m:r>
                          <a:rPr lang="en-AU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Sup>
                          <m:sSubSupPr>
                            <m:ctrlPr>
                              <a:rPr lang="en-US" altLang="zh-CN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AU" altLang="zh-CN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AU" altLang="zh-CN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AU" altLang="zh-CN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AU" altLang="zh-CN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AU" altLang="zh-CN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AU" altLang="zh-CN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AU" altLang="zh-CN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AU" altLang="zh-CN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−1)</m:t>
                            </m:r>
                          </m:sup>
                        </m:sSubSup>
                        <m:r>
                          <a:rPr lang="en-AU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AU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sSubSup>
                      <m:sSubSupPr>
                        <m:ctrlP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AU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AU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AU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AU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AU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AU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  <m:r>
                          <a:rPr lang="en-AU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</m:oMath>
                </a14:m>
                <a:endParaRPr lang="en-AU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800" y="1143000"/>
                <a:ext cx="8458200" cy="4548981"/>
              </a:xfrm>
              <a:blipFill rotWithShape="1">
                <a:blip r:embed="rId2"/>
                <a:stretch>
                  <a:fillRect b="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19564F-3A13-4140-9CFC-3B75A7CC7F9C}" type="slidenum">
              <a:rPr lang="en-US" altLang="zh-CN" smtClean="0"/>
              <a:t>26</a:t>
            </a:fld>
            <a:endParaRPr lang="en-US" altLang="zh-CN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9623" y="1981200"/>
            <a:ext cx="6621953" cy="3532671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8" name="Rectangle 3"/>
              <p:cNvSpPr txBox="1">
                <a:spLocks noChangeArrowheads="1"/>
              </p:cNvSpPr>
              <p:nvPr/>
            </p:nvSpPr>
            <p:spPr bwMode="auto">
              <a:xfrm>
                <a:off x="484187" y="4267200"/>
                <a:ext cx="8305800" cy="2438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0" indent="0" algn="just" eaLnBrk="1" hangingPunct="1">
                  <a:lnSpc>
                    <a:spcPct val="90000"/>
                  </a:lnSpc>
                  <a:buNone/>
                </a:pPr>
                <a:r>
                  <a:rPr lang="zh-CN" altLang="en-US" sz="2400" b="1" kern="0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递推关系为：</a:t>
                </a:r>
                <a:endParaRPr lang="en-US" altLang="zh-CN" sz="2400" b="1" kern="0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  <a:p>
                <a:pPr marL="0" indent="0" algn="just" eaLnBrk="1" hangingPunct="1">
                  <a:lnSpc>
                    <a:spcPct val="9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400" b="1" i="1" kern="0" smtClean="0">
                              <a:solidFill>
                                <a:srgbClr val="3333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lang="en-US" altLang="zh-CN" sz="2400" b="1" i="1" kern="0" smtClean="0">
                              <a:solidFill>
                                <a:srgbClr val="3333FF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𝑹</m:t>
                          </m:r>
                        </m:e>
                        <m:sub>
                          <m:r>
                            <a:rPr lang="en-US" altLang="zh-CN" sz="2400" b="1" i="1" kern="0">
                              <a:solidFill>
                                <a:srgbClr val="3333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𝒊𝒋</m:t>
                          </m:r>
                        </m:sub>
                        <m:sup>
                          <m:r>
                            <a:rPr lang="en-US" altLang="zh-CN" sz="2400" b="1" i="1" kern="0" smtClean="0">
                              <a:solidFill>
                                <a:srgbClr val="3333FF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lang="en-US" altLang="zh-CN" sz="2400" b="1" i="1" kern="0" smtClean="0">
                              <a:solidFill>
                                <a:srgbClr val="3333FF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𝒌</m:t>
                          </m:r>
                          <m:r>
                            <a:rPr lang="en-US" altLang="zh-CN" sz="2400" b="1" i="1" kern="0" smtClean="0">
                              <a:solidFill>
                                <a:srgbClr val="3333FF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)</m:t>
                          </m:r>
                        </m:sup>
                      </m:sSubSup>
                      <m:r>
                        <a:rPr lang="en-US" altLang="zh-CN" sz="2400" b="1" i="1" kern="0" smtClean="0">
                          <a:solidFill>
                            <a:srgbClr val="3333FF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=</m:t>
                      </m:r>
                      <m:sSubSup>
                        <m:sSubSupPr>
                          <m:ctrlPr>
                            <a:rPr lang="en-US" altLang="zh-CN" sz="2400" b="1" i="1" kern="0" smtClean="0">
                              <a:solidFill>
                                <a:srgbClr val="3333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lang="en-US" altLang="zh-CN" sz="2400" b="1" i="1" kern="0" smtClean="0">
                              <a:solidFill>
                                <a:srgbClr val="3333FF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𝑹</m:t>
                          </m:r>
                        </m:e>
                        <m:sub>
                          <m:r>
                            <a:rPr lang="en-US" altLang="zh-CN" sz="2400" b="1" i="1" kern="0">
                              <a:solidFill>
                                <a:srgbClr val="3333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𝒊𝒋</m:t>
                          </m:r>
                        </m:sub>
                        <m:sup>
                          <m:r>
                            <a:rPr lang="en-US" altLang="zh-CN" sz="2400" b="1" i="1" kern="0" smtClean="0">
                              <a:solidFill>
                                <a:srgbClr val="3333FF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lang="en-US" altLang="zh-CN" sz="2400" b="1" i="1" kern="0" smtClean="0">
                              <a:solidFill>
                                <a:srgbClr val="3333FF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𝒌</m:t>
                          </m:r>
                          <m:r>
                            <a:rPr lang="en-US" altLang="zh-CN" sz="2400" b="1" i="1" kern="0" smtClean="0">
                              <a:solidFill>
                                <a:srgbClr val="3333FF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−</m:t>
                          </m:r>
                          <m:r>
                            <a:rPr lang="en-US" altLang="zh-CN" sz="2400" b="1" i="1" kern="0" smtClean="0">
                              <a:solidFill>
                                <a:srgbClr val="3333FF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𝟏</m:t>
                          </m:r>
                          <m:r>
                            <a:rPr lang="en-US" altLang="zh-CN" sz="2400" b="1" i="1" kern="0" smtClean="0">
                              <a:solidFill>
                                <a:srgbClr val="3333FF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)</m:t>
                          </m:r>
                        </m:sup>
                      </m:sSubSup>
                      <m:r>
                        <a:rPr lang="en-US" altLang="zh-CN" sz="2400" b="1" i="1" kern="0" smtClean="0">
                          <a:solidFill>
                            <a:srgbClr val="3333FF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∪</m:t>
                      </m:r>
                      <m:sSubSup>
                        <m:sSubSupPr>
                          <m:ctrlPr>
                            <a:rPr lang="en-US" altLang="zh-CN" sz="2400" b="1" i="1" kern="0" smtClean="0">
                              <a:solidFill>
                                <a:srgbClr val="3333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lang="en-US" altLang="zh-CN" sz="2400" b="1" i="1" kern="0" smtClean="0">
                              <a:solidFill>
                                <a:srgbClr val="3333FF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𝑹</m:t>
                          </m:r>
                        </m:e>
                        <m:sub>
                          <m:r>
                            <a:rPr lang="en-US" altLang="zh-CN" sz="2400" b="1" i="1" kern="0">
                              <a:solidFill>
                                <a:srgbClr val="3333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𝒊𝒌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sz="2400" b="1" i="1" kern="0" smtClean="0">
                                  <a:solidFill>
                                    <a:srgbClr val="3333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 kern="0" smtClean="0">
                                  <a:solidFill>
                                    <a:srgbClr val="3333FF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</a:rPr>
                                <m:t>𝒌</m:t>
                              </m:r>
                              <m:r>
                                <a:rPr lang="en-US" altLang="zh-CN" sz="2400" b="1" i="1" kern="0" smtClean="0">
                                  <a:solidFill>
                                    <a:srgbClr val="3333FF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</a:rPr>
                                <m:t>−</m:t>
                              </m:r>
                              <m:r>
                                <a:rPr lang="en-US" altLang="zh-CN" sz="2400" b="1" i="1" kern="0" smtClean="0">
                                  <a:solidFill>
                                    <a:srgbClr val="3333FF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</a:rPr>
                                <m:t>𝟏</m:t>
                              </m:r>
                            </m:e>
                          </m:d>
                        </m:sup>
                      </m:sSubSup>
                      <m:sSup>
                        <m:sSupPr>
                          <m:ctrlPr>
                            <a:rPr lang="en-US" altLang="zh-CN" sz="2400" b="1" i="1" kern="0" smtClean="0">
                              <a:solidFill>
                                <a:srgbClr val="3333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sSubSup>
                            <m:sSubSupPr>
                              <m:ctrlPr>
                                <a:rPr lang="en-US" altLang="zh-CN" sz="2400" b="1" i="1" kern="0">
                                  <a:solidFill>
                                    <a:srgbClr val="3333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sz="2400" b="1" i="1" kern="0">
                                  <a:solidFill>
                                    <a:srgbClr val="3333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(</m:t>
                              </m:r>
                              <m:r>
                                <a:rPr lang="en-US" altLang="zh-CN" sz="2400" b="1" i="1" kern="0">
                                  <a:solidFill>
                                    <a:srgbClr val="3333FF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altLang="zh-CN" sz="2400" b="1" i="1" kern="0">
                                  <a:solidFill>
                                    <a:srgbClr val="3333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𝒌𝒌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zh-CN" sz="2400" b="1" i="1" kern="0">
                                      <a:solidFill>
                                        <a:srgbClr val="3333FF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1" i="1" kern="0">
                                      <a:solidFill>
                                        <a:srgbClr val="3333FF"/>
                                      </a:solidFill>
                                      <a:latin typeface="Cambria Math" panose="02040503050406030204"/>
                                      <a:ea typeface="黑体" panose="02010609060101010101" pitchFamily="49" charset="-122"/>
                                    </a:rPr>
                                    <m:t>𝒌</m:t>
                                  </m:r>
                                  <m:r>
                                    <a:rPr lang="en-US" altLang="zh-CN" sz="2400" b="1" i="1" kern="0">
                                      <a:solidFill>
                                        <a:srgbClr val="3333FF"/>
                                      </a:solidFill>
                                      <a:latin typeface="Cambria Math" panose="02040503050406030204"/>
                                      <a:ea typeface="黑体" panose="02010609060101010101" pitchFamily="49" charset="-122"/>
                                    </a:rPr>
                                    <m:t>−</m:t>
                                  </m:r>
                                  <m:r>
                                    <a:rPr lang="en-US" altLang="zh-CN" sz="2400" b="1" i="1" kern="0">
                                      <a:solidFill>
                                        <a:srgbClr val="3333FF"/>
                                      </a:solidFill>
                                      <a:latin typeface="Cambria Math" panose="02040503050406030204"/>
                                      <a:ea typeface="黑体" panose="02010609060101010101" pitchFamily="49" charset="-122"/>
                                    </a:rPr>
                                    <m:t>𝟏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altLang="zh-CN" sz="2400" b="1" i="1" kern="0">
                              <a:solidFill>
                                <a:srgbClr val="3333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)</m:t>
                          </m:r>
                        </m:e>
                        <m:sup>
                          <m:r>
                            <a:rPr lang="en-US" altLang="zh-CN" sz="2400" b="1" i="1" kern="0" smtClean="0">
                              <a:solidFill>
                                <a:srgbClr val="3333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∗</m:t>
                          </m:r>
                        </m:sup>
                      </m:sSup>
                      <m:sSubSup>
                        <m:sSubSupPr>
                          <m:ctrlPr>
                            <a:rPr lang="en-US" altLang="zh-CN" sz="2400" b="1" i="1" kern="0" smtClean="0">
                              <a:solidFill>
                                <a:srgbClr val="3333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lang="en-US" altLang="zh-CN" sz="2400" b="1" i="1" kern="0" smtClean="0">
                              <a:solidFill>
                                <a:srgbClr val="3333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 </m:t>
                          </m:r>
                          <m:r>
                            <a:rPr lang="en-US" altLang="zh-CN" sz="2400" b="1" i="1" kern="0" smtClean="0">
                              <a:solidFill>
                                <a:srgbClr val="3333FF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𝑹</m:t>
                          </m:r>
                        </m:e>
                        <m:sub>
                          <m:r>
                            <a:rPr lang="en-US" altLang="zh-CN" sz="2400" b="1" i="1" kern="0">
                              <a:solidFill>
                                <a:srgbClr val="3333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𝒌𝒋</m:t>
                          </m:r>
                        </m:sub>
                        <m:sup>
                          <m:r>
                            <a:rPr lang="en-US" altLang="zh-CN" sz="2400" b="1" i="1" kern="0" smtClean="0">
                              <a:solidFill>
                                <a:srgbClr val="3333FF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lang="en-US" altLang="zh-CN" sz="2400" b="1" i="1" kern="0" smtClean="0">
                              <a:solidFill>
                                <a:srgbClr val="3333FF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𝒌</m:t>
                          </m:r>
                          <m:r>
                            <a:rPr lang="en-US" altLang="zh-CN" sz="2400" b="1" i="1" kern="0" smtClean="0">
                              <a:solidFill>
                                <a:srgbClr val="3333FF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−</m:t>
                          </m:r>
                          <m:r>
                            <a:rPr lang="en-US" altLang="zh-CN" sz="2400" b="1" i="1" kern="0" smtClean="0">
                              <a:solidFill>
                                <a:srgbClr val="3333FF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𝟏</m:t>
                          </m:r>
                          <m:r>
                            <a:rPr lang="en-US" altLang="zh-CN" sz="2400" b="1" i="1" kern="0" smtClean="0">
                              <a:solidFill>
                                <a:srgbClr val="3333FF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US" altLang="zh-CN" sz="2400" b="1" kern="0" baseline="30000" dirty="0">
                  <a:solidFill>
                    <a:srgbClr val="3333FF"/>
                  </a:solidFill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  <a:p>
                <a:pPr marL="0" indent="0" eaLnBrk="1" hangingPunct="1">
                  <a:lnSpc>
                    <a:spcPct val="90000"/>
                  </a:lnSpc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b="1" i="1" kern="0" smtClean="0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SupPr>
                      <m:e>
                        <m:r>
                          <a:rPr lang="en-US" altLang="zh-CN" sz="2400" b="1" i="1" kern="0" smtClean="0">
                            <a:solidFill>
                              <a:srgbClr val="3333FF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𝑹</m:t>
                        </m:r>
                      </m:e>
                      <m:sub>
                        <m:r>
                          <a:rPr lang="en-US" altLang="zh-CN" sz="2400" b="1" i="1" kern="0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𝒊𝒋</m:t>
                        </m:r>
                      </m:sub>
                      <m:sup>
                        <m:r>
                          <a:rPr lang="en-US" altLang="zh-CN" sz="2400" b="1" i="1" kern="0" smtClean="0">
                            <a:solidFill>
                              <a:srgbClr val="3333FF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(</m:t>
                        </m:r>
                        <m:r>
                          <a:rPr lang="en-US" altLang="zh-CN" sz="2400" b="1" i="1" kern="0" smtClean="0">
                            <a:solidFill>
                              <a:srgbClr val="3333FF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𝟎</m:t>
                        </m:r>
                        <m:r>
                          <a:rPr lang="en-US" altLang="zh-CN" sz="2400" b="1" i="1" kern="0" smtClean="0">
                            <a:solidFill>
                              <a:srgbClr val="3333FF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)</m:t>
                        </m:r>
                      </m:sup>
                    </m:sSubSup>
                    <m:r>
                      <a:rPr lang="en-US" altLang="zh-CN" sz="2400" b="1" i="1" kern="0" smtClean="0">
                        <a:solidFill>
                          <a:srgbClr val="3333FF"/>
                        </a:solidFill>
                        <a:latin typeface="Cambria Math" panose="02040503050406030204"/>
                        <a:ea typeface="黑体" panose="02010609060101010101" pitchFamily="49" charset="-122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CN" sz="2400" b="1" i="1" kern="0" smtClean="0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400" b="1" i="1" kern="0" smtClean="0">
                                <a:solidFill>
                                  <a:srgbClr val="3333FF"/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eqArr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altLang="zh-CN" sz="2400" b="1" i="1" kern="0" smtClean="0">
                                    <a:solidFill>
                                      <a:srgbClr val="3333FF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b="1" i="1" kern="0" smtClean="0">
                                    <a:solidFill>
                                      <a:srgbClr val="3333FF"/>
                                    </a:solidFill>
                                    <a:latin typeface="Cambria Math" panose="02040503050406030204"/>
                                    <a:ea typeface="黑体" panose="02010609060101010101" pitchFamily="49" charset="-122"/>
                                  </a:rPr>
                                  <m:t>𝒂</m:t>
                                </m:r>
                              </m:e>
                              <m:e>
                                <m:r>
                                  <a:rPr lang="zh-CN" altLang="en-US" sz="2400" b="1" i="1" kern="0" smtClean="0">
                                    <a:solidFill>
                                      <a:srgbClr val="3333FF"/>
                                    </a:solidFill>
                                    <a:latin typeface="Cambria Math" panose="02040503050406030204"/>
                                    <a:ea typeface="黑体" panose="02010609060101010101" pitchFamily="49" charset="-122"/>
                                  </a:rPr>
                                  <m:t>𝜹</m:t>
                                </m:r>
                                <m:d>
                                  <m:dPr>
                                    <m:ctrlPr>
                                      <a:rPr lang="en-US" altLang="zh-CN" sz="2400" b="1" i="1" kern="0" smtClean="0">
                                        <a:solidFill>
                                          <a:srgbClr val="3333FF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sz="2400" b="1" i="1" kern="0" smtClean="0">
                                            <a:solidFill>
                                              <a:srgbClr val="3333FF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400" b="1" i="1" kern="0" smtClean="0">
                                            <a:solidFill>
                                              <a:srgbClr val="3333FF"/>
                                            </a:solidFill>
                                            <a:latin typeface="Cambria Math" panose="02040503050406030204"/>
                                            <a:ea typeface="黑体" panose="02010609060101010101" pitchFamily="49" charset="-122"/>
                                          </a:rPr>
                                          <m:t>𝒒</m:t>
                                        </m:r>
                                      </m:e>
                                      <m:sub>
                                        <m:r>
                                          <a:rPr lang="en-US" altLang="zh-CN" sz="2400" b="1" i="1" kern="0" smtClean="0">
                                            <a:solidFill>
                                              <a:srgbClr val="3333FF"/>
                                            </a:solidFill>
                                            <a:latin typeface="Cambria Math" panose="02040503050406030204"/>
                                            <a:ea typeface="黑体" panose="02010609060101010101" pitchFamily="49" charset="-122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  <m:r>
                                      <a:rPr lang="en-US" altLang="zh-CN" sz="2400" b="1" i="1" kern="0" smtClean="0">
                                        <a:solidFill>
                                          <a:srgbClr val="3333FF"/>
                                        </a:solidFill>
                                        <a:latin typeface="Cambria Math" panose="02040503050406030204"/>
                                        <a:ea typeface="黑体" panose="02010609060101010101" pitchFamily="49" charset="-122"/>
                                      </a:rPr>
                                      <m:t>,</m:t>
                                    </m:r>
                                    <m:r>
                                      <a:rPr lang="en-US" altLang="zh-CN" sz="2400" b="0" i="1" kern="0" smtClean="0">
                                        <a:solidFill>
                                          <a:srgbClr val="3333FF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𝑎</m:t>
                                    </m:r>
                                  </m:e>
                                </m:d>
                                <m:r>
                                  <a:rPr lang="en-US" altLang="zh-CN" sz="2400" b="1" i="1" kern="0" smtClean="0">
                                    <a:solidFill>
                                      <a:srgbClr val="3333FF"/>
                                    </a:solidFill>
                                    <a:latin typeface="Cambria Math" panose="02040503050406030204"/>
                                    <a:ea typeface="黑体" panose="02010609060101010101" pitchFamily="49" charset="-122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altLang="zh-CN" sz="2400" b="1" i="1" kern="0" smtClean="0">
                                        <a:solidFill>
                                          <a:srgbClr val="3333FF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1" i="1" kern="0" smtClean="0">
                                        <a:solidFill>
                                          <a:srgbClr val="3333FF"/>
                                        </a:solidFill>
                                        <a:latin typeface="Cambria Math" panose="02040503050406030204"/>
                                        <a:ea typeface="黑体" panose="02010609060101010101" pitchFamily="49" charset="-122"/>
                                      </a:rPr>
                                      <m:t>𝒒</m:t>
                                    </m:r>
                                  </m:e>
                                  <m:sub>
                                    <m:r>
                                      <a:rPr lang="en-US" altLang="zh-CN" sz="2400" b="1" i="1" kern="0" smtClean="0">
                                        <a:solidFill>
                                          <a:srgbClr val="3333FF"/>
                                        </a:solidFill>
                                        <a:latin typeface="Cambria Math" panose="02040503050406030204"/>
                                        <a:ea typeface="黑体" panose="02010609060101010101" pitchFamily="49" charset="-122"/>
                                      </a:rPr>
                                      <m:t>𝒋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altLang="zh-CN" sz="2400" b="1" i="1" kern="0" smtClean="0">
                                <a:solidFill>
                                  <a:srgbClr val="3333FF"/>
                                </a:solidFill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                 </m:t>
                            </m:r>
                            <m:r>
                              <a:rPr lang="en-US" altLang="zh-CN" sz="2400" b="0" i="1" kern="0" smtClean="0">
                                <a:solidFill>
                                  <a:srgbClr val="3333FF"/>
                                </a:solidFill>
                                <a:latin typeface="Cambria Math" panose="02040503050406030204"/>
                                <a:ea typeface="黑体" panose="02010609060101010101" pitchFamily="49" charset="-122"/>
                              </a:rPr>
                              <m:t>𝑖</m:t>
                            </m:r>
                            <m:r>
                              <a:rPr lang="en-US" altLang="zh-CN" sz="2400" b="0" i="1" kern="0" smtClean="0">
                                <a:solidFill>
                                  <a:srgbClr val="3333FF"/>
                                </a:solidFill>
                                <a:latin typeface="Cambria Math" panose="02040503050406030204"/>
                                <a:ea typeface="Cambria Math" panose="02040503050406030204"/>
                              </a:rPr>
                              <m:t>≠</m:t>
                            </m:r>
                            <m:r>
                              <a:rPr lang="en-US" altLang="zh-CN" sz="2400" b="0" i="1" kern="0" smtClean="0">
                                <a:solidFill>
                                  <a:srgbClr val="3333FF"/>
                                </a:solidFill>
                                <a:latin typeface="Cambria Math" panose="02040503050406030204"/>
                                <a:ea typeface="Cambria Math" panose="02040503050406030204"/>
                              </a:rPr>
                              <m:t>𝑗</m:t>
                            </m:r>
                          </m:e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altLang="zh-CN" sz="2400" b="1" i="1" kern="0" smtClean="0">
                                    <a:solidFill>
                                      <a:srgbClr val="3333FF"/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b="1" i="1" kern="0" smtClean="0">
                                    <a:solidFill>
                                      <a:srgbClr val="3333FF"/>
                                    </a:solidFill>
                                    <a:latin typeface="Cambria Math" panose="02040503050406030204"/>
                                    <a:ea typeface="黑体" panose="02010609060101010101" pitchFamily="49" charset="-122"/>
                                  </a:rPr>
                                  <m:t>𝒂</m:t>
                                </m:r>
                              </m:e>
                              <m:e>
                                <m:r>
                                  <a:rPr lang="zh-CN" altLang="en-US" sz="2400" b="1" i="1" kern="0" smtClean="0">
                                    <a:solidFill>
                                      <a:srgbClr val="3333FF"/>
                                    </a:solidFill>
                                    <a:latin typeface="Cambria Math" panose="02040503050406030204"/>
                                    <a:ea typeface="黑体" panose="02010609060101010101" pitchFamily="49" charset="-122"/>
                                  </a:rPr>
                                  <m:t>𝜹</m:t>
                                </m:r>
                                <m:d>
                                  <m:dPr>
                                    <m:ctrlPr>
                                      <a:rPr lang="en-US" altLang="zh-CN" sz="2400" b="1" i="1" kern="0" smtClean="0">
                                        <a:solidFill>
                                          <a:srgbClr val="3333FF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sz="2400" b="1" i="1" kern="0" smtClean="0">
                                            <a:solidFill>
                                              <a:srgbClr val="3333FF"/>
                                            </a:solidFill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400" b="1" i="1" kern="0" smtClean="0">
                                            <a:solidFill>
                                              <a:srgbClr val="3333FF"/>
                                            </a:solidFill>
                                            <a:latin typeface="Cambria Math" panose="02040503050406030204"/>
                                            <a:ea typeface="黑体" panose="02010609060101010101" pitchFamily="49" charset="-122"/>
                                          </a:rPr>
                                          <m:t>𝒒</m:t>
                                        </m:r>
                                      </m:e>
                                      <m:sub>
                                        <m:r>
                                          <a:rPr lang="en-US" altLang="zh-CN" sz="2400" b="1" i="1" kern="0" smtClean="0">
                                            <a:solidFill>
                                              <a:srgbClr val="3333FF"/>
                                            </a:solidFill>
                                            <a:latin typeface="Cambria Math" panose="02040503050406030204"/>
                                            <a:ea typeface="黑体" panose="02010609060101010101" pitchFamily="49" charset="-122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  <m:r>
                                      <a:rPr lang="en-US" altLang="zh-CN" sz="2400" b="1" i="1" kern="0" smtClean="0">
                                        <a:solidFill>
                                          <a:srgbClr val="3333FF"/>
                                        </a:solidFill>
                                        <a:latin typeface="Cambria Math" panose="02040503050406030204"/>
                                        <a:ea typeface="黑体" panose="02010609060101010101" pitchFamily="49" charset="-122"/>
                                      </a:rPr>
                                      <m:t>,</m:t>
                                    </m:r>
                                    <m:r>
                                      <a:rPr lang="en-US" altLang="zh-CN" sz="2400" b="0" i="1" kern="0" smtClean="0">
                                        <a:solidFill>
                                          <a:srgbClr val="3333FF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𝑎</m:t>
                                    </m:r>
                                  </m:e>
                                </m:d>
                                <m:r>
                                  <a:rPr lang="en-US" altLang="zh-CN" sz="2400" b="1" i="1" kern="0" smtClean="0">
                                    <a:solidFill>
                                      <a:srgbClr val="3333FF"/>
                                    </a:solidFill>
                                    <a:latin typeface="Cambria Math" panose="02040503050406030204"/>
                                    <a:ea typeface="黑体" panose="02010609060101010101" pitchFamily="49" charset="-122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altLang="zh-CN" sz="2400" b="1" i="1" kern="0" smtClean="0">
                                        <a:solidFill>
                                          <a:srgbClr val="3333FF"/>
                                        </a:solidFill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1" i="1" kern="0" smtClean="0">
                                        <a:solidFill>
                                          <a:srgbClr val="3333FF"/>
                                        </a:solidFill>
                                        <a:latin typeface="Cambria Math" panose="02040503050406030204"/>
                                        <a:ea typeface="黑体" panose="02010609060101010101" pitchFamily="49" charset="-122"/>
                                      </a:rPr>
                                      <m:t>𝒒</m:t>
                                    </m:r>
                                  </m:e>
                                  <m:sub>
                                    <m:r>
                                      <a:rPr lang="en-US" altLang="zh-CN" sz="2400" b="1" i="1" kern="0" smtClean="0">
                                        <a:solidFill>
                                          <a:srgbClr val="3333FF"/>
                                        </a:solidFill>
                                        <a:latin typeface="Cambria Math" panose="02040503050406030204"/>
                                        <a:ea typeface="黑体" panose="02010609060101010101" pitchFamily="49" charset="-122"/>
                                      </a:rPr>
                                      <m:t>𝒋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altLang="zh-CN" sz="2400" b="1" i="1" kern="0" smtClean="0">
                                <a:solidFill>
                                  <a:srgbClr val="3333FF"/>
                                </a:solidFill>
                                <a:latin typeface="Cambria Math" panose="02040503050406030204"/>
                                <a:ea typeface="Cambria Math" panose="02040503050406030204"/>
                              </a:rPr>
                              <m:t>∪</m:t>
                            </m:r>
                            <m:d>
                              <m:dPr>
                                <m:begChr m:val="{"/>
                                <m:endChr m:val="}"/>
                                <m:ctrlPr>
                                  <a:rPr lang="en-US" altLang="zh-CN" sz="2400" b="1" i="1" kern="0" smtClean="0">
                                    <a:solidFill>
                                      <a:srgbClr val="3333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/>
                                  </a:rPr>
                                </m:ctrlPr>
                              </m:dPr>
                              <m:e>
                                <m:r>
                                  <a:rPr lang="zh-CN" altLang="en-US" sz="2400" b="1" i="1" kern="0" smtClean="0">
                                    <a:solidFill>
                                      <a:srgbClr val="3333FF"/>
                                    </a:solidFill>
                                    <a:latin typeface="Cambria Math" panose="02040503050406030204"/>
                                    <a:ea typeface="Cambria Math" panose="02040503050406030204"/>
                                  </a:rPr>
                                  <m:t>𝜺</m:t>
                                </m:r>
                              </m:e>
                            </m:d>
                            <m:r>
                              <a:rPr lang="en-US" altLang="zh-CN" sz="2400" b="1" i="1" kern="0" smtClean="0">
                                <a:solidFill>
                                  <a:srgbClr val="3333FF"/>
                                </a:solidFill>
                                <a:latin typeface="Cambria Math" panose="02040503050406030204"/>
                                <a:ea typeface="Cambria Math" panose="02040503050406030204"/>
                              </a:rPr>
                              <m:t>  </m:t>
                            </m:r>
                            <m:r>
                              <a:rPr lang="en-US" altLang="zh-CN" sz="2400" b="0" i="1" kern="0" smtClean="0">
                                <a:solidFill>
                                  <a:srgbClr val="3333FF"/>
                                </a:solidFill>
                                <a:latin typeface="Cambria Math" panose="02040503050406030204"/>
                                <a:ea typeface="Cambria Math" panose="02040503050406030204"/>
                              </a:rPr>
                              <m:t>    </m:t>
                            </m:r>
                            <m:r>
                              <a:rPr lang="en-US" altLang="zh-CN" sz="2400" b="0" i="1" kern="0" smtClean="0">
                                <a:solidFill>
                                  <a:srgbClr val="3333FF"/>
                                </a:solidFill>
                                <a:latin typeface="Cambria Math" panose="02040503050406030204"/>
                                <a:ea typeface="Cambria Math" panose="02040503050406030204"/>
                              </a:rPr>
                              <m:t>𝑖</m:t>
                            </m:r>
                            <m:r>
                              <a:rPr lang="en-US" altLang="zh-CN" sz="2400" b="0" i="1" kern="0" smtClean="0">
                                <a:solidFill>
                                  <a:srgbClr val="3333FF"/>
                                </a:solidFill>
                                <a:latin typeface="Cambria Math" panose="02040503050406030204"/>
                                <a:ea typeface="Cambria Math" panose="02040503050406030204"/>
                              </a:rPr>
                              <m:t>=</m:t>
                            </m:r>
                            <m:r>
                              <a:rPr lang="en-US" altLang="zh-CN" sz="2400" b="0" i="1" kern="0" smtClean="0">
                                <a:solidFill>
                                  <a:srgbClr val="3333FF"/>
                                </a:solidFill>
                                <a:latin typeface="Cambria Math" panose="02040503050406030204"/>
                                <a:ea typeface="Cambria Math" panose="02040503050406030204"/>
                              </a:rPr>
                              <m:t>𝑗</m:t>
                            </m:r>
                          </m:e>
                        </m:eqArr>
                      </m:e>
                    </m:d>
                    <m:r>
                      <a:rPr lang="en-US" altLang="zh-CN" sz="2400" b="1" i="1" kern="0" smtClean="0">
                        <a:solidFill>
                          <a:srgbClr val="3333FF"/>
                        </a:solidFill>
                        <a:latin typeface="Cambria Math" panose="02040503050406030204"/>
                        <a:ea typeface="黑体" panose="02010609060101010101" pitchFamily="49" charset="-122"/>
                      </a:rPr>
                      <m:t>   </m:t>
                    </m:r>
                  </m:oMath>
                </a14:m>
                <a:r>
                  <a:rPr lang="en-US" altLang="zh-CN" b="1" kern="0" dirty="0">
                    <a:solidFill>
                      <a:srgbClr val="3333FF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 </a:t>
                </a:r>
                <a:endParaRPr lang="en-US" altLang="zh-CN" b="1" kern="0" baseline="30000" dirty="0">
                  <a:solidFill>
                    <a:srgbClr val="3333FF"/>
                  </a:solidFill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18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4187" y="4267200"/>
                <a:ext cx="8305800" cy="2438400"/>
              </a:xfrm>
              <a:prstGeom prst="rect">
                <a:avLst/>
              </a:prstGeom>
              <a:blipFill>
                <a:blip r:embed="rId3"/>
                <a:stretch>
                  <a:fillRect l="-1101" t="-425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266" name="Picture 3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187" y="1333500"/>
            <a:ext cx="8305800" cy="29564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117A3537-6807-4DB9-9C27-CC2CC5635447}" type="datetime1">
              <a:rPr lang="zh-CN" altLang="en-US"/>
              <a:t>2026/3/23</a:t>
            </a:fld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AB60D2-7AEF-4D86-9E16-9600C6420579}" type="slidenum">
              <a:rPr lang="en-US" altLang="zh-CN"/>
              <a:t>27</a:t>
            </a:fld>
            <a:endParaRPr lang="en-US" altLang="zh-CN"/>
          </a:p>
        </p:txBody>
      </p:sp>
      <p:sp>
        <p:nvSpPr>
          <p:cNvPr id="112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递归关系示意图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7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</p:txBody>
      </p:sp>
      <p:grpSp>
        <p:nvGrpSpPr>
          <p:cNvPr id="26" name="组合 25"/>
          <p:cNvGrpSpPr/>
          <p:nvPr/>
        </p:nvGrpSpPr>
        <p:grpSpPr bwMode="auto">
          <a:xfrm>
            <a:off x="1459709" y="1676400"/>
            <a:ext cx="5550942" cy="3505200"/>
            <a:chOff x="1459709" y="1676400"/>
            <a:chExt cx="5550942" cy="3505200"/>
          </a:xfrm>
        </p:grpSpPr>
        <p:sp>
          <p:nvSpPr>
            <p:cNvPr id="3" name="矩形 2"/>
            <p:cNvSpPr/>
            <p:nvPr/>
          </p:nvSpPr>
          <p:spPr>
            <a:xfrm>
              <a:off x="1459709" y="4648200"/>
              <a:ext cx="902491" cy="533400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2" name="矩形 11"/>
            <p:cNvSpPr/>
            <p:nvPr/>
          </p:nvSpPr>
          <p:spPr>
            <a:xfrm>
              <a:off x="2667000" y="4648200"/>
              <a:ext cx="846000" cy="533400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3" name="矩形 12"/>
            <p:cNvSpPr/>
            <p:nvPr/>
          </p:nvSpPr>
          <p:spPr>
            <a:xfrm>
              <a:off x="3556793" y="4648200"/>
              <a:ext cx="1167607" cy="533400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4800600" y="4648200"/>
              <a:ext cx="836162" cy="533400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cxnSp>
          <p:nvCxnSpPr>
            <p:cNvPr id="7" name="直接箭头连接符 6"/>
            <p:cNvCxnSpPr>
              <a:stCxn id="3" idx="0"/>
            </p:cNvCxnSpPr>
            <p:nvPr/>
          </p:nvCxnSpPr>
          <p:spPr>
            <a:xfrm flipV="1">
              <a:off x="1910955" y="1828800"/>
              <a:ext cx="4794645" cy="2819400"/>
            </a:xfrm>
            <a:prstGeom prst="straightConnector1">
              <a:avLst/>
            </a:prstGeom>
            <a:ln w="19050">
              <a:solidFill>
                <a:srgbClr val="C00000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箭头连接符 16"/>
            <p:cNvCxnSpPr>
              <a:stCxn id="12" idx="0"/>
            </p:cNvCxnSpPr>
            <p:nvPr/>
          </p:nvCxnSpPr>
          <p:spPr>
            <a:xfrm flipV="1">
              <a:off x="3090000" y="1905000"/>
              <a:ext cx="2663896" cy="2743200"/>
            </a:xfrm>
            <a:prstGeom prst="straightConnector1">
              <a:avLst/>
            </a:prstGeom>
            <a:ln w="19050">
              <a:solidFill>
                <a:srgbClr val="C00000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箭头连接符 21"/>
            <p:cNvCxnSpPr>
              <a:stCxn id="13" idx="0"/>
            </p:cNvCxnSpPr>
            <p:nvPr/>
          </p:nvCxnSpPr>
          <p:spPr>
            <a:xfrm flipV="1">
              <a:off x="4140597" y="1828800"/>
              <a:ext cx="812403" cy="2819400"/>
            </a:xfrm>
            <a:prstGeom prst="straightConnector1">
              <a:avLst/>
            </a:prstGeom>
            <a:ln w="19050">
              <a:solidFill>
                <a:srgbClr val="C00000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箭头连接符 24"/>
            <p:cNvCxnSpPr>
              <a:stCxn id="14" idx="0"/>
            </p:cNvCxnSpPr>
            <p:nvPr/>
          </p:nvCxnSpPr>
          <p:spPr>
            <a:xfrm flipV="1">
              <a:off x="5219316" y="1676400"/>
              <a:ext cx="1791335" cy="2971800"/>
            </a:xfrm>
            <a:prstGeom prst="straightConnector1">
              <a:avLst/>
            </a:prstGeom>
            <a:ln w="19050">
              <a:solidFill>
                <a:srgbClr val="C00000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AU" altLang="zh-CN" sz="440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AU" altLang="zh-CN" sz="4400" dirty="0"/>
                  <a:t>-</a:t>
                </a:r>
                <a:r>
                  <a:rPr lang="zh-CN" altLang="en-US" sz="4400" dirty="0"/>
                  <a:t>路径示例</a:t>
                </a:r>
                <a:endParaRPr lang="en-AU" dirty="0"/>
              </a:p>
            </p:txBody>
          </p:sp>
        </mc:Choice>
        <mc:Fallback xmlns="">
          <p:sp>
            <p:nvSpPr>
              <p:cNvPr id="2" name="Title 1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t="-35218" b="-353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19564F-3A13-4140-9CFC-3B75A7CC7F9C}" type="slidenum">
              <a:rPr lang="en-US" altLang="zh-CN" smtClean="0"/>
              <a:t>28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Content Placeholder 2"/>
              <p:cNvSpPr>
                <a:spLocks noGrp="1"/>
              </p:cNvSpPr>
              <p:nvPr/>
            </p:nvSpPr>
            <p:spPr>
              <a:xfrm>
                <a:off x="3967128" y="2075761"/>
                <a:ext cx="4697490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Calibri" panose="020F0502020204030204" charset="0"/>
                  <a:buChar char="—"/>
                  <a:defRPr sz="2400" kern="120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dirty="0"/>
                  <a:t>从</a:t>
                </a:r>
                <a:r>
                  <a:rPr lang="en-AU" dirty="0"/>
                  <a:t> 2 to 3</a:t>
                </a:r>
              </a:p>
              <a:p>
                <a:pPr marL="0" indent="0">
                  <a:buNone/>
                </a:pPr>
                <a:r>
                  <a:rPr lang="en-AU" dirty="0"/>
                  <a:t>0-</a:t>
                </a:r>
                <a:r>
                  <a:rPr lang="zh-CN" altLang="en-US" dirty="0"/>
                  <a:t>路径</a:t>
                </a:r>
                <a:r>
                  <a:rPr lang="en-AU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AU" b="1" dirty="0"/>
              </a:p>
              <a:p>
                <a:pPr marL="0" indent="0">
                  <a:buNone/>
                </a:pPr>
                <a:r>
                  <a:rPr lang="en-AU" dirty="0"/>
                  <a:t>1-</a:t>
                </a:r>
                <a:r>
                  <a:rPr lang="zh-CN" altLang="en-US" dirty="0"/>
                  <a:t>路径</a:t>
                </a:r>
                <a:r>
                  <a:rPr lang="en-AU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b="1" i="1" dirty="0" smtClean="0">
                          <a:latin typeface="Cambria Math" panose="02040503050406030204" pitchFamily="18" charset="0"/>
                        </a:rPr>
                        <m:t>𝟏𝟏</m:t>
                      </m:r>
                    </m:oMath>
                  </m:oMathPara>
                </a14:m>
                <a:endParaRPr lang="en-AU" b="1" dirty="0"/>
              </a:p>
              <a:p>
                <a:pPr marL="0" indent="0">
                  <a:buNone/>
                </a:pPr>
                <a:r>
                  <a:rPr lang="en-AU" dirty="0"/>
                  <a:t>2-</a:t>
                </a:r>
                <a:r>
                  <a:rPr lang="zh-CN" altLang="en-US" dirty="0"/>
                  <a:t>路径</a:t>
                </a:r>
                <a:r>
                  <a:rPr lang="en-AU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𝟏𝟏</m:t>
                          </m:r>
                        </m:e>
                      </m:d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b="1" i="1" kern="0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𝜺</m:t>
                          </m:r>
                          <m:r>
                            <a:rPr lang="en-US" altLang="zh-CN" b="1" i="1" kern="0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+</m:t>
                          </m:r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𝟏𝟎</m:t>
                          </m:r>
                        </m:e>
                      </m:d>
                      <m:sSup>
                        <m:sSupPr>
                          <m:ctrlP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b="1" i="1" kern="0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𝜺</m:t>
                          </m:r>
                          <m:r>
                            <a:rPr lang="en-US" altLang="zh-CN" b="1" i="1" kern="0" smtClean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ea typeface="Cambria Math" panose="02040503050406030204"/>
                            </a:rPr>
                            <m:t>+</m:t>
                          </m:r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𝟏𝟎</m:t>
                          </m:r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b="1" i="1" dirty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𝟏𝟏</m:t>
                          </m:r>
                        </m:e>
                      </m:d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𝟏𝟎</m:t>
                          </m:r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1" i="1" dirty="0">
                              <a:latin typeface="Cambria Math" panose="02040503050406030204" pitchFamily="18" charset="0"/>
                            </a:rPr>
                            <m:t>𝟏𝟏</m:t>
                          </m:r>
                        </m:e>
                      </m:d>
                    </m:oMath>
                  </m:oMathPara>
                </a14:m>
                <a:endParaRPr lang="en-US" b="1" i="1" baseline="3000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AU" b="1" dirty="0"/>
              </a:p>
            </p:txBody>
          </p:sp>
        </mc:Choice>
        <mc:Fallback xmlns="">
          <p:sp>
            <p:nvSpPr>
              <p:cNvPr id="4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7128" y="2075761"/>
                <a:ext cx="4697490" cy="4351338"/>
              </a:xfrm>
              <a:prstGeom prst="rect">
                <a:avLst/>
              </a:prstGeom>
              <a:blipFill rotWithShape="1">
                <a:blip r:embed="rId3"/>
                <a:stretch>
                  <a:fillRect l="-6" t="-13" r="1" b="-67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4" name="Group 18"/>
          <p:cNvGrpSpPr/>
          <p:nvPr/>
        </p:nvGrpSpPr>
        <p:grpSpPr bwMode="auto">
          <a:xfrm>
            <a:off x="977809" y="2209800"/>
            <a:ext cx="2836182" cy="3103323"/>
            <a:chOff x="864" y="1104"/>
            <a:chExt cx="1352" cy="1440"/>
          </a:xfrm>
        </p:grpSpPr>
        <p:cxnSp>
          <p:nvCxnSpPr>
            <p:cNvPr id="53" name="AutoShape 10"/>
            <p:cNvCxnSpPr>
              <a:cxnSpLocks noChangeShapeType="1"/>
            </p:cNvCxnSpPr>
            <p:nvPr/>
          </p:nvCxnSpPr>
          <p:spPr bwMode="auto">
            <a:xfrm rot="16200000" flipH="1">
              <a:off x="800" y="1860"/>
              <a:ext cx="618" cy="438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7" name="Oval 4"/>
            <p:cNvSpPr>
              <a:spLocks noChangeArrowheads="1"/>
            </p:cNvSpPr>
            <p:nvPr/>
          </p:nvSpPr>
          <p:spPr bwMode="auto">
            <a:xfrm>
              <a:off x="1344" y="2256"/>
              <a:ext cx="288" cy="288"/>
            </a:xfrm>
            <a:prstGeom prst="ellipse">
              <a:avLst/>
            </a:prstGeom>
            <a:solidFill>
              <a:srgbClr val="CC99FF">
                <a:alpha val="50195"/>
              </a:srgbClr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/>
              <a:r>
                <a:rPr lang="en-US" altLang="en-US"/>
                <a:t>3</a:t>
              </a:r>
            </a:p>
          </p:txBody>
        </p:sp>
        <p:sp>
          <p:nvSpPr>
            <p:cNvPr id="48" name="Oval 5"/>
            <p:cNvSpPr>
              <a:spLocks noChangeArrowheads="1"/>
            </p:cNvSpPr>
            <p:nvPr/>
          </p:nvSpPr>
          <p:spPr bwMode="auto">
            <a:xfrm>
              <a:off x="1920" y="1536"/>
              <a:ext cx="288" cy="288"/>
            </a:xfrm>
            <a:prstGeom prst="ellipse">
              <a:avLst/>
            </a:prstGeom>
            <a:solidFill>
              <a:srgbClr val="CC99FF">
                <a:alpha val="50195"/>
              </a:srgbClr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/>
              <a:r>
                <a:rPr lang="en-US" altLang="en-US"/>
                <a:t>2</a:t>
              </a:r>
            </a:p>
          </p:txBody>
        </p:sp>
        <p:sp>
          <p:nvSpPr>
            <p:cNvPr id="49" name="Line 6"/>
            <p:cNvSpPr>
              <a:spLocks noChangeShapeType="1"/>
            </p:cNvSpPr>
            <p:nvPr/>
          </p:nvSpPr>
          <p:spPr bwMode="auto">
            <a:xfrm>
              <a:off x="1158" y="1653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AU"/>
            </a:p>
          </p:txBody>
        </p:sp>
        <p:sp>
          <p:nvSpPr>
            <p:cNvPr id="50" name="Line 7"/>
            <p:cNvSpPr>
              <a:spLocks noChangeShapeType="1"/>
            </p:cNvSpPr>
            <p:nvPr/>
          </p:nvSpPr>
          <p:spPr bwMode="auto">
            <a:xfrm flipH="1">
              <a:off x="1559" y="1806"/>
              <a:ext cx="432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AU"/>
            </a:p>
          </p:txBody>
        </p:sp>
        <p:sp>
          <p:nvSpPr>
            <p:cNvPr id="51" name="Line 8"/>
            <p:cNvSpPr>
              <a:spLocks noChangeShapeType="1"/>
            </p:cNvSpPr>
            <p:nvPr/>
          </p:nvSpPr>
          <p:spPr bwMode="auto">
            <a:xfrm flipH="1" flipV="1">
              <a:off x="1052" y="1811"/>
              <a:ext cx="336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AU"/>
            </a:p>
          </p:txBody>
        </p:sp>
        <p:cxnSp>
          <p:nvCxnSpPr>
            <p:cNvPr id="52" name="AutoShape 9"/>
            <p:cNvCxnSpPr>
              <a:cxnSpLocks noChangeShapeType="1"/>
            </p:cNvCxnSpPr>
            <p:nvPr/>
          </p:nvCxnSpPr>
          <p:spPr bwMode="auto">
            <a:xfrm rot="-5400000" flipH="1" flipV="1">
              <a:off x="1535" y="982"/>
              <a:ext cx="1" cy="1056"/>
            </a:xfrm>
            <a:prstGeom prst="curvedConnector3">
              <a:avLst>
                <a:gd name="adj1" fmla="val -14400000"/>
              </a:avLst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4" name="AutoShape 11"/>
            <p:cNvCxnSpPr>
              <a:cxnSpLocks noChangeShapeType="1"/>
            </p:cNvCxnSpPr>
            <p:nvPr/>
          </p:nvCxnSpPr>
          <p:spPr bwMode="auto">
            <a:xfrm flipV="1">
              <a:off x="1642" y="1770"/>
              <a:ext cx="534" cy="618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55" name="Text Box 12"/>
            <p:cNvSpPr txBox="1">
              <a:spLocks noChangeArrowheads="1"/>
            </p:cNvSpPr>
            <p:nvPr/>
          </p:nvSpPr>
          <p:spPr bwMode="auto">
            <a:xfrm>
              <a:off x="1392" y="1680"/>
              <a:ext cx="22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r>
                <a:rPr lang="en-US" altLang="en-US"/>
                <a:t>0</a:t>
              </a:r>
            </a:p>
          </p:txBody>
        </p:sp>
        <p:sp>
          <p:nvSpPr>
            <p:cNvPr id="56" name="Text Box 13"/>
            <p:cNvSpPr txBox="1">
              <a:spLocks noChangeArrowheads="1"/>
            </p:cNvSpPr>
            <p:nvPr/>
          </p:nvSpPr>
          <p:spPr bwMode="auto">
            <a:xfrm>
              <a:off x="1584" y="1872"/>
              <a:ext cx="22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r>
                <a:rPr lang="en-US" altLang="en-US"/>
                <a:t>0</a:t>
              </a:r>
            </a:p>
          </p:txBody>
        </p:sp>
        <p:sp>
          <p:nvSpPr>
            <p:cNvPr id="57" name="Text Box 14"/>
            <p:cNvSpPr txBox="1">
              <a:spLocks noChangeArrowheads="1"/>
            </p:cNvSpPr>
            <p:nvPr/>
          </p:nvSpPr>
          <p:spPr bwMode="auto">
            <a:xfrm>
              <a:off x="1200" y="1872"/>
              <a:ext cx="22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r>
                <a:rPr lang="en-US" altLang="en-US"/>
                <a:t>0</a:t>
              </a:r>
            </a:p>
          </p:txBody>
        </p:sp>
        <p:sp>
          <p:nvSpPr>
            <p:cNvPr id="58" name="Text Box 15"/>
            <p:cNvSpPr txBox="1">
              <a:spLocks noChangeArrowheads="1"/>
            </p:cNvSpPr>
            <p:nvPr/>
          </p:nvSpPr>
          <p:spPr bwMode="auto">
            <a:xfrm>
              <a:off x="1440" y="1104"/>
              <a:ext cx="22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r>
                <a:rPr lang="en-US" altLang="en-US"/>
                <a:t>1</a:t>
              </a:r>
            </a:p>
          </p:txBody>
        </p:sp>
        <p:sp>
          <p:nvSpPr>
            <p:cNvPr id="59" name="Text Box 16"/>
            <p:cNvSpPr txBox="1">
              <a:spLocks noChangeArrowheads="1"/>
            </p:cNvSpPr>
            <p:nvPr/>
          </p:nvSpPr>
          <p:spPr bwMode="auto">
            <a:xfrm>
              <a:off x="864" y="2112"/>
              <a:ext cx="22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r>
                <a:rPr lang="en-US" altLang="en-US"/>
                <a:t>1</a:t>
              </a:r>
            </a:p>
          </p:txBody>
        </p:sp>
        <p:sp>
          <p:nvSpPr>
            <p:cNvPr id="60" name="Text Box 17"/>
            <p:cNvSpPr txBox="1">
              <a:spLocks noChangeArrowheads="1"/>
            </p:cNvSpPr>
            <p:nvPr/>
          </p:nvSpPr>
          <p:spPr bwMode="auto">
            <a:xfrm>
              <a:off x="1995" y="2142"/>
              <a:ext cx="22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r>
                <a:rPr lang="en-US" altLang="en-US" dirty="0"/>
                <a:t>1</a:t>
              </a:r>
            </a:p>
          </p:txBody>
        </p:sp>
        <p:sp>
          <p:nvSpPr>
            <p:cNvPr id="46" name="Oval 3"/>
            <p:cNvSpPr>
              <a:spLocks noChangeArrowheads="1"/>
            </p:cNvSpPr>
            <p:nvPr/>
          </p:nvSpPr>
          <p:spPr bwMode="auto">
            <a:xfrm>
              <a:off x="864" y="1536"/>
              <a:ext cx="288" cy="288"/>
            </a:xfrm>
            <a:prstGeom prst="ellipse">
              <a:avLst/>
            </a:prstGeom>
            <a:solidFill>
              <a:srgbClr val="CC99FF">
                <a:alpha val="50195"/>
              </a:srgbClr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/>
              <a:r>
                <a:rPr lang="en-US" altLang="en-US" dirty="0"/>
                <a:t>1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23"/>
              <p:cNvSpPr txBox="1"/>
              <p:nvPr/>
            </p:nvSpPr>
            <p:spPr>
              <a:xfrm>
                <a:off x="1537913" y="1008479"/>
                <a:ext cx="7139781" cy="6042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AU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AU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AU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AU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AU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AU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en-US" altLang="zh-CN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AU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AU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AU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AU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AU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AU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en-US" altLang="zh-CN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AU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AU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AU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AU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AU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AU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  <m:r>
                          <a:rPr lang="en-AU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Sup>
                          <m:sSubSupPr>
                            <m:ctrlPr>
                              <a:rPr lang="en-US" altLang="zh-CN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AU" altLang="zh-CN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AU" altLang="zh-CN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AU" altLang="zh-CN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AU" altLang="zh-CN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AU" altLang="zh-CN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AU" altLang="zh-CN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AU" altLang="zh-CN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AU" altLang="zh-CN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−1)</m:t>
                            </m:r>
                          </m:sup>
                        </m:sSubSup>
                        <m:r>
                          <a:rPr lang="en-AU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AU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sSubSup>
                      <m:sSubSupPr>
                        <m:ctrlP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AU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AU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AU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AU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AU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AU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  <m:r>
                          <a:rPr lang="en-AU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</m:oMath>
                </a14:m>
                <a:endParaRPr lang="en-AU" sz="2400" dirty="0"/>
              </a:p>
            </p:txBody>
          </p:sp>
        </mc:Choice>
        <mc:Fallback xmlns="">
          <p:sp>
            <p:nvSpPr>
              <p:cNvPr id="45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7913" y="1008479"/>
                <a:ext cx="7139781" cy="604268"/>
              </a:xfrm>
              <a:prstGeom prst="rect">
                <a:avLst/>
              </a:prstGeom>
              <a:blipFill rotWithShape="1">
                <a:blip r:embed="rId4"/>
                <a:stretch>
                  <a:fillRect l="-8" t="-16" r="6" b="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DFA</a:t>
            </a:r>
            <a:r>
              <a:rPr lang="en-US" altLang="zh-CN" dirty="0"/>
              <a:t>-&gt;</a:t>
            </a:r>
            <a:r>
              <a:rPr lang="zh-CN" altLang="en-US" dirty="0"/>
              <a:t>正则表达式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339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457200" y="1600200"/>
                <a:ext cx="8077200" cy="4525963"/>
              </a:xfrm>
            </p:spPr>
            <p:txBody>
              <a:bodyPr>
                <a:normAutofit/>
              </a:bodyPr>
              <a:lstStyle/>
              <a:p>
                <a:pPr algn="just">
                  <a:defRPr/>
                </a:pPr>
                <a:r>
                  <a:rPr lang="zh-CN" altLang="en-US" dirty="0"/>
                  <a:t>如果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是开始结点，则和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</a:t>
                </a:r>
                <a:r>
                  <a:rPr lang="zh-CN" altLang="en-US" dirty="0"/>
                  <a:t>等价的正则表达式就是</a:t>
                </a:r>
                <a:endParaRPr lang="en-AU" altLang="zh-CN" dirty="0"/>
              </a:p>
              <a:p>
                <a:pPr marL="0" indent="0">
                  <a:buNone/>
                  <a:defRPr/>
                </a:pPr>
                <a:r>
                  <a:rPr lang="en-AU" altLang="zh-CN" dirty="0"/>
                  <a:t>	           </a:t>
                </a:r>
                <a:r>
                  <a:rPr lang="en-US" altLang="zh-CN" b="1" dirty="0">
                    <a:ea typeface="黑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⋃"/>
                        <m:supHide m:val="on"/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AU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AU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SupPr>
                          <m:e>
                            <m:r>
                              <a:rPr lang="en-AU" altLang="zh-CN" b="0" i="1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𝑅</m:t>
                            </m:r>
                          </m:e>
                          <m:sub>
                            <m:r>
                              <a:rPr lang="en-AU" altLang="zh-CN" b="0" i="1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1,</m:t>
                            </m:r>
                            <m:r>
                              <a:rPr lang="en-AU" altLang="zh-CN" b="0" i="1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𝑗</m:t>
                            </m:r>
                          </m:sub>
                          <m:sup>
                            <m:r>
                              <a:rPr lang="en-AU" altLang="zh-CN" b="0" i="1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(</m:t>
                            </m:r>
                            <m:r>
                              <a:rPr lang="en-AU" altLang="zh-CN" b="0" i="1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𝑛</m:t>
                            </m:r>
                            <m:r>
                              <a:rPr lang="en-AU" altLang="zh-CN" b="0" i="1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)</m:t>
                            </m:r>
                          </m:sup>
                        </m:sSubSup>
                      </m:e>
                    </m:nary>
                  </m:oMath>
                </a14:m>
                <a:r>
                  <a:rPr lang="zh-CN" altLang="en-US" dirty="0"/>
                  <a:t>           </a:t>
                </a:r>
                <a:endParaRPr lang="en-AU" altLang="zh-CN" dirty="0"/>
              </a:p>
              <a:p>
                <a:pPr marL="0" indent="0" algn="just">
                  <a:buNone/>
                  <a:defRPr/>
                </a:pPr>
                <a:r>
                  <a:rPr lang="en-US" altLang="zh-CN" dirty="0"/>
                  <a:t>  </a:t>
                </a:r>
                <a:r>
                  <a:rPr lang="zh-CN" altLang="en-US" dirty="0"/>
                  <a:t>即，从状态</a:t>
                </a:r>
                <a:r>
                  <a:rPr lang="en-AU" altLang="zh-CN" dirty="0"/>
                  <a:t>1</a:t>
                </a:r>
                <a:r>
                  <a:rPr lang="zh-CN" altLang="en-AU" dirty="0"/>
                  <a:t>（开始状态）</a:t>
                </a:r>
                <a:r>
                  <a:rPr lang="zh-CN" altLang="en-US" dirty="0"/>
                  <a:t>到终结状态的所有路径的集合。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14339" name="Rectangle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077200" cy="4525963"/>
              </a:xfrm>
              <a:blipFill rotWithShape="1">
                <a:blip r:embed="rId3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54AF8B-81E5-4F9F-86A5-A682C2C09B60}" type="slidenum">
              <a:rPr lang="en-US" altLang="zh-CN"/>
              <a:t>29</a:t>
            </a:fld>
            <a:endParaRPr lang="en-US" altLang="zh-CN"/>
          </a:p>
        </p:txBody>
      </p:sp>
      <p:sp>
        <p:nvSpPr>
          <p:cNvPr id="819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19564F-3A13-4140-9CFC-3B75A7CC7F9C}" type="slidenum">
              <a:rPr lang="en-US" altLang="zh-CN" smtClean="0"/>
              <a:t>30</a:t>
            </a:fld>
            <a:endParaRPr lang="en-US" altLang="zh-CN" dirty="0"/>
          </a:p>
        </p:txBody>
      </p:sp>
      <p:sp>
        <p:nvSpPr>
          <p:cNvPr id="8" name="矩形: 圆角 7"/>
          <p:cNvSpPr/>
          <p:nvPr>
            <p:custDataLst>
              <p:tags r:id="rId3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作答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ontent Placeholder 2"/>
              <p:cNvSpPr txBox="1"/>
              <p:nvPr/>
            </p:nvSpPr>
            <p:spPr>
              <a:xfrm>
                <a:off x="457200" y="1371600"/>
                <a:ext cx="8229600" cy="4525963"/>
              </a:xfrm>
              <a:prstGeom prst="rect">
                <a:avLst/>
              </a:prstGeom>
            </p:spPr>
            <p:txBody>
              <a:bodyPr/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dirty="0"/>
                  <a:t>例</a:t>
                </a:r>
                <a:r>
                  <a:rPr lang="en-AU" altLang="zh-CN" dirty="0"/>
                  <a:t>:</a:t>
                </a:r>
                <a:r>
                  <a:rPr lang="zh-CN" altLang="en-US" dirty="0"/>
                  <a:t>把下图所示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</a:t>
                </a:r>
                <a:r>
                  <a:rPr lang="zh-CN" altLang="en-US" dirty="0"/>
                  <a:t>转换为正则表达式。这个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 </a:t>
                </a:r>
                <a:r>
                  <a:rPr lang="zh-CN" altLang="en-US" dirty="0"/>
                  <a:t>接受至少含有一个</a:t>
                </a:r>
                <a:r>
                  <a:rPr lang="en-US" altLang="zh-CN" dirty="0"/>
                  <a:t>0</a:t>
                </a:r>
                <a:r>
                  <a:rPr lang="zh-CN" altLang="en-US" dirty="0"/>
                  <a:t>的串。</a:t>
                </a:r>
                <a:endParaRPr lang="en-AU" altLang="zh-CN" dirty="0"/>
              </a:p>
              <a:p>
                <a:endParaRPr lang="en-AU" altLang="zh-CN" dirty="0"/>
              </a:p>
              <a:p>
                <a:endParaRPr lang="en-AU" altLang="zh-CN" dirty="0"/>
              </a:p>
              <a:p>
                <a:endParaRPr lang="en-AU" altLang="zh-CN" dirty="0"/>
              </a:p>
              <a:p>
                <a:r>
                  <a:rPr lang="zh-CN" altLang="en-US" dirty="0"/>
                  <a:t>状态总数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zh-CN" altLang="en-US" dirty="0"/>
                  <a:t>，状态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为开始状态，状态</a:t>
                </a:r>
                <a:r>
                  <a:rPr lang="en-US" altLang="zh-CN" dirty="0"/>
                  <a:t>2</a:t>
                </a:r>
                <a:r>
                  <a:rPr lang="zh-CN" altLang="en-US" dirty="0"/>
                  <a:t>为结束状态，所以需要求解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AU" altLang="zh-CN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AU" altLang="zh-CN" i="1" smtClean="0">
                            <a:latin typeface="Cambria Math" panose="02040503050406030204" pitchFamily="18" charset="0"/>
                          </a:rPr>
                          <m:t>1,2</m:t>
                        </m:r>
                      </m:sub>
                      <m:sup>
                        <m:r>
                          <a:rPr lang="en-AU" altLang="zh-CN" i="1" smtClean="0">
                            <a:latin typeface="Cambria Math" panose="02040503050406030204" pitchFamily="18" charset="0"/>
                          </a:rPr>
                          <m:t>(2)</m:t>
                        </m:r>
                      </m:sup>
                    </m:sSubSup>
                  </m:oMath>
                </a14:m>
                <a:endParaRPr lang="zh-CN" altLang="en-US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15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371600"/>
                <a:ext cx="8229600" cy="4525963"/>
              </a:xfrm>
              <a:prstGeom prst="rect">
                <a:avLst/>
              </a:prstGeom>
              <a:blipFill rotWithShape="1">
                <a:blip r:embed="rId11"/>
                <a:stretch>
                  <a:fillRect b="-12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6" name="对象 1"/>
          <p:cNvGraphicFramePr>
            <a:graphicFrameLocks noChangeAspect="1"/>
          </p:cNvGraphicFramePr>
          <p:nvPr/>
        </p:nvGraphicFramePr>
        <p:xfrm>
          <a:off x="2819400" y="2449573"/>
          <a:ext cx="2493806" cy="1243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3" name="Visio" r:id="rId12" imgW="1879600" imgH="863600" progId="Visio.Drawing.11">
                  <p:embed/>
                </p:oleObj>
              </mc:Choice>
              <mc:Fallback>
                <p:oleObj name="Visio" r:id="rId12" imgW="1879600" imgH="863600" progId="Visio.Drawing.11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2449573"/>
                        <a:ext cx="2493806" cy="1243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组合 12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9" name="TitleBackground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ColorBlock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TypeText"/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主观题</a:t>
              </a:r>
            </a:p>
          </p:txBody>
        </p:sp>
        <p:sp>
          <p:nvSpPr>
            <p:cNvPr id="12" name="TipText"/>
            <p:cNvSpPr txBox="1"/>
            <p:nvPr>
              <p:custDataLst>
                <p:tags r:id="rId9"/>
              </p:custDataLst>
            </p:nvPr>
          </p:nvSpPr>
          <p:spPr>
            <a:xfrm>
              <a:off x="142748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6" name="图片 5"/>
          <p:cNvPicPr/>
          <p:nvPr>
            <p:custDataLst>
              <p:tags r:id="rId5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DFA</a:t>
            </a:r>
            <a:r>
              <a:rPr lang="en-US" altLang="zh-CN" dirty="0"/>
              <a:t>-&gt;</a:t>
            </a:r>
            <a:r>
              <a:rPr lang="zh-CN" altLang="en-US" dirty="0"/>
              <a:t>正则表达式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371600"/>
                <a:ext cx="8229600" cy="4525963"/>
              </a:xfrm>
            </p:spPr>
            <p:txBody>
              <a:bodyPr/>
              <a:lstStyle/>
              <a:p>
                <a:r>
                  <a:rPr lang="zh-CN" altLang="en-US" dirty="0"/>
                  <a:t>例</a:t>
                </a:r>
                <a:r>
                  <a:rPr lang="en-AU" altLang="zh-CN" dirty="0"/>
                  <a:t>:</a:t>
                </a:r>
                <a:r>
                  <a:rPr lang="zh-CN" altLang="en-US" dirty="0"/>
                  <a:t>把下图所示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</a:t>
                </a:r>
                <a:r>
                  <a:rPr lang="zh-CN" altLang="en-US" dirty="0"/>
                  <a:t>转换为正则表达式。这个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 </a:t>
                </a:r>
                <a:r>
                  <a:rPr lang="zh-CN" altLang="en-US" dirty="0"/>
                  <a:t>接受至少含有一个</a:t>
                </a:r>
                <a:r>
                  <a:rPr lang="en-US" altLang="zh-CN" dirty="0"/>
                  <a:t>0</a:t>
                </a:r>
                <a:r>
                  <a:rPr lang="zh-CN" altLang="en-US" dirty="0"/>
                  <a:t>的串。</a:t>
                </a:r>
                <a:endParaRPr lang="en-AU" altLang="zh-CN" dirty="0"/>
              </a:p>
              <a:p>
                <a:endParaRPr lang="en-AU" altLang="zh-CN" dirty="0"/>
              </a:p>
              <a:p>
                <a:endParaRPr lang="en-AU" altLang="zh-CN" dirty="0"/>
              </a:p>
              <a:p>
                <a:endParaRPr lang="en-AU" altLang="zh-CN" dirty="0"/>
              </a:p>
              <a:p>
                <a:r>
                  <a:rPr lang="zh-CN" altLang="en-US" dirty="0"/>
                  <a:t>状态总数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zh-CN" altLang="en-US" dirty="0"/>
                  <a:t>，状态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为开始状态，状态</a:t>
                </a:r>
                <a:r>
                  <a:rPr lang="en-US" altLang="zh-CN" dirty="0"/>
                  <a:t>2</a:t>
                </a:r>
                <a:r>
                  <a:rPr lang="zh-CN" altLang="en-US" dirty="0"/>
                  <a:t>为结束状态，所以需要求解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1,2</m:t>
                        </m:r>
                      </m:sub>
                      <m:sup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(2)</m:t>
                        </m:r>
                      </m:sup>
                    </m:sSubSup>
                  </m:oMath>
                </a14:m>
                <a:endParaRPr lang="zh-CN" altLang="en-US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371600"/>
                <a:ext cx="8229600" cy="4525963"/>
              </a:xfrm>
              <a:blipFill rotWithShape="1">
                <a:blip r:embed="rId3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19564F-3A13-4140-9CFC-3B75A7CC7F9C}" type="slidenum">
              <a:rPr lang="en-US" altLang="zh-CN" smtClean="0"/>
              <a:t>31</a:t>
            </a:fld>
            <a:endParaRPr lang="en-US" altLang="zh-CN"/>
          </a:p>
        </p:txBody>
      </p:sp>
      <p:graphicFrame>
        <p:nvGraphicFramePr>
          <p:cNvPr id="5" name="对象 1"/>
          <p:cNvGraphicFramePr>
            <a:graphicFrameLocks noChangeAspect="1"/>
          </p:cNvGraphicFramePr>
          <p:nvPr/>
        </p:nvGraphicFramePr>
        <p:xfrm>
          <a:off x="2819400" y="2449573"/>
          <a:ext cx="2493806" cy="1243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1" name="Visio" r:id="rId4" imgW="1879600" imgH="863600" progId="Visio.Drawing.11">
                  <p:embed/>
                </p:oleObj>
              </mc:Choice>
              <mc:Fallback>
                <p:oleObj name="Visio" r:id="rId4" imgW="1879600" imgH="863600" progId="Visio.Drawing.11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2449573"/>
                        <a:ext cx="2493806" cy="1243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DFA</a:t>
            </a:r>
            <a:r>
              <a:rPr lang="en-US" altLang="zh-CN" dirty="0"/>
              <a:t>-&gt;</a:t>
            </a:r>
            <a:r>
              <a:rPr lang="zh-CN" altLang="en-US" dirty="0"/>
              <a:t>正则表达式示例</a:t>
            </a:r>
            <a:endParaRPr kumimoji="0"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293" name="Rectangle 3"/>
          <p:cNvSpPr>
            <a:spLocks noGrp="1" noChangeArrowheads="1"/>
          </p:cNvSpPr>
          <p:nvPr>
            <p:ph idx="1"/>
          </p:nvPr>
        </p:nvSpPr>
        <p:spPr>
          <a:xfrm>
            <a:off x="370173" y="991473"/>
            <a:ext cx="8229600" cy="4525963"/>
          </a:xfrm>
        </p:spPr>
        <p:txBody>
          <a:bodyPr>
            <a:normAutofit/>
          </a:bodyPr>
          <a:lstStyle/>
          <a:p>
            <a:pPr algn="just"/>
            <a:r>
              <a:rPr kumimoji="0" lang="zh-CN" altLang="en-US" sz="2800" dirty="0"/>
              <a:t>把下图所示</a:t>
            </a:r>
            <a:r>
              <a:rPr kumimoji="0"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DFA</a:t>
            </a:r>
            <a:r>
              <a:rPr kumimoji="0" lang="zh-CN" altLang="en-US" sz="2800" dirty="0"/>
              <a:t>转换为正则表达式</a:t>
            </a:r>
            <a:r>
              <a:rPr lang="zh-CN" altLang="en-US" dirty="0"/>
              <a:t>。</a:t>
            </a:r>
            <a:r>
              <a:rPr kumimoji="0" lang="zh-CN" altLang="en-US" sz="2800" dirty="0"/>
              <a:t>这个</a:t>
            </a:r>
            <a:r>
              <a:rPr kumimoji="0"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DFA</a:t>
            </a:r>
            <a:r>
              <a:rPr kumimoji="0" lang="zh-CN" altLang="en-US" sz="2800" dirty="0"/>
              <a:t>接受至少含有一个</a:t>
            </a:r>
            <a:r>
              <a:rPr kumimoji="0" lang="en-US" altLang="zh-CN" sz="2800" dirty="0"/>
              <a:t>0 </a:t>
            </a:r>
            <a:r>
              <a:rPr kumimoji="0" lang="zh-CN" altLang="en-US" sz="2800" dirty="0"/>
              <a:t>的串。</a:t>
            </a:r>
            <a:endParaRPr kumimoji="0" lang="en-US" altLang="zh-CN" sz="2800" dirty="0"/>
          </a:p>
        </p:txBody>
      </p:sp>
      <p:sp>
        <p:nvSpPr>
          <p:cNvPr id="1229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en-US">
              <a:latin typeface="Times New Roman" panose="02020603050405020304" pitchFamily="18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33798" name="对象 1"/>
          <p:cNvGraphicFramePr>
            <a:graphicFrameLocks noChangeAspect="1"/>
          </p:cNvGraphicFramePr>
          <p:nvPr/>
        </p:nvGraphicFramePr>
        <p:xfrm>
          <a:off x="827373" y="2263061"/>
          <a:ext cx="2035175" cy="1014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5" name="Visio" r:id="rId4" imgW="1879600" imgH="863600" progId="Visio.Drawing.11">
                  <p:embed/>
                </p:oleObj>
              </mc:Choice>
              <mc:Fallback>
                <p:oleObj name="Visio" r:id="rId4" imgW="1879600" imgH="863600" progId="Visio.Drawing.11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373" y="2263061"/>
                        <a:ext cx="2035175" cy="1014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/>
            </p:nvGraphicFramePr>
            <p:xfrm>
              <a:off x="6314300" y="1795192"/>
              <a:ext cx="2590800" cy="182677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954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2954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AU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1,1</m:t>
                                    </m:r>
                                  </m:sub>
                                  <m:sup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(0)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𝜀</m:t>
                                </m:r>
                                <m:r>
                                  <a:rPr lang="en-AU" sz="14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oMath>
                            </m:oMathPara>
                          </a14:m>
                          <a:endParaRPr lang="en-AU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AU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1,2</m:t>
                                    </m:r>
                                  </m:sub>
                                  <m:sup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(0)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AU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AU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2,1</m:t>
                                    </m:r>
                                  </m:sub>
                                  <m:sup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(0)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∅</m:t>
                                </m:r>
                              </m:oMath>
                            </m:oMathPara>
                          </a14:m>
                          <a:endParaRPr lang="en-AU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AU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2,2</m:t>
                                    </m:r>
                                  </m:sub>
                                  <m:sup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(0)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𝜀</m:t>
                                </m:r>
                                <m:r>
                                  <a:rPr lang="en-AU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+0+1</m:t>
                                </m:r>
                              </m:oMath>
                            </m:oMathPara>
                          </a14:m>
                          <a:endParaRPr lang="en-AU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/>
            </p:nvGraphicFramePr>
            <p:xfrm>
              <a:off x="6314300" y="1795192"/>
              <a:ext cx="2590800" cy="182677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95400"/>
                    <a:gridCol w="1295400"/>
                  </a:tblGrid>
                  <a:tr h="4489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</a:blipFill>
                      </a:tcPr>
                    </a:tc>
                  </a:tr>
                  <a:tr h="44958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</a:blipFill>
                      </a:tcPr>
                    </a:tc>
                  </a:tr>
                  <a:tr h="44958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</a:blipFill>
                      </a:tcPr>
                    </a:tc>
                  </a:tr>
                  <a:tr h="44958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2"/>
              <p:cNvSpPr txBox="1"/>
              <p:nvPr/>
            </p:nvSpPr>
            <p:spPr>
              <a:xfrm flipH="1">
                <a:off x="4713573" y="2059526"/>
                <a:ext cx="1524000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sz="2000" b="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AU" sz="2000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sz="2000" dirty="0"/>
                  <a:t>的情况</a:t>
                </a:r>
                <a:r>
                  <a:rPr lang="en-AU" altLang="zh-CN" sz="2000" dirty="0"/>
                  <a:t>(</a:t>
                </a:r>
                <a:r>
                  <a:rPr lang="zh-CN" altLang="en-US" sz="2000" dirty="0"/>
                  <a:t>状态</a:t>
                </a:r>
                <a14:m>
                  <m:oMath xmlns:m="http://schemas.openxmlformats.org/officeDocument/2006/math">
                    <m:r>
                      <a:rPr lang="en-AU" altLang="zh-CN" sz="20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sz="2000" dirty="0"/>
                  <a:t>直接到状态</a:t>
                </a:r>
                <a14:m>
                  <m:oMath xmlns:m="http://schemas.openxmlformats.org/officeDocument/2006/math"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AU" altLang="zh-CN" sz="2000" dirty="0"/>
                  <a:t>):</a:t>
                </a:r>
                <a:endParaRPr lang="en-AU" sz="2000" dirty="0"/>
              </a:p>
            </p:txBody>
          </p:sp>
        </mc:Choice>
        <mc:Fallback xmlns="">
          <p:sp>
            <p:nvSpPr>
              <p:cNvPr id="4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713573" y="2059526"/>
                <a:ext cx="1524000" cy="1015663"/>
              </a:xfrm>
              <a:prstGeom prst="rect">
                <a:avLst/>
              </a:prstGeom>
              <a:blipFill rotWithShape="1">
                <a:blip r:embed="rId7"/>
                <a:stretch>
                  <a:fillRect l="-40" t="-22" r="40" b="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noFill/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2B0978D3-C554-4786-9DCC-3909C514B413}" type="slidenum">
              <a:rPr kumimoji="0" lang="en-US" altLang="zh-CN" sz="1400">
                <a:latin typeface="Arial" panose="020B0604020202020204" pitchFamily="34" charset="0"/>
              </a:rPr>
              <a:t>32</a:t>
            </a:fld>
            <a:endParaRPr kumimoji="0" lang="en-US" altLang="zh-CN" sz="1400"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/>
              <p:cNvSpPr txBox="1"/>
              <p:nvPr/>
            </p:nvSpPr>
            <p:spPr>
              <a:xfrm>
                <a:off x="2148042" y="6224634"/>
                <a:ext cx="4673862" cy="4809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800" b="1" i="1" kern="0" smtClean="0">
                              <a:solidFill>
                                <a:srgbClr val="3333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lang="en-US" altLang="zh-CN" sz="1800" b="1" i="1" kern="0" smtClean="0">
                              <a:solidFill>
                                <a:srgbClr val="3333FF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𝑹</m:t>
                          </m:r>
                        </m:e>
                        <m:sub>
                          <m:r>
                            <a:rPr lang="en-US" altLang="zh-CN" sz="1800" b="1" i="1" kern="0">
                              <a:solidFill>
                                <a:srgbClr val="3333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𝒊𝒋</m:t>
                          </m:r>
                        </m:sub>
                        <m:sup>
                          <m:r>
                            <a:rPr lang="en-US" altLang="zh-CN" sz="1800" b="1" i="1" kern="0" smtClean="0">
                              <a:solidFill>
                                <a:srgbClr val="3333FF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lang="en-US" altLang="zh-CN" sz="1800" b="1" i="1" kern="0" smtClean="0">
                              <a:solidFill>
                                <a:srgbClr val="3333FF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𝒌</m:t>
                          </m:r>
                          <m:r>
                            <a:rPr lang="en-US" altLang="zh-CN" sz="1800" b="1" i="1" kern="0" smtClean="0">
                              <a:solidFill>
                                <a:srgbClr val="3333FF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)</m:t>
                          </m:r>
                        </m:sup>
                      </m:sSubSup>
                      <m:r>
                        <a:rPr lang="en-US" altLang="zh-CN" sz="1800" b="1" i="1" kern="0" smtClean="0">
                          <a:solidFill>
                            <a:srgbClr val="3333FF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=</m:t>
                      </m:r>
                      <m:sSubSup>
                        <m:sSubSupPr>
                          <m:ctrlPr>
                            <a:rPr lang="en-US" altLang="zh-CN" sz="1800" b="1" i="1" kern="0" smtClean="0">
                              <a:solidFill>
                                <a:srgbClr val="3333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lang="en-US" altLang="zh-CN" sz="1800" b="1" i="1" kern="0" smtClean="0">
                              <a:solidFill>
                                <a:srgbClr val="3333FF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𝑹</m:t>
                          </m:r>
                        </m:e>
                        <m:sub>
                          <m:r>
                            <a:rPr lang="en-US" altLang="zh-CN" sz="1800" b="1" i="1" kern="0">
                              <a:solidFill>
                                <a:srgbClr val="3333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𝒊𝒋</m:t>
                          </m:r>
                        </m:sub>
                        <m:sup>
                          <m:r>
                            <a:rPr lang="en-US" altLang="zh-CN" sz="1800" b="1" i="1" kern="0" smtClean="0">
                              <a:solidFill>
                                <a:srgbClr val="3333FF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lang="en-US" altLang="zh-CN" sz="1800" b="1" i="1" kern="0" smtClean="0">
                              <a:solidFill>
                                <a:srgbClr val="3333FF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𝒌</m:t>
                          </m:r>
                          <m:r>
                            <a:rPr lang="en-US" altLang="zh-CN" sz="1800" b="1" i="1" kern="0" smtClean="0">
                              <a:solidFill>
                                <a:srgbClr val="3333FF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−</m:t>
                          </m:r>
                          <m:r>
                            <a:rPr lang="en-US" altLang="zh-CN" sz="1800" b="1" i="1" kern="0" smtClean="0">
                              <a:solidFill>
                                <a:srgbClr val="3333FF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𝟏</m:t>
                          </m:r>
                          <m:r>
                            <a:rPr lang="en-US" altLang="zh-CN" sz="1800" b="1" i="1" kern="0" smtClean="0">
                              <a:solidFill>
                                <a:srgbClr val="3333FF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)</m:t>
                          </m:r>
                        </m:sup>
                      </m:sSubSup>
                      <m:r>
                        <a:rPr lang="en-US" altLang="zh-CN" sz="1800" b="1" i="1" kern="0" smtClean="0">
                          <a:solidFill>
                            <a:srgbClr val="3333FF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∪</m:t>
                      </m:r>
                      <m:sSubSup>
                        <m:sSubSupPr>
                          <m:ctrlPr>
                            <a:rPr lang="en-US" altLang="zh-CN" sz="1800" b="1" i="1" kern="0" smtClean="0">
                              <a:solidFill>
                                <a:srgbClr val="3333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lang="en-US" altLang="zh-CN" sz="1800" b="1" i="1" kern="0" smtClean="0">
                              <a:solidFill>
                                <a:srgbClr val="3333FF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𝑹</m:t>
                          </m:r>
                        </m:e>
                        <m:sub>
                          <m:r>
                            <a:rPr lang="en-US" altLang="zh-CN" sz="1800" b="1" i="1" kern="0">
                              <a:solidFill>
                                <a:srgbClr val="3333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𝒊𝒌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sz="1800" b="1" i="1" kern="0" smtClean="0">
                                  <a:solidFill>
                                    <a:srgbClr val="3333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1800" b="1" i="1" kern="0" smtClean="0">
                                  <a:solidFill>
                                    <a:srgbClr val="3333FF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</a:rPr>
                                <m:t>𝒌</m:t>
                              </m:r>
                              <m:r>
                                <a:rPr lang="en-US" altLang="zh-CN" sz="1800" b="1" i="1" kern="0" smtClean="0">
                                  <a:solidFill>
                                    <a:srgbClr val="3333FF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</a:rPr>
                                <m:t>−</m:t>
                              </m:r>
                              <m:r>
                                <a:rPr lang="en-US" altLang="zh-CN" sz="1800" b="1" i="1" kern="0" smtClean="0">
                                  <a:solidFill>
                                    <a:srgbClr val="3333FF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</a:rPr>
                                <m:t>𝟏</m:t>
                              </m:r>
                            </m:e>
                          </m:d>
                        </m:sup>
                      </m:sSubSup>
                      <m:sSup>
                        <m:sSupPr>
                          <m:ctrlPr>
                            <a:rPr lang="en-US" altLang="zh-CN" sz="1800" b="1" i="1" kern="0" smtClean="0">
                              <a:solidFill>
                                <a:srgbClr val="3333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sSubSup>
                            <m:sSubSupPr>
                              <m:ctrlPr>
                                <a:rPr lang="en-US" altLang="zh-CN" sz="1800" b="1" i="1" kern="0">
                                  <a:solidFill>
                                    <a:srgbClr val="3333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sz="1800" b="1" i="1" kern="0">
                                  <a:solidFill>
                                    <a:srgbClr val="3333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(</m:t>
                              </m:r>
                              <m:r>
                                <a:rPr lang="en-US" altLang="zh-CN" sz="1800" b="1" i="1" kern="0">
                                  <a:solidFill>
                                    <a:srgbClr val="3333FF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altLang="zh-CN" sz="1800" b="1" i="1" kern="0">
                                  <a:solidFill>
                                    <a:srgbClr val="3333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𝒌𝒌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zh-CN" sz="1800" b="1" i="1" kern="0">
                                      <a:solidFill>
                                        <a:srgbClr val="3333FF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800" b="1" i="1" kern="0">
                                      <a:solidFill>
                                        <a:srgbClr val="3333FF"/>
                                      </a:solidFill>
                                      <a:latin typeface="Cambria Math" panose="02040503050406030204"/>
                                      <a:ea typeface="黑体" panose="02010609060101010101" pitchFamily="49" charset="-122"/>
                                    </a:rPr>
                                    <m:t>𝒌</m:t>
                                  </m:r>
                                  <m:r>
                                    <a:rPr lang="en-US" altLang="zh-CN" sz="1800" b="1" i="1" kern="0">
                                      <a:solidFill>
                                        <a:srgbClr val="3333FF"/>
                                      </a:solidFill>
                                      <a:latin typeface="Cambria Math" panose="02040503050406030204"/>
                                      <a:ea typeface="黑体" panose="02010609060101010101" pitchFamily="49" charset="-122"/>
                                    </a:rPr>
                                    <m:t>−</m:t>
                                  </m:r>
                                  <m:r>
                                    <a:rPr lang="en-US" altLang="zh-CN" sz="1800" b="1" i="1" kern="0">
                                      <a:solidFill>
                                        <a:srgbClr val="3333FF"/>
                                      </a:solidFill>
                                      <a:latin typeface="Cambria Math" panose="02040503050406030204"/>
                                      <a:ea typeface="黑体" panose="02010609060101010101" pitchFamily="49" charset="-122"/>
                                    </a:rPr>
                                    <m:t>𝟏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altLang="zh-CN" sz="1800" b="1" i="1" kern="0">
                              <a:solidFill>
                                <a:srgbClr val="3333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)</m:t>
                          </m:r>
                        </m:e>
                        <m:sup>
                          <m:r>
                            <a:rPr lang="en-US" altLang="zh-CN" sz="1800" b="1" i="1" kern="0" smtClean="0">
                              <a:solidFill>
                                <a:srgbClr val="3333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∗</m:t>
                          </m:r>
                        </m:sup>
                      </m:sSup>
                      <m:sSubSup>
                        <m:sSubSupPr>
                          <m:ctrlPr>
                            <a:rPr lang="en-US" altLang="zh-CN" sz="1800" b="1" i="1" kern="0" smtClean="0">
                              <a:solidFill>
                                <a:srgbClr val="3333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lang="en-US" altLang="zh-CN" sz="1800" b="1" i="1" kern="0" smtClean="0">
                              <a:solidFill>
                                <a:srgbClr val="3333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 </m:t>
                          </m:r>
                          <m:r>
                            <a:rPr lang="en-US" altLang="zh-CN" sz="1800" b="1" i="1" kern="0" smtClean="0">
                              <a:solidFill>
                                <a:srgbClr val="3333FF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𝑹</m:t>
                          </m:r>
                        </m:e>
                        <m:sub>
                          <m:r>
                            <a:rPr lang="en-US" altLang="zh-CN" sz="1800" b="1" i="1" kern="0">
                              <a:solidFill>
                                <a:srgbClr val="3333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𝒌𝒋</m:t>
                          </m:r>
                        </m:sub>
                        <m:sup>
                          <m:r>
                            <a:rPr lang="en-US" altLang="zh-CN" sz="1800" b="1" i="1" kern="0" smtClean="0">
                              <a:solidFill>
                                <a:srgbClr val="3333FF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lang="en-US" altLang="zh-CN" sz="1800" b="1" i="1" kern="0" smtClean="0">
                              <a:solidFill>
                                <a:srgbClr val="3333FF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𝒌</m:t>
                          </m:r>
                          <m:r>
                            <a:rPr lang="en-US" altLang="zh-CN" sz="1800" b="1" i="1" kern="0" smtClean="0">
                              <a:solidFill>
                                <a:srgbClr val="3333FF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−</m:t>
                          </m:r>
                          <m:r>
                            <a:rPr lang="en-US" altLang="zh-CN" sz="1800" b="1" i="1" kern="0" smtClean="0">
                              <a:solidFill>
                                <a:srgbClr val="3333FF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𝟏</m:t>
                          </m:r>
                          <m:r>
                            <a:rPr lang="en-US" altLang="zh-CN" sz="1800" b="1" i="1" kern="0" smtClean="0">
                              <a:solidFill>
                                <a:srgbClr val="3333FF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8042" y="6224634"/>
                <a:ext cx="4673862" cy="480966"/>
              </a:xfrm>
              <a:prstGeom prst="rect">
                <a:avLst/>
              </a:prstGeom>
              <a:blipFill rotWithShape="1">
                <a:blip r:embed="rId8"/>
                <a:stretch>
                  <a:fillRect l="-10" t="-76" r="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DFA</a:t>
            </a:r>
            <a:r>
              <a:rPr lang="en-US" altLang="zh-CN" dirty="0"/>
              <a:t>-&gt;</a:t>
            </a:r>
            <a:r>
              <a:rPr lang="zh-CN" altLang="en-US" dirty="0"/>
              <a:t>正则表达式示例</a:t>
            </a:r>
            <a:endParaRPr kumimoji="0"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293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991473"/>
            <a:ext cx="8229600" cy="4525963"/>
          </a:xfrm>
        </p:spPr>
        <p:txBody>
          <a:bodyPr>
            <a:normAutofit/>
          </a:bodyPr>
          <a:lstStyle/>
          <a:p>
            <a:pPr algn="just"/>
            <a:r>
              <a:rPr kumimoji="0" lang="zh-CN" altLang="en-US" sz="2800" dirty="0"/>
              <a:t>把下图所示</a:t>
            </a:r>
            <a:r>
              <a:rPr kumimoji="0"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DFA</a:t>
            </a:r>
            <a:r>
              <a:rPr kumimoji="0" lang="zh-CN" altLang="en-US" sz="2800" dirty="0"/>
              <a:t>转换为正则表达式</a:t>
            </a:r>
            <a:r>
              <a:rPr lang="zh-CN" altLang="en-US" dirty="0"/>
              <a:t>。</a:t>
            </a:r>
            <a:r>
              <a:rPr kumimoji="0" lang="zh-CN" altLang="en-US" sz="2800" dirty="0"/>
              <a:t>这个</a:t>
            </a:r>
            <a:r>
              <a:rPr kumimoji="0"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DFA</a:t>
            </a:r>
            <a:r>
              <a:rPr kumimoji="0" lang="zh-CN" altLang="en-US" sz="2800" dirty="0"/>
              <a:t>接受至少含有一个</a:t>
            </a:r>
            <a:r>
              <a:rPr kumimoji="0" lang="en-US" altLang="zh-CN" sz="2800" dirty="0"/>
              <a:t>0 </a:t>
            </a:r>
            <a:r>
              <a:rPr kumimoji="0" lang="zh-CN" altLang="en-US" sz="2800" dirty="0"/>
              <a:t>的串。</a:t>
            </a:r>
            <a:endParaRPr kumimoji="0" lang="en-US" altLang="zh-CN" sz="2800" dirty="0"/>
          </a:p>
        </p:txBody>
      </p:sp>
      <p:sp>
        <p:nvSpPr>
          <p:cNvPr id="1229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en-US">
              <a:latin typeface="Times New Roman" panose="02020603050405020304" pitchFamily="18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33798" name="对象 1"/>
          <p:cNvGraphicFramePr>
            <a:graphicFrameLocks noChangeAspect="1"/>
          </p:cNvGraphicFramePr>
          <p:nvPr/>
        </p:nvGraphicFramePr>
        <p:xfrm>
          <a:off x="838200" y="2263061"/>
          <a:ext cx="2035175" cy="1014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7" name="Visio" r:id="rId7" imgW="1879600" imgH="863600" progId="Visio.Drawing.11">
                  <p:embed/>
                </p:oleObj>
              </mc:Choice>
              <mc:Fallback>
                <p:oleObj name="Visio" r:id="rId7" imgW="1879600" imgH="863600" progId="Visio.Drawing.11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2263061"/>
                        <a:ext cx="2035175" cy="1014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custDataLst>
                  <p:tags r:id="rId2"/>
                </p:custDataLst>
              </p:nvPr>
            </p:nvGraphicFramePr>
            <p:xfrm>
              <a:off x="6325127" y="1795192"/>
              <a:ext cx="2590800" cy="182677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954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2954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AU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1,1</m:t>
                                    </m:r>
                                  </m:sub>
                                  <m:sup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(0)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𝜀</m:t>
                                </m:r>
                                <m:r>
                                  <a:rPr lang="en-AU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oMath>
                            </m:oMathPara>
                          </a14:m>
                          <a:endParaRPr lang="en-AU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AU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1,2</m:t>
                                    </m:r>
                                  </m:sub>
                                  <m:sup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(0)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AU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AU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2,1</m:t>
                                    </m:r>
                                  </m:sub>
                                  <m:sup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(0)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∅</m:t>
                                </m:r>
                              </m:oMath>
                            </m:oMathPara>
                          </a14:m>
                          <a:endParaRPr lang="en-AU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AU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2,2</m:t>
                                    </m:r>
                                  </m:sub>
                                  <m:sup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(0)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𝜀</m:t>
                                </m:r>
                                <m:r>
                                  <a:rPr lang="en-AU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+0+1</m:t>
                                </m:r>
                              </m:oMath>
                            </m:oMathPara>
                          </a14:m>
                          <a:endParaRPr lang="en-AU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custDataLst>
                  <p:tags r:id="rId9"/>
                </p:custDataLst>
              </p:nvPr>
            </p:nvGraphicFramePr>
            <p:xfrm>
              <a:off x="6325127" y="1795192"/>
              <a:ext cx="2590800" cy="182677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95400"/>
                    <a:gridCol w="1295400"/>
                  </a:tblGrid>
                  <a:tr h="4489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10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10"/>
                        </a:blipFill>
                      </a:tcPr>
                    </a:tc>
                  </a:tr>
                  <a:tr h="44958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10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10"/>
                        </a:blipFill>
                      </a:tcPr>
                    </a:tc>
                  </a:tr>
                  <a:tr h="44958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10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10"/>
                        </a:blipFill>
                      </a:tcPr>
                    </a:tc>
                  </a:tr>
                  <a:tr h="44958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10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10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2"/>
              <p:cNvGraphicFramePr>
                <a:graphicFrameLocks noGrp="1"/>
              </p:cNvGraphicFramePr>
              <p:nvPr>
                <p:custDataLst>
                  <p:tags r:id="rId3"/>
                </p:custDataLst>
              </p:nvPr>
            </p:nvGraphicFramePr>
            <p:xfrm>
              <a:off x="152400" y="4037138"/>
              <a:ext cx="3733800" cy="182677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6007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17373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AU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1,1</m:t>
                                    </m:r>
                                  </m:sub>
                                  <m:sup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AU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  <m:r>
                                <a:rPr lang="en-AU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+1+(</m:t>
                              </m:r>
                              <m:r>
                                <a:rPr lang="en-AU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  <m:r>
                                <a:rPr lang="en-AU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+1)</m:t>
                              </m:r>
                              <m:sSup>
                                <m:sSupPr>
                                  <m:ctrlPr>
                                    <a:rPr lang="en-AU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AU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AU" sz="14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𝜀</m:t>
                                      </m:r>
                                      <m:r>
                                        <a:rPr lang="en-AU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+1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AU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en-AU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AU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  <m:r>
                                <a:rPr lang="en-AU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+1)</m:t>
                              </m:r>
                            </m:oMath>
                          </a14:m>
                          <a:r>
                            <a:rPr lang="en-US" altLang="en-AU" sz="1400" b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=1*</a:t>
                          </a:r>
                          <a:endParaRPr lang="en-US" altLang="en-AU" sz="14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AU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1,2</m:t>
                                    </m:r>
                                  </m:sub>
                                  <m:sup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AU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0+(</m:t>
                              </m:r>
                              <m:r>
                                <a:rPr lang="en-AU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  <m:r>
                                <a:rPr lang="en-AU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+1)</m:t>
                              </m:r>
                              <m:sSup>
                                <m:sSupPr>
                                  <m:ctrlPr>
                                    <a:rPr lang="en-AU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AU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AU" sz="14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𝜀</m:t>
                                      </m:r>
                                      <m:r>
                                        <a:rPr lang="en-AU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+1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AU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en-AU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oMath>
                          </a14:m>
                          <a:r>
                            <a:rPr lang="en-US" altLang="en-AU" sz="1400" b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=1*0</a:t>
                          </a:r>
                          <a:endParaRPr lang="en-US" altLang="en-AU" sz="14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AU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2,1</m:t>
                                    </m:r>
                                  </m:sub>
                                  <m:sup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AU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∅</m:t>
                              </m:r>
                              <m:r>
                                <a:rPr lang="en-AU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AU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∅</m:t>
                              </m:r>
                              <m:sSup>
                                <m:sSupPr>
                                  <m:ctrlPr>
                                    <a:rPr lang="en-AU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AU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AU" sz="14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𝜀</m:t>
                                      </m:r>
                                      <m:r>
                                        <a:rPr lang="en-AU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+1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AU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en-AU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AU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  <m:r>
                                <a:rPr lang="en-AU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+1)</m:t>
                              </m:r>
                            </m:oMath>
                          </a14:m>
                          <a:r>
                            <a:rPr lang="en-US" altLang="en-AU" sz="1400" b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=</a:t>
                          </a:r>
                          <a14:m>
                            <m:oMath xmlns:m="http://schemas.openxmlformats.org/officeDocument/2006/math">
                              <m:r>
                                <a:rPr lang="en-AU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∅</m:t>
                              </m:r>
                            </m:oMath>
                          </a14:m>
                          <a:endParaRPr lang="en-US" altLang="en-AU" sz="14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AU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2,2</m:t>
                                    </m:r>
                                  </m:sub>
                                  <m:sup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AU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  <m:r>
                                <a:rPr lang="en-AU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+0+1+</m:t>
                              </m:r>
                              <m:r>
                                <a:rPr lang="en-AU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∅</m:t>
                              </m:r>
                              <m:sSup>
                                <m:sSupPr>
                                  <m:ctrlPr>
                                    <a:rPr lang="en-AU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AU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AU" sz="14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𝜀</m:t>
                                      </m:r>
                                      <m:r>
                                        <a:rPr lang="en-AU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+1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AU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en-AU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oMath>
                          </a14:m>
                          <a:r>
                            <a:rPr lang="en-US" altLang="en-AU" sz="1400" b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=</a:t>
                          </a:r>
                          <a14:m>
                            <m:oMath xmlns:m="http://schemas.openxmlformats.org/officeDocument/2006/math">
                              <m:r>
                                <a:rPr lang="en-AU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  <m:r>
                                <a:rPr lang="en-AU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+0+1</m:t>
                              </m:r>
                            </m:oMath>
                          </a14:m>
                          <a:endParaRPr lang="en-US" altLang="en-AU" sz="14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2"/>
              <p:cNvGraphicFramePr>
                <a:graphicFrameLocks noGrp="1"/>
              </p:cNvGraphicFramePr>
              <p:nvPr>
                <p:custDataLst>
                  <p:tags r:id="rId11"/>
                </p:custDataLst>
              </p:nvPr>
            </p:nvGraphicFramePr>
            <p:xfrm>
              <a:off x="152400" y="4037138"/>
              <a:ext cx="3733800" cy="182677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60070"/>
                    <a:gridCol w="3173730"/>
                  </a:tblGrid>
                  <a:tr h="4489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1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12"/>
                        </a:blipFill>
                      </a:tcPr>
                    </a:tc>
                  </a:tr>
                  <a:tr h="44958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1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12"/>
                        </a:blipFill>
                      </a:tcPr>
                    </a:tc>
                  </a:tr>
                  <a:tr h="44958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1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12"/>
                        </a:blipFill>
                      </a:tcPr>
                    </a:tc>
                  </a:tr>
                  <a:tr h="44958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1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12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Table 2"/>
              <p:cNvGraphicFramePr>
                <a:graphicFrameLocks noGrp="1"/>
              </p:cNvGraphicFramePr>
              <p:nvPr>
                <p:custDataLst>
                  <p:tags r:id="rId4"/>
                </p:custDataLst>
              </p:nvPr>
            </p:nvGraphicFramePr>
            <p:xfrm>
              <a:off x="4354227" y="4037138"/>
              <a:ext cx="4572000" cy="188677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858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8862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AU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1,1</m:t>
                                    </m:r>
                                  </m:sub>
                                  <m:sup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(2)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AU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AU" sz="1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sup>
                                  <m:r>
                                    <a:rPr lang="en-AU" sz="1400" b="0" i="1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en-AU" sz="1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AU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AU" sz="1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sup>
                                  <m:r>
                                    <a:rPr lang="en-AU" sz="1400" b="0" i="1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en-AU" sz="1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sSup>
                                <m:sSupPr>
                                  <m:ctrlPr>
                                    <a:rPr lang="en-AU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AU" sz="14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AU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𝜀</m:t>
                                  </m:r>
                                  <m:r>
                                    <a:rPr lang="en-AU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+0+1)</m:t>
                                  </m:r>
                                </m:e>
                                <m:sup>
                                  <m:r>
                                    <a:rPr lang="en-AU" sz="1400" b="0" i="1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en-AU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∅</m:t>
                              </m:r>
                            </m:oMath>
                          </a14:m>
                          <a:r>
                            <a:rPr lang="en-US" altLang="en-AU" sz="1400" b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=1*</a:t>
                          </a:r>
                          <a:endParaRPr lang="en-US" altLang="en-AU" sz="14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431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AU" sz="18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AU" sz="18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𝑹</m:t>
                                    </m:r>
                                  </m:e>
                                  <m:sub>
                                    <m:r>
                                      <a:rPr lang="en-AU" sz="18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AU" sz="18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AU" sz="18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  <m:sup>
                                    <m:r>
                                      <a:rPr lang="en-AU" sz="18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AU" sz="18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AU" sz="18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AU" sz="18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AU" altLang="zh-CN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AU" altLang="zh-CN" sz="1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sup>
                                  <m:r>
                                    <a:rPr lang="en-AU" altLang="zh-CN" sz="1400" b="0" i="1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en-AU" altLang="zh-CN" sz="1400" b="0" i="1" smtClean="0">
                                  <a:latin typeface="Cambria Math" panose="02040503050406030204" pitchFamily="18" charset="0"/>
                                </a:rPr>
                                <m:t>0+</m:t>
                              </m:r>
                              <m:sSup>
                                <m:sSupPr>
                                  <m:ctrlPr>
                                    <a:rPr lang="en-AU" altLang="zh-CN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AU" altLang="zh-CN" sz="1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sup>
                                  <m:r>
                                    <a:rPr lang="en-AU" altLang="zh-CN" sz="1400" b="0" i="1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en-AU" altLang="zh-CN" sz="1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sSup>
                                <m:sSupPr>
                                  <m:ctrlPr>
                                    <a:rPr lang="en-AU" altLang="zh-CN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AU" altLang="zh-CN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AU" altLang="zh-CN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𝜀</m:t>
                                      </m:r>
                                      <m:r>
                                        <a:rPr lang="en-AU" altLang="zh-CN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+0+1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AU" altLang="zh-CN" sz="1400" b="0" i="1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en-AU" altLang="zh-CN" sz="1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AU" altLang="zh-C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  <m:r>
                                <a:rPr lang="en-AU" altLang="zh-C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+0+1)</m:t>
                              </m:r>
                            </m:oMath>
                          </a14:m>
                          <a:r>
                            <a:rPr lang="en-US" altLang="en-AU" sz="1400" b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=</a:t>
                          </a:r>
                          <a:r>
                            <a:rPr lang="en-US" altLang="en-AU" sz="1400" b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1*0(0+1)*</a:t>
                          </a:r>
                          <a:endParaRPr lang="en-US" altLang="en-AU" sz="1400" b="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AU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2,1</m:t>
                                    </m:r>
                                  </m:sub>
                                  <m:sup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(2)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AU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∅</m:t>
                              </m:r>
                              <m:r>
                                <a:rPr lang="en-AU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+(</m:t>
                              </m:r>
                              <m:r>
                                <a:rPr lang="en-AU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  <m:r>
                                <a:rPr lang="en-AU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+0+1)</m:t>
                              </m:r>
                              <m:r>
                                <a:rPr lang="en-AU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sSup>
                                <m:sSupPr>
                                  <m:ctrlPr>
                                    <a:rPr lang="en-AU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AU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AU" sz="14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𝜀</m:t>
                                      </m:r>
                                      <m:r>
                                        <a:rPr lang="en-AU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+0+1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AU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en-AU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∅</m:t>
                              </m:r>
                            </m:oMath>
                          </a14:m>
                          <a:r>
                            <a:rPr lang="en-US" altLang="en-AU" sz="1400" b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=</a:t>
                          </a:r>
                          <a14:m>
                            <m:oMath xmlns:m="http://schemas.openxmlformats.org/officeDocument/2006/math">
                              <m:r>
                                <a:rPr lang="en-AU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∅</m:t>
                              </m:r>
                            </m:oMath>
                          </a14:m>
                          <a:endParaRPr lang="en-US" altLang="en-AU" sz="1400" b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AU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2,2</m:t>
                                    </m:r>
                                  </m:sub>
                                  <m:sup>
                                    <m:r>
                                      <a:rPr lang="en-AU" sz="1800" b="0" i="1" smtClean="0">
                                        <a:latin typeface="Cambria Math" panose="02040503050406030204" pitchFamily="18" charset="0"/>
                                      </a:rPr>
                                      <m:t>(2)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AU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AU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  <m:r>
                                <a:rPr lang="en-AU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+0+1+</m:t>
                              </m:r>
                              <m:d>
                                <m:dPr>
                                  <m:ctrlPr>
                                    <a:rPr lang="en-AU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AU" sz="14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𝜀</m:t>
                                  </m:r>
                                  <m:r>
                                    <a:rPr lang="en-AU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+0+1</m:t>
                                  </m:r>
                                </m:e>
                              </m:d>
                              <m:sSup>
                                <m:sSupPr>
                                  <m:ctrlPr>
                                    <a:rPr lang="en-AU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AU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AU" sz="14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𝜀</m:t>
                                      </m:r>
                                      <m:r>
                                        <a:rPr lang="en-AU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+0+1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AU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en-AU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AU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  <m:r>
                                <a:rPr lang="en-AU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+0+1</m:t>
                              </m:r>
                            </m:oMath>
                          </a14:m>
                          <a:r>
                            <a:rPr lang="en-AU" sz="1400" dirty="0"/>
                            <a:t>)</a:t>
                          </a:r>
                          <a:r>
                            <a:rPr lang="en-US" altLang="en-AU" sz="1400" dirty="0"/>
                            <a:t>=(0+1)*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Table 2"/>
              <p:cNvGraphicFramePr>
                <a:graphicFrameLocks noGrp="1"/>
              </p:cNvGraphicFramePr>
              <p:nvPr>
                <p:custDataLst>
                  <p:tags r:id="rId13"/>
                </p:custDataLst>
              </p:nvPr>
            </p:nvGraphicFramePr>
            <p:xfrm>
              <a:off x="4354227" y="4037138"/>
              <a:ext cx="4572000" cy="183026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85800"/>
                    <a:gridCol w="3886200"/>
                  </a:tblGrid>
                  <a:tr h="44894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1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14"/>
                        </a:blipFill>
                      </a:tcPr>
                    </a:tc>
                  </a:tr>
                  <a:tr h="45275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1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14"/>
                        </a:blipFill>
                      </a:tcPr>
                    </a:tc>
                  </a:tr>
                  <a:tr h="44958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1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14"/>
                        </a:blipFill>
                      </a:tcPr>
                    </a:tc>
                  </a:tr>
                  <a:tr h="51816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14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14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276600" y="2111917"/>
                <a:ext cx="4572000" cy="14773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简化规则：</a:t>
                </a:r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+E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</a:t>
                </a:r>
                <a:r>
                  <a:rPr lang="en-US" altLang="zh-CN" baseline="30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*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=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+E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)</a:t>
                </a:r>
                <a:r>
                  <a:rPr lang="en-US" altLang="zh-CN" baseline="30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+</a:t>
                </a:r>
                <a:r>
                  <a:rPr lang="en-US" altLang="zh-CN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=E</a:t>
                </a:r>
                <a:r>
                  <a:rPr lang="en-US" altLang="zh-CN" baseline="30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*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𝐸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𝐸</m:t>
                        </m:r>
                      </m:e>
                      <m: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𝐸</m:t>
                        </m:r>
                      </m:e>
                      <m: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baseline="30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*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𝐸</m:t>
                        </m:r>
                      </m:e>
                      <m: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𝐸</m:t>
                        </m:r>
                      </m:e>
                      <m:sub>
                        <m:r>
                          <a:rPr lang="en-AU" altLang="zh-CN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2</m:t>
                        </m:r>
                      </m:sub>
                    </m:sSub>
                    <m:r>
                      <m:rPr>
                        <m:nor/>
                      </m:rPr>
                      <a:rPr lang="en-US" altLang="zh-CN" baseline="30000" dirty="0"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∗</m:t>
                    </m:r>
                  </m:oMath>
                </a14:m>
                <a:endParaRPr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∅</m:t>
                    </m:r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𝐸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1</m:t>
                        </m:r>
                      </m:sub>
                    </m:sSub>
                    <m:r>
                      <a:rPr lang="en-AU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 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=</a:t>
                </a:r>
                <a14:m>
                  <m:oMath xmlns:m="http://schemas.openxmlformats.org/officeDocument/2006/math">
                    <m:r>
                      <a:rPr lang="en-AU" altLang="zh-CN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 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𝐸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∅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∅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（零元）</a:t>
                </a:r>
                <a:endParaRPr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∅</m:t>
                    </m:r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𝐸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1</m:t>
                        </m:r>
                      </m:sub>
                    </m:sSub>
                    <m:r>
                      <a:rPr lang="en-AU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 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=</a:t>
                </a:r>
                <a:r>
                  <a:rPr lang="en-US" altLang="zh-CN" dirty="0"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𝐸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1</m:t>
                        </m:r>
                      </m:sub>
                    </m:sSub>
                    <m:r>
                      <a:rPr lang="en-AU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∅</m:t>
                    </m:r>
                    <m:r>
                      <a:rPr lang="en-AU" altLang="zh-C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𝐸</m:t>
                        </m:r>
                      </m:e>
                      <m:sub>
                        <m:r>
                          <a:rPr lang="en-AU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1</m:t>
                        </m:r>
                      </m:sub>
                    </m:sSub>
                    <m:r>
                      <a:rPr lang="en-AU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 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（单位元）</a:t>
                </a:r>
                <a:endParaRPr lang="en-US" altLang="zh-CN" baseline="300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2111917"/>
                <a:ext cx="4572000" cy="1477328"/>
              </a:xfrm>
              <a:prstGeom prst="rect">
                <a:avLst/>
              </a:prstGeom>
              <a:blipFill rotWithShape="1">
                <a:blip r:embed="rId15"/>
                <a:stretch>
                  <a:fillRect t="-37" b="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noFill/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2B0978D3-C554-4786-9DCC-3909C514B413}" type="slidenum">
              <a:rPr kumimoji="0" lang="en-US" altLang="zh-CN" sz="1400">
                <a:latin typeface="Arial" panose="020B0604020202020204" pitchFamily="34" charset="0"/>
              </a:rPr>
              <a:t>33</a:t>
            </a:fld>
            <a:endParaRPr kumimoji="0" lang="en-US" altLang="zh-CN" sz="1400"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/>
              <p:cNvSpPr txBox="1"/>
              <p:nvPr/>
            </p:nvSpPr>
            <p:spPr>
              <a:xfrm>
                <a:off x="2158869" y="6224634"/>
                <a:ext cx="4673862" cy="4809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800" b="1" i="1" kern="0" smtClean="0">
                              <a:solidFill>
                                <a:srgbClr val="3333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lang="en-US" altLang="zh-CN" sz="1800" b="1" i="1" kern="0" smtClean="0">
                              <a:solidFill>
                                <a:srgbClr val="3333FF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𝑹</m:t>
                          </m:r>
                        </m:e>
                        <m:sub>
                          <m:r>
                            <a:rPr lang="en-US" altLang="zh-CN" sz="1800" b="1" i="1" kern="0">
                              <a:solidFill>
                                <a:srgbClr val="3333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𝒊𝒋</m:t>
                          </m:r>
                        </m:sub>
                        <m:sup>
                          <m:r>
                            <a:rPr lang="en-US" altLang="zh-CN" sz="1800" b="1" i="1" kern="0" smtClean="0">
                              <a:solidFill>
                                <a:srgbClr val="3333FF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lang="en-US" altLang="zh-CN" sz="1800" b="1" i="1" kern="0" smtClean="0">
                              <a:solidFill>
                                <a:srgbClr val="3333FF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𝒌</m:t>
                          </m:r>
                          <m:r>
                            <a:rPr lang="en-US" altLang="zh-CN" sz="1800" b="1" i="1" kern="0" smtClean="0">
                              <a:solidFill>
                                <a:srgbClr val="3333FF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)</m:t>
                          </m:r>
                        </m:sup>
                      </m:sSubSup>
                      <m:r>
                        <a:rPr lang="en-US" altLang="zh-CN" sz="1800" b="1" i="1" kern="0" smtClean="0">
                          <a:solidFill>
                            <a:srgbClr val="3333FF"/>
                          </a:solidFill>
                          <a:latin typeface="Cambria Math" panose="02040503050406030204"/>
                          <a:ea typeface="黑体" panose="02010609060101010101" pitchFamily="49" charset="-122"/>
                        </a:rPr>
                        <m:t>=</m:t>
                      </m:r>
                      <m:sSubSup>
                        <m:sSubSupPr>
                          <m:ctrlPr>
                            <a:rPr lang="en-US" altLang="zh-CN" sz="1800" b="1" i="1" kern="0" smtClean="0">
                              <a:solidFill>
                                <a:srgbClr val="3333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lang="en-US" altLang="zh-CN" sz="1800" b="1" i="1" kern="0" smtClean="0">
                              <a:solidFill>
                                <a:srgbClr val="3333FF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𝑹</m:t>
                          </m:r>
                        </m:e>
                        <m:sub>
                          <m:r>
                            <a:rPr lang="en-US" altLang="zh-CN" sz="1800" b="1" i="1" kern="0">
                              <a:solidFill>
                                <a:srgbClr val="3333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𝒊𝒋</m:t>
                          </m:r>
                        </m:sub>
                        <m:sup>
                          <m:r>
                            <a:rPr lang="en-US" altLang="zh-CN" sz="1800" b="1" i="1" kern="0" smtClean="0">
                              <a:solidFill>
                                <a:srgbClr val="3333FF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lang="en-US" altLang="zh-CN" sz="1800" b="1" i="1" kern="0" smtClean="0">
                              <a:solidFill>
                                <a:srgbClr val="3333FF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𝒌</m:t>
                          </m:r>
                          <m:r>
                            <a:rPr lang="en-US" altLang="zh-CN" sz="1800" b="1" i="1" kern="0" smtClean="0">
                              <a:solidFill>
                                <a:srgbClr val="3333FF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−</m:t>
                          </m:r>
                          <m:r>
                            <a:rPr lang="en-US" altLang="zh-CN" sz="1800" b="1" i="1" kern="0" smtClean="0">
                              <a:solidFill>
                                <a:srgbClr val="3333FF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𝟏</m:t>
                          </m:r>
                          <m:r>
                            <a:rPr lang="en-US" altLang="zh-CN" sz="1800" b="1" i="1" kern="0" smtClean="0">
                              <a:solidFill>
                                <a:srgbClr val="3333FF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)</m:t>
                          </m:r>
                        </m:sup>
                      </m:sSubSup>
                      <m:r>
                        <a:rPr lang="en-US" altLang="zh-CN" sz="1800" b="1" i="1" kern="0" smtClean="0">
                          <a:solidFill>
                            <a:srgbClr val="3333FF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∪</m:t>
                      </m:r>
                      <m:sSubSup>
                        <m:sSubSupPr>
                          <m:ctrlPr>
                            <a:rPr lang="en-US" altLang="zh-CN" sz="1800" b="1" i="1" kern="0" smtClean="0">
                              <a:solidFill>
                                <a:srgbClr val="3333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lang="en-US" altLang="zh-CN" sz="1800" b="1" i="1" kern="0" smtClean="0">
                              <a:solidFill>
                                <a:srgbClr val="3333FF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𝑹</m:t>
                          </m:r>
                        </m:e>
                        <m:sub>
                          <m:r>
                            <a:rPr lang="en-US" altLang="zh-CN" sz="1800" b="1" i="1" kern="0">
                              <a:solidFill>
                                <a:srgbClr val="3333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𝒊𝒌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sz="1800" b="1" i="1" kern="0" smtClean="0">
                                  <a:solidFill>
                                    <a:srgbClr val="3333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1800" b="1" i="1" kern="0" smtClean="0">
                                  <a:solidFill>
                                    <a:srgbClr val="3333FF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</a:rPr>
                                <m:t>𝒌</m:t>
                              </m:r>
                              <m:r>
                                <a:rPr lang="en-US" altLang="zh-CN" sz="1800" b="1" i="1" kern="0" smtClean="0">
                                  <a:solidFill>
                                    <a:srgbClr val="3333FF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</a:rPr>
                                <m:t>−</m:t>
                              </m:r>
                              <m:r>
                                <a:rPr lang="en-US" altLang="zh-CN" sz="1800" b="1" i="1" kern="0" smtClean="0">
                                  <a:solidFill>
                                    <a:srgbClr val="3333FF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</a:rPr>
                                <m:t>𝟏</m:t>
                              </m:r>
                            </m:e>
                          </m:d>
                        </m:sup>
                      </m:sSubSup>
                      <m:sSup>
                        <m:sSupPr>
                          <m:ctrlPr>
                            <a:rPr lang="en-US" altLang="zh-CN" sz="1800" b="1" i="1" kern="0" smtClean="0">
                              <a:solidFill>
                                <a:srgbClr val="3333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sSubSup>
                            <m:sSubSupPr>
                              <m:ctrlPr>
                                <a:rPr lang="en-US" altLang="zh-CN" sz="1800" b="1" i="1" kern="0">
                                  <a:solidFill>
                                    <a:srgbClr val="3333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sz="1800" b="1" i="1" kern="0">
                                  <a:solidFill>
                                    <a:srgbClr val="3333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(</m:t>
                              </m:r>
                              <m:r>
                                <a:rPr lang="en-US" altLang="zh-CN" sz="1800" b="1" i="1" kern="0">
                                  <a:solidFill>
                                    <a:srgbClr val="3333FF"/>
                                  </a:solidFill>
                                  <a:latin typeface="Cambria Math" panose="02040503050406030204"/>
                                  <a:ea typeface="黑体" panose="02010609060101010101" pitchFamily="49" charset="-122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altLang="zh-CN" sz="1800" b="1" i="1" kern="0">
                                  <a:solidFill>
                                    <a:srgbClr val="3333FF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𝒌𝒌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zh-CN" sz="1800" b="1" i="1" kern="0">
                                      <a:solidFill>
                                        <a:srgbClr val="3333FF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800" b="1" i="1" kern="0">
                                      <a:solidFill>
                                        <a:srgbClr val="3333FF"/>
                                      </a:solidFill>
                                      <a:latin typeface="Cambria Math" panose="02040503050406030204"/>
                                      <a:ea typeface="黑体" panose="02010609060101010101" pitchFamily="49" charset="-122"/>
                                    </a:rPr>
                                    <m:t>𝒌</m:t>
                                  </m:r>
                                  <m:r>
                                    <a:rPr lang="en-US" altLang="zh-CN" sz="1800" b="1" i="1" kern="0">
                                      <a:solidFill>
                                        <a:srgbClr val="3333FF"/>
                                      </a:solidFill>
                                      <a:latin typeface="Cambria Math" panose="02040503050406030204"/>
                                      <a:ea typeface="黑体" panose="02010609060101010101" pitchFamily="49" charset="-122"/>
                                    </a:rPr>
                                    <m:t>−</m:t>
                                  </m:r>
                                  <m:r>
                                    <a:rPr lang="en-US" altLang="zh-CN" sz="1800" b="1" i="1" kern="0">
                                      <a:solidFill>
                                        <a:srgbClr val="3333FF"/>
                                      </a:solidFill>
                                      <a:latin typeface="Cambria Math" panose="02040503050406030204"/>
                                      <a:ea typeface="黑体" panose="02010609060101010101" pitchFamily="49" charset="-122"/>
                                    </a:rPr>
                                    <m:t>𝟏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altLang="zh-CN" sz="1800" b="1" i="1" kern="0">
                              <a:solidFill>
                                <a:srgbClr val="3333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)</m:t>
                          </m:r>
                        </m:e>
                        <m:sup>
                          <m:r>
                            <a:rPr lang="en-US" altLang="zh-CN" sz="1800" b="1" i="1" kern="0" smtClean="0">
                              <a:solidFill>
                                <a:srgbClr val="3333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∗</m:t>
                          </m:r>
                        </m:sup>
                      </m:sSup>
                      <m:sSubSup>
                        <m:sSubSupPr>
                          <m:ctrlPr>
                            <a:rPr lang="en-US" altLang="zh-CN" sz="1800" b="1" i="1" kern="0" smtClean="0">
                              <a:solidFill>
                                <a:srgbClr val="3333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lang="en-US" altLang="zh-CN" sz="1800" b="1" i="1" kern="0" smtClean="0">
                              <a:solidFill>
                                <a:srgbClr val="3333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 </m:t>
                          </m:r>
                          <m:r>
                            <a:rPr lang="en-US" altLang="zh-CN" sz="1800" b="1" i="1" kern="0" smtClean="0">
                              <a:solidFill>
                                <a:srgbClr val="3333FF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𝑹</m:t>
                          </m:r>
                        </m:e>
                        <m:sub>
                          <m:r>
                            <a:rPr lang="en-US" altLang="zh-CN" sz="1800" b="1" i="1" kern="0">
                              <a:solidFill>
                                <a:srgbClr val="3333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𝒌𝒋</m:t>
                          </m:r>
                        </m:sub>
                        <m:sup>
                          <m:r>
                            <a:rPr lang="en-US" altLang="zh-CN" sz="1800" b="1" i="1" kern="0" smtClean="0">
                              <a:solidFill>
                                <a:srgbClr val="3333FF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lang="en-US" altLang="zh-CN" sz="1800" b="1" i="1" kern="0" smtClean="0">
                              <a:solidFill>
                                <a:srgbClr val="3333FF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𝒌</m:t>
                          </m:r>
                          <m:r>
                            <a:rPr lang="en-US" altLang="zh-CN" sz="1800" b="1" i="1" kern="0" smtClean="0">
                              <a:solidFill>
                                <a:srgbClr val="3333FF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−</m:t>
                          </m:r>
                          <m:r>
                            <a:rPr lang="en-US" altLang="zh-CN" sz="1800" b="1" i="1" kern="0" smtClean="0">
                              <a:solidFill>
                                <a:srgbClr val="3333FF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𝟏</m:t>
                          </m:r>
                          <m:r>
                            <a:rPr lang="en-US" altLang="zh-CN" sz="1800" b="1" i="1" kern="0" smtClean="0">
                              <a:solidFill>
                                <a:srgbClr val="3333FF"/>
                              </a:solidFill>
                              <a:latin typeface="Cambria Math" panose="02040503050406030204"/>
                              <a:ea typeface="黑体" panose="02010609060101010101" pitchFamily="49" charset="-122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6" name="文本框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8869" y="6224634"/>
                <a:ext cx="4673862" cy="480966"/>
              </a:xfrm>
              <a:prstGeom prst="rect">
                <a:avLst/>
              </a:prstGeom>
              <a:blipFill rotWithShape="1">
                <a:blip r:embed="rId16"/>
                <a:stretch>
                  <a:fillRect l="-11" t="-76" r="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DFA</a:t>
            </a:r>
            <a:r>
              <a:rPr lang="en-US" altLang="zh-CN" dirty="0"/>
              <a:t>-&gt;</a:t>
            </a:r>
            <a:r>
              <a:rPr lang="zh-CN" altLang="en-US" dirty="0"/>
              <a:t>正则表达式</a:t>
            </a:r>
            <a:r>
              <a:rPr lang="en-AU" altLang="zh-CN" dirty="0"/>
              <a:t>:</a:t>
            </a:r>
            <a:r>
              <a:rPr lang="zh-CN" altLang="en-US" dirty="0"/>
              <a:t>状态消除法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63295"/>
            <a:ext cx="8429625" cy="5163185"/>
          </a:xfrm>
        </p:spPr>
        <p:txBody>
          <a:bodyPr/>
          <a:lstStyle/>
          <a:p>
            <a:r>
              <a:rPr lang="zh-CN" altLang="en-US" dirty="0"/>
              <a:t>状态消除法：</a:t>
            </a:r>
            <a:r>
              <a:rPr lang="en-US" altLang="zh-CN" b="0" dirty="0"/>
              <a:t>DFA</a:t>
            </a:r>
            <a:r>
              <a:rPr lang="zh-CN" altLang="en-US" b="0" dirty="0"/>
              <a:t>和从开始节点到结束节点所有路径对应的正则表达式集合等价；如果</a:t>
            </a:r>
            <a:r>
              <a:rPr lang="en-US" altLang="zh-CN" b="0" dirty="0"/>
              <a:t>DFA</a:t>
            </a:r>
            <a:r>
              <a:rPr lang="zh-CN" altLang="en-US" b="0" dirty="0"/>
              <a:t>能转化成只含有开始节点和终止节点的形式，则只需把开始节点到终止节点所有边上的正则表达式取出来即可</a:t>
            </a:r>
          </a:p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利用空转移，增加新的开始和结束状态</a:t>
            </a:r>
            <a:endParaRPr lang="zh-CN" altLang="en-US" dirty="0"/>
          </a:p>
          <a:p>
            <a:pPr algn="l">
              <a:buClrTx/>
              <a:buSzTx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从DFA中逐个删除状态</a:t>
            </a:r>
          </a:p>
          <a:p>
            <a:pPr lvl="1"/>
            <a:r>
              <a:rPr lang="zh-CN" altLang="en-US" dirty="0"/>
              <a:t>会消除掉状态的原有路径，因此要补上等价的路径</a:t>
            </a:r>
          </a:p>
          <a:p>
            <a:pPr algn="l">
              <a:buClrTx/>
              <a:buSzTx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用标记了正则表达式的新路径替换被删掉的路径</a:t>
            </a:r>
          </a:p>
          <a:p>
            <a:pPr marL="0" indent="0" algn="l">
              <a:buClrTx/>
              <a:buSzTx/>
              <a:buNone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保持“自动机”等价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19564F-3A13-4140-9CFC-3B75A7CC7F9C}" type="slidenum">
              <a:rPr lang="en-US" altLang="zh-CN" smtClean="0"/>
              <a:t>34</a:t>
            </a:fld>
            <a:endParaRPr lang="en-US" altLang="zh-CN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0094" y="995833"/>
            <a:ext cx="8229600" cy="4525963"/>
          </a:xfrm>
        </p:spPr>
        <p:txBody>
          <a:bodyPr>
            <a:normAutofit/>
          </a:bodyPr>
          <a:lstStyle/>
          <a:p>
            <a:r>
              <a:rPr lang="en-AU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DFA</a:t>
            </a:r>
            <a:r>
              <a:rPr lang="zh-CN" altLang="en-US" dirty="0">
                <a:sym typeface="+mn-ea"/>
              </a:rPr>
              <a:t>中的</a:t>
            </a:r>
            <a:r>
              <a:rPr lang="en-US" altLang="zh-CN" dirty="0">
                <a:sym typeface="+mn-ea"/>
              </a:rPr>
              <a:t>“</a:t>
            </a:r>
            <a:r>
              <a:rPr lang="zh-CN" altLang="en-US" dirty="0">
                <a:sym typeface="+mn-ea"/>
              </a:rPr>
              <a:t>路径</a:t>
            </a:r>
            <a:r>
              <a:rPr lang="en-US" altLang="zh-CN" dirty="0">
                <a:sym typeface="+mn-ea"/>
              </a:rPr>
              <a:t>”</a:t>
            </a:r>
            <a:r>
              <a:rPr lang="zh-CN" altLang="en-US" dirty="0">
                <a:sym typeface="+mn-ea"/>
              </a:rPr>
              <a:t>和</a:t>
            </a:r>
            <a:r>
              <a:rPr lang="zh-CN" altLang="en-US" sz="2800" dirty="0"/>
              <a:t>正则表达式运算（连接，加，闭包）的关系</a:t>
            </a:r>
            <a:r>
              <a:rPr lang="en-US" altLang="zh-CN" sz="2800" dirty="0"/>
              <a:t>—</a:t>
            </a:r>
            <a:r>
              <a:rPr lang="zh-CN" altLang="en-US" sz="2800" dirty="0"/>
              <a:t>基础情况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19564F-3A13-4140-9CFC-3B75A7CC7F9C}" type="slidenum">
              <a:rPr lang="en-US" altLang="zh-CN" smtClean="0"/>
              <a:t>35</a:t>
            </a:fld>
            <a:endParaRPr lang="en-US" altLang="zh-CN"/>
          </a:p>
        </p:txBody>
      </p:sp>
      <p:pic>
        <p:nvPicPr>
          <p:cNvPr id="6" name="Picture 9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362200"/>
            <a:ext cx="7340684" cy="28262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8229600" cy="393065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DFA</a:t>
            </a:r>
            <a:r>
              <a:rPr lang="en-US" altLang="zh-CN" dirty="0"/>
              <a:t>-&gt;</a:t>
            </a:r>
            <a:r>
              <a:rPr lang="zh-CN" altLang="en-US" dirty="0"/>
              <a:t>正则表达式</a:t>
            </a:r>
            <a:r>
              <a:rPr lang="en-AU" altLang="zh-CN" dirty="0"/>
              <a:t>:</a:t>
            </a:r>
            <a:r>
              <a:rPr lang="zh-CN" altLang="en-US" dirty="0"/>
              <a:t>状态消除法</a:t>
            </a:r>
            <a:endParaRPr lang="en-AU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43000"/>
                <a:ext cx="8229600" cy="4525963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kumimoji="0" lang="zh-CN" altLang="en-US" dirty="0"/>
                  <a:t>更一般的情况，要为被删除的状态</a:t>
                </a:r>
                <a14:m>
                  <m:oMath xmlns:m="http://schemas.openxmlformats.org/officeDocument/2006/math">
                    <m:r>
                      <a:rPr kumimoji="0" lang="en-US" altLang="zh-CN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kumimoji="0" lang="zh-CN" altLang="en-US" dirty="0"/>
                  <a:t>的每个“入”和“出”路径的组合</a:t>
                </a:r>
                <a:r>
                  <a:rPr kumimoji="0" lang="en-US" altLang="zh-CN" dirty="0"/>
                  <a:t>, </a:t>
                </a:r>
                <a:r>
                  <a:rPr kumimoji="0" lang="zh-CN" altLang="en-US" dirty="0"/>
                  <a:t>补一条等价的新路径</a:t>
                </a:r>
                <a:r>
                  <a:rPr kumimoji="0" lang="en-US" altLang="zh-CN" dirty="0"/>
                  <a:t>, </a:t>
                </a:r>
                <a:r>
                  <a:rPr kumimoji="0" lang="zh-CN" altLang="en-US" dirty="0"/>
                  <a:t>并用新的正则表达式表示</a:t>
                </a:r>
                <a:endParaRPr kumimoji="0" lang="en-AU" altLang="zh-CN" dirty="0"/>
              </a:p>
              <a:p>
                <a:endParaRPr lang="en-AU" altLang="zh-CN" dirty="0"/>
              </a:p>
              <a:p>
                <a:endParaRPr kumimoji="0" lang="en-AU" altLang="zh-CN" dirty="0"/>
              </a:p>
              <a:p>
                <a:endParaRPr lang="en-AU" altLang="zh-CN" dirty="0"/>
              </a:p>
              <a:p>
                <a:endParaRPr kumimoji="0" lang="en-AU" altLang="zh-CN" dirty="0"/>
              </a:p>
              <a:p>
                <a:endParaRPr lang="en-AU" altLang="zh-CN" dirty="0"/>
              </a:p>
              <a:p>
                <a:endParaRPr lang="en-AU" altLang="zh-CN" dirty="0"/>
              </a:p>
              <a:p>
                <a:r>
                  <a:rPr lang="en-AU" altLang="zh-CN" dirty="0"/>
                  <a:t>2</a:t>
                </a:r>
                <a:r>
                  <a:rPr kumimoji="0" lang="zh-CN" altLang="en-US" dirty="0"/>
                  <a:t>条入，</a:t>
                </a:r>
                <a:r>
                  <a:rPr kumimoji="0" lang="en-AU" altLang="zh-CN" dirty="0"/>
                  <a:t>2</a:t>
                </a:r>
                <a:r>
                  <a:rPr kumimoji="0" lang="zh-CN" altLang="en-US" dirty="0"/>
                  <a:t>条出，要补</a:t>
                </a:r>
                <a:r>
                  <a:rPr kumimoji="0" lang="en-AU" altLang="zh-CN" dirty="0"/>
                  <a:t>4</a:t>
                </a:r>
                <a:r>
                  <a:rPr kumimoji="0" lang="zh-CN" altLang="en-US" dirty="0"/>
                  <a:t>条（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zh-CN" altLang="en-US" dirty="0"/>
                  <a:t>到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AU" altLang="zh-CN" dirty="0"/>
                  <a:t>,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zh-CN" altLang="en-US" dirty="0"/>
                  <a:t>到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AU" altLang="zh-CN" dirty="0"/>
                  <a:t>,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zh-CN" altLang="en-US" dirty="0"/>
                  <a:t>到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AU" altLang="zh-CN" dirty="0"/>
                  <a:t>,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zh-CN" altLang="en-US" dirty="0"/>
                  <a:t>到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kumimoji="0" lang="zh-CN" altLang="en-US" dirty="0"/>
                  <a:t>）</a:t>
                </a:r>
                <a:endParaRPr kumimoji="0" lang="en-US" altLang="zh-C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43000"/>
                <a:ext cx="8229600" cy="4525963"/>
              </a:xfrm>
              <a:blipFill rotWithShape="1">
                <a:blip r:embed="rId2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19564F-3A13-4140-9CFC-3B75A7CC7F9C}" type="slidenum">
              <a:rPr lang="en-US" altLang="zh-CN" smtClean="0"/>
              <a:t>36</a:t>
            </a:fld>
            <a:endParaRPr lang="en-US" altLang="zh-CN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5259" y="2591594"/>
            <a:ext cx="6633482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8229600" cy="393065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DFA</a:t>
            </a:r>
            <a:r>
              <a:rPr lang="en-US" altLang="zh-CN" dirty="0"/>
              <a:t>-&gt;</a:t>
            </a:r>
            <a:r>
              <a:rPr lang="zh-CN" altLang="en-US" dirty="0"/>
              <a:t>正则表达式</a:t>
            </a:r>
            <a:r>
              <a:rPr lang="en-AU" altLang="zh-CN" dirty="0"/>
              <a:t>:</a:t>
            </a:r>
            <a:r>
              <a:rPr lang="zh-CN" altLang="en-US" dirty="0"/>
              <a:t>状态消除法</a:t>
            </a:r>
            <a:endParaRPr lang="en-AU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>
            <p:custDataLst>
              <p:tags r:id="rId2"/>
            </p:custDataLst>
          </p:nvPr>
        </p:nvSpPr>
        <p:spPr>
          <a:xfrm>
            <a:off x="9525000" y="0"/>
            <a:ext cx="3840480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19564F-3A13-4140-9CFC-3B75A7CC7F9C}" type="slidenum">
              <a:rPr lang="en-US" altLang="zh-CN" smtClean="0"/>
              <a:t>37</a:t>
            </a:fld>
            <a:endParaRPr lang="en-US" altLang="zh-CN" dirty="0"/>
          </a:p>
        </p:txBody>
      </p:sp>
      <p:sp>
        <p:nvSpPr>
          <p:cNvPr id="8" name="矩形: 圆角 7"/>
          <p:cNvSpPr/>
          <p:nvPr>
            <p:custDataLst>
              <p:tags r:id="rId3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作答</a:t>
            </a:r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 bwMode="auto">
          <a:xfrm>
            <a:off x="228600" y="1066800"/>
            <a:ext cx="86868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533400" indent="-5334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33450" indent="-5334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indent="-457200" algn="just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kumimoji="0" lang="zh-CN" altLang="en-US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kumimoji="0" lang="en-AU" altLang="zh-CN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kumimoji="0" lang="zh-CN" altLang="en-US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将以下</a:t>
            </a:r>
            <a:r>
              <a:rPr kumimoji="0" lang="en-US" altLang="zh-CN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DFA</a:t>
            </a:r>
            <a:r>
              <a:rPr kumimoji="0" lang="zh-CN" altLang="en-US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转换成正则表达式。“由</a:t>
            </a:r>
            <a:r>
              <a:rPr kumimoji="0" lang="en-US" altLang="zh-CN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kumimoji="0" lang="zh-CN" altLang="en-US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kumimoji="0" lang="en-US" altLang="zh-CN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kumimoji="0" lang="zh-CN" altLang="en-US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构成的串中，接受全部以</a:t>
            </a:r>
            <a:r>
              <a:rPr kumimoji="0" lang="en-US" altLang="zh-CN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01</a:t>
            </a:r>
            <a:r>
              <a:rPr kumimoji="0" lang="zh-CN" altLang="en-US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结尾的串。”</a:t>
            </a:r>
            <a:endParaRPr kumimoji="0" lang="en-US" altLang="zh-CN" sz="2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indent="-457200" algn="just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kumimoji="0" lang="en-US" altLang="zh-CN" sz="3200" dirty="0">
                <a:ea typeface="楷体" panose="02010609060101010101" pitchFamily="49" charset="-122"/>
                <a:cs typeface="Times New Roman" panose="02020603050405020304" pitchFamily="18" charset="0"/>
              </a:rPr>
              <a:t>DFA</a:t>
            </a:r>
            <a:r>
              <a:rPr kumimoji="0"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endParaRPr kumimoji="0" lang="en-US" altLang="zh-CN" sz="3200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1" algn="just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endParaRPr kumimoji="0" lang="en-US" altLang="zh-CN" sz="280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 algn="just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endParaRPr kumimoji="0" lang="en-US" altLang="zh-CN" sz="280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 algn="just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endParaRPr kumimoji="0" lang="en-US" altLang="zh-CN" sz="280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 algn="just">
              <a:lnSpc>
                <a:spcPct val="90000"/>
              </a:lnSpc>
              <a:spcBef>
                <a:spcPct val="20000"/>
              </a:spcBef>
            </a:pPr>
            <a:endParaRPr kumimoji="0" lang="en-US" altLang="zh-CN" sz="2800" dirty="0">
              <a:cs typeface="Times New Roman" panose="02020603050405020304" pitchFamily="18" charset="0"/>
            </a:endParaRPr>
          </a:p>
        </p:txBody>
      </p:sp>
      <p:pic>
        <p:nvPicPr>
          <p:cNvPr id="17" name="Picture 2" descr="Diagram&#10;&#10;Description automatically generated"/>
          <p:cNvPicPr>
            <a:picLocks noChangeAspect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0977" y="1849751"/>
            <a:ext cx="3432546" cy="1402723"/>
          </a:xfrm>
          <a:prstGeom prst="rect">
            <a:avLst/>
          </a:prstGeom>
        </p:spPr>
      </p:pic>
      <p:sp>
        <p:nvSpPr>
          <p:cNvPr id="23" name="文本框 22"/>
          <p:cNvSpPr txBox="1"/>
          <p:nvPr>
            <p:custDataLst>
              <p:tags r:id="rId4"/>
            </p:custDataLst>
          </p:nvPr>
        </p:nvSpPr>
        <p:spPr>
          <a:xfrm>
            <a:off x="9613900" y="6326832"/>
            <a:ext cx="366268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以上版本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9779000" y="1270000"/>
                <a:ext cx="3332480" cy="400110"/>
              </a:xfrm>
              <a:prstGeom prst="rect">
                <a:avLst/>
              </a:prstGeom>
              <a:noFill/>
            </p:spPr>
            <p:txBody>
              <a:bodyPr vert="horz" rtlCol="0" anchor="t" anchorCtr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AU" altLang="zh-CN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kumimoji="0" lang="en-AU" altLang="zh-CN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e>
                        <m:sup>
                          <m:r>
                            <a:rPr kumimoji="0" lang="en-AU" altLang="zh-CN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∗</m:t>
                          </m:r>
                        </m:sup>
                      </m:sSup>
                      <m:sSup>
                        <m:sSupPr>
                          <m:ctrlPr>
                            <a:rPr kumimoji="0" lang="en-AU" altLang="zh-CN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kumimoji="0" lang="en-AU" altLang="zh-CN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00</m:t>
                          </m:r>
                        </m:e>
                        <m:sup>
                          <m:r>
                            <a:rPr kumimoji="0" lang="en-AU" altLang="zh-CN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∗</m:t>
                          </m:r>
                        </m:sup>
                      </m:sSup>
                      <m:sSup>
                        <m:sSupPr>
                          <m:ctrlPr>
                            <a:rPr kumimoji="0" lang="en-AU" altLang="zh-CN" sz="20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kumimoji="0" lang="en-AU" altLang="zh-CN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kumimoji="0" lang="en-US" altLang="zh-CN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  <m:r>
                                <a:rPr kumimoji="0" lang="en-AU" altLang="zh-CN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kumimoji="0" lang="en-US" altLang="zh-CN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00</m:t>
                              </m:r>
                            </m:e>
                            <m:sup>
                              <m:r>
                                <a:rPr kumimoji="0" lang="en-AU" altLang="zh-CN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kumimoji="0" lang="en-US" altLang="zh-CN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1+1</m:t>
                          </m:r>
                          <m:sSup>
                            <m:sSupPr>
                              <m:ctrlPr>
                                <a:rPr kumimoji="0" lang="en-AU" altLang="zh-CN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kumimoji="0" lang="en-AU" altLang="zh-CN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kumimoji="0" lang="en-AU" altLang="zh-CN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kumimoji="0" lang="en-US" altLang="zh-CN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  <m:sSup>
                            <m:sSupPr>
                              <m:ctrlPr>
                                <a:rPr kumimoji="0" lang="en-AU" altLang="zh-CN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kumimoji="0" lang="en-US" altLang="zh-CN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kumimoji="0" lang="en-AU" altLang="zh-CN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kumimoji="0" lang="en-US" altLang="zh-CN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kumimoji="0" lang="en-AU" altLang="zh-CN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  <m:sup>
                          <m:r>
                            <a:rPr kumimoji="0" lang="en-AU" altLang="zh-CN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zh-CN" altLang="en-US"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4" name="文本框 23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8"/>
                </p:custDataLst>
              </p:nvPr>
            </p:nvSpPr>
            <p:spPr>
              <a:xfrm>
                <a:off x="9779000" y="1270000"/>
                <a:ext cx="3332480" cy="400110"/>
              </a:xfrm>
              <a:prstGeom prst="rect">
                <a:avLst/>
              </a:prstGeom>
              <a:blipFill rotWithShape="1">
                <a:blip r:embed="rId19"/>
                <a:stretch>
                  <a:fillRect b="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组合 21"/>
          <p:cNvGrpSpPr/>
          <p:nvPr>
            <p:custDataLst>
              <p:tags r:id="rId6"/>
            </p:custDataLst>
          </p:nvPr>
        </p:nvGrpSpPr>
        <p:grpSpPr>
          <a:xfrm>
            <a:off x="9537700" y="0"/>
            <a:ext cx="3815080" cy="647700"/>
            <a:chOff x="9537700" y="0"/>
            <a:chExt cx="3815080" cy="647700"/>
          </a:xfrm>
        </p:grpSpPr>
        <p:sp>
          <p:nvSpPr>
            <p:cNvPr id="19" name="RemarkBack"/>
            <p:cNvSpPr/>
            <p:nvPr>
              <p:custDataLst>
                <p:tags r:id="rId13"/>
              </p:custDataLst>
            </p:nvPr>
          </p:nvSpPr>
          <p:spPr>
            <a:xfrm>
              <a:off x="9537700" y="12700"/>
              <a:ext cx="381508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RemarkBlock"/>
            <p:cNvSpPr/>
            <p:nvPr>
              <p:custDataLst>
                <p:tags r:id="rId14"/>
              </p:custDataLst>
            </p:nvPr>
          </p:nvSpPr>
          <p:spPr>
            <a:xfrm>
              <a:off x="9537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RemarkTitleText"/>
            <p:cNvSpPr txBox="1"/>
            <p:nvPr>
              <p:custDataLst>
                <p:tags r:id="rId15"/>
              </p:custDataLst>
            </p:nvPr>
          </p:nvSpPr>
          <p:spPr>
            <a:xfrm>
              <a:off x="9779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答案解析</a:t>
              </a:r>
            </a:p>
          </p:txBody>
        </p:sp>
      </p:grpSp>
      <p:grpSp>
        <p:nvGrpSpPr>
          <p:cNvPr id="13" name="组合 12"/>
          <p:cNvGrpSpPr/>
          <p:nvPr>
            <p:custDataLst>
              <p:tags r:id="rId7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9" name="TitleBackground"/>
            <p:cNvSpPr/>
            <p:nvPr>
              <p:custDataLst>
                <p:tags r:id="rId9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ColorBlock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TypeText"/>
            <p:cNvSpPr txBox="1"/>
            <p:nvPr>
              <p:custDataLst>
                <p:tags r:id="rId11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主观题</a:t>
              </a:r>
            </a:p>
          </p:txBody>
        </p:sp>
        <p:sp>
          <p:nvSpPr>
            <p:cNvPr id="12" name="TipText"/>
            <p:cNvSpPr txBox="1"/>
            <p:nvPr>
              <p:custDataLst>
                <p:tags r:id="rId12"/>
              </p:custDataLst>
            </p:nvPr>
          </p:nvSpPr>
          <p:spPr>
            <a:xfrm>
              <a:off x="142748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6" name="图片 5"/>
          <p:cNvPicPr/>
          <p:nvPr>
            <p:custDataLst>
              <p:tags r:id="rId8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en-US">
              <a:latin typeface="Times New Roman" panose="02020603050405020304" pitchFamily="18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228600" y="1066800"/>
            <a:ext cx="86868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533400" indent="-5334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33450" indent="-5334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indent="-457200" algn="just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kumimoji="0" lang="zh-CN" altLang="en-US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kumimoji="0" lang="en-AU" altLang="zh-CN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kumimoji="0" lang="zh-CN" altLang="en-US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将以下</a:t>
            </a:r>
            <a:r>
              <a:rPr kumimoji="0" lang="en-US" altLang="zh-CN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DFA</a:t>
            </a:r>
            <a:r>
              <a:rPr kumimoji="0" lang="zh-CN" altLang="en-US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转换成正则表达式。“由</a:t>
            </a:r>
            <a:r>
              <a:rPr kumimoji="0" lang="en-US" altLang="zh-CN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kumimoji="0" lang="zh-CN" altLang="en-US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kumimoji="0" lang="en-US" altLang="zh-CN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kumimoji="0" lang="zh-CN" altLang="en-US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构成的串中，接受全部以</a:t>
            </a:r>
            <a:r>
              <a:rPr kumimoji="0" lang="en-US" altLang="zh-CN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01</a:t>
            </a:r>
            <a:r>
              <a:rPr kumimoji="0" lang="zh-CN" altLang="en-US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结尾的串。”</a:t>
            </a:r>
            <a:endParaRPr kumimoji="0" lang="en-US" altLang="zh-CN" sz="2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indent="-457200" algn="just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kumimoji="0" lang="en-US" altLang="zh-CN" sz="3200" dirty="0">
                <a:ea typeface="楷体" panose="02010609060101010101" pitchFamily="49" charset="-122"/>
                <a:cs typeface="Times New Roman" panose="02020603050405020304" pitchFamily="18" charset="0"/>
              </a:rPr>
              <a:t>DFA</a:t>
            </a:r>
            <a:r>
              <a:rPr kumimoji="0"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endParaRPr kumimoji="0" lang="en-US" altLang="zh-CN" sz="3200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1" algn="just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endParaRPr kumimoji="0" lang="en-US" altLang="zh-CN" sz="280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 algn="just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endParaRPr kumimoji="0" lang="en-US" altLang="zh-CN" sz="280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 algn="just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endParaRPr kumimoji="0" lang="en-US" altLang="zh-CN" sz="2800" dirty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 algn="just">
              <a:lnSpc>
                <a:spcPct val="90000"/>
              </a:lnSpc>
              <a:spcBef>
                <a:spcPct val="20000"/>
              </a:spcBef>
            </a:pPr>
            <a:r>
              <a:rPr kumimoji="0" lang="en-AU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(1) </a:t>
            </a:r>
            <a:r>
              <a:rPr kumimoji="0"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利用空转移，增加新的开始</a:t>
            </a:r>
            <a:r>
              <a:rPr kumimoji="0"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kumimoji="0" lang="en-US" altLang="zh-CN" sz="2800" i="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kumimoji="0"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kumimoji="0"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和结束状态</a:t>
            </a:r>
            <a:r>
              <a:rPr kumimoji="0"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kumimoji="0" lang="en-US" altLang="zh-CN" sz="2800" i="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kumimoji="0" lang="en-US" altLang="zh-CN" sz="1600" i="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endParaRPr kumimoji="0" lang="zh-CN" altLang="en-US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 algn="just">
              <a:lnSpc>
                <a:spcPct val="90000"/>
              </a:lnSpc>
              <a:spcBef>
                <a:spcPct val="20000"/>
              </a:spcBef>
              <a:buFontTx/>
              <a:buChar char="–"/>
            </a:pPr>
            <a:endParaRPr kumimoji="0" lang="en-US" altLang="zh-CN" sz="2800" dirty="0">
              <a:cs typeface="Times New Roman" panose="02020603050405020304" pitchFamily="18" charset="0"/>
            </a:endParaRPr>
          </a:p>
          <a:p>
            <a:pPr lvl="1" algn="just">
              <a:lnSpc>
                <a:spcPct val="90000"/>
              </a:lnSpc>
              <a:spcBef>
                <a:spcPct val="20000"/>
              </a:spcBef>
            </a:pPr>
            <a:endParaRPr kumimoji="0" lang="en-US" altLang="zh-CN" sz="2800" dirty="0">
              <a:cs typeface="Times New Roman" panose="02020603050405020304" pitchFamily="18" charset="0"/>
            </a:endParaRPr>
          </a:p>
          <a:p>
            <a:pPr lvl="1" algn="just">
              <a:lnSpc>
                <a:spcPct val="90000"/>
              </a:lnSpc>
              <a:spcBef>
                <a:spcPct val="20000"/>
              </a:spcBef>
            </a:pPr>
            <a:endParaRPr kumimoji="0" lang="en-US" altLang="zh-CN" sz="2800" dirty="0">
              <a:cs typeface="Times New Roman" panose="02020603050405020304" pitchFamily="18" charset="0"/>
            </a:endParaRPr>
          </a:p>
          <a:p>
            <a:pPr lvl="1" algn="just">
              <a:lnSpc>
                <a:spcPct val="90000"/>
              </a:lnSpc>
              <a:spcBef>
                <a:spcPct val="20000"/>
              </a:spcBef>
            </a:pPr>
            <a:endParaRPr kumimoji="0" lang="en-US" altLang="zh-CN" sz="2800" dirty="0">
              <a:cs typeface="Times New Roman" panose="02020603050405020304" pitchFamily="18" charset="0"/>
            </a:endParaRPr>
          </a:p>
        </p:txBody>
      </p:sp>
      <p:pic>
        <p:nvPicPr>
          <p:cNvPr id="39943" name="图片 1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4305300"/>
            <a:ext cx="5829300" cy="133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 descr="Diagram&#10;&#10;Description automatically generated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0977" y="2026277"/>
            <a:ext cx="3432546" cy="1402723"/>
          </a:xfrm>
          <a:prstGeom prst="rect">
            <a:avLst/>
          </a:prstGeom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DFA</a:t>
            </a:r>
            <a:r>
              <a:rPr lang="en-US" altLang="zh-CN" dirty="0"/>
              <a:t>-&gt;</a:t>
            </a:r>
            <a:r>
              <a:rPr lang="zh-CN" altLang="en-US" dirty="0"/>
              <a:t>正则表达式</a:t>
            </a:r>
            <a:r>
              <a:rPr lang="en-AU" altLang="zh-CN" dirty="0"/>
              <a:t>:</a:t>
            </a:r>
            <a:r>
              <a:rPr lang="zh-CN" altLang="en-US" dirty="0"/>
              <a:t>状态消除法</a:t>
            </a:r>
            <a:endParaRPr lang="en-AU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状态消除法示例</a:t>
            </a:r>
            <a:endParaRPr kumimoji="0"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198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2948D6CC-5669-4A14-8C54-D8B2E4486D4A}" type="slidenum">
              <a:rPr kumimoji="0" lang="en-US" altLang="zh-CN" sz="1400">
                <a:latin typeface="Arial" panose="020B0604020202020204" pitchFamily="34" charset="0"/>
              </a:rPr>
              <a:t>39</a:t>
            </a:fld>
            <a:endParaRPr kumimoji="0" lang="en-US" altLang="zh-CN" sz="1400">
              <a:latin typeface="Arial" panose="020B0604020202020204" pitchFamily="34" charset="0"/>
            </a:endParaRPr>
          </a:p>
        </p:txBody>
      </p:sp>
      <p:sp>
        <p:nvSpPr>
          <p:cNvPr id="1536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en-US">
              <a:latin typeface="Times New Roman" panose="02020603050405020304" pitchFamily="18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3"/>
              <p:cNvSpPr txBox="1">
                <a:spLocks noChangeArrowheads="1"/>
              </p:cNvSpPr>
              <p:nvPr/>
            </p:nvSpPr>
            <p:spPr bwMode="auto">
              <a:xfrm>
                <a:off x="193876" y="960437"/>
                <a:ext cx="8686800" cy="45259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marL="342900" indent="-3429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4000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lvl="1" algn="just">
                  <a:lnSpc>
                    <a:spcPct val="90000"/>
                  </a:lnSpc>
                  <a:spcBef>
                    <a:spcPct val="20000"/>
                  </a:spcBef>
                </a:pPr>
                <a:r>
                  <a:rPr kumimoji="0" lang="en-AU" altLang="zh-TW" sz="2800" dirty="0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(2) </a:t>
                </a:r>
                <a:r>
                  <a:rPr kumimoji="0" lang="zh-TW" altLang="en-US" sz="2800" dirty="0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消除状态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TW" sz="28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0" lang="en-AU" altLang="zh-TW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kumimoji="0" lang="en-AU" altLang="zh-TW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zh-CN" altLang="zh-TW" sz="2800" dirty="0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，</a:t>
                </a:r>
                <a:r>
                  <a:rPr kumimoji="0"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需要增加其“入”度</a:t>
                </a:r>
                <a14:m>
                  <m:oMath xmlns:m="http://schemas.openxmlformats.org/officeDocument/2006/math">
                    <m:r>
                      <a:rPr kumimoji="0" lang="en-AU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rPr>
                      <m:t>{</m:t>
                    </m:r>
                    <m:sSub>
                      <m:sSubPr>
                        <m:ctrlPr>
                          <a:rPr kumimoji="0" lang="en-AU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0" lang="en-AU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kumimoji="0" lang="en-AU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kumimoji="0" lang="en-AU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kumimoji="0" lang="en-AU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0" lang="en-AU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kumimoji="0" lang="en-AU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kumimoji="0" lang="en-AU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rPr>
                      <m:t>}</m:t>
                    </m:r>
                  </m:oMath>
                </a14:m>
                <a:r>
                  <a:rPr kumimoji="0"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和“出”度</a:t>
                </a:r>
                <a14:m>
                  <m:oMath xmlns:m="http://schemas.openxmlformats.org/officeDocument/2006/math">
                    <m:r>
                      <a:rPr kumimoji="0" lang="en-AU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rPr>
                      <m:t>{</m:t>
                    </m:r>
                    <m:sSub>
                      <m:sSubPr>
                        <m:ctrlPr>
                          <a:rPr kumimoji="0" lang="en-AU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0" lang="en-AU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kumimoji="0" lang="en-AU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kumimoji="0" lang="en-AU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rPr>
                      <m:t>}</m:t>
                    </m:r>
                  </m:oMath>
                </a14:m>
                <a:r>
                  <a:rPr kumimoji="0"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之间的边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zh-CN" sz="28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kumimoji="0" lang="en-US" altLang="zh-CN" sz="28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kumimoji="0" lang="en-AU" altLang="zh-CN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kumimoji="0" lang="en-AU" altLang="zh-CN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kumimoji="0"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00</m:t>
                        </m:r>
                      </m:e>
                      <m:sup>
                        <m:r>
                          <a:rPr kumimoji="0" lang="zh-CN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kumimoji="0" lang="en-US" altLang="zh-CN" sz="2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sSub>
                      <m:sSubPr>
                        <m:ctrlPr>
                          <a:rPr kumimoji="0" lang="en-US" altLang="zh-CN" sz="28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0" lang="en-AU" altLang="zh-CN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kumimoji="0" lang="en-AU" altLang="zh-CN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8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0" lang="en-AU" altLang="zh-CN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kumimoji="0" lang="en-AU" altLang="zh-CN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kumimoji="0"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kumimoji="0"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00</m:t>
                        </m:r>
                      </m:e>
                      <m:sup>
                        <m:r>
                          <a:rPr kumimoji="0" lang="zh-CN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kumimoji="0" lang="en-US" altLang="zh-CN" sz="2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sSub>
                      <m:sSubPr>
                        <m:ctrlPr>
                          <a:rPr kumimoji="0" lang="en-US" altLang="zh-CN" sz="28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0" lang="en-AU" altLang="zh-CN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kumimoji="0" lang="en-AU" altLang="zh-CN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kumimoji="0" lang="en-US" altLang="zh-CN" sz="2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kumimoji="0" lang="en-AU" altLang="zh-CN" sz="2800" dirty="0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,</a:t>
                </a:r>
                <a:r>
                  <a:rPr kumimoji="0"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8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0" lang="en-AU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kumimoji="0" lang="en-AU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kumimoji="0" lang="en-US" altLang="zh-CN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sSub>
                      <m:sSubPr>
                        <m:ctrlPr>
                          <a:rPr kumimoji="0" lang="en-US" altLang="zh-CN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0" lang="en-AU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kumimoji="0" lang="en-AU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kumimoji="0" lang="zh-CN" alt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和</m:t>
                    </m:r>
                    <m:sSub>
                      <m:sSubPr>
                        <m:ctrlPr>
                          <a:rPr kumimoji="0"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0" lang="en-AU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kumimoji="0" lang="en-AU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kumimoji="0"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sSub>
                      <m:sSubPr>
                        <m:ctrlPr>
                          <a:rPr kumimoji="0"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0" lang="en-AU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kumimoji="0" lang="en-AU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kumimoji="0" lang="en-US" altLang="zh-CN" sz="2800" dirty="0"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lvl="1" algn="just">
                  <a:lnSpc>
                    <a:spcPct val="90000"/>
                  </a:lnSpc>
                  <a:spcBef>
                    <a:spcPct val="20000"/>
                  </a:spcBef>
                </a:pPr>
                <a:endParaRPr kumimoji="0" lang="en-US" altLang="zh-CN" sz="2800" dirty="0">
                  <a:cs typeface="Times New Roman" panose="02020603050405020304" pitchFamily="18" charset="0"/>
                </a:endParaRPr>
              </a:p>
              <a:p>
                <a:pPr lvl="1" algn="just">
                  <a:lnSpc>
                    <a:spcPct val="90000"/>
                  </a:lnSpc>
                  <a:spcBef>
                    <a:spcPct val="20000"/>
                  </a:spcBef>
                </a:pPr>
                <a:endParaRPr kumimoji="0" lang="en-US" altLang="zh-CN" sz="2800" dirty="0">
                  <a:cs typeface="Times New Roman" panose="02020603050405020304" pitchFamily="18" charset="0"/>
                </a:endParaRPr>
              </a:p>
              <a:p>
                <a:pPr lvl="1" algn="just">
                  <a:lnSpc>
                    <a:spcPct val="90000"/>
                  </a:lnSpc>
                  <a:spcBef>
                    <a:spcPct val="20000"/>
                  </a:spcBef>
                </a:pPr>
                <a:endParaRPr kumimoji="0" lang="en-US" altLang="zh-CN" sz="2800" dirty="0"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3876" y="960437"/>
                <a:ext cx="8686800" cy="4525963"/>
              </a:xfrm>
              <a:prstGeom prst="rect">
                <a:avLst/>
              </a:prstGeom>
              <a:blipFill rotWithShape="1">
                <a:blip r:embed="rId3"/>
                <a:stretch>
                  <a:fillRect l="-2" t="-7" r="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1990" name="图片 4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4229100"/>
            <a:ext cx="6183313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图片 1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1006" y="2556668"/>
            <a:ext cx="5829300" cy="133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状态消除法示例</a:t>
            </a:r>
            <a:endParaRPr kumimoji="0"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403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161CDD00-BDBE-41DB-BB67-99F8E2C519D1}" type="slidenum">
              <a:rPr kumimoji="0" lang="en-US" altLang="zh-CN" sz="1400">
                <a:latin typeface="Arial" panose="020B0604020202020204" pitchFamily="34" charset="0"/>
              </a:rPr>
              <a:t>40</a:t>
            </a:fld>
            <a:endParaRPr kumimoji="0" lang="en-US" altLang="zh-CN" sz="1400">
              <a:latin typeface="Arial" panose="020B0604020202020204" pitchFamily="34" charset="0"/>
            </a:endParaRPr>
          </a:p>
        </p:txBody>
      </p:sp>
      <p:sp>
        <p:nvSpPr>
          <p:cNvPr id="1536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en-US">
              <a:latin typeface="Times New Roman" panose="02020603050405020304" pitchFamily="18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3"/>
              <p:cNvSpPr txBox="1">
                <a:spLocks noChangeArrowheads="1"/>
              </p:cNvSpPr>
              <p:nvPr/>
            </p:nvSpPr>
            <p:spPr bwMode="auto">
              <a:xfrm>
                <a:off x="228600" y="1018793"/>
                <a:ext cx="8686800" cy="45259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marL="342900" indent="-3429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4000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lvl="1" algn="just">
                  <a:lnSpc>
                    <a:spcPct val="90000"/>
                  </a:lnSpc>
                  <a:spcBef>
                    <a:spcPct val="20000"/>
                  </a:spcBef>
                </a:pPr>
                <a:r>
                  <a:rPr kumimoji="0" lang="en-AU" altLang="zh-TW" sz="2800" dirty="0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(3)</a:t>
                </a:r>
                <a:r>
                  <a:rPr kumimoji="0" lang="en-AU" altLang="zh-TW" sz="2800" dirty="0">
                    <a:cs typeface="Times New Roman" panose="02020603050405020304" pitchFamily="18" charset="0"/>
                  </a:rPr>
                  <a:t> </a:t>
                </a:r>
                <a:r>
                  <a:rPr kumimoji="0" lang="zh-TW" altLang="en-US" sz="2800" dirty="0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消除状态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TW" sz="28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0" lang="en-AU" altLang="zh-TW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kumimoji="0" lang="en-AU" altLang="zh-TW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0" lang="zh-CN" altLang="zh-TW" sz="2800" dirty="0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，</a:t>
                </a:r>
                <a:r>
                  <a:rPr kumimoji="0"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需要增加其“入”度</a:t>
                </a:r>
                <a14:m>
                  <m:oMath xmlns:m="http://schemas.openxmlformats.org/officeDocument/2006/math">
                    <m:r>
                      <a:rPr kumimoji="0" lang="en-AU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rPr>
                      <m:t>{</m:t>
                    </m:r>
                    <m:r>
                      <a:rPr kumimoji="0" lang="en-AU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rPr>
                      <m:t>𝑠</m:t>
                    </m:r>
                    <m:r>
                      <a:rPr kumimoji="0" lang="en-AU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kumimoji="0" lang="en-AU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0" lang="en-AU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kumimoji="0" lang="en-AU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kumimoji="0" lang="en-AU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rPr>
                      <m:t>}</m:t>
                    </m:r>
                  </m:oMath>
                </a14:m>
                <a:r>
                  <a:rPr kumimoji="0"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和“出”度</a:t>
                </a:r>
                <a14:m>
                  <m:oMath xmlns:m="http://schemas.openxmlformats.org/officeDocument/2006/math">
                    <m:r>
                      <a:rPr kumimoji="0" lang="en-AU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rPr>
                      <m:t>{</m:t>
                    </m:r>
                    <m:sSub>
                      <m:sSubPr>
                        <m:ctrlPr>
                          <a:rPr kumimoji="0" lang="en-AU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0" lang="en-AU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kumimoji="0" lang="en-AU" altLang="zh-CN" sz="2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kumimoji="0" lang="en-AU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rPr>
                      <m:t>}</m:t>
                    </m:r>
                  </m:oMath>
                </a14:m>
                <a:r>
                  <a:rPr kumimoji="0"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之间的边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zh-CN" sz="28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kumimoji="0" lang="en-AU" altLang="zh-CN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  <m:sSup>
                          <m:sSupPr>
                            <m:ctrlPr>
                              <a:rPr kumimoji="0" lang="en-AU" altLang="zh-CN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kumimoji="0" lang="en-AU" altLang="zh-CN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kumimoji="0" lang="en-AU" altLang="zh-CN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kumimoji="0"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00</m:t>
                        </m:r>
                      </m:e>
                      <m:sup>
                        <m:r>
                          <a:rPr kumimoji="0" lang="zh-CN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kumimoji="0" lang="en-AU" altLang="zh-CN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sSub>
                      <m:sSubPr>
                        <m:ctrlPr>
                          <a:rPr kumimoji="0" lang="en-AU" altLang="zh-CN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0" lang="en-AU" altLang="zh-CN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kumimoji="0" lang="en-AU" altLang="zh-CN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zh-CN" sz="28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kumimoji="0" lang="en-US" altLang="zh-CN" sz="28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kumimoji="0" lang="en-AU" altLang="zh-CN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kumimoji="0" lang="en-AU" altLang="zh-CN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kumimoji="0" lang="en-AU" altLang="zh-CN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11</m:t>
                        </m:r>
                      </m:e>
                      <m:sup>
                        <m:r>
                          <a:rPr kumimoji="0" lang="en-AU" altLang="zh-CN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kumimoji="0" lang="en-AU" altLang="zh-CN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sSup>
                      <m:sSupPr>
                        <m:ctrlPr>
                          <a:rPr kumimoji="0"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kumimoji="0" lang="en-AU" altLang="zh-CN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e>
                      <m:sup>
                        <m:r>
                          <a:rPr kumimoji="0" lang="en-AU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kumimoji="0" lang="en-AU" altLang="zh-CN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sSub>
                      <m:sSubPr>
                        <m:ctrlPr>
                          <a:rPr kumimoji="0" lang="en-AU" altLang="zh-CN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0" lang="en-AU" altLang="zh-CN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kumimoji="0" lang="en-AU" altLang="zh-CN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，即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n-AU" altLang="zh-CN" sz="2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s</m:t>
                    </m:r>
                    <m:r>
                      <a:rPr kumimoji="0"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sSub>
                      <m:sSubPr>
                        <m:ctrlPr>
                          <a:rPr kumimoji="0"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0" lang="en-AU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kumimoji="0" lang="en-AU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zh-TW" altLang="en-US" sz="2800" dirty="0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0" lang="en-AU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kumimoji="0" lang="en-AU" altLang="zh-CN" sz="28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kumimoji="0"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sSub>
                      <m:sSubPr>
                        <m:ctrlPr>
                          <a:rPr kumimoji="0"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0" lang="en-AU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kumimoji="0" lang="en-AU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kumimoji="0" lang="en-US" altLang="zh-CN" sz="2800" dirty="0">
                  <a:cs typeface="Times New Roman" panose="02020603050405020304" pitchFamily="18" charset="0"/>
                </a:endParaRPr>
              </a:p>
              <a:p>
                <a:pPr lvl="1" algn="just">
                  <a:lnSpc>
                    <a:spcPct val="90000"/>
                  </a:lnSpc>
                  <a:spcBef>
                    <a:spcPct val="20000"/>
                  </a:spcBef>
                </a:pPr>
                <a:endParaRPr kumimoji="0" lang="en-US" altLang="zh-CN" sz="2800" dirty="0">
                  <a:cs typeface="Times New Roman" panose="02020603050405020304" pitchFamily="18" charset="0"/>
                </a:endParaRPr>
              </a:p>
              <a:p>
                <a:pPr lvl="1" algn="just">
                  <a:lnSpc>
                    <a:spcPct val="90000"/>
                  </a:lnSpc>
                  <a:spcBef>
                    <a:spcPct val="20000"/>
                  </a:spcBef>
                </a:pPr>
                <a:endParaRPr kumimoji="0" lang="en-US" altLang="zh-CN" sz="2800" dirty="0"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600" y="1018793"/>
                <a:ext cx="8686800" cy="4525963"/>
              </a:xfrm>
              <a:prstGeom prst="rect">
                <a:avLst/>
              </a:prstGeom>
              <a:blipFill rotWithShape="1">
                <a:blip r:embed="rId3"/>
                <a:stretch>
                  <a:fillRect t="-6" r="-1228" b="1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4038" name="图片 4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2590800"/>
            <a:ext cx="6183313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039" name="图片 1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1873" y="4334478"/>
            <a:ext cx="6172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状态消除法示例</a:t>
            </a:r>
            <a:endParaRPr kumimoji="0"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608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B7D3C5DC-B948-4BFE-8739-3E4A555BB2E6}" type="slidenum">
              <a:rPr kumimoji="0" lang="en-US" altLang="zh-CN" sz="1400">
                <a:latin typeface="Arial" panose="020B0604020202020204" pitchFamily="34" charset="0"/>
              </a:rPr>
              <a:t>41</a:t>
            </a:fld>
            <a:endParaRPr kumimoji="0" lang="en-US" altLang="zh-CN" sz="1400">
              <a:latin typeface="Arial" panose="020B0604020202020204" pitchFamily="34" charset="0"/>
            </a:endParaRPr>
          </a:p>
        </p:txBody>
      </p:sp>
      <p:sp>
        <p:nvSpPr>
          <p:cNvPr id="1536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en-US">
              <a:latin typeface="Times New Roman" panose="02020603050405020304" pitchFamily="18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3"/>
              <p:cNvSpPr txBox="1">
                <a:spLocks noChangeArrowheads="1"/>
              </p:cNvSpPr>
              <p:nvPr/>
            </p:nvSpPr>
            <p:spPr bwMode="auto">
              <a:xfrm>
                <a:off x="152400" y="1127244"/>
                <a:ext cx="8763000" cy="45259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marL="342900" indent="-3429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4000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lvl="1" algn="just">
                  <a:lnSpc>
                    <a:spcPct val="90000"/>
                  </a:lnSpc>
                  <a:spcBef>
                    <a:spcPct val="20000"/>
                  </a:spcBef>
                </a:pPr>
                <a:r>
                  <a:rPr kumimoji="0"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（</a:t>
                </a:r>
                <a:r>
                  <a:rPr kumimoji="0" lang="en-US" altLang="zh-CN" sz="2800" dirty="0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4</a:t>
                </a:r>
                <a:r>
                  <a:rPr kumimoji="0"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）</a:t>
                </a:r>
                <a:r>
                  <a:rPr kumimoji="0" lang="zh-TW" altLang="en-US" sz="2800" dirty="0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消除状态</a:t>
                </a:r>
                <a:r>
                  <a:rPr kumimoji="0" lang="en-US" altLang="zh-TW" sz="2800" i="1" dirty="0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q</a:t>
                </a:r>
                <a:r>
                  <a:rPr kumimoji="0" lang="en-US" altLang="zh-CN" sz="2800" baseline="-25000" dirty="0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2</a:t>
                </a:r>
                <a:r>
                  <a:rPr kumimoji="0" lang="zh-CN" altLang="zh-TW" sz="2800" dirty="0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，</a:t>
                </a:r>
                <a:r>
                  <a:rPr kumimoji="0"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需要增加其“入”度</a:t>
                </a:r>
                <a14:m>
                  <m:oMath xmlns:m="http://schemas.openxmlformats.org/officeDocument/2006/math">
                    <m:r>
                      <a:rPr kumimoji="0" lang="en-AU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rPr>
                      <m:t>{</m:t>
                    </m:r>
                    <m:r>
                      <a:rPr kumimoji="0" lang="en-AU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rPr>
                      <m:t>𝑠</m:t>
                    </m:r>
                    <m:r>
                      <a:rPr kumimoji="0" lang="en-AU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rPr>
                      <m:t>}</m:t>
                    </m:r>
                  </m:oMath>
                </a14:m>
                <a:r>
                  <a:rPr kumimoji="0"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和“出”度</a:t>
                </a:r>
                <a14:m>
                  <m:oMath xmlns:m="http://schemas.openxmlformats.org/officeDocument/2006/math">
                    <m:r>
                      <a:rPr kumimoji="0" lang="en-AU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rPr>
                      <m:t>{</m:t>
                    </m:r>
                    <m:r>
                      <a:rPr kumimoji="0" lang="en-AU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rPr>
                      <m:t>𝑓</m:t>
                    </m:r>
                    <m:r>
                      <a:rPr kumimoji="0" lang="en-AU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rPr>
                      <m:t>}</m:t>
                    </m:r>
                  </m:oMath>
                </a14:m>
                <a:r>
                  <a:rPr kumimoji="0"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之间的边</a:t>
                </a:r>
                <a14:m>
                  <m:oMath xmlns:m="http://schemas.openxmlformats.org/officeDocument/2006/math">
                    <m:r>
                      <a:rPr kumimoji="0" lang="en-AU" altLang="zh-CN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sSup>
                      <m:sSupPr>
                        <m:ctrlPr>
                          <a:rPr kumimoji="0" lang="en-AU" altLang="zh-CN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kumimoji="0" lang="en-AU" altLang="zh-CN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e>
                      <m:sup>
                        <m:r>
                          <a:rPr kumimoji="0" lang="en-AU" altLang="zh-CN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sSup>
                      <m:sSupPr>
                        <m:ctrlPr>
                          <a:rPr kumimoji="0" lang="en-AU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kumimoji="0" lang="en-AU" altLang="zh-CN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00</m:t>
                        </m:r>
                      </m:e>
                      <m:sup>
                        <m:r>
                          <a:rPr kumimoji="0" lang="en-AU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sSup>
                      <m:sSupPr>
                        <m:ctrlPr>
                          <a:rPr kumimoji="0" lang="en-AU" altLang="zh-CN" sz="28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kumimoji="0" lang="en-AU" altLang="zh-CN" sz="2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kumimoji="0" lang="en-US" altLang="zh-CN" sz="2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  <m:r>
                              <a:rPr kumimoji="0" lang="en-AU" altLang="zh-CN" sz="2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kumimoji="0" lang="en-US" altLang="zh-CN" sz="2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00</m:t>
                            </m:r>
                          </m:e>
                          <m:sup>
                            <m:r>
                              <a:rPr kumimoji="0" lang="en-AU" altLang="zh-CN" sz="2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kumimoji="0"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1+1</m:t>
                        </m:r>
                        <m:sSup>
                          <m:sSupPr>
                            <m:ctrlPr>
                              <a:rPr kumimoji="0" lang="en-AU" altLang="zh-CN" sz="2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kumimoji="0" lang="en-AU" altLang="zh-CN" sz="2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kumimoji="0" lang="en-AU" altLang="zh-CN" sz="2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kumimoji="0"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  <m:sSup>
                          <m:sSupPr>
                            <m:ctrlPr>
                              <a:rPr kumimoji="0" lang="en-AU" altLang="zh-CN" sz="2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kumimoji="0" lang="en-US" altLang="zh-CN" sz="2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a:rPr kumimoji="0" lang="en-AU" altLang="zh-CN" sz="2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kumimoji="0"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kumimoji="0" lang="en-AU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  <m:sup>
                        <m:r>
                          <a:rPr kumimoji="0" lang="en-AU" altLang="zh-CN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kumimoji="0" lang="en-AU" altLang="zh-CN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</m:oMath>
                </a14:m>
                <a:r>
                  <a:rPr kumimoji="0"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，即</a:t>
                </a:r>
                <a14:m>
                  <m:oMath xmlns:m="http://schemas.openxmlformats.org/officeDocument/2006/math">
                    <m:r>
                      <a:rPr kumimoji="0" lang="en-AU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rPr>
                      <m:t>𝑠</m:t>
                    </m:r>
                    <m:r>
                      <a:rPr kumimoji="0" lang="en-AU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r>
                      <a:rPr kumimoji="0" lang="en-AU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</m:oMath>
                </a14:m>
                <a:endParaRPr kumimoji="0" lang="en-US" altLang="zh-CN" sz="2800" dirty="0"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lvl="1" algn="just">
                  <a:lnSpc>
                    <a:spcPct val="90000"/>
                  </a:lnSpc>
                  <a:spcBef>
                    <a:spcPct val="20000"/>
                  </a:spcBef>
                </a:pPr>
                <a:endParaRPr kumimoji="0" lang="en-US" altLang="zh-CN" sz="2800" dirty="0">
                  <a:cs typeface="Times New Roman" panose="02020603050405020304" pitchFamily="18" charset="0"/>
                </a:endParaRPr>
              </a:p>
              <a:p>
                <a:pPr lvl="1" algn="just">
                  <a:lnSpc>
                    <a:spcPct val="90000"/>
                  </a:lnSpc>
                  <a:spcBef>
                    <a:spcPct val="20000"/>
                  </a:spcBef>
                </a:pPr>
                <a:endParaRPr kumimoji="0" lang="en-US" altLang="zh-CN" sz="2800" dirty="0">
                  <a:cs typeface="Times New Roman" panose="02020603050405020304" pitchFamily="18" charset="0"/>
                </a:endParaRPr>
              </a:p>
              <a:p>
                <a:pPr lvl="1" algn="just">
                  <a:lnSpc>
                    <a:spcPct val="90000"/>
                  </a:lnSpc>
                  <a:spcBef>
                    <a:spcPct val="20000"/>
                  </a:spcBef>
                </a:pPr>
                <a:endParaRPr kumimoji="0" lang="en-US" altLang="zh-CN" sz="2800" dirty="0"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2400" y="1127244"/>
                <a:ext cx="8763000" cy="4525963"/>
              </a:xfrm>
              <a:prstGeom prst="rect">
                <a:avLst/>
              </a:prstGeom>
              <a:blipFill rotWithShape="1">
                <a:blip r:embed="rId3"/>
                <a:stretch>
                  <a:fillRect t="-3" b="1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6086" name="图片 1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5900" y="2350724"/>
            <a:ext cx="6172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087" name="图片 2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3" r="2"/>
          <a:stretch>
            <a:fillRect/>
          </a:stretch>
        </p:blipFill>
        <p:spPr bwMode="auto">
          <a:xfrm>
            <a:off x="1482524" y="3738945"/>
            <a:ext cx="6172200" cy="617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609600" y="4862826"/>
                <a:ext cx="8229600" cy="13419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 algn="just">
                  <a:lnSpc>
                    <a:spcPct val="90000"/>
                  </a:lnSpc>
                  <a:spcBef>
                    <a:spcPct val="20000"/>
                  </a:spcBef>
                </a:pPr>
                <a:r>
                  <a:rPr kumimoji="0" lang="zh-CN" altLang="en-US" sz="2800" dirty="0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因此，该自动机的正则表达式式为</a:t>
                </a:r>
                <a:r>
                  <a:rPr kumimoji="0" lang="en-AU" altLang="zh-CN" sz="2800" dirty="0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:</a:t>
                </a:r>
              </a:p>
              <a:p>
                <a:pPr lvl="1" algn="just">
                  <a:lnSpc>
                    <a:spcPct val="90000"/>
                  </a:lnSpc>
                  <a:spcBef>
                    <a:spcPct val="2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AU" altLang="zh-CN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kumimoji="0" lang="en-AU" altLang="zh-CN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e>
                        <m:sup>
                          <m:r>
                            <a:rPr kumimoji="0" lang="en-AU" altLang="zh-CN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∗</m:t>
                          </m:r>
                        </m:sup>
                      </m:sSup>
                      <m:sSup>
                        <m:sSupPr>
                          <m:ctrlPr>
                            <a:rPr kumimoji="0" lang="en-AU" altLang="zh-CN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kumimoji="0" lang="en-AU" altLang="zh-CN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00</m:t>
                          </m:r>
                        </m:e>
                        <m:sup>
                          <m:r>
                            <a:rPr kumimoji="0" lang="en-AU" altLang="zh-CN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∗</m:t>
                          </m:r>
                        </m:sup>
                      </m:sSup>
                      <m:sSup>
                        <m:sSupPr>
                          <m:ctrlPr>
                            <a:rPr kumimoji="0" lang="en-AU" altLang="zh-CN" sz="28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kumimoji="0" lang="en-AU" altLang="zh-CN" sz="2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kumimoji="0" lang="en-US" altLang="zh-CN" sz="2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  <m:r>
                                <a:rPr kumimoji="0" lang="en-AU" altLang="zh-CN" sz="2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kumimoji="0" lang="en-US" altLang="zh-CN" sz="2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00</m:t>
                              </m:r>
                            </m:e>
                            <m:sup>
                              <m:r>
                                <a:rPr kumimoji="0" lang="en-AU" altLang="zh-CN" sz="2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kumimoji="0" lang="en-US" altLang="zh-CN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1+1</m:t>
                          </m:r>
                          <m:sSup>
                            <m:sSupPr>
                              <m:ctrlPr>
                                <a:rPr kumimoji="0" lang="en-AU" altLang="zh-CN" sz="2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kumimoji="0" lang="en-AU" altLang="zh-CN" sz="2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kumimoji="0" lang="en-AU" altLang="zh-CN" sz="2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kumimoji="0" lang="en-US" altLang="zh-CN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  <m:sSup>
                            <m:sSupPr>
                              <m:ctrlPr>
                                <a:rPr kumimoji="0" lang="en-AU" altLang="zh-CN" sz="2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kumimoji="0" lang="en-US" altLang="zh-CN" sz="2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kumimoji="0" lang="en-AU" altLang="zh-CN" sz="2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kumimoji="0" lang="en-US" altLang="zh-CN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kumimoji="0" lang="en-AU" altLang="zh-CN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  <m:sup>
                          <m:r>
                            <a:rPr kumimoji="0" lang="en-AU" altLang="zh-CN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kumimoji="0" lang="en-US" altLang="zh-CN" sz="2800" b="0" dirty="0">
                  <a:cs typeface="Times New Roman" panose="02020603050405020304" pitchFamily="18" charset="0"/>
                </a:endParaRPr>
              </a:p>
              <a:p>
                <a:pPr lvl="1" algn="just">
                  <a:lnSpc>
                    <a:spcPct val="90000"/>
                  </a:lnSpc>
                  <a:spcBef>
                    <a:spcPct val="20000"/>
                  </a:spcBef>
                </a:pPr>
                <a:r>
                  <a:rPr lang="en-AU" sz="2800" dirty="0"/>
                  <a:t>			</a:t>
                </a:r>
                <a:r>
                  <a:rPr lang="en-AU" sz="2800" dirty="0">
                    <a:solidFill>
                      <a:srgbClr val="FF0000"/>
                    </a:solidFill>
                  </a:rPr>
                  <a:t>(1+0)*01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4862826"/>
                <a:ext cx="8229600" cy="1341906"/>
              </a:xfrm>
              <a:prstGeom prst="rect">
                <a:avLst/>
              </a:prstGeom>
              <a:blipFill rotWithShape="1">
                <a:blip r:embed="rId6"/>
                <a:stretch>
                  <a:fillRect t="-47" b="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内容大纲</a:t>
            </a:r>
            <a:endParaRPr lang="en-AU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olidFill>
                  <a:srgbClr val="BFBFBF"/>
                </a:solidFill>
              </a:rPr>
              <a:t>正则表达式</a:t>
            </a:r>
            <a:r>
              <a:rPr lang="en-AU" altLang="zh-CN" dirty="0">
                <a:solidFill>
                  <a:srgbClr val="BFBFBF"/>
                </a:solidFill>
              </a:rPr>
              <a:t>	</a:t>
            </a:r>
          </a:p>
          <a:p>
            <a:pPr lvl="1"/>
            <a:r>
              <a:rPr lang="zh-CN" altLang="en-US" dirty="0">
                <a:solidFill>
                  <a:srgbClr val="BFBFBF"/>
                </a:solidFill>
              </a:rPr>
              <a:t>正则表达式的递归定义</a:t>
            </a:r>
            <a:endParaRPr lang="en-AU" altLang="zh-CN" dirty="0">
              <a:solidFill>
                <a:srgbClr val="BFBFBF"/>
              </a:solidFill>
            </a:endParaRPr>
          </a:p>
          <a:p>
            <a:pPr lvl="1"/>
            <a:r>
              <a:rPr lang="zh-CN" altLang="en-US" dirty="0">
                <a:solidFill>
                  <a:srgbClr val="BFBFBF"/>
                </a:solidFill>
              </a:rPr>
              <a:t>正则表达式的示例</a:t>
            </a:r>
            <a:endParaRPr lang="en-AU" altLang="zh-CN" dirty="0">
              <a:solidFill>
                <a:srgbClr val="BFBFBF"/>
              </a:solidFill>
            </a:endParaRPr>
          </a:p>
          <a:p>
            <a:r>
              <a:rPr lang="zh-CN" altLang="en-US" dirty="0"/>
              <a:t>有穷自动机和正则表达式</a:t>
            </a:r>
            <a:endParaRPr lang="en-AU" altLang="zh-CN" dirty="0"/>
          </a:p>
          <a:p>
            <a:pPr lvl="1"/>
            <a:r>
              <a:rPr lang="zh-CN" altLang="en-US" dirty="0"/>
              <a:t>由自动机到正则表达式</a:t>
            </a:r>
            <a:endParaRPr lang="en-AU" altLang="zh-CN" dirty="0"/>
          </a:p>
          <a:p>
            <a:pPr lvl="1"/>
            <a:r>
              <a:rPr lang="zh-CN" altLang="en-US" dirty="0"/>
              <a:t>由正则表达式到自动机</a:t>
            </a:r>
            <a:endParaRPr lang="en-AU" altLang="zh-CN" dirty="0"/>
          </a:p>
          <a:p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正则表达式的代数定律</a:t>
            </a:r>
            <a:endParaRPr lang="en-AU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19564F-3A13-4140-9CFC-3B75A7CC7F9C}" type="slidenum">
              <a:rPr lang="en-US" altLang="zh-CN" smtClean="0"/>
              <a:t>42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775"/>
    </mc:Choice>
    <mc:Fallback xmlns="">
      <p:transition spd="slow" advTm="19775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正则表达式的递归定义</a:t>
            </a:r>
            <a:r>
              <a:rPr lang="en-US" altLang="zh-CN" dirty="0"/>
              <a:t>(</a:t>
            </a:r>
            <a:r>
              <a:rPr lang="zh-CN" altLang="en-US" dirty="0"/>
              <a:t>回顾</a:t>
            </a:r>
            <a:r>
              <a:rPr lang="en-US" altLang="zh-CN" dirty="0"/>
              <a:t>)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62336" y="990600"/>
                <a:ext cx="8019327" cy="4525963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zh-CN" altLang="en-US" dirty="0"/>
                  <a:t>基础：</a:t>
                </a:r>
                <a:endParaRPr lang="en-US" altLang="zh-CN" dirty="0"/>
              </a:p>
              <a:p>
                <a:pPr marL="857250" lvl="1" indent="-45720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zh-CN" altLang="en-US" b="1" dirty="0"/>
                  <a:t>是一个正则表达式，表示空语言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 </m:t>
                    </m:r>
                  </m:oMath>
                </a14:m>
                <a:r>
                  <a:rPr lang="zh-CN" altLang="en-US" b="1" dirty="0"/>
                  <a:t>。</a:t>
                </a:r>
                <a:endParaRPr lang="en-AU" altLang="zh-CN" b="1" dirty="0"/>
              </a:p>
              <a:p>
                <a:pPr marL="857250" lvl="1" indent="-45720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zh-CN" altLang="en-US" b="1" i="1" smtClean="0">
                        <a:latin typeface="Cambria Math" panose="02040503050406030204" pitchFamily="18" charset="0"/>
                      </a:rPr>
                      <m:t>𝜺</m:t>
                    </m:r>
                    <m:r>
                      <a:rPr lang="zh-CN" altLang="en-US" b="1" i="1">
                        <a:latin typeface="Cambria Math" panose="02040503050406030204" pitchFamily="18" charset="0"/>
                      </a:rPr>
                      <m:t>是</m:t>
                    </m:r>
                  </m:oMath>
                </a14:m>
                <a:r>
                  <a:rPr lang="zh-CN" altLang="en-US" b="1" dirty="0"/>
                  <a:t>一个正则表达式，表示语言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AU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AU" b="1" i="1" smtClean="0">
                            <a:latin typeface="Cambria Math" panose="02040503050406030204" pitchFamily="18" charset="0"/>
                          </a:rPr>
                          <m:t>𝜺</m:t>
                        </m:r>
                      </m:e>
                    </m:d>
                    <m:r>
                      <a:rPr lang="zh-CN" altLang="en-US" b="1" i="1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endParaRPr lang="en-US" altLang="zh-CN" b="1" dirty="0"/>
              </a:p>
              <a:p>
                <a:pPr marL="857250" lvl="1" indent="-457200">
                  <a:buFont typeface="Wingdings" panose="05000000000000000000" pitchFamily="2" charset="2"/>
                  <a:buChar char="Ø"/>
                </a:pPr>
                <a:r>
                  <a:rPr lang="zh-CN" altLang="en-US" b="1" dirty="0"/>
                  <a:t>对于任意一个符号</a:t>
                </a:r>
                <a14:m>
                  <m:oMath xmlns:m="http://schemas.openxmlformats.org/officeDocument/2006/math">
                    <m:r>
                      <a:rPr lang="en-AU" altLang="zh-CN" b="1" i="1" smtClean="0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AU" b="1" dirty="0"/>
                  <a:t>，</a:t>
                </a:r>
                <a14:m>
                  <m:oMath xmlns:m="http://schemas.openxmlformats.org/officeDocument/2006/math">
                    <m:r>
                      <a:rPr lang="en-US" altLang="zh-CN" b="1" i="1" dirty="0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b="1" dirty="0"/>
                  <a:t>是一个正则表达式，表示语言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AU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d>
                  </m:oMath>
                </a14:m>
                <a:r>
                  <a:rPr lang="zh-CN" altLang="en-US" sz="2000" b="1" dirty="0"/>
                  <a:t>，</a:t>
                </a:r>
                <a:r>
                  <a:rPr lang="zh-CN" altLang="en-US" b="1" dirty="0"/>
                  <a:t>其有一个长度为</a:t>
                </a:r>
                <a:r>
                  <a:rPr lang="en-US" altLang="zh-CN" b="1" dirty="0"/>
                  <a:t>1</a:t>
                </a:r>
                <a:r>
                  <a:rPr lang="zh-CN" altLang="en-US" b="1" dirty="0"/>
                  <a:t>的字符串。</a:t>
                </a:r>
                <a:endParaRPr lang="en-US" altLang="zh-CN" b="1" dirty="0"/>
              </a:p>
              <a:p>
                <a:pPr marL="0" lvl="1" indent="0">
                  <a:buNone/>
                </a:pPr>
                <a:r>
                  <a:rPr lang="zh-CN" altLang="en-US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归纳：</a:t>
                </a:r>
                <a:r>
                  <a:rPr lang="zh-CN" altLang="en-US" b="1" dirty="0"/>
                  <a:t>如果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AU" altLang="zh-CN" b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b="1" dirty="0"/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AU" altLang="zh-CN" b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b="1" dirty="0"/>
                  <a:t>是正则表达式，则</a:t>
                </a:r>
                <a:endParaRPr lang="en-US" altLang="zh-CN" b="1" dirty="0"/>
              </a:p>
              <a:p>
                <a:pPr marL="857250" lvl="1" indent="-457200">
                  <a:lnSpc>
                    <a:spcPct val="125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1" dirty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AU" altLang="zh-CN" b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1" dirty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AU" altLang="zh-CN" b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b="1" dirty="0"/>
                  <a:t>也是正则表达式</a:t>
                </a:r>
                <a14:m>
                  <m:oMath xmlns:m="http://schemas.openxmlformats.org/officeDocument/2006/math">
                    <m:r>
                      <a:rPr lang="zh-CN" altLang="en-US" b="1" dirty="0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endParaRPr lang="en-AU" altLang="zh-CN" b="1" dirty="0"/>
              </a:p>
              <a:p>
                <a:pPr marL="857250" lvl="1" indent="-457200">
                  <a:lnSpc>
                    <a:spcPct val="125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1" dirty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AU" altLang="zh-CN" b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altLang="zh-CN" b="1" dirty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AU" altLang="zh-CN" b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b="1" dirty="0"/>
                  <a:t>也是正则表达式。</a:t>
                </a:r>
                <a:endParaRPr lang="en-AU" altLang="zh-CN" b="1" dirty="0"/>
              </a:p>
              <a:p>
                <a:pPr marL="857250" lvl="1" indent="-457200">
                  <a:lnSpc>
                    <a:spcPct val="125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b="1" dirty="0"/>
                  <a:t>归则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p>
                        <m:r>
                          <a:rPr lang="en-AU" altLang="zh-CN" b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altLang="en-US" b="1" dirty="0"/>
                  <a:t>也是正则表达式。</a:t>
                </a:r>
                <a:endParaRPr lang="en-AU" altLang="zh-CN" b="1" dirty="0"/>
              </a:p>
              <a:p>
                <a:pPr marL="857250" lvl="1" indent="-457200">
                  <a:lnSpc>
                    <a:spcPct val="125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AU" altLang="zh-CN" b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zh-CN" b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AU" altLang="zh-CN" b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b="1" dirty="0"/>
                  <a:t>也是正则表达式。</a:t>
                </a:r>
                <a:endParaRPr lang="en-AU" altLang="zh-CN" b="1" dirty="0"/>
              </a:p>
              <a:p>
                <a:pPr marL="0" lvl="1" indent="0">
                  <a:buNone/>
                </a:pPr>
                <a:endParaRPr lang="en-US" altLang="zh-CN" b="1" dirty="0"/>
              </a:p>
              <a:p>
                <a:pPr marL="400050" lvl="1" indent="0">
                  <a:buNone/>
                </a:pPr>
                <a:endParaRPr lang="en-AU" altLang="zh-CN"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62336" y="990600"/>
                <a:ext cx="8019327" cy="4525963"/>
              </a:xfrm>
              <a:blipFill rotWithShape="1">
                <a:blip r:embed="rId2"/>
                <a:stretch>
                  <a:fillRect l="-5" r="3" b="-431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19564F-3A13-4140-9CFC-3B75A7CC7F9C}" type="slidenum">
              <a:rPr lang="en-US" altLang="zh-CN" smtClean="0"/>
              <a:t>43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55"/>
    </mc:Choice>
    <mc:Fallback xmlns="">
      <p:transition spd="slow" advTm="455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DFA</a:t>
            </a:r>
            <a:r>
              <a:rPr lang="en-US" altLang="zh-CN" dirty="0"/>
              <a:t>-&gt;</a:t>
            </a:r>
            <a:r>
              <a:rPr lang="zh-CN" altLang="en-US" dirty="0"/>
              <a:t>正则表达式</a:t>
            </a:r>
            <a:r>
              <a:rPr lang="en-AU" altLang="zh-CN" dirty="0"/>
              <a:t>:</a:t>
            </a:r>
            <a:r>
              <a:rPr lang="zh-CN" altLang="en-US" dirty="0"/>
              <a:t>递归法</a:t>
            </a:r>
            <a:r>
              <a:rPr lang="en-US" altLang="zh-CN" dirty="0"/>
              <a:t>(</a:t>
            </a:r>
            <a:r>
              <a:rPr lang="zh-CN" altLang="en-US" dirty="0"/>
              <a:t>回顾</a:t>
            </a:r>
            <a:r>
              <a:rPr lang="en-US" altLang="zh-CN" dirty="0"/>
              <a:t>)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85273" y="1006354"/>
                <a:ext cx="8229600" cy="4525963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25000"/>
                  </a:lnSpc>
                </a:pPr>
                <a:r>
                  <a:rPr lang="zh-CN" altLang="en-US" sz="2800" b="1" dirty="0"/>
                  <a:t>对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en-US" sz="2800" b="1" dirty="0"/>
                  <a:t>的状态进行编号，令</a:t>
                </a:r>
                <a:r>
                  <a:rPr lang="en-US" altLang="zh-CN" sz="2800" b="1" dirty="0"/>
                  <a:t>1</a:t>
                </a:r>
                <a:r>
                  <a:rPr lang="zh-CN" altLang="en-US" sz="2800" b="1" dirty="0"/>
                  <a:t>为开始状态，即</a:t>
                </a:r>
                <a:endParaRPr lang="en-AU" altLang="zh-CN" sz="2800" b="1" dirty="0"/>
              </a:p>
              <a:p>
                <a:pPr marL="0" indent="0">
                  <a:lnSpc>
                    <a:spcPct val="125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altLang="zh-CN" sz="2800" b="0" i="1" dirty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AU" altLang="zh-CN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AU" altLang="zh-CN" sz="28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AU" altLang="zh-CN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altLang="zh-CN" sz="2800" b="0" i="1" dirty="0" smtClean="0">
                                  <a:latin typeface="Cambria Math" panose="02040503050406030204" pitchFamily="18" charset="0"/>
                                </a:rPr>
                                <m:t>1,2,3,…,</m:t>
                              </m:r>
                              <m:r>
                                <a:rPr lang="en-AU" altLang="zh-CN" sz="2800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en-AU" altLang="zh-CN" sz="28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l-GR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  <m:r>
                            <a:rPr lang="en-AU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AU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  <m:r>
                            <a:rPr lang="en-AU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,1,</m:t>
                          </m:r>
                          <m:r>
                            <a:rPr lang="en-AU" altLang="zh-CN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e>
                      </m:d>
                    </m:oMath>
                  </m:oMathPara>
                </a14:m>
                <a:endParaRPr lang="en-AU" altLang="zh-CN" sz="2800" b="0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25000"/>
                  </a:lnSpc>
                  <a:buNone/>
                </a:pPr>
                <a:r>
                  <a:rPr lang="zh-CN" altLang="en-US" sz="2800" dirty="0"/>
                  <a:t>设</a:t>
                </a:r>
                <a:r>
                  <a:rPr lang="zh-CN" altLang="en-US" sz="2800" dirty="0">
                    <a:solidFill>
                      <a:srgbClr val="3333FF"/>
                    </a:solidFill>
                  </a:rPr>
                  <a:t>正则表达式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800" i="1" dirty="0" smtClean="0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AU" altLang="zh-CN" sz="2800" b="0" i="1" dirty="0" smtClean="0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AU" altLang="zh-CN" sz="2800" b="0" i="1" dirty="0" smtClean="0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AU" altLang="zh-CN" sz="2800" b="0" i="1" dirty="0" smtClean="0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altLang="zh-CN" sz="2800" b="0" i="1" dirty="0" smtClean="0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AU" altLang="zh-CN" sz="2800" b="0" i="1" dirty="0" smtClean="0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AU" altLang="zh-CN" sz="2800" b="0" i="1" dirty="0" smtClean="0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AU" altLang="zh-CN" sz="2800" b="0" i="1" dirty="0" smtClean="0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en-US" altLang="zh-CN" sz="2800" dirty="0">
                    <a:solidFill>
                      <a:srgbClr val="0070C0"/>
                    </a:solidFill>
                  </a:rPr>
                  <a:t> </a:t>
                </a:r>
                <a:r>
                  <a:rPr lang="zh-CN" altLang="en-US" sz="2800" dirty="0"/>
                  <a:t>表示从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2800" dirty="0"/>
                  <a:t> </a:t>
                </a:r>
                <a:r>
                  <a:rPr lang="zh-CN" altLang="en-US" sz="2800" dirty="0"/>
                  <a:t>到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altLang="zh-CN" sz="2800" dirty="0"/>
                  <a:t> </a:t>
                </a:r>
                <a:r>
                  <a:rPr lang="zh-CN" altLang="en-US" sz="2800" dirty="0"/>
                  <a:t>但中间节点状态编号不超过</a:t>
                </a:r>
                <a14:m>
                  <m:oMath xmlns:m="http://schemas.openxmlformats.org/officeDocument/2006/math">
                    <m:r>
                      <a:rPr lang="en-US" altLang="zh-CN" sz="2800" b="1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800" b="1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800" dirty="0"/>
                  <a:t>全部路径的字符串集（简称</a:t>
                </a:r>
                <a14:m>
                  <m:oMath xmlns:m="http://schemas.openxmlformats.org/officeDocument/2006/math">
                    <m:r>
                      <a:rPr lang="en-AU" altLang="zh-CN" sz="280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AU" altLang="zh-CN" sz="2800" dirty="0"/>
                  <a:t>-</a:t>
                </a:r>
                <a:r>
                  <a:rPr lang="zh-CN" altLang="en-US" sz="2800" dirty="0"/>
                  <a:t>路径</a:t>
                </a:r>
                <a:r>
                  <a:rPr lang="en-AU" altLang="zh-CN" dirty="0"/>
                  <a:t>)</a:t>
                </a:r>
                <a:r>
                  <a:rPr lang="en-US" altLang="zh-CN" dirty="0"/>
                  <a:t>:</a:t>
                </a:r>
                <a:endParaRPr lang="en-US" altLang="zh-CN" sz="2800" dirty="0"/>
              </a:p>
              <a:p>
                <a:pPr marL="0" indent="0">
                  <a:buNone/>
                </a:pPr>
                <a:endParaRPr lang="en-US" altLang="zh-CN" sz="18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AU" altLang="zh-CN" sz="2400" i="1" dirty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AU" altLang="zh-CN" sz="24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AU" altLang="zh-CN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AU" altLang="zh-CN" sz="2400" i="1" dirty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AU" altLang="zh-CN" sz="24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AU" altLang="zh-CN" sz="2400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AU" altLang="zh-CN" sz="24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AU" altLang="zh-CN" sz="24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400" b="1" i="1" dirty="0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|"/>
                          <m:ctrlPr>
                            <a:rPr lang="en-US" altLang="zh-CN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acc>
                        <m:accPr>
                          <m:chr m:val="̂"/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</m:acc>
                      <m:d>
                        <m:dPr>
                          <m:ctrlPr>
                            <a:rPr lang="en-US" altLang="zh-CN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altLang="zh-CN" sz="24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AU" altLang="zh-CN" sz="24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AU" altLang="zh-CN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AU" altLang="zh-CN" sz="24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altLang="zh-CN" sz="2400" b="0" i="1" dirty="0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 , 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400" b="1" i="1" dirty="0">
                          <a:latin typeface="Cambria Math" panose="02040503050406030204" pitchFamily="18" charset="0"/>
                        </a:rPr>
                        <m:t>经过的状态除两端外都不超过</m:t>
                      </m:r>
                      <m:r>
                        <a:rPr lang="zh-CN" altLang="en-US" sz="2400" b="1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AU" altLang="zh-CN" sz="2400" b="0" i="1" dirty="0" smtClean="0"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5273" y="1006354"/>
                <a:ext cx="8229600" cy="4525963"/>
              </a:xfrm>
              <a:blipFill rotWithShape="1">
                <a:blip r:embed="rId3"/>
                <a:stretch>
                  <a:fillRect l="-2" t="-11" r="2" b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19564F-3A13-4140-9CFC-3B75A7CC7F9C}" type="slidenum">
              <a:rPr lang="en-US" altLang="zh-CN" smtClean="0"/>
              <a:t>44</a:t>
            </a:fld>
            <a:endParaRPr lang="en-US" altLang="zh-CN"/>
          </a:p>
        </p:txBody>
      </p:sp>
      <p:pic>
        <p:nvPicPr>
          <p:cNvPr id="9" name="Picture 8" descr="A picture containing hanger&#10;&#10;Description automatically generated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9977" y="4495800"/>
            <a:ext cx="5700023" cy="7160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3011"/>
    </mc:Choice>
    <mc:Fallback xmlns="">
      <p:transition spd="slow" advTm="6301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递归关系示意图</a:t>
            </a:r>
            <a:r>
              <a:rPr lang="en-US" altLang="zh-CN" dirty="0"/>
              <a:t>(</a:t>
            </a:r>
            <a:r>
              <a:rPr lang="zh-CN" altLang="en-US" dirty="0"/>
              <a:t>回顾</a:t>
            </a:r>
            <a:r>
              <a:rPr lang="en-US" altLang="zh-CN" dirty="0"/>
              <a:t>)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85800" y="1143000"/>
                <a:ext cx="8458200" cy="4548981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sz="2400" dirty="0"/>
                  <a:t>递归关系：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AU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AU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AU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AU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AU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AU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en-US" altLang="zh-CN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AU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AU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AU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AU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AU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AU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en-US" altLang="zh-CN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AU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AU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AU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AU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AU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AU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  <m:r>
                          <a:rPr lang="en-AU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Sup>
                          <m:sSubSupPr>
                            <m:ctrlPr>
                              <a:rPr lang="en-US" altLang="zh-CN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AU" altLang="zh-CN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AU" altLang="zh-CN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AU" altLang="zh-CN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AU" altLang="zh-CN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AU" altLang="zh-CN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AU" altLang="zh-CN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AU" altLang="zh-CN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AU" altLang="zh-CN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−1)</m:t>
                            </m:r>
                          </m:sup>
                        </m:sSubSup>
                        <m:r>
                          <a:rPr lang="en-AU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AU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sSubSup>
                      <m:sSubSupPr>
                        <m:ctrlP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AU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AU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AU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AU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AU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AU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AU" altLang="zh-CN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  <m:r>
                          <a:rPr lang="en-AU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</m:oMath>
                </a14:m>
                <a:endParaRPr lang="en-AU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800" y="1143000"/>
                <a:ext cx="8458200" cy="4548981"/>
              </a:xfrm>
              <a:blipFill rotWithShape="1">
                <a:blip r:embed="rId2"/>
                <a:stretch>
                  <a:fillRect b="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19564F-3A13-4140-9CFC-3B75A7CC7F9C}" type="slidenum">
              <a:rPr lang="en-US" altLang="zh-CN" smtClean="0"/>
              <a:t>45</a:t>
            </a:fld>
            <a:endParaRPr lang="en-US" altLang="zh-CN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9623" y="1981200"/>
            <a:ext cx="6621953" cy="3532671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43000"/>
                <a:ext cx="8229600" cy="4525963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kumimoji="0" lang="zh-CN" altLang="en-US" dirty="0"/>
                  <a:t>更一般的情况，要为被删除的状态</a:t>
                </a:r>
                <a14:m>
                  <m:oMath xmlns:m="http://schemas.openxmlformats.org/officeDocument/2006/math">
                    <m:r>
                      <a:rPr kumimoji="0" lang="en-US" altLang="zh-CN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kumimoji="0" lang="zh-CN" altLang="en-US" dirty="0"/>
                  <a:t>的每个“入”和“出”路径的组合</a:t>
                </a:r>
                <a:r>
                  <a:rPr kumimoji="0" lang="en-US" altLang="zh-CN" dirty="0"/>
                  <a:t>, </a:t>
                </a:r>
                <a:r>
                  <a:rPr kumimoji="0" lang="zh-CN" altLang="en-US" dirty="0"/>
                  <a:t>补一条等价的新路径</a:t>
                </a:r>
                <a:r>
                  <a:rPr kumimoji="0" lang="en-US" altLang="zh-CN" dirty="0"/>
                  <a:t>, </a:t>
                </a:r>
                <a:r>
                  <a:rPr kumimoji="0" lang="zh-CN" altLang="en-US" dirty="0"/>
                  <a:t>并用新的正则表达式表示</a:t>
                </a:r>
                <a:endParaRPr kumimoji="0" lang="en-AU" altLang="zh-CN" dirty="0"/>
              </a:p>
              <a:p>
                <a:endParaRPr lang="en-AU" altLang="zh-CN" dirty="0"/>
              </a:p>
              <a:p>
                <a:endParaRPr kumimoji="0" lang="en-AU" altLang="zh-CN" dirty="0"/>
              </a:p>
              <a:p>
                <a:endParaRPr lang="en-AU" altLang="zh-CN" dirty="0"/>
              </a:p>
              <a:p>
                <a:endParaRPr kumimoji="0" lang="en-AU" altLang="zh-CN" dirty="0"/>
              </a:p>
              <a:p>
                <a:endParaRPr lang="en-AU" altLang="zh-CN" dirty="0"/>
              </a:p>
              <a:p>
                <a:endParaRPr lang="en-AU" altLang="zh-CN" dirty="0"/>
              </a:p>
              <a:p>
                <a:r>
                  <a:rPr lang="en-AU" altLang="zh-CN" dirty="0"/>
                  <a:t>2</a:t>
                </a:r>
                <a:r>
                  <a:rPr kumimoji="0" lang="zh-CN" altLang="en-US" dirty="0"/>
                  <a:t>条入，</a:t>
                </a:r>
                <a:r>
                  <a:rPr kumimoji="0" lang="en-AU" altLang="zh-CN" dirty="0"/>
                  <a:t>2</a:t>
                </a:r>
                <a:r>
                  <a:rPr kumimoji="0" lang="zh-CN" altLang="en-US" dirty="0"/>
                  <a:t>条出，要补</a:t>
                </a:r>
                <a:r>
                  <a:rPr kumimoji="0" lang="en-AU" altLang="zh-CN" dirty="0"/>
                  <a:t>4</a:t>
                </a:r>
                <a:r>
                  <a:rPr kumimoji="0" lang="zh-CN" altLang="en-US" dirty="0"/>
                  <a:t>条（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zh-CN" altLang="en-US" dirty="0"/>
                  <a:t>到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AU" altLang="zh-CN" dirty="0"/>
                  <a:t>,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zh-CN" altLang="en-US" dirty="0"/>
                  <a:t>到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AU" altLang="zh-CN" dirty="0"/>
                  <a:t>,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zh-CN" altLang="en-US" dirty="0"/>
                  <a:t>到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AU" altLang="zh-CN" dirty="0"/>
                  <a:t>,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zh-CN" altLang="en-US" dirty="0"/>
                  <a:t>到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kumimoji="0" lang="zh-CN" altLang="en-US" dirty="0"/>
                  <a:t>）</a:t>
                </a:r>
                <a:endParaRPr kumimoji="0" lang="en-US" altLang="zh-C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43000"/>
                <a:ext cx="8229600" cy="4525963"/>
              </a:xfrm>
              <a:blipFill rotWithShape="1">
                <a:blip r:embed="rId2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19564F-3A13-4140-9CFC-3B75A7CC7F9C}" type="slidenum">
              <a:rPr lang="en-US" altLang="zh-CN" smtClean="0"/>
              <a:t>46</a:t>
            </a:fld>
            <a:endParaRPr lang="en-US" altLang="zh-CN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5259" y="2591594"/>
            <a:ext cx="6633482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8229600" cy="393065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DFA</a:t>
            </a:r>
            <a:r>
              <a:rPr lang="en-US" altLang="zh-CN" dirty="0"/>
              <a:t>-&gt;</a:t>
            </a:r>
            <a:r>
              <a:rPr lang="zh-CN" altLang="en-US" dirty="0"/>
              <a:t>正则表达式</a:t>
            </a:r>
            <a:r>
              <a:rPr lang="en-AU" altLang="zh-CN" dirty="0"/>
              <a:t>:</a:t>
            </a:r>
            <a:r>
              <a:rPr lang="zh-CN" altLang="en-US" dirty="0"/>
              <a:t>状态消除法</a:t>
            </a:r>
            <a:r>
              <a:rPr lang="en-US" altLang="zh-CN" dirty="0"/>
              <a:t>(</a:t>
            </a:r>
            <a:r>
              <a:rPr lang="zh-CN" altLang="en-US" dirty="0"/>
              <a:t>回顾</a:t>
            </a:r>
            <a:r>
              <a:rPr lang="en-US" altLang="zh-CN" dirty="0"/>
              <a:t>)</a:t>
            </a:r>
            <a:endParaRPr lang="en-AU" dirty="0"/>
          </a:p>
        </p:txBody>
      </p:sp>
    </p:spTree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正则表达式到自动机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685800"/>
                <a:ext cx="8229600" cy="4525963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定理</a:t>
                </a:r>
                <a:r>
                  <a:rPr lang="en-AU" altLang="zh-CN" dirty="0"/>
                  <a:t>:</a:t>
                </a:r>
                <a:r>
                  <a:rPr lang="zh-CN" altLang="en-US" dirty="0"/>
                  <a:t>每个正则表达式定义的语言，都可被有穷自动机识别。</a:t>
                </a:r>
                <a:endParaRPr lang="en-US" altLang="zh-CN" dirty="0"/>
              </a:p>
              <a:p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  <a:sym typeface="Wingdings" panose="05000000000000000000" pitchFamily="2" charset="2"/>
                  </a:rPr>
                  <a:t></a:t>
                </a:r>
                <a:r>
                  <a:rPr lang="zh-CN" altLang="en-US" dirty="0"/>
                  <a:t>任何正则表达式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zh-CN" altLang="en-US" dirty="0"/>
                  <a:t>，都存在与其等价的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AU" altLang="zh-CN" dirty="0"/>
                  <a:t>-</a:t>
                </a:r>
                <a:r>
                  <a:rPr lang="en-AU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NFA  </a:t>
                </a:r>
                <a14:m>
                  <m:oMath xmlns:m="http://schemas.openxmlformats.org/officeDocument/2006/math"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AU" altLang="zh-CN" dirty="0"/>
                  <a:t>,</a:t>
                </a:r>
                <a:r>
                  <a:rPr lang="zh-CN" altLang="en-US" dirty="0"/>
                  <a:t>即</a:t>
                </a:r>
                <a14:m>
                  <m:oMath xmlns:m="http://schemas.openxmlformats.org/officeDocument/2006/math">
                    <m:r>
                      <a:rPr lang="en-AU" altLang="zh-CN" b="1" i="0" smtClean="0">
                        <a:latin typeface="Cambria Math" panose="02040503050406030204" pitchFamily="18" charset="0"/>
                      </a:rPr>
                      <m:t>𝐋</m:t>
                    </m:r>
                    <m:d>
                      <m:dPr>
                        <m:ctrlPr>
                          <a:rPr lang="en-AU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altLang="zh-CN" b="1" i="0" smtClean="0">
                        <a:latin typeface="Cambria Math" panose="02040503050406030204" pitchFamily="18" charset="0"/>
                      </a:rPr>
                      <m:t>𝐋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，并且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en-US" dirty="0"/>
                  <a:t>满足</a:t>
                </a:r>
                <a:r>
                  <a:rPr lang="en-AU" altLang="zh-CN" dirty="0"/>
                  <a:t>:</a:t>
                </a:r>
              </a:p>
              <a:p>
                <a:pPr lvl="1"/>
                <a:r>
                  <a:rPr lang="zh-CN" altLang="en-US" sz="2400" dirty="0"/>
                  <a:t>仅有一个接受状态；</a:t>
                </a:r>
                <a:endParaRPr lang="en-AU" altLang="zh-CN" sz="2400" dirty="0"/>
              </a:p>
              <a:p>
                <a:pPr lvl="1"/>
                <a:r>
                  <a:rPr lang="zh-CN" altLang="en-US" sz="2400" dirty="0"/>
                  <a:t>没有进入开始状态的边；</a:t>
                </a:r>
                <a:endParaRPr lang="en-AU" altLang="zh-CN" sz="2400" dirty="0"/>
              </a:p>
              <a:p>
                <a:pPr lvl="1"/>
                <a:r>
                  <a:rPr lang="zh-CN" altLang="en-US" sz="2400" dirty="0"/>
                  <a:t>没有离开接受状态的边。</a:t>
                </a:r>
                <a:endParaRPr lang="en-AU" altLang="zh-CN" sz="2400" dirty="0"/>
              </a:p>
              <a:p>
                <a:pPr marL="0" indent="0">
                  <a:buNone/>
                </a:pPr>
                <a:endParaRPr lang="en-AU" altLang="zh-C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685800"/>
                <a:ext cx="8229600" cy="4525963"/>
              </a:xfrm>
              <a:blipFill rotWithShape="1">
                <a:blip r:embed="rId3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19564F-3A13-4140-9CFC-3B75A7CC7F9C}" type="slidenum">
              <a:rPr lang="en-US" altLang="zh-CN" smtClean="0"/>
              <a:t>47</a:t>
            </a:fld>
            <a:endParaRPr lang="en-US" altLang="zh-CN"/>
          </a:p>
        </p:txBody>
      </p:sp>
      <p:sp>
        <p:nvSpPr>
          <p:cNvPr id="5" name="Oval 4"/>
          <p:cNvSpPr/>
          <p:nvPr/>
        </p:nvSpPr>
        <p:spPr>
          <a:xfrm>
            <a:off x="1962150" y="4425164"/>
            <a:ext cx="628650" cy="60959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cxnSp>
        <p:nvCxnSpPr>
          <p:cNvPr id="6" name="Straight Arrow Connector 6"/>
          <p:cNvCxnSpPr/>
          <p:nvPr/>
        </p:nvCxnSpPr>
        <p:spPr>
          <a:xfrm>
            <a:off x="609600" y="4719328"/>
            <a:ext cx="13525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Oval 7"/>
          <p:cNvSpPr/>
          <p:nvPr/>
        </p:nvSpPr>
        <p:spPr>
          <a:xfrm>
            <a:off x="5743579" y="4175768"/>
            <a:ext cx="685800" cy="60959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8" name="Oval 8"/>
          <p:cNvSpPr/>
          <p:nvPr/>
        </p:nvSpPr>
        <p:spPr>
          <a:xfrm>
            <a:off x="5819779" y="4251967"/>
            <a:ext cx="533400" cy="4572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cxnSp>
        <p:nvCxnSpPr>
          <p:cNvPr id="9" name="Straight Arrow Connector 9"/>
          <p:cNvCxnSpPr/>
          <p:nvPr/>
        </p:nvCxnSpPr>
        <p:spPr>
          <a:xfrm flipH="1">
            <a:off x="2543176" y="4229105"/>
            <a:ext cx="922018" cy="3429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Multiplication Sign 11"/>
          <p:cNvSpPr/>
          <p:nvPr/>
        </p:nvSpPr>
        <p:spPr>
          <a:xfrm>
            <a:off x="2762250" y="4182436"/>
            <a:ext cx="483869" cy="485455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cxnSp>
        <p:nvCxnSpPr>
          <p:cNvPr id="11" name="Straight Arrow Connector 12"/>
          <p:cNvCxnSpPr/>
          <p:nvPr/>
        </p:nvCxnSpPr>
        <p:spPr>
          <a:xfrm>
            <a:off x="4391029" y="4480567"/>
            <a:ext cx="13525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3"/>
          <p:cNvCxnSpPr/>
          <p:nvPr/>
        </p:nvCxnSpPr>
        <p:spPr>
          <a:xfrm>
            <a:off x="6429379" y="4480567"/>
            <a:ext cx="13525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Multiplication Sign 14"/>
          <p:cNvSpPr/>
          <p:nvPr/>
        </p:nvSpPr>
        <p:spPr>
          <a:xfrm>
            <a:off x="6968494" y="4202170"/>
            <a:ext cx="483869" cy="485455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4" name="Rectangle: Rounded Corners 15"/>
          <p:cNvSpPr/>
          <p:nvPr/>
        </p:nvSpPr>
        <p:spPr>
          <a:xfrm>
            <a:off x="3280412" y="5257805"/>
            <a:ext cx="3585212" cy="1219195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Oval 16"/>
          <p:cNvSpPr/>
          <p:nvPr/>
        </p:nvSpPr>
        <p:spPr>
          <a:xfrm>
            <a:off x="3489965" y="5562603"/>
            <a:ext cx="628650" cy="60959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6" name="Oval 18"/>
          <p:cNvSpPr/>
          <p:nvPr/>
        </p:nvSpPr>
        <p:spPr>
          <a:xfrm>
            <a:off x="5695954" y="5460689"/>
            <a:ext cx="937257" cy="842275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7" name="Oval 17"/>
          <p:cNvSpPr/>
          <p:nvPr/>
        </p:nvSpPr>
        <p:spPr>
          <a:xfrm>
            <a:off x="5812800" y="5562603"/>
            <a:ext cx="685800" cy="60959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cxnSp>
        <p:nvCxnSpPr>
          <p:cNvPr id="18" name="Straight Arrow Connector 19"/>
          <p:cNvCxnSpPr/>
          <p:nvPr/>
        </p:nvCxnSpPr>
        <p:spPr>
          <a:xfrm>
            <a:off x="2137415" y="5867405"/>
            <a:ext cx="13525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20"/>
          <p:cNvSpPr txBox="1"/>
          <p:nvPr/>
        </p:nvSpPr>
        <p:spPr>
          <a:xfrm flipH="1">
            <a:off x="1396366" y="5636568"/>
            <a:ext cx="15773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22"/>
              <p:cNvSpPr txBox="1"/>
              <p:nvPr/>
            </p:nvSpPr>
            <p:spPr>
              <a:xfrm>
                <a:off x="2667000" y="5729052"/>
                <a:ext cx="457200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 smtClean="0"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en-AU" altLang="zh-CN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altLang="zh-CN" sz="2000" b="0" i="1" smtClean="0">
                          <a:latin typeface="Cambria Math" panose="02040503050406030204" pitchFamily="18" charset="0"/>
                        </a:rPr>
                        <m:t>𝑁𝐹𝐴</m:t>
                      </m:r>
                    </m:oMath>
                  </m:oMathPara>
                </a14:m>
                <a:endParaRPr lang="en-AU" sz="2000" dirty="0"/>
              </a:p>
            </p:txBody>
          </p:sp>
        </mc:Choice>
        <mc:Fallback xmlns="">
          <p:sp>
            <p:nvSpPr>
              <p:cNvPr id="20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00" y="5729052"/>
                <a:ext cx="4572000" cy="400110"/>
              </a:xfrm>
              <a:prstGeom prst="rect">
                <a:avLst/>
              </a:prstGeom>
              <a:blipFill rotWithShape="1">
                <a:blip r:embed="rId4"/>
                <a:stretch>
                  <a:fillRect t="-20" b="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归纳法证明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33400" y="988646"/>
                <a:ext cx="8229600" cy="4525963"/>
              </a:xfrm>
            </p:spPr>
            <p:txBody>
              <a:bodyPr/>
              <a:lstStyle/>
              <a:p>
                <a:r>
                  <a:rPr lang="zh-CN" altLang="en-US" dirty="0"/>
                  <a:t>归纳基础：</a:t>
                </a:r>
                <a:endParaRPr lang="en-AU" altLang="zh-CN" dirty="0"/>
              </a:p>
              <a:p>
                <a:pPr marL="0" indent="0">
                  <a:buNone/>
                </a:pPr>
                <a:r>
                  <a:rPr lang="en-AU" altLang="zh-CN" dirty="0"/>
                  <a:t>1. </a:t>
                </a:r>
                <a:r>
                  <a:rPr lang="zh-CN" altLang="en-US" dirty="0"/>
                  <a:t>对正则表达式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zh-CN" altLang="en-US" dirty="0"/>
                  <a:t>，有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𝜀</m:t>
                    </m:r>
                    <m:r>
                      <m:rPr>
                        <m:nor/>
                      </m:rPr>
                      <a:rPr lang="en-US" altLang="zh-CN" dirty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altLang="zh-CN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NFA</m:t>
                    </m:r>
                  </m:oMath>
                </a14:m>
                <a:endParaRPr lang="en-AU" altLang="zh-CN" dirty="0"/>
              </a:p>
              <a:p>
                <a:endParaRPr lang="en-AU" dirty="0"/>
              </a:p>
              <a:p>
                <a:endParaRPr lang="en-AU" dirty="0"/>
              </a:p>
              <a:p>
                <a:pPr marL="0" indent="0">
                  <a:buNone/>
                </a:pPr>
                <a:r>
                  <a:rPr lang="en-AU" dirty="0"/>
                  <a:t>2. </a:t>
                </a:r>
                <a:r>
                  <a:rPr lang="zh-CN" altLang="en-US" dirty="0"/>
                  <a:t>对正则表达式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zh-CN" altLang="en-US" dirty="0"/>
                  <a:t>，有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𝜀</m:t>
                    </m:r>
                    <m:r>
                      <m:rPr>
                        <m:nor/>
                      </m:rPr>
                      <a:rPr lang="en-US" altLang="zh-CN" dirty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altLang="zh-CN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NFA</m:t>
                    </m:r>
                  </m:oMath>
                </a14:m>
                <a:endParaRPr lang="en-AU" dirty="0"/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:r>
                  <a:rPr lang="en-AU" dirty="0"/>
                  <a:t>3. </a:t>
                </a:r>
                <a14:m>
                  <m:oMath xmlns:m="http://schemas.openxmlformats.org/officeDocument/2006/math">
                    <m:r>
                      <a:rPr kumimoji="0" lang="zh-CN" altLang="en-US" sz="2800" i="1" smtClean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∀</m:t>
                    </m:r>
                    <m:r>
                      <a:rPr kumimoji="0" lang="en-AU" altLang="zh-CN" sz="2800" b="0" i="1" smtClean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𝑎</m:t>
                    </m:r>
                    <m:r>
                      <a:rPr kumimoji="0" lang="en-AU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kumimoji="0" lang="el-GR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Σ</m:t>
                    </m:r>
                  </m:oMath>
                </a14:m>
                <a:r>
                  <a:rPr kumimoji="0" lang="zh-CN" altLang="zh-TW" sz="28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kumimoji="0" lang="zh-TW" altLang="en-US" sz="28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对正则表达式</a:t>
                </a:r>
                <a:r>
                  <a:rPr kumimoji="0" lang="en-US" altLang="zh-TW" sz="2800" b="1" i="1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kumimoji="0" lang="zh-CN" altLang="en-US" sz="28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kumimoji="0" lang="zh-TW" altLang="en-US" sz="28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有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𝜀</m:t>
                    </m:r>
                    <m:r>
                      <m:rPr>
                        <m:nor/>
                      </m:rPr>
                      <a:rPr lang="en-US" altLang="zh-CN" dirty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altLang="zh-CN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NFA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3400" y="988646"/>
                <a:ext cx="8229600" cy="4525963"/>
              </a:xfrm>
              <a:blipFill rotWithShape="1">
                <a:blip r:embed="rId3"/>
                <a:stretch>
                  <a:fillRect t="-13" b="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19564F-3A13-4140-9CFC-3B75A7CC7F9C}" type="slidenum">
              <a:rPr lang="en-US" altLang="zh-CN" smtClean="0"/>
              <a:t>48</a:t>
            </a:fld>
            <a:endParaRPr lang="en-US" altLang="zh-CN"/>
          </a:p>
        </p:txBody>
      </p:sp>
      <p:pic>
        <p:nvPicPr>
          <p:cNvPr id="5" name="图片 1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2284046"/>
            <a:ext cx="3048000" cy="727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图片 2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6076" y="3718215"/>
            <a:ext cx="2903047" cy="725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图片 4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6445" y="5233156"/>
            <a:ext cx="27432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归纳法证明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66800"/>
                <a:ext cx="8229600" cy="4525963"/>
              </a:xfrm>
            </p:spPr>
            <p:txBody>
              <a:bodyPr/>
              <a:lstStyle/>
              <a:p>
                <a:r>
                  <a:rPr lang="zh-CN" altLang="en-US" dirty="0"/>
                  <a:t>归纳递推</a:t>
                </a:r>
                <a:r>
                  <a:rPr lang="en-AU" altLang="zh-CN" dirty="0"/>
                  <a:t>:</a:t>
                </a:r>
              </a:p>
              <a:p>
                <a:pPr marL="0" indent="0">
                  <a:buNone/>
                </a:pPr>
                <a:r>
                  <a:rPr lang="zh-CN" altLang="en-US" dirty="0"/>
                  <a:t>假设若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zh-CN" altLang="en-US" dirty="0"/>
                  <a:t>和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zh-CN" altLang="en-US" dirty="0"/>
                  <a:t>为正则表达式，则它们对应的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altLang="zh-CN" dirty="0"/>
                  <a:t>-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NFA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分</a:t>
                </a:r>
                <a:r>
                  <a:rPr lang="zh-CN" altLang="en-US" dirty="0"/>
                  <a:t>别为𝑅和𝑆。</a:t>
                </a:r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66800"/>
                <a:ext cx="8229600" cy="4525963"/>
              </a:xfrm>
              <a:blipFill rotWithShape="1">
                <a:blip r:embed="rId3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19564F-3A13-4140-9CFC-3B75A7CC7F9C}" type="slidenum">
              <a:rPr lang="en-US" altLang="zh-CN" smtClean="0"/>
              <a:t>49</a:t>
            </a:fld>
            <a:endParaRPr lang="en-US" altLang="zh-CN"/>
          </a:p>
        </p:txBody>
      </p:sp>
      <p:pic>
        <p:nvPicPr>
          <p:cNvPr id="5" name="图片 6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2743200"/>
            <a:ext cx="2646363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图片 7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4919" y="2743200"/>
            <a:ext cx="263207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归纳法证明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4525963"/>
          </a:xfrm>
        </p:spPr>
        <p:txBody>
          <a:bodyPr/>
          <a:lstStyle/>
          <a:p>
            <a:r>
              <a:rPr lang="zh-CN" altLang="en-US" dirty="0"/>
              <a:t>归纳递推</a:t>
            </a:r>
            <a:r>
              <a:rPr lang="en-AU" altLang="zh-CN" dirty="0"/>
              <a:t>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19564F-3A13-4140-9CFC-3B75A7CC7F9C}" type="slidenum">
              <a:rPr lang="en-US" altLang="zh-CN" smtClean="0"/>
              <a:t>50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1066800" y="1954929"/>
                <a:ext cx="7543800" cy="12454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lt1"/>
                    </a:solidFill>
                  </a14:hiddenFill>
                </a:ext>
              </a:ex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zh-CN" altLang="en-US" sz="2400" dirty="0"/>
                  <a:t>的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𝜀</m:t>
                    </m:r>
                    <m:r>
                      <m:rPr>
                        <m:nor/>
                      </m:rPr>
                      <a:rPr lang="en-US" altLang="zh-CN" sz="2400" dirty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altLang="zh-C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NFA</m:t>
                    </m:r>
                    <m:r>
                      <a:rPr lang="en-AU" altLang="zh-CN" sz="2400" b="0" i="1" dirty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AU" sz="1600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1954929"/>
                <a:ext cx="7543800" cy="1245471"/>
              </a:xfrm>
              <a:prstGeom prst="rect">
                <a:avLst/>
              </a:prstGeom>
              <a:blipFill rotWithShape="1">
                <a:blip r:embed="rId2"/>
                <a:stretch>
                  <a:fillRect t="-3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lt1"/>
                    </a:solidFill>
                  </a14:hiddenFill>
                </a:ext>
              </a:ex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 descr="Diagram&#10;&#10;Description automatically generated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314"/>
          <a:stretch>
            <a:fillRect/>
          </a:stretch>
        </p:blipFill>
        <p:spPr>
          <a:xfrm>
            <a:off x="3657600" y="1954929"/>
            <a:ext cx="4570027" cy="124547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 flipH="1">
                <a:off x="914400" y="4886761"/>
                <a:ext cx="7040881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添加一个开始状态和一个接受状态；</a:t>
                </a:r>
                <a:endParaRPr lang="en-AU" altLang="zh-CN" sz="24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将</a:t>
                </a:r>
                <a14:m>
                  <m:oMath xmlns:m="http://schemas.openxmlformats.org/officeDocument/2006/math">
                    <m:r>
                      <a:rPr lang="en-AU" altLang="zh-CN" sz="24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𝑅</m:t>
                    </m:r>
                  </m:oMath>
                </a14:m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AU" altLang="zh-CN" sz="24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𝑆</m:t>
                    </m:r>
                  </m:oMath>
                </a14:m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通过空转移以并的方式连接起来。</a:t>
                </a:r>
                <a:endParaRPr lang="en-AU" altLang="zh-CN" sz="24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AU" sz="24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914400" y="4886761"/>
                <a:ext cx="7040881" cy="1200329"/>
              </a:xfrm>
              <a:prstGeom prst="rect">
                <a:avLst/>
              </a:prstGeom>
              <a:blipFill rotWithShape="1">
                <a:blip r:embed="rId4"/>
                <a:stretch>
                  <a:fillRect t="-36" b="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归纳法证明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4525963"/>
          </a:xfrm>
        </p:spPr>
        <p:txBody>
          <a:bodyPr/>
          <a:lstStyle/>
          <a:p>
            <a:r>
              <a:rPr lang="zh-CN" altLang="en-US" dirty="0"/>
              <a:t>归纳递推</a:t>
            </a:r>
            <a:r>
              <a:rPr lang="en-AU" altLang="zh-CN" dirty="0"/>
              <a:t>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19564F-3A13-4140-9CFC-3B75A7CC7F9C}" type="slidenum">
              <a:rPr lang="en-US" altLang="zh-CN" smtClean="0"/>
              <a:t>51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1219200" y="1904999"/>
                <a:ext cx="7543800" cy="13314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lt1"/>
                    </a:solidFill>
                  </a14:hiddenFill>
                </a:ext>
              </a:ex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r>
                      <a:rPr lang="en-AU" altLang="zh-CN" sz="2400" i="1">
                        <a:latin typeface="Cambria Math" panose="02040503050406030204" pitchFamily="18" charset="0"/>
                      </a:rPr>
                      <m:t>𝑟𝑠</m:t>
                    </m:r>
                    <m:r>
                      <m:rPr>
                        <m:nor/>
                      </m:rPr>
                      <a:rPr lang="zh-CN" altLang="en-US" sz="2400" dirty="0">
                        <a:latin typeface="Cambria Math" panose="02040503050406030204" pitchFamily="18" charset="0"/>
                      </a:rPr>
                      <m:t>的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𝜀</m:t>
                    </m:r>
                    <m:r>
                      <m:rPr>
                        <m:nor/>
                      </m:rPr>
                      <a:rPr lang="en-US" altLang="zh-CN" sz="2400" dirty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altLang="zh-C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NFA</m:t>
                    </m:r>
                  </m:oMath>
                </a14:m>
                <a:r>
                  <a:rPr lang="en-AU" altLang="zh-CN" sz="2400" dirty="0"/>
                  <a:t>:</a:t>
                </a:r>
                <a:endParaRPr lang="en-AU" sz="1600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" y="1904999"/>
                <a:ext cx="7543800" cy="1331497"/>
              </a:xfrm>
              <a:prstGeom prst="rect">
                <a:avLst/>
              </a:prstGeom>
              <a:blipFill rotWithShape="1">
                <a:blip r:embed="rId3"/>
                <a:stretch>
                  <a:fillRect t="-48" b="4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lt1"/>
                    </a:solidFill>
                  </a14:hiddenFill>
                </a:ext>
              </a:ex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 flipH="1">
                <a:off x="800101" y="4835004"/>
                <a:ext cx="7543798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通过空转移将</a:t>
                </a:r>
                <a14:m>
                  <m:oMath xmlns:m="http://schemas.openxmlformats.org/officeDocument/2006/math">
                    <m:r>
                      <a:rPr lang="en-AU" altLang="zh-CN" sz="24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𝑅</m:t>
                    </m:r>
                  </m:oMath>
                </a14:m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的接受状态和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𝑆</m:t>
                    </m:r>
                  </m:oMath>
                </a14:m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的开始状态连接起来。</a:t>
                </a:r>
                <a:endParaRPr lang="en-AU" altLang="zh-CN" sz="24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AU" sz="24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800101" y="4835004"/>
                <a:ext cx="7543798" cy="830997"/>
              </a:xfrm>
              <a:prstGeom prst="rect">
                <a:avLst/>
              </a:prstGeom>
              <a:blipFill rotWithShape="1">
                <a:blip r:embed="rId4"/>
                <a:stretch>
                  <a:fillRect t="-14" r="8" b="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 descr="Diagram&#10;&#10;Description automatically generated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6845" y="2192544"/>
            <a:ext cx="4557054" cy="950497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归纳法证明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852" y="960190"/>
            <a:ext cx="8229600" cy="4525963"/>
          </a:xfrm>
        </p:spPr>
        <p:txBody>
          <a:bodyPr/>
          <a:lstStyle/>
          <a:p>
            <a:r>
              <a:rPr lang="zh-CN" altLang="en-US" dirty="0"/>
              <a:t>归纳递推</a:t>
            </a:r>
            <a:r>
              <a:rPr lang="en-AU" altLang="zh-CN" dirty="0"/>
              <a:t>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19564F-3A13-4140-9CFC-3B75A7CC7F9C}" type="slidenum">
              <a:rPr lang="en-US" altLang="zh-CN" smtClean="0"/>
              <a:t>52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1136652" y="1905000"/>
                <a:ext cx="7543800" cy="13698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lt1"/>
                    </a:solidFill>
                  </a14:hiddenFill>
                </a:ext>
              </a:ex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zh-CN" altLang="en-US" sz="2400" i="1">
                        <a:latin typeface="Cambria Math" panose="02040503050406030204" pitchFamily="18" charset="0"/>
                      </a:rPr>
                      <m:t>的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𝜀</m:t>
                    </m:r>
                    <m:r>
                      <m:rPr>
                        <m:nor/>
                      </m:rPr>
                      <a:rPr lang="en-US" altLang="zh-CN" sz="2400" dirty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altLang="zh-C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NFA</m:t>
                    </m:r>
                  </m:oMath>
                </a14:m>
                <a:r>
                  <a:rPr lang="en-AU" sz="2400" dirty="0"/>
                  <a:t>:</a:t>
                </a:r>
                <a:endParaRPr lang="en-AU" sz="1600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6652" y="1905000"/>
                <a:ext cx="7543800" cy="1369809"/>
              </a:xfrm>
              <a:prstGeom prst="rect">
                <a:avLst/>
              </a:prstGeom>
              <a:blipFill rotWithShape="1">
                <a:blip r:embed="rId3"/>
                <a:stretch>
                  <a:fillRect b="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lt1"/>
                    </a:solidFill>
                  </a14:hiddenFill>
                </a:ext>
              </a:ex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 flipH="1">
                <a:off x="549911" y="4034772"/>
                <a:ext cx="8031482" cy="23209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添加一个开始状态和一个接受状态；</a:t>
                </a:r>
                <a:endParaRPr lang="en-AU" altLang="zh-CN" sz="24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通过空转移将开始状态连接，将接受状态连接；</a:t>
                </a:r>
                <a:endParaRPr lang="en-AU" altLang="zh-CN" sz="24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把原来的接受状态改为非接受状态，通过空转移跳转回原来的开始状态（表示闭包</a:t>
                </a:r>
                <a14:m>
                  <m:oMath xmlns:m="http://schemas.openxmlformats.org/officeDocument/2006/math">
                    <m:r>
                      <a:rPr lang="zh-CN" altLang="en-US" sz="24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里</m:t>
                    </m:r>
                    <m:r>
                      <a:rPr lang="zh-CN" altLang="en-US" sz="24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的</m:t>
                    </m:r>
                    <m:r>
                      <a:rPr lang="zh-CN" altLang="en-US" sz="240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≥</m:t>
                    </m:r>
                    <m:r>
                      <a:rPr lang="en-US" altLang="zh-CN" sz="240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1</m:t>
                    </m:r>
                  </m:oMath>
                </a14:m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次）；</a:t>
                </a:r>
                <a:endParaRPr lang="en-AU" altLang="zh-CN" sz="24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闭包里的</a:t>
                </a:r>
                <a:r>
                  <a:rPr lang="en-AU" altLang="zh-CN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0</a:t>
                </a:r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次通过空转移连接开始状态和接受状态实现。</a:t>
                </a:r>
                <a:endParaRPr lang="en-AU" altLang="zh-CN" sz="24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AU" sz="24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49911" y="4034772"/>
                <a:ext cx="8031482" cy="2320925"/>
              </a:xfrm>
              <a:prstGeom prst="rect">
                <a:avLst/>
              </a:prstGeom>
              <a:blipFill rotWithShape="1">
                <a:blip r:embed="rId4"/>
                <a:stretch>
                  <a:fillRect t="-27" b="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 descr="Diagram&#10;&#10;Description automatically generated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8384" y="1904252"/>
            <a:ext cx="4412311" cy="1370557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归纳法证明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66800"/>
                <a:ext cx="8229600" cy="4525963"/>
              </a:xfrm>
            </p:spPr>
            <p:txBody>
              <a:bodyPr/>
              <a:lstStyle/>
              <a:p>
                <a:r>
                  <a:rPr lang="zh-CN" altLang="en-US" dirty="0"/>
                  <a:t>归纳递推</a:t>
                </a:r>
                <a:r>
                  <a:rPr lang="en-AU" altLang="zh-CN" dirty="0"/>
                  <a:t>:</a:t>
                </a:r>
              </a:p>
              <a:p>
                <a:pPr marL="0" indent="0">
                  <a:buNone/>
                </a:pPr>
                <a:r>
                  <a:rPr lang="zh-CN" altLang="en-US" dirty="0"/>
                  <a:t>若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zh-CN" altLang="en-US" dirty="0"/>
                  <a:t>和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zh-CN" altLang="en-US" dirty="0"/>
                  <a:t>为正则表达式，则它们对应的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altLang="zh-CN" dirty="0"/>
                  <a:t>-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NFA</a:t>
                </a:r>
                <a:r>
                  <a:rPr lang="zh-CN" altLang="en-US" dirty="0"/>
                  <a:t>别为𝑅和𝑆。</a:t>
                </a:r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66800"/>
                <a:ext cx="8229600" cy="4525963"/>
              </a:xfrm>
              <a:blipFill rotWithShape="1">
                <a:blip r:embed="rId2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1219200" y="2514600"/>
                <a:ext cx="6934200" cy="26427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lt1"/>
                    </a:solidFill>
                  </a14:hiddenFill>
                </a:ext>
              </a:ex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zh-CN" altLang="en-US" sz="2400" dirty="0"/>
                  <a:t>的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𝜀</m:t>
                    </m:r>
                    <m:r>
                      <m:rPr>
                        <m:nor/>
                      </m:rPr>
                      <a:rPr lang="en-US" altLang="zh-CN" sz="2400" dirty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altLang="zh-C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NFA</m:t>
                    </m:r>
                    <m:r>
                      <a:rPr lang="en-AU" altLang="zh-CN" sz="2400" b="0" i="1" dirty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AU" altLang="zh-CN" sz="2400" dirty="0"/>
              </a:p>
              <a:p>
                <a:endParaRPr lang="en-AU" altLang="zh-CN" sz="2400" dirty="0"/>
              </a:p>
              <a:p>
                <a14:m>
                  <m:oMath xmlns:m="http://schemas.openxmlformats.org/officeDocument/2006/math">
                    <m:r>
                      <a:rPr lang="en-AU" altLang="zh-CN" sz="2400" b="0" i="1" smtClean="0">
                        <a:latin typeface="Cambria Math" panose="02040503050406030204" pitchFamily="18" charset="0"/>
                      </a:rPr>
                      <m:t>𝑟𝑠</m:t>
                    </m:r>
                    <m:r>
                      <m:rPr>
                        <m:nor/>
                      </m:rPr>
                      <a:rPr lang="zh-CN" altLang="en-US" sz="2400" dirty="0">
                        <a:latin typeface="Cambria Math" panose="02040503050406030204" pitchFamily="18" charset="0"/>
                      </a:rPr>
                      <m:t>的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𝜀</m:t>
                    </m:r>
                    <m:r>
                      <m:rPr>
                        <m:nor/>
                      </m:rPr>
                      <a:rPr lang="en-US" altLang="zh-CN" sz="2400" dirty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altLang="zh-C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NFA</m:t>
                    </m:r>
                  </m:oMath>
                </a14:m>
                <a:r>
                  <a:rPr lang="en-AU" altLang="zh-CN" sz="2400" dirty="0"/>
                  <a:t>: </a:t>
                </a:r>
                <a:r>
                  <a:rPr lang="zh-CN" altLang="en-US" sz="2400" dirty="0"/>
                  <a:t> </a:t>
                </a:r>
                <a:endParaRPr lang="en-AU" sz="2400" dirty="0"/>
              </a:p>
              <a:p>
                <a:endParaRPr lang="en-AU" sz="1600" dirty="0"/>
              </a:p>
              <a:p>
                <a:endParaRPr lang="en-AU" sz="16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zh-CN" altLang="en-US" sz="2400" i="1">
                        <a:latin typeface="Cambria Math" panose="02040503050406030204" pitchFamily="18" charset="0"/>
                      </a:rPr>
                      <m:t>的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𝜀</m:t>
                    </m:r>
                    <m:r>
                      <m:rPr>
                        <m:nor/>
                      </m:rPr>
                      <a:rPr lang="en-US" altLang="zh-CN" sz="2400" dirty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altLang="zh-C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NFA</m:t>
                    </m:r>
                  </m:oMath>
                </a14:m>
                <a:r>
                  <a:rPr lang="en-AU" sz="2400" dirty="0"/>
                  <a:t>:</a:t>
                </a: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" y="2514600"/>
                <a:ext cx="6934200" cy="2642772"/>
              </a:xfrm>
              <a:prstGeom prst="rect">
                <a:avLst/>
              </a:prstGeom>
              <a:blipFill rotWithShape="1">
                <a:blip r:embed="rId3"/>
                <a:stretch>
                  <a:fillRect b="2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lt1"/>
                    </a:solidFill>
                  </a14:hiddenFill>
                </a:ext>
              </a:ex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 descr="Diagram&#10;&#10;Description automatically generated"/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32" b="7983"/>
          <a:stretch>
            <a:fillRect/>
          </a:stretch>
        </p:blipFill>
        <p:spPr>
          <a:xfrm>
            <a:off x="3880137" y="2514600"/>
            <a:ext cx="3871295" cy="990600"/>
          </a:xfrm>
          <a:prstGeom prst="rect">
            <a:avLst/>
          </a:prstGeom>
        </p:spPr>
      </p:pic>
      <p:pic>
        <p:nvPicPr>
          <p:cNvPr id="9" name="Picture 8" descr="Diagram&#10;&#10;Description automatically generated"/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01" b="29384"/>
          <a:stretch>
            <a:fillRect/>
          </a:stretch>
        </p:blipFill>
        <p:spPr>
          <a:xfrm>
            <a:off x="3948722" y="3505199"/>
            <a:ext cx="3909399" cy="533401"/>
          </a:xfrm>
          <a:prstGeom prst="rect">
            <a:avLst/>
          </a:prstGeom>
        </p:spPr>
      </p:pic>
      <p:pic>
        <p:nvPicPr>
          <p:cNvPr id="10" name="Picture 9" descr="Diagram&#10;&#10;Description automatically generated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8722" y="4000398"/>
            <a:ext cx="3802710" cy="118120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898803" y="5550793"/>
                <a:ext cx="761654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因此对于任何正则表达式，可以构造等价的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altLang="zh-CN" sz="2800" dirty="0"/>
                  <a:t>-</a:t>
                </a:r>
                <a:r>
                  <a:rPr lang="en-US" altLang="zh-C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NFA</a:t>
                </a:r>
                <a:r>
                  <a:rPr kumimoji="0" lang="en-US" altLang="zh-TW" dirty="0"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。</a:t>
                </a:r>
                <a:endParaRPr lang="en-AU" sz="24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8803" y="5550793"/>
                <a:ext cx="7616547" cy="523220"/>
              </a:xfrm>
              <a:prstGeom prst="rect">
                <a:avLst/>
              </a:prstGeom>
              <a:blipFill rotWithShape="1">
                <a:blip r:embed="rId7"/>
                <a:stretch>
                  <a:fillRect l="-4" t="-49" b="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pPr>
              <a:defRPr/>
            </a:pPr>
            <a:fld id="{A619564F-3A13-4140-9CFC-3B75A7CC7F9C}" type="slidenum">
              <a:rPr lang="en-US" altLang="zh-CN" smtClean="0"/>
              <a:t>53</a:t>
            </a:fld>
            <a:endParaRPr lang="en-US" altLang="zh-CN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19564F-3A13-4140-9CFC-3B75A7CC7F9C}" type="slidenum">
              <a:rPr lang="en-US" altLang="zh-CN" smtClean="0"/>
              <a:t>54</a:t>
            </a:fld>
            <a:endParaRPr lang="en-US" altLang="zh-CN" dirty="0"/>
          </a:p>
        </p:txBody>
      </p:sp>
      <p:sp>
        <p:nvSpPr>
          <p:cNvPr id="8" name="矩形: 圆角 7"/>
          <p:cNvSpPr/>
          <p:nvPr>
            <p:custDataLst>
              <p:tags r:id="rId2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作答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ontent Placeholder 2"/>
              <p:cNvSpPr txBox="1"/>
              <p:nvPr/>
            </p:nvSpPr>
            <p:spPr>
              <a:xfrm>
                <a:off x="457200" y="1115731"/>
                <a:ext cx="8229600" cy="4525963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dirty="0"/>
                  <a:t>例</a:t>
                </a:r>
                <a:r>
                  <a:rPr lang="en-AU" altLang="zh-CN" dirty="0"/>
                  <a:t>: </a:t>
                </a:r>
                <a:r>
                  <a:rPr lang="zh-CN" altLang="en-US" dirty="0"/>
                  <a:t>将正则表达式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i="1" dirty="0" smtClean="0">
                            <a:latin typeface="Cambria Math" panose="02040503050406030204" pitchFamily="18" charset="0"/>
                          </a:rPr>
                          <m:t>(0+1)</m:t>
                        </m:r>
                      </m:e>
                      <m:sup>
                        <m:r>
                          <a:rPr lang="en-AU" altLang="zh-CN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 1</m:t>
                    </m:r>
                    <m:r>
                      <a:rPr lang="en-AU" altLang="zh-CN" i="1" dirty="0" smtClean="0">
                        <a:latin typeface="Cambria Math" panose="02040503050406030204" pitchFamily="18" charset="0"/>
                      </a:rPr>
                      <m:t>(0+1)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/>
                  <a:t>构造为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altLang="zh-CN" dirty="0"/>
                  <a:t>-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NFA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</a:t>
                </a:r>
                <a:endParaRPr lang="en-AU" dirty="0"/>
              </a:p>
            </p:txBody>
          </p:sp>
        </mc:Choice>
        <mc:Fallback xmlns="">
          <p:sp>
            <p:nvSpPr>
              <p:cNvPr id="15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115731"/>
                <a:ext cx="8229600" cy="4525963"/>
              </a:xfrm>
              <a:prstGeom prst="rect">
                <a:avLst/>
              </a:prstGeom>
              <a:blipFill rotWithShape="1">
                <a:blip r:embed="rId10"/>
                <a:stretch>
                  <a:fillRect t="-1" b="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组合 12"/>
          <p:cNvGrpSpPr/>
          <p:nvPr>
            <p:custDataLst>
              <p:tags r:id="rId3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9" name="TitleBackground"/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ColorBlock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TypeText"/>
            <p:cNvSpPr txBox="1"/>
            <p:nvPr>
              <p:custDataLst>
                <p:tags r:id="rId7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主观题</a:t>
              </a:r>
            </a:p>
          </p:txBody>
        </p:sp>
        <p:sp>
          <p:nvSpPr>
            <p:cNvPr id="12" name="TipText"/>
            <p:cNvSpPr txBox="1"/>
            <p:nvPr>
              <p:custDataLst>
                <p:tags r:id="rId8"/>
              </p:custDataLst>
            </p:nvPr>
          </p:nvSpPr>
          <p:spPr>
            <a:xfrm>
              <a:off x="142748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6" name="图片 5"/>
          <p:cNvPicPr/>
          <p:nvPr>
            <p:custDataLst>
              <p:tags r:id="rId4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15731"/>
                <a:ext cx="8229600" cy="4525963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例</a:t>
                </a:r>
                <a:r>
                  <a:rPr lang="en-AU" altLang="zh-CN" dirty="0"/>
                  <a:t>: </a:t>
                </a:r>
                <a:r>
                  <a:rPr lang="zh-CN" altLang="en-US" dirty="0"/>
                  <a:t>将正则表达式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(0+1)</m:t>
                        </m:r>
                      </m:e>
                      <m:sup>
                        <m:r>
                          <a:rPr lang="en-AU" altLang="zh-CN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 1</m:t>
                    </m:r>
                    <m:r>
                      <a:rPr lang="en-AU" altLang="zh-CN" b="0" i="1" dirty="0" smtClean="0">
                        <a:latin typeface="Cambria Math" panose="02040503050406030204" pitchFamily="18" charset="0"/>
                      </a:rPr>
                      <m:t>(0+1)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/>
                  <a:t>构造为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altLang="zh-CN" dirty="0"/>
                  <a:t>-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NFA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</a:t>
                </a:r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15731"/>
                <a:ext cx="8229600" cy="4525963"/>
              </a:xfrm>
              <a:blipFill rotWithShape="1">
                <a:blip r:embed="rId3"/>
                <a:stretch>
                  <a:fillRect t="-1" b="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3"/>
              <p:cNvSpPr txBox="1">
                <a:spLocks noChangeArrowheads="1"/>
              </p:cNvSpPr>
              <p:nvPr/>
            </p:nvSpPr>
            <p:spPr>
              <a:xfrm>
                <a:off x="340608" y="2182531"/>
                <a:ext cx="8686800" cy="452596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Calibri" panose="020F0502020204030204" charset="0"/>
                  <a:buChar char="—"/>
                  <a:defRPr sz="2400" kern="120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533400" indent="-533400" algn="just">
                  <a:buFontTx/>
                  <a:buNone/>
                </a:pPr>
                <a:r>
                  <a:rPr lang="zh-CN" altLang="zh-TW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en-US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）</a:t>
                </a:r>
                <a:r>
                  <a:rPr lang="zh-CN" altLang="en-US" dirty="0">
                    <a:cs typeface="Times New Roman" panose="02020603050405020304" pitchFamily="18" charset="0"/>
                  </a:rPr>
                  <a:t>构造</a:t>
                </a:r>
                <a:r>
                  <a:rPr lang="en-US" altLang="zh-CN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(0+1)                </a:t>
                </a:r>
                <a:r>
                  <a:rPr lang="zh-CN" altLang="en-US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2</a:t>
                </a:r>
                <a:r>
                  <a:rPr lang="zh-CN" altLang="en-US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）</a:t>
                </a:r>
                <a:r>
                  <a:rPr lang="zh-CN" altLang="en-US" dirty="0">
                    <a:cs typeface="Times New Roman" panose="02020603050405020304" pitchFamily="18" charset="0"/>
                  </a:rPr>
                  <a:t>构造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AU" altLang="zh-CN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(0+1)</m:t>
                        </m:r>
                      </m:e>
                      <m:sup>
                        <m:r>
                          <a:rPr lang="en-AU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en-US" altLang="zh-CN" baseline="30000" dirty="0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533400" indent="-533400" algn="just">
                  <a:buFontTx/>
                  <a:buNone/>
                </a:pPr>
                <a:endParaRPr lang="en-US" altLang="zh-CN" baseline="300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533400" indent="-533400" algn="just">
                  <a:buFontTx/>
                  <a:buNone/>
                </a:pPr>
                <a:endParaRPr lang="en-US" altLang="zh-CN" baseline="300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533400" indent="-533400" algn="just">
                  <a:buFontTx/>
                  <a:buNone/>
                </a:pPr>
                <a:endParaRPr lang="en-US" altLang="zh-CN" baseline="300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533400" indent="-533400" algn="just">
                  <a:buFontTx/>
                  <a:buNone/>
                </a:pPr>
                <a:endParaRPr lang="en-US" altLang="zh-CN" baseline="300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533400" indent="-533400" algn="just">
                  <a:buFontTx/>
                  <a:buNone/>
                </a:pPr>
                <a:r>
                  <a:rPr lang="zh-CN" altLang="zh-CN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3</a:t>
                </a:r>
                <a:r>
                  <a:rPr lang="zh-CN" altLang="en-US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）</a:t>
                </a:r>
                <a:r>
                  <a:rPr lang="zh-CN" altLang="en-US" dirty="0">
                    <a:cs typeface="Times New Roman" panose="02020603050405020304" pitchFamily="18" charset="0"/>
                  </a:rPr>
                  <a:t>构造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AU" altLang="zh-CN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(0+1)</m:t>
                        </m:r>
                      </m:e>
                      <m:sup>
                        <m:r>
                          <a:rPr lang="en-AU" altLang="zh-CN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CN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en-US" altLang="zh-CN" dirty="0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533400" indent="-533400" algn="just">
                  <a:buFontTx/>
                  <a:buNone/>
                </a:pPr>
                <a:endParaRPr lang="en-US" altLang="zh-TW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608" y="2182531"/>
                <a:ext cx="8686800" cy="4525963"/>
              </a:xfrm>
              <a:prstGeom prst="rect">
                <a:avLst/>
              </a:prstGeom>
              <a:blipFill rotWithShape="1">
                <a:blip r:embed="rId4"/>
                <a:stretch>
                  <a:fillRect l="-3" t="-1390" r="3" b="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组 48"/>
          <p:cNvGrpSpPr/>
          <p:nvPr/>
        </p:nvGrpSpPr>
        <p:grpSpPr bwMode="auto">
          <a:xfrm>
            <a:off x="990600" y="2639731"/>
            <a:ext cx="1884363" cy="990600"/>
            <a:chOff x="1620520" y="2514600"/>
            <a:chExt cx="1884680" cy="990600"/>
          </a:xfrm>
        </p:grpSpPr>
        <p:sp>
          <p:nvSpPr>
            <p:cNvPr id="7" name="椭圆 9"/>
            <p:cNvSpPr>
              <a:spLocks noChangeArrowheads="1"/>
            </p:cNvSpPr>
            <p:nvPr/>
          </p:nvSpPr>
          <p:spPr bwMode="auto">
            <a:xfrm>
              <a:off x="1620520" y="3023820"/>
              <a:ext cx="216000" cy="2160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noFill/>
                <a:latin typeface="+mn-lt"/>
                <a:ea typeface="+mn-ea"/>
              </a:endParaRPr>
            </a:p>
          </p:txBody>
        </p:sp>
        <p:sp>
          <p:nvSpPr>
            <p:cNvPr id="8" name="椭圆 12"/>
            <p:cNvSpPr>
              <a:spLocks noChangeArrowheads="1"/>
            </p:cNvSpPr>
            <p:nvPr/>
          </p:nvSpPr>
          <p:spPr bwMode="auto">
            <a:xfrm>
              <a:off x="2209800" y="2764740"/>
              <a:ext cx="216000" cy="2160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noFill/>
                <a:latin typeface="+mn-lt"/>
                <a:ea typeface="+mn-ea"/>
              </a:endParaRPr>
            </a:p>
          </p:txBody>
        </p:sp>
        <p:sp>
          <p:nvSpPr>
            <p:cNvPr id="9" name="椭圆 13"/>
            <p:cNvSpPr>
              <a:spLocks noChangeArrowheads="1"/>
            </p:cNvSpPr>
            <p:nvPr/>
          </p:nvSpPr>
          <p:spPr bwMode="auto">
            <a:xfrm>
              <a:off x="2209800" y="3282900"/>
              <a:ext cx="216000" cy="2160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noFill/>
                <a:latin typeface="+mn-lt"/>
                <a:ea typeface="+mn-ea"/>
              </a:endParaRPr>
            </a:p>
          </p:txBody>
        </p:sp>
        <p:cxnSp>
          <p:nvCxnSpPr>
            <p:cNvPr id="10" name="直线箭头连接符 4"/>
            <p:cNvCxnSpPr>
              <a:cxnSpLocks noChangeShapeType="1"/>
              <a:stCxn id="7" idx="7"/>
              <a:endCxn id="8" idx="2"/>
            </p:cNvCxnSpPr>
            <p:nvPr/>
          </p:nvCxnSpPr>
          <p:spPr bwMode="auto">
            <a:xfrm flipV="1">
              <a:off x="1804888" y="2872740"/>
              <a:ext cx="404912" cy="182712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tailEnd type="arrow" w="med" len="med"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" name="直线箭头连接符 19"/>
            <p:cNvCxnSpPr>
              <a:cxnSpLocks noChangeShapeType="1"/>
              <a:stCxn id="7" idx="5"/>
              <a:endCxn id="9" idx="2"/>
            </p:cNvCxnSpPr>
            <p:nvPr/>
          </p:nvCxnSpPr>
          <p:spPr bwMode="auto">
            <a:xfrm>
              <a:off x="1804888" y="3208188"/>
              <a:ext cx="404912" cy="182712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tailEnd type="arrow" w="med" len="med"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2" name="椭圆 22"/>
            <p:cNvSpPr>
              <a:spLocks noChangeArrowheads="1"/>
            </p:cNvSpPr>
            <p:nvPr/>
          </p:nvSpPr>
          <p:spPr bwMode="auto">
            <a:xfrm>
              <a:off x="2743200" y="2764740"/>
              <a:ext cx="216000" cy="2160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noFill/>
                <a:latin typeface="+mn-lt"/>
                <a:ea typeface="+mn-ea"/>
              </a:endParaRPr>
            </a:p>
          </p:txBody>
        </p:sp>
        <p:cxnSp>
          <p:nvCxnSpPr>
            <p:cNvPr id="13" name="直线箭头连接符 23"/>
            <p:cNvCxnSpPr>
              <a:cxnSpLocks noChangeShapeType="1"/>
              <a:stCxn id="8" idx="6"/>
              <a:endCxn id="12" idx="2"/>
            </p:cNvCxnSpPr>
            <p:nvPr/>
          </p:nvCxnSpPr>
          <p:spPr bwMode="auto">
            <a:xfrm>
              <a:off x="2425800" y="2872740"/>
              <a:ext cx="317400" cy="0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tailEnd type="arrow" w="med" len="med"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4" name="椭圆 26"/>
            <p:cNvSpPr>
              <a:spLocks noChangeArrowheads="1"/>
            </p:cNvSpPr>
            <p:nvPr/>
          </p:nvSpPr>
          <p:spPr bwMode="auto">
            <a:xfrm>
              <a:off x="2755800" y="3282900"/>
              <a:ext cx="216000" cy="2160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noFill/>
                <a:latin typeface="+mn-lt"/>
                <a:ea typeface="+mn-ea"/>
              </a:endParaRPr>
            </a:p>
          </p:txBody>
        </p:sp>
        <p:cxnSp>
          <p:nvCxnSpPr>
            <p:cNvPr id="15" name="直线箭头连接符 27"/>
            <p:cNvCxnSpPr>
              <a:cxnSpLocks noChangeShapeType="1"/>
              <a:stCxn id="9" idx="6"/>
              <a:endCxn id="14" idx="2"/>
            </p:cNvCxnSpPr>
            <p:nvPr/>
          </p:nvCxnSpPr>
          <p:spPr bwMode="auto">
            <a:xfrm>
              <a:off x="2425800" y="3390900"/>
              <a:ext cx="330000" cy="0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tailEnd type="arrow" w="med" len="med"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6" name="椭圆 29"/>
            <p:cNvSpPr>
              <a:spLocks noChangeArrowheads="1"/>
            </p:cNvSpPr>
            <p:nvPr/>
          </p:nvSpPr>
          <p:spPr bwMode="auto">
            <a:xfrm>
              <a:off x="3289200" y="3023820"/>
              <a:ext cx="216000" cy="2160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noFill/>
                <a:latin typeface="+mn-lt"/>
                <a:ea typeface="+mn-ea"/>
              </a:endParaRPr>
            </a:p>
          </p:txBody>
        </p:sp>
        <p:cxnSp>
          <p:nvCxnSpPr>
            <p:cNvPr id="17" name="直线箭头连接符 30"/>
            <p:cNvCxnSpPr>
              <a:cxnSpLocks noChangeShapeType="1"/>
              <a:stCxn id="12" idx="6"/>
              <a:endCxn id="16" idx="1"/>
            </p:cNvCxnSpPr>
            <p:nvPr/>
          </p:nvCxnSpPr>
          <p:spPr bwMode="auto">
            <a:xfrm>
              <a:off x="2959200" y="2872740"/>
              <a:ext cx="361632" cy="182712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tailEnd type="arrow" w="med" len="med"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" name="直线箭头连接符 33"/>
            <p:cNvCxnSpPr>
              <a:cxnSpLocks noChangeShapeType="1"/>
              <a:stCxn id="14" idx="6"/>
              <a:endCxn id="16" idx="3"/>
            </p:cNvCxnSpPr>
            <p:nvPr/>
          </p:nvCxnSpPr>
          <p:spPr bwMode="auto">
            <a:xfrm flipV="1">
              <a:off x="2971800" y="3208188"/>
              <a:ext cx="349032" cy="182712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tailEnd type="arrow" w="med" len="med"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9" name="矩形 32"/>
            <p:cNvSpPr>
              <a:spLocks noChangeArrowheads="1"/>
            </p:cNvSpPr>
            <p:nvPr/>
          </p:nvSpPr>
          <p:spPr bwMode="auto">
            <a:xfrm>
              <a:off x="2443118" y="2514600"/>
              <a:ext cx="30008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en-US" altLang="zh-CN" sz="1800"/>
                <a:t>0</a:t>
              </a:r>
            </a:p>
          </p:txBody>
        </p:sp>
        <p:sp>
          <p:nvSpPr>
            <p:cNvPr id="20" name="矩形 37"/>
            <p:cNvSpPr>
              <a:spLocks noChangeArrowheads="1"/>
            </p:cNvSpPr>
            <p:nvPr/>
          </p:nvSpPr>
          <p:spPr bwMode="auto">
            <a:xfrm>
              <a:off x="2438400" y="3059668"/>
              <a:ext cx="30008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en-US" altLang="zh-CN" sz="1800"/>
                <a:t>1</a:t>
              </a:r>
            </a:p>
          </p:txBody>
        </p:sp>
        <p:sp>
          <p:nvSpPr>
            <p:cNvPr id="21" name="矩形 34"/>
            <p:cNvSpPr>
              <a:spLocks noChangeArrowheads="1"/>
            </p:cNvSpPr>
            <p:nvPr/>
          </p:nvSpPr>
          <p:spPr bwMode="auto">
            <a:xfrm>
              <a:off x="1752600" y="2678668"/>
              <a:ext cx="29432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en-US" altLang="zh-TW" sz="1800" i="1">
                  <a:cs typeface="Times New Roman" panose="02020603050405020304" pitchFamily="18" charset="0"/>
                </a:rPr>
                <a:t>ε</a:t>
              </a:r>
              <a:endParaRPr kumimoji="0" lang="en-US" altLang="zh-CN" sz="1800"/>
            </a:p>
          </p:txBody>
        </p:sp>
        <p:sp>
          <p:nvSpPr>
            <p:cNvPr id="22" name="矩形 39"/>
            <p:cNvSpPr>
              <a:spLocks noChangeArrowheads="1"/>
            </p:cNvSpPr>
            <p:nvPr/>
          </p:nvSpPr>
          <p:spPr bwMode="auto">
            <a:xfrm>
              <a:off x="1752600" y="3135868"/>
              <a:ext cx="29432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en-US" altLang="zh-TW" sz="1800" i="1">
                  <a:cs typeface="Times New Roman" panose="02020603050405020304" pitchFamily="18" charset="0"/>
                </a:rPr>
                <a:t>ε</a:t>
              </a:r>
              <a:endParaRPr kumimoji="0" lang="en-US" altLang="zh-CN" sz="1800"/>
            </a:p>
          </p:txBody>
        </p:sp>
        <p:sp>
          <p:nvSpPr>
            <p:cNvPr id="23" name="矩形 40"/>
            <p:cNvSpPr>
              <a:spLocks noChangeArrowheads="1"/>
            </p:cNvSpPr>
            <p:nvPr/>
          </p:nvSpPr>
          <p:spPr bwMode="auto">
            <a:xfrm>
              <a:off x="3058475" y="2667000"/>
              <a:ext cx="29432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en-US" altLang="zh-TW" sz="1800" i="1">
                  <a:cs typeface="Times New Roman" panose="02020603050405020304" pitchFamily="18" charset="0"/>
                </a:rPr>
                <a:t>ε</a:t>
              </a:r>
              <a:endParaRPr kumimoji="0" lang="en-US" altLang="zh-CN" sz="1800"/>
            </a:p>
          </p:txBody>
        </p:sp>
        <p:sp>
          <p:nvSpPr>
            <p:cNvPr id="24" name="矩形 41"/>
            <p:cNvSpPr>
              <a:spLocks noChangeArrowheads="1"/>
            </p:cNvSpPr>
            <p:nvPr/>
          </p:nvSpPr>
          <p:spPr bwMode="auto">
            <a:xfrm>
              <a:off x="3058475" y="3124200"/>
              <a:ext cx="29432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en-US" altLang="zh-TW" sz="1800" i="1" dirty="0">
                  <a:cs typeface="Times New Roman" panose="02020603050405020304" pitchFamily="18" charset="0"/>
                </a:rPr>
                <a:t>ε</a:t>
              </a:r>
              <a:endParaRPr kumimoji="0" lang="en-US" altLang="zh-CN" sz="1800" dirty="0"/>
            </a:p>
          </p:txBody>
        </p:sp>
      </p:grpSp>
      <p:grpSp>
        <p:nvGrpSpPr>
          <p:cNvPr id="25" name="组合 3"/>
          <p:cNvGrpSpPr/>
          <p:nvPr/>
        </p:nvGrpSpPr>
        <p:grpSpPr>
          <a:xfrm>
            <a:off x="4495800" y="2574644"/>
            <a:ext cx="2971800" cy="1665287"/>
            <a:chOff x="4495800" y="2449513"/>
            <a:chExt cx="2971800" cy="1665287"/>
          </a:xfrm>
        </p:grpSpPr>
        <p:sp>
          <p:nvSpPr>
            <p:cNvPr id="26" name="矩形 92"/>
            <p:cNvSpPr>
              <a:spLocks noChangeArrowheads="1"/>
            </p:cNvSpPr>
            <p:nvPr/>
          </p:nvSpPr>
          <p:spPr bwMode="auto">
            <a:xfrm>
              <a:off x="5872163" y="2449513"/>
              <a:ext cx="295275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en-US" altLang="zh-TW" sz="1800" i="1">
                  <a:solidFill>
                    <a:srgbClr val="FF0000"/>
                  </a:solidFill>
                  <a:cs typeface="Times New Roman" panose="02020603050405020304" pitchFamily="18" charset="0"/>
                </a:rPr>
                <a:t>ε</a:t>
              </a:r>
              <a:endParaRPr kumimoji="0" lang="en-US" altLang="zh-CN" sz="1800">
                <a:solidFill>
                  <a:srgbClr val="FF0000"/>
                </a:solidFill>
              </a:endParaRPr>
            </a:p>
          </p:txBody>
        </p:sp>
        <p:sp>
          <p:nvSpPr>
            <p:cNvPr id="27" name="椭圆 53"/>
            <p:cNvSpPr>
              <a:spLocks noChangeArrowheads="1"/>
            </p:cNvSpPr>
            <p:nvPr/>
          </p:nvSpPr>
          <p:spPr bwMode="auto">
            <a:xfrm>
              <a:off x="5049838" y="3252788"/>
              <a:ext cx="215900" cy="2159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noFill/>
                <a:latin typeface="+mn-lt"/>
                <a:ea typeface="+mn-ea"/>
              </a:endParaRPr>
            </a:p>
          </p:txBody>
        </p:sp>
        <p:sp>
          <p:nvSpPr>
            <p:cNvPr id="28" name="椭圆 54"/>
            <p:cNvSpPr>
              <a:spLocks noChangeArrowheads="1"/>
            </p:cNvSpPr>
            <p:nvPr/>
          </p:nvSpPr>
          <p:spPr bwMode="auto">
            <a:xfrm>
              <a:off x="5638800" y="2994025"/>
              <a:ext cx="215900" cy="2159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noFill/>
                <a:latin typeface="+mn-lt"/>
                <a:ea typeface="+mn-ea"/>
              </a:endParaRPr>
            </a:p>
          </p:txBody>
        </p:sp>
        <p:sp>
          <p:nvSpPr>
            <p:cNvPr id="29" name="椭圆 55"/>
            <p:cNvSpPr>
              <a:spLocks noChangeArrowheads="1"/>
            </p:cNvSpPr>
            <p:nvPr/>
          </p:nvSpPr>
          <p:spPr bwMode="auto">
            <a:xfrm>
              <a:off x="5638800" y="3511550"/>
              <a:ext cx="215900" cy="2159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noFill/>
                <a:latin typeface="+mn-lt"/>
                <a:ea typeface="+mn-ea"/>
              </a:endParaRPr>
            </a:p>
          </p:txBody>
        </p:sp>
        <p:cxnSp>
          <p:nvCxnSpPr>
            <p:cNvPr id="30" name="直线箭头连接符 56"/>
            <p:cNvCxnSpPr>
              <a:cxnSpLocks noChangeShapeType="1"/>
              <a:stCxn id="27" idx="7"/>
              <a:endCxn id="28" idx="2"/>
            </p:cNvCxnSpPr>
            <p:nvPr/>
          </p:nvCxnSpPr>
          <p:spPr bwMode="auto">
            <a:xfrm flipV="1">
              <a:off x="5233988" y="3101975"/>
              <a:ext cx="404812" cy="182563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tailEnd type="arrow" w="med" len="med"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" name="直线箭头连接符 57"/>
            <p:cNvCxnSpPr>
              <a:cxnSpLocks noChangeShapeType="1"/>
              <a:stCxn id="27" idx="5"/>
              <a:endCxn id="29" idx="2"/>
            </p:cNvCxnSpPr>
            <p:nvPr/>
          </p:nvCxnSpPr>
          <p:spPr bwMode="auto">
            <a:xfrm>
              <a:off x="5233988" y="3436938"/>
              <a:ext cx="404812" cy="182562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tailEnd type="arrow" w="med" len="med"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2" name="椭圆 58"/>
            <p:cNvSpPr>
              <a:spLocks noChangeArrowheads="1"/>
            </p:cNvSpPr>
            <p:nvPr/>
          </p:nvSpPr>
          <p:spPr bwMode="auto">
            <a:xfrm>
              <a:off x="6172200" y="2994025"/>
              <a:ext cx="215900" cy="2159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noFill/>
                <a:latin typeface="+mn-lt"/>
                <a:ea typeface="+mn-ea"/>
              </a:endParaRPr>
            </a:p>
          </p:txBody>
        </p:sp>
        <p:cxnSp>
          <p:nvCxnSpPr>
            <p:cNvPr id="33" name="直线箭头连接符 59"/>
            <p:cNvCxnSpPr>
              <a:cxnSpLocks noChangeShapeType="1"/>
              <a:stCxn id="28" idx="6"/>
              <a:endCxn id="32" idx="2"/>
            </p:cNvCxnSpPr>
            <p:nvPr/>
          </p:nvCxnSpPr>
          <p:spPr bwMode="auto">
            <a:xfrm>
              <a:off x="5854700" y="3101975"/>
              <a:ext cx="317500" cy="0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tailEnd type="arrow" w="med" len="med"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4" name="椭圆 60"/>
            <p:cNvSpPr>
              <a:spLocks noChangeArrowheads="1"/>
            </p:cNvSpPr>
            <p:nvPr/>
          </p:nvSpPr>
          <p:spPr bwMode="auto">
            <a:xfrm>
              <a:off x="6184900" y="3511550"/>
              <a:ext cx="215900" cy="2159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noFill/>
                <a:latin typeface="+mn-lt"/>
                <a:ea typeface="+mn-ea"/>
              </a:endParaRPr>
            </a:p>
          </p:txBody>
        </p:sp>
        <p:cxnSp>
          <p:nvCxnSpPr>
            <p:cNvPr id="35" name="直线箭头连接符 61"/>
            <p:cNvCxnSpPr>
              <a:cxnSpLocks noChangeShapeType="1"/>
              <a:stCxn id="29" idx="6"/>
              <a:endCxn id="34" idx="2"/>
            </p:cNvCxnSpPr>
            <p:nvPr/>
          </p:nvCxnSpPr>
          <p:spPr bwMode="auto">
            <a:xfrm>
              <a:off x="5854700" y="3619500"/>
              <a:ext cx="330200" cy="0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tailEnd type="arrow" w="med" len="med"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6" name="椭圆 62"/>
            <p:cNvSpPr>
              <a:spLocks noChangeArrowheads="1"/>
            </p:cNvSpPr>
            <p:nvPr/>
          </p:nvSpPr>
          <p:spPr bwMode="auto">
            <a:xfrm>
              <a:off x="6718300" y="3252788"/>
              <a:ext cx="215900" cy="2159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noFill/>
                <a:latin typeface="+mn-lt"/>
                <a:ea typeface="+mn-ea"/>
              </a:endParaRPr>
            </a:p>
          </p:txBody>
        </p:sp>
        <p:cxnSp>
          <p:nvCxnSpPr>
            <p:cNvPr id="37" name="直线箭头连接符 63"/>
            <p:cNvCxnSpPr>
              <a:cxnSpLocks noChangeShapeType="1"/>
              <a:stCxn id="32" idx="6"/>
              <a:endCxn id="36" idx="1"/>
            </p:cNvCxnSpPr>
            <p:nvPr/>
          </p:nvCxnSpPr>
          <p:spPr bwMode="auto">
            <a:xfrm>
              <a:off x="6388100" y="3101975"/>
              <a:ext cx="361950" cy="182563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tailEnd type="arrow" w="med" len="med"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8" name="直线箭头连接符 64"/>
            <p:cNvCxnSpPr>
              <a:cxnSpLocks noChangeShapeType="1"/>
              <a:stCxn id="34" idx="6"/>
              <a:endCxn id="36" idx="3"/>
            </p:cNvCxnSpPr>
            <p:nvPr/>
          </p:nvCxnSpPr>
          <p:spPr bwMode="auto">
            <a:xfrm flipV="1">
              <a:off x="6400800" y="3436938"/>
              <a:ext cx="349250" cy="182562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tailEnd type="arrow" w="med" len="med"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9" name="矩形 65"/>
            <p:cNvSpPr>
              <a:spLocks noChangeArrowheads="1"/>
            </p:cNvSpPr>
            <p:nvPr/>
          </p:nvSpPr>
          <p:spPr bwMode="auto">
            <a:xfrm>
              <a:off x="5872163" y="2743200"/>
              <a:ext cx="300037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en-US" altLang="zh-CN" sz="1800"/>
                <a:t>0</a:t>
              </a:r>
            </a:p>
          </p:txBody>
        </p:sp>
        <p:sp>
          <p:nvSpPr>
            <p:cNvPr id="40" name="矩形 66"/>
            <p:cNvSpPr>
              <a:spLocks noChangeArrowheads="1"/>
            </p:cNvSpPr>
            <p:nvPr/>
          </p:nvSpPr>
          <p:spPr bwMode="auto">
            <a:xfrm>
              <a:off x="5867400" y="3287713"/>
              <a:ext cx="300038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en-US" altLang="zh-CN" sz="1800"/>
                <a:t>1</a:t>
              </a:r>
            </a:p>
          </p:txBody>
        </p:sp>
        <p:sp>
          <p:nvSpPr>
            <p:cNvPr id="41" name="矩形 67"/>
            <p:cNvSpPr>
              <a:spLocks noChangeArrowheads="1"/>
            </p:cNvSpPr>
            <p:nvPr/>
          </p:nvSpPr>
          <p:spPr bwMode="auto">
            <a:xfrm>
              <a:off x="5181600" y="2906713"/>
              <a:ext cx="293688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en-US" altLang="zh-TW" sz="1800" i="1">
                  <a:cs typeface="Times New Roman" panose="02020603050405020304" pitchFamily="18" charset="0"/>
                </a:rPr>
                <a:t>ε</a:t>
              </a:r>
              <a:endParaRPr kumimoji="0" lang="en-US" altLang="zh-CN" sz="1800"/>
            </a:p>
          </p:txBody>
        </p:sp>
        <p:sp>
          <p:nvSpPr>
            <p:cNvPr id="42" name="矩形 68"/>
            <p:cNvSpPr>
              <a:spLocks noChangeArrowheads="1"/>
            </p:cNvSpPr>
            <p:nvPr/>
          </p:nvSpPr>
          <p:spPr bwMode="auto">
            <a:xfrm>
              <a:off x="5181600" y="3363913"/>
              <a:ext cx="293688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en-US" altLang="zh-TW" sz="1800" i="1">
                  <a:cs typeface="Times New Roman" panose="02020603050405020304" pitchFamily="18" charset="0"/>
                </a:rPr>
                <a:t>ε</a:t>
              </a:r>
              <a:endParaRPr kumimoji="0" lang="en-US" altLang="zh-CN" sz="1800"/>
            </a:p>
          </p:txBody>
        </p:sp>
        <p:sp>
          <p:nvSpPr>
            <p:cNvPr id="43" name="矩形 69"/>
            <p:cNvSpPr>
              <a:spLocks noChangeArrowheads="1"/>
            </p:cNvSpPr>
            <p:nvPr/>
          </p:nvSpPr>
          <p:spPr bwMode="auto">
            <a:xfrm>
              <a:off x="6488113" y="2895600"/>
              <a:ext cx="293687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en-US" altLang="zh-TW" sz="1800" i="1">
                  <a:cs typeface="Times New Roman" panose="02020603050405020304" pitchFamily="18" charset="0"/>
                </a:rPr>
                <a:t>ε</a:t>
              </a:r>
              <a:endParaRPr kumimoji="0" lang="en-US" altLang="zh-CN" sz="1800"/>
            </a:p>
          </p:txBody>
        </p:sp>
        <p:sp>
          <p:nvSpPr>
            <p:cNvPr id="44" name="矩形 70"/>
            <p:cNvSpPr>
              <a:spLocks noChangeArrowheads="1"/>
            </p:cNvSpPr>
            <p:nvPr/>
          </p:nvSpPr>
          <p:spPr bwMode="auto">
            <a:xfrm>
              <a:off x="6488113" y="3352800"/>
              <a:ext cx="293687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en-US" altLang="zh-TW" sz="1800" i="1">
                  <a:cs typeface="Times New Roman" panose="02020603050405020304" pitchFamily="18" charset="0"/>
                </a:rPr>
                <a:t>ε</a:t>
              </a:r>
              <a:endParaRPr kumimoji="0" lang="en-US" altLang="zh-CN" sz="1800"/>
            </a:p>
          </p:txBody>
        </p:sp>
        <p:cxnSp>
          <p:nvCxnSpPr>
            <p:cNvPr id="45" name="直线箭头连接符 71"/>
            <p:cNvCxnSpPr>
              <a:cxnSpLocks noChangeShapeType="1"/>
              <a:stCxn id="46" idx="6"/>
              <a:endCxn id="27" idx="2"/>
            </p:cNvCxnSpPr>
            <p:nvPr/>
          </p:nvCxnSpPr>
          <p:spPr bwMode="auto">
            <a:xfrm>
              <a:off x="4711700" y="3360738"/>
              <a:ext cx="338138" cy="0"/>
            </a:xfrm>
            <a:prstGeom prst="straightConnector1">
              <a:avLst/>
            </a:prstGeom>
            <a:noFill/>
            <a:ln w="25400">
              <a:solidFill>
                <a:srgbClr val="FF0000"/>
              </a:solidFill>
              <a:round/>
              <a:tailEnd type="arrow" w="med" len="med"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6" name="椭圆 72"/>
            <p:cNvSpPr>
              <a:spLocks noChangeArrowheads="1"/>
            </p:cNvSpPr>
            <p:nvPr/>
          </p:nvSpPr>
          <p:spPr bwMode="auto">
            <a:xfrm>
              <a:off x="4495800" y="3252788"/>
              <a:ext cx="215900" cy="215900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rou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noFill/>
                <a:latin typeface="+mn-lt"/>
                <a:ea typeface="+mn-ea"/>
              </a:endParaRPr>
            </a:p>
          </p:txBody>
        </p:sp>
        <p:sp>
          <p:nvSpPr>
            <p:cNvPr id="47" name="矩形 74"/>
            <p:cNvSpPr>
              <a:spLocks noChangeArrowheads="1"/>
            </p:cNvSpPr>
            <p:nvPr/>
          </p:nvSpPr>
          <p:spPr bwMode="auto">
            <a:xfrm>
              <a:off x="4735513" y="2971800"/>
              <a:ext cx="293687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en-US" altLang="zh-TW" sz="1800" i="1">
                  <a:solidFill>
                    <a:srgbClr val="FF0000"/>
                  </a:solidFill>
                  <a:cs typeface="Times New Roman" panose="02020603050405020304" pitchFamily="18" charset="0"/>
                </a:rPr>
                <a:t>ε</a:t>
              </a:r>
              <a:endParaRPr kumimoji="0" lang="en-US" altLang="zh-CN" sz="1800">
                <a:solidFill>
                  <a:srgbClr val="FF0000"/>
                </a:solidFill>
              </a:endParaRPr>
            </a:p>
          </p:txBody>
        </p:sp>
        <p:cxnSp>
          <p:nvCxnSpPr>
            <p:cNvPr id="48" name="直线箭头连接符 75"/>
            <p:cNvCxnSpPr>
              <a:cxnSpLocks noChangeShapeType="1"/>
              <a:stCxn id="36" idx="6"/>
              <a:endCxn id="50" idx="2"/>
            </p:cNvCxnSpPr>
            <p:nvPr/>
          </p:nvCxnSpPr>
          <p:spPr bwMode="auto">
            <a:xfrm>
              <a:off x="6934200" y="3360738"/>
              <a:ext cx="317500" cy="0"/>
            </a:xfrm>
            <a:prstGeom prst="straightConnector1">
              <a:avLst/>
            </a:prstGeom>
            <a:noFill/>
            <a:ln w="25400">
              <a:solidFill>
                <a:srgbClr val="FF0000"/>
              </a:solidFill>
              <a:round/>
              <a:tailEnd type="arrow" w="med" len="med"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9" name="矩形 77"/>
            <p:cNvSpPr>
              <a:spLocks noChangeArrowheads="1"/>
            </p:cNvSpPr>
            <p:nvPr/>
          </p:nvSpPr>
          <p:spPr bwMode="auto">
            <a:xfrm>
              <a:off x="6945313" y="2971800"/>
              <a:ext cx="293687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en-US" altLang="zh-TW" sz="1800" i="1">
                  <a:solidFill>
                    <a:srgbClr val="FF0000"/>
                  </a:solidFill>
                  <a:cs typeface="Times New Roman" panose="02020603050405020304" pitchFamily="18" charset="0"/>
                </a:rPr>
                <a:t>ε</a:t>
              </a:r>
              <a:endParaRPr kumimoji="0" lang="en-US" altLang="zh-CN" sz="1800">
                <a:solidFill>
                  <a:srgbClr val="FF0000"/>
                </a:solidFill>
              </a:endParaRPr>
            </a:p>
          </p:txBody>
        </p:sp>
        <p:sp>
          <p:nvSpPr>
            <p:cNvPr id="50" name="椭圆 78"/>
            <p:cNvSpPr>
              <a:spLocks noChangeArrowheads="1"/>
            </p:cNvSpPr>
            <p:nvPr/>
          </p:nvSpPr>
          <p:spPr bwMode="auto">
            <a:xfrm>
              <a:off x="7251700" y="3252788"/>
              <a:ext cx="215900" cy="215900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rou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noFill/>
                <a:latin typeface="+mn-lt"/>
                <a:ea typeface="+mn-ea"/>
              </a:endParaRPr>
            </a:p>
          </p:txBody>
        </p:sp>
        <p:cxnSp>
          <p:nvCxnSpPr>
            <p:cNvPr id="51" name="曲线连接符 80"/>
            <p:cNvCxnSpPr>
              <a:cxnSpLocks noChangeShapeType="1"/>
              <a:stCxn id="46" idx="5"/>
              <a:endCxn id="50" idx="4"/>
            </p:cNvCxnSpPr>
            <p:nvPr/>
          </p:nvCxnSpPr>
          <p:spPr bwMode="auto">
            <a:xfrm rot="16200000" flipH="1">
              <a:off x="6003925" y="2112963"/>
              <a:ext cx="31750" cy="2679700"/>
            </a:xfrm>
            <a:prstGeom prst="curvedConnector3">
              <a:avLst>
                <a:gd name="adj1" fmla="val 1304477"/>
              </a:avLst>
            </a:prstGeom>
            <a:noFill/>
            <a:ln w="25400">
              <a:solidFill>
                <a:srgbClr val="FF0000"/>
              </a:solidFill>
              <a:round/>
              <a:tailEnd type="arrow" w="med" len="med"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" name="曲线连接符 86"/>
            <p:cNvCxnSpPr>
              <a:cxnSpLocks noChangeShapeType="1"/>
              <a:stCxn id="36" idx="0"/>
              <a:endCxn id="27" idx="0"/>
            </p:cNvCxnSpPr>
            <p:nvPr/>
          </p:nvCxnSpPr>
          <p:spPr bwMode="auto">
            <a:xfrm rot="16200000" flipV="1">
              <a:off x="5992019" y="2418557"/>
              <a:ext cx="12700" cy="1668462"/>
            </a:xfrm>
            <a:prstGeom prst="curvedConnector3">
              <a:avLst>
                <a:gd name="adj1" fmla="val 4000000"/>
              </a:avLst>
            </a:prstGeom>
            <a:noFill/>
            <a:ln w="25400">
              <a:solidFill>
                <a:srgbClr val="FF0000"/>
              </a:solidFill>
              <a:round/>
              <a:tailEnd type="arrow" w="med" len="med"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3" name="矩形 93"/>
            <p:cNvSpPr>
              <a:spLocks noChangeArrowheads="1"/>
            </p:cNvSpPr>
            <p:nvPr/>
          </p:nvSpPr>
          <p:spPr bwMode="auto">
            <a:xfrm>
              <a:off x="5872163" y="3744913"/>
              <a:ext cx="295275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en-US" altLang="zh-TW" sz="1800" i="1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ε</a:t>
              </a:r>
              <a:endParaRPr kumimoji="0" lang="en-US" altLang="zh-CN" sz="18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54" name="组合 2"/>
          <p:cNvGrpSpPr/>
          <p:nvPr/>
        </p:nvGrpSpPr>
        <p:grpSpPr>
          <a:xfrm>
            <a:off x="990600" y="4620931"/>
            <a:ext cx="4038600" cy="1676400"/>
            <a:chOff x="990600" y="4114800"/>
            <a:chExt cx="4038600" cy="1676400"/>
          </a:xfrm>
        </p:grpSpPr>
        <p:sp>
          <p:nvSpPr>
            <p:cNvPr id="55" name="椭圆 94"/>
            <p:cNvSpPr>
              <a:spLocks noChangeArrowheads="1"/>
            </p:cNvSpPr>
            <p:nvPr/>
          </p:nvSpPr>
          <p:spPr bwMode="auto">
            <a:xfrm>
              <a:off x="1544638" y="4929188"/>
              <a:ext cx="215900" cy="2159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56" name="椭圆 95"/>
            <p:cNvSpPr>
              <a:spLocks noChangeArrowheads="1"/>
            </p:cNvSpPr>
            <p:nvPr/>
          </p:nvSpPr>
          <p:spPr bwMode="auto">
            <a:xfrm>
              <a:off x="2133600" y="4670425"/>
              <a:ext cx="215900" cy="2159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57" name="椭圆 96"/>
            <p:cNvSpPr>
              <a:spLocks noChangeArrowheads="1"/>
            </p:cNvSpPr>
            <p:nvPr/>
          </p:nvSpPr>
          <p:spPr bwMode="auto">
            <a:xfrm>
              <a:off x="2133600" y="5187950"/>
              <a:ext cx="215900" cy="2159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cxnSp>
          <p:nvCxnSpPr>
            <p:cNvPr id="58" name="直线箭头连接符 97"/>
            <p:cNvCxnSpPr>
              <a:cxnSpLocks noChangeShapeType="1"/>
              <a:stCxn id="55" idx="7"/>
              <a:endCxn id="56" idx="2"/>
            </p:cNvCxnSpPr>
            <p:nvPr/>
          </p:nvCxnSpPr>
          <p:spPr bwMode="auto">
            <a:xfrm flipV="1">
              <a:off x="1728788" y="4778375"/>
              <a:ext cx="404812" cy="182563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tailEnd type="arrow" w="med" len="med"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9" name="直线箭头连接符 98"/>
            <p:cNvCxnSpPr>
              <a:cxnSpLocks noChangeShapeType="1"/>
              <a:stCxn id="55" idx="5"/>
              <a:endCxn id="57" idx="2"/>
            </p:cNvCxnSpPr>
            <p:nvPr/>
          </p:nvCxnSpPr>
          <p:spPr bwMode="auto">
            <a:xfrm>
              <a:off x="1728788" y="5113338"/>
              <a:ext cx="404812" cy="182562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tailEnd type="arrow" w="med" len="med"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60" name="椭圆 99"/>
            <p:cNvSpPr>
              <a:spLocks noChangeArrowheads="1"/>
            </p:cNvSpPr>
            <p:nvPr/>
          </p:nvSpPr>
          <p:spPr bwMode="auto">
            <a:xfrm>
              <a:off x="2667000" y="4670425"/>
              <a:ext cx="215900" cy="2159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cxnSp>
          <p:nvCxnSpPr>
            <p:cNvPr id="61" name="直线箭头连接符 100"/>
            <p:cNvCxnSpPr>
              <a:cxnSpLocks noChangeShapeType="1"/>
              <a:stCxn id="56" idx="6"/>
              <a:endCxn id="60" idx="2"/>
            </p:cNvCxnSpPr>
            <p:nvPr/>
          </p:nvCxnSpPr>
          <p:spPr bwMode="auto">
            <a:xfrm>
              <a:off x="2349500" y="4778375"/>
              <a:ext cx="317500" cy="0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tailEnd type="arrow" w="med" len="med"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62" name="椭圆 101"/>
            <p:cNvSpPr>
              <a:spLocks noChangeArrowheads="1"/>
            </p:cNvSpPr>
            <p:nvPr/>
          </p:nvSpPr>
          <p:spPr bwMode="auto">
            <a:xfrm>
              <a:off x="2679700" y="5187950"/>
              <a:ext cx="215900" cy="2159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cxnSp>
          <p:nvCxnSpPr>
            <p:cNvPr id="63" name="直线箭头连接符 102"/>
            <p:cNvCxnSpPr>
              <a:cxnSpLocks noChangeShapeType="1"/>
              <a:stCxn id="57" idx="6"/>
              <a:endCxn id="62" idx="2"/>
            </p:cNvCxnSpPr>
            <p:nvPr/>
          </p:nvCxnSpPr>
          <p:spPr bwMode="auto">
            <a:xfrm>
              <a:off x="2349500" y="5295900"/>
              <a:ext cx="330200" cy="0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tailEnd type="arrow" w="med" len="med"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64" name="椭圆 103"/>
            <p:cNvSpPr>
              <a:spLocks noChangeArrowheads="1"/>
            </p:cNvSpPr>
            <p:nvPr/>
          </p:nvSpPr>
          <p:spPr bwMode="auto">
            <a:xfrm>
              <a:off x="3213100" y="4929188"/>
              <a:ext cx="215900" cy="2159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cxnSp>
          <p:nvCxnSpPr>
            <p:cNvPr id="65" name="直线箭头连接符 104"/>
            <p:cNvCxnSpPr>
              <a:cxnSpLocks noChangeShapeType="1"/>
              <a:stCxn id="60" idx="6"/>
              <a:endCxn id="64" idx="1"/>
            </p:cNvCxnSpPr>
            <p:nvPr/>
          </p:nvCxnSpPr>
          <p:spPr bwMode="auto">
            <a:xfrm>
              <a:off x="2882900" y="4778375"/>
              <a:ext cx="361950" cy="182563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tailEnd type="arrow" w="med" len="med"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6" name="直线箭头连接符 105"/>
            <p:cNvCxnSpPr>
              <a:cxnSpLocks noChangeShapeType="1"/>
              <a:stCxn id="62" idx="6"/>
              <a:endCxn id="64" idx="3"/>
            </p:cNvCxnSpPr>
            <p:nvPr/>
          </p:nvCxnSpPr>
          <p:spPr bwMode="auto">
            <a:xfrm flipV="1">
              <a:off x="2895600" y="5113338"/>
              <a:ext cx="349250" cy="182562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tailEnd type="arrow" w="med" len="med"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67" name="矩形 106"/>
            <p:cNvSpPr>
              <a:spLocks noChangeArrowheads="1"/>
            </p:cNvSpPr>
            <p:nvPr/>
          </p:nvSpPr>
          <p:spPr bwMode="auto">
            <a:xfrm>
              <a:off x="2366963" y="4419600"/>
              <a:ext cx="300037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en-US" altLang="zh-CN" sz="1800"/>
                <a:t>0</a:t>
              </a:r>
            </a:p>
          </p:txBody>
        </p:sp>
        <p:sp>
          <p:nvSpPr>
            <p:cNvPr id="68" name="矩形 107"/>
            <p:cNvSpPr>
              <a:spLocks noChangeArrowheads="1"/>
            </p:cNvSpPr>
            <p:nvPr/>
          </p:nvSpPr>
          <p:spPr bwMode="auto">
            <a:xfrm>
              <a:off x="2362200" y="4964113"/>
              <a:ext cx="300038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en-US" altLang="zh-CN" sz="1800"/>
                <a:t>1</a:t>
              </a:r>
            </a:p>
          </p:txBody>
        </p:sp>
        <p:sp>
          <p:nvSpPr>
            <p:cNvPr id="69" name="矩形 108"/>
            <p:cNvSpPr>
              <a:spLocks noChangeArrowheads="1"/>
            </p:cNvSpPr>
            <p:nvPr/>
          </p:nvSpPr>
          <p:spPr bwMode="auto">
            <a:xfrm>
              <a:off x="1676400" y="4583113"/>
              <a:ext cx="293688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en-US" altLang="zh-TW" sz="1800" i="1">
                  <a:cs typeface="Times New Roman" panose="02020603050405020304" pitchFamily="18" charset="0"/>
                </a:rPr>
                <a:t>ε</a:t>
              </a:r>
              <a:endParaRPr kumimoji="0" lang="en-US" altLang="zh-CN" sz="1800"/>
            </a:p>
          </p:txBody>
        </p:sp>
        <p:sp>
          <p:nvSpPr>
            <p:cNvPr id="70" name="矩形 109"/>
            <p:cNvSpPr>
              <a:spLocks noChangeArrowheads="1"/>
            </p:cNvSpPr>
            <p:nvPr/>
          </p:nvSpPr>
          <p:spPr bwMode="auto">
            <a:xfrm>
              <a:off x="1676400" y="5040313"/>
              <a:ext cx="293688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en-US" altLang="zh-TW" sz="1800" i="1">
                  <a:cs typeface="Times New Roman" panose="02020603050405020304" pitchFamily="18" charset="0"/>
                </a:rPr>
                <a:t>ε</a:t>
              </a:r>
              <a:endParaRPr kumimoji="0" lang="en-US" altLang="zh-CN" sz="1800"/>
            </a:p>
          </p:txBody>
        </p:sp>
        <p:sp>
          <p:nvSpPr>
            <p:cNvPr id="71" name="矩形 110"/>
            <p:cNvSpPr>
              <a:spLocks noChangeArrowheads="1"/>
            </p:cNvSpPr>
            <p:nvPr/>
          </p:nvSpPr>
          <p:spPr bwMode="auto">
            <a:xfrm>
              <a:off x="2982913" y="4572000"/>
              <a:ext cx="293687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en-US" altLang="zh-TW" sz="1800" i="1">
                  <a:cs typeface="Times New Roman" panose="02020603050405020304" pitchFamily="18" charset="0"/>
                </a:rPr>
                <a:t>ε</a:t>
              </a:r>
              <a:endParaRPr kumimoji="0" lang="en-US" altLang="zh-CN" sz="1800"/>
            </a:p>
          </p:txBody>
        </p:sp>
        <p:sp>
          <p:nvSpPr>
            <p:cNvPr id="72" name="矩形 111"/>
            <p:cNvSpPr>
              <a:spLocks noChangeArrowheads="1"/>
            </p:cNvSpPr>
            <p:nvPr/>
          </p:nvSpPr>
          <p:spPr bwMode="auto">
            <a:xfrm>
              <a:off x="2982913" y="5029200"/>
              <a:ext cx="293687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en-US" altLang="zh-TW" sz="1800" i="1" dirty="0">
                  <a:cs typeface="Times New Roman" panose="02020603050405020304" pitchFamily="18" charset="0"/>
                </a:rPr>
                <a:t>ε</a:t>
              </a:r>
              <a:endParaRPr kumimoji="0" lang="en-US" altLang="zh-CN" sz="1800" dirty="0"/>
            </a:p>
          </p:txBody>
        </p:sp>
        <p:cxnSp>
          <p:nvCxnSpPr>
            <p:cNvPr id="73" name="直线箭头连接符 112"/>
            <p:cNvCxnSpPr>
              <a:cxnSpLocks noChangeShapeType="1"/>
              <a:stCxn id="74" idx="6"/>
              <a:endCxn id="55" idx="2"/>
            </p:cNvCxnSpPr>
            <p:nvPr/>
          </p:nvCxnSpPr>
          <p:spPr bwMode="auto">
            <a:xfrm>
              <a:off x="1206500" y="5037138"/>
              <a:ext cx="338138" cy="0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tailEnd type="arrow" w="med" len="med"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4" name="椭圆 113"/>
            <p:cNvSpPr>
              <a:spLocks noChangeArrowheads="1"/>
            </p:cNvSpPr>
            <p:nvPr/>
          </p:nvSpPr>
          <p:spPr bwMode="auto">
            <a:xfrm>
              <a:off x="990600" y="4929188"/>
              <a:ext cx="215900" cy="21590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75" name="矩形 114"/>
            <p:cNvSpPr>
              <a:spLocks noChangeArrowheads="1"/>
            </p:cNvSpPr>
            <p:nvPr/>
          </p:nvSpPr>
          <p:spPr bwMode="auto">
            <a:xfrm>
              <a:off x="1230313" y="4648200"/>
              <a:ext cx="293687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en-US" altLang="zh-TW" sz="1800" i="1">
                  <a:cs typeface="Times New Roman" panose="02020603050405020304" pitchFamily="18" charset="0"/>
                </a:rPr>
                <a:t>ε</a:t>
              </a:r>
              <a:endParaRPr kumimoji="0" lang="en-US" altLang="zh-CN" sz="1800"/>
            </a:p>
          </p:txBody>
        </p:sp>
        <p:cxnSp>
          <p:nvCxnSpPr>
            <p:cNvPr id="76" name="直线箭头连接符 115"/>
            <p:cNvCxnSpPr>
              <a:cxnSpLocks noChangeShapeType="1"/>
              <a:stCxn id="64" idx="6"/>
              <a:endCxn id="78" idx="2"/>
            </p:cNvCxnSpPr>
            <p:nvPr/>
          </p:nvCxnSpPr>
          <p:spPr bwMode="auto">
            <a:xfrm>
              <a:off x="3429000" y="5037138"/>
              <a:ext cx="317500" cy="0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tailEnd type="arrow" w="med" len="med"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7" name="矩形 116"/>
            <p:cNvSpPr>
              <a:spLocks noChangeArrowheads="1"/>
            </p:cNvSpPr>
            <p:nvPr/>
          </p:nvSpPr>
          <p:spPr bwMode="auto">
            <a:xfrm>
              <a:off x="3440113" y="4648200"/>
              <a:ext cx="293687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en-US" altLang="zh-TW" sz="1800" i="1">
                  <a:cs typeface="Times New Roman" panose="02020603050405020304" pitchFamily="18" charset="0"/>
                </a:rPr>
                <a:t>ε</a:t>
              </a:r>
              <a:endParaRPr kumimoji="0" lang="en-US" altLang="zh-CN" sz="1800"/>
            </a:p>
          </p:txBody>
        </p:sp>
        <p:sp>
          <p:nvSpPr>
            <p:cNvPr id="78" name="椭圆 117"/>
            <p:cNvSpPr>
              <a:spLocks noChangeArrowheads="1"/>
            </p:cNvSpPr>
            <p:nvPr/>
          </p:nvSpPr>
          <p:spPr bwMode="auto">
            <a:xfrm>
              <a:off x="3746500" y="4929188"/>
              <a:ext cx="215900" cy="2159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cxnSp>
          <p:nvCxnSpPr>
            <p:cNvPr id="79" name="曲线连接符 118"/>
            <p:cNvCxnSpPr>
              <a:cxnSpLocks noChangeShapeType="1"/>
              <a:stCxn id="74" idx="5"/>
              <a:endCxn id="78" idx="4"/>
            </p:cNvCxnSpPr>
            <p:nvPr/>
          </p:nvCxnSpPr>
          <p:spPr bwMode="auto">
            <a:xfrm rot="16200000" flipH="1">
              <a:off x="2498725" y="3789363"/>
              <a:ext cx="31750" cy="2679700"/>
            </a:xfrm>
            <a:prstGeom prst="curvedConnector3">
              <a:avLst>
                <a:gd name="adj1" fmla="val 1304477"/>
              </a:avLst>
            </a:prstGeom>
            <a:noFill/>
            <a:ln w="25400">
              <a:solidFill>
                <a:srgbClr val="000000"/>
              </a:solidFill>
              <a:round/>
              <a:tailEnd type="arrow" w="med" len="med"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0" name="曲线连接符 119"/>
            <p:cNvCxnSpPr>
              <a:cxnSpLocks noChangeShapeType="1"/>
              <a:stCxn id="64" idx="0"/>
              <a:endCxn id="55" idx="0"/>
            </p:cNvCxnSpPr>
            <p:nvPr/>
          </p:nvCxnSpPr>
          <p:spPr bwMode="auto">
            <a:xfrm rot="16200000" flipV="1">
              <a:off x="2486819" y="4094957"/>
              <a:ext cx="12700" cy="1668462"/>
            </a:xfrm>
            <a:prstGeom prst="curvedConnector3">
              <a:avLst>
                <a:gd name="adj1" fmla="val 4000000"/>
              </a:avLst>
            </a:prstGeom>
            <a:noFill/>
            <a:ln w="25400">
              <a:solidFill>
                <a:srgbClr val="000000"/>
              </a:solidFill>
              <a:round/>
              <a:tailEnd type="arrow" w="med" len="med"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1" name="矩形 120"/>
            <p:cNvSpPr>
              <a:spLocks noChangeArrowheads="1"/>
            </p:cNvSpPr>
            <p:nvPr/>
          </p:nvSpPr>
          <p:spPr bwMode="auto">
            <a:xfrm>
              <a:off x="2366963" y="5421313"/>
              <a:ext cx="295275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en-US" altLang="zh-TW" sz="1800" i="1">
                  <a:cs typeface="Times New Roman" panose="02020603050405020304" pitchFamily="18" charset="0"/>
                </a:rPr>
                <a:t>ε</a:t>
              </a:r>
              <a:endParaRPr kumimoji="0" lang="en-US" altLang="zh-CN" sz="1800"/>
            </a:p>
          </p:txBody>
        </p:sp>
        <p:sp>
          <p:nvSpPr>
            <p:cNvPr id="82" name="矩形 121"/>
            <p:cNvSpPr>
              <a:spLocks noChangeArrowheads="1"/>
            </p:cNvSpPr>
            <p:nvPr/>
          </p:nvSpPr>
          <p:spPr bwMode="auto">
            <a:xfrm>
              <a:off x="2373313" y="4114800"/>
              <a:ext cx="293687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en-US" altLang="zh-TW" sz="1800" i="1" dirty="0">
                  <a:cs typeface="Times New Roman" panose="02020603050405020304" pitchFamily="18" charset="0"/>
                </a:rPr>
                <a:t>ε</a:t>
              </a:r>
              <a:endParaRPr kumimoji="0" lang="en-US" altLang="zh-CN" sz="1800" dirty="0"/>
            </a:p>
          </p:txBody>
        </p:sp>
        <p:cxnSp>
          <p:nvCxnSpPr>
            <p:cNvPr id="83" name="直线箭头连接符 122"/>
            <p:cNvCxnSpPr>
              <a:cxnSpLocks noChangeShapeType="1"/>
              <a:stCxn id="78" idx="6"/>
              <a:endCxn id="84" idx="2"/>
            </p:cNvCxnSpPr>
            <p:nvPr/>
          </p:nvCxnSpPr>
          <p:spPr bwMode="auto">
            <a:xfrm>
              <a:off x="3962400" y="5037138"/>
              <a:ext cx="304800" cy="0"/>
            </a:xfrm>
            <a:prstGeom prst="straightConnector1">
              <a:avLst/>
            </a:prstGeom>
            <a:noFill/>
            <a:ln w="25400">
              <a:solidFill>
                <a:srgbClr val="FF0000"/>
              </a:solidFill>
              <a:round/>
              <a:tailEnd type="arrow" w="med" len="med"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4" name="椭圆 123"/>
            <p:cNvSpPr>
              <a:spLocks noChangeArrowheads="1"/>
            </p:cNvSpPr>
            <p:nvPr/>
          </p:nvSpPr>
          <p:spPr bwMode="auto">
            <a:xfrm>
              <a:off x="4267200" y="4929188"/>
              <a:ext cx="215900" cy="215900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rou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solidFill>
                  <a:srgbClr val="FF0000"/>
                </a:solidFill>
                <a:latin typeface="+mn-lt"/>
                <a:ea typeface="+mn-ea"/>
              </a:endParaRPr>
            </a:p>
          </p:txBody>
        </p:sp>
        <p:sp>
          <p:nvSpPr>
            <p:cNvPr id="85" name="矩形 126"/>
            <p:cNvSpPr>
              <a:spLocks noChangeArrowheads="1"/>
            </p:cNvSpPr>
            <p:nvPr/>
          </p:nvSpPr>
          <p:spPr bwMode="auto">
            <a:xfrm>
              <a:off x="3973513" y="4648200"/>
              <a:ext cx="293687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en-US" altLang="zh-TW" sz="1800" i="1">
                  <a:solidFill>
                    <a:srgbClr val="FF0000"/>
                  </a:solidFill>
                  <a:cs typeface="Times New Roman" panose="02020603050405020304" pitchFamily="18" charset="0"/>
                </a:rPr>
                <a:t>ε</a:t>
              </a:r>
              <a:endParaRPr kumimoji="0" lang="en-US" altLang="zh-CN" sz="1800">
                <a:solidFill>
                  <a:srgbClr val="FF0000"/>
                </a:solidFill>
              </a:endParaRPr>
            </a:p>
          </p:txBody>
        </p:sp>
        <p:cxnSp>
          <p:nvCxnSpPr>
            <p:cNvPr id="86" name="直线箭头连接符 127"/>
            <p:cNvCxnSpPr>
              <a:cxnSpLocks noChangeShapeType="1"/>
              <a:stCxn id="84" idx="6"/>
              <a:endCxn id="87" idx="2"/>
            </p:cNvCxnSpPr>
            <p:nvPr/>
          </p:nvCxnSpPr>
          <p:spPr bwMode="auto">
            <a:xfrm>
              <a:off x="4483100" y="5037138"/>
              <a:ext cx="330200" cy="0"/>
            </a:xfrm>
            <a:prstGeom prst="straightConnector1">
              <a:avLst/>
            </a:prstGeom>
            <a:noFill/>
            <a:ln w="25400">
              <a:solidFill>
                <a:srgbClr val="FF0000"/>
              </a:solidFill>
              <a:round/>
              <a:tailEnd type="arrow" w="med" len="med"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7" name="椭圆 128"/>
            <p:cNvSpPr>
              <a:spLocks noChangeArrowheads="1"/>
            </p:cNvSpPr>
            <p:nvPr/>
          </p:nvSpPr>
          <p:spPr bwMode="auto">
            <a:xfrm>
              <a:off x="4813300" y="4929188"/>
              <a:ext cx="215900" cy="215900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rou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>
                <a:noFill/>
                <a:latin typeface="+mn-lt"/>
                <a:ea typeface="+mn-ea"/>
              </a:endParaRPr>
            </a:p>
          </p:txBody>
        </p:sp>
        <p:sp>
          <p:nvSpPr>
            <p:cNvPr id="88" name="矩形 129"/>
            <p:cNvSpPr>
              <a:spLocks noChangeArrowheads="1"/>
            </p:cNvSpPr>
            <p:nvPr/>
          </p:nvSpPr>
          <p:spPr bwMode="auto">
            <a:xfrm>
              <a:off x="4495800" y="4648200"/>
              <a:ext cx="300038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zh-CN" altLang="zh-TW" sz="1800" b="1">
                  <a:solidFill>
                    <a:srgbClr val="FF0000"/>
                  </a:solidFill>
                  <a:cs typeface="Times New Roman" panose="02020603050405020304" pitchFamily="18" charset="0"/>
                </a:rPr>
                <a:t>1</a:t>
              </a:r>
              <a:endParaRPr kumimoji="0" lang="en-US" altLang="zh-CN" sz="1800" b="1">
                <a:solidFill>
                  <a:srgbClr val="FF0000"/>
                </a:solidFill>
                <a:cs typeface="Times New Roman" panose="02020603050405020304" pitchFamily="18" charset="0"/>
              </a:endParaRPr>
            </a:p>
          </p:txBody>
        </p:sp>
      </p:grpSp>
      <p:sp>
        <p:nvSpPr>
          <p:cNvPr id="89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pPr>
              <a:defRPr/>
            </a:pPr>
            <a:fld id="{A619564F-3A13-4140-9CFC-3B75A7CC7F9C}" type="slidenum">
              <a:rPr lang="en-US" altLang="zh-CN" smtClean="0"/>
              <a:t>55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示例</a:t>
            </a:r>
            <a:endParaRPr kumimoji="0"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31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 algn="just" eaLnBrk="1" hangingPunct="1">
              <a:lnSpc>
                <a:spcPct val="90000"/>
              </a:lnSpc>
              <a:buFontTx/>
              <a:buNone/>
            </a:pPr>
            <a:r>
              <a:rPr kumimoji="0" lang="zh-CN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kumimoji="0"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kumimoji="0"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）构造</a:t>
            </a:r>
            <a:r>
              <a:rPr kumimoji="0"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(0+1)</a:t>
            </a:r>
            <a:r>
              <a:rPr kumimoji="0" lang="en-US" altLang="zh-CN" sz="2800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kumimoji="0"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(0+1)</a:t>
            </a:r>
          </a:p>
          <a:p>
            <a:pPr marL="0" indent="0" algn="just" eaLnBrk="1" hangingPunct="1">
              <a:lnSpc>
                <a:spcPct val="90000"/>
              </a:lnSpc>
              <a:buFontTx/>
              <a:buNone/>
            </a:pPr>
            <a:endParaRPr kumimoji="0" lang="en-US" altLang="zh-TW" sz="2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6323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46757A78-A9AD-485B-BCD4-076CAA71E93F}" type="slidenum">
              <a:rPr kumimoji="0" lang="en-US" altLang="zh-CN" sz="1400">
                <a:latin typeface="Arial" panose="020B0604020202020204" pitchFamily="34" charset="0"/>
              </a:rPr>
              <a:t>56</a:t>
            </a:fld>
            <a:endParaRPr kumimoji="0" lang="en-US" altLang="zh-CN" sz="1400">
              <a:latin typeface="Arial" panose="020B0604020202020204" pitchFamily="34" charset="0"/>
            </a:endParaRPr>
          </a:p>
        </p:txBody>
      </p:sp>
      <p:sp>
        <p:nvSpPr>
          <p:cNvPr id="1331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en-US">
              <a:latin typeface="Times New Roman" panose="02020603050405020304" pitchFamily="18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椭圆 9"/>
          <p:cNvSpPr>
            <a:spLocks noChangeArrowheads="1"/>
          </p:cNvSpPr>
          <p:nvPr/>
        </p:nvSpPr>
        <p:spPr bwMode="auto">
          <a:xfrm>
            <a:off x="5735638" y="2795588"/>
            <a:ext cx="215900" cy="2159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solidFill>
                <a:srgbClr val="FF0000"/>
              </a:solidFill>
              <a:latin typeface="+mn-lt"/>
              <a:ea typeface="+mn-ea"/>
            </a:endParaRPr>
          </a:p>
        </p:txBody>
      </p:sp>
      <p:sp>
        <p:nvSpPr>
          <p:cNvPr id="13" name="椭圆 12"/>
          <p:cNvSpPr>
            <a:spLocks noChangeArrowheads="1"/>
          </p:cNvSpPr>
          <p:nvPr/>
        </p:nvSpPr>
        <p:spPr bwMode="auto">
          <a:xfrm>
            <a:off x="6324600" y="2536825"/>
            <a:ext cx="215900" cy="2159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solidFill>
                <a:srgbClr val="FF0000"/>
              </a:solidFill>
              <a:latin typeface="+mn-lt"/>
              <a:ea typeface="+mn-ea"/>
            </a:endParaRPr>
          </a:p>
        </p:txBody>
      </p:sp>
      <p:sp>
        <p:nvSpPr>
          <p:cNvPr id="14" name="椭圆 13"/>
          <p:cNvSpPr>
            <a:spLocks noChangeArrowheads="1"/>
          </p:cNvSpPr>
          <p:nvPr/>
        </p:nvSpPr>
        <p:spPr bwMode="auto">
          <a:xfrm>
            <a:off x="6324600" y="3054350"/>
            <a:ext cx="215900" cy="2159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solidFill>
                <a:srgbClr val="FF0000"/>
              </a:solidFill>
              <a:latin typeface="+mn-lt"/>
              <a:ea typeface="+mn-ea"/>
            </a:endParaRPr>
          </a:p>
        </p:txBody>
      </p:sp>
      <p:cxnSp>
        <p:nvCxnSpPr>
          <p:cNvPr id="5" name="直线箭头连接符 4"/>
          <p:cNvCxnSpPr>
            <a:cxnSpLocks noChangeShapeType="1"/>
            <a:stCxn id="10" idx="7"/>
            <a:endCxn id="13" idx="2"/>
          </p:cNvCxnSpPr>
          <p:nvPr/>
        </p:nvCxnSpPr>
        <p:spPr bwMode="auto">
          <a:xfrm flipV="1">
            <a:off x="5919788" y="2644775"/>
            <a:ext cx="404812" cy="182563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tailEnd type="arrow" w="med" len="med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" name="直线箭头连接符 19"/>
          <p:cNvCxnSpPr>
            <a:cxnSpLocks noChangeShapeType="1"/>
            <a:stCxn id="10" idx="5"/>
            <a:endCxn id="14" idx="2"/>
          </p:cNvCxnSpPr>
          <p:nvPr/>
        </p:nvCxnSpPr>
        <p:spPr bwMode="auto">
          <a:xfrm>
            <a:off x="5919788" y="2979738"/>
            <a:ext cx="404812" cy="182562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tailEnd type="arrow" w="med" len="med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" name="椭圆 22"/>
          <p:cNvSpPr>
            <a:spLocks noChangeArrowheads="1"/>
          </p:cNvSpPr>
          <p:nvPr/>
        </p:nvSpPr>
        <p:spPr bwMode="auto">
          <a:xfrm>
            <a:off x="6858000" y="2536825"/>
            <a:ext cx="215900" cy="2159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solidFill>
                <a:srgbClr val="FF0000"/>
              </a:solidFill>
              <a:latin typeface="+mn-lt"/>
              <a:ea typeface="+mn-ea"/>
            </a:endParaRPr>
          </a:p>
        </p:txBody>
      </p:sp>
      <p:cxnSp>
        <p:nvCxnSpPr>
          <p:cNvPr id="24" name="直线箭头连接符 23"/>
          <p:cNvCxnSpPr>
            <a:cxnSpLocks noChangeShapeType="1"/>
            <a:stCxn id="13" idx="6"/>
            <a:endCxn id="23" idx="2"/>
          </p:cNvCxnSpPr>
          <p:nvPr/>
        </p:nvCxnSpPr>
        <p:spPr bwMode="auto">
          <a:xfrm>
            <a:off x="6540500" y="2644775"/>
            <a:ext cx="317500" cy="0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tailEnd type="arrow" w="med" len="med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7" name="椭圆 26"/>
          <p:cNvSpPr>
            <a:spLocks noChangeArrowheads="1"/>
          </p:cNvSpPr>
          <p:nvPr/>
        </p:nvSpPr>
        <p:spPr bwMode="auto">
          <a:xfrm>
            <a:off x="6870700" y="3054350"/>
            <a:ext cx="215900" cy="2159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solidFill>
                <a:srgbClr val="FF0000"/>
              </a:solidFill>
              <a:latin typeface="+mn-lt"/>
              <a:ea typeface="+mn-ea"/>
            </a:endParaRPr>
          </a:p>
        </p:txBody>
      </p:sp>
      <p:cxnSp>
        <p:nvCxnSpPr>
          <p:cNvPr id="28" name="直线箭头连接符 27"/>
          <p:cNvCxnSpPr>
            <a:cxnSpLocks noChangeShapeType="1"/>
            <a:stCxn id="14" idx="6"/>
            <a:endCxn id="27" idx="2"/>
          </p:cNvCxnSpPr>
          <p:nvPr/>
        </p:nvCxnSpPr>
        <p:spPr bwMode="auto">
          <a:xfrm>
            <a:off x="6540500" y="3162300"/>
            <a:ext cx="330200" cy="0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tailEnd type="arrow" w="med" len="med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" name="椭圆 29"/>
          <p:cNvSpPr>
            <a:spLocks noChangeArrowheads="1"/>
          </p:cNvSpPr>
          <p:nvPr/>
        </p:nvSpPr>
        <p:spPr bwMode="auto">
          <a:xfrm>
            <a:off x="7404100" y="2795588"/>
            <a:ext cx="215900" cy="2159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solidFill>
                <a:srgbClr val="FF0000"/>
              </a:solidFill>
              <a:latin typeface="+mn-lt"/>
              <a:ea typeface="+mn-ea"/>
            </a:endParaRPr>
          </a:p>
        </p:txBody>
      </p:sp>
      <p:cxnSp>
        <p:nvCxnSpPr>
          <p:cNvPr id="31" name="直线箭头连接符 30"/>
          <p:cNvCxnSpPr>
            <a:cxnSpLocks noChangeShapeType="1"/>
            <a:stCxn id="23" idx="6"/>
            <a:endCxn id="30" idx="1"/>
          </p:cNvCxnSpPr>
          <p:nvPr/>
        </p:nvCxnSpPr>
        <p:spPr bwMode="auto">
          <a:xfrm>
            <a:off x="7073900" y="2644775"/>
            <a:ext cx="361950" cy="182563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tailEnd type="arrow" w="med" len="med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" name="直线箭头连接符 33"/>
          <p:cNvCxnSpPr>
            <a:cxnSpLocks noChangeShapeType="1"/>
            <a:stCxn id="27" idx="6"/>
            <a:endCxn id="30" idx="3"/>
          </p:cNvCxnSpPr>
          <p:nvPr/>
        </p:nvCxnSpPr>
        <p:spPr bwMode="auto">
          <a:xfrm flipV="1">
            <a:off x="7086600" y="2979738"/>
            <a:ext cx="349250" cy="182562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tailEnd type="arrow" w="med" len="med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6338" name="矩形 32"/>
          <p:cNvSpPr>
            <a:spLocks noChangeArrowheads="1"/>
          </p:cNvSpPr>
          <p:nvPr/>
        </p:nvSpPr>
        <p:spPr bwMode="auto">
          <a:xfrm>
            <a:off x="6557963" y="2286000"/>
            <a:ext cx="3000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sz="180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56339" name="矩形 37"/>
          <p:cNvSpPr>
            <a:spLocks noChangeArrowheads="1"/>
          </p:cNvSpPr>
          <p:nvPr/>
        </p:nvSpPr>
        <p:spPr bwMode="auto">
          <a:xfrm>
            <a:off x="6553200" y="2830513"/>
            <a:ext cx="3000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sz="180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56340" name="矩形 34"/>
          <p:cNvSpPr>
            <a:spLocks noChangeArrowheads="1"/>
          </p:cNvSpPr>
          <p:nvPr/>
        </p:nvSpPr>
        <p:spPr bwMode="auto">
          <a:xfrm>
            <a:off x="5867400" y="2449513"/>
            <a:ext cx="2936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TW" sz="1800" i="1">
                <a:solidFill>
                  <a:srgbClr val="FF0000"/>
                </a:solidFill>
                <a:cs typeface="Times New Roman" panose="02020603050405020304" pitchFamily="18" charset="0"/>
              </a:rPr>
              <a:t>ε</a:t>
            </a:r>
            <a:endParaRPr kumimoji="0" lang="en-US" altLang="zh-CN" sz="1800">
              <a:solidFill>
                <a:srgbClr val="FF0000"/>
              </a:solidFill>
            </a:endParaRPr>
          </a:p>
        </p:txBody>
      </p:sp>
      <p:sp>
        <p:nvSpPr>
          <p:cNvPr id="56341" name="矩形 39"/>
          <p:cNvSpPr>
            <a:spLocks noChangeArrowheads="1"/>
          </p:cNvSpPr>
          <p:nvPr/>
        </p:nvSpPr>
        <p:spPr bwMode="auto">
          <a:xfrm>
            <a:off x="5867400" y="2906713"/>
            <a:ext cx="2936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TW" sz="1800" i="1">
                <a:solidFill>
                  <a:srgbClr val="FF0000"/>
                </a:solidFill>
                <a:cs typeface="Times New Roman" panose="02020603050405020304" pitchFamily="18" charset="0"/>
              </a:rPr>
              <a:t>ε</a:t>
            </a:r>
            <a:endParaRPr kumimoji="0" lang="en-US" altLang="zh-CN" sz="1800">
              <a:solidFill>
                <a:srgbClr val="FF0000"/>
              </a:solidFill>
            </a:endParaRPr>
          </a:p>
        </p:txBody>
      </p:sp>
      <p:sp>
        <p:nvSpPr>
          <p:cNvPr id="56342" name="矩形 40"/>
          <p:cNvSpPr>
            <a:spLocks noChangeArrowheads="1"/>
          </p:cNvSpPr>
          <p:nvPr/>
        </p:nvSpPr>
        <p:spPr bwMode="auto">
          <a:xfrm>
            <a:off x="7173913" y="2438400"/>
            <a:ext cx="2936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TW" sz="1800" i="1">
                <a:solidFill>
                  <a:srgbClr val="FF0000"/>
                </a:solidFill>
                <a:cs typeface="Times New Roman" panose="02020603050405020304" pitchFamily="18" charset="0"/>
              </a:rPr>
              <a:t>ε</a:t>
            </a:r>
            <a:endParaRPr kumimoji="0" lang="en-US" altLang="zh-CN" sz="1800">
              <a:solidFill>
                <a:srgbClr val="FF0000"/>
              </a:solidFill>
            </a:endParaRPr>
          </a:p>
        </p:txBody>
      </p:sp>
      <p:sp>
        <p:nvSpPr>
          <p:cNvPr id="56343" name="矩形 41"/>
          <p:cNvSpPr>
            <a:spLocks noChangeArrowheads="1"/>
          </p:cNvSpPr>
          <p:nvPr/>
        </p:nvSpPr>
        <p:spPr bwMode="auto">
          <a:xfrm>
            <a:off x="7173913" y="2895600"/>
            <a:ext cx="2936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TW" sz="1800" i="1">
                <a:solidFill>
                  <a:srgbClr val="FF0000"/>
                </a:solidFill>
                <a:cs typeface="Times New Roman" panose="02020603050405020304" pitchFamily="18" charset="0"/>
              </a:rPr>
              <a:t>ε</a:t>
            </a:r>
            <a:endParaRPr kumimoji="0" lang="en-US" altLang="zh-CN" sz="1800">
              <a:solidFill>
                <a:srgbClr val="FF0000"/>
              </a:solidFill>
            </a:endParaRPr>
          </a:p>
        </p:txBody>
      </p:sp>
      <p:sp>
        <p:nvSpPr>
          <p:cNvPr id="95" name="椭圆 94"/>
          <p:cNvSpPr>
            <a:spLocks noChangeArrowheads="1"/>
          </p:cNvSpPr>
          <p:nvPr/>
        </p:nvSpPr>
        <p:spPr bwMode="auto">
          <a:xfrm>
            <a:off x="1946275" y="2795588"/>
            <a:ext cx="215900" cy="2159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latin typeface="+mn-lt"/>
              <a:ea typeface="+mn-ea"/>
            </a:endParaRPr>
          </a:p>
        </p:txBody>
      </p:sp>
      <p:sp>
        <p:nvSpPr>
          <p:cNvPr id="96" name="椭圆 95"/>
          <p:cNvSpPr>
            <a:spLocks noChangeArrowheads="1"/>
          </p:cNvSpPr>
          <p:nvPr/>
        </p:nvSpPr>
        <p:spPr bwMode="auto">
          <a:xfrm>
            <a:off x="2535238" y="2536825"/>
            <a:ext cx="215900" cy="2159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latin typeface="+mn-lt"/>
              <a:ea typeface="+mn-ea"/>
            </a:endParaRPr>
          </a:p>
        </p:txBody>
      </p:sp>
      <p:sp>
        <p:nvSpPr>
          <p:cNvPr id="97" name="椭圆 96"/>
          <p:cNvSpPr>
            <a:spLocks noChangeArrowheads="1"/>
          </p:cNvSpPr>
          <p:nvPr/>
        </p:nvSpPr>
        <p:spPr bwMode="auto">
          <a:xfrm>
            <a:off x="2535238" y="3054350"/>
            <a:ext cx="215900" cy="2159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latin typeface="+mn-lt"/>
              <a:ea typeface="+mn-ea"/>
            </a:endParaRPr>
          </a:p>
        </p:txBody>
      </p:sp>
      <p:cxnSp>
        <p:nvCxnSpPr>
          <p:cNvPr id="98" name="直线箭头连接符 97"/>
          <p:cNvCxnSpPr>
            <a:cxnSpLocks noChangeShapeType="1"/>
            <a:stCxn id="95" idx="7"/>
            <a:endCxn id="96" idx="2"/>
          </p:cNvCxnSpPr>
          <p:nvPr/>
        </p:nvCxnSpPr>
        <p:spPr bwMode="auto">
          <a:xfrm flipV="1">
            <a:off x="2130425" y="2644775"/>
            <a:ext cx="404813" cy="182563"/>
          </a:xfrm>
          <a:prstGeom prst="straightConnector1">
            <a:avLst/>
          </a:prstGeom>
          <a:noFill/>
          <a:ln w="25400">
            <a:solidFill>
              <a:srgbClr val="000000"/>
            </a:solidFill>
            <a:round/>
            <a:tailEnd type="arrow" w="med" len="med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9" name="直线箭头连接符 98"/>
          <p:cNvCxnSpPr>
            <a:cxnSpLocks noChangeShapeType="1"/>
            <a:stCxn id="95" idx="5"/>
            <a:endCxn id="97" idx="2"/>
          </p:cNvCxnSpPr>
          <p:nvPr/>
        </p:nvCxnSpPr>
        <p:spPr bwMode="auto">
          <a:xfrm>
            <a:off x="2130425" y="2979738"/>
            <a:ext cx="404813" cy="182562"/>
          </a:xfrm>
          <a:prstGeom prst="straightConnector1">
            <a:avLst/>
          </a:prstGeom>
          <a:noFill/>
          <a:ln w="25400">
            <a:solidFill>
              <a:srgbClr val="000000"/>
            </a:solidFill>
            <a:round/>
            <a:tailEnd type="arrow" w="med" len="med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0" name="椭圆 99"/>
          <p:cNvSpPr>
            <a:spLocks noChangeArrowheads="1"/>
          </p:cNvSpPr>
          <p:nvPr/>
        </p:nvSpPr>
        <p:spPr bwMode="auto">
          <a:xfrm>
            <a:off x="3068638" y="2536825"/>
            <a:ext cx="215900" cy="2159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latin typeface="+mn-lt"/>
              <a:ea typeface="+mn-ea"/>
            </a:endParaRPr>
          </a:p>
        </p:txBody>
      </p:sp>
      <p:cxnSp>
        <p:nvCxnSpPr>
          <p:cNvPr id="101" name="直线箭头连接符 100"/>
          <p:cNvCxnSpPr>
            <a:cxnSpLocks noChangeShapeType="1"/>
            <a:stCxn id="96" idx="6"/>
            <a:endCxn id="100" idx="2"/>
          </p:cNvCxnSpPr>
          <p:nvPr/>
        </p:nvCxnSpPr>
        <p:spPr bwMode="auto">
          <a:xfrm>
            <a:off x="2751138" y="2644775"/>
            <a:ext cx="317500" cy="0"/>
          </a:xfrm>
          <a:prstGeom prst="straightConnector1">
            <a:avLst/>
          </a:prstGeom>
          <a:noFill/>
          <a:ln w="25400">
            <a:solidFill>
              <a:srgbClr val="000000"/>
            </a:solidFill>
            <a:round/>
            <a:tailEnd type="arrow" w="med" len="med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2" name="椭圆 101"/>
          <p:cNvSpPr>
            <a:spLocks noChangeArrowheads="1"/>
          </p:cNvSpPr>
          <p:nvPr/>
        </p:nvSpPr>
        <p:spPr bwMode="auto">
          <a:xfrm>
            <a:off x="3081338" y="3054350"/>
            <a:ext cx="215900" cy="2159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latin typeface="+mn-lt"/>
              <a:ea typeface="+mn-ea"/>
            </a:endParaRPr>
          </a:p>
        </p:txBody>
      </p:sp>
      <p:cxnSp>
        <p:nvCxnSpPr>
          <p:cNvPr id="103" name="直线箭头连接符 102"/>
          <p:cNvCxnSpPr>
            <a:cxnSpLocks noChangeShapeType="1"/>
            <a:stCxn id="97" idx="6"/>
            <a:endCxn id="102" idx="2"/>
          </p:cNvCxnSpPr>
          <p:nvPr/>
        </p:nvCxnSpPr>
        <p:spPr bwMode="auto">
          <a:xfrm>
            <a:off x="2751138" y="3162300"/>
            <a:ext cx="330200" cy="0"/>
          </a:xfrm>
          <a:prstGeom prst="straightConnector1">
            <a:avLst/>
          </a:prstGeom>
          <a:noFill/>
          <a:ln w="25400">
            <a:solidFill>
              <a:srgbClr val="000000"/>
            </a:solidFill>
            <a:round/>
            <a:tailEnd type="arrow" w="med" len="med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4" name="椭圆 103"/>
          <p:cNvSpPr>
            <a:spLocks noChangeArrowheads="1"/>
          </p:cNvSpPr>
          <p:nvPr/>
        </p:nvSpPr>
        <p:spPr bwMode="auto">
          <a:xfrm>
            <a:off x="3614738" y="2795588"/>
            <a:ext cx="215900" cy="2159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latin typeface="+mn-lt"/>
              <a:ea typeface="+mn-ea"/>
            </a:endParaRPr>
          </a:p>
        </p:txBody>
      </p:sp>
      <p:cxnSp>
        <p:nvCxnSpPr>
          <p:cNvPr id="105" name="直线箭头连接符 104"/>
          <p:cNvCxnSpPr>
            <a:cxnSpLocks noChangeShapeType="1"/>
            <a:stCxn id="100" idx="6"/>
            <a:endCxn id="104" idx="1"/>
          </p:cNvCxnSpPr>
          <p:nvPr/>
        </p:nvCxnSpPr>
        <p:spPr bwMode="auto">
          <a:xfrm>
            <a:off x="3284538" y="2644775"/>
            <a:ext cx="361950" cy="182563"/>
          </a:xfrm>
          <a:prstGeom prst="straightConnector1">
            <a:avLst/>
          </a:prstGeom>
          <a:noFill/>
          <a:ln w="25400">
            <a:solidFill>
              <a:srgbClr val="000000"/>
            </a:solidFill>
            <a:round/>
            <a:tailEnd type="arrow" w="med" len="med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6" name="直线箭头连接符 105"/>
          <p:cNvCxnSpPr>
            <a:cxnSpLocks noChangeShapeType="1"/>
            <a:stCxn id="102" idx="6"/>
            <a:endCxn id="104" idx="3"/>
          </p:cNvCxnSpPr>
          <p:nvPr/>
        </p:nvCxnSpPr>
        <p:spPr bwMode="auto">
          <a:xfrm flipV="1">
            <a:off x="3297238" y="2979738"/>
            <a:ext cx="349250" cy="182562"/>
          </a:xfrm>
          <a:prstGeom prst="straightConnector1">
            <a:avLst/>
          </a:prstGeom>
          <a:noFill/>
          <a:ln w="25400">
            <a:solidFill>
              <a:srgbClr val="000000"/>
            </a:solidFill>
            <a:round/>
            <a:tailEnd type="arrow" w="med" len="med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6356" name="矩形 106"/>
          <p:cNvSpPr>
            <a:spLocks noChangeArrowheads="1"/>
          </p:cNvSpPr>
          <p:nvPr/>
        </p:nvSpPr>
        <p:spPr bwMode="auto">
          <a:xfrm>
            <a:off x="2768600" y="2286000"/>
            <a:ext cx="3000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sz="1800"/>
              <a:t>0</a:t>
            </a:r>
          </a:p>
        </p:txBody>
      </p:sp>
      <p:sp>
        <p:nvSpPr>
          <p:cNvPr id="56357" name="矩形 107"/>
          <p:cNvSpPr>
            <a:spLocks noChangeArrowheads="1"/>
          </p:cNvSpPr>
          <p:nvPr/>
        </p:nvSpPr>
        <p:spPr bwMode="auto">
          <a:xfrm>
            <a:off x="2763838" y="2830513"/>
            <a:ext cx="3000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sz="1800"/>
              <a:t>1</a:t>
            </a:r>
          </a:p>
        </p:txBody>
      </p:sp>
      <p:sp>
        <p:nvSpPr>
          <p:cNvPr id="56358" name="矩形 108"/>
          <p:cNvSpPr>
            <a:spLocks noChangeArrowheads="1"/>
          </p:cNvSpPr>
          <p:nvPr/>
        </p:nvSpPr>
        <p:spPr bwMode="auto">
          <a:xfrm>
            <a:off x="2078038" y="2449513"/>
            <a:ext cx="2936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TW" sz="1800" i="1">
                <a:cs typeface="Times New Roman" panose="02020603050405020304" pitchFamily="18" charset="0"/>
              </a:rPr>
              <a:t>ε</a:t>
            </a:r>
            <a:endParaRPr kumimoji="0" lang="en-US" altLang="zh-CN" sz="1800"/>
          </a:p>
        </p:txBody>
      </p:sp>
      <p:sp>
        <p:nvSpPr>
          <p:cNvPr id="56359" name="矩形 109"/>
          <p:cNvSpPr>
            <a:spLocks noChangeArrowheads="1"/>
          </p:cNvSpPr>
          <p:nvPr/>
        </p:nvSpPr>
        <p:spPr bwMode="auto">
          <a:xfrm>
            <a:off x="2078038" y="2906713"/>
            <a:ext cx="2936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TW" sz="1800" i="1">
                <a:cs typeface="Times New Roman" panose="02020603050405020304" pitchFamily="18" charset="0"/>
              </a:rPr>
              <a:t>ε</a:t>
            </a:r>
            <a:endParaRPr kumimoji="0" lang="en-US" altLang="zh-CN" sz="1800"/>
          </a:p>
        </p:txBody>
      </p:sp>
      <p:sp>
        <p:nvSpPr>
          <p:cNvPr id="56360" name="矩形 110"/>
          <p:cNvSpPr>
            <a:spLocks noChangeArrowheads="1"/>
          </p:cNvSpPr>
          <p:nvPr/>
        </p:nvSpPr>
        <p:spPr bwMode="auto">
          <a:xfrm>
            <a:off x="3382963" y="2438400"/>
            <a:ext cx="2952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TW" sz="1800" i="1">
                <a:cs typeface="Times New Roman" panose="02020603050405020304" pitchFamily="18" charset="0"/>
              </a:rPr>
              <a:t>ε</a:t>
            </a:r>
            <a:endParaRPr kumimoji="0" lang="en-US" altLang="zh-CN" sz="1800"/>
          </a:p>
        </p:txBody>
      </p:sp>
      <p:sp>
        <p:nvSpPr>
          <p:cNvPr id="56361" name="矩形 111"/>
          <p:cNvSpPr>
            <a:spLocks noChangeArrowheads="1"/>
          </p:cNvSpPr>
          <p:nvPr/>
        </p:nvSpPr>
        <p:spPr bwMode="auto">
          <a:xfrm>
            <a:off x="3382963" y="2895600"/>
            <a:ext cx="2952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TW" sz="1800" i="1">
                <a:cs typeface="Times New Roman" panose="02020603050405020304" pitchFamily="18" charset="0"/>
              </a:rPr>
              <a:t>ε</a:t>
            </a:r>
            <a:endParaRPr kumimoji="0" lang="en-US" altLang="zh-CN" sz="1800"/>
          </a:p>
        </p:txBody>
      </p:sp>
      <p:cxnSp>
        <p:nvCxnSpPr>
          <p:cNvPr id="113" name="直线箭头连接符 112"/>
          <p:cNvCxnSpPr>
            <a:cxnSpLocks noChangeShapeType="1"/>
            <a:stCxn id="114" idx="6"/>
            <a:endCxn id="95" idx="2"/>
          </p:cNvCxnSpPr>
          <p:nvPr/>
        </p:nvCxnSpPr>
        <p:spPr bwMode="auto">
          <a:xfrm>
            <a:off x="1608138" y="2903538"/>
            <a:ext cx="338137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tailEnd type="arrow" w="med" len="med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4" name="椭圆 113"/>
          <p:cNvSpPr>
            <a:spLocks noChangeArrowheads="1"/>
          </p:cNvSpPr>
          <p:nvPr/>
        </p:nvSpPr>
        <p:spPr bwMode="auto">
          <a:xfrm>
            <a:off x="1392238" y="2795588"/>
            <a:ext cx="215900" cy="21590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latin typeface="+mn-lt"/>
              <a:ea typeface="+mn-ea"/>
            </a:endParaRPr>
          </a:p>
        </p:txBody>
      </p:sp>
      <p:sp>
        <p:nvSpPr>
          <p:cNvPr id="56364" name="矩形 114"/>
          <p:cNvSpPr>
            <a:spLocks noChangeArrowheads="1"/>
          </p:cNvSpPr>
          <p:nvPr/>
        </p:nvSpPr>
        <p:spPr bwMode="auto">
          <a:xfrm>
            <a:off x="1630363" y="2514600"/>
            <a:ext cx="2952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TW" sz="1800" i="1">
                <a:cs typeface="Times New Roman" panose="02020603050405020304" pitchFamily="18" charset="0"/>
              </a:rPr>
              <a:t>ε</a:t>
            </a:r>
            <a:endParaRPr kumimoji="0" lang="en-US" altLang="zh-CN" sz="1800"/>
          </a:p>
        </p:txBody>
      </p:sp>
      <p:cxnSp>
        <p:nvCxnSpPr>
          <p:cNvPr id="116" name="直线箭头连接符 115"/>
          <p:cNvCxnSpPr>
            <a:cxnSpLocks noChangeShapeType="1"/>
            <a:stCxn id="104" idx="6"/>
            <a:endCxn id="118" idx="2"/>
          </p:cNvCxnSpPr>
          <p:nvPr/>
        </p:nvCxnSpPr>
        <p:spPr bwMode="auto">
          <a:xfrm>
            <a:off x="3830638" y="2903538"/>
            <a:ext cx="317500" cy="0"/>
          </a:xfrm>
          <a:prstGeom prst="straightConnector1">
            <a:avLst/>
          </a:prstGeom>
          <a:noFill/>
          <a:ln w="25400">
            <a:solidFill>
              <a:srgbClr val="000000"/>
            </a:solidFill>
            <a:round/>
            <a:tailEnd type="arrow" w="med" len="med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6366" name="矩形 116"/>
          <p:cNvSpPr>
            <a:spLocks noChangeArrowheads="1"/>
          </p:cNvSpPr>
          <p:nvPr/>
        </p:nvSpPr>
        <p:spPr bwMode="auto">
          <a:xfrm>
            <a:off x="3840163" y="2514600"/>
            <a:ext cx="2952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TW" sz="1800" i="1">
                <a:cs typeface="Times New Roman" panose="02020603050405020304" pitchFamily="18" charset="0"/>
              </a:rPr>
              <a:t>ε</a:t>
            </a:r>
            <a:endParaRPr kumimoji="0" lang="en-US" altLang="zh-CN" sz="1800"/>
          </a:p>
        </p:txBody>
      </p:sp>
      <p:sp>
        <p:nvSpPr>
          <p:cNvPr id="118" name="椭圆 117"/>
          <p:cNvSpPr>
            <a:spLocks noChangeArrowheads="1"/>
          </p:cNvSpPr>
          <p:nvPr/>
        </p:nvSpPr>
        <p:spPr bwMode="auto">
          <a:xfrm>
            <a:off x="4148138" y="2795588"/>
            <a:ext cx="215900" cy="2159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latin typeface="+mn-lt"/>
              <a:ea typeface="+mn-ea"/>
            </a:endParaRPr>
          </a:p>
        </p:txBody>
      </p:sp>
      <p:cxnSp>
        <p:nvCxnSpPr>
          <p:cNvPr id="119" name="曲线连接符 118"/>
          <p:cNvCxnSpPr>
            <a:cxnSpLocks noChangeShapeType="1"/>
            <a:stCxn id="114" idx="5"/>
            <a:endCxn id="118" idx="4"/>
          </p:cNvCxnSpPr>
          <p:nvPr/>
        </p:nvCxnSpPr>
        <p:spPr bwMode="auto">
          <a:xfrm rot="16200000" flipH="1">
            <a:off x="2900363" y="1655763"/>
            <a:ext cx="31750" cy="2679700"/>
          </a:xfrm>
          <a:prstGeom prst="curvedConnector3">
            <a:avLst>
              <a:gd name="adj1" fmla="val 1304477"/>
            </a:avLst>
          </a:prstGeom>
          <a:noFill/>
          <a:ln w="25400">
            <a:solidFill>
              <a:srgbClr val="000000"/>
            </a:solidFill>
            <a:round/>
            <a:tailEnd type="arrow" w="med" len="med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0" name="曲线连接符 119"/>
          <p:cNvCxnSpPr>
            <a:cxnSpLocks noChangeShapeType="1"/>
            <a:stCxn id="104" idx="0"/>
            <a:endCxn id="95" idx="0"/>
          </p:cNvCxnSpPr>
          <p:nvPr/>
        </p:nvCxnSpPr>
        <p:spPr bwMode="auto">
          <a:xfrm rot="16200000" flipV="1">
            <a:off x="2888457" y="1961356"/>
            <a:ext cx="12700" cy="1668463"/>
          </a:xfrm>
          <a:prstGeom prst="curvedConnector3">
            <a:avLst>
              <a:gd name="adj1" fmla="val 4000000"/>
            </a:avLst>
          </a:prstGeom>
          <a:noFill/>
          <a:ln w="25400">
            <a:solidFill>
              <a:srgbClr val="000000"/>
            </a:solidFill>
            <a:round/>
            <a:tailEnd type="arrow" w="med" len="med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6370" name="矩形 120"/>
          <p:cNvSpPr>
            <a:spLocks noChangeArrowheads="1"/>
          </p:cNvSpPr>
          <p:nvPr/>
        </p:nvSpPr>
        <p:spPr bwMode="auto">
          <a:xfrm>
            <a:off x="2768600" y="3287713"/>
            <a:ext cx="2952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TW" sz="1800" i="1">
                <a:cs typeface="Times New Roman" panose="02020603050405020304" pitchFamily="18" charset="0"/>
              </a:rPr>
              <a:t>ε</a:t>
            </a:r>
            <a:endParaRPr kumimoji="0" lang="en-US" altLang="zh-CN" sz="1800"/>
          </a:p>
        </p:txBody>
      </p:sp>
      <p:sp>
        <p:nvSpPr>
          <p:cNvPr id="56371" name="矩形 121"/>
          <p:cNvSpPr>
            <a:spLocks noChangeArrowheads="1"/>
          </p:cNvSpPr>
          <p:nvPr/>
        </p:nvSpPr>
        <p:spPr bwMode="auto">
          <a:xfrm>
            <a:off x="2773363" y="1981200"/>
            <a:ext cx="2952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TW" sz="1800" i="1">
                <a:cs typeface="Times New Roman" panose="02020603050405020304" pitchFamily="18" charset="0"/>
              </a:rPr>
              <a:t>ε</a:t>
            </a:r>
            <a:endParaRPr kumimoji="0" lang="en-US" altLang="zh-CN" sz="1800"/>
          </a:p>
        </p:txBody>
      </p:sp>
      <p:cxnSp>
        <p:nvCxnSpPr>
          <p:cNvPr id="123" name="直线箭头连接符 122"/>
          <p:cNvCxnSpPr>
            <a:cxnSpLocks noChangeShapeType="1"/>
            <a:stCxn id="118" idx="6"/>
            <a:endCxn id="124" idx="2"/>
          </p:cNvCxnSpPr>
          <p:nvPr/>
        </p:nvCxnSpPr>
        <p:spPr bwMode="auto">
          <a:xfrm>
            <a:off x="4364038" y="2903538"/>
            <a:ext cx="304800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tailEnd type="arrow" w="med" len="med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4" name="椭圆 123"/>
          <p:cNvSpPr>
            <a:spLocks noChangeArrowheads="1"/>
          </p:cNvSpPr>
          <p:nvPr/>
        </p:nvSpPr>
        <p:spPr bwMode="auto">
          <a:xfrm>
            <a:off x="4668838" y="2795588"/>
            <a:ext cx="215900" cy="2159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56374" name="矩形 126"/>
          <p:cNvSpPr>
            <a:spLocks noChangeArrowheads="1"/>
          </p:cNvSpPr>
          <p:nvPr/>
        </p:nvSpPr>
        <p:spPr bwMode="auto">
          <a:xfrm>
            <a:off x="4373563" y="2514600"/>
            <a:ext cx="2952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TW" sz="1800" i="1">
                <a:solidFill>
                  <a:srgbClr val="000000"/>
                </a:solidFill>
                <a:cs typeface="Times New Roman" panose="02020603050405020304" pitchFamily="18" charset="0"/>
              </a:rPr>
              <a:t>ε</a:t>
            </a:r>
            <a:endParaRPr kumimoji="0" lang="en-US" altLang="zh-CN" sz="1800">
              <a:solidFill>
                <a:srgbClr val="000000"/>
              </a:solidFill>
            </a:endParaRPr>
          </a:p>
        </p:txBody>
      </p:sp>
      <p:cxnSp>
        <p:nvCxnSpPr>
          <p:cNvPr id="128" name="直线箭头连接符 127"/>
          <p:cNvCxnSpPr>
            <a:cxnSpLocks noChangeShapeType="1"/>
            <a:stCxn id="124" idx="6"/>
            <a:endCxn id="129" idx="2"/>
          </p:cNvCxnSpPr>
          <p:nvPr/>
        </p:nvCxnSpPr>
        <p:spPr bwMode="auto">
          <a:xfrm>
            <a:off x="4884738" y="2903538"/>
            <a:ext cx="330200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tailEnd type="arrow" w="med" len="med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9" name="椭圆 128"/>
          <p:cNvSpPr>
            <a:spLocks noChangeArrowheads="1"/>
          </p:cNvSpPr>
          <p:nvPr/>
        </p:nvSpPr>
        <p:spPr bwMode="auto">
          <a:xfrm>
            <a:off x="5214938" y="2795588"/>
            <a:ext cx="215900" cy="2159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56377" name="矩形 129"/>
          <p:cNvSpPr>
            <a:spLocks noChangeArrowheads="1"/>
          </p:cNvSpPr>
          <p:nvPr/>
        </p:nvSpPr>
        <p:spPr bwMode="auto">
          <a:xfrm>
            <a:off x="4897438" y="2514600"/>
            <a:ext cx="3000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zh-CN" altLang="zh-TW" sz="1800" b="1">
                <a:solidFill>
                  <a:srgbClr val="000000"/>
                </a:solidFill>
                <a:cs typeface="Times New Roman" panose="02020603050405020304" pitchFamily="18" charset="0"/>
              </a:rPr>
              <a:t>1</a:t>
            </a:r>
            <a:endParaRPr kumimoji="0" lang="en-US" altLang="zh-CN" sz="1800" b="1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p:cxnSp>
        <p:nvCxnSpPr>
          <p:cNvPr id="88" name="直线箭头连接符 87"/>
          <p:cNvCxnSpPr>
            <a:cxnSpLocks noChangeShapeType="1"/>
            <a:stCxn id="129" idx="6"/>
            <a:endCxn id="10" idx="2"/>
          </p:cNvCxnSpPr>
          <p:nvPr/>
        </p:nvCxnSpPr>
        <p:spPr bwMode="auto">
          <a:xfrm>
            <a:off x="5430838" y="2903538"/>
            <a:ext cx="304800" cy="0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tailEnd type="arrow" w="med" len="med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6379" name="矩形 88"/>
          <p:cNvSpPr>
            <a:spLocks noChangeArrowheads="1"/>
          </p:cNvSpPr>
          <p:nvPr/>
        </p:nvSpPr>
        <p:spPr bwMode="auto">
          <a:xfrm>
            <a:off x="5440363" y="2514600"/>
            <a:ext cx="2952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TW" sz="1800" i="1">
                <a:solidFill>
                  <a:srgbClr val="FF0000"/>
                </a:solidFill>
                <a:cs typeface="Times New Roman" panose="02020603050405020304" pitchFamily="18" charset="0"/>
              </a:rPr>
              <a:t>ε</a:t>
            </a:r>
            <a:endParaRPr kumimoji="0" lang="en-US" altLang="zh-CN" sz="1800">
              <a:solidFill>
                <a:srgbClr val="FF0000"/>
              </a:solidFill>
            </a:endParaRPr>
          </a:p>
        </p:txBody>
      </p:sp>
      <p:cxnSp>
        <p:nvCxnSpPr>
          <p:cNvPr id="125" name="直线箭头连接符 124"/>
          <p:cNvCxnSpPr>
            <a:cxnSpLocks noChangeShapeType="1"/>
            <a:endCxn id="114" idx="2"/>
          </p:cNvCxnSpPr>
          <p:nvPr/>
        </p:nvCxnSpPr>
        <p:spPr bwMode="auto">
          <a:xfrm>
            <a:off x="762000" y="2895600"/>
            <a:ext cx="630238" cy="7938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tailEnd type="arrow" w="med" len="med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" name="矩形 14"/>
          <p:cNvSpPr>
            <a:spLocks noChangeArrowheads="1"/>
          </p:cNvSpPr>
          <p:nvPr/>
        </p:nvSpPr>
        <p:spPr bwMode="auto">
          <a:xfrm>
            <a:off x="762000" y="2514600"/>
            <a:ext cx="5826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sz="1800"/>
              <a:t>start</a:t>
            </a:r>
          </a:p>
        </p:txBody>
      </p:sp>
      <p:sp>
        <p:nvSpPr>
          <p:cNvPr id="126" name="椭圆 125"/>
          <p:cNvSpPr>
            <a:spLocks noChangeArrowheads="1"/>
          </p:cNvSpPr>
          <p:nvPr/>
        </p:nvSpPr>
        <p:spPr bwMode="auto">
          <a:xfrm>
            <a:off x="7440613" y="2832100"/>
            <a:ext cx="142875" cy="144463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>
              <a:defRPr/>
            </a:pPr>
            <a:endParaRPr lang="zh-CN" altLang="en-US">
              <a:solidFill>
                <a:srgbClr val="FF0000"/>
              </a:solidFill>
              <a:latin typeface="+mn-lt"/>
              <a:ea typeface="+mn-ea"/>
            </a:endParaRPr>
          </a:p>
        </p:txBody>
      </p:sp>
      <p:pic>
        <p:nvPicPr>
          <p:cNvPr id="63" name="图片 6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59" t="4259" r="8855" b="2406"/>
          <a:stretch>
            <a:fillRect/>
          </a:stretch>
        </p:blipFill>
        <p:spPr bwMode="auto">
          <a:xfrm>
            <a:off x="7239000" y="4419600"/>
            <a:ext cx="922338" cy="161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" name="椭圆形标注 63"/>
          <p:cNvSpPr>
            <a:spLocks noChangeArrowheads="1"/>
          </p:cNvSpPr>
          <p:nvPr/>
        </p:nvSpPr>
        <p:spPr bwMode="auto">
          <a:xfrm>
            <a:off x="3657600" y="3733800"/>
            <a:ext cx="3200400" cy="1143000"/>
          </a:xfrm>
          <a:prstGeom prst="wedgeEllipseCallout">
            <a:avLst>
              <a:gd name="adj1" fmla="val 63981"/>
              <a:gd name="adj2" fmla="val 96944"/>
            </a:avLst>
          </a:prstGeom>
          <a:gradFill rotWithShape="1">
            <a:gsLst>
              <a:gs pos="0">
                <a:srgbClr val="AFE0E4"/>
              </a:gs>
              <a:gs pos="20000">
                <a:srgbClr val="AFDEE2"/>
              </a:gs>
              <a:gs pos="100000">
                <a:srgbClr val="85AAAD"/>
              </a:gs>
            </a:gsLst>
            <a:lin ang="5400000"/>
          </a:gradFill>
          <a:ln w="9525">
            <a:solidFill>
              <a:srgbClr val="B6DCDF"/>
            </a:solidFill>
            <a:miter lim="800000"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0" lang="en-US" altLang="zh-TW" sz="2800" b="1" i="1">
                <a:solidFill>
                  <a:srgbClr val="FF0000"/>
                </a:solidFill>
                <a:cs typeface="Times New Roman" panose="02020603050405020304" pitchFamily="18" charset="0"/>
              </a:rPr>
              <a:t>ε</a:t>
            </a:r>
            <a:r>
              <a:rPr kumimoji="0" lang="en-US" altLang="zh-TW" sz="2800" b="1">
                <a:solidFill>
                  <a:srgbClr val="FF0000"/>
                </a:solidFill>
                <a:cs typeface="Times New Roman" panose="02020603050405020304" pitchFamily="18" charset="0"/>
              </a:rPr>
              <a:t>-NFA</a:t>
            </a:r>
            <a:r>
              <a:rPr kumimoji="0" lang="en-US" altLang="zh-TW" sz="2800" b="1">
                <a:solidFill>
                  <a:srgbClr val="FF0000"/>
                </a:solidFill>
                <a:cs typeface="Times New Roman" panose="02020603050405020304" pitchFamily="18" charset="0"/>
                <a:sym typeface="Wingdings" panose="05000000000000000000" pitchFamily="2" charset="2"/>
              </a:rPr>
              <a:t>DFA</a:t>
            </a:r>
            <a:endParaRPr lang="zh-CN" altLang="en-US" sz="2800" b="1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26" grpId="0" animBg="1"/>
      <p:bldP spid="64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内容大纲</a:t>
            </a:r>
            <a:endParaRPr lang="en-AU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olidFill>
                  <a:srgbClr val="BFBFBF"/>
                </a:solidFill>
              </a:rPr>
              <a:t>正则表达式</a:t>
            </a:r>
            <a:r>
              <a:rPr lang="en-AU" altLang="zh-CN" dirty="0">
                <a:solidFill>
                  <a:srgbClr val="BFBFBF"/>
                </a:solidFill>
              </a:rPr>
              <a:t>	</a:t>
            </a:r>
          </a:p>
          <a:p>
            <a:pPr lvl="1"/>
            <a:r>
              <a:rPr lang="zh-CN" altLang="en-US" dirty="0">
                <a:solidFill>
                  <a:srgbClr val="BFBFBF"/>
                </a:solidFill>
              </a:rPr>
              <a:t>正则表达式的递归定义</a:t>
            </a:r>
            <a:endParaRPr lang="en-AU" altLang="zh-CN" dirty="0">
              <a:solidFill>
                <a:srgbClr val="BFBFBF"/>
              </a:solidFill>
            </a:endParaRPr>
          </a:p>
          <a:p>
            <a:pPr lvl="1"/>
            <a:r>
              <a:rPr lang="zh-CN" altLang="en-US" dirty="0">
                <a:solidFill>
                  <a:srgbClr val="BFBFBF"/>
                </a:solidFill>
              </a:rPr>
              <a:t>正则表达式的示例</a:t>
            </a:r>
            <a:endParaRPr lang="en-AU" altLang="zh-CN" dirty="0">
              <a:solidFill>
                <a:srgbClr val="BFBFBF"/>
              </a:solidFill>
            </a:endParaRPr>
          </a:p>
          <a:p>
            <a:r>
              <a:rPr lang="zh-CN" altLang="en-US" dirty="0">
                <a:solidFill>
                  <a:srgbClr val="BFBFBF"/>
                </a:solidFill>
              </a:rPr>
              <a:t>有穷自动机和正则表达式</a:t>
            </a:r>
            <a:endParaRPr lang="en-AU" altLang="zh-CN" dirty="0">
              <a:solidFill>
                <a:srgbClr val="BFBFBF"/>
              </a:solidFill>
            </a:endParaRPr>
          </a:p>
          <a:p>
            <a:pPr lvl="1"/>
            <a:r>
              <a:rPr lang="zh-CN" altLang="en-US" dirty="0">
                <a:solidFill>
                  <a:srgbClr val="BFBFBF"/>
                </a:solidFill>
              </a:rPr>
              <a:t>由自动机到正则表达式</a:t>
            </a:r>
            <a:endParaRPr lang="en-AU" altLang="zh-CN" dirty="0">
              <a:solidFill>
                <a:srgbClr val="BFBFBF"/>
              </a:solidFill>
            </a:endParaRPr>
          </a:p>
          <a:p>
            <a:pPr lvl="1"/>
            <a:r>
              <a:rPr lang="zh-CN" altLang="en-US" dirty="0">
                <a:solidFill>
                  <a:srgbClr val="BFBFBF"/>
                </a:solidFill>
              </a:rPr>
              <a:t>由正则表达式到自动机</a:t>
            </a:r>
            <a:endParaRPr lang="en-AU" altLang="zh-CN" dirty="0">
              <a:solidFill>
                <a:srgbClr val="BFBFBF"/>
              </a:solidFill>
            </a:endParaRPr>
          </a:p>
          <a:p>
            <a:r>
              <a:rPr lang="zh-CN" altLang="en-US" dirty="0"/>
              <a:t>正则表达式的代数定律</a:t>
            </a:r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19564F-3A13-4140-9CFC-3B75A7CC7F9C}" type="slidenum">
              <a:rPr lang="en-US" altLang="zh-CN" smtClean="0"/>
              <a:t>57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775"/>
    </mc:Choice>
    <mc:Fallback xmlns="">
      <p:transition spd="slow" advTm="19775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正则表达式的代数定律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结合律和交换律</a:t>
                </a:r>
                <a:endParaRPr lang="en-AU" altLang="zh-CN" dirty="0"/>
              </a:p>
              <a:p>
                <a:pPr lvl="1"/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zh-CN" altLang="en-US" dirty="0"/>
                  <a:t>并的交换律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)+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+(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并的结合律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𝐿𝑀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𝑀𝑁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连接的结合律</a:t>
                </a:r>
              </a:p>
              <a:p>
                <a:pPr lvl="1"/>
                <a:r>
                  <a:rPr lang="zh-CN" altLang="en-US" dirty="0"/>
                  <a:t>连接不满足交换律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𝐿𝑀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𝑀𝐿</m:t>
                    </m:r>
                  </m:oMath>
                </a14:m>
                <a:endParaRPr lang="en-AU" dirty="0"/>
              </a:p>
              <a:p>
                <a:pPr lvl="1"/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19564F-3A13-4140-9CFC-3B75A7CC7F9C}" type="slidenum">
              <a:rPr lang="en-US" altLang="zh-CN" smtClean="0"/>
              <a:t>58</a:t>
            </a:fld>
            <a:endParaRPr lang="en-US" altLang="zh-CN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正则表达式的代数定律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单位元</a:t>
                </a:r>
                <a:endParaRPr lang="en-AU" altLang="zh-CN" dirty="0"/>
              </a:p>
              <a:p>
                <a:pPr marL="933450" lvl="1" indent="-533400" algn="just" eaLnBrk="1" hangingPunct="1"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kumimoji="0" lang="en-US" altLang="zh-TW" i="1" dirty="0" smtClean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∅+</m:t>
                    </m:r>
                    <m:r>
                      <a:rPr kumimoji="0" lang="en-US" altLang="zh-TW" i="1" dirty="0" smtClean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𝐿</m:t>
                    </m:r>
                    <m:r>
                      <a:rPr kumimoji="0" lang="en-US" altLang="zh-TW" i="1" dirty="0" smtClean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kumimoji="0" lang="en-US" altLang="zh-TW" i="1" dirty="0" smtClean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𝐿</m:t>
                    </m:r>
                    <m:r>
                      <a:rPr kumimoji="0" lang="en-US" altLang="zh-TW" i="1" dirty="0" smtClean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+∅=</m:t>
                    </m:r>
                    <m:r>
                      <a:rPr kumimoji="0" lang="en-US" altLang="zh-TW" i="1" dirty="0" smtClean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𝐿</m:t>
                    </m:r>
                  </m:oMath>
                </a14:m>
                <a:r>
                  <a:rPr kumimoji="0" lang="zh-TW" altLang="en-US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并运算的单位元</a:t>
                </a:r>
                <a14:m>
                  <m:oMath xmlns:m="http://schemas.openxmlformats.org/officeDocument/2006/math">
                    <m:r>
                      <a:rPr kumimoji="0" lang="en-US" altLang="zh-TW" i="1" dirty="0" smtClean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∅</m:t>
                    </m:r>
                  </m:oMath>
                </a14:m>
                <a:endParaRPr kumimoji="0" lang="en-US" altLang="zh-TW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933450" lvl="1" indent="-533400" algn="just" eaLnBrk="1" hangingPunct="1"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kumimoji="0" lang="en-US" altLang="zh-TW" i="1" dirty="0" smtClean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𝜀</m:t>
                    </m:r>
                    <m:r>
                      <a:rPr kumimoji="0" lang="en-US" altLang="zh-TW" i="1" dirty="0" smtClean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𝐿</m:t>
                    </m:r>
                    <m:r>
                      <a:rPr kumimoji="0" lang="en-US" altLang="zh-TW" i="1" dirty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kumimoji="0" lang="en-US" altLang="zh-TW" i="1" dirty="0" err="1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𝐿</m:t>
                    </m:r>
                    <m:r>
                      <a:rPr kumimoji="0" lang="en-US" altLang="zh-TW" i="1" dirty="0" err="1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𝜀</m:t>
                    </m:r>
                    <m:r>
                      <a:rPr kumimoji="0" lang="en-US" altLang="zh-TW" i="1" dirty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kumimoji="0" lang="en-US" altLang="zh-TW" i="1" dirty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𝐿</m:t>
                    </m:r>
                  </m:oMath>
                </a14:m>
                <a:r>
                  <a:rPr kumimoji="0" lang="zh-TW" altLang="en-US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连接运算的单位元</a:t>
                </a:r>
                <a:r>
                  <a:rPr kumimoji="0" lang="en-US" altLang="zh-TW" i="1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ε</a:t>
                </a:r>
              </a:p>
              <a:p>
                <a:pPr marL="0" indent="0">
                  <a:buNone/>
                </a:pPr>
                <a:endParaRPr lang="en-AU" dirty="0"/>
              </a:p>
              <a:p>
                <a:r>
                  <a:rPr lang="zh-CN" altLang="en-US" dirty="0"/>
                  <a:t>零元</a:t>
                </a:r>
                <a:endParaRPr lang="en-AU" altLang="zh-CN" dirty="0"/>
              </a:p>
              <a:p>
                <a:pPr lvl="1"/>
                <a14:m>
                  <m:oMath xmlns:m="http://schemas.openxmlformats.org/officeDocument/2006/math">
                    <m:r>
                      <a:rPr kumimoji="0" lang="en-US" altLang="zh-TW" i="1" dirty="0" smtClean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∅</m:t>
                    </m:r>
                    <m:r>
                      <a:rPr kumimoji="0" lang="en-US" altLang="zh-TW" i="1" dirty="0" smtClean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𝐿</m:t>
                    </m:r>
                    <m:r>
                      <a:rPr kumimoji="0" lang="en-US" altLang="zh-TW" i="1" dirty="0" smtClean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kumimoji="0" lang="en-US" altLang="zh-TW" i="1" dirty="0" smtClean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𝐿</m:t>
                    </m:r>
                    <m:r>
                      <a:rPr kumimoji="0" lang="en-US" altLang="zh-TW" i="1" dirty="0" smtClean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∅=∅</m:t>
                    </m:r>
                  </m:oMath>
                </a14:m>
                <a:r>
                  <a:rPr kumimoji="0" lang="zh-TW" altLang="en-US" dirty="0">
                    <a:ea typeface="宋体" panose="02010600030101010101" pitchFamily="2" charset="-122"/>
                  </a:rPr>
                  <a:t>连接运算的零元</a:t>
                </a:r>
                <a:endParaRPr lang="en-AU" altLang="zh-CN" dirty="0"/>
              </a:p>
              <a:p>
                <a:pPr lvl="1"/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19564F-3A13-4140-9CFC-3B75A7CC7F9C}" type="slidenum">
              <a:rPr lang="en-US" altLang="zh-CN" smtClean="0"/>
              <a:t>59</a:t>
            </a:fld>
            <a:endParaRPr lang="en-US" altLang="zh-CN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正则表达式的代数定律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分配律</a:t>
                </a:r>
                <a:endParaRPr lang="en-AU" altLang="zh-CN" dirty="0"/>
              </a:p>
              <a:p>
                <a:pPr marL="933450" lvl="1" indent="-533400" algn="just" eaLnBrk="1" hangingPunct="1"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kumimoji="0" lang="en-US" altLang="zh-CN" i="1" dirty="0" smtClean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𝐿</m:t>
                    </m:r>
                    <m:r>
                      <a:rPr kumimoji="0" lang="en-US" altLang="zh-CN" i="1" dirty="0" smtClean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kumimoji="0" lang="en-US" altLang="zh-TW" i="1" dirty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𝑀</m:t>
                    </m:r>
                    <m:r>
                      <a:rPr kumimoji="0" lang="en-US" altLang="zh-TW" i="1" dirty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r>
                      <a:rPr kumimoji="0" lang="en-US" altLang="zh-CN" i="1" dirty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𝑁</m:t>
                    </m:r>
                    <m:r>
                      <a:rPr kumimoji="0" lang="en-US" altLang="zh-CN" i="1" dirty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)=</m:t>
                    </m:r>
                    <m:r>
                      <a:rPr kumimoji="0" lang="en-US" altLang="zh-CN" i="1" dirty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𝐿𝑀</m:t>
                    </m:r>
                    <m:r>
                      <a:rPr kumimoji="0" lang="en-US" altLang="zh-TW" i="1" dirty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r>
                      <a:rPr kumimoji="0" lang="en-US" altLang="zh-TW" i="1" dirty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𝐿𝑁</m:t>
                    </m:r>
                  </m:oMath>
                </a14:m>
                <a:r>
                  <a:rPr kumimoji="0" lang="zh-TW" altLang="en-US" dirty="0">
                    <a:solidFill>
                      <a:srgbClr val="FF0000"/>
                    </a:solidFill>
                  </a:rPr>
                  <a:t>连接对并</a:t>
                </a:r>
                <a:r>
                  <a:rPr kumimoji="0" lang="zh-TW" altLang="en-US" dirty="0"/>
                  <a:t>满足左分配律</a:t>
                </a:r>
                <a:endParaRPr kumimoji="0" lang="en-US" altLang="zh-TW" b="1" dirty="0">
                  <a:cs typeface="Times New Roman" panose="02020603050405020304" pitchFamily="18" charset="0"/>
                </a:endParaRPr>
              </a:p>
              <a:p>
                <a:pPr marL="933450" lvl="1" indent="-533400" algn="just" eaLnBrk="1" hangingPunct="1">
                  <a:lnSpc>
                    <a:spcPct val="90000"/>
                  </a:lnSpc>
                </a:pPr>
                <a14:m>
                  <m:oMath xmlns:m="http://schemas.openxmlformats.org/officeDocument/2006/math">
                    <m:r>
                      <a:rPr kumimoji="0" lang="en-US" altLang="zh-TW" i="1" dirty="0" smtClean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kumimoji="0" lang="en-US" altLang="zh-CN" i="1" dirty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𝑀</m:t>
                    </m:r>
                    <m:r>
                      <a:rPr kumimoji="0" lang="en-US" altLang="zh-TW" i="1" dirty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r>
                      <a:rPr kumimoji="0" lang="en-US" altLang="zh-CN" i="1" dirty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𝑁</m:t>
                    </m:r>
                    <m:r>
                      <a:rPr kumimoji="0" lang="en-US" altLang="zh-TW" i="1" dirty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  <m:r>
                      <a:rPr kumimoji="0" lang="en-US" altLang="zh-TW" i="1" dirty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𝐿</m:t>
                    </m:r>
                    <m:r>
                      <a:rPr kumimoji="0" lang="en-US" altLang="zh-TW" i="1" dirty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kumimoji="0" lang="en-US" altLang="zh-TW" i="1" dirty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𝑀𝐿</m:t>
                    </m:r>
                    <m:r>
                      <a:rPr kumimoji="0" lang="en-US" altLang="zh-TW" i="1" dirty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r>
                      <a:rPr kumimoji="0" lang="en-US" altLang="zh-TW" i="1" dirty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𝑁𝐿</m:t>
                    </m:r>
                  </m:oMath>
                </a14:m>
                <a:r>
                  <a:rPr kumimoji="0" lang="zh-TW" altLang="en-US" dirty="0">
                    <a:solidFill>
                      <a:srgbClr val="FF0000"/>
                    </a:solidFill>
                  </a:rPr>
                  <a:t>连接对并</a:t>
                </a:r>
                <a:r>
                  <a:rPr kumimoji="0" lang="zh-TW" altLang="en-US" dirty="0"/>
                  <a:t>满足右分配律</a:t>
                </a:r>
                <a:endParaRPr lang="en-AU" altLang="zh-CN" dirty="0"/>
              </a:p>
              <a:p>
                <a:pPr marL="0" indent="0">
                  <a:buNone/>
                </a:pPr>
                <a:r>
                  <a:rPr kumimoji="0"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示例：</a:t>
                </a:r>
                <a:r>
                  <a:rPr kumimoji="0" lang="el-GR" altLang="zh-CN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0+01</a:t>
                </a:r>
                <a:r>
                  <a:rPr kumimoji="0" lang="el-GR" altLang="zh-CN" baseline="300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∗</a:t>
                </a:r>
                <a:r>
                  <a:rPr kumimoji="0" lang="el-GR" altLang="zh-CN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=0ε+01</a:t>
                </a:r>
                <a:r>
                  <a:rPr kumimoji="0" lang="el-GR" altLang="zh-CN" baseline="300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∗</a:t>
                </a:r>
                <a:r>
                  <a:rPr kumimoji="0" lang="el-GR" altLang="zh-CN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=0(ε+1</a:t>
                </a:r>
                <a:r>
                  <a:rPr kumimoji="0" lang="el-GR" altLang="zh-CN" baseline="300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∗</a:t>
                </a:r>
                <a:r>
                  <a:rPr kumimoji="0" lang="el-GR" altLang="zh-CN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)=01</a:t>
                </a:r>
                <a:r>
                  <a:rPr kumimoji="0" lang="el-GR" altLang="zh-CN" baseline="300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∗</a:t>
                </a:r>
                <a:endParaRPr lang="en-AU" dirty="0"/>
              </a:p>
              <a:p>
                <a:r>
                  <a:rPr lang="zh-CN" altLang="en-US" dirty="0"/>
                  <a:t>幂等律</a:t>
                </a:r>
                <a:endParaRPr lang="en-AU" altLang="zh-CN" dirty="0"/>
              </a:p>
              <a:p>
                <a:pPr lvl="1"/>
                <a:r>
                  <a:rPr kumimoji="0" lang="en-US" altLang="zh-CN" i="1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L</a:t>
                </a:r>
                <a:r>
                  <a:rPr kumimoji="0" lang="en-US" altLang="zh-TW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+</a:t>
                </a:r>
                <a:r>
                  <a:rPr kumimoji="0" lang="en-US" altLang="zh-TW" i="1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L</a:t>
                </a:r>
                <a:r>
                  <a:rPr kumimoji="0" lang="en-US" altLang="zh-TW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==</a:t>
                </a:r>
                <a:r>
                  <a:rPr kumimoji="0" lang="en-US" altLang="zh-TW" i="1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L</a:t>
                </a:r>
                <a:r>
                  <a:rPr kumimoji="0" lang="zh-TW" altLang="en-US" dirty="0">
                    <a:cs typeface="Times New Roman" panose="02020603050405020304" pitchFamily="18" charset="0"/>
                  </a:rPr>
                  <a:t>并</a:t>
                </a:r>
                <a:r>
                  <a:rPr kumimoji="0" lang="zh-TW" altLang="en-US" dirty="0"/>
                  <a:t>的幂等律 </a:t>
                </a:r>
              </a:p>
              <a:p>
                <a:pPr lvl="1"/>
                <a:endParaRPr lang="en-AU" altLang="zh-C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19564F-3A13-4140-9CFC-3B75A7CC7F9C}" type="slidenum">
              <a:rPr lang="en-US" altLang="zh-CN" smtClean="0"/>
              <a:t>60</a:t>
            </a:fld>
            <a:endParaRPr lang="en-US" altLang="zh-CN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正则表达式的代数定律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有关闭包的定律</a:t>
                </a:r>
                <a:endParaRPr lang="en-AU" altLang="zh-CN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（</m:t>
                        </m:r>
                        <m:sSup>
                          <m:s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altLang="zh-CN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p>
                            <m:r>
                              <a:rPr lang="en-AU" altLang="zh-CN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AU" altLang="zh-CN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altLang="en-US" dirty="0"/>
                  <a:t>，对某语言的闭包再取闭包</a:t>
                </a:r>
              </a:p>
              <a:p>
                <a:pPr lvl="1"/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∅</m:t>
                        </m:r>
                      </m:e>
                      <m:sup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AU" b="1" i="1" smtClean="0">
                        <a:latin typeface="Cambria Math" panose="02040503050406030204" pitchFamily="18" charset="0"/>
                      </a:rPr>
                      <m:t>𝜺</m:t>
                    </m:r>
                  </m:oMath>
                </a14:m>
                <a:endParaRPr lang="en-US" altLang="zh-CN" b="1" dirty="0"/>
              </a:p>
              <a:p>
                <a:pPr lvl="1"/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AU" b="1" i="1" smtClean="0">
                            <a:latin typeface="Cambria Math" panose="02040503050406030204" pitchFamily="18" charset="0"/>
                          </a:rPr>
                          <m:t>𝜺</m:t>
                        </m:r>
                      </m:e>
                      <m:sup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AU" b="1" i="1" smtClean="0">
                        <a:latin typeface="Cambria Math" panose="02040503050406030204" pitchFamily="18" charset="0"/>
                      </a:rPr>
                      <m:t>𝜺</m:t>
                    </m:r>
                  </m:oMath>
                </a14:m>
                <a:r>
                  <a:rPr lang="zh-CN" altLang="en-US" dirty="0"/>
                  <a:t> 空串的闭包仍然是空串</a:t>
                </a:r>
                <a:endParaRPr lang="en-AU" altLang="zh-CN" dirty="0"/>
              </a:p>
              <a:p>
                <a:r>
                  <a:rPr lang="zh-CN" altLang="en-US" dirty="0"/>
                  <a:t>发现正则表达式的定律</a:t>
                </a:r>
                <a:endParaRPr lang="en-AU" altLang="zh-CN" dirty="0"/>
              </a:p>
              <a:p>
                <a:pPr lvl="1"/>
                <a:r>
                  <a:rPr lang="en-AU" altLang="zh-CN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sSup>
                      <m:sSupPr>
                        <m:ctrlPr>
                          <a:rPr lang="en-AU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AU" altLang="zh-CN" dirty="0"/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en-AU" altLang="zh-CN" b="0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AU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AU" altLang="zh-CN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AU" altLang="zh-CN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AU" altLang="zh-CN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altLang="zh-CN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p>
                            <m:r>
                              <a:rPr lang="en-AU" altLang="zh-CN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sSup>
                          <m:sSupPr>
                            <m:ctrlPr>
                              <a:rPr lang="en-AU" altLang="zh-CN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altLang="zh-CN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p>
                            <m:r>
                              <a:rPr lang="en-AU" altLang="zh-CN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zh-CN" b="0" i="1" baseline="30000" smtClean="0">
                        <a:latin typeface="Cambria Math" panose="02040503050406030204" pitchFamily="18" charset="0"/>
                      </a:rPr>
                      <m:t>∗</m:t>
                    </m:r>
                  </m:oMath>
                </a14:m>
                <a:endParaRPr lang="en-AU" altLang="zh-CN" dirty="0"/>
              </a:p>
              <a:p>
                <a:pPr lvl="1"/>
                <a:endParaRPr lang="en-US" altLang="zh-CN" dirty="0"/>
              </a:p>
              <a:p>
                <a:pPr lvl="1"/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b="-9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19564F-3A13-4140-9CFC-3B75A7CC7F9C}" type="slidenum">
              <a:rPr lang="en-US" altLang="zh-CN" smtClean="0"/>
              <a:t>61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小结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正则表达式基本概念</a:t>
                </a:r>
              </a:p>
              <a:p>
                <a:r>
                  <a:rPr lang="zh-CN" altLang="en-US" dirty="0"/>
                  <a:t>正则表达式与有穷自动机的转换</a:t>
                </a:r>
              </a:p>
              <a:p>
                <a:pPr lvl="1"/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zh-CN" altLang="en-US" dirty="0"/>
                  <a:t>正则表达式：构造法＋状态消除法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正则表达式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</a:t>
                </a:r>
                <a:endParaRPr lang="zh-CN" altLang="en-US" dirty="0"/>
              </a:p>
              <a:p>
                <a:r>
                  <a:rPr lang="zh-CN" altLang="en-US" dirty="0"/>
                  <a:t>正则表达式的代数定律</a:t>
                </a:r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19564F-3A13-4140-9CFC-3B75A7CC7F9C}" type="slidenum">
              <a:rPr lang="en-US" altLang="zh-CN" smtClean="0"/>
              <a:t>62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79795051-ba7e-4d61-888e-f55cb7017e13"/>
  <p:tag name="COMMONDATA" val="eyJoZGlkIjoiYTc2ZGZiNzZiNDVlOGViOWVmM2JhOTY0NGJkNjUyYzg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667.0866141732283,&quot;width&quot;:6248.092913385826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1|7.1|14.7|16.1|4.4|16.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0c2f61cf-e8ff-4fe1-81ed-5fc71bc05f3c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d8fc74e8-c20b-4ecb-a255-3692316fc9df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1fedf0b6-b53a-448f-9d65-b611894f6cb3}"/>
</p:tagLst>
</file>

<file path=ppt/tags/tag50.xml><?xml version="1.0" encoding="utf-8"?>
<p:tagLst xmlns:p="http://schemas.openxmlformats.org/presentationml/2006/main">
  <p:tag name="KSO_WM_UNIT_TABLE_BEAUTIFY" val="smartTable{d8fc74e8-c20b-4ecb-a255-3692316fc9df}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HASREMARK" val="True"/>
  <p:tag name="PROBLEMREMARK" val="_x001A_1_x001B_∗_x001B__x001A_00_x001B_∗_x001B__x001A__x001A_1(00_x001B_∗_x001B_1+1_x001A_1_x001B_∗_x001B_0_x001A_0_x001B_∗_x001B_1)_x001B_∗_x001B_"/>
  <p:tag name="PROBLEMVOICEALLOWED" val="False"/>
</p:tagLst>
</file>

<file path=ppt/tags/tag52.xml><?xml version="1.0" encoding="utf-8"?>
<p:tagLst xmlns:p="http://schemas.openxmlformats.org/presentationml/2006/main">
  <p:tag name="KSO_WM_UNIT_TABLE_BEAUTIFY" val="smartTable{1fedf0b6-b53a-448f-9d65-b611894f6cb3}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0.xml><?xml version="1.0" encoding="utf-8"?>
<p:tagLst xmlns:p="http://schemas.openxmlformats.org/presentationml/2006/main">
  <p:tag name="KSO_WM_BEAUTIFY_FLAG" val=""/>
</p:tagLst>
</file>

<file path=ppt/tags/tag480.xml><?xml version="1.0" encoding="utf-8"?>
<p:tagLst xmlns:p="http://schemas.openxmlformats.org/presentationml/2006/main">
  <p:tag name="KSO_WM_UNIT_TABLE_BEAUTIFY" val="smartTable{0c2f61cf-e8ff-4fe1-81ed-5fc71bc05f3c}"/>
</p:tagLst>
</file>

<file path=ppt/tags/tag570.xml><?xml version="1.0" encoding="utf-8"?>
<p:tagLst xmlns:p="http://schemas.openxmlformats.org/presentationml/2006/main">
  <p:tag name="RAINPROBLEM" val="ProblemRemark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4904</Words>
  <Application>Microsoft Office PowerPoint</Application>
  <PresentationFormat>全屏显示(4:3)</PresentationFormat>
  <Paragraphs>726</Paragraphs>
  <Slides>62</Slides>
  <Notes>28</Notes>
  <HiddenSlides>7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62</vt:i4>
      </vt:variant>
    </vt:vector>
  </HeadingPairs>
  <TitlesOfParts>
    <vt:vector size="80" baseType="lpstr">
      <vt:lpstr>Helvetica Neue</vt:lpstr>
      <vt:lpstr>LMRoman12-Regular-Identity-H</vt:lpstr>
      <vt:lpstr>新細明體</vt:lpstr>
      <vt:lpstr>等线</vt:lpstr>
      <vt:lpstr>黑体</vt:lpstr>
      <vt:lpstr>楷体</vt:lpstr>
      <vt:lpstr>宋体</vt:lpstr>
      <vt:lpstr>微软雅黑</vt:lpstr>
      <vt:lpstr>Arial</vt:lpstr>
      <vt:lpstr>Calibri</vt:lpstr>
      <vt:lpstr>Cambria Math</vt:lpstr>
      <vt:lpstr>Symbol</vt:lpstr>
      <vt:lpstr>Tahoma</vt:lpstr>
      <vt:lpstr>Times New Roman</vt:lpstr>
      <vt:lpstr>Wingdings</vt:lpstr>
      <vt:lpstr>Office 主题</vt:lpstr>
      <vt:lpstr>1_Office 主题</vt:lpstr>
      <vt:lpstr>Visio</vt:lpstr>
      <vt:lpstr>正则表达式</vt:lpstr>
      <vt:lpstr>课程回顾</vt:lpstr>
      <vt:lpstr>内容大纲</vt:lpstr>
      <vt:lpstr>内容大纲</vt:lpstr>
      <vt:lpstr>正则表达式的起源</vt:lpstr>
      <vt:lpstr>正则表达式的发展</vt:lpstr>
      <vt:lpstr>正则表达式</vt:lpstr>
      <vt:lpstr>语言运算</vt:lpstr>
      <vt:lpstr>例子</vt:lpstr>
      <vt:lpstr>四则运算的递归定义</vt:lpstr>
      <vt:lpstr>正则表达式的递归定义</vt:lpstr>
      <vt:lpstr>正则表达式的递归定义</vt:lpstr>
      <vt:lpstr>运算符的优先级</vt:lpstr>
      <vt:lpstr>运算符的优先级</vt:lpstr>
      <vt:lpstr>PowerPoint 演示文稿</vt:lpstr>
      <vt:lpstr>正则表达式示例</vt:lpstr>
      <vt:lpstr>运算的若干化简规则</vt:lpstr>
      <vt:lpstr>内容大纲</vt:lpstr>
      <vt:lpstr>有穷自动机和正则表达式</vt:lpstr>
      <vt:lpstr>有穷自动机和正则表达式</vt:lpstr>
      <vt:lpstr>DFA到正则表达式</vt:lpstr>
      <vt:lpstr>DFA-&gt;正则表达式:递归法</vt:lpstr>
      <vt:lpstr>DFA-&gt;正则表达式:递归法</vt:lpstr>
      <vt:lpstr>DFA-&gt;正则表达式:递归法</vt:lpstr>
      <vt:lpstr>k-路径的情况</vt:lpstr>
      <vt:lpstr>递归关系示意图</vt:lpstr>
      <vt:lpstr>递归关系示意图</vt:lpstr>
      <vt:lpstr>k-路径示例</vt:lpstr>
      <vt:lpstr>DFA-&gt;正则表达式</vt:lpstr>
      <vt:lpstr>PowerPoint 演示文稿</vt:lpstr>
      <vt:lpstr>DFA-&gt;正则表达式</vt:lpstr>
      <vt:lpstr>DFA-&gt;正则表达式示例</vt:lpstr>
      <vt:lpstr>DFA-&gt;正则表达式示例</vt:lpstr>
      <vt:lpstr>DFA-&gt;正则表达式:状态消除法</vt:lpstr>
      <vt:lpstr>DFA-&gt;正则表达式:状态消除法</vt:lpstr>
      <vt:lpstr>DFA-&gt;正则表达式:状态消除法</vt:lpstr>
      <vt:lpstr>PowerPoint 演示文稿</vt:lpstr>
      <vt:lpstr>DFA-&gt;正则表达式:状态消除法</vt:lpstr>
      <vt:lpstr>状态消除法示例</vt:lpstr>
      <vt:lpstr>状态消除法示例</vt:lpstr>
      <vt:lpstr>状态消除法示例</vt:lpstr>
      <vt:lpstr>内容大纲</vt:lpstr>
      <vt:lpstr>正则表达式的递归定义(回顾)</vt:lpstr>
      <vt:lpstr>DFA-&gt;正则表达式:递归法(回顾)</vt:lpstr>
      <vt:lpstr>递归关系示意图(回顾)</vt:lpstr>
      <vt:lpstr>DFA-&gt;正则表达式:状态消除法(回顾)</vt:lpstr>
      <vt:lpstr>正则表达式到自动机</vt:lpstr>
      <vt:lpstr>归纳法证明</vt:lpstr>
      <vt:lpstr>归纳法证明</vt:lpstr>
      <vt:lpstr>归纳法证明</vt:lpstr>
      <vt:lpstr>归纳法证明</vt:lpstr>
      <vt:lpstr>归纳法证明</vt:lpstr>
      <vt:lpstr>归纳法证明</vt:lpstr>
      <vt:lpstr>PowerPoint 演示文稿</vt:lpstr>
      <vt:lpstr>示例</vt:lpstr>
      <vt:lpstr>示例</vt:lpstr>
      <vt:lpstr>内容大纲</vt:lpstr>
      <vt:lpstr>正则表达式的代数定律</vt:lpstr>
      <vt:lpstr>正则表达式的代数定律</vt:lpstr>
      <vt:lpstr>正则表达式的代数定律</vt:lpstr>
      <vt:lpstr>正则表达式的代数定律</vt:lpstr>
      <vt:lpstr>小结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人工神经网络  Artificial Neural Networks</dc:title>
  <dc:creator>jiangzl</dc:creator>
  <cp:lastModifiedBy>Administrator</cp:lastModifiedBy>
  <cp:revision>1030</cp:revision>
  <dcterms:created xsi:type="dcterms:W3CDTF">2003-03-23T06:01:00Z</dcterms:created>
  <dcterms:modified xsi:type="dcterms:W3CDTF">2026-03-23T00:23:20Z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78A3F2A146A44326A995E27101B15A43</vt:lpwstr>
  </property>
  <property fmtid="{D5CDD505-2E9C-101B-9397-08002B2CF9AE}" pid="3" name="KSOProductBuildVer">
    <vt:lpwstr>2052-11.1.0.13703</vt:lpwstr>
  </property>
</Properties>
</file>