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98" r:id="rId3"/>
    <p:sldId id="359" r:id="rId5"/>
    <p:sldId id="360" r:id="rId6"/>
    <p:sldId id="339" r:id="rId7"/>
    <p:sldId id="340" r:id="rId8"/>
    <p:sldId id="337" r:id="rId9"/>
    <p:sldId id="345" r:id="rId10"/>
    <p:sldId id="341" r:id="rId11"/>
    <p:sldId id="361" r:id="rId12"/>
    <p:sldId id="338" r:id="rId13"/>
    <p:sldId id="299" r:id="rId14"/>
    <p:sldId id="300" r:id="rId15"/>
    <p:sldId id="301" r:id="rId16"/>
    <p:sldId id="302" r:id="rId17"/>
    <p:sldId id="303" r:id="rId18"/>
    <p:sldId id="304" r:id="rId19"/>
    <p:sldId id="305" r:id="rId20"/>
    <p:sldId id="306" r:id="rId21"/>
    <p:sldId id="308" r:id="rId22"/>
    <p:sldId id="309" r:id="rId23"/>
    <p:sldId id="310" r:id="rId24"/>
    <p:sldId id="311" r:id="rId25"/>
    <p:sldId id="370" r:id="rId26"/>
    <p:sldId id="362" r:id="rId27"/>
    <p:sldId id="366" r:id="rId28"/>
    <p:sldId id="368" r:id="rId29"/>
    <p:sldId id="367" r:id="rId30"/>
    <p:sldId id="276" r:id="rId31"/>
    <p:sldId id="273" r:id="rId32"/>
    <p:sldId id="274" r:id="rId33"/>
    <p:sldId id="369" r:id="rId34"/>
    <p:sldId id="363" r:id="rId35"/>
    <p:sldId id="364" r:id="rId36"/>
    <p:sldId id="365" r:id="rId37"/>
    <p:sldId id="349" r:id="rId38"/>
    <p:sldId id="350" r:id="rId39"/>
    <p:sldId id="351" r:id="rId40"/>
    <p:sldId id="352" r:id="rId41"/>
    <p:sldId id="353" r:id="rId42"/>
    <p:sldId id="354" r:id="rId43"/>
    <p:sldId id="355" r:id="rId44"/>
    <p:sldId id="356" r:id="rId45"/>
    <p:sldId id="357" r:id="rId46"/>
    <p:sldId id="358" r:id="rId47"/>
    <p:sldId id="348" r:id="rId48"/>
  </p:sldIdLst>
  <p:sldSz cx="9144000" cy="6858000" type="screen4x3"/>
  <p:notesSz cx="6858000" cy="9144000"/>
  <p:custDataLst>
    <p:tags r:id="rId5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00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14" autoAdjust="0"/>
    <p:restoredTop sz="89282" autoAdjust="0"/>
  </p:normalViewPr>
  <p:slideViewPr>
    <p:cSldViewPr showGuides="1">
      <p:cViewPr varScale="1">
        <p:scale>
          <a:sx n="105" d="100"/>
          <a:sy n="105" d="100"/>
        </p:scale>
        <p:origin x="768" y="51"/>
      </p:cViewPr>
      <p:guideLst>
        <p:guide orient="horz" pos="2184"/>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5046"/>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2" Type="http://schemas.openxmlformats.org/officeDocument/2006/relationships/tags" Target="tags/tag1.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slide" Target="slides/slide2.xml"/><Relationship Id="rId49" Type="http://schemas.openxmlformats.org/officeDocument/2006/relationships/presProps" Target="presProps.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vl1pPr>
          </a:lstStyle>
          <a:p>
            <a:pPr>
              <a:defRPr/>
            </a:pPr>
            <a:endParaRPr lang="en-US" altLang="zh-CN"/>
          </a:p>
        </p:txBody>
      </p:sp>
      <p:sp>
        <p:nvSpPr>
          <p:cNvPr id="2765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vl1pPr>
          </a:lstStyle>
          <a:p>
            <a:pPr>
              <a:defRPr/>
            </a:pPr>
            <a:endParaRPr lang="en-US" altLang="zh-CN"/>
          </a:p>
        </p:txBody>
      </p:sp>
      <p:sp>
        <p:nvSpPr>
          <p:cNvPr id="440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765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a:defRPr/>
            </a:pPr>
            <a:endParaRPr lang="en-US" altLang="zh-CN"/>
          </a:p>
        </p:txBody>
      </p:sp>
      <p:sp>
        <p:nvSpPr>
          <p:cNvPr id="2765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vl1pPr>
          </a:lstStyle>
          <a:p>
            <a:pPr>
              <a:defRPr/>
            </a:pPr>
            <a:fld id="{AD0B409A-9510-4679-9C86-74CCD54373D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同学们上午好！欢迎来到我们的课堂，我是计算机学院的汤步洲老师，这学期我将和大家一起学习《形式语言与自动机》，这堂课将简单介绍一下课程和相关基础知识。</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主要包括四个部分内容</a:t>
            </a:r>
            <a:endParaRPr lang="zh-CN" altLang="en-US" dirty="0"/>
          </a:p>
        </p:txBody>
      </p:sp>
      <p:sp>
        <p:nvSpPr>
          <p:cNvPr id="4" name="灯片编号占位符 3"/>
          <p:cNvSpPr>
            <a:spLocks noGrp="1"/>
          </p:cNvSpPr>
          <p:nvPr>
            <p:ph type="sldNum" sz="quarter" idx="10"/>
          </p:nvPr>
        </p:nvSpPr>
        <p:spPr/>
        <p:txBody>
          <a:bodyPr/>
          <a:lstStyle/>
          <a:p>
            <a:pPr>
              <a:defRPr/>
            </a:pPr>
            <a:fld id="{AD0B409A-9510-4679-9C86-74CCD54373DF}"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首先看一下课程简介</a:t>
            </a:r>
            <a:endParaRPr lang="zh-CN" altLang="en-US" dirty="0"/>
          </a:p>
        </p:txBody>
      </p:sp>
      <p:sp>
        <p:nvSpPr>
          <p:cNvPr id="4" name="灯片编号占位符 3"/>
          <p:cNvSpPr>
            <a:spLocks noGrp="1"/>
          </p:cNvSpPr>
          <p:nvPr>
            <p:ph type="sldNum" sz="quarter" idx="10"/>
          </p:nvPr>
        </p:nvSpPr>
        <p:spPr/>
        <p:txBody>
          <a:bodyPr/>
          <a:lstStyle/>
          <a:p>
            <a:pPr>
              <a:defRPr/>
            </a:pPr>
            <a:fld id="{AD0B409A-9510-4679-9C86-74CCD54373DF}"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形式语言与自动机》是一门专业必修课，前序课程是集合论与图论，主要包括三方面的特点：首先，用抽象和形式化描述问题；其次，用理论证明和构造性来保证问题描述正确性；第三，研究基本模型的建立与性质指导理论的应用</a:t>
            </a:r>
            <a:r>
              <a:rPr lang="en-US" altLang="zh-CN"/>
              <a:t> </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课程的目的，一方面是，掌握正则语言、上下文无关语言和有限状态自动机的基本知识；另一方面是，培养学生的计算思维能力，包括形式化描述和抽象思维能力，使学生了解和初步掌握，从</a:t>
            </a:r>
            <a:r>
              <a:rPr lang="en-US" altLang="zh-CN"/>
              <a:t>”</a:t>
            </a:r>
            <a:r>
              <a:rPr lang="zh-CN" altLang="en-US"/>
              <a:t>问题</a:t>
            </a:r>
            <a:r>
              <a:rPr lang="en-US" altLang="zh-CN"/>
              <a:t>“</a:t>
            </a:r>
            <a:r>
              <a:rPr lang="zh-CN" altLang="en-US"/>
              <a:t>到</a:t>
            </a:r>
            <a:r>
              <a:rPr lang="en-US" altLang="zh-CN"/>
              <a:t>”</a:t>
            </a:r>
            <a:r>
              <a:rPr lang="zh-CN" altLang="en-US"/>
              <a:t>形式化描述</a:t>
            </a:r>
            <a:r>
              <a:rPr lang="en-US" altLang="zh-CN"/>
              <a:t>“</a:t>
            </a:r>
            <a:r>
              <a:rPr lang="zh-CN" altLang="en-US"/>
              <a:t>再到</a:t>
            </a:r>
            <a:r>
              <a:rPr lang="en-US" altLang="zh-CN"/>
              <a:t>”</a:t>
            </a:r>
            <a:r>
              <a:rPr lang="zh-CN" altLang="en-US"/>
              <a:t>自动化</a:t>
            </a:r>
            <a:r>
              <a:rPr lang="en-US" altLang="zh-CN"/>
              <a:t>“</a:t>
            </a:r>
            <a:r>
              <a:rPr lang="zh-CN" altLang="en-US"/>
              <a:t>（也就是计算机化）这一最典型的计算机问题求解思路，对计算学科研究的关键主题之一</a:t>
            </a:r>
            <a:r>
              <a:rPr lang="en-US" altLang="zh-CN"/>
              <a:t>——”</a:t>
            </a:r>
            <a:r>
              <a:rPr lang="zh-CN" altLang="en-US"/>
              <a:t>什么能被有效自动化？</a:t>
            </a:r>
            <a:r>
              <a:rPr lang="en-US" altLang="zh-CN"/>
              <a:t>“</a:t>
            </a:r>
            <a:r>
              <a:rPr lang="zh-CN" altLang="en-US"/>
              <a:t>给出部分答案。</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这幅图给出了这门课的整体知识体系，实际上只包括在乔姆斯基体系下的一些经典的、描述语言的文法和对应的识别这些语言的自动机</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主要的参考书有这三本</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这门课设有</a:t>
            </a:r>
            <a:r>
              <a:rPr lang="zh-CN" altLang="en-US"/>
              <a:t>三位助教，建立了一个课程</a:t>
            </a:r>
            <a:r>
              <a:rPr lang="en-US" altLang="zh-CN"/>
              <a:t>QQ</a:t>
            </a:r>
            <a:r>
              <a:rPr lang="zh-CN" altLang="en-US"/>
              <a:t>群，大家可以扫描加入课程群，课程的相关资料会发到群里面；大家有什么问题可以线上线下助教和我进行交流。课程成绩由平时成绩</a:t>
            </a:r>
            <a:r>
              <a:rPr lang="en-US" altLang="zh-CN"/>
              <a:t>30%</a:t>
            </a:r>
            <a:r>
              <a:rPr lang="zh-CN" altLang="en-US"/>
              <a:t>和期末考试</a:t>
            </a:r>
            <a:r>
              <a:rPr lang="en-US" altLang="zh-CN"/>
              <a:t>70%</a:t>
            </a:r>
            <a:r>
              <a:rPr lang="zh-CN" altLang="en-US"/>
              <a:t>两部分构成。</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下面我们来看一下课程背景</a:t>
            </a:r>
            <a:endParaRPr lang="zh-CN" altLang="en-US" dirty="0"/>
          </a:p>
        </p:txBody>
      </p:sp>
      <p:sp>
        <p:nvSpPr>
          <p:cNvPr id="4" name="灯片编号占位符 3"/>
          <p:cNvSpPr>
            <a:spLocks noGrp="1"/>
          </p:cNvSpPr>
          <p:nvPr>
            <p:ph type="sldNum" sz="quarter" idx="10"/>
          </p:nvPr>
        </p:nvSpPr>
        <p:spPr/>
        <p:txBody>
          <a:bodyPr/>
          <a:lstStyle/>
          <a:p>
            <a:pPr>
              <a:defRPr/>
            </a:pPr>
            <a:fld id="{AD0B409A-9510-4679-9C86-74CCD54373DF}"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《形式语言与自动机》主要包含三大块内容：正则语言、上下文无关语言和计算导论。涉及到两个著名的科学家乔姆斯基和图灵。下面我们来介绍这两位大家。</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首先我们来看看大家听到最多的图灵，图灵是英国数学家、逻辑学家，他对计算机科学的发展有诸多贡献，图灵提出的著名的图灵机模型为现代计算机的逻辑工作方式奠定了基础。他被视为计算机科学之父，人工智能之父</a:t>
            </a:r>
            <a:endParaRPr lang="zh-CN" altLang="en-US" dirty="0"/>
          </a:p>
        </p:txBody>
      </p:sp>
      <p:sp>
        <p:nvSpPr>
          <p:cNvPr id="4" name="灯片编号占位符 3"/>
          <p:cNvSpPr>
            <a:spLocks noGrp="1"/>
          </p:cNvSpPr>
          <p:nvPr>
            <p:ph type="sldNum" sz="quarter" idx="10"/>
          </p:nvPr>
        </p:nvSpPr>
        <p:spPr/>
        <p:txBody>
          <a:bodyPr/>
          <a:lstStyle/>
          <a:p>
            <a:fld id="{B6003AC7-526C-48A0-8F08-31EEDD36F591}"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0"/>
              </a:spcBef>
            </a:pPr>
            <a:r>
              <a:rPr lang="zh-CN" altLang="en-US" dirty="0"/>
              <a:t>图灵出生在伦敦。图灵很小的时候就表现出他的天才能力，后来就更加明显。</a:t>
            </a:r>
            <a:endParaRPr lang="en-US" altLang="zh-CN" dirty="0"/>
          </a:p>
          <a:p>
            <a:pPr eaLnBrk="1" hangingPunct="1">
              <a:spcBef>
                <a:spcPct val="0"/>
              </a:spcBef>
            </a:pPr>
            <a:r>
              <a:rPr lang="en-US" altLang="zh-CN" dirty="0"/>
              <a:t>1928</a:t>
            </a:r>
            <a:r>
              <a:rPr lang="zh-CN" altLang="en-US" dirty="0"/>
              <a:t>年，在图灵</a:t>
            </a:r>
            <a:r>
              <a:rPr lang="en-US" altLang="zh-CN" dirty="0"/>
              <a:t>16</a:t>
            </a:r>
            <a:r>
              <a:rPr lang="zh-CN" altLang="en-US" dirty="0"/>
              <a:t>岁的时候，开始阅读阿尔伯特</a:t>
            </a:r>
            <a:r>
              <a:rPr lang="en-US" altLang="zh-CN" dirty="0"/>
              <a:t>·</a:t>
            </a:r>
            <a:r>
              <a:rPr lang="zh-CN" altLang="en-US" dirty="0"/>
              <a:t>爱因斯坦的著作。他不但能够理解，而且看出了爱因斯坦对牛顿运动定律存有质疑，即使爱因斯坦的著作中并没有明白指出这点。</a:t>
            </a:r>
            <a:endParaRPr lang="zh-CN" altLang="en-US" dirty="0"/>
          </a:p>
        </p:txBody>
      </p:sp>
      <p:sp>
        <p:nvSpPr>
          <p:cNvPr id="4" name="灯片编号占位符 3"/>
          <p:cNvSpPr>
            <a:spLocks noGrp="1"/>
          </p:cNvSpPr>
          <p:nvPr>
            <p:ph type="sldNum" sz="quarter" idx="10"/>
          </p:nvPr>
        </p:nvSpPr>
        <p:spPr/>
        <p:txBody>
          <a:bodyPr/>
          <a:lstStyle/>
          <a:p>
            <a:fld id="{B6003AC7-526C-48A0-8F08-31EEDD36F591}"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图灵二战爆发后回到剑桥，后曾协助军方破解德国的著名密码系统</a:t>
            </a:r>
            <a:r>
              <a:rPr lang="en-US" altLang="zh-CN" dirty="0"/>
              <a:t>Enigma</a:t>
            </a:r>
            <a:r>
              <a:rPr lang="zh-CN" altLang="en-US" dirty="0"/>
              <a:t>，对盟军取得了二战的胜利有一定的帮助。</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B6003AC7-526C-48A0-8F08-31EEDD36F591}"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图灵曾写过一篇名为</a:t>
            </a:r>
            <a:r>
              <a:rPr lang="en-US" altLang="zh-CN" dirty="0"/>
              <a:t>《</a:t>
            </a:r>
            <a:r>
              <a:rPr lang="zh-CN" altLang="en-US" dirty="0"/>
              <a:t>机器会思考吗？</a:t>
            </a:r>
            <a:r>
              <a:rPr lang="en-US" altLang="zh-CN" dirty="0"/>
              <a:t>》</a:t>
            </a:r>
            <a:r>
              <a:rPr lang="zh-CN" altLang="en-US" dirty="0"/>
              <a:t>（</a:t>
            </a:r>
            <a:r>
              <a:rPr lang="en-US" altLang="zh-CN" dirty="0"/>
              <a:t>Can Machines Think?</a:t>
            </a:r>
            <a:r>
              <a:rPr lang="zh-CN" altLang="en-US" dirty="0"/>
              <a:t>）的论文，其中提出了一种用于判定机器是否具有智能的试验方法，即图灵测试。</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B6003AC7-526C-48A0-8F08-31EEDD36F591}"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是英国数学家阿兰</a:t>
            </a:r>
            <a:r>
              <a:rPr lang="en-US" altLang="zh-CN" dirty="0"/>
              <a:t>·</a:t>
            </a:r>
            <a:r>
              <a:rPr lang="zh-CN" altLang="en-US" dirty="0"/>
              <a:t>图灵于</a:t>
            </a:r>
            <a:r>
              <a:rPr lang="en-US" altLang="zh-CN" dirty="0"/>
              <a:t>1936</a:t>
            </a:r>
            <a:r>
              <a:rPr lang="zh-CN" altLang="en-US" dirty="0"/>
              <a:t>年提出的一种抽象计算模型，其更抽象的意义为一种数学逻辑机，可以看作等价于任何有限逻辑数学过程的终极强大逻辑机器。</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B6003AC7-526C-48A0-8F08-31EEDD36F591}"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图灵还是一位世界级的长跑运动员。他的马拉松最好成绩是</a:t>
            </a:r>
            <a:r>
              <a:rPr lang="en-US" altLang="zh-CN" dirty="0"/>
              <a:t>2</a:t>
            </a:r>
            <a:r>
              <a:rPr lang="zh-CN" altLang="en-US" dirty="0"/>
              <a:t>小时</a:t>
            </a:r>
            <a:r>
              <a:rPr lang="en-US" altLang="zh-CN" dirty="0"/>
              <a:t>46</a:t>
            </a:r>
            <a:r>
              <a:rPr lang="zh-CN" altLang="en-US" dirty="0"/>
              <a:t>分</a:t>
            </a:r>
            <a:r>
              <a:rPr lang="en-US" altLang="zh-CN" dirty="0"/>
              <a:t>3</a:t>
            </a:r>
            <a:r>
              <a:rPr lang="zh-CN" altLang="en-US" dirty="0"/>
              <a:t>秒。</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B6003AC7-526C-48A0-8F08-31EEDD36F591}"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图灵奖是计算机协会（</a:t>
            </a:r>
            <a:r>
              <a:rPr lang="en-US" altLang="zh-CN" dirty="0"/>
              <a:t>ACM</a:t>
            </a:r>
            <a:r>
              <a:rPr lang="zh-CN" altLang="en-US" dirty="0"/>
              <a:t>）于</a:t>
            </a:r>
            <a:r>
              <a:rPr lang="en-US" altLang="zh-CN" dirty="0"/>
              <a:t>1966</a:t>
            </a:r>
            <a:r>
              <a:rPr lang="zh-CN" altLang="en-US" dirty="0"/>
              <a:t>年设立的，又叫“</a:t>
            </a:r>
            <a:r>
              <a:rPr lang="en-US" altLang="zh-CN" dirty="0"/>
              <a:t>A.M. </a:t>
            </a:r>
            <a:r>
              <a:rPr lang="zh-CN" altLang="en-US" dirty="0"/>
              <a:t>图灵奖”，专门奖励那些对计算机事业作出重要贡献的个人。</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B6003AC7-526C-48A0-8F08-31EEDD36F591}"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t>乔姆斯基还因他对政治的热忱而著名，尤其是他对美国和其它国家政府的批评。从</a:t>
            </a:r>
            <a:r>
              <a:rPr lang="en-US" altLang="zh-CN" dirty="0"/>
              <a:t>1960</a:t>
            </a:r>
            <a:r>
              <a:rPr lang="zh-CN" altLang="en-US" dirty="0"/>
              <a:t>年评论越南战争以来，他的媒体和政治评论便越来越著名。一般认为他是活跃在美国政坛左派的主要知识分子。乔姆斯基把自己归为自由意志社会主义者，并且是无政府工团主义的同情者。</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B6003AC7-526C-48A0-8F08-31EEDD36F591}"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0B409A-9510-4679-9C86-74CCD54373DF}"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2800" dirty="0"/>
              <a:t>用于开发计算机系统的形式化方法是描述系统性质的基于数学的技术，这样的形式化方法提供了一个框架，可以在框架中以系统的而不是特别的方式刻画、开发和验证系统。 如果一个方法有良好的数学基础，那么它就是形式化的，典型地以形式化规约语言给出。这个基础提供一系列精确定义的概念，如：一致性和完整性，以及定义规范的实现和正确性。 形式化方法的本质是基于数学的方法来描述目标软件系统属性的一种技术。不同的形式化方法的数学基础是不同的，有的以集合论和一阶谓词演算为基础（如</a:t>
            </a:r>
            <a:r>
              <a:rPr lang="en-US" altLang="zh-CN" sz="2800" dirty="0"/>
              <a:t>Z</a:t>
            </a:r>
            <a:r>
              <a:rPr lang="zh-CN" altLang="en-US" sz="2800" dirty="0"/>
              <a:t>和 </a:t>
            </a:r>
            <a:r>
              <a:rPr lang="en-US" altLang="zh-CN" sz="2800" dirty="0"/>
              <a:t>VDM</a:t>
            </a:r>
            <a:r>
              <a:rPr lang="zh-CN" altLang="en-US" sz="2800" dirty="0"/>
              <a:t>），有的则以时态逻辑为基础。形式化方法需要形式化规约说明语言的支持。</a:t>
            </a:r>
            <a:endParaRPr lang="en-US" altLang="en-US" sz="2800" dirty="0"/>
          </a:p>
        </p:txBody>
      </p:sp>
      <p:sp>
        <p:nvSpPr>
          <p:cNvPr id="4" name="灯片编号占位符 3"/>
          <p:cNvSpPr>
            <a:spLocks noGrp="1"/>
          </p:cNvSpPr>
          <p:nvPr>
            <p:ph type="sldNum" sz="quarter" idx="10"/>
          </p:nvPr>
        </p:nvSpPr>
        <p:spPr/>
        <p:txBody>
          <a:bodyPr/>
          <a:lstStyle/>
          <a:p>
            <a:pPr>
              <a:defRPr/>
            </a:pPr>
            <a:fld id="{AD0B409A-9510-4679-9C86-74CCD54373DF}"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en-US" altLang="en-US" sz="2800" dirty="0"/>
          </a:p>
        </p:txBody>
      </p:sp>
      <p:sp>
        <p:nvSpPr>
          <p:cNvPr id="4" name="灯片编号占位符 3"/>
          <p:cNvSpPr>
            <a:spLocks noGrp="1"/>
          </p:cNvSpPr>
          <p:nvPr>
            <p:ph type="sldNum" sz="quarter" idx="10"/>
          </p:nvPr>
        </p:nvSpPr>
        <p:spPr/>
        <p:txBody>
          <a:bodyPr/>
          <a:lstStyle/>
          <a:p>
            <a:pPr>
              <a:defRPr/>
            </a:pPr>
            <a:fld id="{AD0B409A-9510-4679-9C86-74CCD54373DF}"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2800" dirty="0"/>
          </a:p>
        </p:txBody>
      </p:sp>
      <p:sp>
        <p:nvSpPr>
          <p:cNvPr id="4" name="灯片编号占位符 3"/>
          <p:cNvSpPr>
            <a:spLocks noGrp="1"/>
          </p:cNvSpPr>
          <p:nvPr>
            <p:ph type="sldNum" sz="quarter" idx="10"/>
          </p:nvPr>
        </p:nvSpPr>
        <p:spPr/>
        <p:txBody>
          <a:bodyPr/>
          <a:lstStyle/>
          <a:p>
            <a:pPr>
              <a:defRPr/>
            </a:pPr>
            <a:fld id="{AD0B409A-9510-4679-9C86-74CCD54373DF}"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有的书中，把递归定义和归纳证明分成三部分</a:t>
            </a:r>
            <a:endParaRPr lang="en-US" altLang="zh-CN" dirty="0"/>
          </a:p>
          <a:p>
            <a:r>
              <a:rPr lang="zh-CN" altLang="en-US" dirty="0"/>
              <a:t>递归定义：“基础”</a:t>
            </a:r>
            <a:r>
              <a:rPr lang="en-US" altLang="zh-CN" dirty="0"/>
              <a:t>+</a:t>
            </a:r>
            <a:r>
              <a:rPr lang="zh-CN" altLang="en-US" dirty="0"/>
              <a:t>“归纳”</a:t>
            </a:r>
            <a:r>
              <a:rPr lang="en-US" altLang="zh-CN" dirty="0"/>
              <a:t>+</a:t>
            </a:r>
            <a:r>
              <a:rPr lang="zh-CN" altLang="en-US" dirty="0"/>
              <a:t>“极小性限定”</a:t>
            </a:r>
            <a:r>
              <a:rPr lang="en-US" altLang="zh-CN" dirty="0"/>
              <a:t>-</a:t>
            </a:r>
            <a:r>
              <a:rPr lang="zh-CN" altLang="en-US" dirty="0"/>
              <a:t>指出一个对象是所定义元素的充要条件是它可以通过有限次的使用基础和归纳条款中所给的规定构造出来。</a:t>
            </a:r>
            <a:endParaRPr lang="en-US" altLang="zh-CN" dirty="0"/>
          </a:p>
          <a:p>
            <a:pPr marL="0" lvl="2"/>
            <a:r>
              <a:rPr lang="zh-CN" altLang="en-US" dirty="0"/>
              <a:t>归纳证明：“基础”</a:t>
            </a:r>
            <a:r>
              <a:rPr lang="en-US" altLang="zh-CN" dirty="0"/>
              <a:t>+</a:t>
            </a:r>
            <a:r>
              <a:rPr lang="zh-CN" altLang="en-US" dirty="0"/>
              <a:t>“归纳”</a:t>
            </a:r>
            <a:r>
              <a:rPr lang="en-US" altLang="zh-CN" dirty="0"/>
              <a:t>+</a:t>
            </a:r>
            <a:r>
              <a:rPr lang="zh-CN" altLang="en-US" dirty="0"/>
              <a:t>“泛化”</a:t>
            </a:r>
            <a:r>
              <a:rPr lang="en-US" altLang="zh-CN" dirty="0"/>
              <a:t>-</a:t>
            </a:r>
            <a:r>
              <a:rPr lang="zh-CN" altLang="en-US" sz="2800" dirty="0"/>
              <a:t>根据归纳法原理，所有的元素具有相应的性质。  </a:t>
            </a:r>
            <a:endParaRPr lang="zh-CN" altLang="en-US" sz="2800" dirty="0"/>
          </a:p>
        </p:txBody>
      </p:sp>
      <p:sp>
        <p:nvSpPr>
          <p:cNvPr id="4" name="灯片编号占位符 3"/>
          <p:cNvSpPr>
            <a:spLocks noGrp="1"/>
          </p:cNvSpPr>
          <p:nvPr>
            <p:ph type="sldNum" sz="quarter" idx="10"/>
          </p:nvPr>
        </p:nvSpPr>
        <p:spPr/>
        <p:txBody>
          <a:bodyPr/>
          <a:lstStyle/>
          <a:p>
            <a:pPr>
              <a:defRPr/>
            </a:pPr>
            <a:fld id="{AD0B409A-9510-4679-9C86-74CCD54373DF}"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a:t>
            </a:r>
            <a:r>
              <a:rPr lang="zh-CN" altLang="en-US"/>
              <a:t>如果你是东北人，则你会滑冰</a:t>
            </a:r>
            <a:r>
              <a:rPr lang="en-US" altLang="zh-CN"/>
              <a:t>”</a:t>
            </a:r>
            <a:r>
              <a:rPr lang="zh-CN" altLang="en-US"/>
              <a:t>并不等价于</a:t>
            </a:r>
            <a:r>
              <a:rPr lang="en-US" altLang="zh-CN"/>
              <a:t>“</a:t>
            </a:r>
            <a:r>
              <a:rPr lang="zh-CN" altLang="en-US"/>
              <a:t>如果你不是东北人，则你不会滑冰</a:t>
            </a:r>
            <a:r>
              <a:rPr lang="en-US" altLang="zh-CN"/>
              <a:t>”</a:t>
            </a:r>
            <a:endParaRPr lang="en-US" altLang="zh-CN"/>
          </a:p>
          <a:p>
            <a:r>
              <a:rPr lang="zh-CN" altLang="en-US"/>
              <a:t>要证明</a:t>
            </a:r>
            <a:r>
              <a:rPr lang="en-US" altLang="zh-CN"/>
              <a:t>“</a:t>
            </a:r>
            <a:r>
              <a:rPr lang="zh-CN" altLang="en-US"/>
              <a:t>如果</a:t>
            </a:r>
            <a:r>
              <a:rPr lang="en-US" altLang="zh-CN"/>
              <a:t>H</a:t>
            </a:r>
            <a:r>
              <a:rPr lang="zh-CN" altLang="en-US"/>
              <a:t>，则</a:t>
            </a:r>
            <a:r>
              <a:rPr lang="en-US" altLang="zh-CN"/>
              <a:t>C”</a:t>
            </a:r>
            <a:r>
              <a:rPr lang="zh-CN" altLang="en-US"/>
              <a:t>通常可以转换成</a:t>
            </a:r>
            <a:r>
              <a:rPr lang="en-US" altLang="zh-CN"/>
              <a:t>“H</a:t>
            </a:r>
            <a:r>
              <a:rPr lang="zh-CN" altLang="en-US"/>
              <a:t>与非</a:t>
            </a:r>
            <a:r>
              <a:rPr lang="en-US" altLang="zh-CN"/>
              <a:t>C</a:t>
            </a:r>
            <a:r>
              <a:rPr lang="zh-CN" altLang="en-US"/>
              <a:t>是否矛盾</a:t>
            </a:r>
            <a:r>
              <a:rPr lang="en-US" altLang="zh-CN"/>
              <a:t>”</a:t>
            </a:r>
            <a:r>
              <a:rPr lang="zh-CN" altLang="en-US"/>
              <a:t>，通过找反例让两者矛盾，进而证明</a:t>
            </a:r>
            <a:r>
              <a:rPr lang="en-US" altLang="zh-CN"/>
              <a:t>C</a:t>
            </a:r>
            <a:r>
              <a:rPr lang="zh-CN" altLang="en-US"/>
              <a:t>成立</a:t>
            </a:r>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0B409A-9510-4679-9C86-74CCD54373DF}"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0B409A-9510-4679-9C86-74CCD54373DF}"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auto"/>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auto"/>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fontAlgn="auto"/>
            <a:fld id="{530820CF-B880-4189-942D-D702A7CBA730}" type="datetimeFigureOut">
              <a:rPr lang="zh-CN" altLang="en-US" strike="noStrike" noProof="1" smtClean="0">
                <a:latin typeface="+mn-lt"/>
                <a:ea typeface="+mn-ea"/>
                <a:cs typeface="+mn-cs"/>
              </a:rPr>
            </a:fld>
            <a:endParaRPr lang="zh-CN" altLang="en-US" strike="noStrike" noProof="1"/>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7" name="矩形 6"/>
          <p:cNvSpPr/>
          <p:nvPr/>
        </p:nvSpPr>
        <p:spPr>
          <a:xfrm>
            <a:off x="0" y="0"/>
            <a:ext cx="9144000" cy="692696"/>
          </a:xfrm>
          <a:prstGeom prst="rect">
            <a:avLst/>
          </a:prstGeom>
          <a:gradFill>
            <a:gsLst>
              <a:gs pos="0">
                <a:schemeClr val="bg1">
                  <a:lumMod val="50000"/>
                </a:schemeClr>
              </a:gs>
              <a:gs pos="100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fontAlgn="auto"/>
            <a:endParaRPr lang="zh-CN" altLang="en-US" strike="noStrike" noProof="1"/>
          </a:p>
        </p:txBody>
      </p:sp>
      <p:sp>
        <p:nvSpPr>
          <p:cNvPr id="8" name="平行四边形 49"/>
          <p:cNvSpPr/>
          <p:nvPr/>
        </p:nvSpPr>
        <p:spPr>
          <a:xfrm>
            <a:off x="-30162" y="-14287"/>
            <a:ext cx="2536825" cy="706438"/>
          </a:xfrm>
          <a:custGeom>
            <a:avLst/>
            <a:gdLst>
              <a:gd name="connsiteX0" fmla="*/ 0 w 1547664"/>
              <a:gd name="connsiteY0" fmla="*/ 692696 h 692696"/>
              <a:gd name="connsiteX1" fmla="*/ 173174 w 1547664"/>
              <a:gd name="connsiteY1" fmla="*/ 0 h 692696"/>
              <a:gd name="connsiteX2" fmla="*/ 1547664 w 1547664"/>
              <a:gd name="connsiteY2" fmla="*/ 0 h 692696"/>
              <a:gd name="connsiteX3" fmla="*/ 1374490 w 1547664"/>
              <a:gd name="connsiteY3" fmla="*/ 692696 h 692696"/>
              <a:gd name="connsiteX4" fmla="*/ 0 w 1547664"/>
              <a:gd name="connsiteY4" fmla="*/ 692696 h 692696"/>
              <a:gd name="connsiteX0-1" fmla="*/ 61228 w 1608892"/>
              <a:gd name="connsiteY0-2" fmla="*/ 722676 h 722676"/>
              <a:gd name="connsiteX1-3" fmla="*/ 234402 w 1608892"/>
              <a:gd name="connsiteY1-4" fmla="*/ 29980 h 722676"/>
              <a:gd name="connsiteX2-5" fmla="*/ 1267 w 1608892"/>
              <a:gd name="connsiteY2-6" fmla="*/ 0 h 722676"/>
              <a:gd name="connsiteX3-7" fmla="*/ 1608892 w 1608892"/>
              <a:gd name="connsiteY3-8" fmla="*/ 29980 h 722676"/>
              <a:gd name="connsiteX4-9" fmla="*/ 1435718 w 1608892"/>
              <a:gd name="connsiteY4-10" fmla="*/ 722676 h 722676"/>
              <a:gd name="connsiteX5" fmla="*/ 61228 w 1608892"/>
              <a:gd name="connsiteY5" fmla="*/ 722676 h 722676"/>
              <a:gd name="connsiteX0-11" fmla="*/ 63273 w 1610937"/>
              <a:gd name="connsiteY0-12" fmla="*/ 722676 h 722676"/>
              <a:gd name="connsiteX1-13" fmla="*/ 56565 w 1610937"/>
              <a:gd name="connsiteY1-14" fmla="*/ 44970 h 722676"/>
              <a:gd name="connsiteX2-15" fmla="*/ 3312 w 1610937"/>
              <a:gd name="connsiteY2-16" fmla="*/ 0 h 722676"/>
              <a:gd name="connsiteX3-17" fmla="*/ 1610937 w 1610937"/>
              <a:gd name="connsiteY3-18" fmla="*/ 29980 h 722676"/>
              <a:gd name="connsiteX4-19" fmla="*/ 1437763 w 1610937"/>
              <a:gd name="connsiteY4-20" fmla="*/ 722676 h 722676"/>
              <a:gd name="connsiteX5-21" fmla="*/ 63273 w 1610937"/>
              <a:gd name="connsiteY5-22" fmla="*/ 722676 h 722676"/>
              <a:gd name="connsiteX0-23" fmla="*/ 63273 w 2075632"/>
              <a:gd name="connsiteY0-24" fmla="*/ 722676 h 722676"/>
              <a:gd name="connsiteX1-25" fmla="*/ 56565 w 2075632"/>
              <a:gd name="connsiteY1-26" fmla="*/ 44970 h 722676"/>
              <a:gd name="connsiteX2-27" fmla="*/ 3312 w 2075632"/>
              <a:gd name="connsiteY2-28" fmla="*/ 0 h 722676"/>
              <a:gd name="connsiteX3-29" fmla="*/ 2075632 w 2075632"/>
              <a:gd name="connsiteY3-30" fmla="*/ 29980 h 722676"/>
              <a:gd name="connsiteX4-31" fmla="*/ 1437763 w 2075632"/>
              <a:gd name="connsiteY4-32" fmla="*/ 722676 h 722676"/>
              <a:gd name="connsiteX5-33" fmla="*/ 63273 w 2075632"/>
              <a:gd name="connsiteY5-34" fmla="*/ 722676 h 722676"/>
              <a:gd name="connsiteX0-35" fmla="*/ 6708 w 2019067"/>
              <a:gd name="connsiteY0-36" fmla="*/ 771160 h 771160"/>
              <a:gd name="connsiteX1-37" fmla="*/ 0 w 2019067"/>
              <a:gd name="connsiteY1-38" fmla="*/ 93454 h 771160"/>
              <a:gd name="connsiteX2-39" fmla="*/ 2019067 w 2019067"/>
              <a:gd name="connsiteY2-40" fmla="*/ 78464 h 771160"/>
              <a:gd name="connsiteX3-41" fmla="*/ 1381198 w 2019067"/>
              <a:gd name="connsiteY3-42" fmla="*/ 771160 h 771160"/>
              <a:gd name="connsiteX4-43" fmla="*/ 6708 w 2019067"/>
              <a:gd name="connsiteY4-44" fmla="*/ 771160 h 771160"/>
              <a:gd name="connsiteX0-45" fmla="*/ 6708 w 2019067"/>
              <a:gd name="connsiteY0-46" fmla="*/ 740785 h 740785"/>
              <a:gd name="connsiteX1-47" fmla="*/ 0 w 2019067"/>
              <a:gd name="connsiteY1-48" fmla="*/ 63079 h 740785"/>
              <a:gd name="connsiteX2-49" fmla="*/ 2019067 w 2019067"/>
              <a:gd name="connsiteY2-50" fmla="*/ 48089 h 740785"/>
              <a:gd name="connsiteX3-51" fmla="*/ 1381198 w 2019067"/>
              <a:gd name="connsiteY3-52" fmla="*/ 740785 h 740785"/>
              <a:gd name="connsiteX4-53" fmla="*/ 6708 w 2019067"/>
              <a:gd name="connsiteY4-54" fmla="*/ 740785 h 740785"/>
              <a:gd name="connsiteX0-55" fmla="*/ 6708 w 2019067"/>
              <a:gd name="connsiteY0-56" fmla="*/ 692696 h 692696"/>
              <a:gd name="connsiteX1-57" fmla="*/ 0 w 2019067"/>
              <a:gd name="connsiteY1-58" fmla="*/ 14990 h 692696"/>
              <a:gd name="connsiteX2-59" fmla="*/ 2019067 w 2019067"/>
              <a:gd name="connsiteY2-60" fmla="*/ 0 h 692696"/>
              <a:gd name="connsiteX3-61" fmla="*/ 1381198 w 2019067"/>
              <a:gd name="connsiteY3-62" fmla="*/ 692696 h 692696"/>
              <a:gd name="connsiteX4-63" fmla="*/ 6708 w 2019067"/>
              <a:gd name="connsiteY4-64" fmla="*/ 692696 h 692696"/>
              <a:gd name="connsiteX0-65" fmla="*/ 21698 w 2034057"/>
              <a:gd name="connsiteY0-66" fmla="*/ 707686 h 707686"/>
              <a:gd name="connsiteX1-67" fmla="*/ 0 w 2034057"/>
              <a:gd name="connsiteY1-68" fmla="*/ 0 h 707686"/>
              <a:gd name="connsiteX2-69" fmla="*/ 2034057 w 2034057"/>
              <a:gd name="connsiteY2-70" fmla="*/ 14990 h 707686"/>
              <a:gd name="connsiteX3-71" fmla="*/ 1396188 w 2034057"/>
              <a:gd name="connsiteY3-72" fmla="*/ 707686 h 707686"/>
              <a:gd name="connsiteX4-73" fmla="*/ 21698 w 2034057"/>
              <a:gd name="connsiteY4-74" fmla="*/ 707686 h 707686"/>
              <a:gd name="connsiteX0-75" fmla="*/ 0 w 2042339"/>
              <a:gd name="connsiteY0-76" fmla="*/ 707686 h 707686"/>
              <a:gd name="connsiteX1-77" fmla="*/ 8282 w 2042339"/>
              <a:gd name="connsiteY1-78" fmla="*/ 0 h 707686"/>
              <a:gd name="connsiteX2-79" fmla="*/ 2042339 w 2042339"/>
              <a:gd name="connsiteY2-80" fmla="*/ 14990 h 707686"/>
              <a:gd name="connsiteX3-81" fmla="*/ 1404470 w 2042339"/>
              <a:gd name="connsiteY3-82" fmla="*/ 707686 h 707686"/>
              <a:gd name="connsiteX4-83" fmla="*/ 0 w 2042339"/>
              <a:gd name="connsiteY4-84" fmla="*/ 707686 h 707686"/>
              <a:gd name="connsiteX0-85" fmla="*/ 0 w 2042339"/>
              <a:gd name="connsiteY0-86" fmla="*/ 707686 h 707686"/>
              <a:gd name="connsiteX1-87" fmla="*/ 8282 w 2042339"/>
              <a:gd name="connsiteY1-88" fmla="*/ 0 h 707686"/>
              <a:gd name="connsiteX2-89" fmla="*/ 2042339 w 2042339"/>
              <a:gd name="connsiteY2-90" fmla="*/ 14990 h 707686"/>
              <a:gd name="connsiteX3-91" fmla="*/ 1659303 w 2042339"/>
              <a:gd name="connsiteY3-92" fmla="*/ 707686 h 707686"/>
              <a:gd name="connsiteX4-93" fmla="*/ 0 w 2042339"/>
              <a:gd name="connsiteY4-94" fmla="*/ 707686 h 707686"/>
              <a:gd name="connsiteX0-95" fmla="*/ 0 w 2297172"/>
              <a:gd name="connsiteY0-96" fmla="*/ 707686 h 707686"/>
              <a:gd name="connsiteX1-97" fmla="*/ 8282 w 2297172"/>
              <a:gd name="connsiteY1-98" fmla="*/ 0 h 707686"/>
              <a:gd name="connsiteX2-99" fmla="*/ 2297172 w 2297172"/>
              <a:gd name="connsiteY2-100" fmla="*/ 0 h 707686"/>
              <a:gd name="connsiteX3-101" fmla="*/ 1659303 w 2297172"/>
              <a:gd name="connsiteY3-102" fmla="*/ 707686 h 707686"/>
              <a:gd name="connsiteX4-103" fmla="*/ 0 w 2297172"/>
              <a:gd name="connsiteY4-104" fmla="*/ 707686 h 707686"/>
              <a:gd name="connsiteX0-105" fmla="*/ 0 w 2537015"/>
              <a:gd name="connsiteY0-106" fmla="*/ 707686 h 707686"/>
              <a:gd name="connsiteX1-107" fmla="*/ 8282 w 2537015"/>
              <a:gd name="connsiteY1-108" fmla="*/ 0 h 707686"/>
              <a:gd name="connsiteX2-109" fmla="*/ 2537015 w 2537015"/>
              <a:gd name="connsiteY2-110" fmla="*/ 0 h 707686"/>
              <a:gd name="connsiteX3-111" fmla="*/ 1659303 w 2537015"/>
              <a:gd name="connsiteY3-112" fmla="*/ 707686 h 707686"/>
              <a:gd name="connsiteX4-113" fmla="*/ 0 w 2537015"/>
              <a:gd name="connsiteY4-114" fmla="*/ 707686 h 707686"/>
              <a:gd name="connsiteX0-115" fmla="*/ 0 w 2537015"/>
              <a:gd name="connsiteY0-116" fmla="*/ 707686 h 707686"/>
              <a:gd name="connsiteX1-117" fmla="*/ 8282 w 2537015"/>
              <a:gd name="connsiteY1-118" fmla="*/ 0 h 707686"/>
              <a:gd name="connsiteX2-119" fmla="*/ 2537015 w 2537015"/>
              <a:gd name="connsiteY2-120" fmla="*/ 0 h 707686"/>
              <a:gd name="connsiteX3-121" fmla="*/ 1869165 w 2537015"/>
              <a:gd name="connsiteY3-122" fmla="*/ 707686 h 707686"/>
              <a:gd name="connsiteX4-123" fmla="*/ 0 w 2537015"/>
              <a:gd name="connsiteY4-124" fmla="*/ 707686 h 7076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37015" h="707686">
                <a:moveTo>
                  <a:pt x="0" y="707686"/>
                </a:moveTo>
                <a:cubicBezTo>
                  <a:pt x="2761" y="471791"/>
                  <a:pt x="5521" y="235895"/>
                  <a:pt x="8282" y="0"/>
                </a:cubicBezTo>
                <a:lnTo>
                  <a:pt x="2537015" y="0"/>
                </a:lnTo>
                <a:lnTo>
                  <a:pt x="1869165" y="707686"/>
                </a:lnTo>
                <a:lnTo>
                  <a:pt x="0" y="707686"/>
                </a:lnTo>
                <a:close/>
              </a:path>
            </a:pathLst>
          </a:custGeom>
          <a:solidFill>
            <a:srgbClr val="F694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p>
        </p:txBody>
      </p:sp>
      <p:cxnSp>
        <p:nvCxnSpPr>
          <p:cNvPr id="9" name="直接连接符 8"/>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lstStyle>
            <a:lvl1pPr>
              <a:defRPr b="1">
                <a:latin typeface="黑体" panose="02010609060101010101" pitchFamily="49" charset="-122"/>
                <a:ea typeface="黑体" panose="02010609060101010101" pitchFamily="49" charset="-122"/>
              </a:defRPr>
            </a:lvl1p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lvl1pPr>
              <a:defRPr sz="2800" b="1">
                <a:latin typeface="黑体" panose="02010609060101010101" pitchFamily="49" charset="-122"/>
                <a:ea typeface="黑体" panose="02010609060101010101" pitchFamily="49" charset="-122"/>
              </a:defRPr>
            </a:lvl1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日期占位符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pPr>
              <a:defRPr/>
            </a:pPr>
            <a:fld id="{E03C2985-DA0A-423A-A02E-2E38F06C445F}" type="datetime1">
              <a:rPr lang="zh-CN" altLang="en-US" smtClean="0"/>
            </a:fld>
            <a:endParaRPr lang="en-US" altLang="zh-CN"/>
          </a:p>
        </p:txBody>
      </p:sp>
      <p:sp>
        <p:nvSpPr>
          <p:cNvPr id="5" name="页脚占位符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pPr>
              <a:defRPr/>
            </a:pPr>
            <a:endParaRPr lang="en-US" altLang="zh-CN"/>
          </a:p>
        </p:txBody>
      </p:sp>
      <p:sp>
        <p:nvSpPr>
          <p:cNvPr id="6" name="灯片编号占位符 5"/>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pPr>
              <a:defRPr/>
            </a:pPr>
            <a:fld id="{A60C455B-B212-44F5-BDE5-4E865130930B}" type="slidenum">
              <a:rPr lang="en-US" altLang="zh-CN" smtClean="0"/>
            </a:fld>
            <a:endParaRPr lang="en-US" altLang="zh-CN"/>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auto"/>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lstStyle/>
          <a:p>
            <a:pPr>
              <a:defRPr/>
            </a:pPr>
            <a:fld id="{6FB7352C-3D72-49DD-AA22-11A40F7EDD3F}" type="datetime1">
              <a:rPr lang="zh-CN" altLang="en-US" smtClean="0"/>
            </a:fld>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lstStyle/>
          <a:p>
            <a:pPr>
              <a:defRPr/>
            </a:pPr>
            <a:fld id="{D41953FA-5DB8-4030-80BD-DF448571A828}" type="datetime1">
              <a:rPr lang="zh-CN" altLang="en-US" smtClean="0"/>
            </a:fld>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lstStyle/>
          <a:p>
            <a:pPr>
              <a:defRPr/>
            </a:pPr>
            <a:fld id="{B7D03E33-E1A8-40A9-B401-87A197CE39D6}" type="datetime1">
              <a:rPr lang="zh-CN" altLang="en-US" smtClean="0"/>
            </a:fld>
            <a:endParaRPr lang="en-US" altLang="zh-CN"/>
          </a:p>
        </p:txBody>
      </p:sp>
      <p:sp>
        <p:nvSpPr>
          <p:cNvPr id="8" name="页脚占位符 7"/>
          <p:cNvSpPr>
            <a:spLocks noGrp="1"/>
          </p:cNvSpPr>
          <p:nvPr>
            <p:ph type="ftr" sz="quarter" idx="11"/>
          </p:nvPr>
        </p:nvSpPr>
        <p:spPr/>
        <p:txBody>
          <a:bodyPr/>
          <a:lstStyle/>
          <a:p>
            <a:pPr>
              <a:defRPr/>
            </a:pPr>
            <a:endParaRPr lang="en-US" altLang="zh-CN"/>
          </a:p>
        </p:txBody>
      </p:sp>
      <p:sp>
        <p:nvSpPr>
          <p:cNvPr id="9" name="灯片编号占位符 8"/>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7" name="矩形 6"/>
          <p:cNvSpPr/>
          <p:nvPr/>
        </p:nvSpPr>
        <p:spPr>
          <a:xfrm>
            <a:off x="0" y="0"/>
            <a:ext cx="9144000" cy="692696"/>
          </a:xfrm>
          <a:prstGeom prst="rect">
            <a:avLst/>
          </a:prstGeom>
          <a:gradFill>
            <a:gsLst>
              <a:gs pos="0">
                <a:schemeClr val="bg1">
                  <a:lumMod val="50000"/>
                </a:schemeClr>
              </a:gs>
              <a:gs pos="100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fontAlgn="auto"/>
            <a:endParaRPr lang="zh-CN" altLang="en-US" strike="noStrike" noProof="1"/>
          </a:p>
        </p:txBody>
      </p:sp>
      <p:sp>
        <p:nvSpPr>
          <p:cNvPr id="6" name="平行四边形 49"/>
          <p:cNvSpPr/>
          <p:nvPr/>
        </p:nvSpPr>
        <p:spPr>
          <a:xfrm>
            <a:off x="-30162" y="-14287"/>
            <a:ext cx="2536825" cy="706438"/>
          </a:xfrm>
          <a:custGeom>
            <a:avLst/>
            <a:gdLst>
              <a:gd name="connsiteX0" fmla="*/ 0 w 1547664"/>
              <a:gd name="connsiteY0" fmla="*/ 692696 h 692696"/>
              <a:gd name="connsiteX1" fmla="*/ 173174 w 1547664"/>
              <a:gd name="connsiteY1" fmla="*/ 0 h 692696"/>
              <a:gd name="connsiteX2" fmla="*/ 1547664 w 1547664"/>
              <a:gd name="connsiteY2" fmla="*/ 0 h 692696"/>
              <a:gd name="connsiteX3" fmla="*/ 1374490 w 1547664"/>
              <a:gd name="connsiteY3" fmla="*/ 692696 h 692696"/>
              <a:gd name="connsiteX4" fmla="*/ 0 w 1547664"/>
              <a:gd name="connsiteY4" fmla="*/ 692696 h 692696"/>
              <a:gd name="connsiteX0-1" fmla="*/ 61228 w 1608892"/>
              <a:gd name="connsiteY0-2" fmla="*/ 722676 h 722676"/>
              <a:gd name="connsiteX1-3" fmla="*/ 234402 w 1608892"/>
              <a:gd name="connsiteY1-4" fmla="*/ 29980 h 722676"/>
              <a:gd name="connsiteX2-5" fmla="*/ 1267 w 1608892"/>
              <a:gd name="connsiteY2-6" fmla="*/ 0 h 722676"/>
              <a:gd name="connsiteX3-7" fmla="*/ 1608892 w 1608892"/>
              <a:gd name="connsiteY3-8" fmla="*/ 29980 h 722676"/>
              <a:gd name="connsiteX4-9" fmla="*/ 1435718 w 1608892"/>
              <a:gd name="connsiteY4-10" fmla="*/ 722676 h 722676"/>
              <a:gd name="connsiteX5" fmla="*/ 61228 w 1608892"/>
              <a:gd name="connsiteY5" fmla="*/ 722676 h 722676"/>
              <a:gd name="connsiteX0-11" fmla="*/ 63273 w 1610937"/>
              <a:gd name="connsiteY0-12" fmla="*/ 722676 h 722676"/>
              <a:gd name="connsiteX1-13" fmla="*/ 56565 w 1610937"/>
              <a:gd name="connsiteY1-14" fmla="*/ 44970 h 722676"/>
              <a:gd name="connsiteX2-15" fmla="*/ 3312 w 1610937"/>
              <a:gd name="connsiteY2-16" fmla="*/ 0 h 722676"/>
              <a:gd name="connsiteX3-17" fmla="*/ 1610937 w 1610937"/>
              <a:gd name="connsiteY3-18" fmla="*/ 29980 h 722676"/>
              <a:gd name="connsiteX4-19" fmla="*/ 1437763 w 1610937"/>
              <a:gd name="connsiteY4-20" fmla="*/ 722676 h 722676"/>
              <a:gd name="connsiteX5-21" fmla="*/ 63273 w 1610937"/>
              <a:gd name="connsiteY5-22" fmla="*/ 722676 h 722676"/>
              <a:gd name="connsiteX0-23" fmla="*/ 63273 w 2075632"/>
              <a:gd name="connsiteY0-24" fmla="*/ 722676 h 722676"/>
              <a:gd name="connsiteX1-25" fmla="*/ 56565 w 2075632"/>
              <a:gd name="connsiteY1-26" fmla="*/ 44970 h 722676"/>
              <a:gd name="connsiteX2-27" fmla="*/ 3312 w 2075632"/>
              <a:gd name="connsiteY2-28" fmla="*/ 0 h 722676"/>
              <a:gd name="connsiteX3-29" fmla="*/ 2075632 w 2075632"/>
              <a:gd name="connsiteY3-30" fmla="*/ 29980 h 722676"/>
              <a:gd name="connsiteX4-31" fmla="*/ 1437763 w 2075632"/>
              <a:gd name="connsiteY4-32" fmla="*/ 722676 h 722676"/>
              <a:gd name="connsiteX5-33" fmla="*/ 63273 w 2075632"/>
              <a:gd name="connsiteY5-34" fmla="*/ 722676 h 722676"/>
              <a:gd name="connsiteX0-35" fmla="*/ 6708 w 2019067"/>
              <a:gd name="connsiteY0-36" fmla="*/ 771160 h 771160"/>
              <a:gd name="connsiteX1-37" fmla="*/ 0 w 2019067"/>
              <a:gd name="connsiteY1-38" fmla="*/ 93454 h 771160"/>
              <a:gd name="connsiteX2-39" fmla="*/ 2019067 w 2019067"/>
              <a:gd name="connsiteY2-40" fmla="*/ 78464 h 771160"/>
              <a:gd name="connsiteX3-41" fmla="*/ 1381198 w 2019067"/>
              <a:gd name="connsiteY3-42" fmla="*/ 771160 h 771160"/>
              <a:gd name="connsiteX4-43" fmla="*/ 6708 w 2019067"/>
              <a:gd name="connsiteY4-44" fmla="*/ 771160 h 771160"/>
              <a:gd name="connsiteX0-45" fmla="*/ 6708 w 2019067"/>
              <a:gd name="connsiteY0-46" fmla="*/ 740785 h 740785"/>
              <a:gd name="connsiteX1-47" fmla="*/ 0 w 2019067"/>
              <a:gd name="connsiteY1-48" fmla="*/ 63079 h 740785"/>
              <a:gd name="connsiteX2-49" fmla="*/ 2019067 w 2019067"/>
              <a:gd name="connsiteY2-50" fmla="*/ 48089 h 740785"/>
              <a:gd name="connsiteX3-51" fmla="*/ 1381198 w 2019067"/>
              <a:gd name="connsiteY3-52" fmla="*/ 740785 h 740785"/>
              <a:gd name="connsiteX4-53" fmla="*/ 6708 w 2019067"/>
              <a:gd name="connsiteY4-54" fmla="*/ 740785 h 740785"/>
              <a:gd name="connsiteX0-55" fmla="*/ 6708 w 2019067"/>
              <a:gd name="connsiteY0-56" fmla="*/ 692696 h 692696"/>
              <a:gd name="connsiteX1-57" fmla="*/ 0 w 2019067"/>
              <a:gd name="connsiteY1-58" fmla="*/ 14990 h 692696"/>
              <a:gd name="connsiteX2-59" fmla="*/ 2019067 w 2019067"/>
              <a:gd name="connsiteY2-60" fmla="*/ 0 h 692696"/>
              <a:gd name="connsiteX3-61" fmla="*/ 1381198 w 2019067"/>
              <a:gd name="connsiteY3-62" fmla="*/ 692696 h 692696"/>
              <a:gd name="connsiteX4-63" fmla="*/ 6708 w 2019067"/>
              <a:gd name="connsiteY4-64" fmla="*/ 692696 h 692696"/>
              <a:gd name="connsiteX0-65" fmla="*/ 21698 w 2034057"/>
              <a:gd name="connsiteY0-66" fmla="*/ 707686 h 707686"/>
              <a:gd name="connsiteX1-67" fmla="*/ 0 w 2034057"/>
              <a:gd name="connsiteY1-68" fmla="*/ 0 h 707686"/>
              <a:gd name="connsiteX2-69" fmla="*/ 2034057 w 2034057"/>
              <a:gd name="connsiteY2-70" fmla="*/ 14990 h 707686"/>
              <a:gd name="connsiteX3-71" fmla="*/ 1396188 w 2034057"/>
              <a:gd name="connsiteY3-72" fmla="*/ 707686 h 707686"/>
              <a:gd name="connsiteX4-73" fmla="*/ 21698 w 2034057"/>
              <a:gd name="connsiteY4-74" fmla="*/ 707686 h 707686"/>
              <a:gd name="connsiteX0-75" fmla="*/ 0 w 2042339"/>
              <a:gd name="connsiteY0-76" fmla="*/ 707686 h 707686"/>
              <a:gd name="connsiteX1-77" fmla="*/ 8282 w 2042339"/>
              <a:gd name="connsiteY1-78" fmla="*/ 0 h 707686"/>
              <a:gd name="connsiteX2-79" fmla="*/ 2042339 w 2042339"/>
              <a:gd name="connsiteY2-80" fmla="*/ 14990 h 707686"/>
              <a:gd name="connsiteX3-81" fmla="*/ 1404470 w 2042339"/>
              <a:gd name="connsiteY3-82" fmla="*/ 707686 h 707686"/>
              <a:gd name="connsiteX4-83" fmla="*/ 0 w 2042339"/>
              <a:gd name="connsiteY4-84" fmla="*/ 707686 h 707686"/>
              <a:gd name="connsiteX0-85" fmla="*/ 0 w 2042339"/>
              <a:gd name="connsiteY0-86" fmla="*/ 707686 h 707686"/>
              <a:gd name="connsiteX1-87" fmla="*/ 8282 w 2042339"/>
              <a:gd name="connsiteY1-88" fmla="*/ 0 h 707686"/>
              <a:gd name="connsiteX2-89" fmla="*/ 2042339 w 2042339"/>
              <a:gd name="connsiteY2-90" fmla="*/ 14990 h 707686"/>
              <a:gd name="connsiteX3-91" fmla="*/ 1659303 w 2042339"/>
              <a:gd name="connsiteY3-92" fmla="*/ 707686 h 707686"/>
              <a:gd name="connsiteX4-93" fmla="*/ 0 w 2042339"/>
              <a:gd name="connsiteY4-94" fmla="*/ 707686 h 707686"/>
              <a:gd name="connsiteX0-95" fmla="*/ 0 w 2297172"/>
              <a:gd name="connsiteY0-96" fmla="*/ 707686 h 707686"/>
              <a:gd name="connsiteX1-97" fmla="*/ 8282 w 2297172"/>
              <a:gd name="connsiteY1-98" fmla="*/ 0 h 707686"/>
              <a:gd name="connsiteX2-99" fmla="*/ 2297172 w 2297172"/>
              <a:gd name="connsiteY2-100" fmla="*/ 0 h 707686"/>
              <a:gd name="connsiteX3-101" fmla="*/ 1659303 w 2297172"/>
              <a:gd name="connsiteY3-102" fmla="*/ 707686 h 707686"/>
              <a:gd name="connsiteX4-103" fmla="*/ 0 w 2297172"/>
              <a:gd name="connsiteY4-104" fmla="*/ 707686 h 707686"/>
              <a:gd name="connsiteX0-105" fmla="*/ 0 w 2537015"/>
              <a:gd name="connsiteY0-106" fmla="*/ 707686 h 707686"/>
              <a:gd name="connsiteX1-107" fmla="*/ 8282 w 2537015"/>
              <a:gd name="connsiteY1-108" fmla="*/ 0 h 707686"/>
              <a:gd name="connsiteX2-109" fmla="*/ 2537015 w 2537015"/>
              <a:gd name="connsiteY2-110" fmla="*/ 0 h 707686"/>
              <a:gd name="connsiteX3-111" fmla="*/ 1659303 w 2537015"/>
              <a:gd name="connsiteY3-112" fmla="*/ 707686 h 707686"/>
              <a:gd name="connsiteX4-113" fmla="*/ 0 w 2537015"/>
              <a:gd name="connsiteY4-114" fmla="*/ 707686 h 707686"/>
              <a:gd name="connsiteX0-115" fmla="*/ 0 w 2537015"/>
              <a:gd name="connsiteY0-116" fmla="*/ 707686 h 707686"/>
              <a:gd name="connsiteX1-117" fmla="*/ 8282 w 2537015"/>
              <a:gd name="connsiteY1-118" fmla="*/ 0 h 707686"/>
              <a:gd name="connsiteX2-119" fmla="*/ 2537015 w 2537015"/>
              <a:gd name="connsiteY2-120" fmla="*/ 0 h 707686"/>
              <a:gd name="connsiteX3-121" fmla="*/ 1869165 w 2537015"/>
              <a:gd name="connsiteY3-122" fmla="*/ 707686 h 707686"/>
              <a:gd name="connsiteX4-123" fmla="*/ 0 w 2537015"/>
              <a:gd name="connsiteY4-124" fmla="*/ 707686 h 70768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537015" h="707686">
                <a:moveTo>
                  <a:pt x="0" y="707686"/>
                </a:moveTo>
                <a:cubicBezTo>
                  <a:pt x="2761" y="471791"/>
                  <a:pt x="5521" y="235895"/>
                  <a:pt x="8282" y="0"/>
                </a:cubicBezTo>
                <a:lnTo>
                  <a:pt x="2537015" y="0"/>
                </a:lnTo>
                <a:lnTo>
                  <a:pt x="1869165" y="707686"/>
                </a:lnTo>
                <a:lnTo>
                  <a:pt x="0" y="707686"/>
                </a:lnTo>
                <a:close/>
              </a:path>
            </a:pathLst>
          </a:custGeom>
          <a:solidFill>
            <a:srgbClr val="F6941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a:p>
        </p:txBody>
      </p:sp>
      <p:cxnSp>
        <p:nvCxnSpPr>
          <p:cNvPr id="8" name="直接连接符 7"/>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3589040" y="0"/>
            <a:ext cx="5554960" cy="692696"/>
          </a:xfrm>
        </p:spPr>
        <p:txBody>
          <a:bodyPr>
            <a:noAutofit/>
          </a:bodyPr>
          <a:lstStyle>
            <a:lvl1pPr algn="r">
              <a:defRPr sz="360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defRPr>
            </a:lvl1pPr>
          </a:lstStyle>
          <a:p>
            <a:pPr fontAlgn="auto"/>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pPr>
              <a:defRPr/>
            </a:pPr>
            <a:fld id="{702554A5-A581-4AB9-AEA0-FA3C5F0DF619}" type="datetime1">
              <a:rPr lang="zh-CN" altLang="en-US" smtClean="0"/>
            </a:fld>
            <a:endParaRPr lang="en-US" altLang="zh-CN"/>
          </a:p>
        </p:txBody>
      </p:sp>
      <p:sp>
        <p:nvSpPr>
          <p:cNvPr id="4" name="页脚占位符 3"/>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pPr>
              <a:defRPr/>
            </a:pPr>
            <a:endParaRPr lang="en-US" altLang="zh-CN"/>
          </a:p>
        </p:txBody>
      </p:sp>
      <p:sp>
        <p:nvSpPr>
          <p:cNvPr id="5" name="灯片编号占位符 4"/>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pPr>
              <a:defRPr/>
            </a:pPr>
            <a:fld id="{A60C455B-B212-44F5-BDE5-4E865130930B}" type="slidenum">
              <a:rPr lang="en-US" altLang="zh-CN" smtClean="0"/>
            </a:fld>
            <a:endParaRPr lang="en-US" altLang="zh-CN"/>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pattFill prst="smGrid">
          <a:fgClr>
            <a:srgbClr val="F2F2F2"/>
          </a:fgClr>
          <a:bgClr>
            <a:schemeClr val="bg1"/>
          </a:bgClr>
        </a:pattFill>
        <a:effectLst/>
      </p:bgPr>
    </p:bg>
    <p:spTree>
      <p:nvGrpSpPr>
        <p:cNvPr id="1" name=""/>
        <p:cNvGrpSpPr/>
        <p:nvPr/>
      </p:nvGrpSpPr>
      <p:grpSpPr>
        <a:xfrm>
          <a:off x="0" y="0"/>
          <a:ext cx="0" cy="0"/>
          <a:chOff x="0" y="0"/>
          <a:chExt cx="0" cy="0"/>
        </a:xfrm>
      </p:grpSpPr>
      <p:cxnSp>
        <p:nvCxnSpPr>
          <p:cNvPr id="7" name="直接连接符 6"/>
          <p:cNvCxnSpPr/>
          <p:nvPr/>
        </p:nvCxnSpPr>
        <p:spPr>
          <a:xfrm flipH="1">
            <a:off x="7864321" y="5431711"/>
            <a:ext cx="1019148" cy="1145940"/>
          </a:xfrm>
          <a:prstGeom prst="line">
            <a:avLst/>
          </a:prstGeom>
          <a:ln w="12700">
            <a:gradFill>
              <a:gsLst>
                <a:gs pos="1250">
                  <a:schemeClr val="bg1">
                    <a:lumMod val="65000"/>
                    <a:alpha val="0"/>
                  </a:schemeClr>
                </a:gs>
                <a:gs pos="100000">
                  <a:schemeClr val="bg1">
                    <a:lumMod val="65000"/>
                    <a:alpha val="0"/>
                  </a:schemeClr>
                </a:gs>
                <a:gs pos="50000">
                  <a:schemeClr val="tx1">
                    <a:lumMod val="95000"/>
                    <a:lumOff val="5000"/>
                  </a:schemeClr>
                </a:gs>
                <a:gs pos="100000">
                  <a:schemeClr val="bg1">
                    <a:lumMod val="65000"/>
                    <a:alpha val="0"/>
                  </a:schemeClr>
                </a:gs>
              </a:gsLst>
              <a:lin ang="0" scaled="0"/>
            </a:gradFill>
          </a:ln>
          <a:effectLst>
            <a:outerShdw blurRad="63500" dist="25400" dir="5400000" sx="170000" sy="170000" algn="ctr" rotWithShape="0">
              <a:schemeClr val="tx1">
                <a:alpha val="92000"/>
              </a:schemeClr>
            </a:outerShdw>
          </a:effectLst>
        </p:spPr>
        <p:style>
          <a:lnRef idx="1">
            <a:schemeClr val="accent1"/>
          </a:lnRef>
          <a:fillRef idx="0">
            <a:schemeClr val="accent1"/>
          </a:fillRef>
          <a:effectRef idx="0">
            <a:schemeClr val="accent1"/>
          </a:effectRef>
          <a:fontRef idx="minor">
            <a:schemeClr val="tx1"/>
          </a:fontRef>
        </p:style>
      </p:cxnSp>
      <p:sp>
        <p:nvSpPr>
          <p:cNvPr id="2" name="日期占位符 1"/>
          <p:cNvSpPr>
            <a:spLocks noGrp="1"/>
          </p:cNvSpPr>
          <p:nvPr>
            <p:ph type="dt" sz="half" idx="10"/>
          </p:nvPr>
        </p:nvSpPr>
        <p:spPr>
          <a:xfrm>
            <a:off x="457200" y="6356350"/>
            <a:ext cx="2133600" cy="365125"/>
          </a:xfrm>
          <a:prstGeom prst="rect">
            <a:avLst/>
          </a:prstGeom>
        </p:spPr>
        <p:txBody>
          <a:bodyPr vert="horz" lIns="91440" tIns="45720" rIns="91440" bIns="45720" rtlCol="0" anchor="ctr"/>
          <a:lstStyle/>
          <a:p>
            <a:pPr>
              <a:defRPr/>
            </a:pPr>
            <a:fld id="{9891A0AF-8D07-42A7-B1EB-C2BD93C0D5E5}" type="datetime1">
              <a:rPr lang="zh-CN" altLang="en-US" smtClean="0"/>
            </a:fld>
            <a:endParaRPr lang="en-US" altLang="zh-CN"/>
          </a:p>
        </p:txBody>
      </p:sp>
      <p:sp>
        <p:nvSpPr>
          <p:cNvPr id="3" name="页脚占位符 2"/>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p>
            <a:pPr>
              <a:defRPr/>
            </a:pPr>
            <a:endParaRPr lang="en-US" altLang="zh-CN"/>
          </a:p>
        </p:txBody>
      </p:sp>
      <p:sp>
        <p:nvSpPr>
          <p:cNvPr id="4" name="灯片编号占位符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p>
            <a:pPr>
              <a:defRPr/>
            </a:pPr>
            <a:fld id="{A60C455B-B212-44F5-BDE5-4E865130930B}" type="slidenum">
              <a:rPr lang="en-US" altLang="zh-CN" smtClean="0"/>
            </a:fld>
            <a:endParaRPr lang="en-US" altLang="zh-CN"/>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pPr>
              <a:defRPr/>
            </a:pPr>
            <a:fld id="{89A53FDE-4960-4598-8A19-D798676052A7}" type="datetime1">
              <a:rPr lang="zh-CN" altLang="en-US" smtClean="0"/>
            </a:fld>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auto"/>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fontAlgn="auto"/>
            <a:endParaRPr lang="zh-CN" altLang="en-US" strike="noStrike" noProof="1"/>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auto"/>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pPr>
              <a:defRPr/>
            </a:pPr>
            <a:fld id="{64EC92D9-5065-4D74-9A70-DE43FE41D507}" type="datetime1">
              <a:rPr lang="zh-CN" altLang="en-US" smtClean="0"/>
            </a:fld>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a:defRPr/>
            </a:pPr>
            <a:fld id="{78D7EF7E-B2EB-447F-B03C-8795FC4C954A}" type="datetime1">
              <a:rPr lang="zh-CN" altLang="en-US" smtClean="0"/>
            </a:fld>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p:spPr>
        <p:txBody>
          <a:bodyPr vert="eaVert"/>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a:defRPr/>
            </a:pPr>
            <a:fld id="{FC685964-C6AF-40EC-BE1A-7FA689D160D4}" type="datetime1">
              <a:rPr lang="zh-CN" altLang="en-US" smtClean="0"/>
            </a:fld>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smGrid">
          <a:fgClr>
            <a:srgbClr val="F2F2F2"/>
          </a:fgClr>
          <a:bgClr>
            <a:schemeClr val="bg1"/>
          </a:bgClr>
        </a:patt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vert="horz" lIns="91440" tIns="45720" rIns="91440" bIns="45720" anchor="ctr" anchorCtr="0"/>
          <a:lstStyle/>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vert="horz" lIns="91440" tIns="45720" rIns="91440" bIns="45720" anchor="t" anchorCtr="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7332379-8504-4B52-80B8-13CE9A735353}" type="datetime1">
              <a:rPr lang="zh-CN" altLang="en-US" smtClean="0"/>
            </a:fld>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A60C455B-B212-44F5-BDE5-4E865130930B}"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5.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1.png"/><Relationship Id="rId1" Type="http://schemas.openxmlformats.org/officeDocument/2006/relationships/image" Target="../media/image10.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6.xml"/><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6.xml"/><Relationship Id="rId1" Type="http://schemas.openxmlformats.org/officeDocument/2006/relationships/image" Target="../media/image16.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6.xml"/><Relationship Id="rId2" Type="http://schemas.openxmlformats.org/officeDocument/2006/relationships/image" Target="../media/image18.png"/><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20.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15950" y="2304415"/>
            <a:ext cx="7772400" cy="1470025"/>
          </a:xfrm>
          <a:ln>
            <a:miter lim="800000"/>
          </a:ln>
        </p:spPr>
        <p:txBody>
          <a:bodyPr vert="horz" wrap="square" lIns="91440" tIns="45720" rIns="91440" bIns="45720" numCol="1" rtlCol="0" anchor="ctr" anchorCtr="0" compatLnSpc="1">
            <a:no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US" altLang="zh-CN" sz="4400" b="1" i="0" u="none" strike="noStrike" kern="1200" cap="none" spc="0" normalizeH="0" baseline="0" noProof="0" dirty="0">
                <a:ln>
                  <a:noFill/>
                </a:ln>
                <a:solidFill>
                  <a:srgbClr val="2C2C2C"/>
                </a:solidFill>
                <a:effectLst>
                  <a:outerShdw blurRad="38100" dist="38100" dir="2700000" algn="tl">
                    <a:srgbClr val="000000">
                      <a:alpha val="43137"/>
                    </a:srgbClr>
                  </a:outerShdw>
                </a:effectLst>
                <a:uLnTx/>
                <a:uFillTx/>
                <a:latin typeface="+mj-ea"/>
                <a:cs typeface="+mj-cs"/>
              </a:rPr>
              <a:t>课程简介及基础知识</a:t>
            </a:r>
            <a:endParaRPr kumimoji="0" lang="en-US" altLang="zh-CN" sz="4400" b="1" i="0" u="none" strike="noStrike" kern="1200" cap="none" spc="0" normalizeH="0" baseline="0" noProof="0" dirty="0">
              <a:ln>
                <a:noFill/>
              </a:ln>
              <a:solidFill>
                <a:srgbClr val="2C2C2C"/>
              </a:solidFill>
              <a:effectLst>
                <a:outerShdw blurRad="38100" dist="38100" dir="2700000" algn="tl">
                  <a:srgbClr val="000000">
                    <a:alpha val="43137"/>
                  </a:srgbClr>
                </a:outerShdw>
              </a:effectLst>
              <a:uLnTx/>
              <a:uFillTx/>
              <a:latin typeface="+mj-ea"/>
              <a:cs typeface="+mj-cs"/>
            </a:endParaRPr>
          </a:p>
        </p:txBody>
      </p:sp>
      <p:sp>
        <p:nvSpPr>
          <p:cNvPr id="8" name="圆角矩形 7"/>
          <p:cNvSpPr/>
          <p:nvPr/>
        </p:nvSpPr>
        <p:spPr>
          <a:xfrm>
            <a:off x="809624" y="974725"/>
            <a:ext cx="7473952" cy="1158875"/>
          </a:xfrm>
          <a:prstGeom prst="roundRect">
            <a:avLst>
              <a:gd name="adj" fmla="val 9948"/>
            </a:avLst>
          </a:prstGeom>
          <a:noFill/>
          <a:ln w="25400">
            <a:solidFill>
              <a:srgbClr val="F69418"/>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sz="3200" b="1" dirty="0" err="1">
                <a:solidFill>
                  <a:srgbClr val="F69418"/>
                </a:solidFill>
                <a:latin typeface="Times New Roman" panose="02020603050405020304" pitchFamily="18" charset="0"/>
                <a:ea typeface="黑体" panose="02010609060101010101" pitchFamily="49" charset="-122"/>
                <a:cs typeface="Times New Roman" panose="02020603050405020304" pitchFamily="18" charset="0"/>
              </a:rPr>
              <a:t>形式语言与自动机</a:t>
            </a:r>
            <a:endParaRPr lang="en-US" altLang="zh-CN" sz="3200" b="1" dirty="0">
              <a:solidFill>
                <a:srgbClr val="F69418"/>
              </a:solidFill>
              <a:latin typeface="Times New Roman" panose="02020603050405020304" pitchFamily="18" charset="0"/>
              <a:ea typeface="黑体" panose="02010609060101010101" pitchFamily="49" charset="-122"/>
              <a:cs typeface="Times New Roman" panose="02020603050405020304" pitchFamily="18" charset="0"/>
            </a:endParaRPr>
          </a:p>
          <a:p>
            <a:pPr algn="ctr"/>
            <a:r>
              <a:rPr lang="en-US" altLang="zh-CN" sz="3200" b="1" dirty="0">
                <a:solidFill>
                  <a:srgbClr val="F69418"/>
                </a:solidFill>
                <a:latin typeface="Times New Roman" panose="02020603050405020304" pitchFamily="18" charset="0"/>
                <a:ea typeface="黑体" panose="02010609060101010101" pitchFamily="49" charset="-122"/>
                <a:cs typeface="Times New Roman" panose="02020603050405020304" pitchFamily="18" charset="0"/>
              </a:rPr>
              <a:t>Formal Languages and Automata Theory</a:t>
            </a:r>
            <a:endParaRPr lang="en-US" altLang="zh-CN" sz="3200" b="1" dirty="0">
              <a:solidFill>
                <a:srgbClr val="F69418"/>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5126" name="组合 9"/>
          <p:cNvGrpSpPr/>
          <p:nvPr/>
        </p:nvGrpSpPr>
        <p:grpSpPr>
          <a:xfrm>
            <a:off x="0" y="5030788"/>
            <a:ext cx="8699500" cy="1117600"/>
            <a:chOff x="0" y="5030681"/>
            <a:chExt cx="8700121" cy="1116947"/>
          </a:xfrm>
        </p:grpSpPr>
        <p:sp>
          <p:nvSpPr>
            <p:cNvPr id="11" name="矩形 10"/>
            <p:cNvSpPr/>
            <p:nvPr/>
          </p:nvSpPr>
          <p:spPr>
            <a:xfrm>
              <a:off x="0" y="5030681"/>
              <a:ext cx="8700121" cy="1116947"/>
            </a:xfrm>
            <a:prstGeom prst="rect">
              <a:avLst/>
            </a:prstGeom>
            <a:gradFill>
              <a:gsLst>
                <a:gs pos="0">
                  <a:schemeClr val="bg1">
                    <a:lumMod val="50000"/>
                  </a:schemeClr>
                </a:gs>
                <a:gs pos="99000">
                  <a:schemeClr val="bg1">
                    <a:lumMod val="75000"/>
                  </a:schemeClr>
                </a:gs>
              </a:gsLst>
              <a:path path="circle">
                <a:fillToRect l="100000" t="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2" name="TextBox 11"/>
            <p:cNvSpPr txBox="1"/>
            <p:nvPr/>
          </p:nvSpPr>
          <p:spPr>
            <a:xfrm>
              <a:off x="6647337" y="5345000"/>
              <a:ext cx="2040083" cy="461395"/>
            </a:xfrm>
            <a:prstGeom prst="rect">
              <a:avLst/>
            </a:prstGeom>
            <a:noFill/>
          </p:spPr>
          <p:txBody>
            <a:bodyPr>
              <a:spAutoFit/>
            </a:bodyPr>
            <a:lstStyle/>
            <a:p>
              <a:pPr marR="0" algn="ctr" defTabSz="914400">
                <a:buClrTx/>
                <a:buSzTx/>
                <a:buFontTx/>
                <a:defRPr/>
              </a:pPr>
              <a:r>
                <a:rPr kumimoji="0" lang="zh-CN" altLang="en-US" sz="2400" b="1" kern="1200" cap="none" spc="600" normalizeH="0" baseline="0" noProof="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汤步洲</a:t>
              </a:r>
              <a:r>
                <a:rPr kumimoji="0" lang="en-US" altLang="zh-CN" sz="2400" b="1" kern="1200" cap="none" spc="600" normalizeH="0" baseline="0" noProof="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endParaRPr kumimoji="0" lang="zh-CN" altLang="en-US" sz="2400" b="1" kern="1200" cap="none" spc="600" normalizeH="0" baseline="0" noProof="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3" name="组合 12"/>
            <p:cNvGrpSpPr/>
            <p:nvPr/>
          </p:nvGrpSpPr>
          <p:grpSpPr>
            <a:xfrm rot="10800000">
              <a:off x="149602" y="5139274"/>
              <a:ext cx="3166930" cy="810003"/>
              <a:chOff x="2077999" y="5178439"/>
              <a:chExt cx="2948941" cy="683692"/>
            </a:xfrm>
            <a:solidFill>
              <a:schemeClr val="bg1"/>
            </a:solidFill>
          </p:grpSpPr>
          <p:sp>
            <p:nvSpPr>
              <p:cNvPr id="14" name="矩形 13"/>
              <p:cNvSpPr/>
              <p:nvPr/>
            </p:nvSpPr>
            <p:spPr>
              <a:xfrm>
                <a:off x="4662430" y="5178441"/>
                <a:ext cx="364510" cy="683690"/>
              </a:xfrm>
              <a:prstGeom prst="rect">
                <a:avLst/>
              </a:prstGeom>
              <a:solidFill>
                <a:srgbClr val="78AF2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25"/>
              <p:cNvSpPr/>
              <p:nvPr/>
            </p:nvSpPr>
            <p:spPr>
              <a:xfrm>
                <a:off x="2077999" y="5178439"/>
                <a:ext cx="2520000" cy="683178"/>
              </a:xfrm>
              <a:custGeom>
                <a:avLst/>
                <a:gdLst/>
                <a:ahLst/>
                <a:cxnLst/>
                <a:rect l="l" t="t" r="r" b="b"/>
                <a:pathLst>
                  <a:path w="3995780" h="1199745">
                    <a:moveTo>
                      <a:pt x="3696727" y="760691"/>
                    </a:moveTo>
                    <a:lnTo>
                      <a:pt x="1033246" y="760691"/>
                    </a:lnTo>
                    <a:lnTo>
                      <a:pt x="1029703" y="940654"/>
                    </a:lnTo>
                    <a:lnTo>
                      <a:pt x="3696727" y="940654"/>
                    </a:lnTo>
                    <a:close/>
                    <a:moveTo>
                      <a:pt x="3700429" y="298400"/>
                    </a:moveTo>
                    <a:lnTo>
                      <a:pt x="1042348" y="298400"/>
                    </a:lnTo>
                    <a:lnTo>
                      <a:pt x="1038805" y="478363"/>
                    </a:lnTo>
                    <a:lnTo>
                      <a:pt x="3700429" y="478363"/>
                    </a:lnTo>
                    <a:close/>
                    <a:moveTo>
                      <a:pt x="3995780" y="2065"/>
                    </a:moveTo>
                    <a:lnTo>
                      <a:pt x="3995780" y="1198688"/>
                    </a:lnTo>
                    <a:lnTo>
                      <a:pt x="1024623" y="1198688"/>
                    </a:lnTo>
                    <a:lnTo>
                      <a:pt x="1024602" y="1199745"/>
                    </a:lnTo>
                    <a:lnTo>
                      <a:pt x="1022842" y="1198688"/>
                    </a:lnTo>
                    <a:lnTo>
                      <a:pt x="1014564" y="1198688"/>
                    </a:lnTo>
                    <a:lnTo>
                      <a:pt x="1014564" y="1193714"/>
                    </a:lnTo>
                    <a:lnTo>
                      <a:pt x="0" y="584102"/>
                    </a:lnTo>
                    <a:lnTo>
                      <a:pt x="1014564" y="18756"/>
                    </a:lnTo>
                    <a:lnTo>
                      <a:pt x="1014564" y="2065"/>
                    </a:lnTo>
                    <a:lnTo>
                      <a:pt x="1044517" y="2065"/>
                    </a:lnTo>
                    <a:lnTo>
                      <a:pt x="1048224" y="0"/>
                    </a:lnTo>
                    <a:lnTo>
                      <a:pt x="1048183" y="2065"/>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grpSp>
      <p:sp>
        <p:nvSpPr>
          <p:cNvPr id="3" name="文本框 2"/>
          <p:cNvSpPr txBox="1"/>
          <p:nvPr/>
        </p:nvSpPr>
        <p:spPr>
          <a:xfrm>
            <a:off x="3276600" y="3774440"/>
            <a:ext cx="2540000" cy="645160"/>
          </a:xfrm>
          <a:prstGeom prst="rect">
            <a:avLst/>
          </a:prstGeom>
          <a:noFill/>
        </p:spPr>
        <p:txBody>
          <a:bodyPr wrap="square" rtlCol="0" anchor="t">
            <a:spAutoFit/>
          </a:bodyPr>
          <a:lstStyle/>
          <a:p>
            <a:pPr eaLnBrk="1" hangingPunct="1"/>
            <a:r>
              <a:rPr lang="zh-CN" altLang="en-US" dirty="0">
                <a:latin typeface="楷体" panose="02010609060101010101" pitchFamily="49" charset="-122"/>
                <a:ea typeface="楷体" panose="02010609060101010101" pitchFamily="49" charset="-122"/>
                <a:sym typeface="+mn-ea"/>
              </a:rPr>
              <a:t>计算机科学与技术学院</a:t>
            </a:r>
            <a:endParaRPr lang="en-US" altLang="zh-CN" dirty="0">
              <a:latin typeface="楷体" panose="02010609060101010101" pitchFamily="49" charset="-122"/>
              <a:ea typeface="楷体" panose="02010609060101010101" pitchFamily="49" charset="-122"/>
            </a:endParaRPr>
          </a:p>
          <a:p>
            <a:pPr eaLnBrk="1" hangingPunct="1"/>
            <a:r>
              <a:rPr lang="zh-CN" altLang="en-US" dirty="0">
                <a:latin typeface="楷体" panose="02010609060101010101" pitchFamily="49" charset="-122"/>
                <a:ea typeface="楷体" panose="02010609060101010101" pitchFamily="49" charset="-122"/>
                <a:sym typeface="+mn-ea"/>
              </a:rPr>
              <a:t>哈尔滨工业大学（深圳）</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1675"/>
            <a:ext cx="8229600" cy="1143000"/>
          </a:xfrm>
        </p:spPr>
        <p:txBody>
          <a:bodyPr/>
          <a:lstStyle/>
          <a:p>
            <a:r>
              <a:rPr lang="zh-CN" altLang="en-US" dirty="0"/>
              <a:t>内容大纲</a:t>
            </a:r>
            <a:endParaRPr lang="en-AU" dirty="0"/>
          </a:p>
        </p:txBody>
      </p:sp>
      <p:sp>
        <p:nvSpPr>
          <p:cNvPr id="3" name="Content Placeholder 2"/>
          <p:cNvSpPr>
            <a:spLocks noGrp="1"/>
          </p:cNvSpPr>
          <p:nvPr>
            <p:ph idx="1"/>
          </p:nvPr>
        </p:nvSpPr>
        <p:spPr>
          <a:xfrm>
            <a:off x="457200" y="2027237"/>
            <a:ext cx="8229600" cy="4525963"/>
          </a:xfrm>
        </p:spPr>
        <p:txBody>
          <a:bodyPr/>
          <a:lstStyle/>
          <a:p>
            <a:pPr algn="just">
              <a:buNone/>
            </a:pPr>
            <a:r>
              <a:rPr lang="en-US" altLang="zh-CN" sz="3600" dirty="0">
                <a:latin typeface="Times New Roman" panose="02020603050405020304" pitchFamily="18" charset="0"/>
                <a:ea typeface="宋体" panose="02010600030101010101" pitchFamily="2" charset="-122"/>
              </a:rPr>
              <a:t>(1)  </a:t>
            </a:r>
            <a:r>
              <a:rPr lang="zh-CN" altLang="en-US" sz="3600" dirty="0">
                <a:latin typeface="Times New Roman" panose="02020603050405020304" pitchFamily="18" charset="0"/>
                <a:ea typeface="宋体" panose="02010600030101010101" pitchFamily="2" charset="-122"/>
              </a:rPr>
              <a:t>课程简介</a:t>
            </a:r>
            <a:endParaRPr lang="en-US" altLang="zh-CN" sz="3600" dirty="0">
              <a:latin typeface="Times New Roman" panose="02020603050405020304" pitchFamily="18" charset="0"/>
              <a:ea typeface="宋体" panose="02010600030101010101" pitchFamily="2" charset="-122"/>
            </a:endParaRPr>
          </a:p>
          <a:p>
            <a:pPr algn="just">
              <a:buNone/>
            </a:pPr>
            <a:r>
              <a:rPr lang="en-US" altLang="zh-CN" sz="3600" dirty="0">
                <a:latin typeface="Times New Roman" panose="02020603050405020304" pitchFamily="18" charset="0"/>
                <a:ea typeface="宋体" panose="02010600030101010101" pitchFamily="2" charset="-122"/>
              </a:rPr>
              <a:t>(2)  </a:t>
            </a:r>
            <a:r>
              <a:rPr lang="zh-CN" altLang="en-US" sz="3600" dirty="0">
                <a:latin typeface="Times New Roman" panose="02020603050405020304" pitchFamily="18" charset="0"/>
                <a:ea typeface="宋体" panose="02010600030101010101" pitchFamily="2" charset="-122"/>
              </a:rPr>
              <a:t>课程背景</a:t>
            </a:r>
            <a:endParaRPr lang="zh-CN" altLang="en-US" sz="3600" dirty="0">
              <a:latin typeface="Times New Roman" panose="02020603050405020304" pitchFamily="18" charset="0"/>
              <a:ea typeface="宋体" panose="02010600030101010101" pitchFamily="2" charset="-122"/>
            </a:endParaRPr>
          </a:p>
          <a:p>
            <a:pPr algn="just">
              <a:buNone/>
            </a:pPr>
            <a:r>
              <a:rPr lang="en-US" altLang="zh-CN" sz="3600" dirty="0">
                <a:latin typeface="Times New Roman" panose="02020603050405020304" pitchFamily="18" charset="0"/>
                <a:ea typeface="宋体" panose="02010600030101010101" pitchFamily="2" charset="-122"/>
              </a:rPr>
              <a:t>(3)  </a:t>
            </a:r>
            <a:r>
              <a:rPr lang="zh-CN" altLang="en-US" sz="3600" dirty="0">
                <a:latin typeface="Times New Roman" panose="02020603050405020304" pitchFamily="18" charset="0"/>
                <a:ea typeface="宋体" panose="02010600030101010101" pitchFamily="2" charset="-122"/>
              </a:rPr>
              <a:t>基础知识</a:t>
            </a:r>
            <a:endParaRPr lang="en-US" altLang="zh-CN" sz="3600" dirty="0">
              <a:latin typeface="Times New Roman" panose="02020603050405020304" pitchFamily="18" charset="0"/>
              <a:ea typeface="宋体" panose="02010600030101010101" pitchFamily="2" charset="-122"/>
            </a:endParaRPr>
          </a:p>
          <a:p>
            <a:pPr marL="514350" lvl="2" indent="-514350" algn="just">
              <a:buAutoNum type="arabicParenBoth" startAt="4"/>
            </a:pPr>
            <a:r>
              <a:rPr lang="zh-CN" altLang="en-US" sz="3600" b="1" dirty="0">
                <a:latin typeface="Times New Roman" panose="02020603050405020304" pitchFamily="18" charset="0"/>
                <a:ea typeface="宋体" panose="02010600030101010101" pitchFamily="2" charset="-122"/>
              </a:rPr>
              <a:t>  形式语言与自动机的基本概念</a:t>
            </a:r>
            <a:endParaRPr lang="zh-CN" altLang="en-US" sz="3600" b="1" dirty="0">
              <a:latin typeface="Times New Roman" panose="02020603050405020304" pitchFamily="18" charset="0"/>
              <a:ea typeface="宋体" panose="02010600030101010101" pitchFamily="2" charset="-122"/>
            </a:endParaRPr>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1675"/>
            <a:ext cx="8229600" cy="1143000"/>
          </a:xfrm>
        </p:spPr>
        <p:txBody>
          <a:bodyPr/>
          <a:lstStyle/>
          <a:p>
            <a:r>
              <a:rPr lang="zh-CN" altLang="en-US" dirty="0"/>
              <a:t>内容大纲</a:t>
            </a:r>
            <a:endParaRPr lang="en-AU" dirty="0"/>
          </a:p>
        </p:txBody>
      </p:sp>
      <p:sp>
        <p:nvSpPr>
          <p:cNvPr id="3" name="Content Placeholder 2"/>
          <p:cNvSpPr>
            <a:spLocks noGrp="1"/>
          </p:cNvSpPr>
          <p:nvPr>
            <p:ph idx="1"/>
          </p:nvPr>
        </p:nvSpPr>
        <p:spPr>
          <a:xfrm>
            <a:off x="457200" y="2027237"/>
            <a:ext cx="8229600" cy="4525963"/>
          </a:xfrm>
        </p:spPr>
        <p:txBody>
          <a:bodyPr/>
          <a:lstStyle/>
          <a:p>
            <a:pPr algn="just">
              <a:buNone/>
            </a:pPr>
            <a:r>
              <a:rPr lang="en-US" altLang="zh-CN" sz="3600" dirty="0">
                <a:latin typeface="Times New Roman" panose="02020603050405020304" pitchFamily="18" charset="0"/>
                <a:ea typeface="宋体" panose="02010600030101010101" pitchFamily="2" charset="-122"/>
              </a:rPr>
              <a:t>(1)  </a:t>
            </a:r>
            <a:r>
              <a:rPr lang="zh-CN" altLang="en-US" sz="3600" dirty="0">
                <a:latin typeface="Times New Roman" panose="02020603050405020304" pitchFamily="18" charset="0"/>
                <a:ea typeface="宋体" panose="02010600030101010101" pitchFamily="2" charset="-122"/>
              </a:rPr>
              <a:t>课程简介</a:t>
            </a:r>
            <a:endParaRPr lang="en-US" altLang="zh-CN" sz="3600" dirty="0">
              <a:latin typeface="Times New Roman" panose="02020603050405020304" pitchFamily="18" charset="0"/>
              <a:ea typeface="宋体" panose="02010600030101010101" pitchFamily="2" charset="-122"/>
            </a:endParaRPr>
          </a:p>
          <a:p>
            <a:pPr algn="just">
              <a:buNone/>
            </a:pPr>
            <a:r>
              <a:rPr lang="en-US" altLang="zh-CN" sz="3600" dirty="0">
                <a:solidFill>
                  <a:schemeClr val="bg1">
                    <a:lumMod val="65000"/>
                  </a:schemeClr>
                </a:solidFill>
                <a:latin typeface="Times New Roman" panose="02020603050405020304" pitchFamily="18" charset="0"/>
                <a:ea typeface="宋体" panose="02010600030101010101" pitchFamily="2" charset="-122"/>
              </a:rPr>
              <a:t>(2)  </a:t>
            </a:r>
            <a:r>
              <a:rPr lang="zh-CN" altLang="en-US" sz="3600" dirty="0">
                <a:solidFill>
                  <a:schemeClr val="bg1">
                    <a:lumMod val="65000"/>
                  </a:schemeClr>
                </a:solidFill>
                <a:latin typeface="Times New Roman" panose="02020603050405020304" pitchFamily="18" charset="0"/>
                <a:ea typeface="宋体" panose="02010600030101010101" pitchFamily="2" charset="-122"/>
              </a:rPr>
              <a:t>课程背景</a:t>
            </a:r>
            <a:endParaRPr lang="zh-CN" altLang="en-US" sz="3600" dirty="0">
              <a:solidFill>
                <a:schemeClr val="bg1">
                  <a:lumMod val="65000"/>
                </a:schemeClr>
              </a:solidFill>
              <a:latin typeface="Times New Roman" panose="02020603050405020304" pitchFamily="18" charset="0"/>
              <a:ea typeface="宋体" panose="02010600030101010101" pitchFamily="2" charset="-122"/>
            </a:endParaRPr>
          </a:p>
          <a:p>
            <a:pPr algn="just">
              <a:buNone/>
            </a:pPr>
            <a:r>
              <a:rPr lang="en-US" altLang="zh-CN" sz="3600" dirty="0">
                <a:solidFill>
                  <a:schemeClr val="bg1">
                    <a:lumMod val="65000"/>
                  </a:schemeClr>
                </a:solidFill>
                <a:latin typeface="Times New Roman" panose="02020603050405020304" pitchFamily="18" charset="0"/>
                <a:ea typeface="宋体" panose="02010600030101010101" pitchFamily="2" charset="-122"/>
              </a:rPr>
              <a:t>(3)  </a:t>
            </a:r>
            <a:r>
              <a:rPr lang="zh-CN" altLang="en-US" sz="3600" dirty="0">
                <a:solidFill>
                  <a:schemeClr val="bg1">
                    <a:lumMod val="65000"/>
                  </a:schemeClr>
                </a:solidFill>
                <a:latin typeface="Times New Roman" panose="02020603050405020304" pitchFamily="18" charset="0"/>
                <a:ea typeface="宋体" panose="02010600030101010101" pitchFamily="2" charset="-122"/>
              </a:rPr>
              <a:t>基础知识</a:t>
            </a:r>
            <a:endParaRPr lang="en-US" altLang="zh-CN" sz="3600" dirty="0">
              <a:solidFill>
                <a:schemeClr val="bg1">
                  <a:lumMod val="65000"/>
                </a:schemeClr>
              </a:solidFill>
              <a:latin typeface="Times New Roman" panose="02020603050405020304" pitchFamily="18" charset="0"/>
              <a:ea typeface="宋体" panose="02010600030101010101" pitchFamily="2" charset="-122"/>
            </a:endParaRPr>
          </a:p>
          <a:p>
            <a:pPr marL="514350" lvl="2" indent="-514350" algn="just">
              <a:buAutoNum type="arabicParenBoth" startAt="4"/>
            </a:pPr>
            <a:r>
              <a:rPr lang="zh-CN" altLang="en-US" sz="3600" b="1" dirty="0">
                <a:solidFill>
                  <a:schemeClr val="bg1">
                    <a:lumMod val="65000"/>
                  </a:schemeClr>
                </a:solidFill>
                <a:latin typeface="Times New Roman" panose="02020603050405020304" pitchFamily="18" charset="0"/>
                <a:ea typeface="宋体" panose="02010600030101010101" pitchFamily="2" charset="-122"/>
              </a:rPr>
              <a:t>  形式语言与自动机的基本概念</a:t>
            </a:r>
            <a:endParaRPr lang="zh-CN" altLang="en-US" sz="3600" b="1" dirty="0">
              <a:solidFill>
                <a:schemeClr val="bg1">
                  <a:lumMod val="65000"/>
                </a:schemeClr>
              </a:solidFill>
              <a:latin typeface="Times New Roman" panose="02020603050405020304" pitchFamily="18" charset="0"/>
              <a:ea typeface="宋体" panose="02010600030101010101" pitchFamily="2" charset="-122"/>
            </a:endParaRPr>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7315"/>
            <a:ext cx="8229600" cy="9156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课程简介</a:t>
            </a:r>
            <a:endParaRPr lang="en-US" altLang="zh-CN" sz="3600" dirty="0">
              <a:solidFill>
                <a:schemeClr val="bg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33400" y="990600"/>
            <a:ext cx="8229600" cy="4525963"/>
          </a:xfrm>
        </p:spPr>
        <p:txBody>
          <a:bodyPr>
            <a:normAutofit/>
          </a:bodyPr>
          <a:lstStyle/>
          <a:p>
            <a:r>
              <a:rPr lang="zh-CN" altLang="en-US" dirty="0">
                <a:latin typeface="Times New Roman" panose="02020603050405020304" pitchFamily="18" charset="0"/>
              </a:rPr>
              <a:t>课程类型</a:t>
            </a:r>
            <a:endParaRPr lang="zh-CN" altLang="en-US" dirty="0">
              <a:latin typeface="Times New Roman" panose="02020603050405020304" pitchFamily="18" charset="0"/>
            </a:endParaRPr>
          </a:p>
          <a:p>
            <a:pPr lvl="1"/>
            <a:r>
              <a:rPr lang="zh-CN" altLang="en-US" b="1" dirty="0">
                <a:latin typeface="宋体" panose="02010600030101010101" pitchFamily="2" charset="-122"/>
              </a:rPr>
              <a:t>专业必修课</a:t>
            </a:r>
            <a:r>
              <a:rPr lang="zh-CN" altLang="en-US" b="1" dirty="0"/>
              <a:t> </a:t>
            </a:r>
            <a:endParaRPr lang="zh-CN" altLang="en-US" b="1" dirty="0"/>
          </a:p>
          <a:p>
            <a:r>
              <a:rPr lang="zh-CN" altLang="en-US" dirty="0">
                <a:latin typeface="Times New Roman" panose="02020603050405020304" pitchFamily="18" charset="0"/>
              </a:rPr>
              <a:t>基础知识要求</a:t>
            </a:r>
            <a:r>
              <a:rPr lang="zh-CN" altLang="en-US" dirty="0"/>
              <a:t> </a:t>
            </a:r>
            <a:endParaRPr lang="zh-CN" altLang="en-US" dirty="0"/>
          </a:p>
          <a:p>
            <a:pPr lvl="1"/>
            <a:r>
              <a:rPr lang="zh-CN" altLang="en-US" b="1" dirty="0">
                <a:latin typeface="宋体" panose="02010600030101010101" pitchFamily="2" charset="-122"/>
              </a:rPr>
              <a:t>集合论与图论</a:t>
            </a:r>
            <a:endParaRPr lang="zh-CN" altLang="en-US" b="1" dirty="0">
              <a:latin typeface="宋体" panose="02010600030101010101" pitchFamily="2" charset="-122"/>
            </a:endParaRPr>
          </a:p>
          <a:p>
            <a:r>
              <a:rPr lang="zh-CN" altLang="en-US" dirty="0"/>
              <a:t>主要特点 </a:t>
            </a:r>
            <a:endParaRPr lang="zh-CN" altLang="en-US" dirty="0"/>
          </a:p>
          <a:p>
            <a:pPr lvl="1"/>
            <a:r>
              <a:rPr lang="zh-CN" altLang="en-US" b="1" dirty="0">
                <a:latin typeface="宋体" panose="02010600030101010101" pitchFamily="2" charset="-122"/>
              </a:rPr>
              <a:t>抽象和形式化</a:t>
            </a:r>
            <a:r>
              <a:rPr lang="zh-CN" altLang="en-US" b="1" dirty="0"/>
              <a:t> </a:t>
            </a:r>
            <a:endParaRPr lang="zh-CN" altLang="en-US" b="1" dirty="0"/>
          </a:p>
          <a:p>
            <a:pPr lvl="1"/>
            <a:r>
              <a:rPr lang="zh-CN" altLang="en-US" b="1" dirty="0">
                <a:latin typeface="宋体" panose="02010600030101010101" pitchFamily="2" charset="-122"/>
              </a:rPr>
              <a:t>理论证明和构造性</a:t>
            </a:r>
            <a:r>
              <a:rPr lang="zh-CN" altLang="en-US" b="1" dirty="0"/>
              <a:t> </a:t>
            </a:r>
            <a:endParaRPr lang="zh-CN" altLang="en-US" b="1" dirty="0"/>
          </a:p>
          <a:p>
            <a:pPr lvl="1"/>
            <a:r>
              <a:rPr lang="zh-CN" altLang="en-US" b="1" dirty="0">
                <a:latin typeface="宋体" panose="02010600030101010101" pitchFamily="2" charset="-122"/>
              </a:rPr>
              <a:t>基本模型的建立与性质</a:t>
            </a:r>
            <a:r>
              <a:rPr lang="zh-CN" altLang="en-US" dirty="0"/>
              <a:t> </a:t>
            </a:r>
            <a:endParaRPr lang="zh-CN" altLang="en-US" dirty="0"/>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7315"/>
            <a:ext cx="8229600" cy="9156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课程目的和基本要求</a:t>
            </a:r>
            <a:endParaRPr lang="en-US" altLang="zh-CN" sz="3600" dirty="0">
              <a:solidFill>
                <a:schemeClr val="bg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33400" y="990600"/>
            <a:ext cx="8229600" cy="4525963"/>
          </a:xfrm>
        </p:spPr>
        <p:txBody>
          <a:bodyPr>
            <a:normAutofit lnSpcReduction="10000"/>
          </a:bodyPr>
          <a:lstStyle/>
          <a:p>
            <a:r>
              <a:rPr lang="zh-CN" altLang="en-US" dirty="0">
                <a:latin typeface="Times New Roman" panose="02020603050405020304" pitchFamily="18" charset="0"/>
              </a:rPr>
              <a:t>知识</a:t>
            </a:r>
            <a:endParaRPr lang="zh-CN" altLang="en-US" dirty="0">
              <a:latin typeface="Times New Roman" panose="02020603050405020304" pitchFamily="18" charset="0"/>
            </a:endParaRPr>
          </a:p>
          <a:p>
            <a:pPr lvl="1"/>
            <a:r>
              <a:rPr lang="zh-CN" altLang="en-US" sz="2400" b="1" dirty="0">
                <a:latin typeface="宋体" panose="02010600030101010101" pitchFamily="2" charset="-122"/>
              </a:rPr>
              <a:t>掌握正则语言、上下文无关语言的文法、识别模型及其基本性质、图灵机的基本知识。</a:t>
            </a:r>
            <a:endParaRPr lang="zh-CN" altLang="en-US" sz="2400" b="1" dirty="0">
              <a:latin typeface="宋体" panose="02010600030101010101" pitchFamily="2" charset="-122"/>
            </a:endParaRPr>
          </a:p>
          <a:p>
            <a:r>
              <a:rPr lang="zh-CN" altLang="en-US" dirty="0">
                <a:latin typeface="Times New Roman" panose="02020603050405020304" pitchFamily="18" charset="0"/>
              </a:rPr>
              <a:t>能力</a:t>
            </a:r>
            <a:endParaRPr lang="zh-CN" altLang="en-US" dirty="0">
              <a:latin typeface="Times New Roman" panose="02020603050405020304" pitchFamily="18" charset="0"/>
            </a:endParaRPr>
          </a:p>
          <a:p>
            <a:pPr lvl="1"/>
            <a:r>
              <a:rPr lang="zh-CN" altLang="en-US" sz="2400" b="1" dirty="0">
                <a:latin typeface="宋体" panose="02010600030101010101" pitchFamily="2" charset="-122"/>
              </a:rPr>
              <a:t>培养学生的计算思维能力（形式化描述和抽象思维）。</a:t>
            </a:r>
            <a:endParaRPr lang="en-US" altLang="zh-CN" sz="2400" b="1" dirty="0">
              <a:latin typeface="宋体" panose="02010600030101010101" pitchFamily="2" charset="-122"/>
            </a:endParaRPr>
          </a:p>
          <a:p>
            <a:pPr lvl="2"/>
            <a:r>
              <a:rPr lang="zh-CN" altLang="en-US" sz="2000" b="1" dirty="0">
                <a:latin typeface="宋体" panose="02010600030101010101" pitchFamily="2" charset="-122"/>
              </a:rPr>
              <a:t>逻辑思维能力和抽象思维能力</a:t>
            </a:r>
            <a:endParaRPr lang="zh-CN" altLang="en-US" sz="2000" b="1" dirty="0">
              <a:latin typeface="宋体" panose="02010600030101010101" pitchFamily="2" charset="-122"/>
            </a:endParaRPr>
          </a:p>
          <a:p>
            <a:pPr lvl="2"/>
            <a:r>
              <a:rPr lang="zh-CN" altLang="en-US" sz="2000" b="1" dirty="0">
                <a:latin typeface="宋体" panose="02010600030101010101" pitchFamily="2" charset="-122"/>
              </a:rPr>
              <a:t>构造模型对问题进行形式化描述</a:t>
            </a:r>
            <a:endParaRPr lang="zh-CN" altLang="en-US" sz="2000" b="1" dirty="0">
              <a:latin typeface="宋体" panose="02010600030101010101" pitchFamily="2" charset="-122"/>
            </a:endParaRPr>
          </a:p>
          <a:p>
            <a:pPr lvl="2"/>
            <a:r>
              <a:rPr lang="zh-CN" altLang="en-US" sz="2000" b="1" dirty="0">
                <a:latin typeface="宋体" panose="02010600030101010101" pitchFamily="2" charset="-122"/>
              </a:rPr>
              <a:t>理解和处理形式模型</a:t>
            </a:r>
            <a:endParaRPr lang="zh-CN" altLang="en-US" b="1" dirty="0">
              <a:latin typeface="宋体" panose="02010600030101010101" pitchFamily="2" charset="-122"/>
            </a:endParaRPr>
          </a:p>
          <a:p>
            <a:pPr lvl="1"/>
            <a:r>
              <a:rPr lang="zh-CN" altLang="en-US" sz="2400" b="1" dirty="0">
                <a:latin typeface="宋体" panose="02010600030101010101" pitchFamily="2" charset="-122"/>
              </a:rPr>
              <a:t>使学生了解和初步掌握“</a:t>
            </a:r>
            <a:r>
              <a:rPr lang="zh-CN" altLang="en-US" sz="2400" b="1" dirty="0">
                <a:solidFill>
                  <a:srgbClr val="FF0000"/>
                </a:solidFill>
                <a:latin typeface="宋体" panose="02010600030101010101" pitchFamily="2" charset="-122"/>
              </a:rPr>
              <a:t>问题</a:t>
            </a:r>
            <a:r>
              <a:rPr lang="en-US" altLang="zh-CN" sz="2400" b="1" dirty="0">
                <a:solidFill>
                  <a:srgbClr val="FF0000"/>
                </a:solidFill>
                <a:latin typeface="宋体" panose="02010600030101010101" pitchFamily="2" charset="-122"/>
                <a:sym typeface="Wingdings" panose="05000000000000000000" pitchFamily="2" charset="2"/>
              </a:rPr>
              <a:t></a:t>
            </a:r>
            <a:r>
              <a:rPr lang="zh-CN" altLang="en-US" sz="2400" b="1" dirty="0">
                <a:solidFill>
                  <a:srgbClr val="FF0000"/>
                </a:solidFill>
                <a:latin typeface="宋体" panose="02010600030101010101" pitchFamily="2" charset="-122"/>
              </a:rPr>
              <a:t>形式化描述</a:t>
            </a:r>
            <a:r>
              <a:rPr lang="en-US" altLang="zh-CN" sz="2400" b="1" dirty="0">
                <a:solidFill>
                  <a:srgbClr val="FF0000"/>
                </a:solidFill>
                <a:latin typeface="宋体" panose="02010600030101010101" pitchFamily="2" charset="-122"/>
                <a:sym typeface="Wingdings" panose="05000000000000000000" pitchFamily="2" charset="2"/>
              </a:rPr>
              <a:t></a:t>
            </a:r>
            <a:r>
              <a:rPr lang="zh-CN" altLang="en-US" sz="2400" b="1" dirty="0">
                <a:solidFill>
                  <a:srgbClr val="FF0000"/>
                </a:solidFill>
                <a:latin typeface="宋体" panose="02010600030101010101" pitchFamily="2" charset="-122"/>
              </a:rPr>
              <a:t>自动化（计算机化）</a:t>
            </a:r>
            <a:r>
              <a:rPr lang="zh-CN" altLang="en-US" sz="2400" b="1" dirty="0">
                <a:latin typeface="宋体" panose="02010600030101010101" pitchFamily="2" charset="-122"/>
              </a:rPr>
              <a:t>”这一最典型的计算机问题求解思路。</a:t>
            </a:r>
            <a:r>
              <a:rPr lang="zh-CN" altLang="en-US" sz="2400" dirty="0">
                <a:solidFill>
                  <a:srgbClr val="990099"/>
                </a:solidFill>
                <a:latin typeface="宋体" panose="02010600030101010101" pitchFamily="2" charset="-122"/>
              </a:rPr>
              <a:t>“什么能被有效自动化？”</a:t>
            </a:r>
            <a:r>
              <a:rPr lang="en-US" altLang="zh-CN" sz="2400" dirty="0">
                <a:solidFill>
                  <a:srgbClr val="990099"/>
                </a:solidFill>
                <a:latin typeface="宋体" panose="02010600030101010101" pitchFamily="2" charset="-122"/>
              </a:rPr>
              <a:t>——</a:t>
            </a:r>
            <a:r>
              <a:rPr lang="zh-CN" altLang="en-US" sz="2400" dirty="0">
                <a:solidFill>
                  <a:srgbClr val="990099"/>
                </a:solidFill>
                <a:latin typeface="宋体" panose="02010600030101010101" pitchFamily="2" charset="-122"/>
              </a:rPr>
              <a:t>计算学科之主题</a:t>
            </a:r>
            <a:endParaRPr lang="zh-CN" altLang="en-US" sz="2400" dirty="0">
              <a:solidFill>
                <a:srgbClr val="990099"/>
              </a:solidFill>
              <a:latin typeface="宋体" panose="02010600030101010101" pitchFamily="2" charset="-122"/>
            </a:endParaRPr>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7315"/>
            <a:ext cx="8229600" cy="915670"/>
          </a:xfrm>
        </p:spPr>
        <p:txBody>
          <a:bodyPr/>
          <a:lstStyle/>
          <a:p>
            <a:pPr algn="r">
              <a:buClrTx/>
              <a:buSzTx/>
              <a:buFontTx/>
            </a:pPr>
            <a:r>
              <a:rPr lang="en-US" altLang="zh-CN" sz="3600" dirty="0">
                <a:solidFill>
                  <a:schemeClr val="bg1"/>
                </a:solidFill>
                <a:effectLst>
                  <a:outerShdw blurRad="38100" dist="38100" dir="2700000" algn="tl">
                    <a:srgbClr val="000000">
                      <a:alpha val="43137"/>
                    </a:srgbClr>
                  </a:outerShdw>
                </a:effectLst>
              </a:rPr>
              <a:t>课程内容</a:t>
            </a:r>
            <a:endParaRPr lang="en-US" altLang="zh-CN" sz="3600" dirty="0">
              <a:solidFill>
                <a:schemeClr val="bg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33400" y="990600"/>
            <a:ext cx="8229600" cy="4525963"/>
          </a:xfrm>
        </p:spPr>
        <p:txBody>
          <a:bodyPr>
            <a:normAutofit fontScale="92500" lnSpcReduction="20000"/>
          </a:bodyPr>
          <a:lstStyle/>
          <a:p>
            <a:r>
              <a:rPr lang="zh-CN" altLang="en-US" dirty="0"/>
              <a:t>正则语言</a:t>
            </a:r>
            <a:endParaRPr lang="en-AU" altLang="zh-CN" dirty="0"/>
          </a:p>
          <a:p>
            <a:pPr lvl="1"/>
            <a:r>
              <a:rPr lang="zh-CN" altLang="en-US" dirty="0"/>
              <a:t>有穷自动机</a:t>
            </a:r>
            <a:endParaRPr lang="en-AU" altLang="zh-CN" dirty="0"/>
          </a:p>
          <a:p>
            <a:pPr lvl="1"/>
            <a:r>
              <a:rPr lang="zh-CN" altLang="en-US" dirty="0"/>
              <a:t>正则表达式</a:t>
            </a:r>
            <a:endParaRPr lang="en-AU" altLang="zh-CN" dirty="0"/>
          </a:p>
          <a:p>
            <a:pPr lvl="1"/>
            <a:r>
              <a:rPr lang="zh-CN" altLang="en-US" dirty="0"/>
              <a:t>正则语言的性质</a:t>
            </a:r>
            <a:endParaRPr lang="en-AU" altLang="zh-CN" dirty="0"/>
          </a:p>
          <a:p>
            <a:r>
              <a:rPr lang="zh-CN" altLang="en-US" dirty="0"/>
              <a:t>上下文无关语言</a:t>
            </a:r>
            <a:endParaRPr lang="en-AU" altLang="zh-CN" dirty="0"/>
          </a:p>
          <a:p>
            <a:pPr lvl="1"/>
            <a:r>
              <a:rPr lang="zh-CN" altLang="en-US" dirty="0"/>
              <a:t>上下文无关文法</a:t>
            </a:r>
            <a:endParaRPr lang="en-AU" altLang="zh-CN" dirty="0"/>
          </a:p>
          <a:p>
            <a:pPr lvl="1"/>
            <a:r>
              <a:rPr lang="zh-CN" altLang="en-US" dirty="0"/>
              <a:t>下推自动机</a:t>
            </a:r>
            <a:endParaRPr lang="en-AU" altLang="zh-CN" dirty="0"/>
          </a:p>
          <a:p>
            <a:pPr lvl="1"/>
            <a:r>
              <a:rPr lang="zh-CN" altLang="en-US" dirty="0"/>
              <a:t>上下文无关语言的性质</a:t>
            </a:r>
            <a:endParaRPr lang="en-AU" altLang="zh-CN" dirty="0"/>
          </a:p>
          <a:p>
            <a:r>
              <a:rPr lang="zh-CN" altLang="en-US" dirty="0"/>
              <a:t>计算导论</a:t>
            </a:r>
            <a:endParaRPr lang="en-AU" altLang="zh-CN" dirty="0"/>
          </a:p>
          <a:p>
            <a:pPr lvl="1"/>
            <a:r>
              <a:rPr lang="zh-CN" altLang="en-US" dirty="0"/>
              <a:t>图灵机及其扩展</a:t>
            </a:r>
            <a:endParaRPr lang="en-AU" altLang="zh-CN" dirty="0"/>
          </a:p>
          <a:p>
            <a:pPr lvl="1"/>
            <a:r>
              <a:rPr lang="zh-CN" altLang="en-US" dirty="0"/>
              <a:t>不可判定性</a:t>
            </a:r>
            <a:endParaRPr lang="en-AU" dirty="0"/>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pic>
        <p:nvPicPr>
          <p:cNvPr id="6" name="Picture 6"/>
          <p:cNvPicPr preferRelativeResize="0">
            <a:picLocks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600" y="990600"/>
            <a:ext cx="6858000" cy="5194300"/>
          </a:xfrm>
          <a:prstGeom prst="roundRect">
            <a:avLst>
              <a:gd name="adj" fmla="val 4167"/>
            </a:avLst>
          </a:prstGeom>
          <a:solidFill>
            <a:srgbClr val="FFFFFF"/>
          </a:solidFill>
          <a:ln w="76200" cap="sq">
            <a:solidFill>
              <a:srgbClr val="EAEAEA"/>
            </a:solidFill>
            <a:miter lim="800000"/>
            <a:headEnd/>
            <a:tailEnd/>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7315"/>
            <a:ext cx="8229600" cy="915670"/>
          </a:xfrm>
        </p:spPr>
        <p:txBody>
          <a:bodyPr/>
          <a:lstStyle/>
          <a:p>
            <a:pPr algn="r">
              <a:buClrTx/>
              <a:buSzTx/>
              <a:buFontTx/>
            </a:pPr>
            <a:r>
              <a:rPr lang="en-US" altLang="zh-CN" sz="3600" dirty="0" err="1">
                <a:solidFill>
                  <a:schemeClr val="bg1"/>
                </a:solidFill>
                <a:effectLst>
                  <a:outerShdw blurRad="38100" dist="38100" dir="2700000" algn="tl">
                    <a:srgbClr val="000000">
                      <a:alpha val="43137"/>
                    </a:srgbClr>
                  </a:outerShdw>
                </a:effectLst>
              </a:rPr>
              <a:t>参考书</a:t>
            </a:r>
            <a:endParaRPr lang="en-US" altLang="zh-CN" sz="3600" dirty="0">
              <a:solidFill>
                <a:schemeClr val="bg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33400" y="990600"/>
            <a:ext cx="8229600" cy="4525963"/>
          </a:xfrm>
        </p:spPr>
        <p:txBody>
          <a:bodyPr>
            <a:normAutofit/>
          </a:bodyPr>
          <a:lstStyle/>
          <a:p>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形式语言与自动机</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清华大学出版社</a:t>
            </a:r>
            <a:endParaRPr lang="en-AU" altLang="zh-CN" dirty="0">
              <a:latin typeface="Times New Roman" panose="02020603050405020304" pitchFamily="18" charset="0"/>
              <a:cs typeface="Times New Roman" panose="02020603050405020304" pitchFamily="18" charset="0"/>
            </a:endParaRPr>
          </a:p>
          <a:p>
            <a:r>
              <a:rPr lang="en-AU" altLang="zh-CN" dirty="0">
                <a:latin typeface="Times New Roman" panose="02020603050405020304" pitchFamily="18" charset="0"/>
                <a:cs typeface="Times New Roman" panose="02020603050405020304" pitchFamily="18" charset="0"/>
              </a:rPr>
              <a:t>Introduction to Automata Theory, Languages, and Computation. John E. </a:t>
            </a:r>
            <a:r>
              <a:rPr lang="en-AU" altLang="zh-CN" dirty="0" err="1">
                <a:latin typeface="Times New Roman" panose="02020603050405020304" pitchFamily="18" charset="0"/>
                <a:cs typeface="Times New Roman" panose="02020603050405020304" pitchFamily="18" charset="0"/>
              </a:rPr>
              <a:t>Hopcroft</a:t>
            </a:r>
            <a:endParaRPr lang="en-AU" altLang="zh-CN" dirty="0">
              <a:latin typeface="Times New Roman" panose="02020603050405020304" pitchFamily="18" charset="0"/>
              <a:cs typeface="Times New Roman" panose="02020603050405020304" pitchFamily="18" charset="0"/>
            </a:endParaRPr>
          </a:p>
          <a:p>
            <a:pPr marL="0" indent="0">
              <a:buNone/>
            </a:pPr>
            <a:r>
              <a:rPr lang="en-AU" altLang="zh-CN" dirty="0"/>
              <a:t>《</a:t>
            </a:r>
            <a:r>
              <a:rPr lang="zh-CN" altLang="en-US" dirty="0"/>
              <a:t>自动机理论、语言和计算导论 </a:t>
            </a:r>
            <a:r>
              <a:rPr lang="en-US" altLang="zh-CN" dirty="0"/>
              <a:t>(</a:t>
            </a:r>
            <a:r>
              <a:rPr lang="zh-CN" altLang="en-US" dirty="0"/>
              <a:t>英文版</a:t>
            </a:r>
            <a:r>
              <a:rPr lang="en-US" altLang="zh-CN" dirty="0"/>
              <a:t>)》</a:t>
            </a:r>
            <a:r>
              <a:rPr lang="zh-CN" altLang="en-US" dirty="0"/>
              <a:t>机械工业出版社</a:t>
            </a:r>
            <a:endParaRPr lang="zh-CN" altLang="en-US" dirty="0"/>
          </a:p>
          <a:p>
            <a:r>
              <a:rPr lang="en-AU" altLang="zh-CN" dirty="0">
                <a:latin typeface="Times New Roman" panose="02020603050405020304" pitchFamily="18" charset="0"/>
                <a:cs typeface="Times New Roman" panose="02020603050405020304" pitchFamily="18" charset="0"/>
              </a:rPr>
              <a:t>Introduction to the Theory of Computation. Michael </a:t>
            </a:r>
            <a:r>
              <a:rPr lang="en-AU" altLang="zh-CN" dirty="0" err="1">
                <a:latin typeface="Times New Roman" panose="02020603050405020304" pitchFamily="18" charset="0"/>
                <a:cs typeface="Times New Roman" panose="02020603050405020304" pitchFamily="18" charset="0"/>
              </a:rPr>
              <a:t>Sipser</a:t>
            </a:r>
            <a:endParaRPr lang="en-AU" altLang="zh-CN" dirty="0">
              <a:latin typeface="Times New Roman" panose="02020603050405020304" pitchFamily="18" charset="0"/>
              <a:cs typeface="Times New Roman" panose="02020603050405020304" pitchFamily="18" charset="0"/>
            </a:endParaRPr>
          </a:p>
          <a:p>
            <a:pPr marL="0" indent="0">
              <a:buNone/>
            </a:pPr>
            <a:r>
              <a:rPr lang="en-AU" altLang="zh-CN" dirty="0"/>
              <a:t>《</a:t>
            </a:r>
            <a:r>
              <a:rPr lang="zh-CN" altLang="en-US" dirty="0"/>
              <a:t>计算理论导引</a:t>
            </a:r>
            <a:r>
              <a:rPr lang="en-US" altLang="zh-CN" dirty="0"/>
              <a:t>》</a:t>
            </a:r>
            <a:r>
              <a:rPr lang="zh-CN" altLang="en-US" dirty="0"/>
              <a:t>机械工业出版社</a:t>
            </a:r>
            <a:endParaRPr lang="zh-CN" altLang="en-US" dirty="0"/>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917"/>
            <a:ext cx="8229600" cy="114300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辅导与考核</a:t>
            </a:r>
            <a:endParaRPr lang="en-US" altLang="zh-CN" sz="3600" dirty="0">
              <a:solidFill>
                <a:schemeClr val="bg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57200" y="1219200"/>
            <a:ext cx="8229600" cy="4525963"/>
          </a:xfrm>
        </p:spPr>
        <p:txBody>
          <a:bodyPr/>
          <a:lstStyle/>
          <a:p>
            <a:r>
              <a:rPr lang="zh-CN" altLang="en-US" dirty="0">
                <a:latin typeface="Times New Roman" panose="02020603050405020304" pitchFamily="18" charset="0"/>
                <a:cs typeface="Times New Roman" panose="02020603050405020304" pitchFamily="18" charset="0"/>
              </a:rPr>
              <a:t>授课教师</a:t>
            </a:r>
            <a:endParaRPr lang="en-AU" altLang="zh-CN" dirty="0">
              <a:latin typeface="Times New Roman" panose="02020603050405020304" pitchFamily="18" charset="0"/>
              <a:cs typeface="Times New Roman" panose="02020603050405020304" pitchFamily="18" charset="0"/>
            </a:endParaRPr>
          </a:p>
          <a:p>
            <a:pPr lvl="1"/>
            <a:r>
              <a:rPr lang="zh-CN" altLang="en-AU" sz="2400" dirty="0"/>
              <a:t>汤步洲</a:t>
            </a:r>
            <a:r>
              <a:rPr lang="en-AU" altLang="zh-CN" sz="2400" dirty="0"/>
              <a:t>, </a:t>
            </a:r>
            <a:r>
              <a:rPr lang="en-AU" altLang="zh-CN" sz="2400" dirty="0">
                <a:latin typeface="Times New Roman" panose="02020603050405020304" pitchFamily="18" charset="0"/>
                <a:cs typeface="Times New Roman" panose="02020603050405020304" pitchFamily="18" charset="0"/>
              </a:rPr>
              <a:t>email: </a:t>
            </a:r>
            <a:r>
              <a:rPr sz="2400" dirty="0">
                <a:latin typeface="Times New Roman" panose="02020603050405020304" pitchFamily="18" charset="0"/>
                <a:cs typeface="Times New Roman" panose="02020603050405020304" pitchFamily="18" charset="0"/>
              </a:rPr>
              <a:t>tangbuzhou@hit.edu.cn</a:t>
            </a:r>
            <a:endParaRPr sz="2400"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助教</a:t>
            </a:r>
            <a:endParaRPr lang="en-AU" altLang="zh-CN" dirty="0">
              <a:latin typeface="Times New Roman" panose="02020603050405020304" pitchFamily="18" charset="0"/>
              <a:cs typeface="Times New Roman" panose="02020603050405020304" pitchFamily="18" charset="0"/>
            </a:endParaRPr>
          </a:p>
          <a:p>
            <a:pPr lvl="1"/>
            <a:r>
              <a:rPr lang="zh-CN" altLang="en-US" sz="2800" dirty="0"/>
              <a:t>张昭进、吕弋卿、</a:t>
            </a:r>
            <a:r>
              <a:rPr lang="zh-CN" altLang="en-US" sz="2800" dirty="0"/>
              <a:t>周园韵</a:t>
            </a:r>
            <a:endParaRPr lang="zh-CN" altLang="en-US" sz="2800" dirty="0"/>
          </a:p>
          <a:p>
            <a:pPr lvl="1">
              <a:defRPr/>
            </a:pPr>
            <a:r>
              <a:rPr lang="zh-CN" altLang="en-US" sz="2800" dirty="0">
                <a:sym typeface="+mn-ea"/>
              </a:rPr>
              <a:t>课程QQ群：</a:t>
            </a:r>
            <a:r>
              <a:rPr lang="en-US" altLang="zh-CN" sz="2800" dirty="0"/>
              <a:t>1091581475</a:t>
            </a:r>
            <a:endParaRPr lang="en-US" altLang="zh-CN" sz="2800" dirty="0"/>
          </a:p>
          <a:p>
            <a:r>
              <a:rPr lang="zh-CN" altLang="en-US" dirty="0"/>
              <a:t>考核方法：</a:t>
            </a:r>
            <a:endParaRPr lang="en-AU" altLang="zh-CN" dirty="0"/>
          </a:p>
          <a:p>
            <a:pPr lvl="1"/>
            <a:r>
              <a:rPr lang="zh-CN" altLang="en-US" dirty="0"/>
              <a:t>平时作业及考核</a:t>
            </a:r>
            <a:r>
              <a:rPr lang="en-AU" altLang="zh-CN" dirty="0"/>
              <a:t>(30%</a:t>
            </a:r>
            <a:r>
              <a:rPr lang="en-US" altLang="zh-CN" dirty="0"/>
              <a:t>)</a:t>
            </a:r>
            <a:endParaRPr lang="en-AU" altLang="zh-CN" dirty="0"/>
          </a:p>
          <a:p>
            <a:pPr lvl="1"/>
            <a:r>
              <a:rPr lang="zh-CN" altLang="en-US" dirty="0"/>
              <a:t>期末考试</a:t>
            </a:r>
            <a:r>
              <a:rPr lang="en-AU" altLang="zh-CN" dirty="0"/>
              <a:t>(70%)</a:t>
            </a:r>
            <a:endParaRPr lang="en-AU" altLang="zh-CN" dirty="0"/>
          </a:p>
          <a:p>
            <a:pPr marL="0" indent="0">
              <a:buNone/>
            </a:pPr>
            <a:endParaRPr lang="zh-CN" altLang="en-US" sz="2400" dirty="0"/>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dirty="0"/>
          </a:p>
        </p:txBody>
      </p:sp>
      <p:pic>
        <p:nvPicPr>
          <p:cNvPr id="5" name="图片 4"/>
          <p:cNvPicPr>
            <a:picLocks noChangeAspect="1"/>
          </p:cNvPicPr>
          <p:nvPr/>
        </p:nvPicPr>
        <p:blipFill>
          <a:blip r:embed="rId1"/>
          <a:stretch>
            <a:fillRect/>
          </a:stretch>
        </p:blipFill>
        <p:spPr>
          <a:xfrm>
            <a:off x="6172200" y="1447800"/>
            <a:ext cx="2559050" cy="45542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1675"/>
            <a:ext cx="8229600" cy="1143000"/>
          </a:xfrm>
        </p:spPr>
        <p:txBody>
          <a:bodyPr/>
          <a:lstStyle/>
          <a:p>
            <a:r>
              <a:rPr lang="zh-CN" altLang="en-US" dirty="0"/>
              <a:t>内容大纲</a:t>
            </a:r>
            <a:endParaRPr lang="en-AU" dirty="0"/>
          </a:p>
        </p:txBody>
      </p:sp>
      <p:sp>
        <p:nvSpPr>
          <p:cNvPr id="3" name="Content Placeholder 2"/>
          <p:cNvSpPr>
            <a:spLocks noGrp="1"/>
          </p:cNvSpPr>
          <p:nvPr>
            <p:ph idx="1"/>
          </p:nvPr>
        </p:nvSpPr>
        <p:spPr>
          <a:xfrm>
            <a:off x="457200" y="2027237"/>
            <a:ext cx="8229600" cy="4525963"/>
          </a:xfrm>
        </p:spPr>
        <p:txBody>
          <a:bodyPr/>
          <a:lstStyle/>
          <a:p>
            <a:pPr algn="just">
              <a:buNone/>
            </a:pPr>
            <a:r>
              <a:rPr lang="en-US" altLang="zh-CN" sz="3600" dirty="0">
                <a:solidFill>
                  <a:schemeClr val="bg1">
                    <a:lumMod val="65000"/>
                  </a:schemeClr>
                </a:solidFill>
                <a:latin typeface="Times New Roman" panose="02020603050405020304" pitchFamily="18" charset="0"/>
                <a:ea typeface="宋体" panose="02010600030101010101" pitchFamily="2" charset="-122"/>
              </a:rPr>
              <a:t>(1)  </a:t>
            </a:r>
            <a:r>
              <a:rPr lang="zh-CN" altLang="en-US" sz="3600" dirty="0">
                <a:solidFill>
                  <a:schemeClr val="bg1">
                    <a:lumMod val="65000"/>
                  </a:schemeClr>
                </a:solidFill>
                <a:latin typeface="Times New Roman" panose="02020603050405020304" pitchFamily="18" charset="0"/>
                <a:ea typeface="宋体" panose="02010600030101010101" pitchFamily="2" charset="-122"/>
              </a:rPr>
              <a:t>课程简介</a:t>
            </a:r>
            <a:endParaRPr lang="en-US" altLang="zh-CN" sz="3600" dirty="0">
              <a:solidFill>
                <a:schemeClr val="bg1">
                  <a:lumMod val="65000"/>
                </a:schemeClr>
              </a:solidFill>
              <a:latin typeface="Times New Roman" panose="02020603050405020304" pitchFamily="18" charset="0"/>
              <a:ea typeface="宋体" panose="02010600030101010101" pitchFamily="2" charset="-122"/>
            </a:endParaRPr>
          </a:p>
          <a:p>
            <a:pPr algn="just">
              <a:buNone/>
            </a:pPr>
            <a:r>
              <a:rPr lang="en-US" altLang="zh-CN" sz="3600" dirty="0">
                <a:latin typeface="Times New Roman" panose="02020603050405020304" pitchFamily="18" charset="0"/>
                <a:ea typeface="宋体" panose="02010600030101010101" pitchFamily="2" charset="-122"/>
              </a:rPr>
              <a:t>(2)  </a:t>
            </a:r>
            <a:r>
              <a:rPr lang="zh-CN" altLang="en-US" sz="3600" dirty="0">
                <a:latin typeface="Times New Roman" panose="02020603050405020304" pitchFamily="18" charset="0"/>
                <a:ea typeface="宋体" panose="02010600030101010101" pitchFamily="2" charset="-122"/>
              </a:rPr>
              <a:t>课程背景</a:t>
            </a:r>
            <a:endParaRPr lang="zh-CN" altLang="en-US" sz="3600" dirty="0">
              <a:latin typeface="Times New Roman" panose="02020603050405020304" pitchFamily="18" charset="0"/>
              <a:ea typeface="宋体" panose="02010600030101010101" pitchFamily="2" charset="-122"/>
            </a:endParaRPr>
          </a:p>
          <a:p>
            <a:pPr algn="just">
              <a:buNone/>
            </a:pPr>
            <a:r>
              <a:rPr lang="en-US" altLang="zh-CN" sz="3600" dirty="0">
                <a:solidFill>
                  <a:schemeClr val="bg1">
                    <a:lumMod val="65000"/>
                  </a:schemeClr>
                </a:solidFill>
                <a:latin typeface="Times New Roman" panose="02020603050405020304" pitchFamily="18" charset="0"/>
                <a:ea typeface="宋体" panose="02010600030101010101" pitchFamily="2" charset="-122"/>
              </a:rPr>
              <a:t>(3)  </a:t>
            </a:r>
            <a:r>
              <a:rPr lang="zh-CN" altLang="en-US" sz="3600" dirty="0">
                <a:solidFill>
                  <a:schemeClr val="bg1">
                    <a:lumMod val="65000"/>
                  </a:schemeClr>
                </a:solidFill>
                <a:latin typeface="Times New Roman" panose="02020603050405020304" pitchFamily="18" charset="0"/>
                <a:ea typeface="宋体" panose="02010600030101010101" pitchFamily="2" charset="-122"/>
              </a:rPr>
              <a:t>基础知识</a:t>
            </a:r>
            <a:endParaRPr lang="en-US" altLang="zh-CN" sz="3600" dirty="0">
              <a:solidFill>
                <a:schemeClr val="bg1">
                  <a:lumMod val="65000"/>
                </a:schemeClr>
              </a:solidFill>
              <a:latin typeface="Times New Roman" panose="02020603050405020304" pitchFamily="18" charset="0"/>
              <a:ea typeface="宋体" panose="02010600030101010101" pitchFamily="2" charset="-122"/>
            </a:endParaRPr>
          </a:p>
          <a:p>
            <a:pPr marL="514350" lvl="2" indent="-514350" algn="just">
              <a:buAutoNum type="arabicParenBoth" startAt="4"/>
            </a:pPr>
            <a:r>
              <a:rPr lang="zh-CN" altLang="en-US" sz="3600" b="1" dirty="0">
                <a:solidFill>
                  <a:schemeClr val="bg1">
                    <a:lumMod val="65000"/>
                  </a:schemeClr>
                </a:solidFill>
                <a:latin typeface="Times New Roman" panose="02020603050405020304" pitchFamily="18" charset="0"/>
                <a:ea typeface="宋体" panose="02010600030101010101" pitchFamily="2" charset="-122"/>
              </a:rPr>
              <a:t>  形式语言与自动机的基本概念</a:t>
            </a:r>
            <a:endParaRPr lang="zh-CN" altLang="en-US" sz="3600" b="1" dirty="0">
              <a:solidFill>
                <a:schemeClr val="bg1">
                  <a:lumMod val="65000"/>
                </a:schemeClr>
              </a:solidFill>
              <a:latin typeface="Times New Roman" panose="02020603050405020304" pitchFamily="18" charset="0"/>
              <a:ea typeface="宋体" panose="02010600030101010101" pitchFamily="2" charset="-122"/>
            </a:endParaRPr>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7315"/>
            <a:ext cx="8229600" cy="915670"/>
          </a:xfrm>
        </p:spPr>
        <p:txBody>
          <a:bodyPr/>
          <a:lstStyle/>
          <a:p>
            <a:pPr algn="r">
              <a:buClrTx/>
              <a:buSzTx/>
              <a:buFontTx/>
            </a:pPr>
            <a:r>
              <a:rPr lang="en-US" altLang="zh-CN" sz="3600" dirty="0" err="1">
                <a:solidFill>
                  <a:schemeClr val="bg1"/>
                </a:solidFill>
                <a:effectLst>
                  <a:outerShdw blurRad="38100" dist="38100" dir="2700000" algn="tl">
                    <a:srgbClr val="000000">
                      <a:alpha val="43137"/>
                    </a:srgbClr>
                  </a:outerShdw>
                </a:effectLst>
              </a:rPr>
              <a:t>课程</a:t>
            </a:r>
            <a:r>
              <a:rPr lang="zh-CN" altLang="en-US" sz="3600" dirty="0">
                <a:solidFill>
                  <a:schemeClr val="bg1"/>
                </a:solidFill>
                <a:effectLst>
                  <a:outerShdw blurRad="38100" dist="38100" dir="2700000" algn="tl">
                    <a:srgbClr val="000000">
                      <a:alpha val="43137"/>
                    </a:srgbClr>
                  </a:outerShdw>
                </a:effectLst>
              </a:rPr>
              <a:t>背景知识</a:t>
            </a:r>
            <a:endParaRPr lang="zh-CN" altLang="en-US" sz="3600" dirty="0">
              <a:solidFill>
                <a:schemeClr val="bg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33400" y="990600"/>
            <a:ext cx="8229600" cy="6007735"/>
          </a:xfrm>
        </p:spPr>
        <p:txBody>
          <a:bodyPr>
            <a:normAutofit/>
          </a:bodyPr>
          <a:lstStyle/>
          <a:p>
            <a:r>
              <a:rPr lang="zh-CN" altLang="en-US" dirty="0"/>
              <a:t>正则语言</a:t>
            </a:r>
            <a:endParaRPr lang="en-AU" altLang="zh-CN" dirty="0"/>
          </a:p>
          <a:p>
            <a:pPr lvl="1"/>
            <a:r>
              <a:rPr lang="zh-CN" altLang="en-US" dirty="0"/>
              <a:t>有穷自动机</a:t>
            </a:r>
            <a:endParaRPr lang="en-AU" altLang="zh-CN" dirty="0"/>
          </a:p>
          <a:p>
            <a:pPr lvl="1"/>
            <a:r>
              <a:rPr lang="zh-CN" altLang="en-US" dirty="0"/>
              <a:t>正则表达式</a:t>
            </a:r>
            <a:endParaRPr lang="en-AU" altLang="zh-CN" dirty="0"/>
          </a:p>
          <a:p>
            <a:pPr lvl="1"/>
            <a:r>
              <a:rPr lang="zh-CN" altLang="en-US" dirty="0"/>
              <a:t>正则语言的性质</a:t>
            </a:r>
            <a:endParaRPr lang="en-AU" altLang="zh-CN" dirty="0"/>
          </a:p>
          <a:p>
            <a:r>
              <a:rPr lang="zh-CN" altLang="en-US" dirty="0"/>
              <a:t>上下文无关语言</a:t>
            </a:r>
            <a:endParaRPr lang="en-AU" altLang="zh-CN" dirty="0"/>
          </a:p>
          <a:p>
            <a:pPr lvl="1"/>
            <a:r>
              <a:rPr lang="zh-CN" altLang="en-US" dirty="0"/>
              <a:t>上下文无关文法</a:t>
            </a:r>
            <a:endParaRPr lang="en-AU" altLang="zh-CN" dirty="0"/>
          </a:p>
          <a:p>
            <a:pPr lvl="1"/>
            <a:r>
              <a:rPr lang="zh-CN" altLang="en-US" dirty="0"/>
              <a:t>下推自动机</a:t>
            </a:r>
            <a:endParaRPr lang="en-AU" altLang="zh-CN" dirty="0"/>
          </a:p>
          <a:p>
            <a:pPr lvl="1"/>
            <a:r>
              <a:rPr lang="zh-CN" altLang="en-US" dirty="0"/>
              <a:t>上下文无关语言的性质</a:t>
            </a:r>
            <a:endParaRPr lang="en-AU" altLang="zh-CN" dirty="0"/>
          </a:p>
          <a:p>
            <a:r>
              <a:rPr lang="zh-CN" altLang="en-US" dirty="0"/>
              <a:t>计算导论</a:t>
            </a:r>
            <a:endParaRPr lang="en-AU" altLang="zh-CN" dirty="0"/>
          </a:p>
          <a:p>
            <a:pPr lvl="1"/>
            <a:r>
              <a:rPr lang="zh-CN" altLang="en-US" dirty="0"/>
              <a:t>图灵机及其扩展</a:t>
            </a:r>
            <a:endParaRPr lang="en-AU" altLang="zh-CN" dirty="0"/>
          </a:p>
          <a:p>
            <a:pPr lvl="1"/>
            <a:r>
              <a:rPr lang="zh-CN" altLang="en-US" dirty="0"/>
              <a:t>不可判定性</a:t>
            </a:r>
            <a:endParaRPr lang="en-AU" dirty="0"/>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椭圆形标注 5"/>
          <p:cNvSpPr/>
          <p:nvPr/>
        </p:nvSpPr>
        <p:spPr>
          <a:xfrm>
            <a:off x="4343400" y="2667000"/>
            <a:ext cx="2971800" cy="1066800"/>
          </a:xfrm>
          <a:prstGeom prst="wedgeEllipseCallout">
            <a:avLst>
              <a:gd name="adj1" fmla="val -47521"/>
              <a:gd name="adj2" fmla="val 6845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a:sym typeface="+mn-ea"/>
              </a:rPr>
              <a:t>诺姆·乔姆斯基 </a:t>
            </a:r>
            <a:r>
              <a:rPr lang="en-US" altLang="zh-CN" dirty="0">
                <a:sym typeface="+mn-ea"/>
              </a:rPr>
              <a:t>Noam Chomsky</a:t>
            </a:r>
            <a:endParaRPr lang="zh-CN" altLang="en-US"/>
          </a:p>
        </p:txBody>
      </p:sp>
      <p:sp>
        <p:nvSpPr>
          <p:cNvPr id="8" name="椭圆形标注 7"/>
          <p:cNvSpPr/>
          <p:nvPr/>
        </p:nvSpPr>
        <p:spPr>
          <a:xfrm>
            <a:off x="4495800" y="4724400"/>
            <a:ext cx="2971800" cy="1066800"/>
          </a:xfrm>
          <a:prstGeom prst="wedgeEllipseCallout">
            <a:avLst>
              <a:gd name="adj1" fmla="val -47521"/>
              <a:gd name="adj2" fmla="val 68452"/>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a:sym typeface="+mn-ea"/>
              </a:rPr>
              <a:t>艾伦</a:t>
            </a:r>
            <a:r>
              <a:rPr lang="en-US" altLang="zh-CN" dirty="0">
                <a:sym typeface="+mn-ea"/>
              </a:rPr>
              <a:t>.</a:t>
            </a:r>
            <a:r>
              <a:rPr lang="zh-CN" altLang="en-US" dirty="0">
                <a:sym typeface="+mn-ea"/>
              </a:rPr>
              <a:t>图灵</a:t>
            </a:r>
            <a:r>
              <a:rPr lang="en-US" altLang="zh-CN" dirty="0">
                <a:sym typeface="+mn-ea"/>
              </a:rPr>
              <a:t> </a:t>
            </a:r>
            <a:endParaRPr lang="en-US" altLang="zh-CN" dirty="0">
              <a:sym typeface="+mn-ea"/>
            </a:endParaRPr>
          </a:p>
          <a:p>
            <a:pPr algn="ctr"/>
            <a:r>
              <a:rPr lang="en-US" altLang="zh-CN" dirty="0">
                <a:sym typeface="+mn-ea"/>
              </a:rPr>
              <a:t>Alan Turing</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艾伦</a:t>
            </a:r>
            <a:r>
              <a:rPr lang="en-US" altLang="zh-CN" b="1" dirty="0"/>
              <a:t>.</a:t>
            </a:r>
            <a:r>
              <a:rPr lang="zh-CN" altLang="en-US" b="1" dirty="0"/>
              <a:t>图灵</a:t>
            </a:r>
            <a:r>
              <a:rPr lang="en-US" altLang="zh-CN" b="1" dirty="0"/>
              <a:t> Alan Turing</a:t>
            </a:r>
            <a:endParaRPr lang="en-US" altLang="zh-CN" b="1" dirty="0"/>
          </a:p>
        </p:txBody>
      </p:sp>
      <p:pic>
        <p:nvPicPr>
          <p:cNvPr id="3" name="Picture 2" descr="File:Alan Turing photo.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51520" y="1148456"/>
            <a:ext cx="3381375"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2"/>
          <p:cNvSpPr txBox="1"/>
          <p:nvPr/>
        </p:nvSpPr>
        <p:spPr>
          <a:xfrm>
            <a:off x="3453765" y="1690370"/>
            <a:ext cx="5377180" cy="37592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lgn="l">
              <a:buClrTx/>
              <a:buSzTx/>
              <a:buChar char="–"/>
            </a:pPr>
            <a:r>
              <a:rPr lang="zh-CN" altLang="en-US" sz="2400" dirty="0"/>
              <a:t>图灵在计算机科学的发展中有着巨大的影响力，他用图灵机对“算法”和“计算”的概念进行了形式化，图灵机通常被视为通用计算机的模型。</a:t>
            </a:r>
            <a:endParaRPr lang="zh-CN" altLang="en-US" sz="2400" dirty="0"/>
          </a:p>
          <a:p>
            <a:pPr marL="457200" lvl="1" indent="0" algn="l">
              <a:buClrTx/>
              <a:buSzTx/>
              <a:buNone/>
            </a:pPr>
            <a:endParaRPr lang="zh-CN" altLang="en-US" sz="2400" dirty="0"/>
          </a:p>
          <a:p>
            <a:pPr lvl="1" algn="l">
              <a:buClrTx/>
              <a:buSzTx/>
              <a:buChar char="–"/>
            </a:pPr>
            <a:r>
              <a:rPr lang="zh-CN" altLang="en-US" sz="2400" dirty="0"/>
              <a:t>图灵常被认为是计算机科学之父和人工智能之父。</a:t>
            </a:r>
            <a:endParaRPr lang="zh-CN" altLang="en-US" sz="2400" dirty="0"/>
          </a:p>
        </p:txBody>
      </p:sp>
      <p:sp>
        <p:nvSpPr>
          <p:cNvPr id="5" name="矩形 1"/>
          <p:cNvSpPr>
            <a:spLocks noChangeArrowheads="1"/>
          </p:cNvSpPr>
          <p:nvPr/>
        </p:nvSpPr>
        <p:spPr bwMode="auto">
          <a:xfrm>
            <a:off x="249064" y="5570076"/>
            <a:ext cx="3530848"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dirty="0"/>
              <a:t>Alan </a:t>
            </a:r>
            <a:r>
              <a:rPr lang="en-US" altLang="zh-CN" sz="1600" b="1" dirty="0" err="1"/>
              <a:t>Mathison</a:t>
            </a:r>
            <a:r>
              <a:rPr lang="en-US" altLang="zh-CN" sz="1600" b="1" dirty="0"/>
              <a:t> Turing</a:t>
            </a:r>
            <a:r>
              <a:rPr lang="da-DK" altLang="zh-CN" sz="1600" dirty="0"/>
              <a:t> </a:t>
            </a:r>
            <a:endParaRPr lang="da-DK" altLang="zh-CN" sz="1600" dirty="0"/>
          </a:p>
          <a:p>
            <a:pPr algn="ctr" eaLnBrk="1" hangingPunct="1"/>
            <a:r>
              <a:rPr lang="da-DK" altLang="zh-CN" sz="1200" dirty="0"/>
              <a:t>(23 June 1912 – 7 June 1954)</a:t>
            </a:r>
            <a:endParaRPr lang="da-DK" altLang="zh-CN" sz="1200" dirty="0"/>
          </a:p>
          <a:p>
            <a:pPr algn="ctr" eaLnBrk="1" hangingPunct="1"/>
            <a:r>
              <a:rPr lang="zh-CN" altLang="en-US" sz="1600" dirty="0"/>
              <a:t>英国数学家、逻辑学家</a:t>
            </a:r>
            <a:endParaRPr lang="da-DK" altLang="zh-CN" sz="1600" dirty="0"/>
          </a:p>
        </p:txBody>
      </p:sp>
      <p:sp>
        <p:nvSpPr>
          <p:cNvPr id="7"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矩形 5"/>
          <p:cNvSpPr/>
          <p:nvPr/>
        </p:nvSpPr>
        <p:spPr>
          <a:xfrm>
            <a:off x="609600" y="6356350"/>
            <a:ext cx="7620000" cy="461665"/>
          </a:xfrm>
          <a:prstGeom prst="rect">
            <a:avLst/>
          </a:prstGeom>
        </p:spPr>
        <p:txBody>
          <a:bodyPr wrap="square">
            <a:spAutoFit/>
          </a:bodyPr>
          <a:lstStyle/>
          <a:p>
            <a:r>
              <a:rPr lang="zh-CN" altLang="en-US" sz="1200" dirty="0"/>
              <a:t>https://baike.baidu.com/item/%E8%89%BE%E4%BC%A6%C2%B7%E9%BA%A6%E5%B8%AD%E6%A3%AE%C2%B7%E5%9B%BE%E7%81%B5/3940576?fr=aladdin</a:t>
            </a:r>
            <a:endParaRPr lang="zh-CN" alt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年少时期的图灵</a:t>
            </a:r>
            <a:endParaRPr lang="zh-CN" altLang="en-US" b="1" dirty="0"/>
          </a:p>
        </p:txBody>
      </p:sp>
      <p:pic>
        <p:nvPicPr>
          <p:cNvPr id="3"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r="16026"/>
          <a:stretch>
            <a:fillRect/>
          </a:stretch>
        </p:blipFill>
        <p:spPr bwMode="auto">
          <a:xfrm rot="952578">
            <a:off x="6480810" y="863600"/>
            <a:ext cx="2782415" cy="2645410"/>
          </a:xfrm>
          <a:prstGeom prst="rect">
            <a:avLst/>
          </a:prstGeom>
          <a:noFill/>
          <a:ln>
            <a:noFill/>
          </a:ln>
          <a:effectLst>
            <a:outerShdw dist="35921" dir="2700000" algn="ctr" rotWithShape="0">
              <a:schemeClr val="bg2"/>
            </a:outerShdw>
            <a:softEdge rad="1270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内容占位符 2"/>
          <p:cNvSpPr txBox="1"/>
          <p:nvPr/>
        </p:nvSpPr>
        <p:spPr>
          <a:xfrm>
            <a:off x="228600" y="1447800"/>
            <a:ext cx="7138035" cy="338455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en-US" altLang="zh-CN" sz="2400" dirty="0">
                <a:sym typeface="+mn-ea"/>
              </a:rPr>
              <a:t>艾伦·麦席森·图灵</a:t>
            </a:r>
            <a:r>
              <a:rPr lang="en-US" altLang="zh-CN" sz="2400" dirty="0"/>
              <a:t>，1912年6月23日生于英国伦敦。少年时就表现出独特的直觉创造能力和对数学的爱好。</a:t>
            </a:r>
            <a:endParaRPr lang="en-US" altLang="zh-CN" sz="2400" dirty="0"/>
          </a:p>
          <a:p>
            <a:pPr fontAlgn="auto">
              <a:lnSpc>
                <a:spcPct val="125000"/>
              </a:lnSpc>
              <a:spcBef>
                <a:spcPts val="0"/>
              </a:spcBef>
            </a:pPr>
            <a:r>
              <a:rPr lang="en-US" altLang="zh-CN" sz="2400" dirty="0"/>
              <a:t>1927年末，</a:t>
            </a:r>
            <a:r>
              <a:rPr lang="en-US" altLang="zh-CN" sz="2400" dirty="0">
                <a:solidFill>
                  <a:srgbClr val="FF0000"/>
                </a:solidFill>
              </a:rPr>
              <a:t>年仅15岁</a:t>
            </a:r>
            <a:r>
              <a:rPr lang="en-US" altLang="zh-CN" sz="2400" dirty="0"/>
              <a:t>的图灵</a:t>
            </a:r>
            <a:r>
              <a:rPr lang="zh-CN" altLang="en-US" sz="2400" dirty="0">
                <a:sym typeface="+mn-ea"/>
              </a:rPr>
              <a:t>开始阅读阿尔伯特</a:t>
            </a:r>
            <a:r>
              <a:rPr lang="en-US" altLang="zh-CN" sz="2400" dirty="0">
                <a:sym typeface="+mn-ea"/>
              </a:rPr>
              <a:t>·</a:t>
            </a:r>
            <a:r>
              <a:rPr lang="zh-CN" altLang="en-US" sz="2400" dirty="0">
                <a:sym typeface="+mn-ea"/>
              </a:rPr>
              <a:t>爱因斯坦的著作，</a:t>
            </a:r>
            <a:r>
              <a:rPr lang="en-US" altLang="zh-CN" sz="2400" dirty="0"/>
              <a:t>表现出他已具备非同凡响的数学水平和科学理解力。他不仅掌握了这一点，而且还从一段从未明确说明的文本中推断出爱因斯坦对牛顿运动定律的质疑。</a:t>
            </a:r>
            <a:endParaRPr lang="en-US" altLang="zh-CN" sz="2400" dirty="0"/>
          </a:p>
        </p:txBody>
      </p:sp>
      <p:sp>
        <p:nvSpPr>
          <p:cNvPr id="5"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effectLst>
                  <a:outerShdw blurRad="38100" dist="38100" dir="2700000" algn="tl">
                    <a:srgbClr val="000000">
                      <a:alpha val="43137"/>
                    </a:srgbClr>
                  </a:outerShdw>
                </a:effectLst>
              </a:rPr>
              <a:t>图灵在二战中的工作</a:t>
            </a:r>
            <a:endParaRPr lang="zh-CN" altLang="en-US" b="1" dirty="0">
              <a:effectLst>
                <a:outerShdw blurRad="38100" dist="38100" dir="2700000" algn="tl">
                  <a:srgbClr val="000000">
                    <a:alpha val="43137"/>
                  </a:srgbClr>
                </a:outerShdw>
              </a:effectLst>
            </a:endParaRPr>
          </a:p>
        </p:txBody>
      </p:sp>
      <p:sp>
        <p:nvSpPr>
          <p:cNvPr id="3" name="内容占位符 2"/>
          <p:cNvSpPr txBox="1"/>
          <p:nvPr/>
        </p:nvSpPr>
        <p:spPr>
          <a:xfrm>
            <a:off x="107950" y="977900"/>
            <a:ext cx="8567738" cy="208756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25000"/>
              </a:lnSpc>
              <a:spcBef>
                <a:spcPts val="20"/>
              </a:spcBef>
              <a:spcAft>
                <a:spcPts val="0"/>
              </a:spcAft>
            </a:pPr>
            <a:r>
              <a:rPr lang="en-US" altLang="zh-CN" sz="2000" dirty="0"/>
              <a:t>第二次世界大战打断了图灵的正常研究工作，1939年秋，他应召到英国外交部通信处从事军事工作，主要是破译敌方密码的工作。由于破译工作的需要，他参与了世界上最早的电子计算机的研制工作。他的工作取得了极好的成就，因而于1945年获政府的最高奖——大英帝国荣誉勋章（O.B.E.勋章）。</a:t>
            </a:r>
            <a:endParaRPr lang="en-US" altLang="zh-CN" sz="2000" dirty="0"/>
          </a:p>
        </p:txBody>
      </p:sp>
      <p:pic>
        <p:nvPicPr>
          <p:cNvPr id="4" name="Picture 6" descr="File:EnigmaMachineLabeled.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15616" y="3248694"/>
            <a:ext cx="2041525" cy="272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descr="http://www.techcn.com.cn/uploads/200905/1242964905L4zDyyGy.gif"/>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350" t="3641" r="2318" b="3085"/>
          <a:stretch>
            <a:fillRect/>
          </a:stretch>
        </p:blipFill>
        <p:spPr bwMode="auto">
          <a:xfrm>
            <a:off x="4371979" y="3248694"/>
            <a:ext cx="3440381" cy="272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3"/>
          <p:cNvSpPr>
            <a:spLocks noChangeArrowheads="1"/>
          </p:cNvSpPr>
          <p:nvPr/>
        </p:nvSpPr>
        <p:spPr bwMode="auto">
          <a:xfrm>
            <a:off x="1184672" y="6118448"/>
            <a:ext cx="19034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Enigma machine</a:t>
            </a:r>
            <a:endParaRPr lang="zh-CN" altLang="en-US" dirty="0"/>
          </a:p>
        </p:txBody>
      </p:sp>
      <p:sp>
        <p:nvSpPr>
          <p:cNvPr id="7" name="矩形 1"/>
          <p:cNvSpPr>
            <a:spLocks noChangeArrowheads="1"/>
          </p:cNvSpPr>
          <p:nvPr/>
        </p:nvSpPr>
        <p:spPr bwMode="auto">
          <a:xfrm>
            <a:off x="4860032" y="6108600"/>
            <a:ext cx="2625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Turing at Bletchley Park</a:t>
            </a:r>
            <a:endParaRPr lang="zh-CN" altLang="en-US" dirty="0"/>
          </a:p>
        </p:txBody>
      </p:sp>
      <p:sp>
        <p:nvSpPr>
          <p:cNvPr id="9"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恩尼格玛密码机</a:t>
            </a:r>
            <a:endParaRPr lang="en-US" altLang="zh-CN" b="1" dirty="0"/>
          </a:p>
        </p:txBody>
      </p:sp>
      <p:sp>
        <p:nvSpPr>
          <p:cNvPr id="3" name="内容占位符 1"/>
          <p:cNvSpPr txBox="1"/>
          <p:nvPr/>
        </p:nvSpPr>
        <p:spPr>
          <a:xfrm>
            <a:off x="492125" y="1341438"/>
            <a:ext cx="8229600" cy="186531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25000"/>
              </a:lnSpc>
              <a:spcBef>
                <a:spcPts val="20"/>
              </a:spcBef>
              <a:spcAft>
                <a:spcPts val="0"/>
              </a:spcAft>
              <a:buClrTx/>
              <a:buSzTx/>
            </a:pPr>
            <a:r>
              <a:rPr lang="en-US" altLang="zh-CN" sz="2000" dirty="0"/>
              <a:t>20世纪20年代早期，</a:t>
            </a:r>
            <a:r>
              <a:rPr lang="en-US" altLang="zh-CN" sz="2000" dirty="0">
                <a:sym typeface="+mn-ea"/>
              </a:rPr>
              <a:t>恩尼格玛密码机</a:t>
            </a:r>
            <a:r>
              <a:rPr lang="zh-CN" altLang="en-US" sz="2000" dirty="0">
                <a:sym typeface="+mn-ea"/>
              </a:rPr>
              <a:t>的</a:t>
            </a:r>
            <a:r>
              <a:rPr lang="en-US" altLang="zh-CN" sz="2000" dirty="0"/>
              <a:t>早期型号开始商业化使用，并在第二次世界大战之前和期间被纳粹德国的军事和政府部门采用。</a:t>
            </a:r>
            <a:endParaRPr lang="en-US" altLang="zh-CN" sz="2000" dirty="0"/>
          </a:p>
          <a:p>
            <a:pPr algn="just">
              <a:lnSpc>
                <a:spcPct val="125000"/>
              </a:lnSpc>
              <a:spcBef>
                <a:spcPts val="20"/>
              </a:spcBef>
              <a:spcAft>
                <a:spcPts val="0"/>
              </a:spcAft>
              <a:buClrTx/>
              <a:buSzTx/>
            </a:pPr>
            <a:r>
              <a:rPr lang="en-US" altLang="zh-CN" sz="2000" dirty="0"/>
              <a:t>1941年，英国海军捕获了一艘U-110潜艇并获得了密码本</a:t>
            </a:r>
            <a:r>
              <a:rPr lang="zh-CN" altLang="en-US" sz="2000" dirty="0"/>
              <a:t>，之后</a:t>
            </a:r>
            <a:r>
              <a:rPr lang="en-US" altLang="zh-CN" sz="2000" dirty="0"/>
              <a:t>它第一次</a:t>
            </a:r>
            <a:r>
              <a:rPr lang="zh-CN" altLang="en-US" sz="2000" dirty="0"/>
              <a:t>在</a:t>
            </a:r>
            <a:r>
              <a:rPr lang="en-US" altLang="zh-CN" sz="2000" dirty="0"/>
              <a:t>布莱切利公园</a:t>
            </a:r>
            <a:r>
              <a:rPr lang="zh-CN" altLang="en-US" sz="2000" dirty="0"/>
              <a:t>（二战期间的密码破译中心）被破译</a:t>
            </a:r>
            <a:r>
              <a:rPr lang="en-US" altLang="zh-CN" sz="2000" dirty="0"/>
              <a:t>，当时艾伦·图灵在那里工作。</a:t>
            </a:r>
            <a:endParaRPr lang="en-US" altLang="zh-CN" sz="2000" dirty="0"/>
          </a:p>
        </p:txBody>
      </p:sp>
      <p:pic>
        <p:nvPicPr>
          <p:cNvPr id="4" name="Picture 2" descr="Enigma rotor exploded view.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76288" y="3816350"/>
            <a:ext cx="1808162"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Enigma rotor se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71775" y="3967163"/>
            <a:ext cx="1971675" cy="156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descr="http://upload.wikimedia.org/wikipedia/commons/thumb/7/7f/Enigma-rotor-stack.jpg/320px-Enigma-rotor-stack.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6825" y="3519488"/>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电影</a:t>
            </a:r>
            <a:r>
              <a:rPr lang="en-US" altLang="zh-CN" b="1" dirty="0"/>
              <a:t>U-571</a:t>
            </a:r>
            <a:endParaRPr lang="zh-CN" altLang="en-US" b="1" dirty="0"/>
          </a:p>
        </p:txBody>
      </p:sp>
      <p:pic>
        <p:nvPicPr>
          <p:cNvPr id="3" name="Picture 2" descr="http://www.dvdspring.com/UploadFiles/2008-2/2008222125822530.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541689" y="1113108"/>
            <a:ext cx="4362450" cy="243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4" descr="http://img.ph.126.net/N-s8V8emo39khiZJZzqa2w==/327270955421611655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9728" y="3550709"/>
            <a:ext cx="4137025"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1"/>
          <p:cNvSpPr txBox="1"/>
          <p:nvPr/>
        </p:nvSpPr>
        <p:spPr>
          <a:xfrm>
            <a:off x="315595" y="1530985"/>
            <a:ext cx="4090670" cy="193675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25000"/>
              </a:lnSpc>
              <a:spcBef>
                <a:spcPts val="20"/>
              </a:spcBef>
              <a:spcAft>
                <a:spcPts val="0"/>
              </a:spcAft>
              <a:buClrTx/>
              <a:buSzTx/>
            </a:pPr>
            <a:r>
              <a:rPr lang="en-US" altLang="zh-CN" sz="2000" dirty="0"/>
              <a:t>这部电影讲述了获得</a:t>
            </a:r>
            <a:r>
              <a:rPr lang="en-US" altLang="zh-CN" sz="2000" dirty="0">
                <a:sym typeface="+mn-ea"/>
              </a:rPr>
              <a:t>恩尼格玛密码机</a:t>
            </a:r>
            <a:r>
              <a:rPr lang="en-US" altLang="zh-CN" sz="2000" dirty="0"/>
              <a:t>，然后帮助盟军在第二次世界大战中获胜的故事。</a:t>
            </a:r>
            <a:endParaRPr lang="en-US" altLang="zh-CN" sz="2000" dirty="0"/>
          </a:p>
        </p:txBody>
      </p:sp>
      <p:sp>
        <p:nvSpPr>
          <p:cNvPr id="7"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图灵测试</a:t>
            </a:r>
            <a:r>
              <a:rPr lang="en-US" altLang="zh-CN" b="1" dirty="0"/>
              <a:t> Turing test</a:t>
            </a:r>
            <a:endParaRPr lang="zh-CN" altLang="en-US" b="1" dirty="0"/>
          </a:p>
        </p:txBody>
      </p:sp>
      <p:sp>
        <p:nvSpPr>
          <p:cNvPr id="3" name="内容占位符 2"/>
          <p:cNvSpPr txBox="1"/>
          <p:nvPr/>
        </p:nvSpPr>
        <p:spPr>
          <a:xfrm>
            <a:off x="4860032" y="1916832"/>
            <a:ext cx="3754463" cy="266429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25000"/>
              </a:lnSpc>
              <a:spcBef>
                <a:spcPts val="20"/>
              </a:spcBef>
              <a:spcAft>
                <a:spcPts val="0"/>
              </a:spcAft>
              <a:buClrTx/>
              <a:buSzTx/>
            </a:pPr>
            <a:r>
              <a:rPr lang="en-US" altLang="zh-CN" sz="2000" dirty="0"/>
              <a:t>图灵写了一篇题为“机器能思考吗？”的文章，提出了一个被称为图灵测试的实验，试图为机器定义一个称为“智能”的标准。</a:t>
            </a:r>
            <a:endParaRPr lang="en-US" altLang="zh-CN" sz="2000" dirty="0"/>
          </a:p>
        </p:txBody>
      </p:sp>
      <p:pic>
        <p:nvPicPr>
          <p:cNvPr id="4" name="Picture 2"/>
          <p:cNvPicPr>
            <a:picLocks noChangeAspect="1" noChangeArrowheads="1"/>
          </p:cNvPicPr>
          <p:nvPr/>
        </p:nvPicPr>
        <p:blipFill>
          <a:blip r:embed="rId1"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1520" y="1052736"/>
            <a:ext cx="3751684" cy="4808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图灵机</a:t>
            </a:r>
            <a:r>
              <a:rPr lang="en-US" altLang="zh-CN" b="1" dirty="0"/>
              <a:t> Turing machine</a:t>
            </a:r>
            <a:endParaRPr lang="zh-CN" altLang="en-US" b="1" dirty="0"/>
          </a:p>
        </p:txBody>
      </p:sp>
      <p:pic>
        <p:nvPicPr>
          <p:cNvPr id="3" name="Picture 8" descr="http://caai.cn/upload/2012/8/31154350140.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65077" y="1632992"/>
            <a:ext cx="3086167" cy="17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descr="http://upload.wikimedia.org/wikipedia/commons/thumb/a/ad/Model_of_a_Turing_machine.jpg/220px-Model_of_a_Turing_machine.jpg"/>
          <p:cNvPicPr>
            <a:picLocks noChangeAspect="1" noChangeArrowheads="1"/>
          </p:cNvPicPr>
          <p:nvPr/>
        </p:nvPicPr>
        <p:blipFill>
          <a:blip r:embed="rId2" cstate="print">
            <a:extLst>
              <a:ext uri="{28A0092B-C50C-407E-A947-70E740481C1C}">
                <a14:useLocalDpi xmlns:a14="http://schemas.microsoft.com/office/drawing/2010/main" val="0"/>
              </a:ext>
            </a:extLst>
          </a:blip>
          <a:srcRect b="12349"/>
          <a:stretch>
            <a:fillRect/>
          </a:stretch>
        </p:blipFill>
        <p:spPr bwMode="auto">
          <a:xfrm>
            <a:off x="4615180" y="4419600"/>
            <a:ext cx="3093085" cy="2032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descr="http://a3.att.hudong.com/18/91/2030019704537513226091022866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894" y="4419472"/>
            <a:ext cx="305435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6"/>
          <p:cNvSpPr txBox="1"/>
          <p:nvPr/>
        </p:nvSpPr>
        <p:spPr>
          <a:xfrm>
            <a:off x="3609340" y="1323975"/>
            <a:ext cx="5443855" cy="215582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r>
              <a:rPr lang="en-US" altLang="zh-CN" sz="2000" dirty="0">
                <a:sym typeface="+mn-ea"/>
              </a:rPr>
              <a:t>1936年，英国数学家</a:t>
            </a:r>
            <a:r>
              <a:rPr lang="zh-CN" altLang="en-US" sz="2000" dirty="0">
                <a:sym typeface="+mn-ea"/>
              </a:rPr>
              <a:t>艾伦</a:t>
            </a:r>
            <a:r>
              <a:rPr lang="en-US" altLang="zh-CN" sz="2000" dirty="0">
                <a:sym typeface="+mn-ea"/>
              </a:rPr>
              <a:t>・图灵提出了一种抽象的计算模型——</a:t>
            </a:r>
            <a:r>
              <a:rPr lang="zh-CN" altLang="en-US" sz="2000" dirty="0">
                <a:sym typeface="+mn-ea"/>
              </a:rPr>
              <a:t>图灵机</a:t>
            </a:r>
            <a:r>
              <a:rPr lang="en-US" altLang="zh-CN" sz="2000" dirty="0">
                <a:sym typeface="+mn-ea"/>
              </a:rPr>
              <a:t>。</a:t>
            </a:r>
            <a:endParaRPr lang="en-US" altLang="zh-CN" sz="2000" dirty="0"/>
          </a:p>
          <a:p>
            <a:pPr algn="just"/>
            <a:r>
              <a:rPr lang="en-US" altLang="zh-CN" sz="2000" dirty="0"/>
              <a:t>图灵机是一种假想的设备，它根据规则表操纵纸袋上的符号，并进行状态之间的转移。</a:t>
            </a:r>
            <a:endParaRPr lang="en-US" altLang="zh-CN" sz="2000" dirty="0"/>
          </a:p>
          <a:p>
            <a:pPr algn="just"/>
            <a:r>
              <a:rPr lang="en-US" altLang="zh-CN" sz="2000" dirty="0" err="1"/>
              <a:t>这个设想最有变革意义的地方在于，它</a:t>
            </a:r>
            <a:r>
              <a:rPr lang="en-US" altLang="zh-CN" sz="2000" dirty="0" err="1">
                <a:solidFill>
                  <a:srgbClr val="FF0000"/>
                </a:solidFill>
              </a:rPr>
              <a:t>第一次在纯数学的符号逻辑</a:t>
            </a:r>
            <a:r>
              <a:rPr lang="zh-CN" altLang="en-US" sz="2000" dirty="0">
                <a:solidFill>
                  <a:srgbClr val="FF0000"/>
                </a:solidFill>
              </a:rPr>
              <a:t>和</a:t>
            </a:r>
            <a:r>
              <a:rPr lang="en-US" altLang="zh-CN" sz="2000" dirty="0" err="1">
                <a:solidFill>
                  <a:srgbClr val="FF0000"/>
                </a:solidFill>
              </a:rPr>
              <a:t>实体世界之间建立了联系</a:t>
            </a:r>
            <a:r>
              <a:rPr lang="en-US" altLang="zh-CN" sz="2000" dirty="0"/>
              <a:t>，</a:t>
            </a:r>
            <a:r>
              <a:rPr lang="zh-CN" altLang="en-US" sz="2000" dirty="0"/>
              <a:t>就是</a:t>
            </a:r>
            <a:r>
              <a:rPr lang="en-US" altLang="zh-CN" sz="2000" dirty="0" err="1"/>
              <a:t>后来我们所熟知的电脑，以及还没有实现</a:t>
            </a:r>
            <a:r>
              <a:rPr lang="zh-CN" altLang="en-US" sz="2000" dirty="0"/>
              <a:t>但正在路上</a:t>
            </a:r>
            <a:r>
              <a:rPr lang="en-US" altLang="zh-CN" sz="2000" dirty="0"/>
              <a:t>的“人工智能”，都基于这个设想。</a:t>
            </a:r>
            <a:endParaRPr lang="en-US" altLang="zh-CN" sz="2000" dirty="0"/>
          </a:p>
          <a:p>
            <a:pPr algn="just"/>
            <a:endParaRPr lang="zh-CN" altLang="en-US" sz="1800" dirty="0"/>
          </a:p>
        </p:txBody>
      </p:sp>
      <p:sp>
        <p:nvSpPr>
          <p:cNvPr id="8"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Alan Turing</a:t>
            </a:r>
            <a:endParaRPr lang="zh-CN" altLang="en-US" b="1" dirty="0"/>
          </a:p>
        </p:txBody>
      </p:sp>
      <p:pic>
        <p:nvPicPr>
          <p:cNvPr id="3" name="Picture 2" descr="（图）1946年长跑中的图灵"/>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rot="21059119">
            <a:off x="483449" y="1937821"/>
            <a:ext cx="3323293" cy="3734018"/>
          </a:xfrm>
          <a:prstGeom prst="rect">
            <a:avLst/>
          </a:prstGeom>
          <a:noFill/>
          <a:ln>
            <a:noFill/>
          </a:ln>
          <a:effectLst>
            <a:softEdge rad="63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2"/>
          <p:cNvSpPr txBox="1"/>
          <p:nvPr/>
        </p:nvSpPr>
        <p:spPr>
          <a:xfrm>
            <a:off x="4038527" y="2209944"/>
            <a:ext cx="4391025" cy="387032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ClrTx/>
              <a:buSzTx/>
            </a:pPr>
            <a:r>
              <a:rPr lang="en-US" altLang="zh-CN" sz="2000" dirty="0"/>
              <a:t>图灵还是一位很有能力的长跑运动员</a:t>
            </a:r>
            <a:r>
              <a:rPr lang="zh-CN" altLang="en-US" sz="2000" dirty="0"/>
              <a:t>，</a:t>
            </a:r>
            <a:r>
              <a:rPr lang="en-US" altLang="zh-CN" sz="2000" dirty="0"/>
              <a:t>他的马拉松最好成绩是2小时46分3秒。</a:t>
            </a:r>
            <a:endParaRPr lang="en-US" altLang="zh-CN" sz="2000" dirty="0"/>
          </a:p>
          <a:p>
            <a:pPr algn="just">
              <a:buClrTx/>
              <a:buSzTx/>
            </a:pPr>
            <a:r>
              <a:rPr lang="en-US" altLang="zh-CN" sz="2000" dirty="0"/>
              <a:t>在布莱切利工作期间，图灵偶尔会在需要参加高层会议的时候跑40英里到伦敦，他</a:t>
            </a:r>
            <a:r>
              <a:rPr lang="zh-CN" altLang="en-US" sz="2000" dirty="0"/>
              <a:t>具备</a:t>
            </a:r>
            <a:r>
              <a:rPr lang="en-US" altLang="zh-CN" sz="2000" dirty="0"/>
              <a:t>达到世界级的马拉松标准</a:t>
            </a:r>
            <a:r>
              <a:rPr lang="zh-CN" altLang="en-US" sz="2000" dirty="0"/>
              <a:t>的长跑能力</a:t>
            </a:r>
            <a:r>
              <a:rPr lang="en-US" altLang="zh-CN" sz="2000" dirty="0"/>
              <a:t>。</a:t>
            </a:r>
            <a:endParaRPr lang="en-US" altLang="zh-CN" sz="2000" dirty="0"/>
          </a:p>
        </p:txBody>
      </p:sp>
      <p:sp>
        <p:nvSpPr>
          <p:cNvPr id="8"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图灵奖</a:t>
            </a:r>
            <a:r>
              <a:rPr lang="en-US" altLang="zh-CN" b="1" dirty="0"/>
              <a:t> Turing Award</a:t>
            </a:r>
            <a:endParaRPr lang="zh-CN" altLang="en-US" b="1" dirty="0"/>
          </a:p>
        </p:txBody>
      </p:sp>
      <p:pic>
        <p:nvPicPr>
          <p:cNvPr id="3" name="Picture 8"/>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51520" y="908720"/>
            <a:ext cx="4619625"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1803" y="5129038"/>
            <a:ext cx="8058150"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内容占位符 2"/>
          <p:cNvSpPr txBox="1"/>
          <p:nvPr/>
        </p:nvSpPr>
        <p:spPr>
          <a:xfrm>
            <a:off x="4871085" y="1022350"/>
            <a:ext cx="4248785" cy="418592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lnSpc>
                <a:spcPct val="120000"/>
              </a:lnSpc>
              <a:spcBef>
                <a:spcPts val="20"/>
              </a:spcBef>
              <a:spcAft>
                <a:spcPts val="0"/>
              </a:spcAft>
              <a:buNone/>
            </a:pPr>
            <a:r>
              <a:rPr lang="en-US" altLang="zh-CN" sz="2000" dirty="0">
                <a:sym typeface="+mn-ea"/>
              </a:rPr>
              <a:t>ACM A.M Turing Award，是由美国计算机协会（ACM）于1966年设立的计算机奖项，名称取自艾伦·麦席森·图灵（Alan M. Turing），旨在奖励对计算机事业作出重要贡献的个人 。</a:t>
            </a:r>
            <a:endParaRPr lang="en-US" altLang="zh-CN" sz="2000" dirty="0">
              <a:sym typeface="+mn-ea"/>
            </a:endParaRPr>
          </a:p>
          <a:p>
            <a:pPr marL="0" indent="0" algn="just">
              <a:lnSpc>
                <a:spcPct val="120000"/>
              </a:lnSpc>
              <a:spcBef>
                <a:spcPts val="20"/>
              </a:spcBef>
              <a:spcAft>
                <a:spcPts val="0"/>
              </a:spcAft>
              <a:buNone/>
            </a:pPr>
            <a:r>
              <a:rPr lang="en-US" altLang="zh-CN" sz="2000" dirty="0">
                <a:sym typeface="+mn-ea"/>
              </a:rPr>
              <a:t>图灵奖对获奖条件要求极高，评奖程序极严，一般每年仅授予一名计算机科学家。图灵奖是计算机领域的国际最高奖项，被誉为“计算机界的诺贝尔奖”。</a:t>
            </a:r>
            <a:endParaRPr lang="en-US" altLang="zh-CN" sz="2000" dirty="0">
              <a:sym typeface="+mn-ea"/>
            </a:endParaRPr>
          </a:p>
        </p:txBody>
      </p:sp>
      <p:sp>
        <p:nvSpPr>
          <p:cNvPr id="6" name="虚尾箭头 5"/>
          <p:cNvSpPr/>
          <p:nvPr/>
        </p:nvSpPr>
        <p:spPr>
          <a:xfrm rot="3173588">
            <a:off x="1607674" y="3334172"/>
            <a:ext cx="2781093" cy="864096"/>
          </a:xfrm>
          <a:prstGeom prst="striped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8"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5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p:nvPr/>
        </p:nvSpPr>
        <p:spPr>
          <a:xfrm>
            <a:off x="380683" y="1600290"/>
            <a:ext cx="5291137" cy="4389437"/>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65760" indent="-255905" algn="just">
              <a:lnSpc>
                <a:spcPct val="125000"/>
              </a:lnSpc>
              <a:spcBef>
                <a:spcPts val="20"/>
              </a:spcBef>
              <a:spcAft>
                <a:spcPts val="0"/>
              </a:spcAft>
              <a:buFont typeface="Wingdings 3" panose="05040102010807070707"/>
              <a:buChar char=""/>
              <a:defRPr/>
            </a:pPr>
            <a:r>
              <a:rPr lang="en-US" altLang="zh-CN" sz="2000" dirty="0" err="1"/>
              <a:t>阿夫拉姆·诺姆·乔姆斯基</a:t>
            </a:r>
            <a:r>
              <a:rPr lang="zh-CN" altLang="en-US" sz="2000" dirty="0"/>
              <a:t>（1928年12月7日—）</a:t>
            </a:r>
            <a:r>
              <a:rPr lang="en-US" altLang="zh-CN" sz="2000" dirty="0"/>
              <a:t>是美国语言学家、哲学家、认知科学家、逻辑学家、政治评论员和活动家。他在麻省理工学院（MIT）工作了大半辈子，目前是麻省理工学院的名誉教授。</a:t>
            </a:r>
            <a:endParaRPr lang="en-US" altLang="zh-CN" sz="2000" dirty="0"/>
          </a:p>
          <a:p>
            <a:pPr marL="365760" indent="-255905" algn="just">
              <a:lnSpc>
                <a:spcPct val="125000"/>
              </a:lnSpc>
              <a:spcBef>
                <a:spcPts val="20"/>
              </a:spcBef>
              <a:spcAft>
                <a:spcPts val="0"/>
              </a:spcAft>
              <a:buFont typeface="Wingdings 3" panose="05040102010807070707"/>
              <a:buChar char=""/>
              <a:defRPr/>
            </a:pPr>
            <a:r>
              <a:rPr lang="en-US" altLang="zh-CN" sz="2000" dirty="0"/>
              <a:t>乔姆斯基的《生成语法》被认为是20世纪理论语言学研究上最伟大的贡献</a:t>
            </a:r>
            <a:r>
              <a:rPr lang="zh-CN" altLang="en-US" sz="2000" dirty="0"/>
              <a:t>，他的另一大成就是建立了乔姆斯基层级：根据文法生成力不同而对正则语言做的分类。</a:t>
            </a:r>
            <a:endParaRPr lang="zh-CN" altLang="en-US" sz="2000" dirty="0"/>
          </a:p>
        </p:txBody>
      </p:sp>
      <p:pic>
        <p:nvPicPr>
          <p:cNvPr id="4" name="Picture 4" descr="http://pic.baike.soso.com/p/20120910/bki-20120910213722-895591679.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084888" y="1840458"/>
            <a:ext cx="2374900" cy="346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7" name="矩形 6"/>
          <p:cNvSpPr/>
          <p:nvPr/>
        </p:nvSpPr>
        <p:spPr>
          <a:xfrm>
            <a:off x="609600" y="6356350"/>
            <a:ext cx="7620000" cy="461665"/>
          </a:xfrm>
          <a:prstGeom prst="rect">
            <a:avLst/>
          </a:prstGeom>
        </p:spPr>
        <p:txBody>
          <a:bodyPr wrap="square">
            <a:spAutoFit/>
          </a:bodyPr>
          <a:lstStyle/>
          <a:p>
            <a:r>
              <a:rPr lang="en-US" altLang="zh-CN" sz="1200" dirty="0"/>
              <a:t>https://baike.baidu.com/item/%E8%AF%BA%E5%A7%86%C2%B7%E4%B9%94%E5%A7%86%E6%96%AF%E5%9F%BA/5106961?fr=aladdin</a:t>
            </a:r>
            <a:endParaRPr lang="zh-CN" altLang="en-US" sz="1200" dirty="0"/>
          </a:p>
        </p:txBody>
      </p:sp>
      <p:sp>
        <p:nvSpPr>
          <p:cNvPr id="10" name="标题 1"/>
          <p:cNvSpPr>
            <a:spLocks noGrp="1"/>
          </p:cNvSpPr>
          <p:nvPr>
            <p:ph type="title"/>
          </p:nvPr>
        </p:nvSpPr>
        <p:spPr>
          <a:xfrm>
            <a:off x="2743200" y="0"/>
            <a:ext cx="6400800" cy="692696"/>
          </a:xfrm>
        </p:spPr>
        <p:txBody>
          <a:bodyPr/>
          <a:lstStyle/>
          <a:p>
            <a:r>
              <a:rPr lang="en-US" altLang="zh-CN" dirty="0" err="1"/>
              <a:t>诺姆·乔姆斯基</a:t>
            </a:r>
            <a:r>
              <a:rPr lang="en-US" altLang="zh-CN" dirty="0"/>
              <a:t> </a:t>
            </a:r>
            <a:r>
              <a:rPr lang="en-US" altLang="zh-CN" b="1" dirty="0"/>
              <a:t>Noam Chomsky</a:t>
            </a:r>
            <a:endParaRPr lang="zh-CN" altLang="en-US"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Noam Chomsky</a:t>
            </a:r>
            <a:endParaRPr lang="zh-CN" altLang="en-US" b="1" dirty="0"/>
          </a:p>
        </p:txBody>
      </p:sp>
      <p:pic>
        <p:nvPicPr>
          <p:cNvPr id="4" name="Picture 2" descr="http://image.dfdaily.com/2010/8/20/634178688980902500820b041c1_nEO_IMG.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23528" y="1135975"/>
            <a:ext cx="4286250"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2"/>
          <p:cNvSpPr txBox="1"/>
          <p:nvPr/>
        </p:nvSpPr>
        <p:spPr>
          <a:xfrm>
            <a:off x="4788535" y="2924810"/>
            <a:ext cx="4050030" cy="2544445"/>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2200" dirty="0" err="1"/>
              <a:t>乔姆斯基还以政治活动家和美国外交政策、国家资本主义和主流新闻媒体的主要批评者而闻名</a:t>
            </a:r>
            <a:r>
              <a:rPr lang="en-US" altLang="zh-CN" sz="2200" dirty="0"/>
              <a:t>。</a:t>
            </a:r>
            <a:r>
              <a:rPr lang="zh-CN" altLang="en-US" sz="2200" dirty="0">
                <a:sym typeface="+mn-ea"/>
              </a:rPr>
              <a:t>乔姆斯基把自己归为自由意志社会主义者，并且是无政府工团主义的同情者。</a:t>
            </a:r>
            <a:endParaRPr lang="en-US" altLang="zh-CN" sz="2200" dirty="0"/>
          </a:p>
        </p:txBody>
      </p:sp>
      <p:sp>
        <p:nvSpPr>
          <p:cNvPr id="8"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80446" y="3104927"/>
            <a:ext cx="8468018" cy="2395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a:xfrm>
            <a:off x="2588895" y="0"/>
            <a:ext cx="6555105" cy="692785"/>
          </a:xfrm>
        </p:spPr>
        <p:txBody>
          <a:bodyPr/>
          <a:lstStyle/>
          <a:p>
            <a:pPr algn="r">
              <a:buClrTx/>
              <a:buSzTx/>
              <a:buFontTx/>
            </a:pPr>
            <a:r>
              <a:rPr lang="en-US" altLang="zh-CN" sz="3200" b="1" dirty="0"/>
              <a:t>乔姆斯基层级 Chomsky hierarchy</a:t>
            </a:r>
            <a:endParaRPr lang="en-US" altLang="zh-CN" sz="3200" b="1" dirty="0"/>
          </a:p>
        </p:txBody>
      </p:sp>
      <p:sp>
        <p:nvSpPr>
          <p:cNvPr id="3" name="内容占位符 1"/>
          <p:cNvSpPr txBox="1"/>
          <p:nvPr/>
        </p:nvSpPr>
        <p:spPr>
          <a:xfrm>
            <a:off x="444500" y="1344930"/>
            <a:ext cx="8229600" cy="173863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25000"/>
              </a:lnSpc>
              <a:spcBef>
                <a:spcPts val="20"/>
              </a:spcBef>
              <a:spcAft>
                <a:spcPts val="0"/>
              </a:spcAft>
            </a:pPr>
            <a:r>
              <a:rPr lang="zh-CN" altLang="en-US" sz="2000" dirty="0">
                <a:effectLst/>
                <a:sym typeface="+mn-ea"/>
              </a:rPr>
              <a:t>乔姆斯基层级</a:t>
            </a:r>
            <a:r>
              <a:rPr lang="en-US" altLang="zh-CN" sz="2000" dirty="0" err="1"/>
              <a:t>允许计算机科学模型系统地实现有意义的语言目标</a:t>
            </a:r>
            <a:r>
              <a:rPr lang="en-US" altLang="zh-CN" sz="2000" dirty="0"/>
              <a:t>。 </a:t>
            </a:r>
            <a:r>
              <a:rPr lang="en-US" altLang="zh-CN" sz="2000" dirty="0" err="1"/>
              <a:t>不同种类的自动机可以识别不同种类的语言</a:t>
            </a:r>
            <a:r>
              <a:rPr lang="en-US" altLang="zh-CN" sz="2000" dirty="0"/>
              <a:t>。</a:t>
            </a:r>
            <a:endParaRPr lang="en-US" altLang="zh-CN" sz="2000" dirty="0"/>
          </a:p>
          <a:p>
            <a:pPr algn="l">
              <a:lnSpc>
                <a:spcPct val="125000"/>
              </a:lnSpc>
              <a:spcBef>
                <a:spcPts val="20"/>
              </a:spcBef>
              <a:spcAft>
                <a:spcPts val="0"/>
              </a:spcAft>
              <a:buClrTx/>
              <a:buSzTx/>
            </a:pPr>
            <a:r>
              <a:rPr lang="en-US" altLang="zh-CN" sz="2000" dirty="0" err="1"/>
              <a:t>下表总结了乔姆斯基的四种语法类型、它生成的语言类别、识别它的自动机类型以及它的规则必须具有的形式</a:t>
            </a:r>
            <a:r>
              <a:rPr lang="en-US" altLang="zh-CN" sz="2000" dirty="0"/>
              <a:t>。</a:t>
            </a:r>
            <a:endParaRPr lang="en-US" altLang="zh-CN" sz="2000" dirty="0"/>
          </a:p>
        </p:txBody>
      </p:sp>
      <p:sp>
        <p:nvSpPr>
          <p:cNvPr id="8"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4" name="椭圆 3"/>
          <p:cNvSpPr/>
          <p:nvPr/>
        </p:nvSpPr>
        <p:spPr>
          <a:xfrm>
            <a:off x="2362200" y="4419600"/>
            <a:ext cx="3352800" cy="228600"/>
          </a:xfrm>
          <a:prstGeom prst="ellipse">
            <a:avLst/>
          </a:prstGeom>
          <a:noFill/>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88895" y="0"/>
            <a:ext cx="6555105" cy="692785"/>
          </a:xfrm>
        </p:spPr>
        <p:txBody>
          <a:bodyPr/>
          <a:lstStyle/>
          <a:p>
            <a:pPr algn="r">
              <a:buClrTx/>
              <a:buSzTx/>
              <a:buFontTx/>
            </a:pPr>
            <a:r>
              <a:rPr lang="zh-CN" altLang="en-US" sz="3200" b="1" dirty="0"/>
              <a:t>成才观</a:t>
            </a:r>
            <a:endParaRPr lang="en-US" altLang="zh-CN" sz="3200" b="1" dirty="0"/>
          </a:p>
        </p:txBody>
      </p:sp>
      <p:sp>
        <p:nvSpPr>
          <p:cNvPr id="3" name="内容占位符 1"/>
          <p:cNvSpPr txBox="1"/>
          <p:nvPr/>
        </p:nvSpPr>
        <p:spPr>
          <a:xfrm>
            <a:off x="444500" y="1344930"/>
            <a:ext cx="8394700" cy="223647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25000"/>
              </a:lnSpc>
              <a:spcBef>
                <a:spcPts val="20"/>
              </a:spcBef>
            </a:pPr>
            <a:r>
              <a:rPr lang="zh-CN" altLang="en-US" dirty="0"/>
              <a:t>立志早成才：自古英雄出少年</a:t>
            </a:r>
            <a:endParaRPr lang="zh-CN" altLang="en-US" dirty="0"/>
          </a:p>
          <a:p>
            <a:pPr>
              <a:lnSpc>
                <a:spcPct val="125000"/>
              </a:lnSpc>
              <a:spcBef>
                <a:spcPts val="20"/>
              </a:spcBef>
              <a:spcAft>
                <a:spcPts val="0"/>
              </a:spcAft>
            </a:pPr>
            <a:endParaRPr lang="en-US" altLang="zh-CN" dirty="0"/>
          </a:p>
          <a:p>
            <a:pPr algn="l">
              <a:lnSpc>
                <a:spcPct val="125000"/>
              </a:lnSpc>
              <a:spcBef>
                <a:spcPts val="20"/>
              </a:spcBef>
              <a:spcAft>
                <a:spcPts val="0"/>
              </a:spcAft>
              <a:buClrTx/>
              <a:buSzTx/>
            </a:pPr>
            <a:r>
              <a:rPr lang="zh-CN" altLang="en-US" dirty="0"/>
              <a:t>博学方能成才：多学科复合人才</a:t>
            </a:r>
            <a:endParaRPr lang="en-US" altLang="zh-CN" dirty="0"/>
          </a:p>
          <a:p>
            <a:pPr algn="l">
              <a:lnSpc>
                <a:spcPct val="125000"/>
              </a:lnSpc>
              <a:spcBef>
                <a:spcPts val="20"/>
              </a:spcBef>
              <a:spcAft>
                <a:spcPts val="0"/>
              </a:spcAft>
              <a:buClrTx/>
              <a:buSzTx/>
            </a:pPr>
            <a:endParaRPr lang="en-US" altLang="zh-CN" dirty="0"/>
          </a:p>
          <a:p>
            <a:pPr algn="l">
              <a:lnSpc>
                <a:spcPct val="125000"/>
              </a:lnSpc>
              <a:spcBef>
                <a:spcPts val="20"/>
              </a:spcBef>
              <a:spcAft>
                <a:spcPts val="0"/>
              </a:spcAft>
              <a:buClrTx/>
              <a:buSzTx/>
            </a:pPr>
            <a:r>
              <a:rPr lang="zh-CN" altLang="en-US" dirty="0"/>
              <a:t>在实践中成才：在实践中锻炼、进步、成才</a:t>
            </a:r>
            <a:endParaRPr lang="en-US" altLang="zh-CN" dirty="0"/>
          </a:p>
        </p:txBody>
      </p:sp>
      <p:sp>
        <p:nvSpPr>
          <p:cNvPr id="8"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1675"/>
            <a:ext cx="8229600" cy="1143000"/>
          </a:xfrm>
        </p:spPr>
        <p:txBody>
          <a:bodyPr/>
          <a:lstStyle/>
          <a:p>
            <a:r>
              <a:rPr lang="zh-CN" altLang="en-US" dirty="0"/>
              <a:t>内容大纲</a:t>
            </a:r>
            <a:endParaRPr lang="en-AU" dirty="0"/>
          </a:p>
        </p:txBody>
      </p:sp>
      <p:sp>
        <p:nvSpPr>
          <p:cNvPr id="3" name="Content Placeholder 2"/>
          <p:cNvSpPr>
            <a:spLocks noGrp="1"/>
          </p:cNvSpPr>
          <p:nvPr>
            <p:ph idx="1"/>
          </p:nvPr>
        </p:nvSpPr>
        <p:spPr>
          <a:xfrm>
            <a:off x="457200" y="2027237"/>
            <a:ext cx="8229600" cy="4525963"/>
          </a:xfrm>
        </p:spPr>
        <p:txBody>
          <a:bodyPr/>
          <a:lstStyle/>
          <a:p>
            <a:pPr algn="just">
              <a:buNone/>
            </a:pPr>
            <a:r>
              <a:rPr lang="en-US" altLang="zh-CN" sz="3600" dirty="0">
                <a:solidFill>
                  <a:schemeClr val="bg1">
                    <a:lumMod val="65000"/>
                  </a:schemeClr>
                </a:solidFill>
                <a:latin typeface="Times New Roman" panose="02020603050405020304" pitchFamily="18" charset="0"/>
                <a:ea typeface="宋体" panose="02010600030101010101" pitchFamily="2" charset="-122"/>
              </a:rPr>
              <a:t>(1)  </a:t>
            </a:r>
            <a:r>
              <a:rPr lang="zh-CN" altLang="en-US" sz="3600" dirty="0">
                <a:solidFill>
                  <a:schemeClr val="bg1">
                    <a:lumMod val="65000"/>
                  </a:schemeClr>
                </a:solidFill>
                <a:latin typeface="Times New Roman" panose="02020603050405020304" pitchFamily="18" charset="0"/>
                <a:ea typeface="宋体" panose="02010600030101010101" pitchFamily="2" charset="-122"/>
              </a:rPr>
              <a:t>课程简介</a:t>
            </a:r>
            <a:endParaRPr lang="en-US" altLang="zh-CN" sz="3600" dirty="0">
              <a:solidFill>
                <a:schemeClr val="bg1">
                  <a:lumMod val="65000"/>
                </a:schemeClr>
              </a:solidFill>
              <a:latin typeface="Times New Roman" panose="02020603050405020304" pitchFamily="18" charset="0"/>
              <a:ea typeface="宋体" panose="02010600030101010101" pitchFamily="2" charset="-122"/>
            </a:endParaRPr>
          </a:p>
          <a:p>
            <a:pPr algn="just">
              <a:buNone/>
            </a:pPr>
            <a:r>
              <a:rPr lang="en-US" altLang="zh-CN" sz="3600" dirty="0">
                <a:solidFill>
                  <a:schemeClr val="bg1">
                    <a:lumMod val="65000"/>
                  </a:schemeClr>
                </a:solidFill>
                <a:latin typeface="Times New Roman" panose="02020603050405020304" pitchFamily="18" charset="0"/>
                <a:ea typeface="宋体" panose="02010600030101010101" pitchFamily="2" charset="-122"/>
              </a:rPr>
              <a:t>(2)  </a:t>
            </a:r>
            <a:r>
              <a:rPr lang="zh-CN" altLang="en-US" sz="3600" dirty="0">
                <a:solidFill>
                  <a:schemeClr val="bg1">
                    <a:lumMod val="65000"/>
                  </a:schemeClr>
                </a:solidFill>
                <a:latin typeface="Times New Roman" panose="02020603050405020304" pitchFamily="18" charset="0"/>
                <a:ea typeface="宋体" panose="02010600030101010101" pitchFamily="2" charset="-122"/>
              </a:rPr>
              <a:t>课程背景</a:t>
            </a:r>
            <a:endParaRPr lang="zh-CN" altLang="en-US" sz="3600" dirty="0">
              <a:solidFill>
                <a:schemeClr val="bg1">
                  <a:lumMod val="65000"/>
                </a:schemeClr>
              </a:solidFill>
              <a:latin typeface="Times New Roman" panose="02020603050405020304" pitchFamily="18" charset="0"/>
              <a:ea typeface="宋体" panose="02010600030101010101" pitchFamily="2" charset="-122"/>
            </a:endParaRPr>
          </a:p>
          <a:p>
            <a:pPr algn="just">
              <a:buNone/>
            </a:pPr>
            <a:r>
              <a:rPr lang="en-US" altLang="zh-CN" sz="3600" dirty="0">
                <a:latin typeface="Times New Roman" panose="02020603050405020304" pitchFamily="18" charset="0"/>
                <a:ea typeface="宋体" panose="02010600030101010101" pitchFamily="2" charset="-122"/>
              </a:rPr>
              <a:t>(3)  </a:t>
            </a:r>
            <a:r>
              <a:rPr lang="zh-CN" altLang="en-US" sz="3600" dirty="0">
                <a:latin typeface="Times New Roman" panose="02020603050405020304" pitchFamily="18" charset="0"/>
                <a:ea typeface="宋体" panose="02010600030101010101" pitchFamily="2" charset="-122"/>
              </a:rPr>
              <a:t>基础知识</a:t>
            </a:r>
            <a:endParaRPr lang="en-US" altLang="zh-CN" sz="3600" dirty="0">
              <a:latin typeface="Times New Roman" panose="02020603050405020304" pitchFamily="18" charset="0"/>
              <a:ea typeface="宋体" panose="02010600030101010101" pitchFamily="2" charset="-122"/>
            </a:endParaRPr>
          </a:p>
          <a:p>
            <a:pPr marL="514350" lvl="2" indent="-514350" algn="just">
              <a:buAutoNum type="arabicParenBoth" startAt="4"/>
            </a:pPr>
            <a:r>
              <a:rPr lang="zh-CN" altLang="en-US" sz="3600" b="1" dirty="0">
                <a:solidFill>
                  <a:schemeClr val="bg1">
                    <a:lumMod val="65000"/>
                  </a:schemeClr>
                </a:solidFill>
                <a:latin typeface="Times New Roman" panose="02020603050405020304" pitchFamily="18" charset="0"/>
                <a:ea typeface="宋体" panose="02010600030101010101" pitchFamily="2" charset="-122"/>
              </a:rPr>
              <a:t>  形式语言与自动机的基本概念</a:t>
            </a:r>
            <a:endParaRPr lang="zh-CN" altLang="en-US" sz="3600" b="1" dirty="0">
              <a:solidFill>
                <a:schemeClr val="bg1">
                  <a:lumMod val="65000"/>
                </a:schemeClr>
              </a:solidFill>
              <a:latin typeface="Times New Roman" panose="02020603050405020304" pitchFamily="18" charset="0"/>
              <a:ea typeface="宋体" panose="02010600030101010101" pitchFamily="2" charset="-122"/>
            </a:endParaRPr>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525963"/>
          </a:xfrm>
        </p:spPr>
        <p:txBody>
          <a:bodyPr>
            <a:normAutofit/>
          </a:bodyPr>
          <a:lstStyle/>
          <a:p>
            <a:pPr marL="533400" lvl="0" indent="-533400" algn="just" fontAlgn="base">
              <a:lnSpc>
                <a:spcPct val="90000"/>
              </a:lnSpc>
              <a:spcAft>
                <a:spcPct val="0"/>
              </a:spcAft>
              <a:buFontTx/>
              <a:buChar char="•"/>
              <a:defRPr/>
            </a:pPr>
            <a:r>
              <a:rPr lang="zh-CN" altLang="en-US" sz="3200" kern="0" dirty="0">
                <a:latin typeface="Times New Roman" panose="02020603050405020304" pitchFamily="18" charset="0"/>
              </a:rPr>
              <a:t>什么是形式化描述？</a:t>
            </a:r>
            <a:endParaRPr lang="en-US" altLang="zh-CN" sz="3200" kern="0" dirty="0">
              <a:latin typeface="Times New Roman" panose="02020603050405020304" pitchFamily="18" charset="0"/>
            </a:endParaRPr>
          </a:p>
          <a:p>
            <a:pPr lvl="1" fontAlgn="base">
              <a:lnSpc>
                <a:spcPct val="90000"/>
              </a:lnSpc>
              <a:spcAft>
                <a:spcPct val="0"/>
              </a:spcAft>
              <a:buFontTx/>
              <a:buChar char="–"/>
              <a:defRPr/>
            </a:pPr>
            <a:r>
              <a:rPr lang="zh-CN" altLang="en-US" kern="0" dirty="0"/>
              <a:t>是用基于数学的方法以形式化规约语言对问题、模型等进行精确描述，是科学研究的基础。</a:t>
            </a:r>
            <a:endParaRPr lang="en-US" altLang="zh-CN" kern="0" dirty="0"/>
          </a:p>
          <a:p>
            <a:pPr lvl="1" fontAlgn="base">
              <a:lnSpc>
                <a:spcPct val="90000"/>
              </a:lnSpc>
              <a:spcAft>
                <a:spcPct val="0"/>
              </a:spcAft>
              <a:buFontTx/>
              <a:buChar char="–"/>
              <a:defRPr/>
            </a:pPr>
            <a:r>
              <a:rPr lang="zh-CN" altLang="en-US" kern="0" dirty="0"/>
              <a:t>对客观世界的科学研究，目的在于把抽象数学的形式化体系发展成为与现实生活相似的理论模型，从而提供一种通用结构来描述、理解和解决问题。</a:t>
            </a:r>
            <a:endParaRPr lang="en-US" altLang="zh-CN" kern="0" dirty="0"/>
          </a:p>
          <a:p>
            <a:pPr marL="457200" lvl="1" indent="0" fontAlgn="base">
              <a:lnSpc>
                <a:spcPct val="90000"/>
              </a:lnSpc>
              <a:spcAft>
                <a:spcPct val="0"/>
              </a:spcAft>
              <a:buNone/>
              <a:defRPr/>
            </a:pPr>
            <a:r>
              <a:rPr lang="zh-CN" altLang="en-US" kern="0" dirty="0"/>
              <a:t>例，所有素数都是奇数。更加形式化的描述是：“如果</a:t>
            </a:r>
            <a:r>
              <a:rPr lang="en-US" altLang="zh-CN" i="1" kern="0" dirty="0">
                <a:latin typeface="Times New Roman" panose="02020603050405020304" pitchFamily="18" charset="0"/>
                <a:cs typeface="Times New Roman" panose="02020603050405020304" pitchFamily="18" charset="0"/>
              </a:rPr>
              <a:t>x</a:t>
            </a:r>
            <a:r>
              <a:rPr lang="zh-CN" altLang="en-US" kern="0" dirty="0"/>
              <a:t>是素数，则</a:t>
            </a:r>
            <a:r>
              <a:rPr lang="en-US" altLang="zh-CN" i="1" kern="0" dirty="0">
                <a:latin typeface="Times New Roman" panose="02020603050405020304" pitchFamily="18" charset="0"/>
                <a:cs typeface="Times New Roman" panose="02020603050405020304" pitchFamily="18" charset="0"/>
              </a:rPr>
              <a:t>x</a:t>
            </a:r>
            <a:r>
              <a:rPr lang="zh-CN" altLang="en-US" kern="0" dirty="0"/>
              <a:t>是奇数”</a:t>
            </a:r>
            <a:endParaRPr lang="en-US" altLang="zh-CN" kern="0" dirty="0"/>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Title 1"/>
          <p:cNvSpPr>
            <a:spLocks noGrp="1"/>
          </p:cNvSpPr>
          <p:nvPr>
            <p:ph type="title"/>
          </p:nvPr>
        </p:nvSpPr>
        <p:spPr>
          <a:xfrm>
            <a:off x="762000" y="-43815"/>
            <a:ext cx="8229600" cy="7759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形式化描述</a:t>
            </a:r>
            <a:endParaRPr lang="zh-CN" altLang="en-US" sz="3600" dirty="0">
              <a:solidFill>
                <a:schemeClr val="bg1"/>
              </a:solidFill>
              <a:effectLst>
                <a:outerShdw blurRad="38100" dist="38100" dir="2700000" algn="tl">
                  <a:srgbClr val="000000">
                    <a:alpha val="43137"/>
                  </a:srgbClr>
                </a:outerShdw>
              </a:effectLs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525963"/>
          </a:xfrm>
        </p:spPr>
        <p:txBody>
          <a:bodyPr>
            <a:normAutofit/>
          </a:bodyPr>
          <a:lstStyle/>
          <a:p>
            <a:pPr marL="533400" lvl="1" indent="-533400" algn="just">
              <a:lnSpc>
                <a:spcPct val="90000"/>
              </a:lnSpc>
              <a:buFontTx/>
              <a:buChar char="•"/>
            </a:pPr>
            <a:r>
              <a:rPr lang="zh-CN" altLang="en-US" sz="3200" b="1" dirty="0">
                <a:latin typeface="Times New Roman" panose="02020603050405020304" pitchFamily="18" charset="0"/>
                <a:ea typeface="黑体" panose="02010609060101010101" pitchFamily="49" charset="-122"/>
              </a:rPr>
              <a:t>计算机科学</a:t>
            </a:r>
            <a:endParaRPr lang="en-US" altLang="zh-CN" sz="3200" b="1" dirty="0">
              <a:latin typeface="Times New Roman" panose="02020603050405020304" pitchFamily="18" charset="0"/>
              <a:ea typeface="黑体" panose="02010609060101010101" pitchFamily="49" charset="-122"/>
            </a:endParaRPr>
          </a:p>
          <a:p>
            <a:pPr marL="533400" lvl="1" indent="-533400">
              <a:lnSpc>
                <a:spcPct val="90000"/>
              </a:lnSpc>
            </a:pPr>
            <a:r>
              <a:rPr lang="zh-CN" altLang="en-US" dirty="0"/>
              <a:t>是关于计算知识的、有系统的整体</a:t>
            </a:r>
            <a:endParaRPr lang="en-US" altLang="zh-CN" dirty="0"/>
          </a:p>
          <a:p>
            <a:pPr marL="533400" lvl="1" indent="-533400">
              <a:lnSpc>
                <a:spcPct val="90000"/>
              </a:lnSpc>
            </a:pPr>
            <a:r>
              <a:rPr lang="zh-CN" altLang="en-US" dirty="0"/>
              <a:t>计算机科学有</a:t>
            </a:r>
            <a:r>
              <a:rPr lang="zh-CN" altLang="en-US" dirty="0">
                <a:solidFill>
                  <a:srgbClr val="FF0000"/>
                </a:solidFill>
              </a:rPr>
              <a:t>两个主要的部分</a:t>
            </a:r>
            <a:r>
              <a:rPr lang="zh-CN" altLang="en-US" dirty="0"/>
              <a:t>：第一、构成计算系统基础的一些基本概念和模型（</a:t>
            </a:r>
            <a:r>
              <a:rPr lang="zh-CN" altLang="en-US" dirty="0">
                <a:solidFill>
                  <a:srgbClr val="FF0000"/>
                </a:solidFill>
              </a:rPr>
              <a:t>理论</a:t>
            </a:r>
            <a:r>
              <a:rPr lang="zh-CN" altLang="en-US" dirty="0"/>
              <a:t>）；第二、设计计算系统</a:t>
            </a:r>
            <a:r>
              <a:rPr lang="en-US" altLang="zh-CN" dirty="0"/>
              <a:t>(</a:t>
            </a:r>
            <a:r>
              <a:rPr lang="zh-CN" altLang="en-US" dirty="0"/>
              <a:t>软件和硬件</a:t>
            </a:r>
            <a:r>
              <a:rPr lang="en-US" altLang="zh-CN" dirty="0"/>
              <a:t>) </a:t>
            </a:r>
            <a:r>
              <a:rPr lang="zh-CN" altLang="en-US" dirty="0"/>
              <a:t>的工程技术（</a:t>
            </a:r>
            <a:r>
              <a:rPr lang="zh-CN" altLang="en-US" dirty="0">
                <a:solidFill>
                  <a:srgbClr val="FF0000"/>
                </a:solidFill>
              </a:rPr>
              <a:t>实践</a:t>
            </a:r>
            <a:r>
              <a:rPr lang="zh-CN" altLang="en-US" dirty="0"/>
              <a:t>）</a:t>
            </a:r>
            <a:endParaRPr lang="en-US" altLang="zh-CN" dirty="0"/>
          </a:p>
          <a:p>
            <a:pPr marL="533400" lvl="1" indent="-533400">
              <a:lnSpc>
                <a:spcPct val="90000"/>
              </a:lnSpc>
            </a:pPr>
            <a:r>
              <a:rPr lang="zh-CN" altLang="en-US" dirty="0">
                <a:solidFill>
                  <a:srgbClr val="FF0000"/>
                </a:solidFill>
              </a:rPr>
              <a:t>形式语言与自动机理论</a:t>
            </a:r>
            <a:r>
              <a:rPr lang="zh-CN" altLang="en-US" dirty="0"/>
              <a:t>是构成计算系统基础的</a:t>
            </a:r>
            <a:r>
              <a:rPr lang="zh-CN" altLang="en-US"/>
              <a:t>基本概念引论</a:t>
            </a:r>
            <a:r>
              <a:rPr lang="zh-CN" altLang="en-US" dirty="0"/>
              <a:t>（针对计算机科学的第一部分）</a:t>
            </a:r>
            <a:endParaRPr lang="en-US" altLang="zh-CN" kern="0" dirty="0"/>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Title 1"/>
          <p:cNvSpPr>
            <a:spLocks noGrp="1"/>
          </p:cNvSpPr>
          <p:nvPr>
            <p:ph type="title"/>
          </p:nvPr>
        </p:nvSpPr>
        <p:spPr>
          <a:xfrm>
            <a:off x="762000" y="-43815"/>
            <a:ext cx="8229600" cy="7759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形式化描述</a:t>
            </a:r>
            <a:endParaRPr lang="zh-CN" altLang="en-US" sz="3600" dirty="0">
              <a:solidFill>
                <a:schemeClr val="bg1"/>
              </a:solidFill>
              <a:effectLst>
                <a:outerShdw blurRad="38100" dist="38100" dir="2700000" algn="tl">
                  <a:srgbClr val="000000">
                    <a:alpha val="43137"/>
                  </a:srgbClr>
                </a:outerShdw>
              </a:effectLs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525963"/>
          </a:xfrm>
        </p:spPr>
        <p:txBody>
          <a:bodyPr>
            <a:normAutofit lnSpcReduction="10000"/>
          </a:bodyPr>
          <a:lstStyle/>
          <a:p>
            <a:r>
              <a:rPr lang="zh-CN" altLang="en-US" dirty="0"/>
              <a:t>演绎证明 </a:t>
            </a:r>
            <a:endParaRPr lang="zh-CN" altLang="en-US" dirty="0"/>
          </a:p>
          <a:p>
            <a:pPr lvl="1"/>
            <a:r>
              <a:rPr lang="zh-CN" altLang="en-US" dirty="0"/>
              <a:t>通常来讲，是从一般性原理出发，依据已被确认的事实和公认的逻辑规则，推导出某个特殊情况下的结论</a:t>
            </a:r>
            <a:endParaRPr lang="zh-CN" altLang="en-US" dirty="0"/>
          </a:p>
          <a:p>
            <a:pPr lvl="1"/>
            <a:r>
              <a:rPr lang="zh-CN" altLang="en-US" dirty="0"/>
              <a:t>“三段论”是演绎证明的一般模式，包括：</a:t>
            </a:r>
            <a:endParaRPr lang="zh-CN" altLang="en-US" dirty="0"/>
          </a:p>
          <a:p>
            <a:pPr lvl="2"/>
            <a:r>
              <a:rPr lang="zh-CN" altLang="en-US" dirty="0">
                <a:latin typeface="楷体" panose="02010609060101010101" pitchFamily="49" charset="-122"/>
                <a:ea typeface="楷体" panose="02010609060101010101" pitchFamily="49" charset="-122"/>
              </a:rPr>
              <a:t>大前提：已知的一般性原理</a:t>
            </a:r>
            <a:endParaRPr lang="zh-CN" altLang="en-US" dirty="0">
              <a:latin typeface="楷体" panose="02010609060101010101" pitchFamily="49" charset="-122"/>
              <a:ea typeface="楷体" panose="02010609060101010101" pitchFamily="49" charset="-122"/>
            </a:endParaRPr>
          </a:p>
          <a:p>
            <a:pPr lvl="2"/>
            <a:r>
              <a:rPr lang="zh-CN" altLang="en-US" dirty="0">
                <a:latin typeface="楷体" panose="02010609060101010101" pitchFamily="49" charset="-122"/>
                <a:ea typeface="楷体" panose="02010609060101010101" pitchFamily="49" charset="-122"/>
              </a:rPr>
              <a:t>小前提：所证明对象的特殊性</a:t>
            </a:r>
            <a:endParaRPr lang="zh-CN" altLang="en-US" dirty="0">
              <a:latin typeface="楷体" panose="02010609060101010101" pitchFamily="49" charset="-122"/>
              <a:ea typeface="楷体" panose="02010609060101010101" pitchFamily="49" charset="-122"/>
            </a:endParaRPr>
          </a:p>
          <a:p>
            <a:pPr lvl="2"/>
            <a:r>
              <a:rPr lang="zh-CN" altLang="en-US" dirty="0">
                <a:latin typeface="楷体" panose="02010609060101010101" pitchFamily="49" charset="-122"/>
                <a:ea typeface="楷体" panose="02010609060101010101" pitchFamily="49" charset="-122"/>
              </a:rPr>
              <a:t>结论：根据一般性原理，对特殊情况作出判断</a:t>
            </a:r>
            <a:endParaRPr lang="zh-CN" altLang="en-US" dirty="0">
              <a:latin typeface="楷体" panose="02010609060101010101" pitchFamily="49" charset="-122"/>
              <a:ea typeface="楷体" panose="02010609060101010101" pitchFamily="49" charset="-122"/>
            </a:endParaRPr>
          </a:p>
          <a:p>
            <a:r>
              <a:rPr lang="zh-CN" altLang="en-US" dirty="0"/>
              <a:t>例</a:t>
            </a:r>
            <a:r>
              <a:rPr lang="en-AU" altLang="zh-CN" dirty="0"/>
              <a:t>:</a:t>
            </a:r>
            <a:r>
              <a:rPr lang="zh-CN" altLang="en-US" dirty="0"/>
              <a:t>所有奇数都不能被</a:t>
            </a:r>
            <a:r>
              <a:rPr lang="en-US" altLang="zh-CN" dirty="0"/>
              <a:t>2</a:t>
            </a:r>
            <a:r>
              <a:rPr lang="zh-CN" altLang="en-US" dirty="0"/>
              <a:t>整除</a:t>
            </a:r>
            <a:r>
              <a:rPr lang="en-US" altLang="zh-CN" dirty="0"/>
              <a:t>(</a:t>
            </a:r>
            <a:r>
              <a:rPr lang="zh-CN" altLang="en-US" dirty="0"/>
              <a:t>大前提</a:t>
            </a:r>
            <a:r>
              <a:rPr lang="en-US" altLang="zh-CN" dirty="0"/>
              <a:t>)</a:t>
            </a:r>
            <a:r>
              <a:rPr lang="zh-CN" altLang="en-US" dirty="0"/>
              <a:t>，</a:t>
            </a:r>
            <a:r>
              <a:rPr lang="en-US" altLang="zh-CN" dirty="0"/>
              <a:t>2100+1</a:t>
            </a:r>
            <a:r>
              <a:rPr lang="zh-CN" altLang="en-US" dirty="0"/>
              <a:t>是奇数</a:t>
            </a:r>
            <a:r>
              <a:rPr lang="en-US" altLang="zh-CN" dirty="0"/>
              <a:t>(</a:t>
            </a:r>
            <a:r>
              <a:rPr lang="zh-CN" altLang="en-US" dirty="0"/>
              <a:t>小前提</a:t>
            </a:r>
            <a:r>
              <a:rPr lang="en-US" altLang="zh-CN" dirty="0"/>
              <a:t>)</a:t>
            </a:r>
            <a:r>
              <a:rPr lang="zh-CN" altLang="en-US" dirty="0"/>
              <a:t>，则</a:t>
            </a:r>
            <a:r>
              <a:rPr lang="en-US" altLang="zh-CN" dirty="0"/>
              <a:t>2100+1</a:t>
            </a:r>
            <a:r>
              <a:rPr lang="zh-CN" altLang="en-US" dirty="0"/>
              <a:t>不能被</a:t>
            </a:r>
            <a:r>
              <a:rPr lang="en-US" altLang="zh-CN" dirty="0"/>
              <a:t>2</a:t>
            </a:r>
            <a:r>
              <a:rPr lang="zh-CN" altLang="en-US" dirty="0"/>
              <a:t>整除</a:t>
            </a:r>
            <a:r>
              <a:rPr lang="en-US" altLang="zh-CN" dirty="0"/>
              <a:t>(</a:t>
            </a:r>
            <a:r>
              <a:rPr lang="zh-CN" altLang="en-US" dirty="0"/>
              <a:t>结论</a:t>
            </a:r>
            <a:r>
              <a:rPr lang="en-US" altLang="zh-CN" dirty="0"/>
              <a:t>)</a:t>
            </a:r>
            <a:endParaRPr lang="en-US" altLang="zh-CN" dirty="0"/>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Title 1"/>
          <p:cNvSpPr>
            <a:spLocks noGrp="1"/>
          </p:cNvSpPr>
          <p:nvPr>
            <p:ph type="title"/>
          </p:nvPr>
        </p:nvSpPr>
        <p:spPr>
          <a:xfrm>
            <a:off x="762000" y="-43815"/>
            <a:ext cx="8229600" cy="7759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形式化证明:演绎法</a:t>
            </a:r>
            <a:endParaRPr lang="zh-CN" altLang="en-US" sz="3600" dirty="0">
              <a:solidFill>
                <a:schemeClr val="bg1"/>
              </a:solidFill>
              <a:effectLst>
                <a:outerShdw blurRad="38100" dist="38100" dir="2700000" algn="tl">
                  <a:srgbClr val="000000">
                    <a:alpha val="43137"/>
                  </a:srgbClr>
                </a:outerShdw>
              </a:effectLs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525963"/>
          </a:xfrm>
        </p:spPr>
        <p:txBody>
          <a:bodyPr>
            <a:normAutofit lnSpcReduction="10000"/>
          </a:bodyPr>
          <a:lstStyle/>
          <a:p>
            <a:r>
              <a:rPr lang="zh-CN" altLang="en-US" dirty="0"/>
              <a:t>归纳证明</a:t>
            </a:r>
            <a:r>
              <a:rPr lang="en-US" altLang="zh-CN" dirty="0"/>
              <a:t>(</a:t>
            </a:r>
            <a:r>
              <a:rPr lang="zh-CN" altLang="en-US" dirty="0"/>
              <a:t>推理</a:t>
            </a:r>
            <a:r>
              <a:rPr lang="en-US" altLang="zh-CN" dirty="0"/>
              <a:t>) </a:t>
            </a:r>
            <a:endParaRPr lang="en-US" altLang="zh-CN" dirty="0"/>
          </a:p>
          <a:p>
            <a:pPr lvl="1"/>
            <a:r>
              <a:rPr lang="zh-CN" altLang="en-US" dirty="0"/>
              <a:t>从由某类事物的部分对象具有某些特征，推导出该类事物的全部对象都具有这些特征的过程，是由</a:t>
            </a:r>
            <a:r>
              <a:rPr lang="zh-CN" altLang="en-US" dirty="0">
                <a:solidFill>
                  <a:srgbClr val="FF0000"/>
                </a:solidFill>
              </a:rPr>
              <a:t>个别</a:t>
            </a:r>
            <a:r>
              <a:rPr lang="zh-CN" altLang="en-US" dirty="0"/>
              <a:t>事实概括出</a:t>
            </a:r>
            <a:r>
              <a:rPr lang="zh-CN" altLang="en-US" dirty="0">
                <a:solidFill>
                  <a:srgbClr val="FF0000"/>
                </a:solidFill>
              </a:rPr>
              <a:t>一般</a:t>
            </a:r>
            <a:r>
              <a:rPr lang="zh-CN" altLang="en-US" dirty="0"/>
              <a:t>结论的过程</a:t>
            </a:r>
            <a:endParaRPr lang="zh-CN" altLang="en-US" dirty="0"/>
          </a:p>
          <a:p>
            <a:pPr lvl="1"/>
            <a:r>
              <a:rPr lang="zh-CN" altLang="en-US" dirty="0"/>
              <a:t>是处理</a:t>
            </a:r>
            <a:r>
              <a:rPr lang="zh-CN" altLang="en-US" dirty="0">
                <a:solidFill>
                  <a:srgbClr val="FF0000"/>
                </a:solidFill>
              </a:rPr>
              <a:t>递归</a:t>
            </a:r>
            <a:r>
              <a:rPr lang="zh-CN" altLang="en-US" dirty="0"/>
              <a:t>定义的对象的必不可少的证明方法</a:t>
            </a:r>
            <a:endParaRPr lang="zh-CN" altLang="en-US" dirty="0"/>
          </a:p>
          <a:p>
            <a:pPr lvl="1"/>
            <a:r>
              <a:rPr lang="zh-CN" altLang="en-US" dirty="0"/>
              <a:t>由“</a:t>
            </a:r>
            <a:r>
              <a:rPr lang="zh-CN" altLang="en-US" dirty="0">
                <a:solidFill>
                  <a:srgbClr val="FF0000"/>
                </a:solidFill>
              </a:rPr>
              <a:t>基础</a:t>
            </a:r>
            <a:r>
              <a:rPr lang="zh-CN" altLang="en-US" dirty="0"/>
              <a:t>”和“</a:t>
            </a:r>
            <a:r>
              <a:rPr lang="zh-CN" altLang="en-US" dirty="0">
                <a:solidFill>
                  <a:srgbClr val="FF0000"/>
                </a:solidFill>
              </a:rPr>
              <a:t>归纳递推</a:t>
            </a:r>
            <a:r>
              <a:rPr lang="zh-CN" altLang="en-US" dirty="0"/>
              <a:t>”两部分组成，实际上处理的递归定义对象也通常包含这两部分</a:t>
            </a:r>
            <a:endParaRPr lang="zh-CN" altLang="en-US" dirty="0"/>
          </a:p>
          <a:p>
            <a:pPr lvl="1"/>
            <a:r>
              <a:rPr lang="zh-CN" altLang="en-US" dirty="0"/>
              <a:t>递归定义</a:t>
            </a:r>
            <a:endParaRPr lang="zh-CN" altLang="en-US" dirty="0"/>
          </a:p>
          <a:p>
            <a:pPr lvl="2"/>
            <a:r>
              <a:rPr lang="zh-CN" altLang="en-US" dirty="0">
                <a:solidFill>
                  <a:srgbClr val="FF0000"/>
                </a:solidFill>
                <a:latin typeface="楷体" panose="02010609060101010101" pitchFamily="49" charset="-122"/>
                <a:ea typeface="楷体" panose="02010609060101010101" pitchFamily="49" charset="-122"/>
              </a:rPr>
              <a:t>基础</a:t>
            </a:r>
            <a:r>
              <a:rPr lang="zh-CN" altLang="en-US" dirty="0">
                <a:latin typeface="楷体" panose="02010609060101010101" pitchFamily="49" charset="-122"/>
                <a:ea typeface="楷体" panose="02010609060101010101" pitchFamily="49" charset="-122"/>
              </a:rPr>
              <a:t>：基本的元素定义</a:t>
            </a:r>
            <a:endParaRPr lang="zh-CN" altLang="en-US" dirty="0">
              <a:latin typeface="楷体" panose="02010609060101010101" pitchFamily="49" charset="-122"/>
              <a:ea typeface="楷体" panose="02010609060101010101" pitchFamily="49" charset="-122"/>
            </a:endParaRPr>
          </a:p>
          <a:p>
            <a:pPr lvl="2"/>
            <a:r>
              <a:rPr lang="zh-CN" altLang="en-US" dirty="0">
                <a:solidFill>
                  <a:srgbClr val="FF0000"/>
                </a:solidFill>
                <a:latin typeface="楷体" panose="02010609060101010101" pitchFamily="49" charset="-122"/>
                <a:ea typeface="楷体" panose="02010609060101010101" pitchFamily="49" charset="-122"/>
              </a:rPr>
              <a:t>归纳递推</a:t>
            </a:r>
            <a:r>
              <a:rPr lang="zh-CN" altLang="en-US" dirty="0">
                <a:latin typeface="楷体" panose="02010609060101010101" pitchFamily="49" charset="-122"/>
                <a:ea typeface="楷体" panose="02010609060101010101" pitchFamily="49" charset="-122"/>
              </a:rPr>
              <a:t>：指出用已有元素来构造新元素的规则</a:t>
            </a:r>
            <a:endParaRPr lang="zh-CN" altLang="en-US" dirty="0">
              <a:latin typeface="楷体" panose="02010609060101010101" pitchFamily="49" charset="-122"/>
              <a:ea typeface="楷体" panose="02010609060101010101" pitchFamily="49" charset="-122"/>
            </a:endParaRPr>
          </a:p>
          <a:p>
            <a:endParaRPr lang="en-AU" dirty="0"/>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Title 1"/>
          <p:cNvSpPr>
            <a:spLocks noGrp="1"/>
          </p:cNvSpPr>
          <p:nvPr>
            <p:ph type="title"/>
          </p:nvPr>
        </p:nvSpPr>
        <p:spPr>
          <a:xfrm>
            <a:off x="762000" y="-43815"/>
            <a:ext cx="8229600" cy="7759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形式化证明:归纳法</a:t>
            </a:r>
            <a:endParaRPr lang="zh-CN" altLang="en-US" sz="3600" dirty="0">
              <a:solidFill>
                <a:schemeClr val="bg1"/>
              </a:solidFill>
              <a:effectLst>
                <a:outerShdw blurRad="38100" dist="38100" dir="2700000" algn="tl">
                  <a:srgbClr val="000000">
                    <a:alpha val="43137"/>
                  </a:srgbClr>
                </a:outerShdw>
              </a:effectLs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12" name="Title 1"/>
          <p:cNvSpPr>
            <a:spLocks noGrp="1"/>
          </p:cNvSpPr>
          <p:nvPr>
            <p:ph type="title"/>
          </p:nvPr>
        </p:nvSpPr>
        <p:spPr>
          <a:xfrm>
            <a:off x="762000" y="-43815"/>
            <a:ext cx="8229600" cy="77597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形式化证明:归纳法</a:t>
            </a:r>
            <a:endParaRPr lang="zh-CN" altLang="en-US" sz="3600" dirty="0">
              <a:solidFill>
                <a:schemeClr val="bg1"/>
              </a:solidFill>
              <a:effectLst>
                <a:outerShdw blurRad="38100" dist="38100" dir="2700000" algn="tl">
                  <a:srgbClr val="000000">
                    <a:alpha val="43137"/>
                  </a:srgbClr>
                </a:outerShdw>
              </a:effectLst>
            </a:endParaRPr>
          </a:p>
        </p:txBody>
      </p:sp>
      <mc:AlternateContent xmlns:mc="http://schemas.openxmlformats.org/markup-compatibility/2006">
        <mc:Choice xmlns:a14="http://schemas.microsoft.com/office/drawing/2010/main" Requires="a14">
          <p:sp>
            <p:nvSpPr>
              <p:cNvPr id="19" name="Content Placeholder 2"/>
              <p:cNvSpPr>
                <a:spLocks noGrp="1"/>
              </p:cNvSpPr>
              <p:nvPr/>
            </p:nvSpPr>
            <p:spPr>
              <a:xfrm>
                <a:off x="628650" y="1292225"/>
                <a:ext cx="7886700" cy="4351338"/>
              </a:xfrm>
              <a:prstGeom prst="rect">
                <a:avLst/>
              </a:prstGeom>
            </p:spPr>
            <p:txBody>
              <a:bodyPr vert="horz" lIns="91440" tIns="45720" rIns="91440" bIns="45720" rtlCol="0">
                <a:normAutofit fontScale="85000"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800" kern="1200">
                    <a:solidFill>
                      <a:sysClr val="windowText" lastClr="000000"/>
                    </a:solidFill>
                    <a:latin typeface="楷体" panose="02010609060101010101" pitchFamily="49" charset="-122"/>
                    <a:ea typeface="楷体" panose="02010609060101010101" pitchFamily="49" charset="-122"/>
                    <a:cs typeface="+mn-cs"/>
                  </a:defRPr>
                </a:lvl1pPr>
                <a:lvl2pPr marL="514350" indent="-171450" algn="l" defTabSz="685800" rtl="0" eaLnBrk="1" latinLnBrk="0" hangingPunct="1">
                  <a:lnSpc>
                    <a:spcPct val="90000"/>
                  </a:lnSpc>
                  <a:spcBef>
                    <a:spcPts val="375"/>
                  </a:spcBef>
                  <a:buFont typeface="Calibri" panose="020F0502020204030204" charset="0"/>
                  <a:buChar char="—"/>
                  <a:defRPr sz="2400" kern="1200">
                    <a:solidFill>
                      <a:sysClr val="windowText" lastClr="000000"/>
                    </a:solidFill>
                    <a:latin typeface="楷体" panose="02010609060101010101" pitchFamily="49" charset="-122"/>
                    <a:ea typeface="楷体" panose="02010609060101010101" pitchFamily="49" charset="-122"/>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2000" kern="1200">
                    <a:solidFill>
                      <a:sysClr val="windowText" lastClr="000000"/>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ysClr val="windowText" lastClr="000000"/>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ysClr val="windowText" lastClr="000000"/>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ysClr val="windowText" lastClr="000000"/>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ysClr val="windowText" lastClr="000000"/>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ysClr val="windowText" lastClr="000000"/>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ysClr val="windowText" lastClr="000000"/>
                    </a:solidFill>
                    <a:latin typeface="+mn-lt"/>
                    <a:ea typeface="+mn-ea"/>
                    <a:cs typeface="+mn-cs"/>
                  </a:defRPr>
                </a:lvl9pPr>
              </a:lstStyle>
              <a:p>
                <a:r>
                  <a:rPr lang="zh-CN" altLang="en-US" dirty="0">
                    <a:latin typeface="宋体" panose="02010600030101010101" pitchFamily="2" charset="-122"/>
                    <a:ea typeface="宋体" panose="02010600030101010101" pitchFamily="2" charset="-122"/>
                    <a:cs typeface="宋体" panose="02010600030101010101" pitchFamily="2" charset="-122"/>
                  </a:rPr>
                  <a:t>例</a:t>
                </a:r>
                <a:r>
                  <a:rPr lang="en-AU" altLang="zh-CN" dirty="0">
                    <a:latin typeface="宋体" panose="02010600030101010101" pitchFamily="2" charset="-122"/>
                    <a:ea typeface="宋体" panose="02010600030101010101" pitchFamily="2" charset="-122"/>
                    <a:cs typeface="宋体" panose="02010600030101010101" pitchFamily="2" charset="-122"/>
                  </a:rPr>
                  <a:t>:</a:t>
                </a:r>
                <a:r>
                  <a:rPr lang="zh-CN" altLang="en-US" dirty="0">
                    <a:latin typeface="宋体" panose="02010600030101010101" pitchFamily="2" charset="-122"/>
                    <a:ea typeface="宋体" panose="02010600030101010101" pitchFamily="2" charset="-122"/>
                    <a:cs typeface="宋体" panose="02010600030101010101" pitchFamily="2" charset="-122"/>
                  </a:rPr>
                  <a:t>若</a:t>
                </a:r>
                <a14:m>
                  <m:oMath xmlns:m="http://schemas.openxmlformats.org/officeDocument/2006/math">
                    <m:r>
                      <a:rPr lang="en-AU" altLang="zh-CN" i="1" dirty="0" smtClean="0">
                        <a:latin typeface="Cambria Math" panose="02040503050406030204" pitchFamily="18" charset="0"/>
                        <a:ea typeface="宋体" panose="02010600030101010101" pitchFamily="2" charset="-122"/>
                        <a:cs typeface="Cambria Math" panose="02040503050406030204" pitchFamily="18" charset="0"/>
                      </a:rPr>
                      <m:t>𝑥</m:t>
                    </m:r>
                  </m:oMath>
                </a14:m>
                <a:r>
                  <a:rPr lang="zh-CN" altLang="en-US" dirty="0">
                    <a:latin typeface="宋体" panose="02010600030101010101" pitchFamily="2" charset="-122"/>
                    <a:ea typeface="宋体" panose="02010600030101010101" pitchFamily="2" charset="-122"/>
                    <a:cs typeface="宋体" panose="02010600030101010101" pitchFamily="2" charset="-122"/>
                  </a:rPr>
                  <a:t>和</a:t>
                </a:r>
                <a14:m>
                  <m:oMath xmlns:m="http://schemas.openxmlformats.org/officeDocument/2006/math">
                    <m:r>
                      <a:rPr lang="en-AU" altLang="zh-CN" i="1" dirty="0" smtClean="0">
                        <a:latin typeface="Cambria Math" panose="02040503050406030204" pitchFamily="18" charset="0"/>
                        <a:ea typeface="宋体" panose="02010600030101010101" pitchFamily="2" charset="-122"/>
                        <a:cs typeface="Cambria Math" panose="02040503050406030204" pitchFamily="18" charset="0"/>
                      </a:rPr>
                      <m:t>𝑦</m:t>
                    </m:r>
                  </m:oMath>
                </a14:m>
                <a:r>
                  <a:rPr lang="zh-CN" altLang="en-US" dirty="0">
                    <a:latin typeface="宋体" panose="02010600030101010101" pitchFamily="2" charset="-122"/>
                    <a:ea typeface="宋体" panose="02010600030101010101" pitchFamily="2" charset="-122"/>
                    <a:cs typeface="宋体" panose="02010600030101010101" pitchFamily="2" charset="-122"/>
                  </a:rPr>
                  <a:t>是</a:t>
                </a:r>
                <a14:m>
                  <m:oMath xmlns:m="http://schemas.openxmlformats.org/officeDocument/2006/math">
                    <m:r>
                      <m:rPr>
                        <m:sty m:val="p"/>
                      </m:rPr>
                      <a:rPr lang="el-GR" altLang="zh-CN" i="0" dirty="0" smtClean="0">
                        <a:latin typeface="Cambria Math" panose="02040503050406030204" pitchFamily="18" charset="0"/>
                        <a:ea typeface="宋体" panose="02010600030101010101" pitchFamily="2" charset="-122"/>
                        <a:cs typeface="Cambria Math" panose="02040503050406030204" pitchFamily="18" charset="0"/>
                      </a:rPr>
                      <m:t>Σ</m:t>
                    </m:r>
                  </m:oMath>
                </a14:m>
                <a:r>
                  <a:rPr lang="zh-CN" altLang="en-US" dirty="0">
                    <a:latin typeface="宋体" panose="02010600030101010101" pitchFamily="2" charset="-122"/>
                    <a:ea typeface="宋体" panose="02010600030101010101" pitchFamily="2" charset="-122"/>
                    <a:cs typeface="宋体" panose="02010600030101010101" pitchFamily="2" charset="-122"/>
                  </a:rPr>
                  <a:t>上的字符串</a:t>
                </a:r>
                <a:r>
                  <a:rPr lang="en-US" altLang="zh-CN" dirty="0">
                    <a:latin typeface="宋体" panose="02010600030101010101" pitchFamily="2" charset="-122"/>
                    <a:ea typeface="宋体" panose="02010600030101010101" pitchFamily="2" charset="-122"/>
                    <a:cs typeface="宋体" panose="02010600030101010101" pitchFamily="2" charset="-122"/>
                  </a:rPr>
                  <a:t>, </a:t>
                </a:r>
                <a:r>
                  <a:rPr lang="zh-CN" altLang="en-US" dirty="0">
                    <a:latin typeface="宋体" panose="02010600030101010101" pitchFamily="2" charset="-122"/>
                    <a:ea typeface="宋体" panose="02010600030101010101" pitchFamily="2" charset="-122"/>
                    <a:cs typeface="宋体" panose="02010600030101010101" pitchFamily="2" charset="-122"/>
                  </a:rPr>
                  <a:t>请证明</a:t>
                </a:r>
                <a14:m>
                  <m:oMath xmlns:m="http://schemas.openxmlformats.org/officeDocument/2006/math">
                    <m:r>
                      <a:rPr lang="en-US" altLang="zh-CN" i="1" dirty="0" smtClean="0">
                        <a:latin typeface="Cambria Math" panose="02040503050406030204" pitchFamily="18" charset="0"/>
                      </a:rPr>
                      <m:t>|</m:t>
                    </m:r>
                    <m:r>
                      <a:rPr lang="en-AU" altLang="zh-CN" i="1" dirty="0" err="1" smtClean="0">
                        <a:latin typeface="Cambria Math" panose="02040503050406030204" pitchFamily="18" charset="0"/>
                      </a:rPr>
                      <m:t>𝑥𝑦</m:t>
                    </m:r>
                    <m:r>
                      <a:rPr lang="en-AU" altLang="zh-CN" i="1" dirty="0" smtClean="0">
                        <a:latin typeface="Cambria Math" panose="02040503050406030204" pitchFamily="18" charset="0"/>
                      </a:rPr>
                      <m:t>|= |</m:t>
                    </m:r>
                    <m:r>
                      <a:rPr lang="en-AU" altLang="zh-CN" i="1" dirty="0" smtClean="0">
                        <a:latin typeface="Cambria Math" panose="02040503050406030204" pitchFamily="18" charset="0"/>
                      </a:rPr>
                      <m:t>𝑥</m:t>
                    </m:r>
                    <m:r>
                      <a:rPr lang="en-AU" altLang="zh-CN" i="1" dirty="0" smtClean="0">
                        <a:latin typeface="Cambria Math" panose="02040503050406030204" pitchFamily="18" charset="0"/>
                      </a:rPr>
                      <m:t> |+ |</m:t>
                    </m:r>
                    <m:r>
                      <a:rPr lang="en-AU" altLang="zh-CN" i="1" dirty="0" smtClean="0">
                        <a:latin typeface="Cambria Math" panose="02040503050406030204" pitchFamily="18" charset="0"/>
                      </a:rPr>
                      <m:t>𝑦</m:t>
                    </m:r>
                    <m:r>
                      <a:rPr lang="en-AU" altLang="zh-CN" i="1" dirty="0" smtClean="0">
                        <a:latin typeface="Cambria Math" panose="02040503050406030204" pitchFamily="18" charset="0"/>
                      </a:rPr>
                      <m:t> |</m:t>
                    </m:r>
                  </m:oMath>
                </a14:m>
                <a:r>
                  <a:rPr lang="zh-CN" altLang="en-US" dirty="0"/>
                  <a:t>。</a:t>
                </a:r>
                <a:endParaRPr lang="en-AU" altLang="zh-CN" dirty="0"/>
              </a:p>
              <a:p>
                <a:r>
                  <a:rPr lang="zh-CN" altLang="en-US" dirty="0">
                    <a:latin typeface="宋体" panose="02010600030101010101" pitchFamily="2" charset="-122"/>
                    <a:ea typeface="宋体" panose="02010600030101010101" pitchFamily="2" charset="-122"/>
                    <a:cs typeface="宋体" panose="02010600030101010101" pitchFamily="2" charset="-122"/>
                  </a:rPr>
                  <a:t>证明</a:t>
                </a:r>
                <a:r>
                  <a:rPr lang="en-AU" altLang="zh-CN" dirty="0">
                    <a:latin typeface="宋体" panose="02010600030101010101" pitchFamily="2" charset="-122"/>
                    <a:ea typeface="宋体" panose="02010600030101010101" pitchFamily="2" charset="-122"/>
                    <a:cs typeface="宋体" panose="02010600030101010101" pitchFamily="2" charset="-122"/>
                  </a:rPr>
                  <a:t>:</a:t>
                </a:r>
                <a:r>
                  <a:rPr lang="zh-CN" altLang="en-US" dirty="0">
                    <a:latin typeface="宋体" panose="02010600030101010101" pitchFamily="2" charset="-122"/>
                    <a:ea typeface="宋体" panose="02010600030101010101" pitchFamily="2" charset="-122"/>
                    <a:cs typeface="宋体" panose="02010600030101010101" pitchFamily="2" charset="-122"/>
                  </a:rPr>
                  <a:t>通过对</a:t>
                </a:r>
                <a14:m>
                  <m:oMath xmlns:m="http://schemas.openxmlformats.org/officeDocument/2006/math">
                    <m:r>
                      <a:rPr lang="en-AU" altLang="zh-CN" b="0" i="1" smtClean="0">
                        <a:latin typeface="Cambria Math" panose="02040503050406030204" pitchFamily="18" charset="0"/>
                        <a:ea typeface="MS Mincho" panose="02020609040205080304" charset="-128"/>
                        <a:cs typeface="Cambria Math" panose="02040503050406030204" pitchFamily="18" charset="0"/>
                      </a:rPr>
                      <m:t>|</m:t>
                    </m:r>
                    <m:r>
                      <a:rPr lang="en-AU" altLang="zh-CN" b="0" i="1" smtClean="0">
                        <a:latin typeface="Cambria Math" panose="02040503050406030204" pitchFamily="18" charset="0"/>
                        <a:ea typeface="宋体" panose="02010600030101010101" pitchFamily="2" charset="-122"/>
                        <a:cs typeface="Cambria Math" panose="02040503050406030204" pitchFamily="18" charset="0"/>
                      </a:rPr>
                      <m:t>𝑦</m:t>
                    </m:r>
                    <m:r>
                      <a:rPr lang="en-AU" altLang="zh-CN" b="0" i="1" smtClean="0">
                        <a:latin typeface="Cambria Math" panose="02040503050406030204" pitchFamily="18" charset="0"/>
                        <a:ea typeface="MS Mincho" panose="02020609040205080304" charset="-128"/>
                        <a:cs typeface="Cambria Math" panose="02040503050406030204" pitchFamily="18" charset="0"/>
                      </a:rPr>
                      <m:t>|</m:t>
                    </m:r>
                  </m:oMath>
                </a14:m>
                <a:r>
                  <a:rPr lang="zh-CN" altLang="en-US" dirty="0">
                    <a:latin typeface="宋体" panose="02010600030101010101" pitchFamily="2" charset="-122"/>
                    <a:ea typeface="宋体" panose="02010600030101010101" pitchFamily="2" charset="-122"/>
                    <a:cs typeface="宋体" panose="02010600030101010101" pitchFamily="2" charset="-122"/>
                  </a:rPr>
                  <a:t>的归纳来证明。</a:t>
                </a:r>
                <a:endParaRPr lang="en-AU" altLang="zh-CN" dirty="0">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dirty="0"/>
                  <a:t>(1) </a:t>
                </a:r>
                <a:r>
                  <a:rPr lang="zh-CN" altLang="en-US" dirty="0">
                    <a:latin typeface="宋体" panose="02010600030101010101" pitchFamily="2" charset="-122"/>
                    <a:ea typeface="宋体" panose="02010600030101010101" pitchFamily="2" charset="-122"/>
                    <a:cs typeface="宋体" panose="02010600030101010101" pitchFamily="2" charset="-122"/>
                  </a:rPr>
                  <a:t>基础:当</a:t>
                </a:r>
                <a14:m>
                  <m:oMath xmlns:m="http://schemas.openxmlformats.org/officeDocument/2006/math">
                    <m:d>
                      <m:dPr>
                        <m:begChr m:val="|"/>
                        <m:endChr m:val="|"/>
                        <m:ctrlPr>
                          <a:rPr lang="en-AU" altLang="zh-CN" b="0" i="1" smtClean="0">
                            <a:latin typeface="Cambria Math" panose="02040503050406030204" pitchFamily="18" charset="0"/>
                          </a:rPr>
                        </m:ctrlPr>
                      </m:dPr>
                      <m:e>
                        <m:r>
                          <a:rPr lang="en-AU" altLang="zh-CN" b="0" i="1" smtClean="0">
                            <a:latin typeface="Cambria Math" panose="02040503050406030204" pitchFamily="18" charset="0"/>
                          </a:rPr>
                          <m:t>𝑦</m:t>
                        </m:r>
                      </m:e>
                    </m:d>
                    <m:r>
                      <a:rPr lang="en-AU" altLang="zh-CN" b="0" i="1" smtClean="0">
                        <a:latin typeface="Cambria Math" panose="02040503050406030204" pitchFamily="18" charset="0"/>
                      </a:rPr>
                      <m:t>=</m:t>
                    </m:r>
                    <m:r>
                      <a:rPr lang="en-AU" altLang="zh-CN" b="0" i="1" smtClean="0">
                        <a:latin typeface="Cambria Math" panose="02040503050406030204" pitchFamily="18" charset="0"/>
                      </a:rPr>
                      <m:t>0</m:t>
                    </m:r>
                  </m:oMath>
                </a14:m>
                <a:r>
                  <a:rPr lang="en-AU" dirty="0"/>
                  <a:t>,</a:t>
                </a:r>
                <a:r>
                  <a:rPr lang="zh-CN" altLang="en-US" dirty="0">
                    <a:latin typeface="宋体" panose="02010600030101010101" pitchFamily="2" charset="-122"/>
                    <a:ea typeface="宋体" panose="02010600030101010101" pitchFamily="2" charset="-122"/>
                    <a:cs typeface="宋体" panose="02010600030101010101" pitchFamily="2" charset="-122"/>
                  </a:rPr>
                  <a:t>即</a:t>
                </a:r>
                <a14:m>
                  <m:oMath xmlns:m="http://schemas.openxmlformats.org/officeDocument/2006/math">
                    <m:r>
                      <a:rPr lang="en-AU" altLang="zh-CN" b="0" i="1" smtClean="0">
                        <a:latin typeface="Cambria Math" panose="02040503050406030204" pitchFamily="18" charset="0"/>
                      </a:rPr>
                      <m:t>𝑦</m:t>
                    </m:r>
                    <m:r>
                      <a:rPr lang="en-AU" altLang="zh-CN" b="0" i="1" smtClean="0">
                        <a:latin typeface="Cambria Math" panose="02040503050406030204" pitchFamily="18" charset="0"/>
                      </a:rPr>
                      <m:t>=</m:t>
                    </m:r>
                    <m:r>
                      <a:rPr lang="zh-CN" altLang="en-AU" b="0" i="1" smtClean="0">
                        <a:latin typeface="Cambria Math" panose="02040503050406030204" pitchFamily="18" charset="0"/>
                      </a:rPr>
                      <m:t>𝜀</m:t>
                    </m:r>
                  </m:oMath>
                </a14:m>
                <a:endParaRPr lang="en-AU" altLang="zh-CN" b="0" i="1" dirty="0">
                  <a:latin typeface="Cambria Math" panose="02040503050406030204" pitchFamily="18" charset="0"/>
                </a:endParaRPr>
              </a:p>
              <a:p>
                <a:pPr marL="0" indent="0">
                  <a:buNone/>
                </a:pPr>
                <a:r>
                  <a:rPr lang="en-AU" dirty="0"/>
                  <a:t>                </a:t>
                </a:r>
                <a14:m>
                  <m:oMath xmlns:m="http://schemas.openxmlformats.org/officeDocument/2006/math">
                    <m:d>
                      <m:dPr>
                        <m:begChr m:val="|"/>
                        <m:endChr m:val="|"/>
                        <m:ctrlPr>
                          <a:rPr lang="en-AU" i="1" dirty="0" smtClean="0">
                            <a:latin typeface="Cambria Math" panose="02040503050406030204" pitchFamily="18" charset="0"/>
                          </a:rPr>
                        </m:ctrlPr>
                      </m:dPr>
                      <m:e>
                        <m:r>
                          <a:rPr lang="en-AU" i="1" dirty="0" smtClean="0">
                            <a:latin typeface="Cambria Math" panose="02040503050406030204" pitchFamily="18" charset="0"/>
                          </a:rPr>
                          <m:t>𝑥</m:t>
                        </m:r>
                        <m:r>
                          <a:rPr lang="zh-CN" altLang="en-AU" i="1">
                            <a:latin typeface="Cambria Math" panose="02040503050406030204" pitchFamily="18" charset="0"/>
                          </a:rPr>
                          <m:t>𝜀</m:t>
                        </m:r>
                      </m:e>
                    </m:d>
                    <m:r>
                      <a:rPr lang="en-AU" b="0" i="1" dirty="0" smtClean="0">
                        <a:latin typeface="Cambria Math" panose="02040503050406030204" pitchFamily="18" charset="0"/>
                      </a:rPr>
                      <m:t>=</m:t>
                    </m:r>
                    <m:d>
                      <m:dPr>
                        <m:begChr m:val="|"/>
                        <m:endChr m:val="|"/>
                        <m:ctrlPr>
                          <a:rPr lang="en-AU" b="0" i="1" dirty="0" smtClean="0">
                            <a:latin typeface="Cambria Math" panose="02040503050406030204" pitchFamily="18" charset="0"/>
                          </a:rPr>
                        </m:ctrlPr>
                      </m:dPr>
                      <m:e>
                        <m:r>
                          <a:rPr lang="en-AU" b="0" i="1" dirty="0" smtClean="0">
                            <a:latin typeface="Cambria Math" panose="02040503050406030204" pitchFamily="18" charset="0"/>
                          </a:rPr>
                          <m:t>𝑥</m:t>
                        </m:r>
                      </m:e>
                    </m:d>
                  </m:oMath>
                </a14:m>
                <a:endParaRPr lang="en-AU" b="0" i="1" dirty="0">
                  <a:latin typeface="Cambria Math" panose="02040503050406030204" pitchFamily="18" charset="0"/>
                </a:endParaRPr>
              </a:p>
              <a:p>
                <a:pPr marL="0" indent="0">
                  <a:buNone/>
                </a:pPr>
                <a:r>
                  <a:rPr lang="en-AU" b="0" dirty="0"/>
                  <a:t>                    </a:t>
                </a:r>
                <a14:m>
                  <m:oMath xmlns:m="http://schemas.openxmlformats.org/officeDocument/2006/math">
                    <m:r>
                      <a:rPr lang="en-AU" b="0" i="1" dirty="0" smtClean="0">
                        <a:latin typeface="Cambria Math" panose="02040503050406030204" pitchFamily="18" charset="0"/>
                      </a:rPr>
                      <m:t>=</m:t>
                    </m:r>
                    <m:d>
                      <m:dPr>
                        <m:begChr m:val="|"/>
                        <m:endChr m:val="|"/>
                        <m:ctrlPr>
                          <a:rPr lang="en-AU" b="0" i="1" dirty="0" smtClean="0">
                            <a:latin typeface="Cambria Math" panose="02040503050406030204" pitchFamily="18" charset="0"/>
                          </a:rPr>
                        </m:ctrlPr>
                      </m:dPr>
                      <m:e>
                        <m:r>
                          <a:rPr lang="en-AU" b="0" i="1" dirty="0" smtClean="0">
                            <a:latin typeface="Cambria Math" panose="02040503050406030204" pitchFamily="18" charset="0"/>
                          </a:rPr>
                          <m:t>𝑥</m:t>
                        </m:r>
                      </m:e>
                    </m:d>
                    <m:r>
                      <a:rPr lang="en-AU" b="0" i="1" dirty="0" smtClean="0">
                        <a:latin typeface="Cambria Math" panose="02040503050406030204" pitchFamily="18" charset="0"/>
                      </a:rPr>
                      <m:t>+|</m:t>
                    </m:r>
                    <m:r>
                      <a:rPr lang="zh-CN" altLang="en-AU" i="1">
                        <a:latin typeface="Cambria Math" panose="02040503050406030204" pitchFamily="18" charset="0"/>
                      </a:rPr>
                      <m:t>𝜀</m:t>
                    </m:r>
                    <m:r>
                      <a:rPr lang="en-AU" b="0" i="1" dirty="0" smtClean="0">
                        <a:latin typeface="Cambria Math" panose="02040503050406030204" pitchFamily="18" charset="0"/>
                      </a:rPr>
                      <m:t>|</m:t>
                    </m:r>
                  </m:oMath>
                </a14:m>
                <a:endParaRPr lang="en-AU" dirty="0"/>
              </a:p>
              <a:p>
                <a:pPr marL="0" indent="0">
                  <a:buNone/>
                </a:pPr>
                <a:r>
                  <a:rPr lang="en-AU" dirty="0"/>
                  <a:t>(2) </a:t>
                </a:r>
                <a:r>
                  <a:rPr lang="zh-CN" altLang="en-US" dirty="0">
                    <a:latin typeface="宋体" panose="02010600030101010101" pitchFamily="2" charset="-122"/>
                    <a:ea typeface="宋体" panose="02010600030101010101" pitchFamily="2" charset="-122"/>
                    <a:cs typeface="宋体" panose="02010600030101010101" pitchFamily="2" charset="-122"/>
                  </a:rPr>
                  <a:t>递推:假设</a:t>
                </a:r>
                <a14:m>
                  <m:oMath xmlns:m="http://schemas.openxmlformats.org/officeDocument/2006/math">
                    <m:d>
                      <m:dPr>
                        <m:begChr m:val="|"/>
                        <m:endChr m:val="|"/>
                        <m:ctrlPr>
                          <a:rPr lang="en-AU" altLang="zh-CN" b="0" i="1" smtClean="0">
                            <a:latin typeface="Cambria Math" panose="02040503050406030204" pitchFamily="18" charset="0"/>
                          </a:rPr>
                        </m:ctrlPr>
                      </m:dPr>
                      <m:e>
                        <m:r>
                          <a:rPr lang="en-AU" altLang="zh-CN" b="0" i="1" smtClean="0">
                            <a:latin typeface="Cambria Math" panose="02040503050406030204" pitchFamily="18" charset="0"/>
                          </a:rPr>
                          <m:t>𝑦</m:t>
                        </m:r>
                      </m:e>
                    </m:d>
                    <m:r>
                      <a:rPr lang="en-AU" altLang="zh-CN" b="0" i="1" smtClean="0">
                        <a:latin typeface="Cambria Math" panose="02040503050406030204" pitchFamily="18" charset="0"/>
                      </a:rPr>
                      <m:t>=</m:t>
                    </m:r>
                    <m:r>
                      <a:rPr lang="en-AU" altLang="zh-CN" b="0" i="1" smtClean="0">
                        <a:latin typeface="Cambria Math" panose="02040503050406030204" pitchFamily="18" charset="0"/>
                      </a:rPr>
                      <m:t>𝑛</m:t>
                    </m:r>
                  </m:oMath>
                </a14:m>
                <a:r>
                  <a:rPr lang="zh-CN" altLang="en-AU">
                    <a:latin typeface="Cambria Math" panose="02040503050406030204" pitchFamily="18" charset="0"/>
                  </a:rPr>
                  <a:t>（记</a:t>
                </a:r>
                <a14:m>
                  <m:oMath xmlns:m="http://schemas.openxmlformats.org/officeDocument/2006/math">
                    <m:r>
                      <a:rPr lang="en-US" altLang="en-AU" b="0" i="1" smtClean="0">
                        <a:latin typeface="Cambria Math" panose="02040503050406030204" pitchFamily="18" charset="0"/>
                      </a:rPr>
                      <m:t>𝑦</m:t>
                    </m:r>
                    <m:r>
                      <a:rPr lang="en-US" altLang="en-AU" b="0" i="1" smtClean="0">
                        <a:latin typeface="Cambria Math" panose="02040503050406030204" pitchFamily="18" charset="0"/>
                      </a:rPr>
                      <m:t>=</m:t>
                    </m:r>
                    <m:r>
                      <a:rPr lang="en-US" altLang="en-AU" b="0" i="1" smtClean="0">
                        <a:latin typeface="Cambria Math" panose="02040503050406030204" pitchFamily="18" charset="0"/>
                      </a:rPr>
                      <m:t>𝑤</m:t>
                    </m:r>
                  </m:oMath>
                </a14:m>
                <a:r>
                  <a:rPr lang="zh-CN" altLang="en-AU">
                    <a:latin typeface="Cambria Math" panose="02040503050406030204" pitchFamily="18" charset="0"/>
                  </a:rPr>
                  <a:t>）</a:t>
                </a:r>
                <a:r>
                  <a:rPr lang="zh-CN" altLang="en-US" dirty="0">
                    <a:latin typeface="宋体" panose="02010600030101010101" pitchFamily="2" charset="-122"/>
                    <a:ea typeface="宋体" panose="02010600030101010101" pitchFamily="2" charset="-122"/>
                    <a:cs typeface="宋体" panose="02010600030101010101" pitchFamily="2" charset="-122"/>
                  </a:rPr>
                  <a:t>时命题成立</a:t>
                </a:r>
                <a:r>
                  <a:rPr lang="zh-CN" altLang="en-US" dirty="0"/>
                  <a:t>，</a:t>
                </a:r>
                <a:endParaRPr lang="en-AU" altLang="zh-CN" dirty="0"/>
              </a:p>
              <a:p>
                <a:pPr marL="0" indent="0">
                  <a:buNone/>
                </a:pPr>
                <a:r>
                  <a:rPr lang="zh-CN" altLang="en-US" dirty="0">
                    <a:latin typeface="宋体" panose="02010600030101010101" pitchFamily="2" charset="-122"/>
                    <a:ea typeface="宋体" panose="02010600030101010101" pitchFamily="2" charset="-122"/>
                    <a:cs typeface="宋体" panose="02010600030101010101" pitchFamily="2" charset="-122"/>
                  </a:rPr>
                  <a:t>则当</a:t>
                </a:r>
                <a14:m>
                  <m:oMath xmlns:m="http://schemas.openxmlformats.org/officeDocument/2006/math">
                    <m:d>
                      <m:dPr>
                        <m:begChr m:val="|"/>
                        <m:endChr m:val="|"/>
                        <m:ctrlPr>
                          <a:rPr lang="en-AU" altLang="zh-CN" b="0" i="1" smtClean="0">
                            <a:latin typeface="Cambria Math" panose="02040503050406030204" pitchFamily="18" charset="0"/>
                          </a:rPr>
                        </m:ctrlPr>
                      </m:dPr>
                      <m:e>
                        <m:r>
                          <a:rPr lang="en-AU" altLang="zh-CN" b="0" i="1" smtClean="0">
                            <a:latin typeface="Cambria Math" panose="02040503050406030204" pitchFamily="18" charset="0"/>
                          </a:rPr>
                          <m:t>𝑦</m:t>
                        </m:r>
                      </m:e>
                    </m:d>
                    <m:r>
                      <a:rPr lang="en-AU" altLang="zh-CN" b="0" i="1" smtClean="0">
                        <a:latin typeface="Cambria Math" panose="02040503050406030204" pitchFamily="18" charset="0"/>
                      </a:rPr>
                      <m:t>=</m:t>
                    </m:r>
                    <m:r>
                      <a:rPr lang="en-AU" altLang="zh-CN" b="0" i="1" smtClean="0">
                        <a:latin typeface="Cambria Math" panose="02040503050406030204" pitchFamily="18" charset="0"/>
                      </a:rPr>
                      <m:t>𝑛</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oMath>
                </a14:m>
                <a:r>
                  <a:rPr lang="zh-CN" altLang="en-US" dirty="0">
                    <a:latin typeface="宋体" panose="02010600030101010101" pitchFamily="2" charset="-122"/>
                    <a:ea typeface="宋体" panose="02010600030101010101" pitchFamily="2" charset="-122"/>
                    <a:cs typeface="宋体" panose="02010600030101010101" pitchFamily="2" charset="-122"/>
                  </a:rPr>
                  <a:t>,即</a:t>
                </a:r>
                <a14:m>
                  <m:oMath xmlns:m="http://schemas.openxmlformats.org/officeDocument/2006/math">
                    <m:r>
                      <a:rPr lang="en-AU" altLang="zh-CN" i="1">
                        <a:latin typeface="Cambria Math" panose="02040503050406030204" pitchFamily="18" charset="0"/>
                      </a:rPr>
                      <m:t>𝑦</m:t>
                    </m:r>
                    <m:r>
                      <a:rPr lang="en-AU" altLang="zh-CN" i="1">
                        <a:latin typeface="Cambria Math" panose="02040503050406030204" pitchFamily="18" charset="0"/>
                      </a:rPr>
                      <m:t>=</m:t>
                    </m:r>
                    <m:r>
                      <a:rPr lang="en-AU" altLang="zh-CN" i="1">
                        <a:latin typeface="Cambria Math" panose="02040503050406030204" pitchFamily="18" charset="0"/>
                      </a:rPr>
                      <m:t>𝑤𝑎</m:t>
                    </m:r>
                  </m:oMath>
                </a14:m>
                <a:endParaRPr lang="en-US" altLang="zh-CN"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AU" i="1" dirty="0" smtClean="0">
                              <a:latin typeface="Cambria Math" panose="02040503050406030204" pitchFamily="18" charset="0"/>
                            </a:rPr>
                          </m:ctrlPr>
                        </m:dPr>
                        <m:e>
                          <m:r>
                            <a:rPr lang="en-AU" i="1" dirty="0" smtClean="0">
                              <a:latin typeface="Cambria Math" panose="02040503050406030204" pitchFamily="18" charset="0"/>
                            </a:rPr>
                            <m:t>𝑥</m:t>
                          </m:r>
                          <m:r>
                            <a:rPr lang="en-AU" b="0" i="1" dirty="0" smtClean="0">
                              <a:latin typeface="Cambria Math" panose="02040503050406030204" pitchFamily="18" charset="0"/>
                            </a:rPr>
                            <m:t>𝑦</m:t>
                          </m:r>
                        </m:e>
                      </m:d>
                      <m:r>
                        <a:rPr lang="en-US" altLang="en-AU" b="0" i="1" dirty="0" smtClean="0">
                          <a:latin typeface="Cambria Math" panose="02040503050406030204" pitchFamily="18" charset="0"/>
                        </a:rPr>
                        <m:t> </m:t>
                      </m:r>
                      <m:r>
                        <a:rPr lang="en-AU" b="0" i="1" dirty="0" smtClean="0">
                          <a:latin typeface="Cambria Math" panose="02040503050406030204" pitchFamily="18" charset="0"/>
                        </a:rPr>
                        <m:t>=</m:t>
                      </m:r>
                      <m:d>
                        <m:dPr>
                          <m:begChr m:val="|"/>
                          <m:endChr m:val="|"/>
                          <m:ctrlPr>
                            <a:rPr lang="en-AU" b="0" i="1" dirty="0" smtClean="0">
                              <a:latin typeface="Cambria Math" panose="02040503050406030204" pitchFamily="18" charset="0"/>
                            </a:rPr>
                          </m:ctrlPr>
                        </m:dPr>
                        <m:e>
                          <m:r>
                            <a:rPr lang="en-AU" b="0" i="1" dirty="0" smtClean="0">
                              <a:latin typeface="Cambria Math" panose="02040503050406030204" pitchFamily="18" charset="0"/>
                            </a:rPr>
                            <m:t>(</m:t>
                          </m:r>
                          <m:r>
                            <a:rPr lang="en-AU" b="0" i="1" dirty="0" smtClean="0">
                              <a:latin typeface="Cambria Math" panose="02040503050406030204" pitchFamily="18" charset="0"/>
                            </a:rPr>
                            <m:t>𝑥𝑤</m:t>
                          </m:r>
                          <m:r>
                            <a:rPr lang="en-AU" b="0" i="1" dirty="0" smtClean="0">
                              <a:latin typeface="Cambria Math" panose="02040503050406030204" pitchFamily="18" charset="0"/>
                            </a:rPr>
                            <m:t>)</m:t>
                          </m:r>
                          <m:r>
                            <a:rPr lang="en-AU" b="0" i="1" dirty="0" smtClean="0">
                              <a:latin typeface="Cambria Math" panose="02040503050406030204" pitchFamily="18" charset="0"/>
                            </a:rPr>
                            <m:t>𝑎</m:t>
                          </m:r>
                        </m:e>
                      </m:d>
                    </m:oMath>
                  </m:oMathPara>
                </a14:m>
                <a:endParaRPr lang="en-AU" dirty="0"/>
              </a:p>
              <a:p>
                <a:pPr marL="0" indent="0">
                  <a:buNone/>
                </a:pPr>
                <a:r>
                  <a:rPr lang="en-AU" i="1" dirty="0">
                    <a:latin typeface="Cambria Math" panose="02040503050406030204" pitchFamily="18" charset="0"/>
                  </a:rPr>
                  <a:t>                                         </a:t>
                </a:r>
                <a14:m>
                  <m:oMath xmlns:m="http://schemas.openxmlformats.org/officeDocument/2006/math">
                    <m:r>
                      <a:rPr lang="en-US" altLang="en-AU" b="0" i="1" smtClean="0">
                        <a:latin typeface="Cambria Math" panose="02040503050406030204" pitchFamily="18" charset="0"/>
                      </a:rPr>
                      <m:t>          =</m:t>
                    </m:r>
                    <m:d>
                      <m:dPr>
                        <m:begChr m:val="|"/>
                        <m:endChr m:val="|"/>
                        <m:ctrlPr>
                          <a:rPr lang="en-AU" b="0" i="1" smtClean="0">
                            <a:latin typeface="Cambria Math" panose="02040503050406030204" pitchFamily="18" charset="0"/>
                          </a:rPr>
                        </m:ctrlPr>
                      </m:dPr>
                      <m:e>
                        <m:r>
                          <a:rPr lang="en-AU" b="0" i="1" smtClean="0">
                            <a:latin typeface="Cambria Math" panose="02040503050406030204" pitchFamily="18" charset="0"/>
                          </a:rPr>
                          <m:t>𝑥𝑤</m:t>
                        </m:r>
                      </m:e>
                    </m:d>
                    <m:r>
                      <a:rPr lang="en-AU" b="0" i="1" smtClean="0">
                        <a:latin typeface="Cambria Math" panose="02040503050406030204" pitchFamily="18" charset="0"/>
                      </a:rPr>
                      <m:t>+</m:t>
                    </m:r>
                    <m:r>
                      <a:rPr lang="en-AU" b="0" i="1" smtClean="0">
                        <a:latin typeface="Cambria Math" panose="02040503050406030204" pitchFamily="18" charset="0"/>
                      </a:rPr>
                      <m:t>1</m:t>
                    </m:r>
                  </m:oMath>
                </a14:m>
                <a:endParaRPr lang="en-AU" dirty="0"/>
              </a:p>
              <a:p>
                <a:pPr marL="0" indent="0">
                  <a:buNone/>
                </a:pPr>
                <a:r>
                  <a:rPr lang="en-AU" i="1" dirty="0">
                    <a:latin typeface="Cambria Math" panose="02040503050406030204" pitchFamily="18" charset="0"/>
                  </a:rPr>
                  <a:t>                                                    </a:t>
                </a:r>
                <a14:m>
                  <m:oMath xmlns:m="http://schemas.openxmlformats.org/officeDocument/2006/math">
                    <m:r>
                      <a:rPr lang="en-AU" b="0" i="1" smtClean="0">
                        <a:latin typeface="Cambria Math" panose="02040503050406030204" pitchFamily="18" charset="0"/>
                      </a:rPr>
                      <m:t>=</m:t>
                    </m:r>
                    <m:d>
                      <m:dPr>
                        <m:begChr m:val="|"/>
                        <m:endChr m:val="|"/>
                        <m:ctrlPr>
                          <a:rPr lang="en-AU" b="0" i="1" smtClean="0">
                            <a:latin typeface="Cambria Math" panose="02040503050406030204" pitchFamily="18" charset="0"/>
                          </a:rPr>
                        </m:ctrlPr>
                      </m:dPr>
                      <m:e>
                        <m:r>
                          <a:rPr lang="en-AU" b="0" i="1" smtClean="0">
                            <a:latin typeface="Cambria Math" panose="02040503050406030204" pitchFamily="18" charset="0"/>
                          </a:rPr>
                          <m:t>𝑥</m:t>
                        </m:r>
                        <m:r>
                          <a:rPr lang="en-AU" b="0" i="1" smtClean="0">
                            <a:latin typeface="Cambria Math" panose="02040503050406030204" pitchFamily="18" charset="0"/>
                          </a:rPr>
                          <m:t>|+|</m:t>
                        </m:r>
                        <m:r>
                          <a:rPr lang="en-AU" b="0" i="1" smtClean="0">
                            <a:latin typeface="Cambria Math" panose="02040503050406030204" pitchFamily="18" charset="0"/>
                          </a:rPr>
                          <m:t>𝑤</m:t>
                        </m:r>
                      </m:e>
                    </m:d>
                    <m:r>
                      <a:rPr lang="en-AU" b="0" i="1" smtClean="0">
                        <a:latin typeface="Cambria Math" panose="02040503050406030204" pitchFamily="18" charset="0"/>
                      </a:rPr>
                      <m:t>+</m:t>
                    </m:r>
                    <m:r>
                      <a:rPr lang="en-AU" b="0" i="1" smtClean="0">
                        <a:latin typeface="Cambria Math" panose="02040503050406030204" pitchFamily="18" charset="0"/>
                      </a:rPr>
                      <m:t>1</m:t>
                    </m:r>
                  </m:oMath>
                </a14:m>
                <a:endParaRPr lang="en-AU" dirty="0"/>
              </a:p>
              <a:p>
                <a:pPr marL="0" indent="0">
                  <a:buNone/>
                </a:pPr>
                <a:r>
                  <a:rPr lang="en-AU" b="0" dirty="0"/>
                  <a:t>                  </a:t>
                </a:r>
                <a14:m>
                  <m:oMath xmlns:m="http://schemas.openxmlformats.org/officeDocument/2006/math">
                    <m:r>
                      <a:rPr lang="en-US" altLang="en-AU" b="0" i="1" smtClean="0">
                        <a:latin typeface="Cambria Math" panose="02040503050406030204" pitchFamily="18" charset="0"/>
                      </a:rPr>
                      <m:t>          </m:t>
                    </m:r>
                    <m:r>
                      <a:rPr lang="en-AU" b="0" i="1" smtClean="0">
                        <a:latin typeface="Cambria Math" panose="02040503050406030204" pitchFamily="18" charset="0"/>
                      </a:rPr>
                      <m:t>=</m:t>
                    </m:r>
                    <m:d>
                      <m:dPr>
                        <m:begChr m:val="|"/>
                        <m:endChr m:val="|"/>
                        <m:ctrlPr>
                          <a:rPr lang="en-AU" b="0" i="1" smtClean="0">
                            <a:latin typeface="Cambria Math" panose="02040503050406030204" pitchFamily="18" charset="0"/>
                          </a:rPr>
                        </m:ctrlPr>
                      </m:dPr>
                      <m:e>
                        <m:r>
                          <a:rPr lang="en-AU" b="0" i="1" smtClean="0">
                            <a:latin typeface="Cambria Math" panose="02040503050406030204" pitchFamily="18" charset="0"/>
                          </a:rPr>
                          <m:t>𝑥</m:t>
                        </m:r>
                      </m:e>
                    </m:d>
                    <m:r>
                      <a:rPr lang="en-AU" b="0" i="1" smtClean="0">
                        <a:latin typeface="Cambria Math" panose="02040503050406030204" pitchFamily="18" charset="0"/>
                      </a:rPr>
                      <m:t>+|</m:t>
                    </m:r>
                    <m:r>
                      <a:rPr lang="en-AU" b="0" i="1" smtClean="0">
                        <a:latin typeface="Cambria Math" panose="02040503050406030204" pitchFamily="18" charset="0"/>
                      </a:rPr>
                      <m:t>𝑤𝑎</m:t>
                    </m:r>
                    <m:r>
                      <a:rPr lang="en-AU" b="0" i="1" smtClean="0">
                        <a:latin typeface="Cambria Math" panose="02040503050406030204" pitchFamily="18" charset="0"/>
                      </a:rPr>
                      <m:t>|</m:t>
                    </m:r>
                  </m:oMath>
                </a14:m>
                <a:endParaRPr lang="en-AU" dirty="0"/>
              </a:p>
              <a:p>
                <a:pPr marL="0" indent="0">
                  <a:buNone/>
                </a:pPr>
                <a:endParaRPr lang="en-AU" dirty="0"/>
              </a:p>
            </p:txBody>
          </p:sp>
        </mc:Choice>
        <mc:Fallback>
          <p:sp>
            <p:nvSpPr>
              <p:cNvPr id="19" name="Content Placeholder 2"/>
              <p:cNvSpPr>
                <a:spLocks noRot="1" noChangeAspect="1" noMove="1" noResize="1" noEditPoints="1" noAdjustHandles="1" noChangeArrowheads="1" noChangeShapeType="1" noTextEdit="1"/>
              </p:cNvSpPr>
              <p:nvPr/>
            </p:nvSpPr>
            <p:spPr>
              <a:xfrm>
                <a:off x="628650" y="1292225"/>
                <a:ext cx="7886700" cy="4351338"/>
              </a:xfrm>
              <a:prstGeom prst="rect">
                <a:avLst/>
              </a:prstGeom>
              <a:blipFill rotWithShape="1">
                <a:blip r:embed="rId1"/>
                <a:stretch>
                  <a:fillRect t="-248" b="-3495"/>
                </a:stretch>
              </a:blipFill>
            </p:spPr>
            <p:txBody>
              <a:bodyPr/>
              <a:lstStyle/>
              <a:p>
                <a:r>
                  <a:rPr lang="zh-CN" altLang="en-US">
                    <a:noFill/>
                  </a:rPr>
                  <a:t> </a:t>
                </a:r>
              </a:p>
            </p:txBody>
          </p:sp>
        </mc:Fallback>
      </mc:AlternateContent>
      <p:sp>
        <p:nvSpPr>
          <p:cNvPr id="20" name="TextBox 4"/>
          <p:cNvSpPr txBox="1"/>
          <p:nvPr/>
        </p:nvSpPr>
        <p:spPr>
          <a:xfrm>
            <a:off x="6344126" y="2772420"/>
            <a:ext cx="1723549" cy="461665"/>
          </a:xfrm>
          <a:prstGeom prst="rect">
            <a:avLst/>
          </a:prstGeom>
          <a:noFill/>
        </p:spPr>
        <p:txBody>
          <a:bodyPr wrap="none" rtlCol="0">
            <a:spAutoFit/>
          </a:bodyPr>
          <a:lstStyle/>
          <a:p>
            <a:r>
              <a:rPr lang="zh-CN" altLang="en-US" sz="2400" dirty="0">
                <a:latin typeface="楷体" panose="02010609060101010101" pitchFamily="49" charset="-122"/>
                <a:ea typeface="楷体" panose="02010609060101010101" pitchFamily="49" charset="-122"/>
              </a:rPr>
              <a:t>长度的定义</a:t>
            </a:r>
            <a:endParaRPr lang="en-AU" sz="2400" dirty="0">
              <a:latin typeface="楷体" panose="02010609060101010101" pitchFamily="49" charset="-122"/>
              <a:ea typeface="楷体" panose="02010609060101010101" pitchFamily="49" charset="-122"/>
            </a:endParaRPr>
          </a:p>
        </p:txBody>
      </p:sp>
      <p:sp>
        <p:nvSpPr>
          <p:cNvPr id="21" name="TextBox 6"/>
          <p:cNvSpPr txBox="1"/>
          <p:nvPr/>
        </p:nvSpPr>
        <p:spPr>
          <a:xfrm>
            <a:off x="6344126" y="2362199"/>
            <a:ext cx="1905000"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连接的定义</a:t>
            </a:r>
            <a:endParaRPr lang="en-AU" altLang="zh-CN" sz="2400" dirty="0">
              <a:latin typeface="楷体" panose="02010609060101010101" pitchFamily="49" charset="-122"/>
              <a:ea typeface="楷体" panose="02010609060101010101" pitchFamily="49" charset="-122"/>
            </a:endParaRPr>
          </a:p>
        </p:txBody>
      </p:sp>
      <p:sp>
        <p:nvSpPr>
          <p:cNvPr id="22" name="TextBox 7"/>
          <p:cNvSpPr txBox="1"/>
          <p:nvPr/>
        </p:nvSpPr>
        <p:spPr>
          <a:xfrm>
            <a:off x="6344126" y="3893838"/>
            <a:ext cx="1905000"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连接的定义</a:t>
            </a:r>
            <a:endParaRPr lang="en-AU" altLang="zh-CN" sz="2400" dirty="0">
              <a:latin typeface="楷体" panose="02010609060101010101" pitchFamily="49" charset="-122"/>
              <a:ea typeface="楷体" panose="02010609060101010101" pitchFamily="49" charset="-122"/>
            </a:endParaRPr>
          </a:p>
        </p:txBody>
      </p:sp>
      <p:sp>
        <p:nvSpPr>
          <p:cNvPr id="23" name="TextBox 8"/>
          <p:cNvSpPr txBox="1"/>
          <p:nvPr/>
        </p:nvSpPr>
        <p:spPr>
          <a:xfrm>
            <a:off x="6344126" y="4304058"/>
            <a:ext cx="1905000"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长度的定义</a:t>
            </a:r>
            <a:endParaRPr lang="en-AU" altLang="zh-CN" sz="2400" dirty="0">
              <a:latin typeface="楷体" panose="02010609060101010101" pitchFamily="49" charset="-122"/>
              <a:ea typeface="楷体" panose="02010609060101010101" pitchFamily="49" charset="-122"/>
            </a:endParaRPr>
          </a:p>
        </p:txBody>
      </p:sp>
      <p:sp>
        <p:nvSpPr>
          <p:cNvPr id="24" name="TextBox 9"/>
          <p:cNvSpPr txBox="1"/>
          <p:nvPr/>
        </p:nvSpPr>
        <p:spPr>
          <a:xfrm>
            <a:off x="6400725" y="4765837"/>
            <a:ext cx="1905000"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归纳假设</a:t>
            </a:r>
            <a:endParaRPr lang="en-AU" altLang="zh-CN" sz="2400" dirty="0">
              <a:latin typeface="楷体" panose="02010609060101010101" pitchFamily="49" charset="-122"/>
              <a:ea typeface="楷体" panose="02010609060101010101" pitchFamily="49" charset="-122"/>
            </a:endParaRPr>
          </a:p>
        </p:txBody>
      </p:sp>
      <p:sp>
        <p:nvSpPr>
          <p:cNvPr id="25" name="TextBox 10"/>
          <p:cNvSpPr txBox="1"/>
          <p:nvPr/>
        </p:nvSpPr>
        <p:spPr>
          <a:xfrm>
            <a:off x="6344222" y="5182517"/>
            <a:ext cx="1905000" cy="461665"/>
          </a:xfrm>
          <a:prstGeom prst="rect">
            <a:avLst/>
          </a:prstGeom>
          <a:noFill/>
        </p:spPr>
        <p:txBody>
          <a:bodyPr wrap="square">
            <a:spAutoFit/>
          </a:bodyPr>
          <a:lstStyle/>
          <a:p>
            <a:r>
              <a:rPr lang="zh-CN" altLang="en-US" sz="2400" dirty="0">
                <a:latin typeface="楷体" panose="02010609060101010101" pitchFamily="49" charset="-122"/>
                <a:ea typeface="楷体" panose="02010609060101010101" pitchFamily="49" charset="-122"/>
              </a:rPr>
              <a:t>长度的定义</a:t>
            </a:r>
            <a:endParaRPr lang="en-AU" altLang="zh-CN" sz="2400" dirty="0">
              <a:latin typeface="楷体" panose="02010609060101010101" pitchFamily="49" charset="-122"/>
              <a:ea typeface="楷体" panose="02010609060101010101"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反证法：假设某命题不成立（即在原命题的题设下，结论不成立），然后推理出明显矛盾的结果，从而判定假设不成立，原命题得证。</a:t>
                </a:r>
                <a:endParaRPr lang="en-AU" altLang="zh-CN" dirty="0"/>
              </a:p>
              <a:p>
                <a:r>
                  <a:rPr lang="zh-CN" altLang="en-US" dirty="0"/>
                  <a:t>例，所有素数都是奇数。更加形式化的描述是：“如果</a:t>
                </a:r>
                <a14:m>
                  <m:oMath xmlns:m="http://schemas.openxmlformats.org/officeDocument/2006/math">
                    <m:r>
                      <a:rPr lang="en-US" altLang="zh-CN" i="1" dirty="0" smtClean="0">
                        <a:latin typeface="Cambria Math" panose="02040503050406030204" pitchFamily="18" charset="0"/>
                      </a:rPr>
                      <m:t>𝑥</m:t>
                    </m:r>
                  </m:oMath>
                </a14:m>
                <a:r>
                  <a:rPr lang="zh-CN" altLang="en-US" dirty="0"/>
                  <a:t>是素数，则</a:t>
                </a:r>
                <a14:m>
                  <m:oMath xmlns:m="http://schemas.openxmlformats.org/officeDocument/2006/math">
                    <m:r>
                      <a:rPr lang="en-US" altLang="zh-CN" i="1" dirty="0" smtClean="0">
                        <a:latin typeface="Cambria Math" panose="02040503050406030204" pitchFamily="18" charset="0"/>
                      </a:rPr>
                      <m:t>𝑥</m:t>
                    </m:r>
                  </m:oMath>
                </a14:m>
                <a:r>
                  <a:rPr lang="zh-CN" altLang="en-US" dirty="0"/>
                  <a:t>是奇数”。</a:t>
                </a:r>
                <a:endParaRPr lang="zh-CN" altLang="en-US" dirty="0"/>
              </a:p>
              <a:p>
                <a:pPr lvl="1"/>
                <a:r>
                  <a:rPr lang="zh-CN" altLang="en-US" dirty="0"/>
                  <a:t>否证：整数</a:t>
                </a:r>
                <a14:m>
                  <m:oMath xmlns:m="http://schemas.openxmlformats.org/officeDocument/2006/math">
                    <m:r>
                      <a:rPr lang="en-US" altLang="zh-CN" i="1" dirty="0" smtClean="0">
                        <a:latin typeface="Cambria Math" panose="02040503050406030204" pitchFamily="18" charset="0"/>
                      </a:rPr>
                      <m:t>2</m:t>
                    </m:r>
                  </m:oMath>
                </a14:m>
                <a:r>
                  <a:rPr lang="zh-CN" altLang="en-US" dirty="0"/>
                  <a:t>是素数，但</a:t>
                </a:r>
                <a14:m>
                  <m:oMath xmlns:m="http://schemas.openxmlformats.org/officeDocument/2006/math">
                    <m:r>
                      <a:rPr lang="en-US" altLang="zh-CN" i="1" dirty="0" smtClean="0">
                        <a:latin typeface="Cambria Math" panose="02040503050406030204" pitchFamily="18" charset="0"/>
                      </a:rPr>
                      <m:t>2</m:t>
                    </m:r>
                  </m:oMath>
                </a14:m>
                <a:r>
                  <a:rPr lang="zh-CN" altLang="en-US" dirty="0"/>
                  <a:t>是偶数。</a:t>
                </a:r>
                <a:endParaRPr lang="en-US" altLang="zh-CN" dirty="0"/>
              </a:p>
              <a:p>
                <a:pPr marL="457200" lvl="1" indent="0">
                  <a:buNone/>
                </a:pPr>
                <a:r>
                  <a:rPr lang="zh-CN" altLang="en-US" b="1" dirty="0">
                    <a:solidFill>
                      <a:schemeClr val="accent6"/>
                    </a:solidFill>
                    <a:sym typeface="Wingdings" panose="05000000000000000000" pitchFamily="2" charset="2"/>
                  </a:rPr>
                  <a:t>！！！</a:t>
                </a:r>
                <a:r>
                  <a:rPr lang="zh-CN" altLang="en-US" dirty="0">
                    <a:solidFill>
                      <a:schemeClr val="accent6"/>
                    </a:solidFill>
                  </a:rPr>
                  <a:t>现实生活中反例证明的误区</a:t>
                </a:r>
                <a:r>
                  <a:rPr lang="zh-CN" altLang="en-US" dirty="0"/>
                  <a:t>：例子不完全具备命题条件时，结论为假，从而得到命题为假。实际上将“如果</a:t>
                </a:r>
                <a:r>
                  <a:rPr lang="en-US" altLang="zh-CN" dirty="0"/>
                  <a:t>H</a:t>
                </a:r>
                <a:r>
                  <a:rPr lang="zh-CN" altLang="en-US" dirty="0"/>
                  <a:t>，则</a:t>
                </a:r>
                <a:r>
                  <a:rPr lang="en-US" altLang="zh-CN" dirty="0"/>
                  <a:t>C</a:t>
                </a:r>
                <a:r>
                  <a:rPr lang="zh-CN" altLang="en-US" dirty="0"/>
                  <a:t>”转化成了其否命题的一个例子“如果非</a:t>
                </a:r>
                <a:r>
                  <a:rPr lang="en-US" altLang="zh-CN" dirty="0"/>
                  <a:t>H</a:t>
                </a:r>
                <a:r>
                  <a:rPr lang="zh-CN" altLang="en-US" dirty="0"/>
                  <a:t>，则非</a:t>
                </a:r>
                <a:r>
                  <a:rPr lang="en-US" altLang="zh-CN" dirty="0"/>
                  <a:t>C</a:t>
                </a:r>
                <a:r>
                  <a:rPr lang="zh-CN" altLang="en-US" dirty="0"/>
                  <a:t>”</a:t>
                </a:r>
                <a:endParaRPr lang="zh-CN" altLang="en-US"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r="-1728" b="-933"/>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Title 1"/>
          <p:cNvSpPr>
            <a:spLocks noGrp="1"/>
          </p:cNvSpPr>
          <p:nvPr/>
        </p:nvSpPr>
        <p:spPr>
          <a:xfrm>
            <a:off x="762000" y="-43815"/>
            <a:ext cx="8229600" cy="775970"/>
          </a:xfrm>
          <a:prstGeom prst="rect">
            <a:avLst/>
          </a:prstGeom>
          <a:noFill/>
          <a:ln w="9525">
            <a:noFill/>
          </a:ln>
        </p:spPr>
        <p:txBody>
          <a:bodyPr vert="horz" lIns="91440" tIns="45720" rIns="91440" bIns="45720" anchor="ctr" anchorCtr="0"/>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buClrTx/>
              <a:buSzTx/>
              <a:buFontTx/>
            </a:pPr>
            <a:r>
              <a:rPr lang="zh-CN" altLang="en-US" sz="3600" b="1"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其他形式化证明:反证法</a:t>
            </a:r>
            <a:endParaRPr lang="zh-CN" altLang="en-US" sz="3600" b="1"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42900" lvl="1" indent="-342900" fontAlgn="base">
              <a:lnSpc>
                <a:spcPct val="90000"/>
              </a:lnSpc>
              <a:spcAft>
                <a:spcPct val="0"/>
              </a:spcAft>
              <a:buFont typeface="Arial" panose="020B0604020202020204" pitchFamily="34" charset="0"/>
              <a:buChar char="•"/>
              <a:defRPr/>
            </a:pPr>
            <a:r>
              <a:rPr lang="zh-CN" altLang="en-US" b="1" dirty="0">
                <a:latin typeface="黑体" panose="02010609060101010101" pitchFamily="49" charset="-122"/>
                <a:ea typeface="黑体" panose="02010609060101010101" pitchFamily="49" charset="-122"/>
              </a:rPr>
              <a:t>逆否命题：命题“如果</a:t>
            </a:r>
            <a:r>
              <a:rPr lang="en-US" altLang="zh-CN" b="1" dirty="0">
                <a:latin typeface="黑体" panose="02010609060101010101" pitchFamily="49" charset="-122"/>
                <a:ea typeface="黑体" panose="02010609060101010101" pitchFamily="49" charset="-122"/>
              </a:rPr>
              <a:t>H</a:t>
            </a:r>
            <a:r>
              <a:rPr lang="zh-CN" altLang="en-US" b="1" dirty="0">
                <a:latin typeface="黑体" panose="02010609060101010101" pitchFamily="49" charset="-122"/>
                <a:ea typeface="黑体" panose="02010609060101010101" pitchFamily="49" charset="-122"/>
              </a:rPr>
              <a:t>，则</a:t>
            </a:r>
            <a:r>
              <a:rPr lang="en-US" altLang="zh-CN" b="1" dirty="0">
                <a:latin typeface="黑体" panose="02010609060101010101" pitchFamily="49" charset="-122"/>
                <a:ea typeface="黑体" panose="02010609060101010101" pitchFamily="49" charset="-122"/>
              </a:rPr>
              <a:t>C</a:t>
            </a:r>
            <a:r>
              <a:rPr lang="zh-CN" altLang="en-US" b="1" dirty="0">
                <a:latin typeface="黑体" panose="02010609060101010101" pitchFamily="49" charset="-122"/>
                <a:ea typeface="黑体" panose="02010609060101010101" pitchFamily="49" charset="-122"/>
              </a:rPr>
              <a:t>”的逆否命题为“如果非</a:t>
            </a:r>
            <a:r>
              <a:rPr lang="en-US" altLang="zh-CN" b="1" dirty="0">
                <a:latin typeface="黑体" panose="02010609060101010101" pitchFamily="49" charset="-122"/>
                <a:ea typeface="黑体" panose="02010609060101010101" pitchFamily="49" charset="-122"/>
              </a:rPr>
              <a:t>C</a:t>
            </a:r>
            <a:r>
              <a:rPr lang="zh-CN" altLang="en-US" b="1" dirty="0">
                <a:latin typeface="黑体" panose="02010609060101010101" pitchFamily="49" charset="-122"/>
                <a:ea typeface="黑体" panose="02010609060101010101" pitchFamily="49" charset="-122"/>
              </a:rPr>
              <a:t>，则非</a:t>
            </a:r>
            <a:r>
              <a:rPr lang="en-US" altLang="zh-CN" b="1" dirty="0">
                <a:latin typeface="黑体" panose="02010609060101010101" pitchFamily="49" charset="-122"/>
                <a:ea typeface="黑体" panose="02010609060101010101" pitchFamily="49" charset="-122"/>
              </a:rPr>
              <a:t>H</a:t>
            </a:r>
            <a:r>
              <a:rPr lang="zh-CN" altLang="en-US" b="1" dirty="0">
                <a:latin typeface="黑体" panose="02010609060101010101" pitchFamily="49" charset="-122"/>
                <a:ea typeface="黑体" panose="02010609060101010101" pitchFamily="49" charset="-122"/>
              </a:rPr>
              <a:t>”，两者等价，通过证明逆否命题来证明原命题。</a:t>
            </a:r>
            <a:endParaRPr lang="en-US" altLang="zh-CN" b="1" dirty="0">
              <a:latin typeface="黑体" panose="02010609060101010101" pitchFamily="49" charset="-122"/>
              <a:ea typeface="黑体" panose="02010609060101010101" pitchFamily="49" charset="-122"/>
            </a:endParaRPr>
          </a:p>
          <a:p>
            <a:pPr lvl="1" fontAlgn="base">
              <a:lnSpc>
                <a:spcPct val="90000"/>
              </a:lnSpc>
              <a:spcAft>
                <a:spcPct val="0"/>
              </a:spcAft>
              <a:buFontTx/>
              <a:buChar char="–"/>
              <a:defRPr/>
            </a:pPr>
            <a:r>
              <a:rPr lang="zh-CN" altLang="en-US" kern="0" dirty="0"/>
              <a:t>反证法与逆否命题之间的区别和联系</a:t>
            </a:r>
            <a:endParaRPr lang="en-US" altLang="zh-CN" kern="0" dirty="0"/>
          </a:p>
          <a:p>
            <a:pPr lvl="2" fontAlgn="base">
              <a:lnSpc>
                <a:spcPct val="90000"/>
              </a:lnSpc>
              <a:spcAft>
                <a:spcPct val="0"/>
              </a:spcAft>
              <a:buFontTx/>
              <a:buChar char="•"/>
              <a:defRPr/>
            </a:pPr>
            <a:r>
              <a:rPr lang="zh-CN" altLang="en-US" kern="0" dirty="0"/>
              <a:t>逆否命题的证明需要根据非</a:t>
            </a:r>
            <a:r>
              <a:rPr lang="en-US" altLang="zh-CN" i="1" kern="0" dirty="0">
                <a:latin typeface="Times New Roman" panose="02020603050405020304" pitchFamily="18" charset="0"/>
                <a:cs typeface="Times New Roman" panose="02020603050405020304" pitchFamily="18" charset="0"/>
              </a:rPr>
              <a:t>C </a:t>
            </a:r>
            <a:r>
              <a:rPr lang="zh-CN" altLang="en-US" kern="0" dirty="0"/>
              <a:t>，推出非</a:t>
            </a:r>
            <a:r>
              <a:rPr lang="en-US" altLang="zh-CN" i="1" kern="0" dirty="0">
                <a:latin typeface="Times New Roman" panose="02020603050405020304" pitchFamily="18" charset="0"/>
                <a:cs typeface="Times New Roman" panose="02020603050405020304" pitchFamily="18" charset="0"/>
              </a:rPr>
              <a:t>H </a:t>
            </a:r>
            <a:r>
              <a:rPr lang="zh-CN" altLang="en-US" kern="0" dirty="0"/>
              <a:t>，在实际推理过程中往往比较困难</a:t>
            </a:r>
            <a:endParaRPr lang="en-US" altLang="zh-CN" kern="0" dirty="0"/>
          </a:p>
          <a:p>
            <a:pPr lvl="2" fontAlgn="base">
              <a:lnSpc>
                <a:spcPct val="90000"/>
              </a:lnSpc>
              <a:spcAft>
                <a:spcPct val="0"/>
              </a:spcAft>
              <a:buFontTx/>
              <a:buChar char="•"/>
              <a:defRPr/>
            </a:pPr>
            <a:r>
              <a:rPr lang="zh-CN" altLang="en-US" kern="0" dirty="0"/>
              <a:t>反证法不直接证明“非</a:t>
            </a:r>
            <a:r>
              <a:rPr lang="en-US" altLang="zh-CN" i="1" kern="0" dirty="0">
                <a:latin typeface="Times New Roman" panose="02020603050405020304" pitchFamily="18" charset="0"/>
                <a:cs typeface="Times New Roman" panose="02020603050405020304" pitchFamily="18" charset="0"/>
              </a:rPr>
              <a:t>H</a:t>
            </a:r>
            <a:r>
              <a:rPr lang="zh-CN" altLang="en-US" kern="0" dirty="0">
                <a:latin typeface="Times New Roman" panose="02020603050405020304" pitchFamily="18" charset="0"/>
                <a:cs typeface="Times New Roman" panose="02020603050405020304" pitchFamily="18" charset="0"/>
              </a:rPr>
              <a:t>”，而是转化成推出“</a:t>
            </a:r>
            <a:r>
              <a:rPr lang="zh-CN" altLang="en-US" kern="0" dirty="0"/>
              <a:t>非</a:t>
            </a:r>
            <a:r>
              <a:rPr lang="en-US" altLang="zh-CN" i="1" kern="0" dirty="0">
                <a:latin typeface="Times New Roman" panose="02020603050405020304" pitchFamily="18" charset="0"/>
                <a:cs typeface="Times New Roman" panose="02020603050405020304" pitchFamily="18" charset="0"/>
              </a:rPr>
              <a:t>C</a:t>
            </a:r>
            <a:r>
              <a:rPr lang="zh-CN" altLang="en-US" kern="0" dirty="0">
                <a:latin typeface="Times New Roman" panose="02020603050405020304" pitchFamily="18" charset="0"/>
                <a:cs typeface="Times New Roman" panose="02020603050405020304" pitchFamily="18" charset="0"/>
              </a:rPr>
              <a:t>”</a:t>
            </a:r>
            <a:r>
              <a:rPr lang="en-US" altLang="zh-CN" i="1" kern="0" dirty="0">
                <a:latin typeface="Times New Roman" panose="02020603050405020304" pitchFamily="18" charset="0"/>
                <a:cs typeface="Times New Roman" panose="02020603050405020304" pitchFamily="18" charset="0"/>
              </a:rPr>
              <a:t> </a:t>
            </a:r>
            <a:r>
              <a:rPr lang="zh-CN" altLang="en-US" kern="0" dirty="0">
                <a:latin typeface="Times New Roman" panose="02020603050405020304" pitchFamily="18" charset="0"/>
                <a:cs typeface="Times New Roman" panose="02020603050405020304" pitchFamily="18" charset="0"/>
              </a:rPr>
              <a:t>与</a:t>
            </a:r>
            <a:r>
              <a:rPr lang="en-US" altLang="zh-CN" kern="0" dirty="0">
                <a:latin typeface="Times New Roman" panose="02020603050405020304" pitchFamily="18" charset="0"/>
                <a:cs typeface="Times New Roman" panose="02020603050405020304" pitchFamily="18" charset="0"/>
              </a:rPr>
              <a:t>H</a:t>
            </a:r>
            <a:r>
              <a:rPr lang="zh-CN" altLang="en-US" kern="0" dirty="0">
                <a:latin typeface="Times New Roman" panose="02020603050405020304" pitchFamily="18" charset="0"/>
                <a:cs typeface="Times New Roman" panose="02020603050405020304" pitchFamily="18" charset="0"/>
              </a:rPr>
              <a:t>矛盾</a:t>
            </a:r>
            <a:endParaRPr lang="en-US" altLang="zh-CN" kern="0" dirty="0"/>
          </a:p>
          <a:p>
            <a:pPr marL="457200" lvl="1" indent="0" fontAlgn="base">
              <a:lnSpc>
                <a:spcPct val="90000"/>
              </a:lnSpc>
              <a:spcAft>
                <a:spcPct val="0"/>
              </a:spcAft>
              <a:buNone/>
              <a:defRPr/>
            </a:pPr>
            <a:r>
              <a:rPr lang="zh-CN" altLang="en-US" kern="0" dirty="0"/>
              <a:t>例，</a:t>
            </a:r>
            <a:r>
              <a:rPr lang="en-US" altLang="zh-CN" i="1" kern="0" dirty="0">
                <a:latin typeface="Times New Roman" panose="02020603050405020304" pitchFamily="18" charset="0"/>
                <a:cs typeface="Times New Roman" panose="02020603050405020304" pitchFamily="18" charset="0"/>
              </a:rPr>
              <a:t>H</a:t>
            </a:r>
            <a:r>
              <a:rPr lang="en-US" altLang="zh-CN" kern="0" dirty="0"/>
              <a:t>=</a:t>
            </a:r>
            <a:r>
              <a:rPr lang="zh-CN" altLang="en-US" kern="0" dirty="0"/>
              <a:t>“</a:t>
            </a:r>
            <a:r>
              <a:rPr lang="en-US" altLang="zh-CN" i="1" kern="0" dirty="0">
                <a:latin typeface="Times New Roman" panose="02020603050405020304" pitchFamily="18" charset="0"/>
                <a:cs typeface="Times New Roman" panose="02020603050405020304" pitchFamily="18" charset="0"/>
              </a:rPr>
              <a:t>U</a:t>
            </a:r>
            <a:r>
              <a:rPr lang="zh-CN" altLang="en-US" kern="0" dirty="0"/>
              <a:t>是无穷集，</a:t>
            </a:r>
            <a:r>
              <a:rPr lang="en-US" altLang="zh-CN" i="1" kern="0" dirty="0">
                <a:latin typeface="Times New Roman" panose="02020603050405020304" pitchFamily="18" charset="0"/>
                <a:cs typeface="Times New Roman" panose="02020603050405020304" pitchFamily="18" charset="0"/>
              </a:rPr>
              <a:t>S</a:t>
            </a:r>
            <a:r>
              <a:rPr lang="zh-CN" altLang="en-US" kern="0" dirty="0"/>
              <a:t>是</a:t>
            </a:r>
            <a:r>
              <a:rPr lang="en-US" altLang="zh-CN" i="1" kern="0" dirty="0">
                <a:latin typeface="Times New Roman" panose="02020603050405020304" pitchFamily="18" charset="0"/>
                <a:cs typeface="Times New Roman" panose="02020603050405020304" pitchFamily="18" charset="0"/>
              </a:rPr>
              <a:t>U</a:t>
            </a:r>
            <a:r>
              <a:rPr lang="zh-CN" altLang="en-US" kern="0" dirty="0"/>
              <a:t>的有穷子集，</a:t>
            </a:r>
            <a:r>
              <a:rPr lang="en-US" altLang="zh-CN" i="1" kern="0" dirty="0">
                <a:latin typeface="Times New Roman" panose="02020603050405020304" pitchFamily="18" charset="0"/>
                <a:cs typeface="Times New Roman" panose="02020603050405020304" pitchFamily="18" charset="0"/>
              </a:rPr>
              <a:t>T</a:t>
            </a:r>
            <a:r>
              <a:rPr lang="zh-CN" altLang="en-US" kern="0" dirty="0"/>
              <a:t>是</a:t>
            </a:r>
            <a:r>
              <a:rPr lang="en-US" altLang="zh-CN" i="1" kern="0" dirty="0">
                <a:latin typeface="Times New Roman" panose="02020603050405020304" pitchFamily="18" charset="0"/>
                <a:cs typeface="Times New Roman" panose="02020603050405020304" pitchFamily="18" charset="0"/>
              </a:rPr>
              <a:t>S</a:t>
            </a:r>
            <a:r>
              <a:rPr lang="zh-CN" altLang="en-US" kern="0" dirty="0"/>
              <a:t>关于</a:t>
            </a:r>
            <a:r>
              <a:rPr lang="en-US" altLang="zh-CN" i="1" kern="0" dirty="0">
                <a:latin typeface="Times New Roman" panose="02020603050405020304" pitchFamily="18" charset="0"/>
                <a:cs typeface="Times New Roman" panose="02020603050405020304" pitchFamily="18" charset="0"/>
              </a:rPr>
              <a:t>U</a:t>
            </a:r>
            <a:r>
              <a:rPr lang="zh-CN" altLang="en-US" kern="0" dirty="0"/>
              <a:t>的补集”，则</a:t>
            </a:r>
            <a:r>
              <a:rPr lang="en-US" altLang="zh-CN" i="1" kern="0" dirty="0">
                <a:latin typeface="Times New Roman" panose="02020603050405020304" pitchFamily="18" charset="0"/>
                <a:cs typeface="Times New Roman" panose="02020603050405020304" pitchFamily="18" charset="0"/>
              </a:rPr>
              <a:t>C</a:t>
            </a:r>
            <a:r>
              <a:rPr lang="en-US" altLang="zh-CN" kern="0" dirty="0"/>
              <a:t>=</a:t>
            </a:r>
            <a:r>
              <a:rPr lang="zh-CN" altLang="en-US" kern="0" dirty="0"/>
              <a:t>“</a:t>
            </a:r>
            <a:r>
              <a:rPr lang="en-US" altLang="zh-CN" i="1" kern="0" dirty="0">
                <a:latin typeface="Times New Roman" panose="02020603050405020304" pitchFamily="18" charset="0"/>
                <a:cs typeface="Times New Roman" panose="02020603050405020304" pitchFamily="18" charset="0"/>
              </a:rPr>
              <a:t>T</a:t>
            </a:r>
            <a:r>
              <a:rPr lang="zh-CN" altLang="en-US" kern="0" dirty="0"/>
              <a:t>是无穷的”</a:t>
            </a:r>
            <a:endParaRPr lang="en-US" altLang="zh-CN" kern="0" dirty="0"/>
          </a:p>
          <a:p>
            <a:pPr marL="457200" lvl="1" indent="0" fontAlgn="base">
              <a:lnSpc>
                <a:spcPct val="90000"/>
              </a:lnSpc>
              <a:spcAft>
                <a:spcPct val="0"/>
              </a:spcAft>
              <a:buNone/>
              <a:defRPr/>
            </a:pPr>
            <a:r>
              <a:rPr lang="zh-CN" altLang="en-US" sz="2400" kern="0" dirty="0">
                <a:solidFill>
                  <a:srgbClr val="FF0000"/>
                </a:solidFill>
              </a:rPr>
              <a:t>“非</a:t>
            </a:r>
            <a:r>
              <a:rPr lang="en-US" altLang="zh-CN" sz="2400" i="1" kern="0" dirty="0">
                <a:solidFill>
                  <a:srgbClr val="FF0000"/>
                </a:solidFill>
                <a:latin typeface="Times New Roman" panose="02020603050405020304" pitchFamily="18" charset="0"/>
                <a:cs typeface="Times New Roman" panose="02020603050405020304" pitchFamily="18" charset="0"/>
              </a:rPr>
              <a:t>H</a:t>
            </a:r>
            <a:r>
              <a:rPr lang="zh-CN" altLang="en-US" sz="2400" kern="0" dirty="0">
                <a:solidFill>
                  <a:srgbClr val="FF0000"/>
                </a:solidFill>
                <a:latin typeface="Times New Roman" panose="02020603050405020304" pitchFamily="18" charset="0"/>
                <a:cs typeface="Times New Roman" panose="02020603050405020304" pitchFamily="18" charset="0"/>
              </a:rPr>
              <a:t>”非常复杂，反证法用到了</a:t>
            </a:r>
            <a:r>
              <a:rPr lang="en-US" altLang="zh-CN" sz="2400" i="1" kern="0" dirty="0">
                <a:solidFill>
                  <a:srgbClr val="FF0000"/>
                </a:solidFill>
                <a:latin typeface="Times New Roman" panose="02020603050405020304" pitchFamily="18" charset="0"/>
                <a:cs typeface="Times New Roman" panose="02020603050405020304" pitchFamily="18" charset="0"/>
              </a:rPr>
              <a:t>H</a:t>
            </a:r>
            <a:r>
              <a:rPr lang="zh-CN" altLang="en-US" sz="2400" kern="0" dirty="0">
                <a:solidFill>
                  <a:srgbClr val="FF0000"/>
                </a:solidFill>
                <a:latin typeface="Times New Roman" panose="02020603050405020304" pitchFamily="18" charset="0"/>
                <a:cs typeface="Times New Roman" panose="02020603050405020304" pitchFamily="18" charset="0"/>
              </a:rPr>
              <a:t>中的条件发现矛盾</a:t>
            </a:r>
            <a:endParaRPr lang="en-US" altLang="zh-CN" sz="2400" kern="0" dirty="0">
              <a:solidFill>
                <a:srgbClr val="FF0000"/>
              </a:solidFill>
            </a:endParaRPr>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Title 1"/>
          <p:cNvSpPr>
            <a:spLocks noGrp="1"/>
          </p:cNvSpPr>
          <p:nvPr/>
        </p:nvSpPr>
        <p:spPr>
          <a:xfrm>
            <a:off x="762000" y="-43815"/>
            <a:ext cx="8229600" cy="775970"/>
          </a:xfrm>
          <a:prstGeom prst="rect">
            <a:avLst/>
          </a:prstGeom>
          <a:noFill/>
          <a:ln w="9525">
            <a:noFill/>
          </a:ln>
        </p:spPr>
        <p:txBody>
          <a:bodyPr vert="horz" lIns="91440" tIns="45720" rIns="91440" bIns="45720" anchor="ctr" anchorCtr="0"/>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buClrTx/>
              <a:buSzTx/>
              <a:buFontTx/>
            </a:pPr>
            <a:r>
              <a:rPr lang="zh-CN" altLang="en-US" sz="3600" b="1"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其他形式化证明:逆否命题</a:t>
            </a:r>
            <a:endParaRPr lang="zh-CN" altLang="en-US" sz="3600" b="1"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1675"/>
            <a:ext cx="8229600" cy="1143000"/>
          </a:xfrm>
        </p:spPr>
        <p:txBody>
          <a:bodyPr/>
          <a:lstStyle/>
          <a:p>
            <a:r>
              <a:rPr lang="zh-CN" altLang="en-US" dirty="0"/>
              <a:t>内容大纲</a:t>
            </a:r>
            <a:endParaRPr lang="en-AU" dirty="0"/>
          </a:p>
        </p:txBody>
      </p:sp>
      <p:sp>
        <p:nvSpPr>
          <p:cNvPr id="3" name="Content Placeholder 2"/>
          <p:cNvSpPr>
            <a:spLocks noGrp="1"/>
          </p:cNvSpPr>
          <p:nvPr>
            <p:ph idx="1"/>
          </p:nvPr>
        </p:nvSpPr>
        <p:spPr>
          <a:xfrm>
            <a:off x="457200" y="2027237"/>
            <a:ext cx="8229600" cy="4525963"/>
          </a:xfrm>
        </p:spPr>
        <p:txBody>
          <a:bodyPr/>
          <a:lstStyle/>
          <a:p>
            <a:pPr algn="just">
              <a:buNone/>
            </a:pPr>
            <a:r>
              <a:rPr lang="en-US" altLang="zh-CN" sz="3600" dirty="0">
                <a:solidFill>
                  <a:schemeClr val="bg1">
                    <a:lumMod val="65000"/>
                  </a:schemeClr>
                </a:solidFill>
                <a:latin typeface="Times New Roman" panose="02020603050405020304" pitchFamily="18" charset="0"/>
                <a:ea typeface="宋体" panose="02010600030101010101" pitchFamily="2" charset="-122"/>
              </a:rPr>
              <a:t>(1)  </a:t>
            </a:r>
            <a:r>
              <a:rPr lang="zh-CN" altLang="en-US" sz="3600" dirty="0">
                <a:solidFill>
                  <a:schemeClr val="bg1">
                    <a:lumMod val="65000"/>
                  </a:schemeClr>
                </a:solidFill>
                <a:latin typeface="Times New Roman" panose="02020603050405020304" pitchFamily="18" charset="0"/>
                <a:ea typeface="宋体" panose="02010600030101010101" pitchFamily="2" charset="-122"/>
              </a:rPr>
              <a:t>课程简介</a:t>
            </a:r>
            <a:endParaRPr lang="en-US" altLang="zh-CN" sz="3600" dirty="0">
              <a:solidFill>
                <a:schemeClr val="bg1">
                  <a:lumMod val="65000"/>
                </a:schemeClr>
              </a:solidFill>
              <a:latin typeface="Times New Roman" panose="02020603050405020304" pitchFamily="18" charset="0"/>
              <a:ea typeface="宋体" panose="02010600030101010101" pitchFamily="2" charset="-122"/>
            </a:endParaRPr>
          </a:p>
          <a:p>
            <a:pPr algn="just">
              <a:buNone/>
            </a:pPr>
            <a:r>
              <a:rPr lang="en-US" altLang="zh-CN" sz="3600" dirty="0">
                <a:solidFill>
                  <a:schemeClr val="bg1">
                    <a:lumMod val="65000"/>
                  </a:schemeClr>
                </a:solidFill>
                <a:latin typeface="Times New Roman" panose="02020603050405020304" pitchFamily="18" charset="0"/>
                <a:ea typeface="宋体" panose="02010600030101010101" pitchFamily="2" charset="-122"/>
              </a:rPr>
              <a:t>(2)  </a:t>
            </a:r>
            <a:r>
              <a:rPr lang="zh-CN" altLang="en-US" sz="3600" dirty="0">
                <a:solidFill>
                  <a:schemeClr val="bg1">
                    <a:lumMod val="65000"/>
                  </a:schemeClr>
                </a:solidFill>
                <a:latin typeface="Times New Roman" panose="02020603050405020304" pitchFamily="18" charset="0"/>
                <a:ea typeface="宋体" panose="02010600030101010101" pitchFamily="2" charset="-122"/>
              </a:rPr>
              <a:t>课程背景</a:t>
            </a:r>
            <a:endParaRPr lang="zh-CN" altLang="en-US" sz="3600" dirty="0">
              <a:solidFill>
                <a:schemeClr val="bg1">
                  <a:lumMod val="65000"/>
                </a:schemeClr>
              </a:solidFill>
              <a:latin typeface="Times New Roman" panose="02020603050405020304" pitchFamily="18" charset="0"/>
              <a:ea typeface="宋体" panose="02010600030101010101" pitchFamily="2" charset="-122"/>
            </a:endParaRPr>
          </a:p>
          <a:p>
            <a:pPr algn="just">
              <a:buNone/>
            </a:pPr>
            <a:r>
              <a:rPr lang="en-US" altLang="zh-CN" sz="3600" dirty="0">
                <a:solidFill>
                  <a:schemeClr val="bg1">
                    <a:lumMod val="65000"/>
                  </a:schemeClr>
                </a:solidFill>
                <a:latin typeface="Times New Roman" panose="02020603050405020304" pitchFamily="18" charset="0"/>
                <a:ea typeface="宋体" panose="02010600030101010101" pitchFamily="2" charset="-122"/>
              </a:rPr>
              <a:t>(3)  </a:t>
            </a:r>
            <a:r>
              <a:rPr lang="zh-CN" altLang="en-US" sz="3600" dirty="0">
                <a:solidFill>
                  <a:schemeClr val="bg1">
                    <a:lumMod val="65000"/>
                  </a:schemeClr>
                </a:solidFill>
                <a:latin typeface="Times New Roman" panose="02020603050405020304" pitchFamily="18" charset="0"/>
                <a:ea typeface="宋体" panose="02010600030101010101" pitchFamily="2" charset="-122"/>
              </a:rPr>
              <a:t>基础知识</a:t>
            </a:r>
            <a:endParaRPr lang="en-US" altLang="zh-CN" sz="3600" dirty="0">
              <a:solidFill>
                <a:schemeClr val="bg1">
                  <a:lumMod val="65000"/>
                </a:schemeClr>
              </a:solidFill>
              <a:latin typeface="Times New Roman" panose="02020603050405020304" pitchFamily="18" charset="0"/>
              <a:ea typeface="宋体" panose="02010600030101010101" pitchFamily="2" charset="-122"/>
            </a:endParaRPr>
          </a:p>
          <a:p>
            <a:pPr algn="just">
              <a:buNone/>
            </a:pPr>
            <a:r>
              <a:rPr lang="en-US" altLang="zh-CN" sz="3600" dirty="0">
                <a:latin typeface="Times New Roman" panose="02020603050405020304" pitchFamily="18" charset="0"/>
                <a:ea typeface="宋体" panose="02010600030101010101" pitchFamily="2" charset="-122"/>
              </a:rPr>
              <a:t>(4)  </a:t>
            </a:r>
            <a:r>
              <a:rPr lang="zh-CN" altLang="en-US" sz="3600" b="1" dirty="0">
                <a:latin typeface="Times New Roman" panose="02020603050405020304" pitchFamily="18" charset="0"/>
                <a:ea typeface="宋体" panose="02010600030101010101" pitchFamily="2" charset="-122"/>
              </a:rPr>
              <a:t>形式语言与自动机的基本概念</a:t>
            </a:r>
            <a:endParaRPr lang="zh-CN" altLang="en-US" sz="3600" b="1" dirty="0">
              <a:latin typeface="Times New Roman" panose="02020603050405020304" pitchFamily="18" charset="0"/>
              <a:ea typeface="宋体" panose="02010600030101010101" pitchFamily="2" charset="-122"/>
            </a:endParaRPr>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84238"/>
            <a:ext cx="8229600" cy="1143000"/>
          </a:xfrm>
        </p:spPr>
        <p:txBody>
          <a:bodyPr/>
          <a:lstStyle/>
          <a:p>
            <a:r>
              <a:rPr lang="zh-CN" altLang="en-US" dirty="0"/>
              <a:t>什么是自动机理论？</a:t>
            </a:r>
            <a:endParaRPr lang="en-AU" dirty="0"/>
          </a:p>
        </p:txBody>
      </p:sp>
      <p:sp>
        <p:nvSpPr>
          <p:cNvPr id="3" name="Content Placeholder 2"/>
          <p:cNvSpPr>
            <a:spLocks noGrp="1"/>
          </p:cNvSpPr>
          <p:nvPr>
            <p:ph idx="1"/>
          </p:nvPr>
        </p:nvSpPr>
        <p:spPr>
          <a:xfrm>
            <a:off x="457200" y="2209800"/>
            <a:ext cx="8229600" cy="4525963"/>
          </a:xfrm>
        </p:spPr>
        <p:txBody>
          <a:bodyPr/>
          <a:lstStyle/>
          <a:p>
            <a:r>
              <a:rPr lang="zh-CN" altLang="en-US" dirty="0"/>
              <a:t>自动机理论：研究抽象机器及其所能解决问题的理论。</a:t>
            </a:r>
            <a:endParaRPr lang="en-AU" altLang="zh-CN" dirty="0"/>
          </a:p>
          <a:p>
            <a:pPr lvl="1"/>
            <a:r>
              <a:rPr lang="zh-CN" altLang="en-US" dirty="0"/>
              <a:t>有限状态机</a:t>
            </a:r>
            <a:endParaRPr lang="en-AU" altLang="zh-CN" dirty="0"/>
          </a:p>
          <a:p>
            <a:pPr lvl="1"/>
            <a:r>
              <a:rPr lang="zh-CN" altLang="en-US" dirty="0"/>
              <a:t>图灵机</a:t>
            </a:r>
            <a:endParaRPr lang="en-AU" altLang="zh-CN" dirty="0"/>
          </a:p>
          <a:p>
            <a:pPr lvl="1"/>
            <a:r>
              <a:rPr lang="zh-CN" altLang="en-US" dirty="0"/>
              <a:t>文法，下推自动机</a:t>
            </a:r>
            <a:endParaRPr lang="en-AU" altLang="zh-CN" dirty="0"/>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84238"/>
            <a:ext cx="8229600" cy="1143000"/>
          </a:xfrm>
        </p:spPr>
        <p:txBody>
          <a:bodyPr/>
          <a:lstStyle/>
          <a:p>
            <a:r>
              <a:rPr lang="zh-CN" altLang="en-US" dirty="0"/>
              <a:t>什么是形式语言？</a:t>
            </a:r>
            <a:endParaRPr lang="en-AU" dirty="0"/>
          </a:p>
        </p:txBody>
      </p:sp>
      <p:sp>
        <p:nvSpPr>
          <p:cNvPr id="3" name="Content Placeholder 2"/>
          <p:cNvSpPr>
            <a:spLocks noGrp="1"/>
          </p:cNvSpPr>
          <p:nvPr>
            <p:ph idx="1"/>
          </p:nvPr>
        </p:nvSpPr>
        <p:spPr>
          <a:xfrm>
            <a:off x="457200" y="2209800"/>
            <a:ext cx="8229600" cy="4525963"/>
          </a:xfrm>
        </p:spPr>
        <p:txBody>
          <a:bodyPr/>
          <a:lstStyle/>
          <a:p>
            <a:r>
              <a:rPr lang="zh-CN" altLang="en-US" dirty="0"/>
              <a:t>形式语言：经数学定义的语言。</a:t>
            </a:r>
            <a:endParaRPr lang="en-AU" altLang="zh-CN" dirty="0"/>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pic>
        <p:nvPicPr>
          <p:cNvPr id="5" name="Picture 5" descr="Table&#10;&#10;Description automatically generated"/>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73167" y="2971800"/>
            <a:ext cx="7397665" cy="294913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917"/>
            <a:ext cx="8229600" cy="1143000"/>
          </a:xfrm>
        </p:spPr>
        <p:txBody>
          <a:bodyPr/>
          <a:lstStyle/>
          <a:p>
            <a:pPr algn="r">
              <a:buClrTx/>
              <a:buSzTx/>
              <a:buFontTx/>
            </a:pPr>
            <a:r>
              <a:rPr lang="en-US" altLang="zh-CN" sz="3600" dirty="0">
                <a:solidFill>
                  <a:schemeClr val="bg1"/>
                </a:solidFill>
                <a:effectLst>
                  <a:outerShdw blurRad="38100" dist="38100" dir="2700000" algn="tl">
                    <a:srgbClr val="000000">
                      <a:alpha val="43137"/>
                    </a:srgbClr>
                  </a:outerShdw>
                </a:effectLst>
              </a:rPr>
              <a:t>基本概念</a:t>
            </a:r>
            <a:endParaRPr lang="en-US" altLang="zh-CN" sz="3600" dirty="0">
              <a:solidFill>
                <a:schemeClr val="bg1"/>
              </a:solidFill>
              <a:effectLst>
                <a:outerShdw blurRad="38100" dist="38100" dir="2700000" algn="tl">
                  <a:srgbClr val="000000">
                    <a:alpha val="43137"/>
                  </a:srgbClr>
                </a:outerShdw>
              </a:effectLst>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09600" y="1447800"/>
                <a:ext cx="8229600" cy="3866515"/>
              </a:xfrm>
            </p:spPr>
            <p:txBody>
              <a:bodyPr/>
              <a:lstStyle/>
              <a:p>
                <a:r>
                  <a:rPr lang="zh-CN" altLang="en-US" dirty="0"/>
                  <a:t>字母表</a:t>
                </a:r>
                <a:r>
                  <a:rPr lang="en-AU" altLang="zh-CN" dirty="0"/>
                  <a:t>:</a:t>
                </a:r>
                <a:r>
                  <a:rPr lang="zh-CN" altLang="en-US" dirty="0"/>
                  <a:t>符号（字符）的非空有穷集</a:t>
                </a:r>
                <a:endParaRPr lang="en-AU" altLang="zh-CN" i="1" dirty="0">
                  <a:latin typeface="Cambria Math" panose="02040503050406030204" pitchFamily="18" charset="0"/>
                </a:endParaRPr>
              </a:p>
              <a:p>
                <a:pPr marL="0" indent="0" algn="ctr">
                  <a:buNone/>
                </a:pPr>
                <a:endParaRPr lang="en-AU" altLang="zh-CN"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AU" altLang="zh-CN" i="1" smtClean="0">
                              <a:latin typeface="Cambria Math" panose="02040503050406030204" pitchFamily="18" charset="0"/>
                            </a:rPr>
                          </m:ctrlPr>
                        </m:sSubPr>
                        <m:e>
                          <m:r>
                            <m:rPr>
                              <m:sty m:val="p"/>
                            </m:rPr>
                            <a:rPr lang="el-GR" altLang="zh-CN" i="1" smtClean="0">
                              <a:latin typeface="Cambria Math" panose="02040503050406030204" pitchFamily="18" charset="0"/>
                              <a:ea typeface="Cambria Math" panose="02040503050406030204" pitchFamily="18" charset="0"/>
                            </a:rPr>
                            <m:t>Σ</m:t>
                          </m:r>
                        </m:e>
                        <m:sub>
                          <m:r>
                            <a:rPr lang="en-AU" altLang="zh-CN" b="0" i="1" smtClean="0">
                              <a:latin typeface="Cambria Math" panose="02040503050406030204" pitchFamily="18" charset="0"/>
                            </a:rPr>
                            <m:t>1</m:t>
                          </m:r>
                        </m:sub>
                      </m:sSub>
                      <m:r>
                        <a:rPr lang="en-AU" altLang="zh-CN" b="0" i="1" smtClean="0">
                          <a:latin typeface="Cambria Math" panose="02040503050406030204" pitchFamily="18" charset="0"/>
                        </a:rPr>
                        <m:t>=</m:t>
                      </m:r>
                      <m:d>
                        <m:dPr>
                          <m:begChr m:val="{"/>
                          <m:endChr m:val="}"/>
                          <m:ctrlPr>
                            <a:rPr lang="en-AU" altLang="zh-CN" b="0" i="1" smtClean="0">
                              <a:latin typeface="Cambria Math" panose="02040503050406030204" pitchFamily="18" charset="0"/>
                            </a:rPr>
                          </m:ctrlPr>
                        </m:dPr>
                        <m:e>
                          <m:r>
                            <a:rPr lang="en-AU" altLang="zh-CN" b="0" i="1" smtClean="0">
                              <a:latin typeface="Cambria Math" panose="02040503050406030204" pitchFamily="18" charset="0"/>
                            </a:rPr>
                            <m:t>0</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e>
                      </m:d>
                    </m:oMath>
                  </m:oMathPara>
                </a14:m>
                <a:endParaRPr lang="en-AU" altLang="zh-CN" b="0"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sSub>
                        <m:sSubPr>
                          <m:ctrlPr>
                            <a:rPr lang="en-AU" altLang="zh-CN" i="1" smtClean="0">
                              <a:latin typeface="Cambria Math" panose="02040503050406030204" pitchFamily="18" charset="0"/>
                            </a:rPr>
                          </m:ctrlPr>
                        </m:sSubPr>
                        <m:e>
                          <m:r>
                            <m:rPr>
                              <m:sty m:val="p"/>
                            </m:rPr>
                            <a:rPr lang="el-GR" altLang="zh-CN" i="1" smtClean="0">
                              <a:latin typeface="Cambria Math" panose="02040503050406030204" pitchFamily="18" charset="0"/>
                              <a:ea typeface="Cambria Math" panose="02040503050406030204" pitchFamily="18" charset="0"/>
                            </a:rPr>
                            <m:t>Σ</m:t>
                          </m:r>
                        </m:e>
                        <m:sub>
                          <m:r>
                            <a:rPr lang="en-AU" altLang="zh-CN" b="0" i="1" smtClean="0">
                              <a:latin typeface="Cambria Math" panose="02040503050406030204" pitchFamily="18" charset="0"/>
                              <a:ea typeface="Cambria Math" panose="02040503050406030204" pitchFamily="18" charset="0"/>
                            </a:rPr>
                            <m:t>2</m:t>
                          </m:r>
                        </m:sub>
                      </m:sSub>
                      <m:r>
                        <a:rPr lang="en-AU" altLang="zh-CN" b="0" i="1" smtClean="0">
                          <a:latin typeface="Cambria Math" panose="02040503050406030204" pitchFamily="18" charset="0"/>
                        </a:rPr>
                        <m:t>=</m:t>
                      </m:r>
                      <m:d>
                        <m:dPr>
                          <m:begChr m:val="{"/>
                          <m:endChr m:val="}"/>
                          <m:ctrlPr>
                            <a:rPr lang="en-AU" altLang="zh-CN" b="0" i="1" smtClean="0">
                              <a:latin typeface="Cambria Math" panose="02040503050406030204" pitchFamily="18" charset="0"/>
                            </a:rPr>
                          </m:ctrlPr>
                        </m:dPr>
                        <m:e>
                          <m:r>
                            <a:rPr lang="en-AU" altLang="zh-CN" b="0" i="1" smtClean="0">
                              <a:latin typeface="Cambria Math" panose="02040503050406030204" pitchFamily="18" charset="0"/>
                            </a:rPr>
                            <m:t>𝑎</m:t>
                          </m:r>
                          <m:r>
                            <a:rPr lang="en-AU" altLang="zh-CN" b="0" i="1" smtClean="0">
                              <a:latin typeface="Cambria Math" panose="02040503050406030204" pitchFamily="18" charset="0"/>
                            </a:rPr>
                            <m:t>,</m:t>
                          </m:r>
                          <m:r>
                            <a:rPr lang="en-AU" altLang="zh-CN" b="0" i="1" smtClean="0">
                              <a:latin typeface="Cambria Math" panose="02040503050406030204" pitchFamily="18" charset="0"/>
                            </a:rPr>
                            <m:t>𝑏</m:t>
                          </m:r>
                          <m:r>
                            <a:rPr lang="en-AU" altLang="zh-CN" b="0" i="1" smtClean="0">
                              <a:latin typeface="Cambria Math" panose="02040503050406030204" pitchFamily="18" charset="0"/>
                            </a:rPr>
                            <m:t>,…,</m:t>
                          </m:r>
                          <m:r>
                            <a:rPr lang="en-AU" altLang="zh-CN" b="0" i="1" smtClean="0">
                              <a:latin typeface="Cambria Math" panose="02040503050406030204" pitchFamily="18" charset="0"/>
                            </a:rPr>
                            <m:t>𝑧</m:t>
                          </m:r>
                        </m:e>
                      </m:d>
                    </m:oMath>
                  </m:oMathPara>
                </a14:m>
                <a:endParaRPr lang="en-AU" altLang="zh-CN" b="0" dirty="0"/>
              </a:p>
              <a:p>
                <a:pPr marL="0" indent="0" algn="ctr">
                  <a:buNone/>
                </a:pPr>
                <a14:m>
                  <m:oMathPara xmlns:m="http://schemas.openxmlformats.org/officeDocument/2006/math">
                    <m:oMathParaPr>
                      <m:jc m:val="centerGroup"/>
                    </m:oMathParaPr>
                    <m:oMath xmlns:m="http://schemas.openxmlformats.org/officeDocument/2006/math">
                      <m:sSub>
                        <m:sSubPr>
                          <m:ctrlPr>
                            <a:rPr lang="en-AU" altLang="zh-CN" i="1" smtClean="0">
                              <a:latin typeface="Cambria Math" panose="02040503050406030204" pitchFamily="18" charset="0"/>
                            </a:rPr>
                          </m:ctrlPr>
                        </m:sSubPr>
                        <m:e>
                          <m:r>
                            <m:rPr>
                              <m:sty m:val="p"/>
                            </m:rPr>
                            <a:rPr lang="el-GR" altLang="zh-CN" i="1" smtClean="0">
                              <a:latin typeface="Cambria Math" panose="02040503050406030204" pitchFamily="18" charset="0"/>
                              <a:ea typeface="Cambria Math" panose="02040503050406030204" pitchFamily="18" charset="0"/>
                            </a:rPr>
                            <m:t>Σ</m:t>
                          </m:r>
                        </m:e>
                        <m:sub>
                          <m:r>
                            <a:rPr lang="en-AU" altLang="zh-CN" b="0" i="1" smtClean="0">
                              <a:latin typeface="Cambria Math" panose="02040503050406030204" pitchFamily="18" charset="0"/>
                              <a:ea typeface="Cambria Math" panose="02040503050406030204" pitchFamily="18" charset="0"/>
                            </a:rPr>
                            <m:t>3</m:t>
                          </m:r>
                        </m:sub>
                      </m:sSub>
                      <m:r>
                        <a:rPr lang="en-AU" altLang="zh-CN" b="0" i="1" smtClean="0">
                          <a:latin typeface="Cambria Math" panose="02040503050406030204" pitchFamily="18" charset="0"/>
                        </a:rPr>
                        <m:t>=</m:t>
                      </m:r>
                      <m:d>
                        <m:dPr>
                          <m:begChr m:val="{"/>
                          <m:endChr m:val="}"/>
                          <m:ctrlPr>
                            <a:rPr lang="en-AU" altLang="zh-CN" b="0" i="1" smtClean="0">
                              <a:latin typeface="Cambria Math" panose="02040503050406030204" pitchFamily="18" charset="0"/>
                            </a:rPr>
                          </m:ctrlPr>
                        </m:dPr>
                        <m:e>
                          <m:r>
                            <a:rPr lang="en-AU" altLang="zh-CN" b="0" i="1" smtClean="0">
                              <a:latin typeface="Cambria Math" panose="02040503050406030204" pitchFamily="18" charset="0"/>
                            </a:rPr>
                            <m:t>𝑥</m:t>
                          </m:r>
                          <m:r>
                            <a:rPr lang="en-AU" altLang="zh-CN" b="0" i="1" smtClean="0">
                              <a:latin typeface="Cambria Math" panose="02040503050406030204" pitchFamily="18" charset="0"/>
                            </a:rPr>
                            <m:t>|</m:t>
                          </m:r>
                          <m:r>
                            <a:rPr lang="en-AU" altLang="zh-CN" b="0" i="1" smtClean="0">
                              <a:latin typeface="Cambria Math" panose="02040503050406030204" pitchFamily="18" charset="0"/>
                            </a:rPr>
                            <m:t>𝑥</m:t>
                          </m:r>
                          <m:r>
                            <a:rPr lang="zh-CN" altLang="en-US" i="1">
                              <a:latin typeface="Cambria Math" panose="02040503050406030204" pitchFamily="18" charset="0"/>
                            </a:rPr>
                            <m:t>是</m:t>
                          </m:r>
                          <m:r>
                            <a:rPr lang="zh-CN" altLang="en-US" i="1" smtClean="0">
                              <a:latin typeface="Cambria Math" panose="02040503050406030204" pitchFamily="18" charset="0"/>
                            </a:rPr>
                            <m:t>一个</m:t>
                          </m:r>
                          <m:r>
                            <a:rPr lang="zh-CN" altLang="en-US" i="1">
                              <a:latin typeface="Cambria Math" panose="02040503050406030204" pitchFamily="18" charset="0"/>
                            </a:rPr>
                            <m:t>汉字</m:t>
                          </m:r>
                        </m:e>
                      </m:d>
                    </m:oMath>
                  </m:oMathPara>
                </a14:m>
                <a:endParaRPr lang="en-AU" altLang="zh-CN" b="0" dirty="0"/>
              </a:p>
              <a:p>
                <a:pPr marL="0" indent="0" algn="ctr">
                  <a:buNone/>
                </a:pPr>
                <a:endParaRPr lang="en-AU" altLang="zh-CN" b="0" dirty="0"/>
              </a:p>
              <a:p>
                <a:pPr marL="0" indent="0" algn="ctr">
                  <a:buNone/>
                </a:pPr>
                <a:endParaRPr lang="en-AU" altLang="zh-CN" dirty="0"/>
              </a:p>
              <a:p>
                <a:pPr marL="0" indent="0">
                  <a:buNone/>
                </a:pP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609600" y="1447800"/>
                <a:ext cx="8229600" cy="3866515"/>
              </a:xfrm>
              <a:blipFill rotWithShape="1">
                <a:blip r:embed="rId1"/>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295400"/>
                <a:ext cx="8229600" cy="4525963"/>
              </a:xfrm>
            </p:spPr>
            <p:txBody>
              <a:bodyPr>
                <a:noAutofit/>
              </a:bodyPr>
              <a:lstStyle/>
              <a:p>
                <a:r>
                  <a:rPr lang="zh-CN" altLang="en-US" sz="2800" dirty="0"/>
                  <a:t>字符串</a:t>
                </a:r>
                <a:r>
                  <a:rPr lang="en-AU" altLang="zh-CN" sz="2800" dirty="0"/>
                  <a:t>:</a:t>
                </a:r>
                <a:r>
                  <a:rPr lang="zh-CN" altLang="en-US" sz="2800" dirty="0"/>
                  <a:t>由某字母表中符号组成的有穷序列。</a:t>
                </a:r>
                <a:endParaRPr lang="en-AU" altLang="zh-CN" sz="2800" dirty="0"/>
              </a:p>
              <a:p>
                <a:pPr lvl="1"/>
                <a:r>
                  <a:rPr lang="zh-CN" altLang="en-US" sz="2400" dirty="0"/>
                  <a:t>若</a:t>
                </a:r>
                <a14:m>
                  <m:oMath xmlns:m="http://schemas.openxmlformats.org/officeDocument/2006/math">
                    <m:sSub>
                      <m:sSubPr>
                        <m:ctrlPr>
                          <a:rPr lang="en-AU" altLang="zh-CN" sz="2400" i="1" smtClean="0">
                            <a:latin typeface="Cambria Math" panose="02040503050406030204" pitchFamily="18" charset="0"/>
                          </a:rPr>
                        </m:ctrlPr>
                      </m:sSubPr>
                      <m:e>
                        <m:r>
                          <m:rPr>
                            <m:sty m:val="p"/>
                          </m:rPr>
                          <a:rPr lang="el-GR" altLang="zh-CN" sz="2400" i="1" smtClean="0">
                            <a:latin typeface="Cambria Math" panose="02040503050406030204" pitchFamily="18" charset="0"/>
                            <a:ea typeface="Cambria Math" panose="02040503050406030204" pitchFamily="18" charset="0"/>
                          </a:rPr>
                          <m:t>Σ</m:t>
                        </m:r>
                      </m:e>
                      <m:sub>
                        <m:r>
                          <a:rPr lang="en-AU" altLang="zh-CN" sz="2400" b="0" i="1" smtClean="0">
                            <a:latin typeface="Cambria Math" panose="02040503050406030204" pitchFamily="18" charset="0"/>
                          </a:rPr>
                          <m:t>1</m:t>
                        </m:r>
                      </m:sub>
                    </m:sSub>
                    <m:r>
                      <a:rPr lang="en-AU" altLang="zh-CN" sz="2400" b="0" i="1" smtClean="0">
                        <a:latin typeface="Cambria Math" panose="02040503050406030204" pitchFamily="18" charset="0"/>
                      </a:rPr>
                      <m:t>=</m:t>
                    </m:r>
                    <m:d>
                      <m:dPr>
                        <m:begChr m:val="{"/>
                        <m:endChr m:val="}"/>
                        <m:ctrlPr>
                          <a:rPr lang="en-AU" altLang="zh-CN" sz="2400" b="0" i="1" smtClean="0">
                            <a:latin typeface="Cambria Math" panose="02040503050406030204" pitchFamily="18" charset="0"/>
                          </a:rPr>
                        </m:ctrlPr>
                      </m:dPr>
                      <m:e>
                        <m:r>
                          <a:rPr lang="en-AU" altLang="zh-CN" sz="2400" b="0" i="1" smtClean="0">
                            <a:latin typeface="Cambria Math" panose="02040503050406030204" pitchFamily="18" charset="0"/>
                          </a:rPr>
                          <m:t>0</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1</m:t>
                        </m:r>
                      </m:e>
                    </m:d>
                  </m:oMath>
                </a14:m>
                <a:r>
                  <a:rPr lang="zh-CN" altLang="en-US" sz="2400" dirty="0"/>
                  <a:t>，那么</a:t>
                </a:r>
                <a14:m>
                  <m:oMath xmlns:m="http://schemas.openxmlformats.org/officeDocument/2006/math">
                    <m:r>
                      <a:rPr lang="en-AU" altLang="zh-CN" sz="2400" b="0" i="1" smtClean="0">
                        <a:latin typeface="Cambria Math" panose="02040503050406030204" pitchFamily="18" charset="0"/>
                      </a:rPr>
                      <m:t>0</m:t>
                    </m:r>
                  </m:oMath>
                </a14:m>
                <a:r>
                  <a:rPr lang="en-AU" sz="2400" dirty="0"/>
                  <a:t>,</a:t>
                </a:r>
                <a14:m>
                  <m:oMath xmlns:m="http://schemas.openxmlformats.org/officeDocument/2006/math">
                    <m:r>
                      <a:rPr lang="en-AU" sz="2400" b="0" i="1" dirty="0" smtClean="0">
                        <a:latin typeface="Cambria Math" panose="02040503050406030204" pitchFamily="18" charset="0"/>
                      </a:rPr>
                      <m:t>1</m:t>
                    </m:r>
                  </m:oMath>
                </a14:m>
                <a:r>
                  <a:rPr lang="en-AU" sz="2400" dirty="0"/>
                  <a:t>,</a:t>
                </a:r>
                <a14:m>
                  <m:oMath xmlns:m="http://schemas.openxmlformats.org/officeDocument/2006/math">
                    <m:r>
                      <a:rPr lang="en-AU" sz="2400" b="0" i="1" smtClean="0">
                        <a:latin typeface="Cambria Math" panose="02040503050406030204" pitchFamily="18" charset="0"/>
                      </a:rPr>
                      <m:t>00</m:t>
                    </m:r>
                  </m:oMath>
                </a14:m>
                <a:r>
                  <a:rPr lang="en-AU" sz="2400" dirty="0"/>
                  <a:t>,</a:t>
                </a:r>
                <a14:m>
                  <m:oMath xmlns:m="http://schemas.openxmlformats.org/officeDocument/2006/math">
                    <m:r>
                      <a:rPr lang="en-AU" altLang="zh-CN" sz="2400" b="0" i="1" smtClean="0">
                        <a:latin typeface="Cambria Math" panose="02040503050406030204" pitchFamily="18" charset="0"/>
                      </a:rPr>
                      <m:t>111001</m:t>
                    </m:r>
                  </m:oMath>
                </a14:m>
                <a:r>
                  <a:rPr lang="zh-CN" altLang="en-US" sz="2400" dirty="0"/>
                  <a:t>为</a:t>
                </a:r>
                <a14:m>
                  <m:oMath xmlns:m="http://schemas.openxmlformats.org/officeDocument/2006/math">
                    <m:sSub>
                      <m:sSubPr>
                        <m:ctrlPr>
                          <a:rPr lang="en-AU" altLang="zh-CN" sz="2400" i="1">
                            <a:latin typeface="Cambria Math" panose="02040503050406030204" pitchFamily="18" charset="0"/>
                          </a:rPr>
                        </m:ctrlPr>
                      </m:sSubPr>
                      <m:e>
                        <m:r>
                          <m:rPr>
                            <m:sty m:val="p"/>
                          </m:rPr>
                          <a:rPr lang="el-GR" altLang="zh-CN" sz="2400" i="1">
                            <a:latin typeface="Cambria Math" panose="02040503050406030204" pitchFamily="18" charset="0"/>
                            <a:ea typeface="Cambria Math" panose="02040503050406030204" pitchFamily="18" charset="0"/>
                          </a:rPr>
                          <m:t>Σ</m:t>
                        </m:r>
                      </m:e>
                      <m:sub>
                        <m:r>
                          <a:rPr lang="en-AU" altLang="zh-CN" sz="2400" i="1">
                            <a:latin typeface="Cambria Math" panose="02040503050406030204" pitchFamily="18" charset="0"/>
                          </a:rPr>
                          <m:t>1</m:t>
                        </m:r>
                      </m:sub>
                    </m:sSub>
                  </m:oMath>
                </a14:m>
                <a:r>
                  <a:rPr lang="zh-CN" altLang="en-US" sz="2400" dirty="0"/>
                  <a:t>上的字符串。</a:t>
                </a:r>
                <a:endParaRPr lang="en-AU" altLang="zh-CN" sz="2400" dirty="0"/>
              </a:p>
              <a:p>
                <a:pPr lvl="1"/>
                <a:r>
                  <a:rPr lang="zh-CN" altLang="en-US" sz="2400" dirty="0"/>
                  <a:t>若</a:t>
                </a:r>
                <a14:m>
                  <m:oMath xmlns:m="http://schemas.openxmlformats.org/officeDocument/2006/math">
                    <m:sSub>
                      <m:sSubPr>
                        <m:ctrlPr>
                          <a:rPr lang="en-AU" altLang="zh-CN" sz="2400" i="1" smtClean="0">
                            <a:latin typeface="Cambria Math" panose="02040503050406030204" pitchFamily="18" charset="0"/>
                          </a:rPr>
                        </m:ctrlPr>
                      </m:sSubPr>
                      <m:e>
                        <m:r>
                          <m:rPr>
                            <m:sty m:val="p"/>
                          </m:rPr>
                          <a:rPr lang="el-GR" altLang="zh-CN" sz="2400" i="1" smtClean="0">
                            <a:latin typeface="Cambria Math" panose="02040503050406030204" pitchFamily="18" charset="0"/>
                            <a:ea typeface="Cambria Math" panose="02040503050406030204" pitchFamily="18" charset="0"/>
                          </a:rPr>
                          <m:t>Σ</m:t>
                        </m:r>
                      </m:e>
                      <m:sub>
                        <m:r>
                          <a:rPr lang="en-AU" altLang="zh-CN" sz="2400" b="0" i="1" smtClean="0">
                            <a:latin typeface="Cambria Math" panose="02040503050406030204" pitchFamily="18" charset="0"/>
                            <a:ea typeface="Cambria Math" panose="02040503050406030204" pitchFamily="18" charset="0"/>
                          </a:rPr>
                          <m:t>2</m:t>
                        </m:r>
                      </m:sub>
                    </m:sSub>
                    <m:r>
                      <a:rPr lang="en-AU" altLang="zh-CN" sz="2400" b="0" i="1" smtClean="0">
                        <a:latin typeface="Cambria Math" panose="02040503050406030204" pitchFamily="18" charset="0"/>
                      </a:rPr>
                      <m:t>=</m:t>
                    </m:r>
                    <m:d>
                      <m:dPr>
                        <m:begChr m:val="{"/>
                        <m:endChr m:val="}"/>
                        <m:ctrlPr>
                          <a:rPr lang="en-AU" altLang="zh-CN" sz="2400" b="0" i="1" smtClean="0">
                            <a:latin typeface="Cambria Math" panose="02040503050406030204" pitchFamily="18" charset="0"/>
                          </a:rPr>
                        </m:ctrlPr>
                      </m:dPr>
                      <m:e>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𝑏</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𝑧</m:t>
                        </m:r>
                      </m:e>
                    </m:d>
                  </m:oMath>
                </a14:m>
                <a:r>
                  <a:rPr lang="zh-CN" altLang="en-US" sz="2400" dirty="0"/>
                  <a:t>，那么</a:t>
                </a:r>
                <a14:m>
                  <m:oMath xmlns:m="http://schemas.openxmlformats.org/officeDocument/2006/math">
                    <m:r>
                      <a:rPr lang="en-AU" altLang="zh-CN" sz="2400" b="0" i="1" smtClean="0">
                        <a:latin typeface="Cambria Math" panose="02040503050406030204" pitchFamily="18" charset="0"/>
                      </a:rPr>
                      <m:t>𝑎𝑏</m:t>
                    </m:r>
                  </m:oMath>
                </a14:m>
                <a:r>
                  <a:rPr lang="en-AU" sz="2400" dirty="0"/>
                  <a:t>,</a:t>
                </a:r>
                <a14:m>
                  <m:oMath xmlns:m="http://schemas.openxmlformats.org/officeDocument/2006/math">
                    <m:r>
                      <a:rPr lang="en-AU" sz="2400" b="0" i="1" dirty="0" smtClean="0">
                        <a:latin typeface="Cambria Math" panose="02040503050406030204" pitchFamily="18" charset="0"/>
                      </a:rPr>
                      <m:t>𝑏𝑐𝑑</m:t>
                    </m:r>
                    <m:r>
                      <a:rPr lang="en-AU" sz="2400" i="1" dirty="0" smtClean="0">
                        <a:latin typeface="Cambria Math" panose="02040503050406030204" pitchFamily="18" charset="0"/>
                      </a:rPr>
                      <m:t> </m:t>
                    </m:r>
                  </m:oMath>
                </a14:m>
                <a:r>
                  <a:rPr lang="zh-CN" altLang="en-US" sz="2400" dirty="0"/>
                  <a:t>为</a:t>
                </a:r>
                <a14:m>
                  <m:oMath xmlns:m="http://schemas.openxmlformats.org/officeDocument/2006/math">
                    <m:sSub>
                      <m:sSubPr>
                        <m:ctrlPr>
                          <a:rPr lang="en-AU" altLang="zh-CN" sz="2400" i="1">
                            <a:latin typeface="Cambria Math" panose="02040503050406030204" pitchFamily="18" charset="0"/>
                          </a:rPr>
                        </m:ctrlPr>
                      </m:sSubPr>
                      <m:e>
                        <m:r>
                          <m:rPr>
                            <m:sty m:val="p"/>
                          </m:rPr>
                          <a:rPr lang="el-GR" altLang="zh-CN" sz="2400" i="1">
                            <a:latin typeface="Cambria Math" panose="02040503050406030204" pitchFamily="18" charset="0"/>
                            <a:ea typeface="Cambria Math" panose="02040503050406030204" pitchFamily="18" charset="0"/>
                          </a:rPr>
                          <m:t>Σ</m:t>
                        </m:r>
                      </m:e>
                      <m:sub>
                        <m:r>
                          <a:rPr lang="en-AU" altLang="zh-CN" sz="2400" b="0" i="1" smtClean="0">
                            <a:latin typeface="Cambria Math" panose="02040503050406030204" pitchFamily="18" charset="0"/>
                            <a:ea typeface="Cambria Math" panose="02040503050406030204" pitchFamily="18" charset="0"/>
                          </a:rPr>
                          <m:t>2</m:t>
                        </m:r>
                      </m:sub>
                    </m:sSub>
                  </m:oMath>
                </a14:m>
                <a:r>
                  <a:rPr lang="zh-CN" altLang="en-US" sz="2400" dirty="0"/>
                  <a:t>上的字符串。</a:t>
                </a:r>
                <a:endParaRPr lang="en-AU" altLang="zh-CN" sz="2400" dirty="0"/>
              </a:p>
              <a:p>
                <a:r>
                  <a:rPr lang="zh-CN" altLang="en-US" sz="2800" dirty="0"/>
                  <a:t>空串</a:t>
                </a:r>
                <a:r>
                  <a:rPr lang="en-AU" altLang="zh-CN" sz="2800" dirty="0"/>
                  <a:t>:</a:t>
                </a:r>
                <a:r>
                  <a:rPr lang="zh-CN" altLang="en-US" sz="2800" dirty="0"/>
                  <a:t>记为</a:t>
                </a:r>
                <a14:m>
                  <m:oMath xmlns:m="http://schemas.openxmlformats.org/officeDocument/2006/math">
                    <m:r>
                      <a:rPr lang="zh-CN" altLang="en-US" sz="2800" i="1" smtClean="0">
                        <a:latin typeface="Cambria Math" panose="02040503050406030204" pitchFamily="18" charset="0"/>
                      </a:rPr>
                      <m:t>𝜀</m:t>
                    </m:r>
                  </m:oMath>
                </a14:m>
                <a:r>
                  <a:rPr lang="en-AU" altLang="zh-CN" sz="2800" dirty="0"/>
                  <a:t>(</a:t>
                </a:r>
                <a:r>
                  <a:rPr lang="en-AU" altLang="zh-CN" sz="2800" dirty="0">
                    <a:latin typeface="Times New Roman" panose="02020603050405020304" pitchFamily="18" charset="0"/>
                    <a:cs typeface="Times New Roman" panose="02020603050405020304" pitchFamily="18" charset="0"/>
                  </a:rPr>
                  <a:t>epsilon</a:t>
                </a:r>
                <a:r>
                  <a:rPr lang="en-AU" altLang="zh-CN" sz="2800" dirty="0"/>
                  <a:t>)</a:t>
                </a:r>
                <a:r>
                  <a:rPr lang="zh-CN" altLang="en-US" sz="2800" dirty="0"/>
                  <a:t>，有</a:t>
                </a:r>
                <a:r>
                  <a:rPr lang="en-AU" altLang="zh-CN" sz="2800" dirty="0"/>
                  <a:t>0</a:t>
                </a:r>
                <a:r>
                  <a:rPr lang="zh-CN" altLang="en-US" sz="2800" dirty="0"/>
                  <a:t>个字符的串。</a:t>
                </a:r>
                <a:endParaRPr lang="en-AU" altLang="zh-CN" sz="2800" dirty="0"/>
              </a:p>
              <a:p>
                <a:pPr lvl="1"/>
                <a:r>
                  <a:rPr lang="zh-CN" altLang="en-US" sz="2400" dirty="0"/>
                  <a:t>字母表</a:t>
                </a:r>
                <a14:m>
                  <m:oMath xmlns:m="http://schemas.openxmlformats.org/officeDocument/2006/math">
                    <m:r>
                      <m:rPr>
                        <m:sty m:val="p"/>
                      </m:rPr>
                      <a:rPr lang="el-GR" altLang="zh-CN" sz="2400" i="1" smtClean="0">
                        <a:latin typeface="Cambria Math" panose="02040503050406030204" pitchFamily="18" charset="0"/>
                        <a:ea typeface="Cambria Math" panose="02040503050406030204" pitchFamily="18" charset="0"/>
                      </a:rPr>
                      <m:t>Σ</m:t>
                    </m:r>
                  </m:oMath>
                </a14:m>
                <a:r>
                  <a:rPr lang="zh-CN" altLang="en-US" sz="2400" dirty="0"/>
                  <a:t>可以是任意的，但都有</a:t>
                </a:r>
                <a14:m>
                  <m:oMath xmlns:m="http://schemas.openxmlformats.org/officeDocument/2006/math">
                    <m:r>
                      <a:rPr lang="zh-CN" altLang="en-US" sz="2400" i="1">
                        <a:latin typeface="Cambria Math" panose="02040503050406030204" pitchFamily="18" charset="0"/>
                      </a:rPr>
                      <m:t>𝜀</m:t>
                    </m:r>
                    <m:r>
                      <a:rPr lang="zh-CN" altLang="en-US" sz="2400" i="1" smtClean="0">
                        <a:latin typeface="Cambria Math" panose="02040503050406030204" pitchFamily="18" charset="0"/>
                      </a:rPr>
                      <m:t>∉</m:t>
                    </m:r>
                    <m:r>
                      <m:rPr>
                        <m:sty m:val="p"/>
                      </m:rPr>
                      <a:rPr lang="el-GR" altLang="zh-CN" sz="2400" i="1">
                        <a:latin typeface="Cambria Math" panose="02040503050406030204" pitchFamily="18" charset="0"/>
                        <a:ea typeface="Cambria Math" panose="02040503050406030204" pitchFamily="18" charset="0"/>
                      </a:rPr>
                      <m:t>Σ</m:t>
                    </m:r>
                  </m:oMath>
                </a14:m>
                <a:endParaRPr lang="en-AU" altLang="zh-CN" sz="2400" dirty="0"/>
              </a:p>
              <a:p>
                <a:r>
                  <a:rPr lang="zh-CN" altLang="en-US" sz="2800" dirty="0"/>
                  <a:t>符号使用的一般约定</a:t>
                </a:r>
                <a:r>
                  <a:rPr lang="en-AU" altLang="zh-CN" sz="2800" dirty="0"/>
                  <a:t>:</a:t>
                </a:r>
                <a:endParaRPr lang="en-AU" altLang="zh-CN" sz="2800" dirty="0"/>
              </a:p>
              <a:p>
                <a:pPr lvl="1"/>
                <a:r>
                  <a:rPr lang="zh-CN" altLang="en-US" sz="2400" dirty="0"/>
                  <a:t>字母表</a:t>
                </a:r>
                <a:r>
                  <a:rPr lang="en-AU" altLang="zh-CN" sz="2400" dirty="0"/>
                  <a:t>:</a:t>
                </a:r>
                <a:r>
                  <a:rPr lang="el-GR" altLang="zh-CN" sz="2400" dirty="0">
                    <a:ea typeface="Cambria Math" panose="02040503050406030204" pitchFamily="18" charset="0"/>
                  </a:rPr>
                  <a:t> </a:t>
                </a:r>
                <a14:m>
                  <m:oMath xmlns:m="http://schemas.openxmlformats.org/officeDocument/2006/math">
                    <m:r>
                      <m:rPr>
                        <m:sty m:val="p"/>
                      </m:rPr>
                      <a:rPr lang="el-GR" altLang="zh-CN" sz="2400" i="1">
                        <a:latin typeface="Cambria Math" panose="02040503050406030204" pitchFamily="18" charset="0"/>
                        <a:ea typeface="Cambria Math" panose="02040503050406030204" pitchFamily="18" charset="0"/>
                      </a:rPr>
                      <m:t>Σ</m:t>
                    </m:r>
                  </m:oMath>
                </a14:m>
                <a:r>
                  <a:rPr lang="zh-CN" altLang="en-US" sz="2400" dirty="0"/>
                  <a:t>，</a:t>
                </a:r>
                <a14:m>
                  <m:oMath xmlns:m="http://schemas.openxmlformats.org/officeDocument/2006/math">
                    <m:r>
                      <m:rPr>
                        <m:sty m:val="p"/>
                      </m:rPr>
                      <a:rPr lang="el-GR" altLang="zh-CN" sz="2400" i="1" dirty="0" smtClean="0">
                        <a:latin typeface="Cambria Math" panose="02040503050406030204" pitchFamily="18" charset="0"/>
                        <a:ea typeface="Cambria Math" panose="02040503050406030204" pitchFamily="18" charset="0"/>
                      </a:rPr>
                      <m:t>Γ</m:t>
                    </m:r>
                    <m:r>
                      <a:rPr lang="en-AU" altLang="zh-CN" sz="2400" b="0" i="1" dirty="0" smtClean="0">
                        <a:latin typeface="Cambria Math" panose="02040503050406030204" pitchFamily="18" charset="0"/>
                        <a:ea typeface="Cambria Math" panose="02040503050406030204" pitchFamily="18" charset="0"/>
                      </a:rPr>
                      <m:t>,…</m:t>
                    </m:r>
                  </m:oMath>
                </a14:m>
                <a:endParaRPr lang="en-AU" altLang="zh-CN" sz="2400" dirty="0"/>
              </a:p>
              <a:p>
                <a:pPr lvl="1"/>
                <a:r>
                  <a:rPr lang="zh-CN" altLang="en-US" sz="2400" dirty="0"/>
                  <a:t>字符：</a:t>
                </a:r>
                <a14:m>
                  <m:oMath xmlns:m="http://schemas.openxmlformats.org/officeDocument/2006/math">
                    <m:r>
                      <a:rPr lang="en-AU" altLang="zh-CN" sz="2400" b="0" i="1" smtClean="0">
                        <a:latin typeface="Cambria Math" panose="02040503050406030204" pitchFamily="18" charset="0"/>
                      </a:rPr>
                      <m:t>𝑎</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𝑏</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𝑐</m:t>
                    </m:r>
                    <m:r>
                      <a:rPr lang="en-AU" altLang="zh-CN" sz="2400" b="0" i="1" smtClean="0">
                        <a:latin typeface="Cambria Math" panose="02040503050406030204" pitchFamily="18" charset="0"/>
                      </a:rPr>
                      <m:t>,…</m:t>
                    </m:r>
                  </m:oMath>
                </a14:m>
                <a:endParaRPr lang="en-AU" altLang="zh-CN" sz="2400" dirty="0"/>
              </a:p>
              <a:p>
                <a:pPr lvl="1"/>
                <a:r>
                  <a:rPr lang="zh-CN" altLang="en-US" sz="2400" dirty="0"/>
                  <a:t>字符串</a:t>
                </a:r>
                <a:r>
                  <a:rPr lang="en-AU" altLang="zh-CN" sz="2400" dirty="0"/>
                  <a:t>:</a:t>
                </a:r>
                <a14:m>
                  <m:oMath xmlns:m="http://schemas.openxmlformats.org/officeDocument/2006/math">
                    <m:r>
                      <a:rPr lang="en-AU" altLang="zh-CN" sz="2400" b="0" i="0" smtClean="0">
                        <a:latin typeface="Cambria Math" panose="02040503050406030204" pitchFamily="18" charset="0"/>
                      </a:rPr>
                      <m:t>…,</m:t>
                    </m:r>
                    <m:r>
                      <a:rPr lang="en-AU" altLang="zh-CN" sz="2400" b="0" i="1" smtClean="0">
                        <a:latin typeface="Cambria Math" panose="02040503050406030204" pitchFamily="18" charset="0"/>
                      </a:rPr>
                      <m:t>𝑤</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𝑥</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𝑦</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𝑧</m:t>
                    </m:r>
                    <m:r>
                      <a:rPr lang="en-AU" altLang="zh-CN" sz="2400" b="0" i="1" smtClean="0">
                        <a:latin typeface="Cambria Math" panose="02040503050406030204" pitchFamily="18" charset="0"/>
                      </a:rPr>
                      <m:t>,</m:t>
                    </m:r>
                  </m:oMath>
                </a14:m>
                <a:endParaRPr lang="en-AU" altLang="zh-CN" sz="2400" dirty="0"/>
              </a:p>
              <a:p>
                <a:pPr lvl="1"/>
                <a:r>
                  <a:rPr lang="zh-CN" altLang="en-US" sz="2400" dirty="0"/>
                  <a:t>集合：</a:t>
                </a:r>
                <a14:m>
                  <m:oMath xmlns:m="http://schemas.openxmlformats.org/officeDocument/2006/math">
                    <m:r>
                      <a:rPr lang="en-AU" altLang="zh-CN" sz="2400" b="0" i="1" smtClean="0">
                        <a:latin typeface="Cambria Math" panose="02040503050406030204" pitchFamily="18" charset="0"/>
                      </a:rPr>
                      <m:t>𝐴</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𝐵</m:t>
                    </m:r>
                    <m:r>
                      <a:rPr lang="en-AU" altLang="zh-CN" sz="2400" b="0" i="1" smtClean="0">
                        <a:latin typeface="Cambria Math" panose="02040503050406030204" pitchFamily="18" charset="0"/>
                      </a:rPr>
                      <m:t>,</m:t>
                    </m:r>
                    <m:r>
                      <a:rPr lang="en-AU" altLang="zh-CN" sz="2400" b="0" i="1" smtClean="0">
                        <a:latin typeface="Cambria Math" panose="02040503050406030204" pitchFamily="18" charset="0"/>
                      </a:rPr>
                      <m:t>𝐶</m:t>
                    </m:r>
                    <m:r>
                      <a:rPr lang="en-AU" altLang="zh-CN" sz="2400" b="0" i="1" smtClean="0">
                        <a:latin typeface="Cambria Math" panose="02040503050406030204" pitchFamily="18" charset="0"/>
                        <a:ea typeface="MS Mincho" panose="02020609040205080304" charset="-128"/>
                        <a:cs typeface="Cambria Math" panose="02040503050406030204" pitchFamily="18" charset="0"/>
                      </a:rPr>
                      <m:t>,…</m:t>
                    </m:r>
                  </m:oMath>
                </a14:m>
                <a:endParaRPr lang="en-AU" altLang="zh-CN" sz="2400" b="0" i="1" dirty="0">
                  <a:latin typeface="Cambria Math" panose="02040503050406030204" pitchFamily="18"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295400"/>
                <a:ext cx="8229600" cy="4525963"/>
              </a:xfrm>
              <a:blipFill rotWithShape="1">
                <a:blip r:embed="rId1"/>
                <a:stretch>
                  <a:fillRect b="-919"/>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Title 1"/>
          <p:cNvSpPr>
            <a:spLocks noGrp="1"/>
          </p:cNvSpPr>
          <p:nvPr>
            <p:ph type="title"/>
          </p:nvPr>
        </p:nvSpPr>
        <p:spPr>
          <a:xfrm>
            <a:off x="457200" y="-228917"/>
            <a:ext cx="8229600" cy="1143000"/>
          </a:xfrm>
        </p:spPr>
        <p:txBody>
          <a:bodyPr/>
          <a:lstStyle/>
          <a:p>
            <a:pPr algn="r">
              <a:buClrTx/>
              <a:buSzTx/>
              <a:buFontTx/>
            </a:pPr>
            <a:r>
              <a:rPr lang="en-US" altLang="zh-CN" sz="3600" dirty="0">
                <a:solidFill>
                  <a:schemeClr val="bg1"/>
                </a:solidFill>
                <a:effectLst>
                  <a:outerShdw blurRad="38100" dist="38100" dir="2700000" algn="tl">
                    <a:srgbClr val="000000">
                      <a:alpha val="43137"/>
                    </a:srgbClr>
                  </a:outerShdw>
                </a:effectLst>
              </a:rPr>
              <a:t>基本概念</a:t>
            </a:r>
            <a:endParaRPr lang="en-US" altLang="zh-CN" sz="3600" dirty="0">
              <a:solidFill>
                <a:schemeClr val="bg1"/>
              </a:solidFill>
              <a:effectLst>
                <a:outerShdw blurRad="38100" dist="38100" dir="2700000" algn="tl">
                  <a:srgbClr val="000000">
                    <a:alpha val="43137"/>
                  </a:srgbClr>
                </a:outerShdw>
              </a:effectLs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295400"/>
                <a:ext cx="8229600" cy="4525963"/>
              </a:xfrm>
            </p:spPr>
            <p:txBody>
              <a:bodyPr/>
              <a:lstStyle/>
              <a:p>
                <a:r>
                  <a:rPr lang="zh-CN" altLang="en-US" dirty="0"/>
                  <a:t>字符串的长度：字符串中符号所占位置的个数，记为</a:t>
                </a:r>
                <a14:m>
                  <m:oMath xmlns:m="http://schemas.openxmlformats.org/officeDocument/2006/math">
                    <m:r>
                      <a:rPr lang="en-AU" altLang="zh-CN" b="0" i="1" smtClean="0">
                        <a:latin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rPr>
                      <m:t>|</m:t>
                    </m:r>
                  </m:oMath>
                </a14:m>
                <a:r>
                  <a:rPr lang="zh-CN" altLang="en-US" dirty="0"/>
                  <a:t>。</a:t>
                </a:r>
                <a:endParaRPr lang="en-AU" altLang="zh-CN" dirty="0"/>
              </a:p>
              <a:p>
                <a:r>
                  <a:rPr lang="zh-CN" altLang="en-US" dirty="0"/>
                  <a:t>若字母表为</a:t>
                </a:r>
                <a14:m>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Σ</m:t>
                    </m:r>
                  </m:oMath>
                </a14:m>
                <a:r>
                  <a:rPr lang="zh-CN" altLang="en-US" dirty="0"/>
                  <a:t>，可递归定义为</a:t>
                </a:r>
                <a:r>
                  <a:rPr lang="en-AU" altLang="zh-CN" dirty="0"/>
                  <a:t>:</a:t>
                </a:r>
                <a:endParaRPr lang="en-AU" altLang="zh-CN" dirty="0"/>
              </a:p>
              <a:p>
                <a:pPr marL="0" indent="0">
                  <a:buNone/>
                </a:pPr>
                <a14:m>
                  <m:oMathPara xmlns:m="http://schemas.openxmlformats.org/officeDocument/2006/math">
                    <m:oMathParaPr>
                      <m:jc m:val="centerGroup"/>
                    </m:oMathParaPr>
                    <m:oMath xmlns:m="http://schemas.openxmlformats.org/officeDocument/2006/math">
                      <m:d>
                        <m:dPr>
                          <m:begChr m:val="|"/>
                          <m:endChr m:val="|"/>
                          <m:ctrlPr>
                            <a:rPr lang="en-AU" b="0" i="1" smtClean="0">
                              <a:latin typeface="Cambria Math" panose="02040503050406030204" pitchFamily="18" charset="0"/>
                            </a:rPr>
                          </m:ctrlPr>
                        </m:dPr>
                        <m:e>
                          <m:r>
                            <a:rPr lang="en-AU" b="0" i="1" smtClean="0">
                              <a:latin typeface="Cambria Math" panose="02040503050406030204" pitchFamily="18" charset="0"/>
                            </a:rPr>
                            <m:t>𝑤</m:t>
                          </m:r>
                        </m:e>
                      </m:d>
                      <m:r>
                        <a:rPr lang="en-AU" b="0" i="1" smtClean="0">
                          <a:latin typeface="Cambria Math" panose="02040503050406030204" pitchFamily="18" charset="0"/>
                        </a:rPr>
                        <m:t>=</m:t>
                      </m:r>
                      <m:d>
                        <m:dPr>
                          <m:begChr m:val="{"/>
                          <m:endChr m:val=""/>
                          <m:ctrlPr>
                            <a:rPr lang="en-AU" i="1" smtClean="0">
                              <a:latin typeface="Cambria Math" panose="02040503050406030204" pitchFamily="18" charset="0"/>
                            </a:rPr>
                          </m:ctrlPr>
                        </m:dPr>
                        <m:e>
                          <m:eqArr>
                            <m:eqArrPr>
                              <m:ctrlPr>
                                <a:rPr lang="en-AU" i="1" smtClean="0">
                                  <a:latin typeface="Cambria Math" panose="02040503050406030204" pitchFamily="18" charset="0"/>
                                </a:rPr>
                              </m:ctrlPr>
                            </m:eqArrPr>
                            <m:e>
                              <m:r>
                                <a:rPr lang="en-AU" b="0" i="1" smtClean="0">
                                  <a:latin typeface="Cambria Math" panose="02040503050406030204" pitchFamily="18" charset="0"/>
                                </a:rPr>
                                <m:t>0</m:t>
                              </m:r>
                              <m:r>
                                <a:rPr lang="en-AU" b="0" i="1" smtClean="0">
                                  <a:latin typeface="Cambria Math" panose="02040503050406030204" pitchFamily="18" charset="0"/>
                                </a:rPr>
                                <m:t>          ,</m:t>
                              </m:r>
                              <m:r>
                                <a:rPr lang="en-AU" b="0" i="1" smtClean="0">
                                  <a:latin typeface="Cambria Math" panose="02040503050406030204" pitchFamily="18" charset="0"/>
                                </a:rPr>
                                <m:t>𝑤</m:t>
                              </m:r>
                              <m:r>
                                <a:rPr lang="en-AU" b="0" i="1" smtClean="0">
                                  <a:latin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𝜀</m:t>
                              </m:r>
                            </m:e>
                            <m:e>
                              <m:d>
                                <m:dPr>
                                  <m:begChr m:val="|"/>
                                  <m:endChr m:val="|"/>
                                  <m:ctrlPr>
                                    <a:rPr lang="en-AU" b="0" i="1" smtClean="0">
                                      <a:latin typeface="Cambria Math" panose="02040503050406030204" pitchFamily="18" charset="0"/>
                                    </a:rPr>
                                  </m:ctrlPr>
                                </m:dPr>
                                <m:e>
                                  <m:r>
                                    <a:rPr lang="en-AU" b="0" i="1" smtClean="0">
                                      <a:latin typeface="Cambria Math" panose="02040503050406030204" pitchFamily="18" charset="0"/>
                                    </a:rPr>
                                    <m:t>𝑥</m:t>
                                  </m:r>
                                </m:e>
                              </m:d>
                              <m:r>
                                <a:rPr lang="en-AU" b="0" i="1" smtClean="0">
                                  <a:latin typeface="Cambria Math" panose="02040503050406030204" pitchFamily="18" charset="0"/>
                                </a:rPr>
                                <m:t>+</m:t>
                              </m:r>
                              <m:r>
                                <a:rPr lang="en-AU" b="0" i="1" smtClean="0">
                                  <a:latin typeface="Cambria Math" panose="02040503050406030204" pitchFamily="18" charset="0"/>
                                </a:rPr>
                                <m:t>1</m:t>
                              </m:r>
                              <m:r>
                                <a:rPr lang="en-AU" b="0" i="1" smtClean="0">
                                  <a:latin typeface="Cambria Math" panose="02040503050406030204" pitchFamily="18" charset="0"/>
                                </a:rPr>
                                <m:t>, </m:t>
                              </m:r>
                              <m:r>
                                <a:rPr lang="en-AU" b="0" i="1" smtClean="0">
                                  <a:latin typeface="Cambria Math" panose="02040503050406030204" pitchFamily="18" charset="0"/>
                                </a:rPr>
                                <m:t>𝑤</m:t>
                              </m:r>
                              <m:r>
                                <a:rPr lang="en-AU" b="0" i="1" smtClean="0">
                                  <a:latin typeface="Cambria Math" panose="02040503050406030204" pitchFamily="18" charset="0"/>
                                </a:rPr>
                                <m:t>=</m:t>
                              </m:r>
                              <m:r>
                                <a:rPr lang="en-AU" b="0" i="1" smtClean="0">
                                  <a:latin typeface="Cambria Math" panose="02040503050406030204" pitchFamily="18" charset="0"/>
                                </a:rPr>
                                <m:t>𝑥𝑎</m:t>
                              </m:r>
                            </m:e>
                          </m:eqArr>
                        </m:e>
                      </m:d>
                    </m:oMath>
                  </m:oMathPara>
                </a14:m>
                <a:endParaRPr lang="en-AU" dirty="0"/>
              </a:p>
              <a:p>
                <a:pPr marL="0" indent="0">
                  <a:buNone/>
                </a:pPr>
                <a:r>
                  <a:rPr lang="zh-CN" altLang="en-US" dirty="0"/>
                  <a:t>其中</a:t>
                </a:r>
                <a14:m>
                  <m:oMath xmlns:m="http://schemas.openxmlformats.org/officeDocument/2006/math">
                    <m:r>
                      <a:rPr lang="en-AU" altLang="zh-CN" b="0" i="1" smtClean="0">
                        <a:latin typeface="Cambria Math" panose="02040503050406030204" pitchFamily="18" charset="0"/>
                        <a:ea typeface="Cambria Math" panose="02040503050406030204" pitchFamily="18" charset="0"/>
                      </a:rPr>
                      <m:t>𝑎</m:t>
                    </m:r>
                    <m:r>
                      <a:rPr lang="en-AU" altLang="zh-CN" b="0" i="1" smtClean="0">
                        <a:latin typeface="Cambria Math" panose="02040503050406030204" pitchFamily="18" charset="0"/>
                        <a:ea typeface="Cambria Math" panose="02040503050406030204" pitchFamily="18" charset="0"/>
                      </a:rPr>
                      <m:t>∈</m:t>
                    </m:r>
                    <m:r>
                      <m:rPr>
                        <m:sty m:val="p"/>
                      </m:rPr>
                      <a:rPr lang="el-GR" altLang="zh-CN" i="1">
                        <a:latin typeface="Cambria Math" panose="02040503050406030204" pitchFamily="18" charset="0"/>
                        <a:ea typeface="Cambria Math" panose="02040503050406030204" pitchFamily="18" charset="0"/>
                      </a:rPr>
                      <m:t>Σ</m:t>
                    </m:r>
                  </m:oMath>
                </a14:m>
                <a:r>
                  <a:rPr lang="en-AU" dirty="0"/>
                  <a:t>,</a:t>
                </a:r>
                <a14:m>
                  <m:oMath xmlns:m="http://schemas.openxmlformats.org/officeDocument/2006/math">
                    <m:r>
                      <a:rPr lang="en-AU" b="0" i="1" dirty="0" smtClean="0">
                        <a:latin typeface="Cambria Math" panose="02040503050406030204" pitchFamily="18" charset="0"/>
                      </a:rPr>
                      <m:t>𝑤</m:t>
                    </m:r>
                  </m:oMath>
                </a14:m>
                <a:r>
                  <a:rPr lang="zh-CN" altLang="en-US" dirty="0"/>
                  <a:t>和</a:t>
                </a:r>
                <a14:m>
                  <m:oMath xmlns:m="http://schemas.openxmlformats.org/officeDocument/2006/math">
                    <m:r>
                      <a:rPr lang="en-AU" altLang="zh-CN" b="0" i="1" dirty="0" smtClean="0">
                        <a:latin typeface="Cambria Math" panose="02040503050406030204" pitchFamily="18" charset="0"/>
                      </a:rPr>
                      <m:t>𝑥</m:t>
                    </m:r>
                  </m:oMath>
                </a14:m>
                <a:r>
                  <a:rPr lang="zh-CN" altLang="en-US" dirty="0"/>
                  <a:t>是</a:t>
                </a:r>
                <a14:m>
                  <m:oMath xmlns:m="http://schemas.openxmlformats.org/officeDocument/2006/math">
                    <m:r>
                      <m:rPr>
                        <m:sty m:val="p"/>
                      </m:rPr>
                      <a:rPr lang="el-GR" altLang="zh-CN" i="1">
                        <a:latin typeface="Cambria Math" panose="02040503050406030204" pitchFamily="18" charset="0"/>
                        <a:ea typeface="Cambria Math" panose="02040503050406030204" pitchFamily="18" charset="0"/>
                      </a:rPr>
                      <m:t>Σ</m:t>
                    </m:r>
                  </m:oMath>
                </a14:m>
                <a:r>
                  <a:rPr lang="zh-CN" altLang="en-US" dirty="0"/>
                  <a:t>中字符组成的字符串。</a:t>
                </a:r>
                <a:endParaRPr lang="en-AU" altLang="zh-CN" dirty="0"/>
              </a:p>
              <a:p>
                <a:pPr marL="0" indent="0">
                  <a:buNone/>
                </a:pP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295400"/>
                <a:ext cx="8229600" cy="4525963"/>
              </a:xfrm>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Title 1"/>
          <p:cNvSpPr>
            <a:spLocks noGrp="1"/>
          </p:cNvSpPr>
          <p:nvPr/>
        </p:nvSpPr>
        <p:spPr>
          <a:xfrm>
            <a:off x="457200" y="-228917"/>
            <a:ext cx="8229600" cy="1143000"/>
          </a:xfrm>
          <a:prstGeom prst="rect">
            <a:avLst/>
          </a:prstGeom>
          <a:noFill/>
          <a:ln w="9525">
            <a:noFill/>
          </a:ln>
        </p:spPr>
        <p:txBody>
          <a:bodyPr vert="horz" lIns="91440" tIns="45720" rIns="91440" bIns="45720" anchor="ctr" anchorCtr="0"/>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buClrTx/>
              <a:buSzTx/>
              <a:buFontTx/>
            </a:pPr>
            <a:r>
              <a:rPr lang="en-US" altLang="zh-CN" sz="3600" b="1"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基本概念</a:t>
            </a:r>
            <a:endParaRPr lang="en-US" altLang="zh-CN" sz="3600" b="1" dirty="0">
              <a:solidFill>
                <a:schemeClr val="bg1"/>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33400" y="1295400"/>
                <a:ext cx="8229600" cy="4525963"/>
              </a:xfrm>
            </p:spPr>
            <p:txBody>
              <a:bodyPr>
                <a:normAutofit/>
              </a:bodyPr>
              <a:lstStyle/>
              <a:p>
                <a:r>
                  <a:rPr lang="zh-CN" altLang="en-US" sz="3300" dirty="0"/>
                  <a:t>字符串</a:t>
                </a:r>
                <a14:m>
                  <m:oMath xmlns:m="http://schemas.openxmlformats.org/officeDocument/2006/math">
                    <m:r>
                      <a:rPr lang="en-AU" altLang="zh-CN" sz="3300" b="0" i="1" smtClean="0">
                        <a:latin typeface="Cambria Math" panose="02040503050406030204" pitchFamily="18" charset="0"/>
                      </a:rPr>
                      <m:t>𝑥</m:t>
                    </m:r>
                  </m:oMath>
                </a14:m>
                <a:r>
                  <a:rPr lang="zh-CN" altLang="en-US" sz="3300" dirty="0"/>
                  <a:t>和</a:t>
                </a:r>
                <a14:m>
                  <m:oMath xmlns:m="http://schemas.openxmlformats.org/officeDocument/2006/math">
                    <m:r>
                      <a:rPr lang="en-AU" altLang="zh-CN" sz="3300" b="0" i="1" dirty="0" smtClean="0">
                        <a:latin typeface="Cambria Math" panose="02040503050406030204" pitchFamily="18" charset="0"/>
                      </a:rPr>
                      <m:t>𝑦</m:t>
                    </m:r>
                  </m:oMath>
                </a14:m>
                <a:r>
                  <a:rPr lang="zh-CN" altLang="en-US" sz="3300" dirty="0"/>
                  <a:t>的连接</a:t>
                </a:r>
                <a:r>
                  <a:rPr lang="en-AU" altLang="zh-CN" sz="3300" dirty="0"/>
                  <a:t>:</a:t>
                </a:r>
                <a:r>
                  <a:rPr lang="zh-CN" altLang="en-US" sz="3300" dirty="0"/>
                  <a:t>将首尾相接得到新字符串的运算</a:t>
                </a:r>
                <a:r>
                  <a:rPr lang="en-US" altLang="zh-CN" sz="3300" dirty="0"/>
                  <a:t>, </a:t>
                </a:r>
                <a:r>
                  <a:rPr lang="zh-CN" altLang="en-US" sz="3300" dirty="0"/>
                  <a:t>记为</a:t>
                </a:r>
                <a14:m>
                  <m:oMath xmlns:m="http://schemas.openxmlformats.org/officeDocument/2006/math">
                    <m:r>
                      <a:rPr lang="en-US" altLang="zh-CN" sz="3300" i="1" dirty="0" smtClean="0">
                        <a:latin typeface="Cambria Math" panose="02040503050406030204" pitchFamily="18" charset="0"/>
                      </a:rPr>
                      <m:t>𝑥</m:t>
                    </m:r>
                    <m:r>
                      <a:rPr lang="en-US" altLang="zh-CN" sz="3300" i="1" dirty="0" smtClean="0">
                        <a:latin typeface="Cambria Math" panose="02040503050406030204" pitchFamily="18" charset="0"/>
                      </a:rPr>
                      <m:t> ·</m:t>
                    </m:r>
                    <m:r>
                      <a:rPr lang="en-US" altLang="zh-CN" sz="3300" i="1" dirty="0" smtClean="0">
                        <a:latin typeface="Cambria Math" panose="02040503050406030204" pitchFamily="18" charset="0"/>
                      </a:rPr>
                      <m:t>𝑦</m:t>
                    </m:r>
                    <m:r>
                      <a:rPr lang="en-US" altLang="zh-CN" sz="3300" i="1" dirty="0" smtClean="0">
                        <a:latin typeface="Cambria Math" panose="02040503050406030204" pitchFamily="18" charset="0"/>
                      </a:rPr>
                      <m:t> </m:t>
                    </m:r>
                  </m:oMath>
                </a14:m>
                <a:r>
                  <a:rPr lang="zh-CN" altLang="en-US" sz="3300" dirty="0"/>
                  <a:t>或</a:t>
                </a:r>
                <a14:m>
                  <m:oMath xmlns:m="http://schemas.openxmlformats.org/officeDocument/2006/math">
                    <m:r>
                      <a:rPr lang="en-US" altLang="zh-CN" sz="3300" i="1" dirty="0" smtClean="0">
                        <a:latin typeface="Cambria Math" panose="02040503050406030204" pitchFamily="18" charset="0"/>
                      </a:rPr>
                      <m:t>𝑥𝑦</m:t>
                    </m:r>
                  </m:oMath>
                </a14:m>
                <a:r>
                  <a:rPr lang="zh-CN" altLang="en-US" sz="3300" dirty="0"/>
                  <a:t>。</a:t>
                </a:r>
                <a:endParaRPr lang="en-AU" altLang="zh-CN" sz="3300" dirty="0"/>
              </a:p>
              <a:p>
                <a:r>
                  <a:rPr lang="zh-CN" altLang="en-US" dirty="0"/>
                  <a:t>同样，可递归定义为</a:t>
                </a:r>
                <a:r>
                  <a:rPr lang="en-AU" altLang="zh-CN" dirty="0"/>
                  <a:t>:</a:t>
                </a:r>
                <a:br>
                  <a:rPr lang="zh-CN" altLang="en-US" dirty="0"/>
                </a:br>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𝑥𝑦</m:t>
                      </m:r>
                      <m:r>
                        <a:rPr lang="en-AU" b="0" i="1" smtClean="0">
                          <a:latin typeface="Cambria Math" panose="02040503050406030204" pitchFamily="18" charset="0"/>
                        </a:rPr>
                        <m:t>=</m:t>
                      </m:r>
                      <m:d>
                        <m:dPr>
                          <m:begChr m:val="{"/>
                          <m:endChr m:val=""/>
                          <m:ctrlPr>
                            <a:rPr lang="en-AU" i="1" smtClean="0">
                              <a:latin typeface="Cambria Math" panose="02040503050406030204" pitchFamily="18" charset="0"/>
                            </a:rPr>
                          </m:ctrlPr>
                        </m:dPr>
                        <m:e>
                          <m:eqArr>
                            <m:eqArrPr>
                              <m:ctrlPr>
                                <a:rPr lang="en-AU" i="1" smtClean="0">
                                  <a:latin typeface="Cambria Math" panose="02040503050406030204" pitchFamily="18" charset="0"/>
                                </a:rPr>
                              </m:ctrlPr>
                            </m:eqArrPr>
                            <m:e>
                              <m:r>
                                <a:rPr lang="en-AU" b="0" i="1" smtClean="0">
                                  <a:latin typeface="Cambria Math" panose="02040503050406030204" pitchFamily="18" charset="0"/>
                                </a:rPr>
                                <m:t>𝑥</m:t>
                              </m:r>
                              <m:r>
                                <a:rPr lang="en-AU" b="0" i="1" smtClean="0">
                                  <a:latin typeface="Cambria Math" panose="02040503050406030204" pitchFamily="18" charset="0"/>
                                </a:rPr>
                                <m:t>          ,</m:t>
                              </m:r>
                              <m:r>
                                <a:rPr lang="en-AU" b="0" i="1" smtClean="0">
                                  <a:latin typeface="Cambria Math" panose="02040503050406030204" pitchFamily="18" charset="0"/>
                                </a:rPr>
                                <m:t>𝑦</m:t>
                              </m:r>
                              <m:r>
                                <a:rPr lang="en-AU" b="0" i="1" smtClean="0">
                                  <a:latin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𝜀</m:t>
                              </m:r>
                            </m:e>
                            <m:e>
                              <m:d>
                                <m:dPr>
                                  <m:ctrlPr>
                                    <a:rPr lang="en-AU" b="0" i="1" smtClean="0">
                                      <a:latin typeface="Cambria Math" panose="02040503050406030204" pitchFamily="18" charset="0"/>
                                      <a:ea typeface="Cambria Math" panose="02040503050406030204" pitchFamily="18" charset="0"/>
                                    </a:rPr>
                                  </m:ctrlPr>
                                </m:dPr>
                                <m:e>
                                  <m:r>
                                    <a:rPr lang="en-AU" b="0" i="1" smtClean="0">
                                      <a:latin typeface="Cambria Math" panose="02040503050406030204" pitchFamily="18" charset="0"/>
                                      <a:ea typeface="Cambria Math" panose="02040503050406030204" pitchFamily="18" charset="0"/>
                                    </a:rPr>
                                    <m:t>𝑥𝑧</m:t>
                                  </m:r>
                                </m:e>
                              </m:d>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rPr>
                                <m:t>, </m:t>
                              </m:r>
                              <m:r>
                                <a:rPr lang="en-AU" b="0" i="1" smtClean="0">
                                  <a:latin typeface="Cambria Math" panose="02040503050406030204" pitchFamily="18" charset="0"/>
                                </a:rPr>
                                <m:t>𝑦</m:t>
                              </m:r>
                              <m:r>
                                <a:rPr lang="en-AU" b="0" i="1" smtClean="0">
                                  <a:latin typeface="Cambria Math" panose="02040503050406030204" pitchFamily="18" charset="0"/>
                                </a:rPr>
                                <m:t>=</m:t>
                              </m:r>
                              <m:r>
                                <a:rPr lang="en-AU" b="0" i="1" smtClean="0">
                                  <a:latin typeface="Cambria Math" panose="02040503050406030204" pitchFamily="18" charset="0"/>
                                </a:rPr>
                                <m:t>𝑧𝑎</m:t>
                              </m:r>
                            </m:e>
                          </m:eqArr>
                        </m:e>
                      </m:d>
                    </m:oMath>
                  </m:oMathPara>
                </a14:m>
                <a:endParaRPr lang="en-AU" dirty="0"/>
              </a:p>
              <a:p>
                <a:pPr marL="0" indent="0">
                  <a:buNone/>
                </a:pPr>
                <a:r>
                  <a:rPr lang="zh-CN" altLang="en-US" dirty="0"/>
                  <a:t>其中</a:t>
                </a:r>
                <a14:m>
                  <m:oMath xmlns:m="http://schemas.openxmlformats.org/officeDocument/2006/math">
                    <m:r>
                      <a:rPr lang="en-AU" altLang="zh-CN" b="0" i="1" smtClean="0">
                        <a:latin typeface="Cambria Math" panose="02040503050406030204" pitchFamily="18" charset="0"/>
                        <a:ea typeface="Cambria Math" panose="02040503050406030204" pitchFamily="18" charset="0"/>
                      </a:rPr>
                      <m:t>𝑎</m:t>
                    </m:r>
                    <m:r>
                      <a:rPr lang="en-AU" altLang="zh-CN" b="0" i="1" smtClean="0">
                        <a:latin typeface="Cambria Math" panose="02040503050406030204" pitchFamily="18" charset="0"/>
                        <a:ea typeface="Cambria Math" panose="02040503050406030204" pitchFamily="18" charset="0"/>
                      </a:rPr>
                      <m:t>∈</m:t>
                    </m:r>
                    <m:r>
                      <m:rPr>
                        <m:sty m:val="p"/>
                      </m:rPr>
                      <a:rPr lang="el-GR" altLang="zh-CN" i="1">
                        <a:latin typeface="Cambria Math" panose="02040503050406030204" pitchFamily="18" charset="0"/>
                        <a:ea typeface="Cambria Math" panose="02040503050406030204" pitchFamily="18" charset="0"/>
                      </a:rPr>
                      <m:t>Σ</m:t>
                    </m:r>
                  </m:oMath>
                </a14:m>
                <a:r>
                  <a:rPr lang="en-AU" dirty="0"/>
                  <a:t>,</a:t>
                </a:r>
                <a:r>
                  <a:rPr lang="zh-CN" altLang="en-US" dirty="0"/>
                  <a:t>且</a:t>
                </a:r>
                <a14:m>
                  <m:oMath xmlns:m="http://schemas.openxmlformats.org/officeDocument/2006/math">
                    <m:r>
                      <a:rPr lang="en-AU" altLang="zh-CN" b="0" i="1" smtClean="0">
                        <a:latin typeface="Cambria Math" panose="02040503050406030204" pitchFamily="18" charset="0"/>
                      </a:rPr>
                      <m:t>𝑥</m:t>
                    </m:r>
                    <m:r>
                      <a:rPr lang="en-AU" altLang="zh-CN" b="0" i="1" smtClean="0">
                        <a:latin typeface="Cambria Math" panose="02040503050406030204" pitchFamily="18" charset="0"/>
                      </a:rPr>
                      <m:t>,</m:t>
                    </m:r>
                    <m:r>
                      <a:rPr lang="en-AU" altLang="zh-CN" b="0" i="1" smtClean="0">
                        <a:latin typeface="Cambria Math" panose="02040503050406030204" pitchFamily="18" charset="0"/>
                      </a:rPr>
                      <m:t>𝑦</m:t>
                    </m:r>
                    <m:r>
                      <a:rPr lang="en-AU" altLang="zh-CN" b="0" i="1" smtClean="0">
                        <a:latin typeface="Cambria Math" panose="02040503050406030204" pitchFamily="18" charset="0"/>
                      </a:rPr>
                      <m:t>,</m:t>
                    </m:r>
                    <m:r>
                      <a:rPr lang="en-AU" altLang="zh-CN" b="0" i="1" smtClean="0">
                        <a:latin typeface="Cambria Math" panose="02040503050406030204" pitchFamily="18" charset="0"/>
                      </a:rPr>
                      <m:t>𝑧</m:t>
                    </m:r>
                  </m:oMath>
                </a14:m>
                <a:r>
                  <a:rPr lang="zh-CN" altLang="en-US" dirty="0"/>
                  <a:t>都是字符串。</a:t>
                </a:r>
                <a:endParaRPr lang="en-AU" altLang="zh-CN" dirty="0"/>
              </a:p>
              <a:p>
                <a:pPr marL="0" indent="0">
                  <a:buNone/>
                </a:pPr>
                <a:endParaRPr lang="en-AU" altLang="zh-CN" dirty="0"/>
              </a:p>
              <a:p>
                <a:r>
                  <a:rPr lang="zh-CN" altLang="en-US" dirty="0"/>
                  <a:t>对任何字符串</a:t>
                </a:r>
                <a14:m>
                  <m:oMath xmlns:m="http://schemas.openxmlformats.org/officeDocument/2006/math">
                    <m:r>
                      <a:rPr lang="en-AU" altLang="zh-CN" b="0" i="1" smtClean="0">
                        <a:latin typeface="Cambria Math" panose="02040503050406030204" pitchFamily="18" charset="0"/>
                      </a:rPr>
                      <m:t>𝑥</m:t>
                    </m:r>
                  </m:oMath>
                </a14:m>
                <a:r>
                  <a:rPr lang="en-AU" altLang="zh-CN" dirty="0"/>
                  <a:t>,</a:t>
                </a:r>
                <a:r>
                  <a:rPr lang="zh-CN" altLang="en-US" dirty="0"/>
                  <a:t>有</a:t>
                </a:r>
                <a14:m>
                  <m:oMath xmlns:m="http://schemas.openxmlformats.org/officeDocument/2006/math">
                    <m:r>
                      <a:rPr lang="en-AU" i="1">
                        <a:latin typeface="Cambria Math" panose="02040503050406030204" pitchFamily="18" charset="0"/>
                        <a:ea typeface="Cambria Math" panose="02040503050406030204" pitchFamily="18" charset="0"/>
                      </a:rPr>
                      <m:t>𝜀</m:t>
                    </m:r>
                    <m:r>
                      <a:rPr lang="en-US" altLang="zh-CN" i="1" dirty="0">
                        <a:latin typeface="Cambria Math" panose="02040503050406030204" pitchFamily="18" charset="0"/>
                      </a:rPr>
                      <m:t>·</m:t>
                    </m:r>
                    <m:r>
                      <a:rPr lang="en-AU" altLang="zh-CN" b="0" i="1" dirty="0" smtClean="0">
                        <a:latin typeface="Cambria Math" panose="02040503050406030204" pitchFamily="18" charset="0"/>
                      </a:rPr>
                      <m:t>𝑥</m:t>
                    </m:r>
                    <m:r>
                      <a:rPr lang="en-AU" altLang="zh-CN" b="0" i="1" dirty="0" smtClean="0">
                        <a:latin typeface="Cambria Math" panose="02040503050406030204" pitchFamily="18" charset="0"/>
                      </a:rPr>
                      <m:t>=</m:t>
                    </m:r>
                    <m:r>
                      <a:rPr lang="en-US" altLang="zh-CN" i="1" dirty="0">
                        <a:latin typeface="Cambria Math" panose="02040503050406030204" pitchFamily="18" charset="0"/>
                      </a:rPr>
                      <m:t>𝑥</m:t>
                    </m:r>
                    <m:r>
                      <a:rPr lang="en-US" altLang="zh-CN" i="1" dirty="0">
                        <a:latin typeface="Cambria Math" panose="02040503050406030204" pitchFamily="18" charset="0"/>
                      </a:rPr>
                      <m:t>·</m:t>
                    </m:r>
                    <m:r>
                      <a:rPr lang="en-AU" i="1">
                        <a:latin typeface="Cambria Math" panose="02040503050406030204" pitchFamily="18" charset="0"/>
                        <a:ea typeface="Cambria Math" panose="02040503050406030204" pitchFamily="18" charset="0"/>
                      </a:rPr>
                      <m:t>𝜀</m:t>
                    </m:r>
                    <m:r>
                      <a:rPr lang="en-AU" altLang="zh-CN" b="0" i="1" dirty="0" smtClean="0">
                        <a:latin typeface="Cambria Math" panose="02040503050406030204" pitchFamily="18" charset="0"/>
                      </a:rPr>
                      <m:t>=</m:t>
                    </m:r>
                    <m:r>
                      <a:rPr lang="en-AU" altLang="zh-CN" b="0" i="1" dirty="0" smtClean="0">
                        <a:latin typeface="Cambria Math" panose="02040503050406030204" pitchFamily="18" charset="0"/>
                      </a:rPr>
                      <m:t>𝑥</m:t>
                    </m:r>
                  </m:oMath>
                </a14:m>
                <a:r>
                  <a:rPr lang="zh-CN" altLang="en-US" dirty="0"/>
                  <a:t>。</a:t>
                </a:r>
                <a:endParaRPr lang="en-AU"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33400" y="1295400"/>
                <a:ext cx="8229600" cy="4525963"/>
              </a:xfrm>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Title 1"/>
          <p:cNvSpPr>
            <a:spLocks noGrp="1"/>
          </p:cNvSpPr>
          <p:nvPr>
            <p:ph type="title"/>
          </p:nvPr>
        </p:nvSpPr>
        <p:spPr>
          <a:xfrm>
            <a:off x="457200" y="-228917"/>
            <a:ext cx="8229600" cy="1143000"/>
          </a:xfrm>
        </p:spPr>
        <p:txBody>
          <a:bodyPr/>
          <a:lstStyle/>
          <a:p>
            <a:pPr algn="r">
              <a:buClrTx/>
              <a:buSzTx/>
              <a:buFontTx/>
            </a:pPr>
            <a:r>
              <a:rPr lang="en-US" altLang="zh-CN" sz="3600" dirty="0">
                <a:solidFill>
                  <a:schemeClr val="bg1"/>
                </a:solidFill>
                <a:effectLst>
                  <a:outerShdw blurRad="38100" dist="38100" dir="2700000" algn="tl">
                    <a:srgbClr val="000000">
                      <a:alpha val="43137"/>
                    </a:srgbClr>
                  </a:outerShdw>
                </a:effectLst>
              </a:rPr>
              <a:t>基本概念</a:t>
            </a:r>
            <a:endParaRPr lang="en-US" altLang="zh-CN" sz="3600" dirty="0">
              <a:solidFill>
                <a:schemeClr val="bg1"/>
              </a:solidFill>
              <a:effectLst>
                <a:outerShdw blurRad="38100" dist="38100" dir="2700000" algn="tl">
                  <a:srgbClr val="000000">
                    <a:alpha val="43137"/>
                  </a:srgbClr>
                </a:outerShdw>
              </a:effectLs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04800" y="1219200"/>
                <a:ext cx="8748395" cy="4526280"/>
              </a:xfrm>
            </p:spPr>
            <p:txBody>
              <a:bodyPr/>
              <a:lstStyle/>
              <a:p>
                <a:r>
                  <a:rPr lang="zh-CN" altLang="en-US" dirty="0"/>
                  <a:t>字符串</a:t>
                </a:r>
                <a14:m>
                  <m:oMath xmlns:m="http://schemas.openxmlformats.org/officeDocument/2006/math">
                    <m:r>
                      <a:rPr lang="en-AU" altLang="zh-CN" b="0" i="1" smtClean="0">
                        <a:latin typeface="Cambria Math" panose="02040503050406030204" pitchFamily="18" charset="0"/>
                      </a:rPr>
                      <m:t>𝑥</m:t>
                    </m:r>
                  </m:oMath>
                </a14:m>
                <a:r>
                  <a:rPr lang="zh-CN" altLang="en-US" dirty="0"/>
                  <a:t>的</a:t>
                </a:r>
                <a14:m>
                  <m:oMath xmlns:m="http://schemas.openxmlformats.org/officeDocument/2006/math">
                    <m:r>
                      <a:rPr lang="en-AU" altLang="zh-CN" b="0" i="1" dirty="0" smtClean="0">
                        <a:latin typeface="Cambria Math" panose="02040503050406030204" pitchFamily="18" charset="0"/>
                      </a:rPr>
                      <m:t>𝑛</m:t>
                    </m:r>
                  </m:oMath>
                </a14:m>
                <a:r>
                  <a:rPr lang="zh-CN" altLang="en-US" dirty="0"/>
                  <a:t>次幂（</a:t>
                </a:r>
                <a14:m>
                  <m:oMath xmlns:m="http://schemas.openxmlformats.org/officeDocument/2006/math">
                    <m:r>
                      <a:rPr lang="en-AU" altLang="zh-CN" b="0" i="1" smtClean="0">
                        <a:latin typeface="Cambria Math" panose="02040503050406030204" pitchFamily="18" charset="0"/>
                      </a:rPr>
                      <m:t>𝑛</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0</m:t>
                    </m:r>
                  </m:oMath>
                </a14:m>
                <a:r>
                  <a:rPr lang="zh-CN" altLang="en-US" dirty="0"/>
                  <a:t>），递归定义为</a:t>
                </a:r>
                <a:endParaRPr lang="en-AU" altLang="zh-CN" dirty="0"/>
              </a:p>
              <a:p>
                <a:pPr marL="0" indent="0">
                  <a:buNone/>
                </a:pPr>
                <a14:m>
                  <m:oMathPara xmlns:m="http://schemas.openxmlformats.org/officeDocument/2006/math">
                    <m:oMathParaPr>
                      <m:jc m:val="centerGroup"/>
                    </m:oMathParaPr>
                    <m:oMath xmlns:m="http://schemas.openxmlformats.org/officeDocument/2006/math">
                      <m:sSup>
                        <m:sSupPr>
                          <m:ctrlPr>
                            <a:rPr lang="en-AU" b="0" i="1" smtClean="0">
                              <a:latin typeface="Cambria Math" panose="02040503050406030204" pitchFamily="18" charset="0"/>
                            </a:rPr>
                          </m:ctrlPr>
                        </m:sSupPr>
                        <m:e>
                          <m:r>
                            <a:rPr lang="en-AU" b="0" i="1" smtClean="0">
                              <a:latin typeface="Cambria Math" panose="02040503050406030204" pitchFamily="18" charset="0"/>
                            </a:rPr>
                            <m:t>𝑥</m:t>
                          </m:r>
                        </m:e>
                        <m:sup>
                          <m:r>
                            <a:rPr lang="en-AU" b="0" i="1" smtClean="0">
                              <a:latin typeface="Cambria Math" panose="02040503050406030204" pitchFamily="18" charset="0"/>
                            </a:rPr>
                            <m:t>𝑛</m:t>
                          </m:r>
                        </m:sup>
                      </m:sSup>
                      <m:r>
                        <a:rPr lang="en-AU" b="0" i="1" smtClean="0">
                          <a:latin typeface="Cambria Math" panose="02040503050406030204" pitchFamily="18" charset="0"/>
                        </a:rPr>
                        <m:t>=</m:t>
                      </m:r>
                      <m:d>
                        <m:dPr>
                          <m:begChr m:val="{"/>
                          <m:endChr m:val=""/>
                          <m:ctrlPr>
                            <a:rPr lang="en-AU" i="1" smtClean="0">
                              <a:latin typeface="Cambria Math" panose="02040503050406030204" pitchFamily="18" charset="0"/>
                            </a:rPr>
                          </m:ctrlPr>
                        </m:dPr>
                        <m:e>
                          <m:eqArr>
                            <m:eqArrPr>
                              <m:ctrlPr>
                                <a:rPr lang="en-AU" i="1" smtClean="0">
                                  <a:latin typeface="Cambria Math" panose="02040503050406030204" pitchFamily="18" charset="0"/>
                                </a:rPr>
                              </m:ctrlPr>
                            </m:eqArrPr>
                            <m:e>
                              <m:r>
                                <a:rPr lang="en-AU" i="1">
                                  <a:latin typeface="Cambria Math" panose="02040503050406030204" pitchFamily="18" charset="0"/>
                                  <a:ea typeface="Cambria Math" panose="02040503050406030204" pitchFamily="18" charset="0"/>
                                </a:rPr>
                                <m:t>𝜀</m:t>
                              </m:r>
                              <m:r>
                                <a:rPr lang="en-AU" b="0" i="1" smtClean="0">
                                  <a:latin typeface="Cambria Math" panose="02040503050406030204" pitchFamily="18" charset="0"/>
                                </a:rPr>
                                <m:t>,    </m:t>
                              </m:r>
                              <m:r>
                                <a:rPr lang="en-AU" b="0" i="1" smtClean="0">
                                  <a:latin typeface="Cambria Math" panose="02040503050406030204" pitchFamily="18" charset="0"/>
                                </a:rPr>
                                <m:t>𝑛</m:t>
                              </m:r>
                              <m:r>
                                <a:rPr lang="en-AU" b="0" i="1" smtClean="0">
                                  <a:latin typeface="Cambria Math" panose="02040503050406030204" pitchFamily="18" charset="0"/>
                                </a:rPr>
                                <m:t>=</m:t>
                              </m:r>
                              <m:r>
                                <a:rPr lang="en-AU" b="0" i="1" smtClean="0">
                                  <a:latin typeface="Cambria Math" panose="02040503050406030204" pitchFamily="18" charset="0"/>
                                </a:rPr>
                                <m:t>0</m:t>
                              </m:r>
                            </m:e>
                            <m:e>
                              <m:sSup>
                                <m:sSupPr>
                                  <m:ctrlPr>
                                    <a:rPr lang="en-AU" i="1">
                                      <a:latin typeface="Cambria Math" panose="02040503050406030204" pitchFamily="18" charset="0"/>
                                    </a:rPr>
                                  </m:ctrlPr>
                                </m:sSupPr>
                                <m:e>
                                  <m:r>
                                    <a:rPr lang="en-AU" i="1">
                                      <a:latin typeface="Cambria Math" panose="02040503050406030204" pitchFamily="18" charset="0"/>
                                    </a:rPr>
                                    <m:t>𝑥</m:t>
                                  </m:r>
                                </m:e>
                                <m:sup>
                                  <m:r>
                                    <a:rPr lang="en-AU" i="1">
                                      <a:latin typeface="Cambria Math" panose="02040503050406030204" pitchFamily="18" charset="0"/>
                                    </a:rPr>
                                    <m:t>𝑛</m:t>
                                  </m:r>
                                  <m:r>
                                    <a:rPr lang="en-AU" b="0" i="1" smtClean="0">
                                      <a:latin typeface="Cambria Math" panose="02040503050406030204" pitchFamily="18" charset="0"/>
                                    </a:rPr>
                                    <m:t>−</m:t>
                                  </m:r>
                                  <m:r>
                                    <a:rPr lang="en-AU" b="0" i="1" smtClean="0">
                                      <a:latin typeface="Cambria Math" panose="02040503050406030204" pitchFamily="18" charset="0"/>
                                    </a:rPr>
                                    <m:t>1</m:t>
                                  </m:r>
                                </m:sup>
                              </m:sSup>
                              <m:r>
                                <a:rPr lang="en-AU" b="0" i="1" smtClean="0">
                                  <a:latin typeface="Cambria Math" panose="02040503050406030204" pitchFamily="18" charset="0"/>
                                </a:rPr>
                                <m:t>𝑥</m:t>
                              </m:r>
                              <m:r>
                                <a:rPr lang="en-AU" b="0" i="1" smtClean="0">
                                  <a:latin typeface="Cambria Math" panose="02040503050406030204" pitchFamily="18" charset="0"/>
                                </a:rPr>
                                <m:t>, </m:t>
                              </m:r>
                              <m:r>
                                <a:rPr lang="en-AU" b="0" i="1" smtClean="0">
                                  <a:latin typeface="Cambria Math" panose="02040503050406030204" pitchFamily="18" charset="0"/>
                                </a:rPr>
                                <m:t>𝑛</m:t>
                              </m:r>
                              <m:r>
                                <a:rPr lang="en-AU" b="0" i="1" smtClean="0">
                                  <a:latin typeface="Cambria Math" panose="02040503050406030204" pitchFamily="18" charset="0"/>
                                </a:rPr>
                                <m:t>&gt;</m:t>
                              </m:r>
                              <m:r>
                                <a:rPr lang="en-AU" b="0" i="1" smtClean="0">
                                  <a:latin typeface="Cambria Math" panose="02040503050406030204" pitchFamily="18" charset="0"/>
                                </a:rPr>
                                <m:t>0</m:t>
                              </m:r>
                            </m:e>
                          </m:eqArr>
                        </m:e>
                      </m:d>
                    </m:oMath>
                  </m:oMathPara>
                </a14:m>
                <a:endParaRPr lang="en-AU" dirty="0"/>
              </a:p>
              <a:p>
                <a:pPr marL="0" indent="0">
                  <a:buNone/>
                </a:pPr>
                <a:r>
                  <a:rPr lang="zh-CN" altLang="en-US" dirty="0"/>
                  <a:t>例如，若</a:t>
                </a:r>
                <a14:m>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Σ</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𝑎</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𝑏</m:t>
                    </m:r>
                    <m:r>
                      <a:rPr lang="en-AU" altLang="zh-CN" b="0" i="1" smtClean="0">
                        <a:latin typeface="Cambria Math" panose="02040503050406030204" pitchFamily="18" charset="0"/>
                        <a:ea typeface="Cambria Math" panose="02040503050406030204" pitchFamily="18" charset="0"/>
                      </a:rPr>
                      <m:t>}</m:t>
                    </m:r>
                  </m:oMath>
                </a14:m>
                <a:r>
                  <a:rPr lang="zh-CN" altLang="en-US" dirty="0"/>
                  <a:t>，那么</a:t>
                </a:r>
                <a:endParaRPr lang="en-AU" altLang="zh-CN" dirty="0"/>
              </a:p>
              <a:p>
                <a:pPr marL="0" indent="0">
                  <a:buNone/>
                </a:pPr>
                <a:endParaRPr lang="en-AU" altLang="zh-CN" dirty="0"/>
              </a:p>
              <a:p>
                <a:pPr marL="0" indent="0" algn="ctr">
                  <a:buNone/>
                </a:pPr>
                <a14:m>
                  <m:oMathPara xmlns:m="http://schemas.openxmlformats.org/officeDocument/2006/math">
                    <m:oMathParaPr>
                      <m:jc m:val="centerGroup"/>
                    </m:oMathParaPr>
                    <m:oMath xmlns:m="http://schemas.openxmlformats.org/officeDocument/2006/math">
                      <m:sSup>
                        <m:sSupPr>
                          <m:ctrlPr>
                            <a:rPr lang="en-AU" i="1" smtClean="0">
                              <a:latin typeface="Cambria Math" panose="02040503050406030204" pitchFamily="18" charset="0"/>
                            </a:rPr>
                          </m:ctrlPr>
                        </m:sSupPr>
                        <m:e>
                          <m:r>
                            <a:rPr lang="en-AU" b="0" i="1" smtClean="0">
                              <a:latin typeface="Cambria Math" panose="02040503050406030204" pitchFamily="18" charset="0"/>
                            </a:rPr>
                            <m:t>(</m:t>
                          </m:r>
                          <m:r>
                            <a:rPr lang="en-AU" b="0" i="1" smtClean="0">
                              <a:latin typeface="Cambria Math" panose="02040503050406030204" pitchFamily="18" charset="0"/>
                            </a:rPr>
                            <m:t>𝑏𝑎</m:t>
                          </m:r>
                          <m:r>
                            <a:rPr lang="en-AU" b="0" i="1" smtClean="0">
                              <a:latin typeface="Cambria Math" panose="02040503050406030204" pitchFamily="18" charset="0"/>
                            </a:rPr>
                            <m:t>)</m:t>
                          </m:r>
                        </m:e>
                        <m:sup>
                          <m:r>
                            <a:rPr lang="en-AU" b="0" i="1" smtClean="0">
                              <a:latin typeface="Cambria Math" panose="02040503050406030204" pitchFamily="18" charset="0"/>
                            </a:rPr>
                            <m:t>2</m:t>
                          </m:r>
                        </m:sup>
                      </m:sSup>
                      <m:r>
                        <a:rPr lang="en-AU" b="0" i="1" smtClean="0">
                          <a:latin typeface="Cambria Math" panose="02040503050406030204" pitchFamily="18" charset="0"/>
                        </a:rPr>
                        <m:t>=</m:t>
                      </m:r>
                      <m:sSup>
                        <m:sSupPr>
                          <m:ctrlPr>
                            <a:rPr lang="en-AU" i="1">
                              <a:latin typeface="Cambria Math" panose="02040503050406030204" pitchFamily="18" charset="0"/>
                            </a:rPr>
                          </m:ctrlPr>
                        </m:sSupPr>
                        <m:e>
                          <m:r>
                            <a:rPr lang="en-AU" i="1">
                              <a:latin typeface="Cambria Math" panose="02040503050406030204" pitchFamily="18" charset="0"/>
                            </a:rPr>
                            <m:t>(</m:t>
                          </m:r>
                          <m:r>
                            <a:rPr lang="en-AU" i="1">
                              <a:latin typeface="Cambria Math" panose="02040503050406030204" pitchFamily="18" charset="0"/>
                            </a:rPr>
                            <m:t>𝑏𝑎</m:t>
                          </m:r>
                          <m:r>
                            <a:rPr lang="en-AU" i="1">
                              <a:latin typeface="Cambria Math" panose="02040503050406030204" pitchFamily="18" charset="0"/>
                            </a:rPr>
                            <m:t>)</m:t>
                          </m:r>
                        </m:e>
                        <m:sup>
                          <m:r>
                            <a:rPr lang="en-AU" b="0" i="1" smtClean="0">
                              <a:latin typeface="Cambria Math" panose="02040503050406030204" pitchFamily="18" charset="0"/>
                            </a:rPr>
                            <m:t>1</m:t>
                          </m:r>
                        </m:sup>
                      </m:sSup>
                      <m:r>
                        <a:rPr lang="en-AU" b="0" i="1" smtClean="0">
                          <a:latin typeface="Cambria Math" panose="02040503050406030204" pitchFamily="18" charset="0"/>
                        </a:rPr>
                        <m:t>𝑏𝑎</m:t>
                      </m:r>
                      <m:r>
                        <a:rPr lang="en-AU" b="0" i="0" smtClean="0">
                          <a:latin typeface="Cambria Math" panose="02040503050406030204" pitchFamily="18" charset="0"/>
                        </a:rPr>
                        <m:t>=</m:t>
                      </m:r>
                      <m:sSup>
                        <m:sSupPr>
                          <m:ctrlPr>
                            <a:rPr lang="en-AU" i="1">
                              <a:latin typeface="Cambria Math" panose="02040503050406030204" pitchFamily="18" charset="0"/>
                            </a:rPr>
                          </m:ctrlPr>
                        </m:sSupPr>
                        <m:e>
                          <m:r>
                            <a:rPr lang="en-AU" i="1">
                              <a:latin typeface="Cambria Math" panose="02040503050406030204" pitchFamily="18" charset="0"/>
                            </a:rPr>
                            <m:t>(</m:t>
                          </m:r>
                          <m:r>
                            <a:rPr lang="en-AU" i="1">
                              <a:latin typeface="Cambria Math" panose="02040503050406030204" pitchFamily="18" charset="0"/>
                            </a:rPr>
                            <m:t>𝑏𝑎</m:t>
                          </m:r>
                          <m:r>
                            <a:rPr lang="en-AU" i="1">
                              <a:latin typeface="Cambria Math" panose="02040503050406030204" pitchFamily="18" charset="0"/>
                            </a:rPr>
                            <m:t>)</m:t>
                          </m:r>
                        </m:e>
                        <m:sup>
                          <m:r>
                            <a:rPr lang="en-AU" b="0" i="1" smtClean="0">
                              <a:latin typeface="Cambria Math" panose="02040503050406030204" pitchFamily="18" charset="0"/>
                            </a:rPr>
                            <m:t>0</m:t>
                          </m:r>
                        </m:sup>
                      </m:sSup>
                      <m:r>
                        <a:rPr lang="en-AU" b="0" i="1" smtClean="0">
                          <a:latin typeface="Cambria Math" panose="02040503050406030204" pitchFamily="18" charset="0"/>
                        </a:rPr>
                        <m:t>𝑏𝑎𝑏𝑎</m:t>
                      </m:r>
                      <m:r>
                        <a:rPr lang="en-AU" b="0" i="1" smtClean="0">
                          <a:latin typeface="Cambria Math" panose="02040503050406030204" pitchFamily="18" charset="0"/>
                        </a:rPr>
                        <m:t>=</m:t>
                      </m:r>
                      <m:r>
                        <a:rPr lang="en-AU" i="1">
                          <a:latin typeface="Cambria Math" panose="02040503050406030204" pitchFamily="18" charset="0"/>
                          <a:ea typeface="Cambria Math" panose="02040503050406030204" pitchFamily="18" charset="0"/>
                        </a:rPr>
                        <m:t>𝜀</m:t>
                      </m:r>
                      <m:r>
                        <a:rPr lang="en-AU" b="0" i="1" smtClean="0">
                          <a:latin typeface="Cambria Math" panose="02040503050406030204" pitchFamily="18" charset="0"/>
                          <a:ea typeface="Cambria Math" panose="02040503050406030204" pitchFamily="18" charset="0"/>
                        </a:rPr>
                        <m:t>𝑏𝑎𝑏𝑎</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𝑏𝑎𝑏𝑎</m:t>
                      </m:r>
                    </m:oMath>
                  </m:oMathPara>
                </a14:m>
                <a:endParaRPr lang="en-AU" dirty="0"/>
              </a:p>
              <a:p>
                <a:pPr marL="0" indent="0" algn="ctr">
                  <a:buNone/>
                </a:pPr>
                <a:endParaRPr lang="en-AU" i="1" dirty="0">
                  <a:latin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sSup>
                        <m:sSupPr>
                          <m:ctrlPr>
                            <a:rPr lang="en-AU" i="1" smtClean="0">
                              <a:latin typeface="Cambria Math" panose="02040503050406030204" pitchFamily="18" charset="0"/>
                            </a:rPr>
                          </m:ctrlPr>
                        </m:sSupPr>
                        <m:e>
                          <m:r>
                            <a:rPr lang="en-AU" b="0" i="1" smtClean="0">
                              <a:latin typeface="Cambria Math" panose="02040503050406030204" pitchFamily="18" charset="0"/>
                            </a:rPr>
                            <m:t>𝑏𝑎</m:t>
                          </m:r>
                        </m:e>
                        <m:sup>
                          <m:r>
                            <a:rPr lang="en-AU" b="0" i="1" smtClean="0">
                              <a:latin typeface="Cambria Math" panose="02040503050406030204" pitchFamily="18" charset="0"/>
                            </a:rPr>
                            <m:t>2</m:t>
                          </m:r>
                        </m:sup>
                      </m:sSup>
                      <m:r>
                        <a:rPr lang="en-AU" b="0" i="1" smtClean="0">
                          <a:latin typeface="Cambria Math" panose="02040503050406030204" pitchFamily="18" charset="0"/>
                        </a:rPr>
                        <m:t>=</m:t>
                      </m:r>
                      <m:sSup>
                        <m:sSupPr>
                          <m:ctrlPr>
                            <a:rPr lang="en-AU" i="1">
                              <a:latin typeface="Cambria Math" panose="02040503050406030204" pitchFamily="18" charset="0"/>
                            </a:rPr>
                          </m:ctrlPr>
                        </m:sSupPr>
                        <m:e>
                          <m:r>
                            <a:rPr lang="en-AU" i="1">
                              <a:latin typeface="Cambria Math" panose="02040503050406030204" pitchFamily="18" charset="0"/>
                            </a:rPr>
                            <m:t>𝑏𝑎</m:t>
                          </m:r>
                        </m:e>
                        <m:sup>
                          <m:r>
                            <a:rPr lang="en-AU" b="0" i="1" smtClean="0">
                              <a:latin typeface="Cambria Math" panose="02040503050406030204" pitchFamily="18" charset="0"/>
                            </a:rPr>
                            <m:t>1</m:t>
                          </m:r>
                        </m:sup>
                      </m:sSup>
                      <m:r>
                        <a:rPr lang="en-AU" b="0" i="1" smtClean="0">
                          <a:latin typeface="Cambria Math" panose="02040503050406030204" pitchFamily="18" charset="0"/>
                        </a:rPr>
                        <m:t>𝑎</m:t>
                      </m:r>
                      <m:r>
                        <a:rPr lang="en-AU" b="0" i="1" smtClean="0">
                          <a:latin typeface="Cambria Math" panose="02040503050406030204" pitchFamily="18" charset="0"/>
                        </a:rPr>
                        <m:t>=</m:t>
                      </m:r>
                      <m:sSup>
                        <m:sSupPr>
                          <m:ctrlPr>
                            <a:rPr lang="en-AU" i="1">
                              <a:latin typeface="Cambria Math" panose="02040503050406030204" pitchFamily="18" charset="0"/>
                            </a:rPr>
                          </m:ctrlPr>
                        </m:sSupPr>
                        <m:e>
                          <m:r>
                            <a:rPr lang="en-AU" i="1">
                              <a:latin typeface="Cambria Math" panose="02040503050406030204" pitchFamily="18" charset="0"/>
                            </a:rPr>
                            <m:t>𝑏𝑎</m:t>
                          </m:r>
                        </m:e>
                        <m:sup>
                          <m:r>
                            <a:rPr lang="en-AU" b="0" i="1" smtClean="0">
                              <a:latin typeface="Cambria Math" panose="02040503050406030204" pitchFamily="18" charset="0"/>
                            </a:rPr>
                            <m:t>0</m:t>
                          </m:r>
                        </m:sup>
                      </m:sSup>
                      <m:r>
                        <a:rPr lang="en-AU" b="0" i="1" smtClean="0">
                          <a:latin typeface="Cambria Math" panose="02040503050406030204" pitchFamily="18" charset="0"/>
                        </a:rPr>
                        <m:t>𝑎𝑎</m:t>
                      </m:r>
                      <m:r>
                        <a:rPr lang="en-AU" b="0" i="1" smtClean="0">
                          <a:latin typeface="Cambria Math" panose="02040503050406030204" pitchFamily="18" charset="0"/>
                        </a:rPr>
                        <m:t>=</m:t>
                      </m:r>
                      <m:r>
                        <a:rPr lang="en-AU" b="0" i="1" smtClean="0">
                          <a:latin typeface="Cambria Math" panose="02040503050406030204" pitchFamily="18" charset="0"/>
                        </a:rPr>
                        <m:t>𝑏</m:t>
                      </m:r>
                      <m:r>
                        <a:rPr lang="en-AU" i="1">
                          <a:latin typeface="Cambria Math" panose="02040503050406030204" pitchFamily="18" charset="0"/>
                          <a:ea typeface="Cambria Math" panose="02040503050406030204" pitchFamily="18" charset="0"/>
                        </a:rPr>
                        <m:t>𝜀</m:t>
                      </m:r>
                      <m:r>
                        <a:rPr lang="en-AU" b="0" i="1" smtClean="0">
                          <a:latin typeface="Cambria Math" panose="02040503050406030204" pitchFamily="18" charset="0"/>
                          <a:ea typeface="Cambria Math" panose="02040503050406030204" pitchFamily="18" charset="0"/>
                        </a:rPr>
                        <m:t>𝑎𝑎</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𝑏𝑎𝑎</m:t>
                      </m:r>
                    </m:oMath>
                  </m:oMathPara>
                </a14:m>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304800" y="1219200"/>
                <a:ext cx="8748395" cy="4526280"/>
              </a:xfrm>
              <a:blipFill rotWithShape="1">
                <a:blip r:embed="rId1"/>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Title 1"/>
          <p:cNvSpPr>
            <a:spLocks noGrp="1"/>
          </p:cNvSpPr>
          <p:nvPr>
            <p:ph type="title"/>
          </p:nvPr>
        </p:nvSpPr>
        <p:spPr>
          <a:xfrm>
            <a:off x="457200" y="-228917"/>
            <a:ext cx="8229600" cy="1143000"/>
          </a:xfrm>
        </p:spPr>
        <p:txBody>
          <a:bodyPr/>
          <a:lstStyle/>
          <a:p>
            <a:pPr algn="r">
              <a:buClrTx/>
              <a:buSzTx/>
              <a:buFontTx/>
            </a:pPr>
            <a:r>
              <a:rPr lang="en-US" altLang="zh-CN" sz="3600" dirty="0">
                <a:solidFill>
                  <a:schemeClr val="bg1"/>
                </a:solidFill>
                <a:effectLst>
                  <a:outerShdw blurRad="38100" dist="38100" dir="2700000" algn="tl">
                    <a:srgbClr val="000000">
                      <a:alpha val="43137"/>
                    </a:srgbClr>
                  </a:outerShdw>
                </a:effectLst>
              </a:rPr>
              <a:t>基本概念</a:t>
            </a:r>
            <a:endParaRPr lang="en-US" altLang="zh-CN" sz="3600" dirty="0">
              <a:solidFill>
                <a:schemeClr val="bg1"/>
              </a:solidFill>
              <a:effectLst>
                <a:outerShdw blurRad="38100" dist="38100" dir="2700000" algn="tl">
                  <a:srgbClr val="000000">
                    <a:alpha val="43137"/>
                  </a:srgbClr>
                </a:outerShdw>
              </a:effectLs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zh-CN" altLang="en-US" dirty="0"/>
                  <a:t>集合</a:t>
                </a:r>
                <a14:m>
                  <m:oMath xmlns:m="http://schemas.openxmlformats.org/officeDocument/2006/math">
                    <m:r>
                      <a:rPr lang="en-AU" altLang="zh-CN" b="0" i="1" smtClean="0">
                        <a:latin typeface="Cambria Math" panose="02040503050406030204" pitchFamily="18" charset="0"/>
                      </a:rPr>
                      <m:t>𝐴</m:t>
                    </m:r>
                  </m:oMath>
                </a14:m>
                <a:r>
                  <a:rPr lang="zh-CN" altLang="en-US" dirty="0"/>
                  <a:t>和</a:t>
                </a:r>
                <a14:m>
                  <m:oMath xmlns:m="http://schemas.openxmlformats.org/officeDocument/2006/math">
                    <m:r>
                      <a:rPr lang="en-AU" altLang="zh-CN" b="0" i="1" dirty="0" smtClean="0">
                        <a:latin typeface="Cambria Math" panose="02040503050406030204" pitchFamily="18" charset="0"/>
                      </a:rPr>
                      <m:t>𝐵</m:t>
                    </m:r>
                  </m:oMath>
                </a14:m>
                <a:r>
                  <a:rPr lang="zh-CN" altLang="en-US" dirty="0"/>
                  <a:t>的连接，记为</a:t>
                </a:r>
                <a14:m>
                  <m:oMath xmlns:m="http://schemas.openxmlformats.org/officeDocument/2006/math">
                    <m:r>
                      <a:rPr lang="en-AU" altLang="zh-CN" b="0" i="1" smtClean="0">
                        <a:latin typeface="Cambria Math" panose="02040503050406030204" pitchFamily="18" charset="0"/>
                      </a:rPr>
                      <m:t>𝐴𝐵</m:t>
                    </m:r>
                  </m:oMath>
                </a14:m>
                <a:r>
                  <a:rPr lang="en-AU" dirty="0"/>
                  <a:t>,</a:t>
                </a:r>
                <a:r>
                  <a:rPr lang="zh-CN" altLang="en-US" dirty="0"/>
                  <a:t>定义为</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AU" altLang="zh-CN" b="0" i="1" smtClean="0">
                          <a:latin typeface="Cambria Math" panose="02040503050406030204" pitchFamily="18" charset="0"/>
                        </a:rPr>
                        <m:t>𝐴𝐵</m:t>
                      </m:r>
                      <m:r>
                        <a:rPr lang="en-AU" altLang="zh-CN" b="0" i="1" smtClean="0">
                          <a:latin typeface="Cambria Math" panose="02040503050406030204" pitchFamily="18" charset="0"/>
                        </a:rPr>
                        <m:t>={</m:t>
                      </m:r>
                      <m:r>
                        <a:rPr lang="en-AU" altLang="zh-CN" b="0" i="1" smtClean="0">
                          <a:latin typeface="Cambria Math" panose="02040503050406030204" pitchFamily="18" charset="0"/>
                        </a:rPr>
                        <m:t>𝑤</m:t>
                      </m:r>
                      <m:r>
                        <a:rPr lang="en-AU" altLang="zh-CN" b="0" i="1" smtClean="0">
                          <a:latin typeface="Cambria Math" panose="02040503050406030204" pitchFamily="18" charset="0"/>
                        </a:rPr>
                        <m:t>|</m:t>
                      </m:r>
                      <m:r>
                        <a:rPr lang="en-AU" altLang="zh-CN" b="0" i="1" smtClean="0">
                          <a:latin typeface="Cambria Math" panose="02040503050406030204" pitchFamily="18" charset="0"/>
                        </a:rPr>
                        <m:t>𝑤</m:t>
                      </m:r>
                      <m:r>
                        <a:rPr lang="en-AU" altLang="zh-CN" b="0" i="1" smtClean="0">
                          <a:latin typeface="Cambria Math" panose="02040503050406030204" pitchFamily="18" charset="0"/>
                        </a:rPr>
                        <m:t>=</m:t>
                      </m:r>
                      <m:r>
                        <a:rPr lang="en-AU" altLang="zh-CN" b="0" i="1" smtClean="0">
                          <a:latin typeface="Cambria Math" panose="02040503050406030204" pitchFamily="18" charset="0"/>
                        </a:rPr>
                        <m:t>𝑥𝑦</m:t>
                      </m:r>
                      <m:r>
                        <a:rPr lang="en-AU" altLang="zh-CN" b="0" i="1" smtClean="0">
                          <a:latin typeface="Cambria Math" panose="02040503050406030204" pitchFamily="18" charset="0"/>
                        </a:rPr>
                        <m:t>,</m:t>
                      </m:r>
                      <m:r>
                        <a:rPr lang="en-AU" altLang="zh-CN" b="0" i="1" smtClean="0">
                          <a:latin typeface="Cambria Math" panose="02040503050406030204" pitchFamily="18" charset="0"/>
                        </a:rPr>
                        <m:t>𝑥</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𝐴</m:t>
                      </m:r>
                      <m:r>
                        <a:rPr lang="zh-CN" altLang="en-US" i="1">
                          <a:latin typeface="Cambria Math" panose="02040503050406030204" pitchFamily="18" charset="0"/>
                          <a:ea typeface="Cambria Math" panose="02040503050406030204" pitchFamily="18" charset="0"/>
                        </a:rPr>
                        <m:t>且</m:t>
                      </m:r>
                      <m:r>
                        <a:rPr lang="en-AU" altLang="zh-CN" b="0" i="1" smtClean="0">
                          <a:latin typeface="Cambria Math" panose="02040503050406030204" pitchFamily="18" charset="0"/>
                          <a:ea typeface="Cambria Math" panose="02040503050406030204" pitchFamily="18" charset="0"/>
                        </a:rPr>
                        <m:t>𝑦</m:t>
                      </m:r>
                      <m:r>
                        <a:rPr lang="en-AU" altLang="zh-CN" i="1">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𝐵</m:t>
                      </m:r>
                      <m:r>
                        <a:rPr lang="en-AU" altLang="zh-CN" b="0" i="1" smtClean="0">
                          <a:latin typeface="Cambria Math" panose="02040503050406030204" pitchFamily="18" charset="0"/>
                        </a:rPr>
                        <m:t>}</m:t>
                      </m:r>
                    </m:oMath>
                  </m:oMathPara>
                </a14:m>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Title 1"/>
          <p:cNvSpPr>
            <a:spLocks noGrp="1"/>
          </p:cNvSpPr>
          <p:nvPr>
            <p:ph type="title"/>
          </p:nvPr>
        </p:nvSpPr>
        <p:spPr>
          <a:xfrm>
            <a:off x="457200" y="-228917"/>
            <a:ext cx="8229600" cy="1143000"/>
          </a:xfrm>
        </p:spPr>
        <p:txBody>
          <a:bodyPr/>
          <a:lstStyle/>
          <a:p>
            <a:pPr algn="r">
              <a:buClrTx/>
              <a:buSzTx/>
              <a:buFontTx/>
            </a:pPr>
            <a:r>
              <a:rPr lang="en-US" altLang="zh-CN" sz="3600" dirty="0">
                <a:solidFill>
                  <a:schemeClr val="bg1"/>
                </a:solidFill>
                <a:effectLst>
                  <a:outerShdw blurRad="38100" dist="38100" dir="2700000" algn="tl">
                    <a:srgbClr val="000000">
                      <a:alpha val="43137"/>
                    </a:srgbClr>
                  </a:outerShdw>
                </a:effectLst>
              </a:rPr>
              <a:t>基本概念</a:t>
            </a:r>
            <a:endParaRPr lang="en-US" altLang="zh-CN" sz="3600" dirty="0">
              <a:solidFill>
                <a:schemeClr val="bg1"/>
              </a:solidFill>
              <a:effectLst>
                <a:outerShdw blurRad="38100" dist="38100" dir="2700000" algn="tl">
                  <a:srgbClr val="000000">
                    <a:alpha val="43137"/>
                  </a:srgbClr>
                </a:outerShdw>
              </a:effectLs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295400"/>
                <a:ext cx="8229600" cy="4525963"/>
              </a:xfrm>
            </p:spPr>
            <p:txBody>
              <a:bodyPr/>
              <a:lstStyle/>
              <a:p>
                <a:r>
                  <a:rPr lang="zh-CN" altLang="en-US" dirty="0"/>
                  <a:t>集合</a:t>
                </a:r>
                <a14:m>
                  <m:oMath xmlns:m="http://schemas.openxmlformats.org/officeDocument/2006/math">
                    <m:r>
                      <a:rPr lang="en-AU" altLang="zh-CN" b="0" i="1" smtClean="0">
                        <a:latin typeface="Cambria Math" panose="02040503050406030204" pitchFamily="18" charset="0"/>
                      </a:rPr>
                      <m:t>𝐴</m:t>
                    </m:r>
                  </m:oMath>
                </a14:m>
                <a:r>
                  <a:rPr lang="zh-CN" altLang="en-US" dirty="0"/>
                  <a:t>的</a:t>
                </a:r>
                <a14:m>
                  <m:oMath xmlns:m="http://schemas.openxmlformats.org/officeDocument/2006/math">
                    <m:r>
                      <a:rPr lang="en-AU" altLang="zh-CN" b="0" i="1" dirty="0" smtClean="0">
                        <a:latin typeface="Cambria Math" panose="02040503050406030204" pitchFamily="18" charset="0"/>
                      </a:rPr>
                      <m:t>𝑛</m:t>
                    </m:r>
                  </m:oMath>
                </a14:m>
                <a:r>
                  <a:rPr lang="zh-CN" altLang="en-US" dirty="0"/>
                  <a:t>次幂（</a:t>
                </a:r>
                <a14:m>
                  <m:oMath xmlns:m="http://schemas.openxmlformats.org/officeDocument/2006/math">
                    <m:r>
                      <a:rPr lang="en-AU" altLang="zh-CN" i="1">
                        <a:latin typeface="Cambria Math" panose="02040503050406030204" pitchFamily="18" charset="0"/>
                      </a:rPr>
                      <m:t>𝑛</m:t>
                    </m:r>
                    <m:r>
                      <a:rPr lang="en-AU" altLang="zh-CN" i="1">
                        <a:latin typeface="Cambria Math" panose="02040503050406030204" pitchFamily="18" charset="0"/>
                        <a:ea typeface="Cambria Math" panose="02040503050406030204" pitchFamily="18" charset="0"/>
                      </a:rPr>
                      <m:t>≥</m:t>
                    </m:r>
                    <m:r>
                      <a:rPr lang="en-AU" altLang="zh-CN" i="1">
                        <a:latin typeface="Cambria Math" panose="02040503050406030204" pitchFamily="18" charset="0"/>
                        <a:ea typeface="Cambria Math" panose="02040503050406030204" pitchFamily="18" charset="0"/>
                      </a:rPr>
                      <m:t>0</m:t>
                    </m:r>
                  </m:oMath>
                </a14:m>
                <a:r>
                  <a:rPr lang="zh-CN" altLang="en-US" dirty="0"/>
                  <a:t>） ，递归定义为</a:t>
                </a:r>
                <a:endParaRPr lang="en-AU" altLang="zh-CN" dirty="0"/>
              </a:p>
              <a:p>
                <a:pPr marL="0" indent="0">
                  <a:buNone/>
                </a:pPr>
                <a14:m>
                  <m:oMathPara xmlns:m="http://schemas.openxmlformats.org/officeDocument/2006/math">
                    <m:oMathParaPr>
                      <m:jc m:val="centerGroup"/>
                    </m:oMathParaPr>
                    <m:oMath xmlns:m="http://schemas.openxmlformats.org/officeDocument/2006/math">
                      <m:sSup>
                        <m:sSupPr>
                          <m:ctrlPr>
                            <a:rPr lang="en-AU" b="0" i="1" smtClean="0">
                              <a:latin typeface="Cambria Math" panose="02040503050406030204" pitchFamily="18" charset="0"/>
                            </a:rPr>
                          </m:ctrlPr>
                        </m:sSupPr>
                        <m:e>
                          <m:r>
                            <a:rPr lang="en-AU" b="0" i="1" smtClean="0">
                              <a:latin typeface="Cambria Math" panose="02040503050406030204" pitchFamily="18" charset="0"/>
                            </a:rPr>
                            <m:t>𝐴</m:t>
                          </m:r>
                        </m:e>
                        <m:sup>
                          <m:r>
                            <a:rPr lang="en-AU" b="0" i="1" smtClean="0">
                              <a:latin typeface="Cambria Math" panose="02040503050406030204" pitchFamily="18" charset="0"/>
                            </a:rPr>
                            <m:t>𝑛</m:t>
                          </m:r>
                        </m:sup>
                      </m:sSup>
                      <m:r>
                        <a:rPr lang="en-AU" b="0" i="1" smtClean="0">
                          <a:latin typeface="Cambria Math" panose="02040503050406030204" pitchFamily="18" charset="0"/>
                        </a:rPr>
                        <m:t>=</m:t>
                      </m:r>
                      <m:d>
                        <m:dPr>
                          <m:begChr m:val="{"/>
                          <m:endChr m:val=""/>
                          <m:ctrlPr>
                            <a:rPr lang="en-AU" i="1" smtClean="0">
                              <a:latin typeface="Cambria Math" panose="02040503050406030204" pitchFamily="18" charset="0"/>
                            </a:rPr>
                          </m:ctrlPr>
                        </m:dPr>
                        <m:e>
                          <m:eqArr>
                            <m:eqArrPr>
                              <m:ctrlPr>
                                <a:rPr lang="en-AU" i="1" smtClean="0">
                                  <a:latin typeface="Cambria Math" panose="02040503050406030204" pitchFamily="18" charset="0"/>
                                </a:rPr>
                              </m:ctrlPr>
                            </m:eqArrPr>
                            <m:e>
                              <m:r>
                                <a:rPr lang="en-AU" b="0" i="1" smtClean="0">
                                  <a:latin typeface="Cambria Math" panose="02040503050406030204" pitchFamily="18" charset="0"/>
                                </a:rPr>
                                <m:t>{</m:t>
                              </m:r>
                              <m:r>
                                <a:rPr lang="en-AU" i="1">
                                  <a:latin typeface="Cambria Math" panose="02040503050406030204" pitchFamily="18" charset="0"/>
                                  <a:ea typeface="Cambria Math" panose="02040503050406030204" pitchFamily="18" charset="0"/>
                                </a:rPr>
                                <m:t>𝜀</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rPr>
                                <m:t>,  </m:t>
                              </m:r>
                              <m:r>
                                <a:rPr lang="en-AU" b="0" i="1" smtClean="0">
                                  <a:latin typeface="Cambria Math" panose="02040503050406030204" pitchFamily="18" charset="0"/>
                                </a:rPr>
                                <m:t>𝑛</m:t>
                              </m:r>
                              <m:r>
                                <a:rPr lang="en-AU" b="0" i="1" smtClean="0">
                                  <a:latin typeface="Cambria Math" panose="02040503050406030204" pitchFamily="18" charset="0"/>
                                </a:rPr>
                                <m:t>=</m:t>
                              </m:r>
                              <m:r>
                                <a:rPr lang="en-AU" b="0" i="1" smtClean="0">
                                  <a:latin typeface="Cambria Math" panose="02040503050406030204" pitchFamily="18" charset="0"/>
                                </a:rPr>
                                <m:t>0</m:t>
                              </m:r>
                            </m:e>
                            <m:e>
                              <m:sSup>
                                <m:sSupPr>
                                  <m:ctrlPr>
                                    <a:rPr lang="en-AU" i="1">
                                      <a:latin typeface="Cambria Math" panose="02040503050406030204" pitchFamily="18" charset="0"/>
                                    </a:rPr>
                                  </m:ctrlPr>
                                </m:sSupPr>
                                <m:e>
                                  <m:r>
                                    <a:rPr lang="en-AU" b="0" i="1" smtClean="0">
                                      <a:latin typeface="Cambria Math" panose="02040503050406030204" pitchFamily="18" charset="0"/>
                                    </a:rPr>
                                    <m:t>𝐴</m:t>
                                  </m:r>
                                </m:e>
                                <m:sup>
                                  <m:r>
                                    <a:rPr lang="en-AU" i="1">
                                      <a:latin typeface="Cambria Math" panose="02040503050406030204" pitchFamily="18" charset="0"/>
                                    </a:rPr>
                                    <m:t>𝑛</m:t>
                                  </m:r>
                                  <m:r>
                                    <a:rPr lang="en-AU" b="0" i="1" smtClean="0">
                                      <a:latin typeface="Cambria Math" panose="02040503050406030204" pitchFamily="18" charset="0"/>
                                    </a:rPr>
                                    <m:t>−</m:t>
                                  </m:r>
                                  <m:r>
                                    <a:rPr lang="en-AU" b="0" i="1" smtClean="0">
                                      <a:latin typeface="Cambria Math" panose="02040503050406030204" pitchFamily="18" charset="0"/>
                                    </a:rPr>
                                    <m:t>1</m:t>
                                  </m:r>
                                </m:sup>
                              </m:sSup>
                              <m:r>
                                <a:rPr lang="en-AU" b="0" i="1" smtClean="0">
                                  <a:latin typeface="Cambria Math" panose="02040503050406030204" pitchFamily="18" charset="0"/>
                                </a:rPr>
                                <m:t>𝐴</m:t>
                              </m:r>
                              <m:r>
                                <a:rPr lang="en-AU" b="0" i="1" smtClean="0">
                                  <a:latin typeface="Cambria Math" panose="02040503050406030204" pitchFamily="18" charset="0"/>
                                </a:rPr>
                                <m:t>, </m:t>
                              </m:r>
                              <m:r>
                                <a:rPr lang="en-AU" b="0" i="1" smtClean="0">
                                  <a:latin typeface="Cambria Math" panose="02040503050406030204" pitchFamily="18" charset="0"/>
                                </a:rPr>
                                <m:t>𝑛</m:t>
                              </m:r>
                              <m:r>
                                <a:rPr lang="en-AU" altLang="zh-CN" i="1">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1</m:t>
                              </m:r>
                            </m:e>
                          </m:eqArr>
                        </m:e>
                      </m:d>
                    </m:oMath>
                  </m:oMathPara>
                </a14:m>
                <a:endParaRPr lang="en-AU" dirty="0"/>
              </a:p>
              <a:p>
                <a:pPr marL="0" indent="0">
                  <a:buNone/>
                </a:pPr>
                <a:r>
                  <a:rPr lang="zh-CN" altLang="en-US" dirty="0"/>
                  <a:t>那么，若</a:t>
                </a:r>
                <a14:m>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Σ</m:t>
                    </m:r>
                  </m:oMath>
                </a14:m>
                <a:r>
                  <a:rPr lang="zh-CN" altLang="en-US" dirty="0"/>
                  <a:t>为字母表，则</a:t>
                </a:r>
                <a14:m>
                  <m:oMath xmlns:m="http://schemas.openxmlformats.org/officeDocument/2006/math">
                    <m:sSup>
                      <m:sSupPr>
                        <m:ctrlPr>
                          <a:rPr lang="en-US" altLang="zh-CN" i="1" smtClean="0">
                            <a:latin typeface="Cambria Math" panose="02040503050406030204" pitchFamily="18" charset="0"/>
                          </a:rPr>
                        </m:ctrlPr>
                      </m:sSupPr>
                      <m:e>
                        <m:r>
                          <m:rPr>
                            <m:sty m:val="p"/>
                          </m:rPr>
                          <a:rPr lang="el-GR" altLang="zh-CN" i="1" smtClean="0">
                            <a:latin typeface="Cambria Math" panose="02040503050406030204" pitchFamily="18" charset="0"/>
                            <a:ea typeface="Cambria Math" panose="02040503050406030204" pitchFamily="18" charset="0"/>
                          </a:rPr>
                          <m:t>Σ</m:t>
                        </m:r>
                      </m:e>
                      <m:sup>
                        <m:r>
                          <a:rPr lang="en-AU" altLang="zh-CN" b="0" i="1" smtClean="0">
                            <a:latin typeface="Cambria Math" panose="02040503050406030204" pitchFamily="18" charset="0"/>
                          </a:rPr>
                          <m:t>𝑛</m:t>
                        </m:r>
                      </m:sup>
                    </m:sSup>
                  </m:oMath>
                </a14:m>
                <a:r>
                  <a:rPr lang="zh-CN" altLang="en-US" dirty="0"/>
                  <a:t>为</a:t>
                </a:r>
                <a14:m>
                  <m:oMath xmlns:m="http://schemas.openxmlformats.org/officeDocument/2006/math">
                    <m:r>
                      <m:rPr>
                        <m:sty m:val="p"/>
                      </m:rPr>
                      <a:rPr lang="el-GR" altLang="zh-CN" i="1">
                        <a:latin typeface="Cambria Math" panose="02040503050406030204" pitchFamily="18" charset="0"/>
                        <a:ea typeface="Cambria Math" panose="02040503050406030204" pitchFamily="18" charset="0"/>
                      </a:rPr>
                      <m:t>Σ</m:t>
                    </m:r>
                  </m:oMath>
                </a14:m>
                <a:r>
                  <a:rPr lang="zh-CN" altLang="en-US" dirty="0"/>
                  <a:t>上长度为</a:t>
                </a:r>
                <a14:m>
                  <m:oMath xmlns:m="http://schemas.openxmlformats.org/officeDocument/2006/math">
                    <m:r>
                      <a:rPr lang="en-AU" altLang="zh-CN" b="0" i="1" smtClean="0">
                        <a:latin typeface="Cambria Math" panose="02040503050406030204" pitchFamily="18" charset="0"/>
                      </a:rPr>
                      <m:t>𝑛</m:t>
                    </m:r>
                  </m:oMath>
                </a14:m>
                <a:r>
                  <a:rPr lang="zh-CN" altLang="en-US" dirty="0"/>
                  <a:t>的字符串的集合。</a:t>
                </a:r>
                <a:endParaRPr lang="en-AU" altLang="zh-CN" dirty="0"/>
              </a:p>
              <a:p>
                <a:pPr marL="0" indent="0">
                  <a:buNone/>
                </a:pPr>
                <a:r>
                  <a:rPr lang="zh-CN" altLang="en-US" dirty="0"/>
                  <a:t>如果</a:t>
                </a:r>
                <a14:m>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Σ</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0</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1</m:t>
                    </m:r>
                    <m:r>
                      <a:rPr lang="en-AU" altLang="zh-CN" b="0" i="1" smtClean="0">
                        <a:latin typeface="Cambria Math" panose="02040503050406030204" pitchFamily="18" charset="0"/>
                        <a:ea typeface="Cambria Math" panose="02040503050406030204" pitchFamily="18" charset="0"/>
                      </a:rPr>
                      <m:t>}</m:t>
                    </m:r>
                  </m:oMath>
                </a14:m>
                <a:r>
                  <a:rPr lang="en-AU" dirty="0"/>
                  <a:t>,</a:t>
                </a:r>
                <a:r>
                  <a:rPr lang="zh-CN" altLang="en-US" dirty="0"/>
                  <a:t>有</a:t>
                </a:r>
                <a:endParaRPr lang="en-AU" altLang="zh-CN" dirty="0"/>
              </a:p>
              <a:p>
                <a:pPr marL="0" indent="0">
                  <a:buNone/>
                </a:pPr>
                <a14:m>
                  <m:oMath xmlns:m="http://schemas.openxmlformats.org/officeDocument/2006/math">
                    <m:sSup>
                      <m:sSupPr>
                        <m:ctrlPr>
                          <a:rPr lang="en-US" altLang="zh-CN" sz="2400" i="1" smtClean="0">
                            <a:latin typeface="Cambria Math" panose="02040503050406030204" pitchFamily="18" charset="0"/>
                          </a:rPr>
                        </m:ctrlPr>
                      </m:sSupPr>
                      <m:e>
                        <m:r>
                          <m:rPr>
                            <m:sty m:val="p"/>
                          </m:rPr>
                          <a:rPr lang="el-GR" altLang="zh-CN" sz="2400" i="1" smtClean="0">
                            <a:latin typeface="Cambria Math" panose="02040503050406030204" pitchFamily="18" charset="0"/>
                            <a:ea typeface="Cambria Math" panose="02040503050406030204" pitchFamily="18" charset="0"/>
                          </a:rPr>
                          <m:t>Σ</m:t>
                        </m:r>
                      </m:e>
                      <m:sup>
                        <m:r>
                          <a:rPr lang="en-AU" altLang="zh-CN" sz="2400" b="0" i="1" smtClean="0">
                            <a:latin typeface="Cambria Math" panose="02040503050406030204" pitchFamily="18" charset="0"/>
                            <a:ea typeface="Cambria Math" panose="02040503050406030204" pitchFamily="18" charset="0"/>
                          </a:rPr>
                          <m:t>0</m:t>
                        </m:r>
                      </m:sup>
                    </m:sSup>
                    <m:r>
                      <a:rPr lang="en-AU" altLang="zh-CN" sz="2400" b="0" i="1" smtClean="0">
                        <a:latin typeface="Cambria Math" panose="02040503050406030204" pitchFamily="18" charset="0"/>
                      </a:rPr>
                      <m:t>={</m:t>
                    </m:r>
                    <m:r>
                      <a:rPr lang="en-AU" sz="2400" i="1">
                        <a:latin typeface="Cambria Math" panose="02040503050406030204" pitchFamily="18" charset="0"/>
                        <a:ea typeface="Cambria Math" panose="02040503050406030204" pitchFamily="18" charset="0"/>
                      </a:rPr>
                      <m:t>𝜀</m:t>
                    </m:r>
                    <m:r>
                      <a:rPr lang="en-AU" altLang="zh-CN" sz="2400" b="0" i="1" smtClean="0">
                        <a:latin typeface="Cambria Math" panose="02040503050406030204" pitchFamily="18" charset="0"/>
                      </a:rPr>
                      <m:t>}</m:t>
                    </m:r>
                  </m:oMath>
                </a14:m>
                <a:r>
                  <a:rPr lang="zh-CN" altLang="en-US" sz="2400" dirty="0"/>
                  <a:t>，</a:t>
                </a:r>
                <a14:m>
                  <m:oMath xmlns:m="http://schemas.openxmlformats.org/officeDocument/2006/math">
                    <m:sSup>
                      <m:sSupPr>
                        <m:ctrlPr>
                          <a:rPr lang="en-US" altLang="zh-CN" sz="2400" i="1">
                            <a:latin typeface="Cambria Math" panose="02040503050406030204" pitchFamily="18" charset="0"/>
                          </a:rPr>
                        </m:ctrlPr>
                      </m:sSupPr>
                      <m:e>
                        <m:r>
                          <m:rPr>
                            <m:sty m:val="p"/>
                          </m:rPr>
                          <a:rPr lang="el-GR" altLang="zh-CN" sz="2400" i="1">
                            <a:latin typeface="Cambria Math" panose="02040503050406030204" pitchFamily="18" charset="0"/>
                            <a:ea typeface="Cambria Math" panose="02040503050406030204" pitchFamily="18" charset="0"/>
                          </a:rPr>
                          <m:t>Σ</m:t>
                        </m:r>
                      </m:e>
                      <m:sup>
                        <m:r>
                          <a:rPr lang="en-AU" altLang="zh-CN" sz="2400" b="0" i="1" smtClean="0">
                            <a:latin typeface="Cambria Math" panose="02040503050406030204" pitchFamily="18" charset="0"/>
                            <a:ea typeface="Cambria Math" panose="02040503050406030204" pitchFamily="18" charset="0"/>
                          </a:rPr>
                          <m:t>1</m:t>
                        </m:r>
                      </m:sup>
                    </m:sSup>
                    <m:r>
                      <a:rPr lang="en-AU" altLang="zh-CN" sz="2400" b="0" i="1" smtClean="0">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0</m:t>
                    </m:r>
                    <m:r>
                      <a:rPr lang="zh-CN" altLang="en-US"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1</m:t>
                    </m:r>
                    <m:r>
                      <a:rPr lang="en-AU" altLang="zh-CN" sz="2400" b="0" i="1" smtClean="0">
                        <a:latin typeface="Cambria Math" panose="02040503050406030204" pitchFamily="18" charset="0"/>
                        <a:ea typeface="Cambria Math" panose="02040503050406030204" pitchFamily="18" charset="0"/>
                      </a:rPr>
                      <m:t>}</m:t>
                    </m:r>
                  </m:oMath>
                </a14:m>
                <a:r>
                  <a:rPr lang="zh-CN" altLang="en-US" sz="2400" dirty="0"/>
                  <a:t>，</a:t>
                </a:r>
                <a14:m>
                  <m:oMath xmlns:m="http://schemas.openxmlformats.org/officeDocument/2006/math">
                    <m:sSup>
                      <m:sSupPr>
                        <m:ctrlPr>
                          <a:rPr lang="en-US" altLang="zh-CN" sz="2400" i="1">
                            <a:latin typeface="Cambria Math" panose="02040503050406030204" pitchFamily="18" charset="0"/>
                          </a:rPr>
                        </m:ctrlPr>
                      </m:sSupPr>
                      <m:e>
                        <m:r>
                          <m:rPr>
                            <m:sty m:val="p"/>
                          </m:rPr>
                          <a:rPr lang="el-GR" altLang="zh-CN" sz="2400" i="1">
                            <a:latin typeface="Cambria Math" panose="02040503050406030204" pitchFamily="18" charset="0"/>
                            <a:ea typeface="Cambria Math" panose="02040503050406030204" pitchFamily="18" charset="0"/>
                          </a:rPr>
                          <m:t>Σ</m:t>
                        </m:r>
                      </m:e>
                      <m:sup>
                        <m:r>
                          <a:rPr lang="en-AU" altLang="zh-CN" sz="2400" b="0" i="1" smtClean="0">
                            <a:latin typeface="Cambria Math" panose="02040503050406030204" pitchFamily="18" charset="0"/>
                            <a:ea typeface="Cambria Math" panose="02040503050406030204" pitchFamily="18" charset="0"/>
                          </a:rPr>
                          <m:t>2</m:t>
                        </m:r>
                      </m:sup>
                    </m:sSup>
                    <m:r>
                      <a:rPr lang="en-AU" altLang="zh-CN" sz="2400" b="0" i="1" smtClean="0">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00</m:t>
                    </m:r>
                    <m:r>
                      <a:rPr lang="zh-CN" altLang="en-US"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01</m:t>
                    </m:r>
                    <m:r>
                      <a:rPr lang="zh-CN" altLang="en-US"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10</m:t>
                    </m:r>
                    <m:r>
                      <a:rPr lang="zh-CN" altLang="en-US"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11</m:t>
                    </m:r>
                    <m:r>
                      <a:rPr lang="en-AU" altLang="zh-CN" sz="2400" b="0" i="1" smtClean="0">
                        <a:latin typeface="Cambria Math" panose="02040503050406030204" pitchFamily="18" charset="0"/>
                        <a:ea typeface="Cambria Math" panose="02040503050406030204" pitchFamily="18" charset="0"/>
                      </a:rPr>
                      <m:t>}</m:t>
                    </m:r>
                  </m:oMath>
                </a14:m>
                <a:endParaRPr lang="en-AU" sz="2400" dirty="0"/>
              </a:p>
              <a:p>
                <a:pPr marL="0" indent="0">
                  <a:buNone/>
                </a:pPr>
                <a14:m>
                  <m:oMath xmlns:m="http://schemas.openxmlformats.org/officeDocument/2006/math">
                    <m:sSup>
                      <m:sSupPr>
                        <m:ctrlPr>
                          <a:rPr lang="en-US" altLang="zh-CN" sz="2400" i="1" smtClean="0">
                            <a:latin typeface="Cambria Math" panose="02040503050406030204" pitchFamily="18" charset="0"/>
                          </a:rPr>
                        </m:ctrlPr>
                      </m:sSupPr>
                      <m:e>
                        <m:r>
                          <m:rPr>
                            <m:sty m:val="p"/>
                          </m:rPr>
                          <a:rPr lang="el-GR" altLang="zh-CN" sz="2400" i="1">
                            <a:latin typeface="Cambria Math" panose="02040503050406030204" pitchFamily="18" charset="0"/>
                            <a:ea typeface="Cambria Math" panose="02040503050406030204" pitchFamily="18" charset="0"/>
                          </a:rPr>
                          <m:t>Σ</m:t>
                        </m:r>
                      </m:e>
                      <m:sup>
                        <m:r>
                          <a:rPr lang="en-AU" altLang="zh-CN" sz="2400" b="0" i="1" smtClean="0">
                            <a:latin typeface="Cambria Math" panose="02040503050406030204" pitchFamily="18" charset="0"/>
                            <a:ea typeface="Cambria Math" panose="02040503050406030204" pitchFamily="18" charset="0"/>
                          </a:rPr>
                          <m:t>3</m:t>
                        </m:r>
                      </m:sup>
                    </m:sSup>
                    <m:r>
                      <a:rPr lang="en-AU" altLang="zh-CN" sz="2400" b="0" i="1" smtClean="0">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000</m:t>
                    </m:r>
                    <m:r>
                      <a:rPr lang="zh-CN" altLang="en-US"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001</m:t>
                    </m:r>
                    <m:r>
                      <a:rPr lang="zh-CN" altLang="en-US"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010</m:t>
                    </m:r>
                    <m:r>
                      <a:rPr lang="zh-CN" altLang="en-US"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011</m:t>
                    </m:r>
                    <m:r>
                      <a:rPr lang="zh-CN" altLang="en-US" sz="2400" i="1">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100</m:t>
                    </m:r>
                    <m:r>
                      <a:rPr lang="en-AU" altLang="zh-CN" sz="2400" b="0" i="1" smtClean="0">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101</m:t>
                    </m:r>
                    <m:r>
                      <a:rPr lang="en-AU" altLang="zh-CN" sz="2400" b="0" i="1" smtClean="0">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110</m:t>
                    </m:r>
                    <m:r>
                      <a:rPr lang="en-AU" altLang="zh-CN" sz="2400" b="0" i="1" smtClean="0">
                        <a:latin typeface="Cambria Math" panose="02040503050406030204" pitchFamily="18" charset="0"/>
                        <a:ea typeface="Cambria Math" panose="02040503050406030204" pitchFamily="18" charset="0"/>
                      </a:rPr>
                      <m:t>,</m:t>
                    </m:r>
                    <m:r>
                      <a:rPr lang="en-AU" altLang="zh-CN" sz="2400" b="0" i="1" smtClean="0">
                        <a:latin typeface="Cambria Math" panose="02040503050406030204" pitchFamily="18" charset="0"/>
                        <a:ea typeface="Cambria Math" panose="02040503050406030204" pitchFamily="18" charset="0"/>
                      </a:rPr>
                      <m:t>111</m:t>
                    </m:r>
                    <m:r>
                      <a:rPr lang="en-AU" altLang="zh-CN" sz="2400" b="0" i="1" smtClean="0">
                        <a:latin typeface="Cambria Math" panose="02040503050406030204" pitchFamily="18" charset="0"/>
                        <a:ea typeface="Cambria Math" panose="02040503050406030204" pitchFamily="18" charset="0"/>
                      </a:rPr>
                      <m:t>}</m:t>
                    </m:r>
                  </m:oMath>
                </a14:m>
                <a:r>
                  <a:rPr lang="en-AU" sz="2400" dirty="0"/>
                  <a:t>,…</a:t>
                </a:r>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295400"/>
                <a:ext cx="8229600" cy="4525963"/>
              </a:xfrm>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Title 1"/>
          <p:cNvSpPr>
            <a:spLocks noGrp="1"/>
          </p:cNvSpPr>
          <p:nvPr>
            <p:ph type="title"/>
          </p:nvPr>
        </p:nvSpPr>
        <p:spPr>
          <a:xfrm>
            <a:off x="457200" y="-228917"/>
            <a:ext cx="8229600" cy="1143000"/>
          </a:xfrm>
        </p:spPr>
        <p:txBody>
          <a:bodyPr/>
          <a:lstStyle/>
          <a:p>
            <a:pPr algn="r">
              <a:buClrTx/>
              <a:buSzTx/>
              <a:buFontTx/>
            </a:pPr>
            <a:r>
              <a:rPr lang="en-US" altLang="zh-CN" sz="3600" dirty="0">
                <a:solidFill>
                  <a:schemeClr val="bg1"/>
                </a:solidFill>
                <a:effectLst>
                  <a:outerShdw blurRad="38100" dist="38100" dir="2700000" algn="tl">
                    <a:srgbClr val="000000">
                      <a:alpha val="43137"/>
                    </a:srgbClr>
                  </a:outerShdw>
                </a:effectLst>
              </a:rPr>
              <a:t>基本概念</a:t>
            </a:r>
            <a:endParaRPr lang="en-US" altLang="zh-CN" sz="3600" dirty="0">
              <a:solidFill>
                <a:schemeClr val="bg1"/>
              </a:solidFill>
              <a:effectLst>
                <a:outerShdw blurRad="38100" dist="38100" dir="2700000" algn="tl">
                  <a:srgbClr val="000000">
                    <a:alpha val="43137"/>
                  </a:srgbClr>
                </a:outerShdw>
              </a:effectLs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990600" y="1371600"/>
                <a:ext cx="8229600" cy="4525963"/>
              </a:xfrm>
            </p:spPr>
            <p:txBody>
              <a:bodyPr/>
              <a:lstStyle/>
              <a:p>
                <a:r>
                  <a:rPr lang="zh-CN" altLang="en-US" dirty="0"/>
                  <a:t>克林闭包</a:t>
                </a:r>
                <a:r>
                  <a:rPr lang="en-AU" altLang="zh-CN" dirty="0"/>
                  <a:t>(</a:t>
                </a:r>
                <a:r>
                  <a:rPr lang="en-AU" altLang="zh-CN" dirty="0">
                    <a:latin typeface="Times New Roman" panose="02020603050405020304" pitchFamily="18" charset="0"/>
                    <a:cs typeface="Times New Roman" panose="02020603050405020304" pitchFamily="18" charset="0"/>
                  </a:rPr>
                  <a:t>Kleene Closure</a:t>
                </a:r>
                <a:r>
                  <a:rPr lang="en-AU" altLang="zh-CN" dirty="0"/>
                  <a:t>):</a:t>
                </a:r>
                <a:endParaRPr lang="en-AU" altLang="zh-CN" dirty="0"/>
              </a:p>
              <a:p>
                <a:pPr marL="0" indent="0">
                  <a:buNone/>
                </a:pPr>
                <a14:m>
                  <m:oMathPara xmlns:m="http://schemas.openxmlformats.org/officeDocument/2006/math">
                    <m:oMathParaPr>
                      <m:jc m:val="centerGroup"/>
                    </m:oMathParaPr>
                    <m:oMath xmlns:m="http://schemas.openxmlformats.org/officeDocument/2006/math">
                      <m:sSup>
                        <m:sSupPr>
                          <m:ctrlPr>
                            <a:rPr lang="en-AU" altLang="zh-CN" i="1" smtClean="0">
                              <a:latin typeface="Cambria Math" panose="02040503050406030204" pitchFamily="18" charset="0"/>
                            </a:rPr>
                          </m:ctrlPr>
                        </m:sSupPr>
                        <m:e>
                          <m:r>
                            <m:rPr>
                              <m:sty m:val="p"/>
                            </m:rPr>
                            <a:rPr lang="el-GR" altLang="zh-CN" i="1" smtClean="0">
                              <a:latin typeface="Cambria Math" panose="02040503050406030204" pitchFamily="18" charset="0"/>
                              <a:ea typeface="Cambria Math" panose="02040503050406030204" pitchFamily="18" charset="0"/>
                            </a:rPr>
                            <m:t>Σ</m:t>
                          </m:r>
                        </m:e>
                        <m:sup>
                          <m:r>
                            <a:rPr lang="en-AU" altLang="zh-CN" b="0" i="1" smtClean="0">
                              <a:latin typeface="Cambria Math" panose="02040503050406030204" pitchFamily="18" charset="0"/>
                            </a:rPr>
                            <m:t>∗</m:t>
                          </m:r>
                        </m:sup>
                      </m:sSup>
                      <m:r>
                        <a:rPr lang="en-AU" altLang="zh-CN" b="0" i="1" smtClean="0">
                          <a:latin typeface="Cambria Math" panose="02040503050406030204" pitchFamily="18" charset="0"/>
                        </a:rPr>
                        <m:t>=</m:t>
                      </m:r>
                      <m:nary>
                        <m:naryPr>
                          <m:chr m:val="⋃"/>
                          <m:ctrlPr>
                            <a:rPr lang="en-AU" altLang="zh-CN" b="0" i="1" smtClean="0">
                              <a:latin typeface="Cambria Math" panose="02040503050406030204" pitchFamily="18" charset="0"/>
                            </a:rPr>
                          </m:ctrlPr>
                        </m:naryPr>
                        <m:sub>
                          <m:r>
                            <m:rPr>
                              <m:brk m:alnAt="23"/>
                            </m:rPr>
                            <a:rPr lang="en-AU" altLang="zh-CN" b="0" i="1" smtClean="0">
                              <a:latin typeface="Cambria Math" panose="02040503050406030204" pitchFamily="18" charset="0"/>
                            </a:rPr>
                            <m:t>𝑖</m:t>
                          </m:r>
                          <m:r>
                            <a:rPr lang="en-AU" altLang="zh-CN" b="0" i="1" smtClean="0">
                              <a:latin typeface="Cambria Math" panose="02040503050406030204" pitchFamily="18" charset="0"/>
                            </a:rPr>
                            <m:t>=</m:t>
                          </m:r>
                          <m:r>
                            <a:rPr lang="en-AU" altLang="zh-CN" b="0" i="1" smtClean="0">
                              <a:latin typeface="Cambria Math" panose="02040503050406030204" pitchFamily="18" charset="0"/>
                            </a:rPr>
                            <m:t>0</m:t>
                          </m:r>
                        </m:sub>
                        <m:sup>
                          <m:r>
                            <a:rPr lang="en-AU" altLang="zh-CN" i="1">
                              <a:latin typeface="Cambria Math" panose="02040503050406030204" pitchFamily="18" charset="0"/>
                              <a:ea typeface="Cambria Math" panose="02040503050406030204" pitchFamily="18" charset="0"/>
                            </a:rPr>
                            <m:t>∞</m:t>
                          </m:r>
                        </m:sup>
                        <m:e>
                          <m:sSup>
                            <m:sSupPr>
                              <m:ctrlPr>
                                <a:rPr lang="en-AU" altLang="zh-CN" i="1">
                                  <a:latin typeface="Cambria Math" panose="02040503050406030204" pitchFamily="18" charset="0"/>
                                </a:rPr>
                              </m:ctrlPr>
                            </m:sSupPr>
                            <m:e>
                              <m:r>
                                <m:rPr>
                                  <m:sty m:val="p"/>
                                </m:rPr>
                                <a:rPr lang="el-GR" altLang="zh-CN" i="1">
                                  <a:latin typeface="Cambria Math" panose="02040503050406030204" pitchFamily="18" charset="0"/>
                                  <a:ea typeface="Cambria Math" panose="02040503050406030204" pitchFamily="18" charset="0"/>
                                </a:rPr>
                                <m:t>Σ</m:t>
                              </m:r>
                            </m:e>
                            <m:sup>
                              <m:r>
                                <a:rPr lang="en-AU" altLang="zh-CN" b="0" i="1" smtClean="0">
                                  <a:latin typeface="Cambria Math" panose="02040503050406030204" pitchFamily="18" charset="0"/>
                                  <a:ea typeface="Cambria Math" panose="02040503050406030204" pitchFamily="18" charset="0"/>
                                </a:rPr>
                                <m:t>𝑖</m:t>
                              </m:r>
                            </m:sup>
                          </m:sSup>
                        </m:e>
                      </m:nary>
                    </m:oMath>
                  </m:oMathPara>
                </a14:m>
                <a:endParaRPr lang="en-AU" altLang="zh-CN" dirty="0"/>
              </a:p>
              <a:p>
                <a:pPr marL="0" indent="0">
                  <a:buNone/>
                </a:pPr>
                <a:endParaRPr lang="en-AU" altLang="zh-CN" dirty="0"/>
              </a:p>
              <a:p>
                <a:r>
                  <a:rPr lang="zh-CN" altLang="en-US" dirty="0"/>
                  <a:t>正闭包</a:t>
                </a:r>
                <a:r>
                  <a:rPr lang="en-AU" altLang="zh-CN" dirty="0"/>
                  <a:t>(</a:t>
                </a:r>
                <a:r>
                  <a:rPr lang="en-AU" altLang="zh-CN" dirty="0">
                    <a:latin typeface="Times New Roman" panose="02020603050405020304" pitchFamily="18" charset="0"/>
                    <a:cs typeface="Times New Roman" panose="02020603050405020304" pitchFamily="18" charset="0"/>
                  </a:rPr>
                  <a:t>Positive Closure</a:t>
                </a:r>
                <a:r>
                  <a:rPr lang="en-AU" altLang="zh-CN" dirty="0"/>
                  <a:t>):</a:t>
                </a:r>
                <a:endParaRPr lang="en-AU" altLang="zh-CN" dirty="0"/>
              </a:p>
              <a:p>
                <a:pPr marL="0" indent="0">
                  <a:buNone/>
                </a:pPr>
                <a14:m>
                  <m:oMathPara xmlns:m="http://schemas.openxmlformats.org/officeDocument/2006/math">
                    <m:oMathParaPr>
                      <m:jc m:val="centerGroup"/>
                    </m:oMathParaPr>
                    <m:oMath xmlns:m="http://schemas.openxmlformats.org/officeDocument/2006/math">
                      <m:sSup>
                        <m:sSupPr>
                          <m:ctrlPr>
                            <a:rPr lang="en-AU" altLang="zh-CN" i="1" smtClean="0">
                              <a:latin typeface="Cambria Math" panose="02040503050406030204" pitchFamily="18" charset="0"/>
                            </a:rPr>
                          </m:ctrlPr>
                        </m:sSupPr>
                        <m:e>
                          <m:r>
                            <m:rPr>
                              <m:sty m:val="p"/>
                            </m:rPr>
                            <a:rPr lang="el-GR" altLang="zh-CN" i="1" smtClean="0">
                              <a:latin typeface="Cambria Math" panose="02040503050406030204" pitchFamily="18" charset="0"/>
                              <a:ea typeface="Cambria Math" panose="02040503050406030204" pitchFamily="18" charset="0"/>
                            </a:rPr>
                            <m:t>Σ</m:t>
                          </m:r>
                        </m:e>
                        <m:sup>
                          <m:r>
                            <a:rPr lang="en-AU" altLang="zh-CN" b="0" i="1" smtClean="0">
                              <a:latin typeface="Cambria Math" panose="02040503050406030204" pitchFamily="18" charset="0"/>
                              <a:ea typeface="Cambria Math" panose="02040503050406030204" pitchFamily="18" charset="0"/>
                            </a:rPr>
                            <m:t>+</m:t>
                          </m:r>
                        </m:sup>
                      </m:sSup>
                      <m:r>
                        <a:rPr lang="en-AU" altLang="zh-CN" b="0" i="1" smtClean="0">
                          <a:latin typeface="Cambria Math" panose="02040503050406030204" pitchFamily="18" charset="0"/>
                        </a:rPr>
                        <m:t>=</m:t>
                      </m:r>
                      <m:nary>
                        <m:naryPr>
                          <m:chr m:val="⋃"/>
                          <m:ctrlPr>
                            <a:rPr lang="en-AU" altLang="zh-CN" b="0" i="1" smtClean="0">
                              <a:latin typeface="Cambria Math" panose="02040503050406030204" pitchFamily="18" charset="0"/>
                            </a:rPr>
                          </m:ctrlPr>
                        </m:naryPr>
                        <m:sub>
                          <m:r>
                            <m:rPr>
                              <m:brk m:alnAt="23"/>
                            </m:rPr>
                            <a:rPr lang="en-AU" altLang="zh-CN" b="0" i="1" smtClean="0">
                              <a:latin typeface="Cambria Math" panose="02040503050406030204" pitchFamily="18" charset="0"/>
                            </a:rPr>
                            <m:t>𝑖</m:t>
                          </m:r>
                          <m:r>
                            <a:rPr lang="en-AU" altLang="zh-CN" b="0" i="1" smtClean="0">
                              <a:latin typeface="Cambria Math" panose="02040503050406030204" pitchFamily="18" charset="0"/>
                            </a:rPr>
                            <m:t>=</m:t>
                          </m:r>
                          <m:r>
                            <a:rPr lang="en-AU" altLang="zh-CN" b="0" i="1" smtClean="0">
                              <a:latin typeface="Cambria Math" panose="02040503050406030204" pitchFamily="18" charset="0"/>
                            </a:rPr>
                            <m:t>1</m:t>
                          </m:r>
                        </m:sub>
                        <m:sup>
                          <m:r>
                            <a:rPr lang="en-AU" altLang="zh-CN" i="1">
                              <a:latin typeface="Cambria Math" panose="02040503050406030204" pitchFamily="18" charset="0"/>
                              <a:ea typeface="Cambria Math" panose="02040503050406030204" pitchFamily="18" charset="0"/>
                            </a:rPr>
                            <m:t>∞</m:t>
                          </m:r>
                        </m:sup>
                        <m:e>
                          <m:sSup>
                            <m:sSupPr>
                              <m:ctrlPr>
                                <a:rPr lang="en-AU" altLang="zh-CN" i="1">
                                  <a:latin typeface="Cambria Math" panose="02040503050406030204" pitchFamily="18" charset="0"/>
                                </a:rPr>
                              </m:ctrlPr>
                            </m:sSupPr>
                            <m:e>
                              <m:r>
                                <m:rPr>
                                  <m:sty m:val="p"/>
                                </m:rPr>
                                <a:rPr lang="el-GR" altLang="zh-CN" i="1">
                                  <a:latin typeface="Cambria Math" panose="02040503050406030204" pitchFamily="18" charset="0"/>
                                  <a:ea typeface="Cambria Math" panose="02040503050406030204" pitchFamily="18" charset="0"/>
                                </a:rPr>
                                <m:t>Σ</m:t>
                              </m:r>
                            </m:e>
                            <m:sup>
                              <m:r>
                                <a:rPr lang="en-AU" altLang="zh-CN" b="0" i="1" smtClean="0">
                                  <a:latin typeface="Cambria Math" panose="02040503050406030204" pitchFamily="18" charset="0"/>
                                  <a:ea typeface="Cambria Math" panose="02040503050406030204" pitchFamily="18" charset="0"/>
                                </a:rPr>
                                <m:t>𝑖</m:t>
                              </m:r>
                            </m:sup>
                          </m:sSup>
                        </m:e>
                      </m:nary>
                    </m:oMath>
                  </m:oMathPara>
                </a14:m>
                <a:endParaRPr lang="en-AU" altLang="zh-CN" dirty="0"/>
              </a:p>
              <a:p>
                <a:pPr marL="0" indent="0">
                  <a:buNone/>
                </a:pPr>
                <a:r>
                  <a:rPr lang="zh-CN" altLang="en-US" dirty="0"/>
                  <a:t>显然，</a:t>
                </a:r>
                <a:r>
                  <a:rPr lang="en-AU" altLang="zh-CN" dirty="0"/>
                  <a:t> </a:t>
                </a:r>
                <a14:m>
                  <m:oMath xmlns:m="http://schemas.openxmlformats.org/officeDocument/2006/math">
                    <m:sSup>
                      <m:sSupPr>
                        <m:ctrlPr>
                          <a:rPr lang="en-AU" altLang="zh-CN" i="1" smtClean="0">
                            <a:latin typeface="Cambria Math" panose="02040503050406030204" pitchFamily="18" charset="0"/>
                          </a:rPr>
                        </m:ctrlPr>
                      </m:sSupPr>
                      <m:e>
                        <m:r>
                          <m:rPr>
                            <m:sty m:val="p"/>
                          </m:rPr>
                          <a:rPr lang="el-GR" altLang="zh-CN" i="1" smtClean="0">
                            <a:latin typeface="Cambria Math" panose="02040503050406030204" pitchFamily="18" charset="0"/>
                            <a:ea typeface="Cambria Math" panose="02040503050406030204" pitchFamily="18" charset="0"/>
                          </a:rPr>
                          <m:t>Σ</m:t>
                        </m:r>
                      </m:e>
                      <m:sup>
                        <m:r>
                          <a:rPr lang="en-AU" altLang="zh-CN" b="0" i="1" smtClean="0">
                            <a:latin typeface="Cambria Math" panose="02040503050406030204" pitchFamily="18" charset="0"/>
                          </a:rPr>
                          <m:t>∗</m:t>
                        </m:r>
                      </m:sup>
                    </m:sSup>
                    <m:r>
                      <a:rPr lang="en-AU" altLang="zh-CN" b="0" i="1" smtClean="0">
                        <a:latin typeface="Cambria Math" panose="02040503050406030204" pitchFamily="18" charset="0"/>
                      </a:rPr>
                      <m:t>=</m:t>
                    </m:r>
                    <m:sSup>
                      <m:sSupPr>
                        <m:ctrlPr>
                          <a:rPr lang="en-AU" altLang="zh-CN" i="1">
                            <a:latin typeface="Cambria Math" panose="02040503050406030204" pitchFamily="18" charset="0"/>
                          </a:rPr>
                        </m:ctrlPr>
                      </m:sSupPr>
                      <m:e>
                        <m:r>
                          <m:rPr>
                            <m:sty m:val="p"/>
                          </m:rPr>
                          <a:rPr lang="el-GR" altLang="zh-CN" i="1">
                            <a:latin typeface="Cambria Math" panose="02040503050406030204" pitchFamily="18" charset="0"/>
                            <a:ea typeface="Cambria Math" panose="02040503050406030204" pitchFamily="18" charset="0"/>
                          </a:rPr>
                          <m:t>Σ</m:t>
                        </m:r>
                      </m:e>
                      <m:sup>
                        <m:r>
                          <a:rPr lang="en-AU" altLang="zh-CN" i="1">
                            <a:latin typeface="Cambria Math" panose="02040503050406030204" pitchFamily="18" charset="0"/>
                            <a:ea typeface="Cambria Math" panose="02040503050406030204" pitchFamily="18" charset="0"/>
                          </a:rPr>
                          <m:t>+</m:t>
                        </m:r>
                      </m:sup>
                    </m:sSup>
                    <m:r>
                      <a:rPr lang="en-AU" altLang="zh-CN"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m:t>
                    </m:r>
                    <m:r>
                      <a:rPr lang="zh-CN" altLang="en-AU" b="0" i="1" smtClean="0">
                        <a:latin typeface="Cambria Math" panose="02040503050406030204" pitchFamily="18" charset="0"/>
                        <a:ea typeface="Cambria Math" panose="02040503050406030204" pitchFamily="18" charset="0"/>
                      </a:rPr>
                      <m:t>𝜀</m:t>
                    </m:r>
                    <m:r>
                      <a:rPr lang="en-AU" altLang="zh-CN" b="0" i="1" smtClean="0">
                        <a:latin typeface="Cambria Math" panose="02040503050406030204" pitchFamily="18" charset="0"/>
                        <a:ea typeface="Cambria Math" panose="02040503050406030204" pitchFamily="18" charset="0"/>
                      </a:rPr>
                      <m:t>}</m:t>
                    </m:r>
                  </m:oMath>
                </a14:m>
                <a:r>
                  <a:rPr lang="zh-CN" altLang="en-US" dirty="0"/>
                  <a:t>。</a:t>
                </a:r>
                <a:endParaRPr lang="en-AU" altLang="zh-CN" dirty="0"/>
              </a:p>
              <a:p>
                <a:endParaRPr lang="en-AU" altLang="zh-CN" dirty="0"/>
              </a:p>
              <a:p>
                <a:endParaRPr lang="en-AU"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990600" y="1371600"/>
                <a:ext cx="8229600" cy="4525963"/>
              </a:xfrm>
              <a:blipFill rotWithShape="1">
                <a:blip r:embed="rId1"/>
                <a:stretch>
                  <a:fillRect b="-18513"/>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Title 1"/>
          <p:cNvSpPr>
            <a:spLocks noGrp="1"/>
          </p:cNvSpPr>
          <p:nvPr>
            <p:ph type="title"/>
          </p:nvPr>
        </p:nvSpPr>
        <p:spPr>
          <a:xfrm>
            <a:off x="457200" y="-228917"/>
            <a:ext cx="8229600" cy="1143000"/>
          </a:xfrm>
        </p:spPr>
        <p:txBody>
          <a:bodyPr/>
          <a:lstStyle/>
          <a:p>
            <a:pPr algn="r">
              <a:buClrTx/>
              <a:buSzTx/>
              <a:buFontTx/>
            </a:pPr>
            <a:r>
              <a:rPr lang="en-US" altLang="zh-CN" sz="3600" dirty="0">
                <a:solidFill>
                  <a:schemeClr val="bg1"/>
                </a:solidFill>
                <a:effectLst>
                  <a:outerShdw blurRad="38100" dist="38100" dir="2700000" algn="tl">
                    <a:srgbClr val="000000">
                      <a:alpha val="43137"/>
                    </a:srgbClr>
                  </a:outerShdw>
                </a:effectLst>
              </a:rPr>
              <a:t>基本概念</a:t>
            </a:r>
            <a:endParaRPr lang="en-US" altLang="zh-CN" sz="3600" dirty="0">
              <a:solidFill>
                <a:schemeClr val="bg1"/>
              </a:solidFill>
              <a:effectLst>
                <a:outerShdw blurRad="38100" dist="38100" dir="2700000" algn="tl">
                  <a:srgbClr val="000000">
                    <a:alpha val="43137"/>
                  </a:srgbClr>
                </a:outerShdw>
              </a:effectLs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143000"/>
                <a:ext cx="8229600" cy="4525963"/>
              </a:xfrm>
            </p:spPr>
            <p:txBody>
              <a:bodyPr/>
              <a:lstStyle/>
              <a:p>
                <a:r>
                  <a:rPr lang="zh-CN" altLang="en-US" dirty="0"/>
                  <a:t>定义</a:t>
                </a:r>
                <a:r>
                  <a:rPr lang="en-AU" altLang="zh-CN" dirty="0"/>
                  <a:t>:</a:t>
                </a:r>
                <a:r>
                  <a:rPr lang="zh-CN" altLang="en-US" dirty="0"/>
                  <a:t>若</a:t>
                </a:r>
                <a14:m>
                  <m:oMath xmlns:m="http://schemas.openxmlformats.org/officeDocument/2006/math">
                    <m:r>
                      <m:rPr>
                        <m:sty m:val="p"/>
                      </m:rPr>
                      <a:rPr lang="el-GR" altLang="zh-CN" i="0" dirty="0" smtClean="0">
                        <a:latin typeface="Cambria Math" panose="02040503050406030204" pitchFamily="18" charset="0"/>
                      </a:rPr>
                      <m:t>Σ</m:t>
                    </m:r>
                  </m:oMath>
                </a14:m>
                <a:r>
                  <a:rPr lang="zh-CN" altLang="en-US" dirty="0"/>
                  <a:t>为字母表且</a:t>
                </a:r>
                <a14:m>
                  <m:oMath xmlns:m="http://schemas.openxmlformats.org/officeDocument/2006/math">
                    <m:r>
                      <a:rPr lang="zh-CN" altLang="en-US" i="1" dirty="0" smtClean="0">
                        <a:latin typeface="Cambria Math" panose="02040503050406030204" pitchFamily="18" charset="0"/>
                      </a:rPr>
                      <m:t>∀</m:t>
                    </m:r>
                    <m:r>
                      <a:rPr lang="en-AU" altLang="zh-CN" i="1" dirty="0" smtClean="0">
                        <a:latin typeface="Cambria Math" panose="02040503050406030204" pitchFamily="18" charset="0"/>
                      </a:rPr>
                      <m:t>𝐿</m:t>
                    </m:r>
                    <m:r>
                      <a:rPr lang="en-AU" altLang="zh-CN" i="1" dirty="0" smtClean="0">
                        <a:latin typeface="Cambria Math" panose="02040503050406030204" pitchFamily="18" charset="0"/>
                      </a:rPr>
                      <m:t> ⊆</m:t>
                    </m:r>
                    <m:sSup>
                      <m:sSupPr>
                        <m:ctrlPr>
                          <a:rPr lang="en-AU" altLang="zh-CN" i="1">
                            <a:latin typeface="Cambria Math" panose="02040503050406030204" pitchFamily="18" charset="0"/>
                          </a:rPr>
                        </m:ctrlPr>
                      </m:sSupPr>
                      <m:e>
                        <m:r>
                          <m:rPr>
                            <m:sty m:val="p"/>
                          </m:rPr>
                          <a:rPr lang="el-GR" altLang="zh-CN" i="1">
                            <a:latin typeface="Cambria Math" panose="02040503050406030204" pitchFamily="18" charset="0"/>
                            <a:ea typeface="Cambria Math" panose="02040503050406030204" pitchFamily="18" charset="0"/>
                          </a:rPr>
                          <m:t>Σ</m:t>
                        </m:r>
                      </m:e>
                      <m:sup>
                        <m:r>
                          <a:rPr lang="en-AU" altLang="zh-CN" i="1">
                            <a:latin typeface="Cambria Math" panose="02040503050406030204" pitchFamily="18" charset="0"/>
                          </a:rPr>
                          <m:t>∗</m:t>
                        </m:r>
                      </m:sup>
                    </m:sSup>
                  </m:oMath>
                </a14:m>
                <a:r>
                  <a:rPr lang="el-GR" altLang="zh-CN" dirty="0"/>
                  <a:t>, </a:t>
                </a:r>
                <a:r>
                  <a:rPr lang="zh-CN" altLang="en-US" dirty="0"/>
                  <a:t>则</a:t>
                </a:r>
                <a14:m>
                  <m:oMath xmlns:m="http://schemas.openxmlformats.org/officeDocument/2006/math">
                    <m:r>
                      <a:rPr lang="en-AU" altLang="zh-CN" i="1" dirty="0" smtClean="0">
                        <a:latin typeface="Cambria Math" panose="02040503050406030204" pitchFamily="18" charset="0"/>
                      </a:rPr>
                      <m:t>𝐿</m:t>
                    </m:r>
                  </m:oMath>
                </a14:m>
                <a:r>
                  <a:rPr lang="zh-CN" altLang="en-US" dirty="0"/>
                  <a:t>称为字母表 </a:t>
                </a:r>
                <a14:m>
                  <m:oMath xmlns:m="http://schemas.openxmlformats.org/officeDocument/2006/math">
                    <m:r>
                      <m:rPr>
                        <m:sty m:val="p"/>
                      </m:rPr>
                      <a:rPr lang="el-GR" altLang="zh-CN" i="0" dirty="0" smtClean="0">
                        <a:latin typeface="Cambria Math" panose="02040503050406030204" pitchFamily="18" charset="0"/>
                      </a:rPr>
                      <m:t>Σ</m:t>
                    </m:r>
                  </m:oMath>
                </a14:m>
                <a:r>
                  <a:rPr lang="zh-CN" altLang="en-US" dirty="0"/>
                  <a:t>上的语言。</a:t>
                </a:r>
                <a:endParaRPr lang="en-AU" altLang="zh-CN" dirty="0"/>
              </a:p>
              <a:p>
                <a:pPr lvl="1"/>
                <a:r>
                  <a:rPr lang="zh-CN" altLang="en-US" dirty="0"/>
                  <a:t>自然语言，程序设计语言</a:t>
                </a:r>
                <a:endParaRPr lang="en-AU" altLang="zh-CN" dirty="0"/>
              </a:p>
              <a:p>
                <a:pPr lvl="1"/>
                <a14:m>
                  <m:oMath xmlns:m="http://schemas.openxmlformats.org/officeDocument/2006/math">
                    <m:r>
                      <a:rPr lang="en-AU" b="0" i="1" smtClean="0">
                        <a:latin typeface="Cambria Math" panose="02040503050406030204" pitchFamily="18" charset="0"/>
                      </a:rPr>
                      <m:t>{</m:t>
                    </m:r>
                    <m:sSup>
                      <m:sSupPr>
                        <m:ctrlPr>
                          <a:rPr lang="en-AU" b="0" i="1" smtClean="0">
                            <a:latin typeface="Cambria Math" panose="02040503050406030204" pitchFamily="18" charset="0"/>
                          </a:rPr>
                        </m:ctrlPr>
                      </m:sSupPr>
                      <m:e>
                        <m:r>
                          <a:rPr lang="en-AU" b="0" i="1" smtClean="0">
                            <a:latin typeface="Cambria Math" panose="02040503050406030204" pitchFamily="18" charset="0"/>
                          </a:rPr>
                          <m:t>0</m:t>
                        </m:r>
                      </m:e>
                      <m:sup>
                        <m:r>
                          <a:rPr lang="en-AU" b="0" i="1" smtClean="0">
                            <a:latin typeface="Cambria Math" panose="02040503050406030204" pitchFamily="18" charset="0"/>
                          </a:rPr>
                          <m:t>𝑛</m:t>
                        </m:r>
                      </m:sup>
                    </m:sSup>
                    <m:sSup>
                      <m:sSupPr>
                        <m:ctrlPr>
                          <a:rPr lang="en-AU" b="0" i="1" smtClean="0">
                            <a:latin typeface="Cambria Math" panose="02040503050406030204" pitchFamily="18" charset="0"/>
                          </a:rPr>
                        </m:ctrlPr>
                      </m:sSupPr>
                      <m:e>
                        <m:r>
                          <a:rPr lang="en-AU" b="0" i="1" smtClean="0">
                            <a:latin typeface="Cambria Math" panose="02040503050406030204" pitchFamily="18" charset="0"/>
                          </a:rPr>
                          <m:t>1</m:t>
                        </m:r>
                      </m:e>
                      <m:sup>
                        <m:r>
                          <a:rPr lang="en-AU" b="0" i="1" smtClean="0">
                            <a:latin typeface="Cambria Math" panose="02040503050406030204" pitchFamily="18" charset="0"/>
                          </a:rPr>
                          <m:t>𝑛</m:t>
                        </m:r>
                      </m:sup>
                    </m:sSup>
                    <m:r>
                      <a:rPr lang="en-AU" b="0" i="1" smtClean="0">
                        <a:latin typeface="Cambria Math" panose="02040503050406030204" pitchFamily="18" charset="0"/>
                      </a:rPr>
                      <m:t>|</m:t>
                    </m:r>
                    <m:r>
                      <a:rPr lang="en-AU" b="0" i="1" smtClean="0">
                        <a:latin typeface="Cambria Math" panose="02040503050406030204" pitchFamily="18" charset="0"/>
                      </a:rPr>
                      <m:t>𝑛</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0</m:t>
                    </m:r>
                    <m:r>
                      <a:rPr lang="en-AU" b="0" i="1" smtClean="0">
                        <a:latin typeface="Cambria Math" panose="02040503050406030204" pitchFamily="18" charset="0"/>
                      </a:rPr>
                      <m:t>}</m:t>
                    </m:r>
                  </m:oMath>
                </a14:m>
                <a:endParaRPr lang="en-AU" dirty="0"/>
              </a:p>
              <a:p>
                <a:pPr lvl="1"/>
                <a:r>
                  <a:rPr lang="en-AU" dirty="0">
                    <a:latin typeface="Times New Roman" panose="02020603050405020304" pitchFamily="18" charset="0"/>
                    <a:cs typeface="Times New Roman" panose="02020603050405020304" pitchFamily="18" charset="0"/>
                  </a:rPr>
                  <a:t>The set strings of 0’s and 1’s with an equal number of each: </a:t>
                </a:r>
                <a14:m>
                  <m:oMath xmlns:m="http://schemas.openxmlformats.org/officeDocument/2006/math">
                    <m:r>
                      <a:rPr lang="en-AU" b="0" i="1" smtClean="0">
                        <a:latin typeface="Cambria Math" panose="02040503050406030204" pitchFamily="18" charset="0"/>
                        <a:cs typeface="Times New Roman" panose="02020603050405020304" pitchFamily="18" charset="0"/>
                      </a:rPr>
                      <m:t>{</m:t>
                    </m:r>
                    <m:r>
                      <a:rPr lang="en-AU" b="0" i="1" smtClean="0">
                        <a:latin typeface="Cambria Math" panose="02040503050406030204" pitchFamily="18" charset="0"/>
                        <a:ea typeface="Cambria Math" panose="02040503050406030204" pitchFamily="18" charset="0"/>
                        <a:cs typeface="Times New Roman" panose="02020603050405020304" pitchFamily="18" charset="0"/>
                      </a:rPr>
                      <m:t>𝜀</m:t>
                    </m:r>
                    <m:r>
                      <a:rPr lang="en-AU" b="0" i="1" smtClean="0">
                        <a:latin typeface="Cambria Math" panose="02040503050406030204" pitchFamily="18" charset="0"/>
                        <a:ea typeface="Cambria Math" panose="02040503050406030204" pitchFamily="18" charset="0"/>
                        <a:cs typeface="Times New Roman" panose="02020603050405020304" pitchFamily="18" charset="0"/>
                      </a:rPr>
                      <m:t>,</m:t>
                    </m:r>
                    <m:r>
                      <a:rPr lang="en-AU" b="0" i="1" smtClean="0">
                        <a:latin typeface="Cambria Math" panose="02040503050406030204" pitchFamily="18" charset="0"/>
                        <a:ea typeface="Cambria Math" panose="02040503050406030204" pitchFamily="18" charset="0"/>
                        <a:cs typeface="Times New Roman" panose="02020603050405020304" pitchFamily="18" charset="0"/>
                      </a:rPr>
                      <m:t>01</m:t>
                    </m:r>
                    <m:r>
                      <a:rPr lang="en-AU" b="0" i="1" smtClean="0">
                        <a:latin typeface="Cambria Math" panose="02040503050406030204" pitchFamily="18" charset="0"/>
                        <a:ea typeface="Cambria Math" panose="02040503050406030204" pitchFamily="18" charset="0"/>
                        <a:cs typeface="Times New Roman" panose="02020603050405020304" pitchFamily="18" charset="0"/>
                      </a:rPr>
                      <m:t>,</m:t>
                    </m:r>
                    <m:r>
                      <a:rPr lang="en-AU" b="0" i="1" smtClean="0">
                        <a:latin typeface="Cambria Math" panose="02040503050406030204" pitchFamily="18" charset="0"/>
                        <a:ea typeface="Cambria Math" panose="02040503050406030204" pitchFamily="18" charset="0"/>
                        <a:cs typeface="Times New Roman" panose="02020603050405020304" pitchFamily="18" charset="0"/>
                      </a:rPr>
                      <m:t>10</m:t>
                    </m:r>
                    <m:r>
                      <a:rPr lang="en-AU" b="0" i="1" smtClean="0">
                        <a:latin typeface="Cambria Math" panose="02040503050406030204" pitchFamily="18" charset="0"/>
                        <a:ea typeface="Cambria Math" panose="02040503050406030204" pitchFamily="18" charset="0"/>
                        <a:cs typeface="Times New Roman" panose="02020603050405020304" pitchFamily="18" charset="0"/>
                      </a:rPr>
                      <m:t>,</m:t>
                    </m:r>
                    <m:r>
                      <a:rPr lang="en-AU" b="0" i="1" smtClean="0">
                        <a:latin typeface="Cambria Math" panose="02040503050406030204" pitchFamily="18" charset="0"/>
                        <a:ea typeface="Cambria Math" panose="02040503050406030204" pitchFamily="18" charset="0"/>
                        <a:cs typeface="Times New Roman" panose="02020603050405020304" pitchFamily="18" charset="0"/>
                      </a:rPr>
                      <m:t>0011</m:t>
                    </m:r>
                    <m:r>
                      <a:rPr lang="en-AU" b="0" i="1" smtClean="0">
                        <a:latin typeface="Cambria Math" panose="02040503050406030204" pitchFamily="18" charset="0"/>
                        <a:ea typeface="Cambria Math" panose="02040503050406030204" pitchFamily="18" charset="0"/>
                        <a:cs typeface="Times New Roman" panose="02020603050405020304" pitchFamily="18" charset="0"/>
                      </a:rPr>
                      <m:t>,</m:t>
                    </m:r>
                    <m:r>
                      <a:rPr lang="en-AU" b="0" i="1" smtClean="0">
                        <a:latin typeface="Cambria Math" panose="02040503050406030204" pitchFamily="18" charset="0"/>
                        <a:ea typeface="Cambria Math" panose="02040503050406030204" pitchFamily="18" charset="0"/>
                        <a:cs typeface="Times New Roman" panose="02020603050405020304" pitchFamily="18" charset="0"/>
                      </a:rPr>
                      <m:t>0101</m:t>
                    </m:r>
                    <m:r>
                      <a:rPr lang="en-AU" b="0" i="1" smtClean="0">
                        <a:latin typeface="Cambria Math" panose="02040503050406030204" pitchFamily="18" charset="0"/>
                        <a:ea typeface="Cambria Math" panose="02040503050406030204" pitchFamily="18" charset="0"/>
                        <a:cs typeface="Times New Roman" panose="02020603050405020304" pitchFamily="18" charset="0"/>
                      </a:rPr>
                      <m:t>,</m:t>
                    </m:r>
                    <m:r>
                      <a:rPr lang="en-AU" b="0" i="1" smtClean="0">
                        <a:latin typeface="Cambria Math" panose="02040503050406030204" pitchFamily="18" charset="0"/>
                        <a:ea typeface="Cambria Math" panose="02040503050406030204" pitchFamily="18" charset="0"/>
                        <a:cs typeface="Times New Roman" panose="02020603050405020304" pitchFamily="18" charset="0"/>
                      </a:rPr>
                      <m:t>1100</m:t>
                    </m:r>
                    <m:r>
                      <a:rPr lang="en-AU" b="0" i="1"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AU" dirty="0">
                  <a:latin typeface="Times New Roman" panose="02020603050405020304" pitchFamily="18" charset="0"/>
                  <a:cs typeface="Times New Roman" panose="02020603050405020304" pitchFamily="18" charset="0"/>
                </a:endParaRPr>
              </a:p>
              <a:p>
                <a:pPr lvl="1"/>
                <a14:m>
                  <m:oMath xmlns:m="http://schemas.openxmlformats.org/officeDocument/2006/math">
                    <m:r>
                      <a:rPr lang="en-AU" i="1" smtClean="0">
                        <a:latin typeface="Cambria Math" panose="02040503050406030204" pitchFamily="18" charset="0"/>
                        <a:ea typeface="Cambria Math" panose="02040503050406030204" pitchFamily="18" charset="0"/>
                        <a:cs typeface="Times New Roman" panose="02020603050405020304" pitchFamily="18" charset="0"/>
                      </a:rPr>
                      <m:t>∅</m:t>
                    </m:r>
                    <m:r>
                      <a:rPr lang="en-AU"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AU"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AU" i="1">
                            <a:latin typeface="Cambria Math" panose="02040503050406030204" pitchFamily="18" charset="0"/>
                            <a:ea typeface="Cambria Math" panose="02040503050406030204" pitchFamily="18" charset="0"/>
                            <a:cs typeface="Times New Roman" panose="02020603050405020304" pitchFamily="18" charset="0"/>
                          </a:rPr>
                          <m:t>𝜀</m:t>
                        </m:r>
                      </m:e>
                    </m:d>
                    <m:r>
                      <a:rPr lang="en-AU"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AU" b="0" i="1" smtClean="0">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l-GR" b="0" i="1" smtClean="0">
                            <a:latin typeface="Cambria Math" panose="02040503050406030204" pitchFamily="18" charset="0"/>
                            <a:ea typeface="Cambria Math" panose="02040503050406030204" pitchFamily="18" charset="0"/>
                            <a:cs typeface="Times New Roman" panose="02020603050405020304" pitchFamily="18" charset="0"/>
                          </a:rPr>
                          <m:t>Σ</m:t>
                        </m:r>
                      </m:e>
                      <m:sup>
                        <m:r>
                          <a:rPr lang="en-AU" b="0" i="1" smtClean="0">
                            <a:latin typeface="Cambria Math" panose="02040503050406030204" pitchFamily="18" charset="0"/>
                            <a:ea typeface="Cambria Math" panose="02040503050406030204" pitchFamily="18" charset="0"/>
                            <a:cs typeface="Times New Roman" panose="02020603050405020304" pitchFamily="18" charset="0"/>
                          </a:rPr>
                          <m:t>∗</m:t>
                        </m:r>
                      </m:sup>
                    </m:sSup>
                  </m:oMath>
                </a14:m>
                <a:r>
                  <a:rPr lang="zh-CN" altLang="en-US" dirty="0">
                    <a:latin typeface="Times New Roman" panose="02020603050405020304" pitchFamily="18" charset="0"/>
                    <a:cs typeface="Times New Roman" panose="02020603050405020304" pitchFamily="18" charset="0"/>
                  </a:rPr>
                  <a:t>分别都是任意字母表</a:t>
                </a:r>
                <a14:m>
                  <m:oMath xmlns:m="http://schemas.openxmlformats.org/officeDocument/2006/math">
                    <m:r>
                      <m:rPr>
                        <m:sty m:val="p"/>
                      </m:rPr>
                      <a:rPr lang="el-GR" altLang="zh-CN" dirty="0">
                        <a:latin typeface="Cambria Math" panose="02040503050406030204" pitchFamily="18" charset="0"/>
                      </a:rPr>
                      <m:t>Σ</m:t>
                    </m:r>
                  </m:oMath>
                </a14:m>
                <a:r>
                  <a:rPr lang="zh-CN" altLang="en-US" dirty="0">
                    <a:latin typeface="Times New Roman" panose="02020603050405020304" pitchFamily="18" charset="0"/>
                    <a:cs typeface="Times New Roman" panose="02020603050405020304" pitchFamily="18" charset="0"/>
                  </a:rPr>
                  <a:t>上的语言。注意</a:t>
                </a:r>
                <a:r>
                  <a:rPr lang="en-AU" altLang="zh-CN" dirty="0">
                    <a:latin typeface="Times New Roman" panose="02020603050405020304" pitchFamily="18" charset="0"/>
                    <a:cs typeface="Times New Roman" panose="02020603050405020304" pitchFamily="18" charset="0"/>
                  </a:rPr>
                  <a:t>:</a:t>
                </a:r>
                <a:r>
                  <a:rPr lang="en-AU" dirty="0">
                    <a:ea typeface="Cambria Math" panose="02040503050406030204" pitchFamily="18" charset="0"/>
                    <a:cs typeface="Times New Roman" panose="02020603050405020304" pitchFamily="18" charset="0"/>
                  </a:rPr>
                  <a:t> </a:t>
                </a:r>
                <a14:m>
                  <m:oMath xmlns:m="http://schemas.openxmlformats.org/officeDocument/2006/math">
                    <m:r>
                      <a:rPr lang="en-AU" i="1">
                        <a:latin typeface="Cambria Math" panose="02040503050406030204" pitchFamily="18" charset="0"/>
                        <a:ea typeface="Cambria Math" panose="02040503050406030204" pitchFamily="18" charset="0"/>
                        <a:cs typeface="Times New Roman" panose="02020603050405020304" pitchFamily="18" charset="0"/>
                      </a:rPr>
                      <m:t>∅</m:t>
                    </m:r>
                    <m:r>
                      <a:rPr lang="en-AU"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AU" i="1">
                            <a:latin typeface="Cambria Math" panose="02040503050406030204" pitchFamily="18" charset="0"/>
                            <a:ea typeface="Cambria Math" panose="02040503050406030204" pitchFamily="18" charset="0"/>
                            <a:cs typeface="Times New Roman" panose="02020603050405020304" pitchFamily="18" charset="0"/>
                          </a:rPr>
                        </m:ctrlPr>
                      </m:dPr>
                      <m:e>
                        <m:r>
                          <a:rPr lang="en-AU" i="1">
                            <a:latin typeface="Cambria Math" panose="02040503050406030204" pitchFamily="18" charset="0"/>
                            <a:ea typeface="Cambria Math" panose="02040503050406030204" pitchFamily="18" charset="0"/>
                            <a:cs typeface="Times New Roman" panose="02020603050405020304" pitchFamily="18" charset="0"/>
                          </a:rPr>
                          <m:t>𝜀</m:t>
                        </m:r>
                      </m:e>
                    </m:d>
                  </m:oMath>
                </a14:m>
                <a:r>
                  <a:rPr lang="zh-CN" altLang="en-US" dirty="0">
                    <a:latin typeface="Times New Roman" panose="02020603050405020304" pitchFamily="18" charset="0"/>
                    <a:cs typeface="Times New Roman" panose="02020603050405020304" pitchFamily="18" charset="0"/>
                  </a:rPr>
                  <a:t>。</a:t>
                </a:r>
                <a:endParaRPr lang="en-AU" altLang="zh-CN"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关于语言唯一重要的约束就是所有字母表都是有穷的</a:t>
                </a:r>
                <a:endParaRPr lang="en-AU" dirty="0">
                  <a:latin typeface="Times New Roman" panose="02020603050405020304" pitchFamily="18" charset="0"/>
                  <a:cs typeface="Times New Roman" panose="02020603050405020304" pitchFamily="18"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143000"/>
                <a:ext cx="8229600" cy="4525963"/>
              </a:xfrm>
              <a:blipFill rotWithShape="1">
                <a:blip r:embed="rId1"/>
                <a:stretch>
                  <a:fillRect b="-4721"/>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Title 1"/>
          <p:cNvSpPr>
            <a:spLocks noGrp="1"/>
          </p:cNvSpPr>
          <p:nvPr>
            <p:ph type="title"/>
          </p:nvPr>
        </p:nvSpPr>
        <p:spPr>
          <a:xfrm>
            <a:off x="457200" y="-228917"/>
            <a:ext cx="8229600" cy="114300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语言</a:t>
            </a:r>
            <a:endParaRPr lang="zh-CN" altLang="en-US" sz="3600" dirty="0">
              <a:solidFill>
                <a:schemeClr val="bg1"/>
              </a:solidFill>
              <a:effectLst>
                <a:outerShdw blurRad="38100" dist="38100" dir="2700000" algn="tl">
                  <a:srgbClr val="000000">
                    <a:alpha val="43137"/>
                  </a:srgbClr>
                </a:outerShdw>
              </a:effectLs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295400"/>
                <a:ext cx="8229600" cy="4525963"/>
              </a:xfrm>
            </p:spPr>
            <p:txBody>
              <a:bodyPr>
                <a:normAutofit/>
              </a:bodyPr>
              <a:lstStyle/>
              <a:p>
                <a:r>
                  <a:rPr lang="zh-CN" altLang="en-US" dirty="0"/>
                  <a:t>自动机理论中的典型问题：判定给定的字符串</a:t>
                </a:r>
                <a14:m>
                  <m:oMath xmlns:m="http://schemas.openxmlformats.org/officeDocument/2006/math">
                    <m:r>
                      <a:rPr lang="en-AU" altLang="zh-CN" b="0" i="1" smtClean="0">
                        <a:latin typeface="Cambria Math" panose="02040503050406030204" pitchFamily="18" charset="0"/>
                      </a:rPr>
                      <m:t>𝑤</m:t>
                    </m:r>
                  </m:oMath>
                </a14:m>
                <a:r>
                  <a:rPr lang="zh-CN" altLang="en-US" dirty="0"/>
                  <a:t>是否属于某个具体的语言</a:t>
                </a:r>
                <a14:m>
                  <m:oMath xmlns:m="http://schemas.openxmlformats.org/officeDocument/2006/math">
                    <m:r>
                      <a:rPr lang="en-AU" altLang="zh-CN" b="0" i="1" smtClean="0">
                        <a:latin typeface="Cambria Math" panose="02040503050406030204" pitchFamily="18" charset="0"/>
                      </a:rPr>
                      <m:t>𝐿</m:t>
                    </m:r>
                  </m:oMath>
                </a14:m>
                <a:r>
                  <a:rPr lang="en-AU" altLang="zh-CN" dirty="0"/>
                  <a:t>:</a:t>
                </a:r>
                <a:endParaRPr lang="en-AU" altLang="zh-CN" dirty="0"/>
              </a:p>
              <a:p>
                <a:pPr marL="0" indent="0">
                  <a:buNone/>
                </a:pPr>
                <a14:m>
                  <m:oMathPara xmlns:m="http://schemas.openxmlformats.org/officeDocument/2006/math">
                    <m:oMathParaPr>
                      <m:jc m:val="centerGroup"/>
                    </m:oMathParaPr>
                    <m:oMath xmlns:m="http://schemas.openxmlformats.org/officeDocument/2006/math">
                      <m:r>
                        <a:rPr lang="en-AU" altLang="zh-CN" b="0" i="1" smtClean="0">
                          <a:latin typeface="Cambria Math" panose="02040503050406030204" pitchFamily="18" charset="0"/>
                        </a:rPr>
                        <m:t>𝑤</m:t>
                      </m:r>
                      <m:r>
                        <a:rPr lang="en-AU" altLang="zh-CN" b="0" i="1" smtClean="0">
                          <a:latin typeface="Cambria Math" panose="02040503050406030204" pitchFamily="18" charset="0"/>
                          <a:ea typeface="Cambria Math" panose="02040503050406030204" pitchFamily="18" charset="0"/>
                        </a:rPr>
                        <m:t>∈</m:t>
                      </m:r>
                      <m:r>
                        <a:rPr lang="en-AU" altLang="zh-CN" b="0" i="1" smtClean="0">
                          <a:latin typeface="Cambria Math" panose="02040503050406030204" pitchFamily="18" charset="0"/>
                          <a:ea typeface="Cambria Math" panose="02040503050406030204" pitchFamily="18" charset="0"/>
                        </a:rPr>
                        <m:t>𝐿</m:t>
                      </m:r>
                      <m:r>
                        <a:rPr lang="en-AU" altLang="zh-CN" b="0" i="1" smtClean="0">
                          <a:latin typeface="Cambria Math" panose="02040503050406030204" pitchFamily="18" charset="0"/>
                          <a:ea typeface="Cambria Math" panose="02040503050406030204" pitchFamily="18" charset="0"/>
                        </a:rPr>
                        <m:t>?</m:t>
                      </m:r>
                    </m:oMath>
                  </m:oMathPara>
                </a14:m>
                <a:endParaRPr lang="en-AU" altLang="zh-CN" b="0" dirty="0">
                  <a:ea typeface="Cambria Math" panose="02040503050406030204" pitchFamily="18" charset="0"/>
                </a:endParaRPr>
              </a:p>
              <a:p>
                <a:pPr marL="0" indent="0">
                  <a:buNone/>
                </a:pPr>
                <a:endParaRPr lang="en-AU" altLang="zh-CN" dirty="0"/>
              </a:p>
              <a:p>
                <a:pPr marL="0" indent="0">
                  <a:buNone/>
                </a:pPr>
                <a:r>
                  <a:rPr lang="en-AU" altLang="zh-CN" dirty="0"/>
                  <a:t>(1)</a:t>
                </a:r>
                <a:r>
                  <a:rPr lang="zh-CN" altLang="en-US" dirty="0"/>
                  <a:t>语言成员性问题是自动机理论的核心问题；</a:t>
                </a:r>
                <a:endParaRPr lang="en-AU" altLang="zh-CN" dirty="0"/>
              </a:p>
              <a:p>
                <a:pPr marL="0" indent="0">
                  <a:buNone/>
                </a:pPr>
                <a:r>
                  <a:rPr lang="en-AU" altLang="zh-CN" dirty="0"/>
                  <a:t>(2)</a:t>
                </a:r>
                <a:r>
                  <a:rPr lang="zh-CN" altLang="en-US" dirty="0"/>
                  <a:t>语言和判定问题本质是相同的。</a:t>
                </a:r>
                <a:endParaRPr lang="en-AU" altLang="zh-CN"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457200" y="1295400"/>
                <a:ext cx="8229600" cy="4525963"/>
              </a:xfrm>
              <a:blipFill rotWithShape="1">
                <a:blip r:embed="rId1"/>
                <a:stretch>
                  <a:fillRect b="7"/>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
        <p:nvSpPr>
          <p:cNvPr id="6" name="Title 1"/>
          <p:cNvSpPr>
            <a:spLocks noGrp="1"/>
          </p:cNvSpPr>
          <p:nvPr>
            <p:ph type="title"/>
          </p:nvPr>
        </p:nvSpPr>
        <p:spPr>
          <a:xfrm>
            <a:off x="457200" y="-228917"/>
            <a:ext cx="8229600" cy="1143000"/>
          </a:xfrm>
        </p:spPr>
        <p:txBody>
          <a:bodyPr/>
          <a:lstStyle/>
          <a:p>
            <a:pPr algn="r">
              <a:buClrTx/>
              <a:buSzTx/>
              <a:buFontTx/>
            </a:pPr>
            <a:r>
              <a:rPr lang="zh-CN" altLang="en-US" sz="3600" dirty="0">
                <a:solidFill>
                  <a:schemeClr val="bg1"/>
                </a:solidFill>
                <a:effectLst>
                  <a:outerShdw blurRad="38100" dist="38100" dir="2700000" algn="tl">
                    <a:srgbClr val="000000">
                      <a:alpha val="43137"/>
                    </a:srgbClr>
                  </a:outerShdw>
                </a:effectLst>
              </a:rPr>
              <a:t>典型问题</a:t>
            </a:r>
            <a:endParaRPr lang="zh-CN" altLang="en-US" sz="3600" dirty="0">
              <a:solidFill>
                <a:schemeClr val="bg1"/>
              </a:solidFill>
              <a:effectLst>
                <a:outerShdw blurRad="38100" dist="38100" dir="2700000" algn="tl">
                  <a:srgbClr val="000000">
                    <a:alpha val="43137"/>
                  </a:srgbClr>
                </a:outerShdw>
              </a:effectLs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1675"/>
            <a:ext cx="8229600" cy="1143000"/>
          </a:xfrm>
        </p:spPr>
        <p:txBody>
          <a:bodyPr/>
          <a:lstStyle/>
          <a:p>
            <a:r>
              <a:rPr lang="zh-CN" altLang="en-US" dirty="0"/>
              <a:t>小结</a:t>
            </a:r>
            <a:endParaRPr lang="en-AU" dirty="0"/>
          </a:p>
        </p:txBody>
      </p:sp>
      <p:sp>
        <p:nvSpPr>
          <p:cNvPr id="3" name="Content Placeholder 2"/>
          <p:cNvSpPr>
            <a:spLocks noGrp="1"/>
          </p:cNvSpPr>
          <p:nvPr>
            <p:ph idx="1"/>
          </p:nvPr>
        </p:nvSpPr>
        <p:spPr>
          <a:xfrm>
            <a:off x="457200" y="2027237"/>
            <a:ext cx="8229600" cy="4525963"/>
          </a:xfrm>
        </p:spPr>
        <p:txBody>
          <a:bodyPr/>
          <a:lstStyle/>
          <a:p>
            <a:pPr algn="just">
              <a:buNone/>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课程简介</a:t>
            </a:r>
            <a:endParaRPr lang="en-US" altLang="zh-CN" dirty="0">
              <a:latin typeface="Times New Roman" panose="02020603050405020304" pitchFamily="18" charset="0"/>
              <a:ea typeface="宋体" panose="02010600030101010101" pitchFamily="2" charset="-122"/>
            </a:endParaRPr>
          </a:p>
          <a:p>
            <a:pPr algn="just">
              <a:buNone/>
            </a:pP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课程背景</a:t>
            </a:r>
            <a:endParaRPr lang="zh-CN" altLang="en-US" dirty="0">
              <a:latin typeface="Times New Roman" panose="02020603050405020304" pitchFamily="18" charset="0"/>
              <a:ea typeface="宋体" panose="02010600030101010101" pitchFamily="2" charset="-122"/>
            </a:endParaRPr>
          </a:p>
          <a:p>
            <a:pPr algn="just">
              <a:buNone/>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基础知识</a:t>
            </a:r>
            <a:endParaRPr lang="en-US" altLang="zh-CN" dirty="0">
              <a:latin typeface="Times New Roman" panose="02020603050405020304" pitchFamily="18" charset="0"/>
              <a:ea typeface="宋体" panose="02010600030101010101" pitchFamily="2" charset="-122"/>
            </a:endParaRPr>
          </a:p>
          <a:p>
            <a:pPr lvl="1"/>
            <a:r>
              <a:rPr lang="zh-CN" altLang="en-US" b="1" dirty="0">
                <a:latin typeface="宋体" panose="02010600030101010101" pitchFamily="2" charset="-122"/>
              </a:rPr>
              <a:t>形式化描述</a:t>
            </a:r>
            <a:endParaRPr lang="en-US" altLang="zh-CN" b="1" dirty="0">
              <a:latin typeface="宋体" panose="02010600030101010101" pitchFamily="2" charset="-122"/>
            </a:endParaRPr>
          </a:p>
          <a:p>
            <a:pPr lvl="1"/>
            <a:r>
              <a:rPr lang="zh-CN" altLang="en-US" b="1" dirty="0">
                <a:latin typeface="宋体" panose="02010600030101010101" pitchFamily="2" charset="-122"/>
              </a:rPr>
              <a:t>数学基本的证明方法：演绎证明、归纳证明、其他证明（反证法、反例证明等）</a:t>
            </a:r>
            <a:endParaRPr lang="en-US" altLang="zh-CN" b="1" dirty="0">
              <a:latin typeface="Times New Roman" panose="02020603050405020304" pitchFamily="18" charset="0"/>
            </a:endParaRPr>
          </a:p>
          <a:p>
            <a:pPr marL="514350" lvl="2" indent="-514350" algn="just">
              <a:buAutoNum type="arabicParenBoth" startAt="4"/>
            </a:pPr>
            <a:r>
              <a:rPr lang="zh-CN" altLang="en-US" sz="2800" b="1" dirty="0">
                <a:latin typeface="Times New Roman" panose="02020603050405020304" pitchFamily="18" charset="0"/>
                <a:ea typeface="宋体" panose="02010600030101010101" pitchFamily="2" charset="-122"/>
              </a:rPr>
              <a:t>形式语言与自动机的基本概念</a:t>
            </a:r>
            <a:endParaRPr lang="en-US" altLang="zh-CN" sz="2800" b="1" dirty="0">
              <a:latin typeface="Times New Roman" panose="02020603050405020304" pitchFamily="18" charset="0"/>
              <a:ea typeface="宋体" panose="02010600030101010101" pitchFamily="2" charset="-122"/>
            </a:endParaRPr>
          </a:p>
          <a:p>
            <a:pPr lvl="1"/>
            <a:r>
              <a:rPr lang="zh-CN" altLang="en-US" b="1" dirty="0">
                <a:latin typeface="宋体" panose="02010600030101010101" pitchFamily="2" charset="-122"/>
              </a:rPr>
              <a:t>字符、字符串、语言</a:t>
            </a:r>
            <a:endParaRPr lang="en-US" altLang="zh-CN" b="1" dirty="0">
              <a:latin typeface="宋体" panose="02010600030101010101" pitchFamily="2" charset="-122"/>
            </a:endParaRPr>
          </a:p>
        </p:txBody>
      </p:sp>
      <p:sp>
        <p:nvSpPr>
          <p:cNvPr id="4" name="Slide Number Placeholder 3"/>
          <p:cNvSpPr>
            <a:spLocks noGrp="1"/>
          </p:cNvSpPr>
          <p:nvPr>
            <p:ph type="sldNum" sz="quarter" idx="12"/>
          </p:nvPr>
        </p:nvSpPr>
        <p:spPr/>
        <p:txBody>
          <a:bodyPr/>
          <a:lstStyle/>
          <a:p>
            <a:pPr>
              <a:defRPr/>
            </a:pPr>
            <a:fld id="{A60C455B-B212-44F5-BDE5-4E865130930B}" type="slidenum">
              <a:rPr lang="en-US" altLang="zh-CN"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ags/tag1.xml><?xml version="1.0" encoding="utf-8"?>
<p:tagLst xmlns:p="http://schemas.openxmlformats.org/presentationml/2006/main">
  <p:tag name="KSO_WPP_MARK_KEY" val="575c7e0b-708e-49e8-a4a5-51636d78acc5"/>
  <p:tag name="COMMONDATA" val="eyJoZGlkIjoiYTc2ZGZiNzZiNDVlOGViOWVmM2JhOTY0NGJkNjUyYz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5974</Words>
  <Application>WPS 演示</Application>
  <PresentationFormat>全屏显示(4:3)</PresentationFormat>
  <Paragraphs>478</Paragraphs>
  <Slides>45</Slides>
  <Notes>27</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45</vt:i4>
      </vt:variant>
    </vt:vector>
  </HeadingPairs>
  <TitlesOfParts>
    <vt:vector size="65" baseType="lpstr">
      <vt:lpstr>Arial</vt:lpstr>
      <vt:lpstr>宋体</vt:lpstr>
      <vt:lpstr>Wingdings</vt:lpstr>
      <vt:lpstr>黑体</vt:lpstr>
      <vt:lpstr>Times New Roman</vt:lpstr>
      <vt:lpstr>微软雅黑</vt:lpstr>
      <vt:lpstr>楷体</vt:lpstr>
      <vt:lpstr>Calibri</vt:lpstr>
      <vt:lpstr>Arial Unicode MS</vt:lpstr>
      <vt:lpstr>Wingdings 3</vt:lpstr>
      <vt:lpstr>Cambria Math</vt:lpstr>
      <vt:lpstr>MS Mincho</vt:lpstr>
      <vt:lpstr>仓耳舒圆体 W03</vt:lpstr>
      <vt:lpstr>MS Mincho</vt:lpstr>
      <vt:lpstr>Wingdings</vt:lpstr>
      <vt:lpstr>Wingdings 3</vt:lpstr>
      <vt:lpstr>ksdb</vt:lpstr>
      <vt:lpstr>Ms.Luce</vt:lpstr>
      <vt:lpstr>MS PGothic</vt:lpstr>
      <vt:lpstr>Office 主题</vt:lpstr>
      <vt:lpstr>课程简介及基础知识</vt:lpstr>
      <vt:lpstr>内容大纲</vt:lpstr>
      <vt:lpstr>内容大纲</vt:lpstr>
      <vt:lpstr>课程简介</vt:lpstr>
      <vt:lpstr>课程目的和基本要求</vt:lpstr>
      <vt:lpstr>课程内容</vt:lpstr>
      <vt:lpstr>参考书</vt:lpstr>
      <vt:lpstr>辅导与考核</vt:lpstr>
      <vt:lpstr>内容大纲</vt:lpstr>
      <vt:lpstr>课程背景知识</vt:lpstr>
      <vt:lpstr>艾伦.图灵 Alan Turing</vt:lpstr>
      <vt:lpstr>年少时期的图灵</vt:lpstr>
      <vt:lpstr>图灵在二战中的工作</vt:lpstr>
      <vt:lpstr>恩尼格玛密码机</vt:lpstr>
      <vt:lpstr>电影U-571</vt:lpstr>
      <vt:lpstr>图灵测试 Turing test</vt:lpstr>
      <vt:lpstr>图灵机 Turing machine</vt:lpstr>
      <vt:lpstr>Alan Turing</vt:lpstr>
      <vt:lpstr>图灵奖 Turing Award</vt:lpstr>
      <vt:lpstr>诺姆·乔姆斯基 Noam Chomsky</vt:lpstr>
      <vt:lpstr>Noam Chomsky</vt:lpstr>
      <vt:lpstr>乔姆斯基层级 Chomsky hierarchy</vt:lpstr>
      <vt:lpstr>成才观</vt:lpstr>
      <vt:lpstr>内容大纲</vt:lpstr>
      <vt:lpstr>形式化描述</vt:lpstr>
      <vt:lpstr>形式化描述</vt:lpstr>
      <vt:lpstr>形式化证明:演绎法</vt:lpstr>
      <vt:lpstr>形式化证明:归纳法</vt:lpstr>
      <vt:lpstr>形式化证明:归纳法</vt:lpstr>
      <vt:lpstr>PowerPoint 演示文稿</vt:lpstr>
      <vt:lpstr>PowerPoint 演示文稿</vt:lpstr>
      <vt:lpstr>内容大纲</vt:lpstr>
      <vt:lpstr>什么是自动机理论？</vt:lpstr>
      <vt:lpstr>什么是形式语言？</vt:lpstr>
      <vt:lpstr>基本概念</vt:lpstr>
      <vt:lpstr>基本概念</vt:lpstr>
      <vt:lpstr>PowerPoint 演示文稿</vt:lpstr>
      <vt:lpstr>基本概念</vt:lpstr>
      <vt:lpstr>基本概念</vt:lpstr>
      <vt:lpstr>基本概念</vt:lpstr>
      <vt:lpstr>基本概念</vt:lpstr>
      <vt:lpstr>基本概念</vt:lpstr>
      <vt:lpstr>语言</vt:lpstr>
      <vt:lpstr>典型问题</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人工神经网络  Artificial Neural Networks</dc:title>
  <dc:creator>jiangzl</dc:creator>
  <cp:lastModifiedBy>汤步洲-哈工大（深圳）</cp:lastModifiedBy>
  <cp:revision>1032</cp:revision>
  <dcterms:created xsi:type="dcterms:W3CDTF">2003-03-23T06:01:00Z</dcterms:created>
  <dcterms:modified xsi:type="dcterms:W3CDTF">2026-03-08T07:46:43Z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8C260F7BD5514DF6A15EAB866AEB3C44</vt:lpwstr>
  </property>
  <property fmtid="{D5CDD505-2E9C-101B-9397-08002B2CF9AE}" pid="3" name="KSOProductBuildVer">
    <vt:lpwstr>2052-12.1.0.25225</vt:lpwstr>
  </property>
</Properties>
</file>