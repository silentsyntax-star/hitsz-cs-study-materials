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413" r:id="rId4"/>
    <p:sldId id="342" r:id="rId5"/>
    <p:sldId id="263" r:id="rId6"/>
    <p:sldId id="407" r:id="rId7"/>
    <p:sldId id="409" r:id="rId8"/>
    <p:sldId id="410" r:id="rId9"/>
    <p:sldId id="411" r:id="rId10"/>
    <p:sldId id="412" r:id="rId11"/>
    <p:sldId id="259" r:id="rId12"/>
    <p:sldId id="264" r:id="rId14"/>
    <p:sldId id="408" r:id="rId15"/>
    <p:sldId id="297" r:id="rId16"/>
    <p:sldId id="298" r:id="rId17"/>
    <p:sldId id="261" r:id="rId18"/>
    <p:sldId id="416" r:id="rId19"/>
    <p:sldId id="262" r:id="rId20"/>
    <p:sldId id="301" r:id="rId21"/>
    <p:sldId id="302" r:id="rId22"/>
    <p:sldId id="303" r:id="rId23"/>
    <p:sldId id="488" r:id="rId24"/>
    <p:sldId id="486" r:id="rId25"/>
    <p:sldId id="487" r:id="rId26"/>
    <p:sldId id="489" r:id="rId27"/>
    <p:sldId id="258" r:id="rId28"/>
    <p:sldId id="304" r:id="rId29"/>
    <p:sldId id="305" r:id="rId30"/>
    <p:sldId id="490" r:id="rId31"/>
    <p:sldId id="485" r:id="rId32"/>
    <p:sldId id="265" r:id="rId33"/>
    <p:sldId id="491" r:id="rId34"/>
    <p:sldId id="552" r:id="rId35"/>
    <p:sldId id="414" r:id="rId36"/>
    <p:sldId id="323" r:id="rId37"/>
    <p:sldId id="268" r:id="rId38"/>
    <p:sldId id="269" r:id="rId39"/>
    <p:sldId id="493" r:id="rId40"/>
    <p:sldId id="270" r:id="rId41"/>
    <p:sldId id="494" r:id="rId42"/>
    <p:sldId id="271" r:id="rId43"/>
    <p:sldId id="274" r:id="rId44"/>
    <p:sldId id="272" r:id="rId45"/>
    <p:sldId id="273" r:id="rId46"/>
    <p:sldId id="312" r:id="rId47"/>
    <p:sldId id="553" r:id="rId48"/>
    <p:sldId id="415" r:id="rId49"/>
    <p:sldId id="275" r:id="rId50"/>
    <p:sldId id="492" r:id="rId51"/>
    <p:sldId id="555" r:id="rId52"/>
    <p:sldId id="276" r:id="rId53"/>
    <p:sldId id="495" r:id="rId54"/>
    <p:sldId id="277" r:id="rId55"/>
    <p:sldId id="278" r:id="rId56"/>
    <p:sldId id="279" r:id="rId57"/>
    <p:sldId id="280" r:id="rId58"/>
    <p:sldId id="281" r:id="rId59"/>
    <p:sldId id="282" r:id="rId60"/>
    <p:sldId id="496" r:id="rId61"/>
    <p:sldId id="283" r:id="rId62"/>
    <p:sldId id="284" r:id="rId63"/>
    <p:sldId id="313" r:id="rId64"/>
    <p:sldId id="285" r:id="rId65"/>
    <p:sldId id="286" r:id="rId66"/>
    <p:sldId id="287" r:id="rId67"/>
    <p:sldId id="288" r:id="rId68"/>
    <p:sldId id="314" r:id="rId69"/>
    <p:sldId id="318" r:id="rId70"/>
    <p:sldId id="319" r:id="rId71"/>
    <p:sldId id="320" r:id="rId72"/>
    <p:sldId id="322" r:id="rId73"/>
    <p:sldId id="324" r:id="rId74"/>
    <p:sldId id="325" r:id="rId75"/>
    <p:sldId id="326" r:id="rId76"/>
    <p:sldId id="327" r:id="rId77"/>
    <p:sldId id="328" r:id="rId78"/>
    <p:sldId id="331" r:id="rId79"/>
    <p:sldId id="329" r:id="rId80"/>
    <p:sldId id="330" r:id="rId81"/>
    <p:sldId id="333" r:id="rId82"/>
    <p:sldId id="334" r:id="rId83"/>
    <p:sldId id="335" r:id="rId84"/>
    <p:sldId id="336" r:id="rId85"/>
    <p:sldId id="337" r:id="rId86"/>
    <p:sldId id="338" r:id="rId87"/>
    <p:sldId id="340" r:id="rId88"/>
    <p:sldId id="339" r:id="rId89"/>
    <p:sldId id="341" r:id="rId90"/>
  </p:sldIdLst>
  <p:sldSz cx="9144000" cy="6858000" type="screen4x3"/>
  <p:notesSz cx="6858000" cy="9144000"/>
  <p:custDataLst>
    <p:tags r:id="rId9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feng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CC99"/>
    <a:srgbClr val="FFCC66"/>
    <a:srgbClr val="0000FF"/>
    <a:srgbClr val="000099"/>
    <a:srgbClr val="0066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916" autoAdjust="0"/>
  </p:normalViewPr>
  <p:slideViewPr>
    <p:cSldViewPr snapToGrid="0">
      <p:cViewPr varScale="1">
        <p:scale>
          <a:sx n="90" d="100"/>
          <a:sy n="90" d="100"/>
        </p:scale>
        <p:origin x="115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gs" Target="tags/tag88.xml"/><Relationship Id="rId94" Type="http://schemas.openxmlformats.org/officeDocument/2006/relationships/commentAuthors" Target="commentAuthors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77B9C-9B77-475E-91A9-DCCBDE741991}" type="datetimeFigureOut">
              <a:rPr lang="en-AU" smtClean="0"/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zh-CN" altLang="en-US" dirty="0"/>
              <a:t>可以分为三段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中间的一段的长度小于等于</a:t>
            </a:r>
            <a:r>
              <a:rPr lang="en-AU" altLang="zh-CN" dirty="0"/>
              <a:t>N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最后的条件是，中间的串不论循环几次，所得的串仍属于该正则语言。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正则语言</a:t>
            </a:r>
            <a:r>
              <a:rPr lang="en-US" altLang="zh-CN" dirty="0"/>
              <a:t>L</a:t>
            </a:r>
            <a:r>
              <a:rPr lang="zh-CN" altLang="en-US" dirty="0"/>
              <a:t>一旦确定，正整数</a:t>
            </a:r>
            <a:r>
              <a:rPr lang="en-US" altLang="zh-CN" dirty="0"/>
              <a:t>N</a:t>
            </a:r>
            <a:r>
              <a:rPr lang="zh-CN" altLang="en-US" dirty="0"/>
              <a:t>就确定。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被重复的这个，一定是个非空的串。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泵引理是必要条件。即只要一个语言是正则的，那么它一定符合泵引理。它的逆否命题也成立，就是如果一个语言不满足泵引理，那么一定不是正则语言。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取一个字符串</a:t>
            </a:r>
            <a:r>
              <a:rPr lang="en-AU" altLang="zh-CN" dirty="0"/>
              <a:t>w,</a:t>
            </a:r>
            <a:r>
              <a:rPr lang="zh-CN" altLang="en-US" dirty="0"/>
              <a:t>长度为</a:t>
            </a:r>
            <a:r>
              <a:rPr lang="en-US" altLang="zh-CN" dirty="0"/>
              <a:t>m,</a:t>
            </a:r>
            <a:r>
              <a:rPr lang="zh-CN" altLang="en-US" dirty="0"/>
              <a:t>大于或等于状态数</a:t>
            </a:r>
            <a:r>
              <a:rPr lang="en-AU" altLang="zh-CN" dirty="0"/>
              <a:t>n. </a:t>
            </a:r>
            <a:r>
              <a:rPr lang="zh-CN" altLang="en-US" dirty="0"/>
              <a:t>因为</a:t>
            </a:r>
            <a:r>
              <a:rPr lang="en-AU" altLang="zh-CN" dirty="0"/>
              <a:t>w</a:t>
            </a:r>
            <a:r>
              <a:rPr lang="zh-CN" altLang="en-US" dirty="0"/>
              <a:t>属于</a:t>
            </a:r>
            <a:r>
              <a:rPr lang="en-US" altLang="zh-CN" dirty="0"/>
              <a:t>L</a:t>
            </a:r>
            <a:r>
              <a:rPr lang="zh-CN" altLang="en-US" dirty="0"/>
              <a:t>，所以</a:t>
            </a:r>
            <a:r>
              <a:rPr lang="en-US" altLang="zh-CN" dirty="0"/>
              <a:t>w</a:t>
            </a:r>
            <a:r>
              <a:rPr lang="zh-CN" altLang="en-US" dirty="0"/>
              <a:t>可以被接受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那么，我们设</a:t>
            </a:r>
            <a:r>
              <a:rPr lang="en-AU" altLang="zh-CN" dirty="0"/>
              <a:t>qi=</a:t>
            </a:r>
            <a:r>
              <a:rPr lang="en-AU" altLang="zh-CN" dirty="0" err="1"/>
              <a:t>dealta</a:t>
            </a:r>
            <a:r>
              <a:rPr lang="en-AU" altLang="zh-CN" dirty="0"/>
              <a:t> hat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也就是说，读入一个</a:t>
            </a:r>
            <a:r>
              <a:rPr lang="en-AU" altLang="zh-CN" dirty="0"/>
              <a:t>a1,</a:t>
            </a:r>
            <a:r>
              <a:rPr lang="zh-CN" altLang="en-US" dirty="0"/>
              <a:t>就到达状态</a:t>
            </a:r>
            <a:r>
              <a:rPr lang="en-AU" altLang="zh-CN" dirty="0"/>
              <a:t>q1,</a:t>
            </a:r>
            <a:r>
              <a:rPr lang="zh-CN" altLang="en-US" dirty="0"/>
              <a:t>读入</a:t>
            </a:r>
            <a:r>
              <a:rPr lang="en-AU" altLang="zh-CN" dirty="0"/>
              <a:t>q2</a:t>
            </a:r>
            <a:r>
              <a:rPr lang="zh-CN" altLang="en-US" dirty="0"/>
              <a:t>，到达状态</a:t>
            </a:r>
            <a:r>
              <a:rPr lang="en-AU" altLang="zh-CN" dirty="0"/>
              <a:t>q2</a:t>
            </a:r>
            <a:r>
              <a:rPr lang="zh-CN" altLang="en-US" dirty="0"/>
              <a:t>，最后读入</a:t>
            </a:r>
            <a:r>
              <a:rPr lang="en-US" altLang="zh-CN" dirty="0"/>
              <a:t>am</a:t>
            </a:r>
            <a:r>
              <a:rPr lang="zh-CN" altLang="en-US" dirty="0"/>
              <a:t>，到达状态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显然，</a:t>
            </a:r>
            <a:r>
              <a:rPr lang="en-AU" altLang="zh-CN" dirty="0" err="1"/>
              <a:t>qm</a:t>
            </a:r>
            <a:r>
              <a:rPr lang="zh-CN" altLang="en-US" dirty="0"/>
              <a:t>是接受状态。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那么，我们看</a:t>
            </a:r>
            <a:r>
              <a:rPr lang="en-AU" altLang="zh-CN" dirty="0"/>
              <a:t>w</a:t>
            </a:r>
            <a:r>
              <a:rPr lang="zh-CN" altLang="en-US" dirty="0"/>
              <a:t>的前</a:t>
            </a:r>
            <a:r>
              <a:rPr lang="en-AU" altLang="zh-CN" dirty="0"/>
              <a:t>n</a:t>
            </a:r>
            <a:r>
              <a:rPr lang="zh-CN" altLang="en-US" dirty="0"/>
              <a:t>个字符，读入</a:t>
            </a:r>
            <a:r>
              <a:rPr lang="en-US" altLang="zh-CN" dirty="0"/>
              <a:t>n</a:t>
            </a:r>
            <a:r>
              <a:rPr lang="zh-CN" altLang="en-US" dirty="0"/>
              <a:t>个字符后，到达的状态为</a:t>
            </a:r>
            <a:r>
              <a:rPr lang="en-AU" altLang="zh-CN" dirty="0"/>
              <a:t>qn+1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而</a:t>
            </a:r>
            <a:r>
              <a:rPr lang="en-AU" altLang="zh-CN" dirty="0"/>
              <a:t>DFA</a:t>
            </a:r>
            <a:r>
              <a:rPr lang="zh-CN" altLang="en-US" dirty="0"/>
              <a:t>只有</a:t>
            </a:r>
            <a:r>
              <a:rPr lang="en-US" altLang="zh-CN" dirty="0"/>
              <a:t>n</a:t>
            </a:r>
            <a:r>
              <a:rPr lang="zh-CN" altLang="en-US" dirty="0"/>
              <a:t>个状态，根据鸽巢原理，必有两状态相同，不凡设</a:t>
            </a:r>
            <a:r>
              <a:rPr lang="en-US" altLang="zh-CN" dirty="0"/>
              <a:t>qi=</a:t>
            </a:r>
            <a:r>
              <a:rPr lang="en-US" altLang="zh-CN" dirty="0" err="1"/>
              <a:t>qj</a:t>
            </a:r>
            <a:r>
              <a:rPr lang="en-US" altLang="zh-CN" dirty="0"/>
              <a:t>,(0&lt;=</a:t>
            </a:r>
            <a:r>
              <a:rPr lang="en-US" altLang="zh-CN" dirty="0" err="1"/>
              <a:t>i</a:t>
            </a:r>
            <a:r>
              <a:rPr lang="en-US" altLang="zh-CN" dirty="0"/>
              <a:t>&lt;j&lt;=n)</a:t>
            </a:r>
            <a:r>
              <a:rPr lang="zh-CN" altLang="en-US" dirty="0"/>
              <a:t>。因为</a:t>
            </a:r>
            <a:r>
              <a:rPr lang="en-AU" altLang="zh-CN" dirty="0"/>
              <a:t>qi</a:t>
            </a:r>
            <a:r>
              <a:rPr lang="zh-CN" altLang="en-US" dirty="0"/>
              <a:t>的定义是每次读入一个字符到达的状态，所以</a:t>
            </a:r>
            <a:r>
              <a:rPr lang="en-AU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至少相差一个字符，</a:t>
            </a:r>
            <a:r>
              <a:rPr lang="en-AU" altLang="zh-CN" dirty="0" err="1"/>
              <a:t>i</a:t>
            </a:r>
            <a:r>
              <a:rPr lang="zh-CN" altLang="en-US" dirty="0"/>
              <a:t>是不等于</a:t>
            </a:r>
            <a:r>
              <a:rPr lang="en-US" altLang="zh-CN" dirty="0"/>
              <a:t>j</a:t>
            </a:r>
            <a:r>
              <a:rPr lang="zh-CN" altLang="en-US" dirty="0"/>
              <a:t>的。我们不凡设</a:t>
            </a:r>
            <a:r>
              <a:rPr lang="en-AU" altLang="zh-CN" dirty="0" err="1"/>
              <a:t>i</a:t>
            </a:r>
            <a:r>
              <a:rPr lang="en-AU" altLang="zh-CN" dirty="0"/>
              <a:t>&lt;j</a:t>
            </a:r>
            <a:r>
              <a:rPr lang="zh-CN" altLang="en-US" dirty="0"/>
              <a:t>。因为我们只看</a:t>
            </a:r>
            <a:r>
              <a:rPr lang="en-AU" altLang="zh-CN" dirty="0"/>
              <a:t>w</a:t>
            </a:r>
            <a:r>
              <a:rPr lang="zh-CN" altLang="en-US" dirty="0"/>
              <a:t>的前</a:t>
            </a:r>
            <a:r>
              <a:rPr lang="en-AU" altLang="zh-CN" dirty="0"/>
              <a:t>n</a:t>
            </a:r>
            <a:r>
              <a:rPr lang="zh-CN" altLang="en-US" dirty="0"/>
              <a:t>个字符，所以</a:t>
            </a:r>
            <a:r>
              <a:rPr lang="en-AU" altLang="zh-CN" dirty="0"/>
              <a:t>j&lt;n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根据这个</a:t>
            </a:r>
            <a:r>
              <a:rPr lang="en-AU" altLang="zh-CN" dirty="0"/>
              <a:t>q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AU" altLang="zh-CN" dirty="0" err="1"/>
              <a:t>qj</a:t>
            </a:r>
            <a:r>
              <a:rPr lang="en-AU" altLang="zh-CN" dirty="0"/>
              <a:t>,</a:t>
            </a:r>
            <a:r>
              <a:rPr lang="zh-CN" altLang="en-US" dirty="0"/>
              <a:t>可以把这个路径分为三段，分别是</a:t>
            </a:r>
            <a:r>
              <a:rPr lang="en-AU" altLang="zh-CN" dirty="0"/>
              <a:t>x=, y=, z=…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一段是从</a:t>
            </a:r>
            <a:r>
              <a:rPr lang="en-AU" altLang="zh-CN" dirty="0"/>
              <a:t>a1…ai,</a:t>
            </a:r>
            <a:r>
              <a:rPr lang="zh-CN" altLang="en-US" dirty="0"/>
              <a:t>到达</a:t>
            </a:r>
            <a:r>
              <a:rPr lang="en-AU" altLang="zh-CN" dirty="0"/>
              <a:t>qi, </a:t>
            </a:r>
            <a:r>
              <a:rPr lang="zh-CN" altLang="en-US" dirty="0"/>
              <a:t>然后从</a:t>
            </a:r>
            <a:r>
              <a:rPr lang="en-AU" altLang="zh-CN" dirty="0"/>
              <a:t>aI+1</a:t>
            </a:r>
            <a:r>
              <a:rPr lang="zh-CN" altLang="en-US" dirty="0"/>
              <a:t>到</a:t>
            </a:r>
            <a:r>
              <a:rPr lang="en-AU" altLang="zh-CN" dirty="0" err="1"/>
              <a:t>aj</a:t>
            </a:r>
            <a:r>
              <a:rPr lang="en-AU" altLang="zh-CN" dirty="0"/>
              <a:t>,</a:t>
            </a:r>
            <a:r>
              <a:rPr lang="zh-CN" altLang="en-US" dirty="0"/>
              <a:t>到达</a:t>
            </a:r>
            <a:r>
              <a:rPr lang="en-US" altLang="zh-CN" dirty="0" err="1"/>
              <a:t>qj</a:t>
            </a:r>
            <a:r>
              <a:rPr lang="zh-CN" altLang="en-US" dirty="0"/>
              <a:t>，由于</a:t>
            </a:r>
            <a:r>
              <a:rPr lang="en-AU" altLang="zh-CN" dirty="0" err="1"/>
              <a:t>qj</a:t>
            </a:r>
            <a:r>
              <a:rPr lang="en-AU" altLang="zh-CN" dirty="0"/>
              <a:t>=qi, </a:t>
            </a:r>
            <a:r>
              <a:rPr lang="zh-CN" altLang="en-US" dirty="0"/>
              <a:t>因为这里是</a:t>
            </a:r>
            <a:r>
              <a:rPr lang="en-AU" altLang="zh-CN" dirty="0"/>
              <a:t>qi</a:t>
            </a:r>
            <a:r>
              <a:rPr lang="zh-CN" altLang="en-US" dirty="0"/>
              <a:t>。然后再经过</a:t>
            </a:r>
            <a:r>
              <a:rPr lang="en-AU" altLang="zh-CN" dirty="0"/>
              <a:t>z</a:t>
            </a:r>
            <a:r>
              <a:rPr lang="zh-CN" altLang="en-US" dirty="0"/>
              <a:t>，还是会到达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所以经过</a:t>
            </a:r>
            <a:r>
              <a:rPr lang="en-US" altLang="zh-CN" dirty="0"/>
              <a:t>qi</a:t>
            </a:r>
            <a:r>
              <a:rPr lang="zh-CN" altLang="en-US" dirty="0"/>
              <a:t>的时候，我们可以讲</a:t>
            </a:r>
            <a:r>
              <a:rPr lang="en-AU" altLang="zh-CN" dirty="0"/>
              <a:t>y</a:t>
            </a:r>
            <a:r>
              <a:rPr lang="zh-CN" altLang="en-US" dirty="0"/>
              <a:t>重复多次，还是在状态</a:t>
            </a:r>
            <a:r>
              <a:rPr lang="en-AU" altLang="zh-CN" dirty="0"/>
              <a:t>qi</a:t>
            </a:r>
            <a:r>
              <a:rPr lang="zh-CN" altLang="en-US" dirty="0"/>
              <a:t>。只要</a:t>
            </a:r>
            <a:r>
              <a:rPr lang="en-AU" altLang="zh-CN" dirty="0"/>
              <a:t>k&gt;0</a:t>
            </a:r>
            <a:r>
              <a:rPr lang="zh-CN" altLang="en-US" dirty="0"/>
              <a:t>，最后还是会到达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I&lt;j</a:t>
            </a:r>
            <a:r>
              <a:rPr lang="zh-CN" altLang="en-US" dirty="0"/>
              <a:t>，所以</a:t>
            </a:r>
            <a:r>
              <a:rPr lang="en-AU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之间至少有一个字符，所以</a:t>
            </a:r>
            <a:r>
              <a:rPr lang="en-US" altLang="zh-CN" dirty="0"/>
              <a:t>y</a:t>
            </a:r>
            <a:r>
              <a:rPr lang="zh-CN" altLang="en-US" dirty="0"/>
              <a:t>不会是空串。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而因为我们取的是前面</a:t>
            </a:r>
            <a:r>
              <a:rPr lang="en-US" altLang="zh-CN" dirty="0"/>
              <a:t>n</a:t>
            </a:r>
            <a:r>
              <a:rPr lang="zh-CN" altLang="en-US" dirty="0"/>
              <a:t>个字符，所以</a:t>
            </a:r>
            <a:r>
              <a:rPr lang="en-AU" altLang="zh-CN" dirty="0"/>
              <a:t>|</a:t>
            </a:r>
            <a:r>
              <a:rPr lang="en-AU" altLang="zh-CN" dirty="0" err="1"/>
              <a:t>xy</a:t>
            </a:r>
            <a:r>
              <a:rPr lang="en-AU" altLang="zh-CN" dirty="0"/>
              <a:t>|&lt;=n</a:t>
            </a:r>
            <a:endParaRPr lang="en-US" altLang="zh-CN" dirty="0"/>
          </a:p>
          <a:p>
            <a:endParaRPr lang="en-US" altLang="zh-CN" dirty="0"/>
          </a:p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取一个字符串</a:t>
            </a:r>
            <a:r>
              <a:rPr lang="en-AU" altLang="zh-CN" dirty="0"/>
              <a:t>w,</a:t>
            </a:r>
            <a:r>
              <a:rPr lang="zh-CN" altLang="en-US" dirty="0"/>
              <a:t>长度为</a:t>
            </a:r>
            <a:r>
              <a:rPr lang="en-US" altLang="zh-CN" dirty="0"/>
              <a:t>m,</a:t>
            </a:r>
            <a:r>
              <a:rPr lang="zh-CN" altLang="en-US" dirty="0"/>
              <a:t>大于或等于状态数</a:t>
            </a:r>
            <a:r>
              <a:rPr lang="en-AU" altLang="zh-CN" dirty="0"/>
              <a:t>n. </a:t>
            </a:r>
            <a:r>
              <a:rPr lang="zh-CN" altLang="en-US" dirty="0"/>
              <a:t>因为</a:t>
            </a:r>
            <a:r>
              <a:rPr lang="en-AU" altLang="zh-CN" dirty="0"/>
              <a:t>w</a:t>
            </a:r>
            <a:r>
              <a:rPr lang="zh-CN" altLang="en-US" dirty="0"/>
              <a:t>属于</a:t>
            </a:r>
            <a:r>
              <a:rPr lang="en-US" altLang="zh-CN" dirty="0"/>
              <a:t>L</a:t>
            </a:r>
            <a:r>
              <a:rPr lang="zh-CN" altLang="en-US" dirty="0"/>
              <a:t>，所以</a:t>
            </a:r>
            <a:r>
              <a:rPr lang="en-US" altLang="zh-CN" dirty="0"/>
              <a:t>w</a:t>
            </a:r>
            <a:r>
              <a:rPr lang="zh-CN" altLang="en-US" dirty="0"/>
              <a:t>可以被接受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那么，我们设</a:t>
            </a:r>
            <a:r>
              <a:rPr lang="en-AU" altLang="zh-CN" dirty="0"/>
              <a:t>qi=</a:t>
            </a:r>
            <a:r>
              <a:rPr lang="en-AU" altLang="zh-CN" dirty="0" err="1"/>
              <a:t>dealta</a:t>
            </a:r>
            <a:r>
              <a:rPr lang="en-AU" altLang="zh-CN" dirty="0"/>
              <a:t> hat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也就是说，读入一个</a:t>
            </a:r>
            <a:r>
              <a:rPr lang="en-AU" altLang="zh-CN" dirty="0"/>
              <a:t>a1,</a:t>
            </a:r>
            <a:r>
              <a:rPr lang="zh-CN" altLang="en-US" dirty="0"/>
              <a:t>就到达状态</a:t>
            </a:r>
            <a:r>
              <a:rPr lang="en-AU" altLang="zh-CN" dirty="0"/>
              <a:t>q1,</a:t>
            </a:r>
            <a:r>
              <a:rPr lang="zh-CN" altLang="en-US" dirty="0"/>
              <a:t>读入</a:t>
            </a:r>
            <a:r>
              <a:rPr lang="en-AU" altLang="zh-CN" dirty="0"/>
              <a:t>q2</a:t>
            </a:r>
            <a:r>
              <a:rPr lang="zh-CN" altLang="en-US" dirty="0"/>
              <a:t>，到达状态</a:t>
            </a:r>
            <a:r>
              <a:rPr lang="en-AU" altLang="zh-CN" dirty="0"/>
              <a:t>q2</a:t>
            </a:r>
            <a:r>
              <a:rPr lang="zh-CN" altLang="en-US" dirty="0"/>
              <a:t>，最后读入</a:t>
            </a:r>
            <a:r>
              <a:rPr lang="en-US" altLang="zh-CN" dirty="0"/>
              <a:t>am</a:t>
            </a:r>
            <a:r>
              <a:rPr lang="zh-CN" altLang="en-US" dirty="0"/>
              <a:t>，到达状态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显然，</a:t>
            </a:r>
            <a:r>
              <a:rPr lang="en-AU" altLang="zh-CN" dirty="0" err="1"/>
              <a:t>qm</a:t>
            </a:r>
            <a:r>
              <a:rPr lang="zh-CN" altLang="en-US" dirty="0"/>
              <a:t>是接受状态。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那么，我们看</a:t>
            </a:r>
            <a:r>
              <a:rPr lang="en-AU" altLang="zh-CN" dirty="0"/>
              <a:t>w</a:t>
            </a:r>
            <a:r>
              <a:rPr lang="zh-CN" altLang="en-US" dirty="0"/>
              <a:t>的前</a:t>
            </a:r>
            <a:r>
              <a:rPr lang="en-AU" altLang="zh-CN" dirty="0"/>
              <a:t>n</a:t>
            </a:r>
            <a:r>
              <a:rPr lang="zh-CN" altLang="en-US" dirty="0"/>
              <a:t>个字符，读入</a:t>
            </a:r>
            <a:r>
              <a:rPr lang="en-US" altLang="zh-CN" dirty="0"/>
              <a:t>n</a:t>
            </a:r>
            <a:r>
              <a:rPr lang="zh-CN" altLang="en-US" dirty="0"/>
              <a:t>个字符后，到达的状态为</a:t>
            </a:r>
            <a:r>
              <a:rPr lang="en-AU" altLang="zh-CN" dirty="0"/>
              <a:t>qn+1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而</a:t>
            </a:r>
            <a:r>
              <a:rPr lang="en-AU" altLang="zh-CN" dirty="0"/>
              <a:t>DFA</a:t>
            </a:r>
            <a:r>
              <a:rPr lang="zh-CN" altLang="en-US" dirty="0"/>
              <a:t>只有</a:t>
            </a:r>
            <a:r>
              <a:rPr lang="en-US" altLang="zh-CN" dirty="0"/>
              <a:t>n</a:t>
            </a:r>
            <a:r>
              <a:rPr lang="zh-CN" altLang="en-US" dirty="0"/>
              <a:t>个状态，根据鸽巢原理，必有两状态相同，不凡设</a:t>
            </a:r>
            <a:r>
              <a:rPr lang="en-US" altLang="zh-CN" dirty="0"/>
              <a:t>qi=</a:t>
            </a:r>
            <a:r>
              <a:rPr lang="en-US" altLang="zh-CN" dirty="0" err="1"/>
              <a:t>qj</a:t>
            </a:r>
            <a:r>
              <a:rPr lang="en-US" altLang="zh-CN" dirty="0"/>
              <a:t>,(0&lt;=</a:t>
            </a:r>
            <a:r>
              <a:rPr lang="en-US" altLang="zh-CN" dirty="0" err="1"/>
              <a:t>i</a:t>
            </a:r>
            <a:r>
              <a:rPr lang="en-US" altLang="zh-CN" dirty="0"/>
              <a:t>&lt;j&lt;=n)</a:t>
            </a:r>
            <a:r>
              <a:rPr lang="zh-CN" altLang="en-US" dirty="0"/>
              <a:t>。因为</a:t>
            </a:r>
            <a:r>
              <a:rPr lang="en-AU" altLang="zh-CN" dirty="0"/>
              <a:t>qi</a:t>
            </a:r>
            <a:r>
              <a:rPr lang="zh-CN" altLang="en-US" dirty="0"/>
              <a:t>的定义是每次读入一个字符到达的状态，所以</a:t>
            </a:r>
            <a:r>
              <a:rPr lang="en-AU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至少相差一个字符，</a:t>
            </a:r>
            <a:r>
              <a:rPr lang="en-AU" altLang="zh-CN" dirty="0" err="1"/>
              <a:t>i</a:t>
            </a:r>
            <a:r>
              <a:rPr lang="zh-CN" altLang="en-US" dirty="0"/>
              <a:t>是不等于</a:t>
            </a:r>
            <a:r>
              <a:rPr lang="en-US" altLang="zh-CN" dirty="0"/>
              <a:t>j</a:t>
            </a:r>
            <a:r>
              <a:rPr lang="zh-CN" altLang="en-US" dirty="0"/>
              <a:t>的。我们不凡设</a:t>
            </a:r>
            <a:r>
              <a:rPr lang="en-AU" altLang="zh-CN" dirty="0" err="1"/>
              <a:t>i</a:t>
            </a:r>
            <a:r>
              <a:rPr lang="en-AU" altLang="zh-CN" dirty="0"/>
              <a:t>&lt;j</a:t>
            </a:r>
            <a:r>
              <a:rPr lang="zh-CN" altLang="en-US" dirty="0"/>
              <a:t>。因为我们只看</a:t>
            </a:r>
            <a:r>
              <a:rPr lang="en-AU" altLang="zh-CN" dirty="0"/>
              <a:t>w</a:t>
            </a:r>
            <a:r>
              <a:rPr lang="zh-CN" altLang="en-US" dirty="0"/>
              <a:t>的前</a:t>
            </a:r>
            <a:r>
              <a:rPr lang="en-AU" altLang="zh-CN" dirty="0"/>
              <a:t>n</a:t>
            </a:r>
            <a:r>
              <a:rPr lang="zh-CN" altLang="en-US" dirty="0"/>
              <a:t>个字符，所以</a:t>
            </a:r>
            <a:r>
              <a:rPr lang="en-AU" altLang="zh-CN" dirty="0"/>
              <a:t>j&lt;n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根据这个</a:t>
            </a:r>
            <a:r>
              <a:rPr lang="en-AU" altLang="zh-CN" dirty="0"/>
              <a:t>q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AU" altLang="zh-CN" dirty="0" err="1"/>
              <a:t>qj</a:t>
            </a:r>
            <a:r>
              <a:rPr lang="en-AU" altLang="zh-CN" dirty="0"/>
              <a:t>,</a:t>
            </a:r>
            <a:r>
              <a:rPr lang="zh-CN" altLang="en-US" dirty="0"/>
              <a:t>可以把这个路径分为三段，分别是</a:t>
            </a:r>
            <a:r>
              <a:rPr lang="en-AU" altLang="zh-CN" dirty="0"/>
              <a:t>x=, y=, z=…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一段是从</a:t>
            </a:r>
            <a:r>
              <a:rPr lang="en-AU" altLang="zh-CN" dirty="0"/>
              <a:t>a1…ai,</a:t>
            </a:r>
            <a:r>
              <a:rPr lang="zh-CN" altLang="en-US" dirty="0"/>
              <a:t>到达</a:t>
            </a:r>
            <a:r>
              <a:rPr lang="en-AU" altLang="zh-CN" dirty="0"/>
              <a:t>qi, </a:t>
            </a:r>
            <a:r>
              <a:rPr lang="zh-CN" altLang="en-US" dirty="0"/>
              <a:t>然后从</a:t>
            </a:r>
            <a:r>
              <a:rPr lang="en-AU" altLang="zh-CN" dirty="0"/>
              <a:t>aI+1</a:t>
            </a:r>
            <a:r>
              <a:rPr lang="zh-CN" altLang="en-US" dirty="0"/>
              <a:t>到</a:t>
            </a:r>
            <a:r>
              <a:rPr lang="en-AU" altLang="zh-CN" dirty="0" err="1"/>
              <a:t>aj</a:t>
            </a:r>
            <a:r>
              <a:rPr lang="en-AU" altLang="zh-CN" dirty="0"/>
              <a:t>,</a:t>
            </a:r>
            <a:r>
              <a:rPr lang="zh-CN" altLang="en-US" dirty="0"/>
              <a:t>到达</a:t>
            </a:r>
            <a:r>
              <a:rPr lang="en-US" altLang="zh-CN" dirty="0" err="1"/>
              <a:t>qj</a:t>
            </a:r>
            <a:r>
              <a:rPr lang="zh-CN" altLang="en-US" dirty="0"/>
              <a:t>，由于</a:t>
            </a:r>
            <a:r>
              <a:rPr lang="en-AU" altLang="zh-CN" dirty="0" err="1"/>
              <a:t>qj</a:t>
            </a:r>
            <a:r>
              <a:rPr lang="en-AU" altLang="zh-CN" dirty="0"/>
              <a:t>=qi, </a:t>
            </a:r>
            <a:r>
              <a:rPr lang="zh-CN" altLang="en-US" dirty="0"/>
              <a:t>因为这里是</a:t>
            </a:r>
            <a:r>
              <a:rPr lang="en-AU" altLang="zh-CN" dirty="0"/>
              <a:t>qi</a:t>
            </a:r>
            <a:r>
              <a:rPr lang="zh-CN" altLang="en-US" dirty="0"/>
              <a:t>。然后再经过</a:t>
            </a:r>
            <a:r>
              <a:rPr lang="en-AU" altLang="zh-CN" dirty="0"/>
              <a:t>z</a:t>
            </a:r>
            <a:r>
              <a:rPr lang="zh-CN" altLang="en-US" dirty="0"/>
              <a:t>，还是会到达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所以经过</a:t>
            </a:r>
            <a:r>
              <a:rPr lang="en-US" altLang="zh-CN" dirty="0"/>
              <a:t>qi</a:t>
            </a:r>
            <a:r>
              <a:rPr lang="zh-CN" altLang="en-US" dirty="0"/>
              <a:t>的时候，我们可以讲</a:t>
            </a:r>
            <a:r>
              <a:rPr lang="en-AU" altLang="zh-CN" dirty="0"/>
              <a:t>y</a:t>
            </a:r>
            <a:r>
              <a:rPr lang="zh-CN" altLang="en-US" dirty="0"/>
              <a:t>重复多次，还是在状态</a:t>
            </a:r>
            <a:r>
              <a:rPr lang="en-AU" altLang="zh-CN" dirty="0"/>
              <a:t>qi</a:t>
            </a:r>
            <a:r>
              <a:rPr lang="zh-CN" altLang="en-US" dirty="0"/>
              <a:t>。只要</a:t>
            </a:r>
            <a:r>
              <a:rPr lang="en-AU" altLang="zh-CN" dirty="0"/>
              <a:t>k&gt;0</a:t>
            </a:r>
            <a:r>
              <a:rPr lang="zh-CN" altLang="en-US" dirty="0"/>
              <a:t>，最后还是会到达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I&lt;j</a:t>
            </a:r>
            <a:r>
              <a:rPr lang="zh-CN" altLang="en-US" dirty="0"/>
              <a:t>，所以</a:t>
            </a:r>
            <a:r>
              <a:rPr lang="en-AU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之间至少有一个字符，所以</a:t>
            </a:r>
            <a:r>
              <a:rPr lang="en-US" altLang="zh-CN" dirty="0"/>
              <a:t>y</a:t>
            </a:r>
            <a:r>
              <a:rPr lang="zh-CN" altLang="en-US" dirty="0"/>
              <a:t>不会是空串。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而因为我们取的是前面</a:t>
            </a:r>
            <a:r>
              <a:rPr lang="en-US" altLang="zh-CN" dirty="0"/>
              <a:t>n</a:t>
            </a:r>
            <a:r>
              <a:rPr lang="zh-CN" altLang="en-US" dirty="0"/>
              <a:t>个字符，所以</a:t>
            </a:r>
            <a:r>
              <a:rPr lang="en-AU" altLang="zh-CN" dirty="0"/>
              <a:t>|</a:t>
            </a:r>
            <a:r>
              <a:rPr lang="en-AU" altLang="zh-CN" dirty="0" err="1"/>
              <a:t>xy</a:t>
            </a:r>
            <a:r>
              <a:rPr lang="en-AU" altLang="zh-CN" dirty="0"/>
              <a:t>|&lt;=n</a:t>
            </a:r>
            <a:endParaRPr lang="en-US" altLang="zh-CN" dirty="0"/>
          </a:p>
          <a:p>
            <a:endParaRPr lang="en-US" altLang="zh-CN" dirty="0"/>
          </a:p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取一个字符串</a:t>
            </a:r>
            <a:r>
              <a:rPr lang="en-AU" altLang="zh-CN" dirty="0"/>
              <a:t>w,</a:t>
            </a:r>
            <a:r>
              <a:rPr lang="zh-CN" altLang="en-US" dirty="0"/>
              <a:t>长度为</a:t>
            </a:r>
            <a:r>
              <a:rPr lang="en-US" altLang="zh-CN" dirty="0"/>
              <a:t>m,</a:t>
            </a:r>
            <a:r>
              <a:rPr lang="zh-CN" altLang="en-US" dirty="0"/>
              <a:t>大于或等于状态数</a:t>
            </a:r>
            <a:r>
              <a:rPr lang="en-AU" altLang="zh-CN" dirty="0"/>
              <a:t>n. </a:t>
            </a:r>
            <a:r>
              <a:rPr lang="zh-CN" altLang="en-US" dirty="0"/>
              <a:t>因为</a:t>
            </a:r>
            <a:r>
              <a:rPr lang="en-AU" altLang="zh-CN" dirty="0"/>
              <a:t>w</a:t>
            </a:r>
            <a:r>
              <a:rPr lang="zh-CN" altLang="en-US" dirty="0"/>
              <a:t>属于</a:t>
            </a:r>
            <a:r>
              <a:rPr lang="en-US" altLang="zh-CN" dirty="0"/>
              <a:t>L</a:t>
            </a:r>
            <a:r>
              <a:rPr lang="zh-CN" altLang="en-US" dirty="0"/>
              <a:t>，所以</a:t>
            </a:r>
            <a:r>
              <a:rPr lang="en-US" altLang="zh-CN" dirty="0"/>
              <a:t>w</a:t>
            </a:r>
            <a:r>
              <a:rPr lang="zh-CN" altLang="en-US" dirty="0"/>
              <a:t>可以被接受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那么，我们设</a:t>
            </a:r>
            <a:r>
              <a:rPr lang="en-AU" altLang="zh-CN" dirty="0"/>
              <a:t>qi=</a:t>
            </a:r>
            <a:r>
              <a:rPr lang="en-AU" altLang="zh-CN" dirty="0" err="1"/>
              <a:t>dealta</a:t>
            </a:r>
            <a:r>
              <a:rPr lang="en-AU" altLang="zh-CN" dirty="0"/>
              <a:t> hat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也就是说，读入一个</a:t>
            </a:r>
            <a:r>
              <a:rPr lang="en-AU" altLang="zh-CN" dirty="0"/>
              <a:t>a1,</a:t>
            </a:r>
            <a:r>
              <a:rPr lang="zh-CN" altLang="en-US" dirty="0"/>
              <a:t>就到达状态</a:t>
            </a:r>
            <a:r>
              <a:rPr lang="en-AU" altLang="zh-CN" dirty="0"/>
              <a:t>q1,</a:t>
            </a:r>
            <a:r>
              <a:rPr lang="zh-CN" altLang="en-US" dirty="0"/>
              <a:t>读入</a:t>
            </a:r>
            <a:r>
              <a:rPr lang="en-AU" altLang="zh-CN" dirty="0"/>
              <a:t>q2</a:t>
            </a:r>
            <a:r>
              <a:rPr lang="zh-CN" altLang="en-US" dirty="0"/>
              <a:t>，到达状态</a:t>
            </a:r>
            <a:r>
              <a:rPr lang="en-AU" altLang="zh-CN" dirty="0"/>
              <a:t>q2</a:t>
            </a:r>
            <a:r>
              <a:rPr lang="zh-CN" altLang="en-US" dirty="0"/>
              <a:t>，最后读入</a:t>
            </a:r>
            <a:r>
              <a:rPr lang="en-US" altLang="zh-CN" dirty="0"/>
              <a:t>am</a:t>
            </a:r>
            <a:r>
              <a:rPr lang="zh-CN" altLang="en-US" dirty="0"/>
              <a:t>，到达状态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显然，</a:t>
            </a:r>
            <a:r>
              <a:rPr lang="en-AU" altLang="zh-CN" dirty="0" err="1"/>
              <a:t>qm</a:t>
            </a:r>
            <a:r>
              <a:rPr lang="zh-CN" altLang="en-US" dirty="0"/>
              <a:t>是接受状态。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那么，我们看</a:t>
            </a:r>
            <a:r>
              <a:rPr lang="en-AU" altLang="zh-CN" dirty="0"/>
              <a:t>w</a:t>
            </a:r>
            <a:r>
              <a:rPr lang="zh-CN" altLang="en-US" dirty="0"/>
              <a:t>的前</a:t>
            </a:r>
            <a:r>
              <a:rPr lang="en-AU" altLang="zh-CN" dirty="0"/>
              <a:t>n</a:t>
            </a:r>
            <a:r>
              <a:rPr lang="zh-CN" altLang="en-US" dirty="0"/>
              <a:t>个字符，读入</a:t>
            </a:r>
            <a:r>
              <a:rPr lang="en-US" altLang="zh-CN" dirty="0"/>
              <a:t>n</a:t>
            </a:r>
            <a:r>
              <a:rPr lang="zh-CN" altLang="en-US" dirty="0"/>
              <a:t>个字符后，到达的状态为</a:t>
            </a:r>
            <a:r>
              <a:rPr lang="en-AU" altLang="zh-CN" dirty="0"/>
              <a:t>qn+1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而</a:t>
            </a:r>
            <a:r>
              <a:rPr lang="en-AU" altLang="zh-CN" dirty="0"/>
              <a:t>DFA</a:t>
            </a:r>
            <a:r>
              <a:rPr lang="zh-CN" altLang="en-US" dirty="0"/>
              <a:t>只有</a:t>
            </a:r>
            <a:r>
              <a:rPr lang="en-US" altLang="zh-CN" dirty="0"/>
              <a:t>n</a:t>
            </a:r>
            <a:r>
              <a:rPr lang="zh-CN" altLang="en-US" dirty="0"/>
              <a:t>个状态，根据鸽巢原理，必有两状态相同，不凡设</a:t>
            </a:r>
            <a:r>
              <a:rPr lang="en-US" altLang="zh-CN" dirty="0"/>
              <a:t>qi=</a:t>
            </a:r>
            <a:r>
              <a:rPr lang="en-US" altLang="zh-CN" dirty="0" err="1"/>
              <a:t>qj</a:t>
            </a:r>
            <a:r>
              <a:rPr lang="en-US" altLang="zh-CN" dirty="0"/>
              <a:t>,(0&lt;=</a:t>
            </a:r>
            <a:r>
              <a:rPr lang="en-US" altLang="zh-CN" dirty="0" err="1"/>
              <a:t>i</a:t>
            </a:r>
            <a:r>
              <a:rPr lang="en-US" altLang="zh-CN" dirty="0"/>
              <a:t>&lt;j&lt;=n)</a:t>
            </a:r>
            <a:r>
              <a:rPr lang="zh-CN" altLang="en-US" dirty="0"/>
              <a:t>。因为</a:t>
            </a:r>
            <a:r>
              <a:rPr lang="en-AU" altLang="zh-CN" dirty="0"/>
              <a:t>qi</a:t>
            </a:r>
            <a:r>
              <a:rPr lang="zh-CN" altLang="en-US" dirty="0"/>
              <a:t>的定义是每次读入一个字符到达的状态，所以</a:t>
            </a:r>
            <a:r>
              <a:rPr lang="en-AU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至少相差一个字符，</a:t>
            </a:r>
            <a:r>
              <a:rPr lang="en-AU" altLang="zh-CN" dirty="0" err="1"/>
              <a:t>i</a:t>
            </a:r>
            <a:r>
              <a:rPr lang="zh-CN" altLang="en-US" dirty="0"/>
              <a:t>是不等于</a:t>
            </a:r>
            <a:r>
              <a:rPr lang="en-US" altLang="zh-CN" dirty="0"/>
              <a:t>j</a:t>
            </a:r>
            <a:r>
              <a:rPr lang="zh-CN" altLang="en-US" dirty="0"/>
              <a:t>的。我们不凡设</a:t>
            </a:r>
            <a:r>
              <a:rPr lang="en-AU" altLang="zh-CN" dirty="0" err="1"/>
              <a:t>i</a:t>
            </a:r>
            <a:r>
              <a:rPr lang="en-AU" altLang="zh-CN" dirty="0"/>
              <a:t>&lt;j</a:t>
            </a:r>
            <a:r>
              <a:rPr lang="zh-CN" altLang="en-US" dirty="0"/>
              <a:t>。因为我们只看</a:t>
            </a:r>
            <a:r>
              <a:rPr lang="en-AU" altLang="zh-CN" dirty="0"/>
              <a:t>w</a:t>
            </a:r>
            <a:r>
              <a:rPr lang="zh-CN" altLang="en-US" dirty="0"/>
              <a:t>的前</a:t>
            </a:r>
            <a:r>
              <a:rPr lang="en-AU" altLang="zh-CN" dirty="0"/>
              <a:t>n</a:t>
            </a:r>
            <a:r>
              <a:rPr lang="zh-CN" altLang="en-US" dirty="0"/>
              <a:t>个字符，所以</a:t>
            </a:r>
            <a:r>
              <a:rPr lang="en-AU" altLang="zh-CN" dirty="0"/>
              <a:t>j&lt;n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根据这个</a:t>
            </a:r>
            <a:r>
              <a:rPr lang="en-AU" altLang="zh-CN" dirty="0"/>
              <a:t>q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AU" altLang="zh-CN" dirty="0" err="1"/>
              <a:t>qj</a:t>
            </a:r>
            <a:r>
              <a:rPr lang="en-AU" altLang="zh-CN" dirty="0"/>
              <a:t>,</a:t>
            </a:r>
            <a:r>
              <a:rPr lang="zh-CN" altLang="en-US" dirty="0"/>
              <a:t>可以把这个路径分为三段，分别是</a:t>
            </a:r>
            <a:r>
              <a:rPr lang="en-AU" altLang="zh-CN" dirty="0"/>
              <a:t>x=, y=, z=…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一段是从</a:t>
            </a:r>
            <a:r>
              <a:rPr lang="en-AU" altLang="zh-CN" dirty="0"/>
              <a:t>a1…ai,</a:t>
            </a:r>
            <a:r>
              <a:rPr lang="zh-CN" altLang="en-US" dirty="0"/>
              <a:t>到达</a:t>
            </a:r>
            <a:r>
              <a:rPr lang="en-AU" altLang="zh-CN" dirty="0"/>
              <a:t>qi, </a:t>
            </a:r>
            <a:r>
              <a:rPr lang="zh-CN" altLang="en-US" dirty="0"/>
              <a:t>然后从</a:t>
            </a:r>
            <a:r>
              <a:rPr lang="en-AU" altLang="zh-CN" dirty="0"/>
              <a:t>aI+1</a:t>
            </a:r>
            <a:r>
              <a:rPr lang="zh-CN" altLang="en-US" dirty="0"/>
              <a:t>到</a:t>
            </a:r>
            <a:r>
              <a:rPr lang="en-AU" altLang="zh-CN" dirty="0" err="1"/>
              <a:t>aj</a:t>
            </a:r>
            <a:r>
              <a:rPr lang="en-AU" altLang="zh-CN" dirty="0"/>
              <a:t>,</a:t>
            </a:r>
            <a:r>
              <a:rPr lang="zh-CN" altLang="en-US" dirty="0"/>
              <a:t>到达</a:t>
            </a:r>
            <a:r>
              <a:rPr lang="en-US" altLang="zh-CN" dirty="0" err="1"/>
              <a:t>qj</a:t>
            </a:r>
            <a:r>
              <a:rPr lang="zh-CN" altLang="en-US" dirty="0"/>
              <a:t>，由于</a:t>
            </a:r>
            <a:r>
              <a:rPr lang="en-AU" altLang="zh-CN" dirty="0" err="1"/>
              <a:t>qj</a:t>
            </a:r>
            <a:r>
              <a:rPr lang="en-AU" altLang="zh-CN" dirty="0"/>
              <a:t>=qi, </a:t>
            </a:r>
            <a:r>
              <a:rPr lang="zh-CN" altLang="en-US" dirty="0"/>
              <a:t>因为这里是</a:t>
            </a:r>
            <a:r>
              <a:rPr lang="en-AU" altLang="zh-CN" dirty="0"/>
              <a:t>qi</a:t>
            </a:r>
            <a:r>
              <a:rPr lang="zh-CN" altLang="en-US" dirty="0"/>
              <a:t>。然后再经过</a:t>
            </a:r>
            <a:r>
              <a:rPr lang="en-AU" altLang="zh-CN" dirty="0"/>
              <a:t>z</a:t>
            </a:r>
            <a:r>
              <a:rPr lang="zh-CN" altLang="en-US" dirty="0"/>
              <a:t>，还是会到达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所以经过</a:t>
            </a:r>
            <a:r>
              <a:rPr lang="en-US" altLang="zh-CN" dirty="0"/>
              <a:t>qi</a:t>
            </a:r>
            <a:r>
              <a:rPr lang="zh-CN" altLang="en-US" dirty="0"/>
              <a:t>的时候，我们可以讲</a:t>
            </a:r>
            <a:r>
              <a:rPr lang="en-AU" altLang="zh-CN" dirty="0"/>
              <a:t>y</a:t>
            </a:r>
            <a:r>
              <a:rPr lang="zh-CN" altLang="en-US" dirty="0"/>
              <a:t>重复多次，还是在状态</a:t>
            </a:r>
            <a:r>
              <a:rPr lang="en-AU" altLang="zh-CN" dirty="0"/>
              <a:t>qi</a:t>
            </a:r>
            <a:r>
              <a:rPr lang="zh-CN" altLang="en-US" dirty="0"/>
              <a:t>。只要</a:t>
            </a:r>
            <a:r>
              <a:rPr lang="en-AU" altLang="zh-CN" dirty="0"/>
              <a:t>k&gt;0</a:t>
            </a:r>
            <a:r>
              <a:rPr lang="zh-CN" altLang="en-US" dirty="0"/>
              <a:t>，最后还是会到达</a:t>
            </a:r>
            <a:r>
              <a:rPr lang="en-AU" altLang="zh-CN" dirty="0" err="1"/>
              <a:t>qm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I&lt;j</a:t>
            </a:r>
            <a:r>
              <a:rPr lang="zh-CN" altLang="en-US" dirty="0"/>
              <a:t>，所以</a:t>
            </a:r>
            <a:r>
              <a:rPr lang="en-AU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之间至少有一个字符，所以</a:t>
            </a:r>
            <a:r>
              <a:rPr lang="en-US" altLang="zh-CN" dirty="0"/>
              <a:t>y</a:t>
            </a:r>
            <a:r>
              <a:rPr lang="zh-CN" altLang="en-US" dirty="0"/>
              <a:t>不会是空串。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而因为我们取的是前面</a:t>
            </a:r>
            <a:r>
              <a:rPr lang="en-US" altLang="zh-CN" dirty="0"/>
              <a:t>n</a:t>
            </a:r>
            <a:r>
              <a:rPr lang="zh-CN" altLang="en-US" dirty="0"/>
              <a:t>个字符，所以</a:t>
            </a:r>
            <a:r>
              <a:rPr lang="en-AU" altLang="zh-CN" dirty="0"/>
              <a:t>|</a:t>
            </a:r>
            <a:r>
              <a:rPr lang="en-AU" altLang="zh-CN" dirty="0" err="1"/>
              <a:t>xy</a:t>
            </a:r>
            <a:r>
              <a:rPr lang="en-AU" altLang="zh-CN" dirty="0"/>
              <a:t>|&lt;=n</a:t>
            </a:r>
            <a:endParaRPr lang="en-US" altLang="zh-CN" dirty="0"/>
          </a:p>
          <a:p>
            <a:endParaRPr lang="en-US" altLang="zh-CN" dirty="0"/>
          </a:p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！为</a:t>
            </a:r>
            <a:r>
              <a:rPr lang="en-AU" altLang="zh-CN" dirty="0"/>
              <a:t>0</a:t>
            </a:r>
            <a:r>
              <a:rPr lang="zh-CN" altLang="en-US" dirty="0"/>
              <a:t>的阶乘</a:t>
            </a:r>
            <a:endParaRPr lang="en-AU" altLang="zh-CN" dirty="0"/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通过前面的几个例子，大家对泵引理有一个基本的认识。我们学到了如何用泵引理来证明一个语言不是正则的。</a:t>
            </a:r>
            <a:endParaRPr lang="en-AU" altLang="zh-CN" dirty="0"/>
          </a:p>
          <a:p>
            <a:r>
              <a:rPr lang="zh-CN" altLang="en-US" dirty="0"/>
              <a:t>那么大家思考下这两个问题，</a:t>
            </a:r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！为</a:t>
            </a:r>
            <a:r>
              <a:rPr lang="en-AU" altLang="zh-CN" dirty="0"/>
              <a:t>0</a:t>
            </a:r>
            <a:r>
              <a:rPr lang="zh-CN" altLang="en-US" dirty="0"/>
              <a:t>的阶乘</a:t>
            </a:r>
            <a:endParaRPr lang="en-AU" altLang="zh-CN" dirty="0"/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通过前面的几个例子，大家对泵引理有一个基本的认识。我们学到了如何用泵引理来证明一个语言不是正则的。</a:t>
            </a:r>
            <a:endParaRPr lang="en-AU" altLang="zh-CN" dirty="0"/>
          </a:p>
          <a:p>
            <a:r>
              <a:rPr lang="zh-CN" altLang="en-US" dirty="0"/>
              <a:t>那么大家思考下这两个问题，</a:t>
            </a:r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！为</a:t>
            </a:r>
            <a:r>
              <a:rPr lang="en-AU" altLang="zh-CN" dirty="0"/>
              <a:t>0</a:t>
            </a:r>
            <a:r>
              <a:rPr lang="zh-CN" altLang="en-US" dirty="0"/>
              <a:t>的阶乘</a:t>
            </a:r>
            <a:endParaRPr lang="en-AU" altLang="zh-CN" dirty="0"/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通过前面的几个例子，大家对泵引理有一个基本的认识。我们学到了如何用泵引理来证明一个语言不是正则的。</a:t>
            </a:r>
            <a:endParaRPr lang="en-AU" altLang="zh-CN" dirty="0"/>
          </a:p>
          <a:p>
            <a:r>
              <a:rPr lang="zh-CN" altLang="en-US" dirty="0"/>
              <a:t>那么大家思考下这两个问题，</a:t>
            </a:r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！为</a:t>
            </a:r>
            <a:r>
              <a:rPr lang="en-AU" altLang="zh-CN" dirty="0"/>
              <a:t>0</a:t>
            </a:r>
            <a:r>
              <a:rPr lang="zh-CN" altLang="en-US" dirty="0"/>
              <a:t>的阶乘</a:t>
            </a:r>
            <a:endParaRPr lang="en-AU" altLang="zh-CN" dirty="0"/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通过前面的几个例子，大家对泵引理有一个基本的认识。我们学到了如何用泵引理来证明一个语言不是正则的。</a:t>
            </a:r>
            <a:endParaRPr lang="en-AU" altLang="zh-CN" dirty="0"/>
          </a:p>
          <a:p>
            <a:r>
              <a:rPr lang="zh-CN" altLang="en-US" dirty="0"/>
              <a:t>那么大家思考下这两个问题，</a:t>
            </a:r>
            <a:endParaRPr lang="en-AU" altLang="zh-CN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字母表</a:t>
            </a:r>
            <a:r>
              <a:rPr lang="en-AU" altLang="zh-CN" dirty="0"/>
              <a:t>: sigma, gamma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以下这些运算的封闭性，我们都通过定理给出来。这些定理的证明都使用我们前面学习的两种形式化工作，有穷自动机和正则表达式。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也就是说，并、连接、闭包运算都有正则表达式去表示它们，所以还是正则语言。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目前我们只有有穷自动机和正则表达式这两种工具。我们只有构造出来语言的正则表达式或者有穷自动机，我们才能说它是正则的。</a:t>
            </a:r>
            <a:endParaRPr lang="en-AU" altLang="zh-CN" dirty="0"/>
          </a:p>
          <a:p>
            <a:endParaRPr lang="en-AU" dirty="0"/>
          </a:p>
          <a:p>
            <a:r>
              <a:rPr lang="en-US" altLang="zh-CN" dirty="0"/>
              <a:t>Sigma*</a:t>
            </a:r>
            <a:r>
              <a:rPr lang="zh-CN" altLang="en-US" dirty="0"/>
              <a:t>是闭包，也就是</a:t>
            </a:r>
            <a:r>
              <a:rPr lang="en-AU" altLang="zh-CN" dirty="0"/>
              <a:t>sigma</a:t>
            </a:r>
            <a:r>
              <a:rPr lang="zh-CN" altLang="en-US" dirty="0"/>
              <a:t>上面所有的字符串，因为是求补，所有要把</a:t>
            </a:r>
            <a:r>
              <a:rPr lang="en-US" altLang="zh-CN" dirty="0"/>
              <a:t>L</a:t>
            </a:r>
            <a:r>
              <a:rPr lang="zh-CN" altLang="en-US" dirty="0"/>
              <a:t>对应的字符串去掉。</a:t>
            </a:r>
            <a:endParaRPr lang="en-AU" dirty="0"/>
          </a:p>
          <a:p>
            <a:endParaRPr lang="en-AU" dirty="0"/>
          </a:p>
          <a:p>
            <a:r>
              <a:rPr lang="zh-CN" altLang="en-US" dirty="0"/>
              <a:t>因为</a:t>
            </a:r>
            <a:r>
              <a:rPr lang="en-AU" altLang="zh-CN" dirty="0"/>
              <a:t>L</a:t>
            </a:r>
            <a:r>
              <a:rPr lang="zh-CN" altLang="en-US" dirty="0"/>
              <a:t>是正则语言，所以它存在一个有穷自动机。可以通过它去构造它的补的</a:t>
            </a:r>
            <a:r>
              <a:rPr lang="en-AU" altLang="zh-CN" dirty="0"/>
              <a:t>DFA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构造能够识别</a:t>
            </a:r>
            <a:r>
              <a:rPr lang="en-US" altLang="zh-CN" dirty="0"/>
              <a:t>L</a:t>
            </a:r>
            <a:r>
              <a:rPr lang="zh-CN" altLang="en-US" dirty="0"/>
              <a:t>的补的</a:t>
            </a:r>
            <a:r>
              <a:rPr lang="en-AU" altLang="zh-CN" dirty="0"/>
              <a:t>DFA </a:t>
            </a:r>
            <a:r>
              <a:rPr lang="en-US" altLang="zh-CN" dirty="0"/>
              <a:t>B</a:t>
            </a:r>
            <a:r>
              <a:rPr lang="zh-CN" altLang="en-US" dirty="0"/>
              <a:t>，那么任何一个字符串，如果在</a:t>
            </a:r>
            <a:r>
              <a:rPr lang="en-US" altLang="zh-CN" dirty="0"/>
              <a:t>A</a:t>
            </a:r>
            <a:r>
              <a:rPr lang="zh-CN" altLang="en-US" dirty="0"/>
              <a:t>中被接受，就一定不会在</a:t>
            </a:r>
            <a:r>
              <a:rPr lang="en-US" altLang="zh-CN" dirty="0"/>
              <a:t>B</a:t>
            </a:r>
            <a:r>
              <a:rPr lang="zh-CN" altLang="en-US" dirty="0"/>
              <a:t>中被接受。在</a:t>
            </a:r>
            <a:r>
              <a:rPr lang="en-US" altLang="zh-CN" dirty="0"/>
              <a:t>B</a:t>
            </a:r>
            <a:r>
              <a:rPr lang="zh-CN" altLang="en-US" dirty="0"/>
              <a:t>中被接受，就一定不会在</a:t>
            </a:r>
            <a:r>
              <a:rPr lang="en-AU" altLang="zh-CN" dirty="0"/>
              <a:t>A</a:t>
            </a:r>
            <a:r>
              <a:rPr lang="zh-CN" altLang="en-US" dirty="0"/>
              <a:t>中被接受。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但是仅有构造是不够的，我们需要形式化证明，证明我们的构造是争取的。我们需要证明</a:t>
            </a:r>
            <a:r>
              <a:rPr lang="en-AU" altLang="zh-CN" dirty="0"/>
              <a:t>B</a:t>
            </a:r>
            <a:r>
              <a:rPr lang="zh-CN" altLang="en-US" dirty="0"/>
              <a:t>所识别的语言和</a:t>
            </a:r>
            <a:r>
              <a:rPr lang="en-AU" altLang="zh-CN" dirty="0"/>
              <a:t>L</a:t>
            </a:r>
            <a:r>
              <a:rPr lang="zh-CN" altLang="en-US" dirty="0"/>
              <a:t>的补是等价的。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对于任何不属于</a:t>
            </a:r>
            <a:r>
              <a:rPr lang="en-AU" altLang="zh-CN" dirty="0"/>
              <a:t>L</a:t>
            </a:r>
            <a:r>
              <a:rPr lang="zh-CN" altLang="en-US" dirty="0"/>
              <a:t>的字符串</a:t>
            </a:r>
            <a:r>
              <a:rPr lang="en-US" altLang="zh-CN" dirty="0"/>
              <a:t>w</a:t>
            </a:r>
            <a:r>
              <a:rPr lang="zh-CN" altLang="en-US" dirty="0"/>
              <a:t>，都不被</a:t>
            </a:r>
            <a:r>
              <a:rPr lang="en-US" altLang="zh-CN" dirty="0"/>
              <a:t>A</a:t>
            </a:r>
            <a:r>
              <a:rPr lang="zh-CN" altLang="en-US" dirty="0"/>
              <a:t>识别，即</a:t>
            </a:r>
            <a:r>
              <a:rPr lang="en-AU" altLang="zh-CN" dirty="0" err="1"/>
              <a:t>delat_hat</a:t>
            </a:r>
            <a:r>
              <a:rPr lang="en-AU" altLang="zh-CN" dirty="0"/>
              <a:t>()</a:t>
            </a:r>
            <a:r>
              <a:rPr lang="zh-CN" altLang="en-US" dirty="0"/>
              <a:t>不属于</a:t>
            </a:r>
            <a:r>
              <a:rPr lang="en-AU" altLang="zh-CN" dirty="0"/>
              <a:t>F</a:t>
            </a:r>
            <a:r>
              <a:rPr lang="zh-CN" altLang="en-US" dirty="0"/>
              <a:t>，那么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然后从右向左看。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AU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构造它们的</a:t>
            </a:r>
            <a:r>
              <a:rPr lang="en-AU" altLang="zh-CN" dirty="0"/>
              <a:t>DFA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如果任何一个字符串属于交集，则</a:t>
            </a:r>
            <a:r>
              <a:rPr lang="en-AU" altLang="zh-CN" dirty="0"/>
              <a:t>w</a:t>
            </a:r>
            <a:r>
              <a:rPr lang="zh-CN" altLang="en-US" dirty="0"/>
              <a:t>在</a:t>
            </a:r>
            <a:r>
              <a:rPr lang="en-US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FL</a:t>
            </a:r>
            <a:r>
              <a:rPr lang="zh-CN" altLang="en-US" dirty="0"/>
              <a:t>， 在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US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FM.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显然这个二元组，在</a:t>
            </a:r>
            <a:r>
              <a:rPr lang="en-AU" altLang="zh-CN" dirty="0"/>
              <a:t>FL</a:t>
            </a:r>
            <a:r>
              <a:rPr lang="zh-CN" altLang="en-US" dirty="0"/>
              <a:t>和</a:t>
            </a:r>
            <a:r>
              <a:rPr lang="en-AU" altLang="zh-CN" dirty="0"/>
              <a:t>FM</a:t>
            </a:r>
            <a:r>
              <a:rPr lang="zh-CN" altLang="en-US" dirty="0"/>
              <a:t>的笛卡尔积中。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由上一个定理，等于</a:t>
            </a:r>
            <a:r>
              <a:rPr lang="en-US" altLang="zh-CN" dirty="0"/>
              <a:t>xxx, </a:t>
            </a:r>
            <a:r>
              <a:rPr lang="zh-CN" altLang="en-US" dirty="0"/>
              <a:t>所以属于。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在证明交运算的封闭性前，我们先来看一个定理。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对于两个</a:t>
            </a:r>
            <a:r>
              <a:rPr lang="en-AU" altLang="zh-CN" dirty="0"/>
              <a:t>DFA, AM, AL</a:t>
            </a:r>
            <a:r>
              <a:rPr lang="zh-CN" altLang="en-US" dirty="0"/>
              <a:t>构造它们的笛卡尔积。</a:t>
            </a:r>
            <a:endParaRPr lang="en-AU" altLang="zh-CN" dirty="0"/>
          </a:p>
          <a:p>
            <a:r>
              <a:rPr lang="zh-CN" altLang="en-US" dirty="0"/>
              <a:t>它的状态是前面两个的笛卡尔积</a:t>
            </a:r>
            <a:r>
              <a:rPr lang="en-AU" altLang="zh-CN" dirty="0"/>
              <a:t>(</a:t>
            </a:r>
            <a:r>
              <a:rPr lang="zh-CN" altLang="en-US" dirty="0"/>
              <a:t>集合中元素的两两组合</a:t>
            </a:r>
            <a:r>
              <a:rPr lang="en-AU" altLang="zh-CN" dirty="0"/>
              <a:t>)</a:t>
            </a:r>
            <a:r>
              <a:rPr lang="zh-CN" altLang="en-US" dirty="0"/>
              <a:t>，开始状态是一个二元组，两个开始状态的集合。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每个状态是一个二元组。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定理说，对于任意的一个字符串，从开始状态，经过这个字符串到达的状态，</a:t>
            </a:r>
            <a:r>
              <a:rPr lang="en-AU" altLang="zh-CN" dirty="0" err="1"/>
              <a:t>delta_hat</a:t>
            </a:r>
            <a:r>
              <a:rPr lang="en-AU" altLang="zh-CN" dirty="0"/>
              <a:t>((</a:t>
            </a:r>
            <a:r>
              <a:rPr lang="en-AU" altLang="zh-CN" dirty="0" err="1"/>
              <a:t>qL,qM</a:t>
            </a:r>
            <a:r>
              <a:rPr lang="en-AU" altLang="zh-CN" dirty="0"/>
              <a:t>),w)</a:t>
            </a:r>
            <a:r>
              <a:rPr lang="zh-CN" altLang="en-US" dirty="0"/>
              <a:t>等于从</a:t>
            </a:r>
            <a:r>
              <a:rPr lang="en-AU" altLang="zh-CN" dirty="0" err="1"/>
              <a:t>qL</a:t>
            </a:r>
            <a:r>
              <a:rPr lang="zh-CN" altLang="en-US" dirty="0"/>
              <a:t>，经过</a:t>
            </a:r>
            <a:r>
              <a:rPr lang="en-AU" altLang="zh-CN" dirty="0"/>
              <a:t>w</a:t>
            </a:r>
            <a:r>
              <a:rPr lang="zh-CN" altLang="en-US" dirty="0"/>
              <a:t>的状态，和</a:t>
            </a:r>
            <a:r>
              <a:rPr lang="en-US" altLang="zh-CN" dirty="0"/>
              <a:t>delta_(</a:t>
            </a:r>
            <a:r>
              <a:rPr lang="en-US" altLang="zh-CN" dirty="0" err="1"/>
              <a:t>qL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xx</a:t>
            </a:r>
            <a:r>
              <a:rPr lang="zh-CN" altLang="en-US" dirty="0"/>
              <a:t>组成的二元组是相等的。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这个定理的结论，可以用来证明正则语言的交，仍然是正则的。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AU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构造它们的</a:t>
            </a:r>
            <a:r>
              <a:rPr lang="en-AU" altLang="zh-CN" dirty="0"/>
              <a:t>DFA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如果任何一个字符串属于交集，则</a:t>
            </a:r>
            <a:r>
              <a:rPr lang="en-AU" altLang="zh-CN" dirty="0"/>
              <a:t>w</a:t>
            </a:r>
            <a:r>
              <a:rPr lang="zh-CN" altLang="en-US" dirty="0"/>
              <a:t>在</a:t>
            </a:r>
            <a:r>
              <a:rPr lang="en-US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FL</a:t>
            </a:r>
            <a:r>
              <a:rPr lang="zh-CN" altLang="en-US" dirty="0"/>
              <a:t>， 在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US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FM.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显然这个二元组，在</a:t>
            </a:r>
            <a:r>
              <a:rPr lang="en-AU" altLang="zh-CN" dirty="0"/>
              <a:t>FL</a:t>
            </a:r>
            <a:r>
              <a:rPr lang="zh-CN" altLang="en-US" dirty="0"/>
              <a:t>和</a:t>
            </a:r>
            <a:r>
              <a:rPr lang="en-AU" altLang="zh-CN" dirty="0"/>
              <a:t>FM</a:t>
            </a:r>
            <a:r>
              <a:rPr lang="zh-CN" altLang="en-US" dirty="0"/>
              <a:t>的笛卡尔积中。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由上一个定理，等于</a:t>
            </a:r>
            <a:r>
              <a:rPr lang="en-US" altLang="zh-CN" dirty="0"/>
              <a:t>xxx, </a:t>
            </a:r>
            <a:r>
              <a:rPr lang="zh-CN" altLang="en-US" dirty="0"/>
              <a:t>所以属于。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AU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构造它们的</a:t>
            </a:r>
            <a:r>
              <a:rPr lang="en-AU" altLang="zh-CN" dirty="0"/>
              <a:t>DFA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如果任何一个字符串属于交集，则</a:t>
            </a:r>
            <a:r>
              <a:rPr lang="en-AU" altLang="zh-CN" dirty="0"/>
              <a:t>w</a:t>
            </a:r>
            <a:r>
              <a:rPr lang="zh-CN" altLang="en-US" dirty="0"/>
              <a:t>在</a:t>
            </a:r>
            <a:r>
              <a:rPr lang="en-US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FL</a:t>
            </a:r>
            <a:r>
              <a:rPr lang="zh-CN" altLang="en-US" dirty="0"/>
              <a:t>， 在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US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FM.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显然这个二元组，在</a:t>
            </a:r>
            <a:r>
              <a:rPr lang="en-AU" altLang="zh-CN" dirty="0"/>
              <a:t>FL</a:t>
            </a:r>
            <a:r>
              <a:rPr lang="zh-CN" altLang="en-US" dirty="0"/>
              <a:t>和</a:t>
            </a:r>
            <a:r>
              <a:rPr lang="en-AU" altLang="zh-CN" dirty="0"/>
              <a:t>FM</a:t>
            </a:r>
            <a:r>
              <a:rPr lang="zh-CN" altLang="en-US" dirty="0"/>
              <a:t>的笛卡尔积中。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由上一个定理，等于</a:t>
            </a:r>
            <a:r>
              <a:rPr lang="en-US" altLang="zh-CN" dirty="0"/>
              <a:t>xxx, </a:t>
            </a:r>
            <a:r>
              <a:rPr lang="zh-CN" altLang="en-US" dirty="0"/>
              <a:t>所以属于。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AU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和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构造它们的</a:t>
            </a:r>
            <a:r>
              <a:rPr lang="en-AU" altLang="zh-CN" dirty="0"/>
              <a:t>DFA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如果任何一个字符串属于交集，则</a:t>
            </a:r>
            <a:r>
              <a:rPr lang="en-AU" altLang="zh-CN" dirty="0"/>
              <a:t>w</a:t>
            </a:r>
            <a:r>
              <a:rPr lang="zh-CN" altLang="en-US" dirty="0"/>
              <a:t>在</a:t>
            </a:r>
            <a:r>
              <a:rPr lang="en-US" altLang="zh-CN" dirty="0"/>
              <a:t>L</a:t>
            </a:r>
            <a:r>
              <a:rPr lang="zh-CN" altLang="en-US" dirty="0"/>
              <a:t>的</a:t>
            </a:r>
            <a:r>
              <a:rPr lang="en-AU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FL</a:t>
            </a:r>
            <a:r>
              <a:rPr lang="zh-CN" altLang="en-US" dirty="0"/>
              <a:t>， 在</a:t>
            </a:r>
            <a:r>
              <a:rPr lang="en-US" altLang="zh-CN" dirty="0"/>
              <a:t>M</a:t>
            </a:r>
            <a:r>
              <a:rPr lang="zh-CN" altLang="en-US" dirty="0"/>
              <a:t>的</a:t>
            </a:r>
            <a:r>
              <a:rPr lang="en-US" altLang="zh-CN" dirty="0"/>
              <a:t>DFA</a:t>
            </a:r>
            <a:r>
              <a:rPr lang="zh-CN" altLang="en-US" dirty="0"/>
              <a:t>中到达</a:t>
            </a:r>
            <a:r>
              <a:rPr lang="en-AU" altLang="zh-CN" dirty="0"/>
              <a:t>FM.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显然这个二元组，在</a:t>
            </a:r>
            <a:r>
              <a:rPr lang="en-AU" altLang="zh-CN" dirty="0"/>
              <a:t>FL</a:t>
            </a:r>
            <a:r>
              <a:rPr lang="zh-CN" altLang="en-US" dirty="0"/>
              <a:t>和</a:t>
            </a:r>
            <a:r>
              <a:rPr lang="en-AU" altLang="zh-CN" dirty="0"/>
              <a:t>FM</a:t>
            </a:r>
            <a:r>
              <a:rPr lang="zh-CN" altLang="en-US" dirty="0"/>
              <a:t>的笛卡尔积中。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由上一个定理，等于</a:t>
            </a:r>
            <a:r>
              <a:rPr lang="en-US" altLang="zh-CN" dirty="0"/>
              <a:t>xxx, </a:t>
            </a:r>
            <a:r>
              <a:rPr lang="zh-CN" altLang="en-US" dirty="0"/>
              <a:t>所以属于。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</a:t>
            </a:r>
            <a:r>
              <a:rPr lang="zh-CN" altLang="en-US" dirty="0"/>
              <a:t>可以分为三段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中间的一段的长度小于等于</a:t>
            </a:r>
            <a:r>
              <a:rPr lang="en-AU" altLang="zh-CN" dirty="0"/>
              <a:t>N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最后的条件是，中间的串不论循环几次，所得的串仍属于该正则语言。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正则语言</a:t>
            </a:r>
            <a:r>
              <a:rPr lang="en-US" altLang="zh-CN" dirty="0"/>
              <a:t>L</a:t>
            </a:r>
            <a:r>
              <a:rPr lang="zh-CN" altLang="en-US" dirty="0"/>
              <a:t>一旦确定，正整数</a:t>
            </a:r>
            <a:r>
              <a:rPr lang="en-US" altLang="zh-CN" dirty="0"/>
              <a:t>N</a:t>
            </a:r>
            <a:r>
              <a:rPr lang="zh-CN" altLang="en-US" dirty="0"/>
              <a:t>就确定。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被重复的这个，一定是个非空的串。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泵引理是必要条件。即只要一个语言是正则的，那么它一定符合泵引理。它的逆否命题也成立，就是如果一个语言不满足泵引理，那么一定不是正则语言。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任意一个</a:t>
            </a:r>
            <a:r>
              <a:rPr lang="en-AU" altLang="zh-CN" dirty="0"/>
              <a:t>sigma</a:t>
            </a:r>
            <a:r>
              <a:rPr lang="zh-CN" altLang="en-US" dirty="0"/>
              <a:t>上的字符，在同态函数</a:t>
            </a:r>
            <a:r>
              <a:rPr lang="en-AU" altLang="zh-CN" dirty="0"/>
              <a:t>h</a:t>
            </a:r>
            <a:r>
              <a:rPr lang="zh-CN" altLang="en-US" dirty="0"/>
              <a:t>的作用下，都是</a:t>
            </a:r>
            <a:r>
              <a:rPr lang="en-AU" altLang="zh-CN" dirty="0"/>
              <a:t>gamma</a:t>
            </a:r>
            <a:r>
              <a:rPr lang="zh-CN" altLang="en-US" dirty="0"/>
              <a:t>上的一个字符串。</a:t>
            </a:r>
            <a:endParaRPr lang="zh-CN" altLang="en-US" dirty="0"/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首先我们将</a:t>
            </a:r>
            <a:r>
              <a:rPr lang="en-AU" altLang="zh-CN" dirty="0">
                <a:sym typeface="+mn-ea"/>
              </a:rPr>
              <a:t>h</a:t>
            </a:r>
            <a:r>
              <a:rPr lang="zh-CN" altLang="en-US" dirty="0">
                <a:sym typeface="+mn-ea"/>
              </a:rPr>
              <a:t>扩展到字符串</a:t>
            </a:r>
            <a:r>
              <a:rPr lang="en-AU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定义了</a:t>
            </a:r>
            <a:r>
              <a:rPr lang="en-US" altLang="zh-CN" dirty="0">
                <a:sym typeface="+mn-ea"/>
              </a:rPr>
              <a:t>h</a:t>
            </a:r>
            <a:r>
              <a:rPr lang="zh-CN" altLang="en-US" dirty="0">
                <a:sym typeface="+mn-ea"/>
              </a:rPr>
              <a:t>如何作用于字符串。</a:t>
            </a:r>
            <a:endParaRPr lang="en-AU" altLang="zh-CN" dirty="0"/>
          </a:p>
          <a:p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为了能让同态函数</a:t>
            </a:r>
            <a:r>
              <a:rPr lang="en-US" altLang="zh-CN" dirty="0"/>
              <a:t>h</a:t>
            </a:r>
            <a:r>
              <a:rPr lang="zh-CN" altLang="en-US" dirty="0"/>
              <a:t>能够处理语言，所以我们继续将</a:t>
            </a:r>
            <a:r>
              <a:rPr lang="en-US" altLang="zh-CN" dirty="0"/>
              <a:t>h</a:t>
            </a:r>
            <a:r>
              <a:rPr lang="zh-CN" altLang="en-US" dirty="0"/>
              <a:t>扩展到语言。</a:t>
            </a:r>
            <a:endParaRPr lang="en-AU" altLang="zh-CN" dirty="0"/>
          </a:p>
          <a:p>
            <a:endParaRPr lang="en-AU" altLang="zh-CN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我们定义同态函数是这样的，那么。。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下面我们给出同态封闭性的定理，</a:t>
            </a:r>
            <a:r>
              <a:rPr lang="en-US" altLang="zh-CN" dirty="0"/>
              <a:t>L</a:t>
            </a:r>
            <a:r>
              <a:rPr lang="zh-CN" altLang="en-US" dirty="0"/>
              <a:t>在</a:t>
            </a:r>
            <a:r>
              <a:rPr lang="en-US" altLang="zh-CN" dirty="0"/>
              <a:t>h</a:t>
            </a:r>
            <a:r>
              <a:rPr lang="zh-CN" altLang="en-US" dirty="0"/>
              <a:t>的作用下，得到</a:t>
            </a:r>
            <a:r>
              <a:rPr lang="en-AU" altLang="zh-CN" dirty="0"/>
              <a:t>gamma</a:t>
            </a:r>
            <a:r>
              <a:rPr lang="zh-CN" altLang="en-US" dirty="0"/>
              <a:t>上的一个语言，也是正则的。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那么这定理的证明方法是：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下面我们给出同态封闭性的定理，</a:t>
            </a:r>
            <a:r>
              <a:rPr lang="en-US" altLang="zh-CN" dirty="0"/>
              <a:t>L</a:t>
            </a:r>
            <a:r>
              <a:rPr lang="zh-CN" altLang="en-US" dirty="0"/>
              <a:t>在</a:t>
            </a:r>
            <a:r>
              <a:rPr lang="en-US" altLang="zh-CN" dirty="0"/>
              <a:t>h</a:t>
            </a:r>
            <a:r>
              <a:rPr lang="zh-CN" altLang="en-US" dirty="0"/>
              <a:t>的作用下，得到</a:t>
            </a:r>
            <a:r>
              <a:rPr lang="en-AU" altLang="zh-CN" dirty="0"/>
              <a:t>gamma</a:t>
            </a:r>
            <a:r>
              <a:rPr lang="zh-CN" altLang="en-US" dirty="0"/>
              <a:t>上的一个语言，也是正则的。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那么这定理的证明方法是：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altLang="zh-CN" dirty="0"/>
              <a:t>H</a:t>
            </a:r>
            <a:r>
              <a:rPr lang="zh-CN" altLang="en-US" dirty="0"/>
              <a:t>作用在每个集合的串上，可以把它们分开。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最后一点，</a:t>
            </a:r>
            <a:r>
              <a:rPr lang="en-AU" altLang="zh-CN" dirty="0"/>
              <a:t>h(F)+h(G)</a:t>
            </a:r>
            <a:r>
              <a:rPr lang="zh-CN" altLang="en-US" dirty="0"/>
              <a:t>等于</a:t>
            </a:r>
            <a:r>
              <a:rPr lang="en-AU" altLang="zh-CN" dirty="0"/>
              <a:t>h(F+G)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下面我们看下正则语言在逆同态下的封闭性。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en-US" altLang="zh-CN" dirty="0"/>
              <a:t>H</a:t>
            </a:r>
            <a:r>
              <a:rPr lang="zh-CN" altLang="en-US" dirty="0"/>
              <a:t>逆</a:t>
            </a:r>
            <a:r>
              <a:rPr lang="en-AU" altLang="zh-CN" dirty="0"/>
              <a:t>L: </a:t>
            </a:r>
            <a:r>
              <a:rPr lang="zh-CN" altLang="en-US" dirty="0"/>
              <a:t>就是</a:t>
            </a:r>
            <a:r>
              <a:rPr lang="en-AU" altLang="zh-CN" dirty="0"/>
              <a:t>gamma</a:t>
            </a:r>
            <a:r>
              <a:rPr lang="zh-CN" altLang="en-US" dirty="0"/>
              <a:t>上语言</a:t>
            </a:r>
            <a:r>
              <a:rPr lang="en-US" altLang="zh-CN" dirty="0"/>
              <a:t>L</a:t>
            </a:r>
            <a:r>
              <a:rPr lang="zh-CN" altLang="en-US" dirty="0"/>
              <a:t>在</a:t>
            </a:r>
            <a:r>
              <a:rPr lang="en-AU" altLang="zh-CN" dirty="0"/>
              <a:t>sigma</a:t>
            </a:r>
            <a:r>
              <a:rPr lang="zh-CN" altLang="en-US" dirty="0"/>
              <a:t>里面对应的字符串</a:t>
            </a:r>
            <a:r>
              <a:rPr lang="en-AU" altLang="zh-CN" dirty="0"/>
              <a:t>w</a:t>
            </a:r>
            <a:r>
              <a:rPr lang="zh-CN" altLang="en-US" dirty="0"/>
              <a:t>的集合。</a:t>
            </a:r>
            <a:r>
              <a:rPr lang="en-AU" altLang="zh-CN" dirty="0"/>
              <a:t>W</a:t>
            </a:r>
            <a:r>
              <a:rPr lang="zh-CN" altLang="en-US" dirty="0"/>
              <a:t>在</a:t>
            </a:r>
            <a:r>
              <a:rPr lang="en-US" altLang="zh-CN" dirty="0"/>
              <a:t>h</a:t>
            </a:r>
            <a:r>
              <a:rPr lang="zh-CN" altLang="en-US" dirty="0"/>
              <a:t>的作用下属于</a:t>
            </a:r>
            <a:r>
              <a:rPr lang="en-AU" altLang="zh-CN" dirty="0"/>
              <a:t>L.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整个的放入</a:t>
            </a:r>
            <a:r>
              <a:rPr lang="en-US" altLang="zh-CN" dirty="0"/>
              <a:t>B</a:t>
            </a:r>
            <a:r>
              <a:rPr lang="zh-CN" altLang="en-US" dirty="0"/>
              <a:t>的有穷控制器中。这时候，我们将</a:t>
            </a:r>
            <a:r>
              <a:rPr lang="en-AU" altLang="zh-CN" dirty="0"/>
              <a:t>A</a:t>
            </a:r>
            <a:r>
              <a:rPr lang="zh-CN" altLang="en-US" dirty="0"/>
              <a:t>的输入带看作是</a:t>
            </a:r>
            <a:r>
              <a:rPr lang="en-US" altLang="zh-CN" dirty="0"/>
              <a:t>B</a:t>
            </a:r>
            <a:r>
              <a:rPr lang="zh-CN" altLang="en-US" dirty="0"/>
              <a:t>的有穷控制器中的一个缓冲区。每次，</a:t>
            </a:r>
            <a:r>
              <a:rPr lang="en-US" altLang="zh-CN" dirty="0"/>
              <a:t>B</a:t>
            </a:r>
            <a:r>
              <a:rPr lang="zh-CN" altLang="en-US" dirty="0"/>
              <a:t>如果读入一个字符，比如</a:t>
            </a:r>
            <a:r>
              <a:rPr lang="en-US" altLang="zh-CN" dirty="0"/>
              <a:t>a</a:t>
            </a:r>
            <a:r>
              <a:rPr lang="zh-CN" altLang="en-US" dirty="0"/>
              <a:t>，那么利用</a:t>
            </a:r>
            <a:r>
              <a:rPr lang="en-US" altLang="zh-CN" dirty="0"/>
              <a:t>h</a:t>
            </a:r>
            <a:r>
              <a:rPr lang="zh-CN" altLang="en-US" dirty="0"/>
              <a:t>，将</a:t>
            </a:r>
            <a:r>
              <a:rPr lang="en-AU" altLang="zh-CN" dirty="0"/>
              <a:t>a</a:t>
            </a:r>
            <a:r>
              <a:rPr lang="zh-CN" altLang="en-US" dirty="0"/>
              <a:t>映射为</a:t>
            </a:r>
            <a:r>
              <a:rPr lang="en-AU" altLang="zh-CN" dirty="0"/>
              <a:t>gamma</a:t>
            </a:r>
            <a:r>
              <a:rPr lang="zh-CN" altLang="en-US" dirty="0"/>
              <a:t>上的字符串，然后</a:t>
            </a:r>
            <a:r>
              <a:rPr lang="en-US" altLang="zh-CN" dirty="0"/>
              <a:t>A</a:t>
            </a:r>
            <a:r>
              <a:rPr lang="zh-CN" altLang="en-US" dirty="0"/>
              <a:t>读取这个字符串进行状态的转移。读入下一个字符</a:t>
            </a:r>
            <a:r>
              <a:rPr lang="en-US" altLang="zh-CN" dirty="0"/>
              <a:t>b</a:t>
            </a:r>
            <a:r>
              <a:rPr lang="zh-CN" altLang="en-US" dirty="0"/>
              <a:t>的时候，再将下一个字符经过</a:t>
            </a:r>
            <a:r>
              <a:rPr lang="en-US" altLang="zh-CN" dirty="0"/>
              <a:t>h</a:t>
            </a:r>
            <a:r>
              <a:rPr lang="zh-CN" altLang="en-US" dirty="0"/>
              <a:t>的作用得到的字符串装载到缓冲区中，然后</a:t>
            </a:r>
            <a:r>
              <a:rPr lang="en-US" altLang="zh-CN" dirty="0"/>
              <a:t>A</a:t>
            </a:r>
            <a:r>
              <a:rPr lang="zh-CN" altLang="en-US" dirty="0"/>
              <a:t>扫描这个缓冲区。那么当</a:t>
            </a:r>
            <a:r>
              <a:rPr lang="en-US" altLang="zh-CN" dirty="0"/>
              <a:t>B</a:t>
            </a:r>
            <a:r>
              <a:rPr lang="zh-CN" altLang="en-US" dirty="0"/>
              <a:t>扫描完</a:t>
            </a:r>
            <a:r>
              <a:rPr lang="en-AU" altLang="zh-CN" dirty="0"/>
              <a:t>x</a:t>
            </a:r>
            <a:r>
              <a:rPr lang="zh-CN" altLang="en-US" dirty="0"/>
              <a:t>的全部字符后，</a:t>
            </a:r>
            <a:r>
              <a:rPr lang="en-AU" altLang="zh-CN" dirty="0"/>
              <a:t>A</a:t>
            </a:r>
            <a:r>
              <a:rPr lang="zh-CN" altLang="en-US" dirty="0"/>
              <a:t>的缓冲的字符串加载到一起，就是</a:t>
            </a:r>
            <a:r>
              <a:rPr lang="en-AU" altLang="zh-CN" dirty="0"/>
              <a:t>x</a:t>
            </a:r>
            <a:r>
              <a:rPr lang="zh-CN" altLang="en-US" dirty="0"/>
              <a:t>的原像。</a:t>
            </a:r>
            <a:r>
              <a:rPr lang="en-AU" altLang="zh-CN" dirty="0"/>
              <a:t>H(x)=w</a:t>
            </a:r>
            <a:r>
              <a:rPr lang="zh-CN" altLang="en-US" dirty="0"/>
              <a:t>。当</a:t>
            </a:r>
            <a:r>
              <a:rPr lang="en-AU" altLang="zh-CN" dirty="0"/>
              <a:t>A</a:t>
            </a:r>
            <a:r>
              <a:rPr lang="zh-CN" altLang="en-US" dirty="0"/>
              <a:t>接受</a:t>
            </a:r>
            <a:r>
              <a:rPr lang="en-AU" altLang="zh-CN" dirty="0"/>
              <a:t>h(x)</a:t>
            </a:r>
            <a:r>
              <a:rPr lang="zh-CN" altLang="en-US" dirty="0"/>
              <a:t>的时候，</a:t>
            </a:r>
            <a:r>
              <a:rPr lang="en-US" altLang="zh-CN" dirty="0"/>
              <a:t>B</a:t>
            </a:r>
            <a:r>
              <a:rPr lang="zh-CN" altLang="en-US" dirty="0"/>
              <a:t>就接受</a:t>
            </a:r>
            <a:r>
              <a:rPr lang="en-AU" altLang="zh-CN" dirty="0"/>
              <a:t>x</a:t>
            </a:r>
            <a:r>
              <a:rPr lang="zh-CN" altLang="en-US" dirty="0"/>
              <a:t>。我们只要让</a:t>
            </a:r>
            <a:r>
              <a:rPr lang="en-AU" altLang="zh-CN" dirty="0"/>
              <a:t>B</a:t>
            </a:r>
            <a:r>
              <a:rPr lang="zh-CN" altLang="en-US" dirty="0"/>
              <a:t>的接受状态是</a:t>
            </a:r>
            <a:r>
              <a:rPr lang="en-US" altLang="zh-CN" dirty="0"/>
              <a:t>A</a:t>
            </a:r>
            <a:r>
              <a:rPr lang="zh-CN" altLang="en-US" dirty="0"/>
              <a:t>的接受状态就完成了。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B</a:t>
            </a:r>
            <a:r>
              <a:rPr lang="zh-CN" altLang="en-US" dirty="0"/>
              <a:t>读入一个字符，相当于</a:t>
            </a:r>
            <a:r>
              <a:rPr lang="en-US" altLang="zh-CN" dirty="0"/>
              <a:t>A</a:t>
            </a:r>
            <a:r>
              <a:rPr lang="zh-CN" altLang="en-US" dirty="0"/>
              <a:t>读入一个字符串。那么</a:t>
            </a:r>
            <a:r>
              <a:rPr lang="en-AU" altLang="zh-CN" dirty="0"/>
              <a:t>B</a:t>
            </a:r>
            <a:r>
              <a:rPr lang="zh-CN" altLang="en-US" dirty="0"/>
              <a:t>的动作</a:t>
            </a:r>
            <a:r>
              <a:rPr lang="en-AU" altLang="zh-CN" dirty="0"/>
              <a:t>delta</a:t>
            </a:r>
            <a:r>
              <a:rPr lang="zh-CN" altLang="en-US" dirty="0"/>
              <a:t>可以利用</a:t>
            </a:r>
            <a:r>
              <a:rPr lang="en-AU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来定义。当</a:t>
            </a:r>
            <a:r>
              <a:rPr lang="en-US" altLang="zh-CN" dirty="0"/>
              <a:t>B</a:t>
            </a:r>
            <a:r>
              <a:rPr lang="zh-CN" altLang="en-US" dirty="0"/>
              <a:t>处在</a:t>
            </a:r>
            <a:r>
              <a:rPr lang="en-US" altLang="zh-CN" dirty="0"/>
              <a:t>A</a:t>
            </a:r>
            <a:r>
              <a:rPr lang="zh-CN" altLang="en-US" dirty="0"/>
              <a:t>的某个状态，读入一个字符</a:t>
            </a:r>
            <a:r>
              <a:rPr lang="en-AU" altLang="zh-CN" dirty="0"/>
              <a:t>a</a:t>
            </a:r>
            <a:r>
              <a:rPr lang="zh-CN" altLang="en-US" dirty="0"/>
              <a:t>的时候，就利用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跳转的那个状态去定义就可以了。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仅仅有构造是不够的，我们需要证明我们的构造是正确的。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整个的放入</a:t>
            </a:r>
            <a:r>
              <a:rPr lang="en-US" altLang="zh-CN" dirty="0"/>
              <a:t>B</a:t>
            </a:r>
            <a:r>
              <a:rPr lang="zh-CN" altLang="en-US" dirty="0"/>
              <a:t>的有穷控制器中。这时候，我们将</a:t>
            </a:r>
            <a:r>
              <a:rPr lang="en-AU" altLang="zh-CN" dirty="0"/>
              <a:t>A</a:t>
            </a:r>
            <a:r>
              <a:rPr lang="zh-CN" altLang="en-US" dirty="0"/>
              <a:t>的输入带看作是</a:t>
            </a:r>
            <a:r>
              <a:rPr lang="en-US" altLang="zh-CN" dirty="0"/>
              <a:t>B</a:t>
            </a:r>
            <a:r>
              <a:rPr lang="zh-CN" altLang="en-US" dirty="0"/>
              <a:t>的有穷控制器中的一个缓冲区。每次，</a:t>
            </a:r>
            <a:r>
              <a:rPr lang="en-US" altLang="zh-CN" dirty="0"/>
              <a:t>B</a:t>
            </a:r>
            <a:r>
              <a:rPr lang="zh-CN" altLang="en-US" dirty="0"/>
              <a:t>如果读入一个字符，比如</a:t>
            </a:r>
            <a:r>
              <a:rPr lang="en-US" altLang="zh-CN" dirty="0"/>
              <a:t>a</a:t>
            </a:r>
            <a:r>
              <a:rPr lang="zh-CN" altLang="en-US" dirty="0"/>
              <a:t>，那么利用</a:t>
            </a:r>
            <a:r>
              <a:rPr lang="en-US" altLang="zh-CN" dirty="0"/>
              <a:t>h</a:t>
            </a:r>
            <a:r>
              <a:rPr lang="zh-CN" altLang="en-US" dirty="0"/>
              <a:t>，将</a:t>
            </a:r>
            <a:r>
              <a:rPr lang="en-AU" altLang="zh-CN" dirty="0"/>
              <a:t>a</a:t>
            </a:r>
            <a:r>
              <a:rPr lang="zh-CN" altLang="en-US" dirty="0"/>
              <a:t>映射为</a:t>
            </a:r>
            <a:r>
              <a:rPr lang="en-AU" altLang="zh-CN" dirty="0"/>
              <a:t>gamma</a:t>
            </a:r>
            <a:r>
              <a:rPr lang="zh-CN" altLang="en-US" dirty="0"/>
              <a:t>上的字符串，然后</a:t>
            </a:r>
            <a:r>
              <a:rPr lang="en-US" altLang="zh-CN" dirty="0"/>
              <a:t>A</a:t>
            </a:r>
            <a:r>
              <a:rPr lang="zh-CN" altLang="en-US" dirty="0"/>
              <a:t>读取这个字符串进行状态的转移。读入下一个字符</a:t>
            </a:r>
            <a:r>
              <a:rPr lang="en-US" altLang="zh-CN" dirty="0"/>
              <a:t>b</a:t>
            </a:r>
            <a:r>
              <a:rPr lang="zh-CN" altLang="en-US" dirty="0"/>
              <a:t>的时候，再将下一个字符经过</a:t>
            </a:r>
            <a:r>
              <a:rPr lang="en-US" altLang="zh-CN" dirty="0"/>
              <a:t>h</a:t>
            </a:r>
            <a:r>
              <a:rPr lang="zh-CN" altLang="en-US" dirty="0"/>
              <a:t>的作用得到的字符串装载到缓冲区中，然后</a:t>
            </a:r>
            <a:r>
              <a:rPr lang="en-US" altLang="zh-CN" dirty="0"/>
              <a:t>A</a:t>
            </a:r>
            <a:r>
              <a:rPr lang="zh-CN" altLang="en-US" dirty="0"/>
              <a:t>扫描这个缓冲区。那么当</a:t>
            </a:r>
            <a:r>
              <a:rPr lang="en-US" altLang="zh-CN" dirty="0"/>
              <a:t>B</a:t>
            </a:r>
            <a:r>
              <a:rPr lang="zh-CN" altLang="en-US" dirty="0"/>
              <a:t>扫描完</a:t>
            </a:r>
            <a:r>
              <a:rPr lang="en-AU" altLang="zh-CN" dirty="0"/>
              <a:t>x</a:t>
            </a:r>
            <a:r>
              <a:rPr lang="zh-CN" altLang="en-US" dirty="0"/>
              <a:t>的全部字符后，</a:t>
            </a:r>
            <a:r>
              <a:rPr lang="en-AU" altLang="zh-CN" dirty="0"/>
              <a:t>A</a:t>
            </a:r>
            <a:r>
              <a:rPr lang="zh-CN" altLang="en-US" dirty="0"/>
              <a:t>的缓冲的字符串加载到一起，就是</a:t>
            </a:r>
            <a:r>
              <a:rPr lang="en-AU" altLang="zh-CN" dirty="0"/>
              <a:t>x</a:t>
            </a:r>
            <a:r>
              <a:rPr lang="zh-CN" altLang="en-US" dirty="0"/>
              <a:t>的原像。</a:t>
            </a:r>
            <a:r>
              <a:rPr lang="en-AU" altLang="zh-CN" dirty="0"/>
              <a:t>H(x)=w</a:t>
            </a:r>
            <a:r>
              <a:rPr lang="zh-CN" altLang="en-US" dirty="0"/>
              <a:t>。当</a:t>
            </a:r>
            <a:r>
              <a:rPr lang="en-AU" altLang="zh-CN" dirty="0"/>
              <a:t>A</a:t>
            </a:r>
            <a:r>
              <a:rPr lang="zh-CN" altLang="en-US" dirty="0"/>
              <a:t>接受</a:t>
            </a:r>
            <a:r>
              <a:rPr lang="en-AU" altLang="zh-CN" dirty="0"/>
              <a:t>h(x)</a:t>
            </a:r>
            <a:r>
              <a:rPr lang="zh-CN" altLang="en-US" dirty="0"/>
              <a:t>的时候，</a:t>
            </a:r>
            <a:r>
              <a:rPr lang="en-US" altLang="zh-CN" dirty="0"/>
              <a:t>B</a:t>
            </a:r>
            <a:r>
              <a:rPr lang="zh-CN" altLang="en-US" dirty="0"/>
              <a:t>就接受</a:t>
            </a:r>
            <a:r>
              <a:rPr lang="en-AU" altLang="zh-CN" dirty="0"/>
              <a:t>x</a:t>
            </a:r>
            <a:r>
              <a:rPr lang="zh-CN" altLang="en-US" dirty="0"/>
              <a:t>。我们只要让</a:t>
            </a:r>
            <a:r>
              <a:rPr lang="en-AU" altLang="zh-CN" dirty="0"/>
              <a:t>B</a:t>
            </a:r>
            <a:r>
              <a:rPr lang="zh-CN" altLang="en-US" dirty="0"/>
              <a:t>的接受状态是</a:t>
            </a:r>
            <a:r>
              <a:rPr lang="en-US" altLang="zh-CN" dirty="0"/>
              <a:t>A</a:t>
            </a:r>
            <a:r>
              <a:rPr lang="zh-CN" altLang="en-US" dirty="0"/>
              <a:t>的接受状态就完成了。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B</a:t>
            </a:r>
            <a:r>
              <a:rPr lang="zh-CN" altLang="en-US" dirty="0"/>
              <a:t>读入一个字符，相当于</a:t>
            </a:r>
            <a:r>
              <a:rPr lang="en-US" altLang="zh-CN" dirty="0"/>
              <a:t>A</a:t>
            </a:r>
            <a:r>
              <a:rPr lang="zh-CN" altLang="en-US" dirty="0"/>
              <a:t>读入一个字符串。那么</a:t>
            </a:r>
            <a:r>
              <a:rPr lang="en-AU" altLang="zh-CN" dirty="0"/>
              <a:t>B</a:t>
            </a:r>
            <a:r>
              <a:rPr lang="zh-CN" altLang="en-US" dirty="0"/>
              <a:t>的动作</a:t>
            </a:r>
            <a:r>
              <a:rPr lang="en-AU" altLang="zh-CN" dirty="0"/>
              <a:t>delta</a:t>
            </a:r>
            <a:r>
              <a:rPr lang="zh-CN" altLang="en-US" dirty="0"/>
              <a:t>可以利用</a:t>
            </a:r>
            <a:r>
              <a:rPr lang="en-AU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来定义。当</a:t>
            </a:r>
            <a:r>
              <a:rPr lang="en-US" altLang="zh-CN" dirty="0"/>
              <a:t>B</a:t>
            </a:r>
            <a:r>
              <a:rPr lang="zh-CN" altLang="en-US" dirty="0"/>
              <a:t>处在</a:t>
            </a:r>
            <a:r>
              <a:rPr lang="en-US" altLang="zh-CN" dirty="0"/>
              <a:t>A</a:t>
            </a:r>
            <a:r>
              <a:rPr lang="zh-CN" altLang="en-US" dirty="0"/>
              <a:t>的某个状态，读入一个字符</a:t>
            </a:r>
            <a:r>
              <a:rPr lang="en-AU" altLang="zh-CN" dirty="0"/>
              <a:t>a</a:t>
            </a:r>
            <a:r>
              <a:rPr lang="zh-CN" altLang="en-US" dirty="0"/>
              <a:t>的时候，就利用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跳转的那个状态去定义就可以了。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仅仅有构造是不够的，我们需要证明我们的构造是正确的。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整个的放入</a:t>
            </a:r>
            <a:r>
              <a:rPr lang="en-US" altLang="zh-CN" dirty="0"/>
              <a:t>B</a:t>
            </a:r>
            <a:r>
              <a:rPr lang="zh-CN" altLang="en-US" dirty="0"/>
              <a:t>的有穷控制器中。这时候，我们将</a:t>
            </a:r>
            <a:r>
              <a:rPr lang="en-AU" altLang="zh-CN" dirty="0"/>
              <a:t>A</a:t>
            </a:r>
            <a:r>
              <a:rPr lang="zh-CN" altLang="en-US" dirty="0"/>
              <a:t>的输入带看作是</a:t>
            </a:r>
            <a:r>
              <a:rPr lang="en-US" altLang="zh-CN" dirty="0"/>
              <a:t>B</a:t>
            </a:r>
            <a:r>
              <a:rPr lang="zh-CN" altLang="en-US" dirty="0"/>
              <a:t>的有穷控制器中的一个缓冲区。每次，</a:t>
            </a:r>
            <a:r>
              <a:rPr lang="en-US" altLang="zh-CN" dirty="0"/>
              <a:t>B</a:t>
            </a:r>
            <a:r>
              <a:rPr lang="zh-CN" altLang="en-US" dirty="0"/>
              <a:t>如果读入一个字符，比如</a:t>
            </a:r>
            <a:r>
              <a:rPr lang="en-US" altLang="zh-CN" dirty="0"/>
              <a:t>a</a:t>
            </a:r>
            <a:r>
              <a:rPr lang="zh-CN" altLang="en-US" dirty="0"/>
              <a:t>，那么利用</a:t>
            </a:r>
            <a:r>
              <a:rPr lang="en-US" altLang="zh-CN" dirty="0"/>
              <a:t>h</a:t>
            </a:r>
            <a:r>
              <a:rPr lang="zh-CN" altLang="en-US" dirty="0"/>
              <a:t>，将</a:t>
            </a:r>
            <a:r>
              <a:rPr lang="en-AU" altLang="zh-CN" dirty="0"/>
              <a:t>a</a:t>
            </a:r>
            <a:r>
              <a:rPr lang="zh-CN" altLang="en-US" dirty="0"/>
              <a:t>映射为</a:t>
            </a:r>
            <a:r>
              <a:rPr lang="en-AU" altLang="zh-CN" dirty="0"/>
              <a:t>gamma</a:t>
            </a:r>
            <a:r>
              <a:rPr lang="zh-CN" altLang="en-US" dirty="0"/>
              <a:t>上的字符串，然后</a:t>
            </a:r>
            <a:r>
              <a:rPr lang="en-US" altLang="zh-CN" dirty="0"/>
              <a:t>A</a:t>
            </a:r>
            <a:r>
              <a:rPr lang="zh-CN" altLang="en-US" dirty="0"/>
              <a:t>读取这个字符串进行状态的转移。读入下一个字符</a:t>
            </a:r>
            <a:r>
              <a:rPr lang="en-US" altLang="zh-CN" dirty="0"/>
              <a:t>b</a:t>
            </a:r>
            <a:r>
              <a:rPr lang="zh-CN" altLang="en-US" dirty="0"/>
              <a:t>的时候，再将下一个字符经过</a:t>
            </a:r>
            <a:r>
              <a:rPr lang="en-US" altLang="zh-CN" dirty="0"/>
              <a:t>h</a:t>
            </a:r>
            <a:r>
              <a:rPr lang="zh-CN" altLang="en-US" dirty="0"/>
              <a:t>的作用得到的字符串装载到缓冲区中，然后</a:t>
            </a:r>
            <a:r>
              <a:rPr lang="en-US" altLang="zh-CN" dirty="0"/>
              <a:t>A</a:t>
            </a:r>
            <a:r>
              <a:rPr lang="zh-CN" altLang="en-US" dirty="0"/>
              <a:t>扫描这个缓冲区。那么当</a:t>
            </a:r>
            <a:r>
              <a:rPr lang="en-US" altLang="zh-CN" dirty="0"/>
              <a:t>B</a:t>
            </a:r>
            <a:r>
              <a:rPr lang="zh-CN" altLang="en-US" dirty="0"/>
              <a:t>扫描完</a:t>
            </a:r>
            <a:r>
              <a:rPr lang="en-AU" altLang="zh-CN" dirty="0"/>
              <a:t>x</a:t>
            </a:r>
            <a:r>
              <a:rPr lang="zh-CN" altLang="en-US" dirty="0"/>
              <a:t>的全部字符后，</a:t>
            </a:r>
            <a:r>
              <a:rPr lang="en-AU" altLang="zh-CN" dirty="0"/>
              <a:t>A</a:t>
            </a:r>
            <a:r>
              <a:rPr lang="zh-CN" altLang="en-US" dirty="0"/>
              <a:t>的缓冲的字符串加载到一起，就是</a:t>
            </a:r>
            <a:r>
              <a:rPr lang="en-AU" altLang="zh-CN" dirty="0"/>
              <a:t>x</a:t>
            </a:r>
            <a:r>
              <a:rPr lang="zh-CN" altLang="en-US" dirty="0"/>
              <a:t>的原像。</a:t>
            </a:r>
            <a:r>
              <a:rPr lang="en-AU" altLang="zh-CN" dirty="0"/>
              <a:t>H(x)=w</a:t>
            </a:r>
            <a:r>
              <a:rPr lang="zh-CN" altLang="en-US" dirty="0"/>
              <a:t>。当</a:t>
            </a:r>
            <a:r>
              <a:rPr lang="en-AU" altLang="zh-CN" dirty="0"/>
              <a:t>A</a:t>
            </a:r>
            <a:r>
              <a:rPr lang="zh-CN" altLang="en-US" dirty="0"/>
              <a:t>接受</a:t>
            </a:r>
            <a:r>
              <a:rPr lang="en-AU" altLang="zh-CN" dirty="0"/>
              <a:t>h(x)</a:t>
            </a:r>
            <a:r>
              <a:rPr lang="zh-CN" altLang="en-US" dirty="0"/>
              <a:t>的时候，</a:t>
            </a:r>
            <a:r>
              <a:rPr lang="en-US" altLang="zh-CN" dirty="0"/>
              <a:t>B</a:t>
            </a:r>
            <a:r>
              <a:rPr lang="zh-CN" altLang="en-US" dirty="0"/>
              <a:t>就接受</a:t>
            </a:r>
            <a:r>
              <a:rPr lang="en-AU" altLang="zh-CN" dirty="0"/>
              <a:t>x</a:t>
            </a:r>
            <a:r>
              <a:rPr lang="zh-CN" altLang="en-US" dirty="0"/>
              <a:t>。我们只要让</a:t>
            </a:r>
            <a:r>
              <a:rPr lang="en-AU" altLang="zh-CN" dirty="0"/>
              <a:t>B</a:t>
            </a:r>
            <a:r>
              <a:rPr lang="zh-CN" altLang="en-US" dirty="0"/>
              <a:t>的接受状态是</a:t>
            </a:r>
            <a:r>
              <a:rPr lang="en-US" altLang="zh-CN" dirty="0"/>
              <a:t>A</a:t>
            </a:r>
            <a:r>
              <a:rPr lang="zh-CN" altLang="en-US" dirty="0"/>
              <a:t>的接受状态就完成了。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B</a:t>
            </a:r>
            <a:r>
              <a:rPr lang="zh-CN" altLang="en-US" dirty="0"/>
              <a:t>读入一个字符，相当于</a:t>
            </a:r>
            <a:r>
              <a:rPr lang="en-US" altLang="zh-CN" dirty="0"/>
              <a:t>A</a:t>
            </a:r>
            <a:r>
              <a:rPr lang="zh-CN" altLang="en-US" dirty="0"/>
              <a:t>读入一个字符串。那么</a:t>
            </a:r>
            <a:r>
              <a:rPr lang="en-AU" altLang="zh-CN" dirty="0"/>
              <a:t>B</a:t>
            </a:r>
            <a:r>
              <a:rPr lang="zh-CN" altLang="en-US" dirty="0"/>
              <a:t>的动作</a:t>
            </a:r>
            <a:r>
              <a:rPr lang="en-AU" altLang="zh-CN" dirty="0"/>
              <a:t>delta</a:t>
            </a:r>
            <a:r>
              <a:rPr lang="zh-CN" altLang="en-US" dirty="0"/>
              <a:t>可以利用</a:t>
            </a:r>
            <a:r>
              <a:rPr lang="en-AU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来定义。当</a:t>
            </a:r>
            <a:r>
              <a:rPr lang="en-US" altLang="zh-CN" dirty="0"/>
              <a:t>B</a:t>
            </a:r>
            <a:r>
              <a:rPr lang="zh-CN" altLang="en-US" dirty="0"/>
              <a:t>处在</a:t>
            </a:r>
            <a:r>
              <a:rPr lang="en-US" altLang="zh-CN" dirty="0"/>
              <a:t>A</a:t>
            </a:r>
            <a:r>
              <a:rPr lang="zh-CN" altLang="en-US" dirty="0"/>
              <a:t>的某个状态，读入一个字符</a:t>
            </a:r>
            <a:r>
              <a:rPr lang="en-AU" altLang="zh-CN" dirty="0"/>
              <a:t>a</a:t>
            </a:r>
            <a:r>
              <a:rPr lang="zh-CN" altLang="en-US" dirty="0"/>
              <a:t>的时候，就利用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跳转的那个状态去定义就可以了。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仅仅有构造是不够的，我们需要证明我们的构造是正确的。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整个的放入</a:t>
            </a:r>
            <a:r>
              <a:rPr lang="en-US" altLang="zh-CN" dirty="0"/>
              <a:t>B</a:t>
            </a:r>
            <a:r>
              <a:rPr lang="zh-CN" altLang="en-US" dirty="0"/>
              <a:t>的有穷控制器中。这时候，我们将</a:t>
            </a:r>
            <a:r>
              <a:rPr lang="en-AU" altLang="zh-CN" dirty="0"/>
              <a:t>A</a:t>
            </a:r>
            <a:r>
              <a:rPr lang="zh-CN" altLang="en-US" dirty="0"/>
              <a:t>的输入带看作是</a:t>
            </a:r>
            <a:r>
              <a:rPr lang="en-US" altLang="zh-CN" dirty="0"/>
              <a:t>B</a:t>
            </a:r>
            <a:r>
              <a:rPr lang="zh-CN" altLang="en-US" dirty="0"/>
              <a:t>的有穷控制器中的一个缓冲区。每次，</a:t>
            </a:r>
            <a:r>
              <a:rPr lang="en-US" altLang="zh-CN" dirty="0"/>
              <a:t>B</a:t>
            </a:r>
            <a:r>
              <a:rPr lang="zh-CN" altLang="en-US" dirty="0"/>
              <a:t>如果读入一个字符，比如</a:t>
            </a:r>
            <a:r>
              <a:rPr lang="en-US" altLang="zh-CN" dirty="0"/>
              <a:t>a</a:t>
            </a:r>
            <a:r>
              <a:rPr lang="zh-CN" altLang="en-US" dirty="0"/>
              <a:t>，那么利用</a:t>
            </a:r>
            <a:r>
              <a:rPr lang="en-US" altLang="zh-CN" dirty="0"/>
              <a:t>h</a:t>
            </a:r>
            <a:r>
              <a:rPr lang="zh-CN" altLang="en-US" dirty="0"/>
              <a:t>，将</a:t>
            </a:r>
            <a:r>
              <a:rPr lang="en-AU" altLang="zh-CN" dirty="0"/>
              <a:t>a</a:t>
            </a:r>
            <a:r>
              <a:rPr lang="zh-CN" altLang="en-US" dirty="0"/>
              <a:t>映射为</a:t>
            </a:r>
            <a:r>
              <a:rPr lang="en-AU" altLang="zh-CN" dirty="0"/>
              <a:t>gamma</a:t>
            </a:r>
            <a:r>
              <a:rPr lang="zh-CN" altLang="en-US" dirty="0"/>
              <a:t>上的字符串，然后</a:t>
            </a:r>
            <a:r>
              <a:rPr lang="en-US" altLang="zh-CN" dirty="0"/>
              <a:t>A</a:t>
            </a:r>
            <a:r>
              <a:rPr lang="zh-CN" altLang="en-US" dirty="0"/>
              <a:t>读取这个字符串进行状态的转移。读入下一个字符</a:t>
            </a:r>
            <a:r>
              <a:rPr lang="en-US" altLang="zh-CN" dirty="0"/>
              <a:t>b</a:t>
            </a:r>
            <a:r>
              <a:rPr lang="zh-CN" altLang="en-US" dirty="0"/>
              <a:t>的时候，再将下一个字符经过</a:t>
            </a:r>
            <a:r>
              <a:rPr lang="en-US" altLang="zh-CN" dirty="0"/>
              <a:t>h</a:t>
            </a:r>
            <a:r>
              <a:rPr lang="zh-CN" altLang="en-US" dirty="0"/>
              <a:t>的作用得到的字符串装载到缓冲区中，然后</a:t>
            </a:r>
            <a:r>
              <a:rPr lang="en-US" altLang="zh-CN" dirty="0"/>
              <a:t>A</a:t>
            </a:r>
            <a:r>
              <a:rPr lang="zh-CN" altLang="en-US" dirty="0"/>
              <a:t>扫描这个缓冲区。那么当</a:t>
            </a:r>
            <a:r>
              <a:rPr lang="en-US" altLang="zh-CN" dirty="0"/>
              <a:t>B</a:t>
            </a:r>
            <a:r>
              <a:rPr lang="zh-CN" altLang="en-US" dirty="0"/>
              <a:t>扫描完</a:t>
            </a:r>
            <a:r>
              <a:rPr lang="en-AU" altLang="zh-CN" dirty="0"/>
              <a:t>x</a:t>
            </a:r>
            <a:r>
              <a:rPr lang="zh-CN" altLang="en-US" dirty="0"/>
              <a:t>的全部字符后，</a:t>
            </a:r>
            <a:r>
              <a:rPr lang="en-AU" altLang="zh-CN" dirty="0"/>
              <a:t>A</a:t>
            </a:r>
            <a:r>
              <a:rPr lang="zh-CN" altLang="en-US" dirty="0"/>
              <a:t>的缓冲的字符串加载到一起，就是</a:t>
            </a:r>
            <a:r>
              <a:rPr lang="en-AU" altLang="zh-CN" dirty="0"/>
              <a:t>x</a:t>
            </a:r>
            <a:r>
              <a:rPr lang="zh-CN" altLang="en-US" dirty="0"/>
              <a:t>的原像。</a:t>
            </a:r>
            <a:r>
              <a:rPr lang="en-AU" altLang="zh-CN" dirty="0"/>
              <a:t>H(x)=w</a:t>
            </a:r>
            <a:r>
              <a:rPr lang="zh-CN" altLang="en-US" dirty="0"/>
              <a:t>。当</a:t>
            </a:r>
            <a:r>
              <a:rPr lang="en-AU" altLang="zh-CN" dirty="0"/>
              <a:t>A</a:t>
            </a:r>
            <a:r>
              <a:rPr lang="zh-CN" altLang="en-US" dirty="0"/>
              <a:t>接受</a:t>
            </a:r>
            <a:r>
              <a:rPr lang="en-AU" altLang="zh-CN" dirty="0"/>
              <a:t>h(x)</a:t>
            </a:r>
            <a:r>
              <a:rPr lang="zh-CN" altLang="en-US" dirty="0"/>
              <a:t>的时候，</a:t>
            </a:r>
            <a:r>
              <a:rPr lang="en-US" altLang="zh-CN" dirty="0"/>
              <a:t>B</a:t>
            </a:r>
            <a:r>
              <a:rPr lang="zh-CN" altLang="en-US" dirty="0"/>
              <a:t>就接受</a:t>
            </a:r>
            <a:r>
              <a:rPr lang="en-AU" altLang="zh-CN" dirty="0"/>
              <a:t>x</a:t>
            </a:r>
            <a:r>
              <a:rPr lang="zh-CN" altLang="en-US" dirty="0"/>
              <a:t>。我们只要让</a:t>
            </a:r>
            <a:r>
              <a:rPr lang="en-AU" altLang="zh-CN" dirty="0"/>
              <a:t>B</a:t>
            </a:r>
            <a:r>
              <a:rPr lang="zh-CN" altLang="en-US" dirty="0"/>
              <a:t>的接受状态是</a:t>
            </a:r>
            <a:r>
              <a:rPr lang="en-US" altLang="zh-CN" dirty="0"/>
              <a:t>A</a:t>
            </a:r>
            <a:r>
              <a:rPr lang="zh-CN" altLang="en-US" dirty="0"/>
              <a:t>的接受状态就完成了。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B</a:t>
            </a:r>
            <a:r>
              <a:rPr lang="zh-CN" altLang="en-US" dirty="0"/>
              <a:t>读入一个字符，相当于</a:t>
            </a:r>
            <a:r>
              <a:rPr lang="en-US" altLang="zh-CN" dirty="0"/>
              <a:t>A</a:t>
            </a:r>
            <a:r>
              <a:rPr lang="zh-CN" altLang="en-US" dirty="0"/>
              <a:t>读入一个字符串。那么</a:t>
            </a:r>
            <a:r>
              <a:rPr lang="en-AU" altLang="zh-CN" dirty="0"/>
              <a:t>B</a:t>
            </a:r>
            <a:r>
              <a:rPr lang="zh-CN" altLang="en-US" dirty="0"/>
              <a:t>的动作</a:t>
            </a:r>
            <a:r>
              <a:rPr lang="en-AU" altLang="zh-CN" dirty="0"/>
              <a:t>delta</a:t>
            </a:r>
            <a:r>
              <a:rPr lang="zh-CN" altLang="en-US" dirty="0"/>
              <a:t>可以利用</a:t>
            </a:r>
            <a:r>
              <a:rPr lang="en-AU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来定义。当</a:t>
            </a:r>
            <a:r>
              <a:rPr lang="en-US" altLang="zh-CN" dirty="0"/>
              <a:t>B</a:t>
            </a:r>
            <a:r>
              <a:rPr lang="zh-CN" altLang="en-US" dirty="0"/>
              <a:t>处在</a:t>
            </a:r>
            <a:r>
              <a:rPr lang="en-US" altLang="zh-CN" dirty="0"/>
              <a:t>A</a:t>
            </a:r>
            <a:r>
              <a:rPr lang="zh-CN" altLang="en-US" dirty="0"/>
              <a:t>的某个状态，读入一个字符</a:t>
            </a:r>
            <a:r>
              <a:rPr lang="en-AU" altLang="zh-CN" dirty="0"/>
              <a:t>a</a:t>
            </a:r>
            <a:r>
              <a:rPr lang="zh-CN" altLang="en-US" dirty="0"/>
              <a:t>的时候，就利用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跳转的那个状态去定义就可以了。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仅仅有构造是不够的，我们需要证明我们的构造是正确的。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整个的放入</a:t>
            </a:r>
            <a:r>
              <a:rPr lang="en-US" altLang="zh-CN" dirty="0"/>
              <a:t>B</a:t>
            </a:r>
            <a:r>
              <a:rPr lang="zh-CN" altLang="en-US" dirty="0"/>
              <a:t>的有穷控制器中。这时候，我们将</a:t>
            </a:r>
            <a:r>
              <a:rPr lang="en-AU" altLang="zh-CN" dirty="0"/>
              <a:t>A</a:t>
            </a:r>
            <a:r>
              <a:rPr lang="zh-CN" altLang="en-US" dirty="0"/>
              <a:t>的输入带看作是</a:t>
            </a:r>
            <a:r>
              <a:rPr lang="en-US" altLang="zh-CN" dirty="0"/>
              <a:t>B</a:t>
            </a:r>
            <a:r>
              <a:rPr lang="zh-CN" altLang="en-US" dirty="0"/>
              <a:t>的有穷控制器中的一个缓冲区。每次，</a:t>
            </a:r>
            <a:r>
              <a:rPr lang="en-US" altLang="zh-CN" dirty="0"/>
              <a:t>B</a:t>
            </a:r>
            <a:r>
              <a:rPr lang="zh-CN" altLang="en-US" dirty="0"/>
              <a:t>如果读入一个字符，比如</a:t>
            </a:r>
            <a:r>
              <a:rPr lang="en-US" altLang="zh-CN" dirty="0"/>
              <a:t>a</a:t>
            </a:r>
            <a:r>
              <a:rPr lang="zh-CN" altLang="en-US" dirty="0"/>
              <a:t>，那么利用</a:t>
            </a:r>
            <a:r>
              <a:rPr lang="en-US" altLang="zh-CN" dirty="0"/>
              <a:t>h</a:t>
            </a:r>
            <a:r>
              <a:rPr lang="zh-CN" altLang="en-US" dirty="0"/>
              <a:t>，将</a:t>
            </a:r>
            <a:r>
              <a:rPr lang="en-AU" altLang="zh-CN" dirty="0"/>
              <a:t>a</a:t>
            </a:r>
            <a:r>
              <a:rPr lang="zh-CN" altLang="en-US" dirty="0"/>
              <a:t>映射为</a:t>
            </a:r>
            <a:r>
              <a:rPr lang="en-AU" altLang="zh-CN" dirty="0"/>
              <a:t>gamma</a:t>
            </a:r>
            <a:r>
              <a:rPr lang="zh-CN" altLang="en-US" dirty="0"/>
              <a:t>上的字符串，然后</a:t>
            </a:r>
            <a:r>
              <a:rPr lang="en-US" altLang="zh-CN" dirty="0"/>
              <a:t>A</a:t>
            </a:r>
            <a:r>
              <a:rPr lang="zh-CN" altLang="en-US" dirty="0"/>
              <a:t>读取这个字符串进行状态的转移。读入下一个字符</a:t>
            </a:r>
            <a:r>
              <a:rPr lang="en-US" altLang="zh-CN" dirty="0"/>
              <a:t>b</a:t>
            </a:r>
            <a:r>
              <a:rPr lang="zh-CN" altLang="en-US" dirty="0"/>
              <a:t>的时候，再将下一个字符经过</a:t>
            </a:r>
            <a:r>
              <a:rPr lang="en-US" altLang="zh-CN" dirty="0"/>
              <a:t>h</a:t>
            </a:r>
            <a:r>
              <a:rPr lang="zh-CN" altLang="en-US" dirty="0"/>
              <a:t>的作用得到的字符串装载到缓冲区中，然后</a:t>
            </a:r>
            <a:r>
              <a:rPr lang="en-US" altLang="zh-CN" dirty="0"/>
              <a:t>A</a:t>
            </a:r>
            <a:r>
              <a:rPr lang="zh-CN" altLang="en-US" dirty="0"/>
              <a:t>扫描这个缓冲区。那么当</a:t>
            </a:r>
            <a:r>
              <a:rPr lang="en-US" altLang="zh-CN" dirty="0"/>
              <a:t>B</a:t>
            </a:r>
            <a:r>
              <a:rPr lang="zh-CN" altLang="en-US" dirty="0"/>
              <a:t>扫描完</a:t>
            </a:r>
            <a:r>
              <a:rPr lang="en-AU" altLang="zh-CN" dirty="0"/>
              <a:t>x</a:t>
            </a:r>
            <a:r>
              <a:rPr lang="zh-CN" altLang="en-US" dirty="0"/>
              <a:t>的全部字符后，</a:t>
            </a:r>
            <a:r>
              <a:rPr lang="en-AU" altLang="zh-CN" dirty="0"/>
              <a:t>A</a:t>
            </a:r>
            <a:r>
              <a:rPr lang="zh-CN" altLang="en-US" dirty="0"/>
              <a:t>的缓冲的字符串加载到一起，就是</a:t>
            </a:r>
            <a:r>
              <a:rPr lang="en-AU" altLang="zh-CN" dirty="0"/>
              <a:t>x</a:t>
            </a:r>
            <a:r>
              <a:rPr lang="zh-CN" altLang="en-US" dirty="0"/>
              <a:t>的原像。</a:t>
            </a:r>
            <a:r>
              <a:rPr lang="en-AU" altLang="zh-CN" dirty="0"/>
              <a:t>H(x)=w</a:t>
            </a:r>
            <a:r>
              <a:rPr lang="zh-CN" altLang="en-US" dirty="0"/>
              <a:t>。当</a:t>
            </a:r>
            <a:r>
              <a:rPr lang="en-AU" altLang="zh-CN" dirty="0"/>
              <a:t>A</a:t>
            </a:r>
            <a:r>
              <a:rPr lang="zh-CN" altLang="en-US" dirty="0"/>
              <a:t>接受</a:t>
            </a:r>
            <a:r>
              <a:rPr lang="en-AU" altLang="zh-CN" dirty="0"/>
              <a:t>h(x)</a:t>
            </a:r>
            <a:r>
              <a:rPr lang="zh-CN" altLang="en-US" dirty="0"/>
              <a:t>的时候，</a:t>
            </a:r>
            <a:r>
              <a:rPr lang="en-US" altLang="zh-CN" dirty="0"/>
              <a:t>B</a:t>
            </a:r>
            <a:r>
              <a:rPr lang="zh-CN" altLang="en-US" dirty="0"/>
              <a:t>就接受</a:t>
            </a:r>
            <a:r>
              <a:rPr lang="en-AU" altLang="zh-CN" dirty="0"/>
              <a:t>x</a:t>
            </a:r>
            <a:r>
              <a:rPr lang="zh-CN" altLang="en-US" dirty="0"/>
              <a:t>。我们只要让</a:t>
            </a:r>
            <a:r>
              <a:rPr lang="en-AU" altLang="zh-CN" dirty="0"/>
              <a:t>B</a:t>
            </a:r>
            <a:r>
              <a:rPr lang="zh-CN" altLang="en-US" dirty="0"/>
              <a:t>的接受状态是</a:t>
            </a:r>
            <a:r>
              <a:rPr lang="en-US" altLang="zh-CN" dirty="0"/>
              <a:t>A</a:t>
            </a:r>
            <a:r>
              <a:rPr lang="zh-CN" altLang="en-US" dirty="0"/>
              <a:t>的接受状态就完成了。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B</a:t>
            </a:r>
            <a:r>
              <a:rPr lang="zh-CN" altLang="en-US" dirty="0"/>
              <a:t>读入一个字符，相当于</a:t>
            </a:r>
            <a:r>
              <a:rPr lang="en-US" altLang="zh-CN" dirty="0"/>
              <a:t>A</a:t>
            </a:r>
            <a:r>
              <a:rPr lang="zh-CN" altLang="en-US" dirty="0"/>
              <a:t>读入一个字符串。那么</a:t>
            </a:r>
            <a:r>
              <a:rPr lang="en-AU" altLang="zh-CN" dirty="0"/>
              <a:t>B</a:t>
            </a:r>
            <a:r>
              <a:rPr lang="zh-CN" altLang="en-US" dirty="0"/>
              <a:t>的动作</a:t>
            </a:r>
            <a:r>
              <a:rPr lang="en-AU" altLang="zh-CN" dirty="0"/>
              <a:t>delta</a:t>
            </a:r>
            <a:r>
              <a:rPr lang="zh-CN" altLang="en-US" dirty="0"/>
              <a:t>可以利用</a:t>
            </a:r>
            <a:r>
              <a:rPr lang="en-AU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来定义。当</a:t>
            </a:r>
            <a:r>
              <a:rPr lang="en-US" altLang="zh-CN" dirty="0"/>
              <a:t>B</a:t>
            </a:r>
            <a:r>
              <a:rPr lang="zh-CN" altLang="en-US" dirty="0"/>
              <a:t>处在</a:t>
            </a:r>
            <a:r>
              <a:rPr lang="en-US" altLang="zh-CN" dirty="0"/>
              <a:t>A</a:t>
            </a:r>
            <a:r>
              <a:rPr lang="zh-CN" altLang="en-US" dirty="0"/>
              <a:t>的某个状态，读入一个字符</a:t>
            </a:r>
            <a:r>
              <a:rPr lang="en-AU" altLang="zh-CN" dirty="0"/>
              <a:t>a</a:t>
            </a:r>
            <a:r>
              <a:rPr lang="zh-CN" altLang="en-US" dirty="0"/>
              <a:t>的时候，就利用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AU" altLang="zh-CN" dirty="0"/>
              <a:t>delta hat</a:t>
            </a:r>
            <a:r>
              <a:rPr lang="zh-CN" altLang="en-US" dirty="0"/>
              <a:t>跳转的那个状态去定义就可以了。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仅仅有构造是不够的，我们需要证明我们的构造是正确的。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对于正则 语言的空性，有穷性，和无穷性，我们都存在算法去判断，因为如下定理。</a:t>
            </a:r>
            <a:endParaRPr lang="en-AU" sz="12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必要性是显然的，就是如果</a:t>
            </a:r>
            <a:r>
              <a:rPr lang="en-US" altLang="zh-CN" dirty="0"/>
              <a:t>M</a:t>
            </a:r>
            <a:r>
              <a:rPr lang="zh-CN" altLang="en-US" dirty="0"/>
              <a:t>接受长度小于</a:t>
            </a:r>
            <a:r>
              <a:rPr lang="en-US" altLang="zh-CN" dirty="0"/>
              <a:t>n</a:t>
            </a:r>
            <a:r>
              <a:rPr lang="zh-CN" altLang="en-US" dirty="0"/>
              <a:t>的某个串，那么</a:t>
            </a:r>
            <a:r>
              <a:rPr lang="en-US" altLang="zh-CN" dirty="0"/>
              <a:t>S</a:t>
            </a:r>
            <a:r>
              <a:rPr lang="zh-CN" altLang="en-US" dirty="0"/>
              <a:t>显然是非空的。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充分性： 泵引理，</a:t>
            </a:r>
            <a:r>
              <a:rPr lang="en-AU" altLang="zh-CN" dirty="0"/>
              <a:t>w</a:t>
            </a:r>
            <a:r>
              <a:rPr lang="zh-CN" altLang="en-US" dirty="0"/>
              <a:t>是正则语言</a:t>
            </a:r>
            <a:r>
              <a:rPr lang="en-US" altLang="zh-CN" dirty="0"/>
              <a:t>L</a:t>
            </a:r>
            <a:r>
              <a:rPr lang="zh-CN" altLang="en-US" dirty="0"/>
              <a:t>中的串，那么</a:t>
            </a:r>
            <a:r>
              <a:rPr lang="en-AU" altLang="zh-CN" dirty="0"/>
              <a:t>w=</a:t>
            </a:r>
            <a:r>
              <a:rPr lang="en-AU" altLang="zh-CN" dirty="0" err="1"/>
              <a:t>xyz</a:t>
            </a:r>
            <a:r>
              <a:rPr lang="zh-CN" altLang="en-US" dirty="0"/>
              <a:t>，且</a:t>
            </a:r>
            <a:r>
              <a:rPr lang="en-AU" altLang="zh-CN" dirty="0" err="1"/>
              <a:t>xz</a:t>
            </a:r>
            <a:r>
              <a:rPr lang="zh-CN" altLang="en-US" dirty="0"/>
              <a:t>也属于该语言。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证明</a:t>
            </a:r>
            <a:r>
              <a:rPr lang="en-AU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r>
              <a:rPr 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必要性：由泵引理，显然成立。（也就是说如果</a:t>
            </a:r>
            <a:r>
              <a:rPr lang="en-AU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M</a:t>
            </a:r>
            <a:r>
              <a:rPr 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接受长度大于</a:t>
            </a:r>
            <a:r>
              <a:rPr lang="en-AU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n</a:t>
            </a:r>
            <a:r>
              <a:rPr 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小于</a:t>
            </a:r>
            <a:r>
              <a:rPr lang="en-AU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2n</a:t>
            </a:r>
            <a:r>
              <a:rPr 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的串，那么由泵引理可以泵出无穷个串。）</a:t>
            </a: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首先存在算法判断</a:t>
            </a:r>
            <a:r>
              <a:rPr lang="en-AU" altLang="zh-CN" dirty="0"/>
              <a:t>M3</a:t>
            </a:r>
            <a:r>
              <a:rPr lang="zh-CN" altLang="en-US" dirty="0"/>
              <a:t>是否为空。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因为</a:t>
            </a:r>
            <a:r>
              <a:rPr lang="en-AU" altLang="zh-CN" dirty="0"/>
              <a:t>M3</a:t>
            </a:r>
            <a:r>
              <a:rPr lang="zh-CN" altLang="en-US" dirty="0"/>
              <a:t>是否为空取决于</a:t>
            </a:r>
            <a:r>
              <a:rPr lang="en-AU" altLang="zh-CN" dirty="0"/>
              <a:t>L1</a:t>
            </a:r>
            <a:r>
              <a:rPr lang="zh-CN" altLang="en-US" dirty="0"/>
              <a:t>是否等于</a:t>
            </a:r>
            <a:r>
              <a:rPr lang="en-AU" altLang="zh-CN" dirty="0"/>
              <a:t>L2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因此，能判断</a:t>
            </a:r>
            <a:r>
              <a:rPr lang="en-US" altLang="zh-CN" dirty="0"/>
              <a:t>M3</a:t>
            </a:r>
            <a:r>
              <a:rPr lang="zh-CN" altLang="en-US" dirty="0"/>
              <a:t>是否为空，也就判断出了</a:t>
            </a:r>
            <a:r>
              <a:rPr lang="en-AU" altLang="zh-CN" dirty="0"/>
              <a:t>L1</a:t>
            </a:r>
            <a:r>
              <a:rPr lang="zh-CN" altLang="en-US" dirty="0"/>
              <a:t>是否等于</a:t>
            </a:r>
            <a:r>
              <a:rPr lang="en-AU" altLang="zh-CN" dirty="0"/>
              <a:t>L2</a:t>
            </a:r>
            <a:r>
              <a:rPr lang="zh-CN" altLang="en-US" dirty="0"/>
              <a:t>。</a:t>
            </a:r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经过</a:t>
            </a:r>
            <a:r>
              <a:rPr lang="en-AU" altLang="zh-CN" dirty="0"/>
              <a:t>01</a:t>
            </a:r>
            <a:r>
              <a:rPr lang="zh-CN" altLang="en-US" dirty="0"/>
              <a:t>，到达</a:t>
            </a:r>
            <a:r>
              <a:rPr lang="en-AU" altLang="zh-CN" dirty="0"/>
              <a:t>C; E</a:t>
            </a:r>
            <a:r>
              <a:rPr lang="zh-CN" altLang="en-US" dirty="0"/>
              <a:t>经过</a:t>
            </a:r>
            <a:r>
              <a:rPr lang="en-AU" altLang="zh-CN" dirty="0"/>
              <a:t>01,</a:t>
            </a:r>
            <a:r>
              <a:rPr lang="zh-CN" altLang="en-US" dirty="0"/>
              <a:t>也到达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  <a:endParaRPr lang="en-AU" altLang="zh-CN" dirty="0"/>
          </a:p>
          <a:p>
            <a:endParaRPr lang="en-AU" altLang="zh-CN" dirty="0"/>
          </a:p>
          <a:p>
            <a:r>
              <a:rPr lang="en-AU" altLang="zh-CN" dirty="0"/>
              <a:t>B</a:t>
            </a:r>
            <a:r>
              <a:rPr lang="zh-CN" altLang="en-US" dirty="0"/>
              <a:t>经过</a:t>
            </a:r>
            <a:r>
              <a:rPr lang="en-AU" altLang="zh-CN" dirty="0"/>
              <a:t>1</a:t>
            </a:r>
            <a:r>
              <a:rPr lang="zh-CN" altLang="en-US" dirty="0"/>
              <a:t>，到达</a:t>
            </a:r>
            <a:r>
              <a:rPr lang="en-AU" altLang="zh-CN" dirty="0"/>
              <a:t>C; H</a:t>
            </a:r>
            <a:r>
              <a:rPr lang="zh-CN" altLang="en-US" dirty="0"/>
              <a:t>经过</a:t>
            </a:r>
            <a:r>
              <a:rPr lang="en-AU" altLang="zh-CN" dirty="0"/>
              <a:t>1</a:t>
            </a:r>
            <a:r>
              <a:rPr lang="zh-CN" altLang="en-US" dirty="0"/>
              <a:t>，到达</a:t>
            </a:r>
            <a:r>
              <a:rPr lang="en-US" altLang="zh-CN" dirty="0"/>
              <a:t>C</a:t>
            </a:r>
            <a:r>
              <a:rPr lang="zh-CN" altLang="en-US" dirty="0"/>
              <a:t>；</a:t>
            </a:r>
            <a:endParaRPr lang="en-AU" altLang="zh-CN" dirty="0"/>
          </a:p>
          <a:p>
            <a:endParaRPr lang="en-AU" altLang="zh-CN" dirty="0"/>
          </a:p>
          <a:p>
            <a:r>
              <a:rPr lang="en-AU" altLang="zh-CN" dirty="0"/>
              <a:t>D</a:t>
            </a:r>
            <a:r>
              <a:rPr lang="zh-CN" altLang="en-US" dirty="0"/>
              <a:t>经过</a:t>
            </a:r>
            <a:r>
              <a:rPr lang="en-AU" altLang="zh-CN" dirty="0"/>
              <a:t>0</a:t>
            </a:r>
            <a:r>
              <a:rPr lang="zh-CN" altLang="en-US" dirty="0"/>
              <a:t>，到达</a:t>
            </a:r>
            <a:r>
              <a:rPr lang="en-AU" altLang="zh-CN" dirty="0"/>
              <a:t>C; F</a:t>
            </a:r>
            <a:r>
              <a:rPr lang="zh-CN" altLang="en-US" dirty="0"/>
              <a:t>经过</a:t>
            </a:r>
            <a:r>
              <a:rPr lang="en-AU" altLang="zh-CN" dirty="0"/>
              <a:t>0</a:t>
            </a:r>
            <a:r>
              <a:rPr lang="zh-CN" altLang="en-US" dirty="0"/>
              <a:t>，到达</a:t>
            </a:r>
            <a:r>
              <a:rPr lang="en-US" altLang="zh-CN" dirty="0"/>
              <a:t>C</a:t>
            </a:r>
            <a:r>
              <a:rPr lang="zh-CN" altLang="en-US" dirty="0"/>
              <a:t>；</a:t>
            </a:r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1D69A-DA38-43C2-8E62-07A8C09CD747}" type="slidenum">
              <a:rPr lang="en-AU" smtClean="0"/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/>
          </a:p>
        </p:txBody>
      </p:sp>
      <p:sp>
        <p:nvSpPr>
          <p:cNvPr id="8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229600" cy="39306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/>
          </a:p>
        </p:txBody>
      </p:sp>
      <p:sp>
        <p:nvSpPr>
          <p:cNvPr id="6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0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8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6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0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702554A5-A581-4AB9-AEA0-FA3C5F0DF619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9891A0AF-8D07-42A7-B1EB-C2BD93C0D5E5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20.png"/><Relationship Id="rId2" Type="http://schemas.openxmlformats.org/officeDocument/2006/relationships/tags" Target="../tags/tag1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9.xml"/><Relationship Id="rId11" Type="http://schemas.openxmlformats.org/officeDocument/2006/relationships/image" Target="../media/image17.png"/><Relationship Id="rId10" Type="http://schemas.openxmlformats.org/officeDocument/2006/relationships/tags" Target="../tags/tag18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24.png"/><Relationship Id="rId2" Type="http://schemas.openxmlformats.org/officeDocument/2006/relationships/tags" Target="../tags/tag2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9.xml"/><Relationship Id="rId11" Type="http://schemas.openxmlformats.org/officeDocument/2006/relationships/image" Target="../media/image17.png"/><Relationship Id="rId10" Type="http://schemas.openxmlformats.org/officeDocument/2006/relationships/tags" Target="../tags/tag28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2.xml"/><Relationship Id="rId13" Type="http://schemas.openxmlformats.org/officeDocument/2006/relationships/image" Target="../media/image17.png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9.png"/><Relationship Id="rId2" Type="http://schemas.openxmlformats.org/officeDocument/2006/relationships/tags" Target="../tags/tag44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52.xml"/><Relationship Id="rId11" Type="http://schemas.openxmlformats.org/officeDocument/2006/relationships/image" Target="../media/image17.png"/><Relationship Id="rId10" Type="http://schemas.openxmlformats.org/officeDocument/2006/relationships/tags" Target="../tags/tag51.xml"/><Relationship Id="rId1" Type="http://schemas.openxmlformats.org/officeDocument/2006/relationships/tags" Target="../tags/tag43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emf"/><Relationship Id="rId3" Type="http://schemas.openxmlformats.org/officeDocument/2006/relationships/oleObject" Target="../embeddings/oleObject1.bin"/><Relationship Id="rId2" Type="http://schemas.openxmlformats.org/officeDocument/2006/relationships/tags" Target="../tags/tag54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61.xml"/><Relationship Id="rId14" Type="http://schemas.openxmlformats.org/officeDocument/2006/relationships/image" Target="../media/image17.png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5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49.png"/><Relationship Id="rId2" Type="http://schemas.openxmlformats.org/officeDocument/2006/relationships/tags" Target="../tags/tag6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75.xml"/><Relationship Id="rId15" Type="http://schemas.openxmlformats.org/officeDocument/2006/relationships/image" Target="../media/image17.png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2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image" Target="../media/image59.png"/><Relationship Id="rId2" Type="http://schemas.openxmlformats.org/officeDocument/2006/relationships/tags" Target="../tags/tag79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7.xml"/><Relationship Id="rId11" Type="http://schemas.openxmlformats.org/officeDocument/2006/relationships/image" Target="../media/image17.png"/><Relationship Id="rId10" Type="http://schemas.openxmlformats.org/officeDocument/2006/relationships/tags" Target="../tags/tag86.xml"/><Relationship Id="rId1" Type="http://schemas.openxmlformats.org/officeDocument/2006/relationships/tags" Target="../tags/tag7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image" Target="../media/image78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0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84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image" Target="../media/image93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image" Target="../media/image95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8.png"/><Relationship Id="rId2" Type="http://schemas.openxmlformats.org/officeDocument/2006/relationships/image" Target="../media/image91.png"/><Relationship Id="rId1" Type="http://schemas.openxmlformats.org/officeDocument/2006/relationships/image" Target="../media/image97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8.png"/><Relationship Id="rId2" Type="http://schemas.openxmlformats.org/officeDocument/2006/relationships/image" Target="../media/image91.png"/><Relationship Id="rId1" Type="http://schemas.openxmlformats.org/officeDocument/2006/relationships/image" Target="../media/image99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image" Target="../media/image100.png"/></Relationships>
</file>

<file path=ppt/slides/_rels/slide8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image" Target="../media/image102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470025"/>
          </a:xfrm>
          <a:ln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正则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语言的性质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200" dirty="0">
                <a:solidFill>
                  <a:srgbClr val="FFFFFF"/>
                </a:solidFill>
              </a:rPr>
            </a:fld>
            <a:endParaRPr lang="en-US" altLang="zh-CN" sz="1200" dirty="0">
              <a:solidFill>
                <a:srgbClr val="FFFFFF"/>
              </a:solidFill>
            </a:endParaRPr>
          </a:p>
        </p:txBody>
      </p:sp>
      <p:grpSp>
        <p:nvGrpSpPr>
          <p:cNvPr id="5126" name="组合 9"/>
          <p:cNvGrpSpPr/>
          <p:nvPr/>
        </p:nvGrpSpPr>
        <p:grpSpPr>
          <a:xfrm>
            <a:off x="0" y="5030788"/>
            <a:ext cx="8699500" cy="1117600"/>
            <a:chOff x="0" y="5030681"/>
            <a:chExt cx="8700121" cy="1116947"/>
          </a:xfrm>
        </p:grpSpPr>
        <p:sp>
          <p:nvSpPr>
            <p:cNvPr id="11" name="矩形 10"/>
            <p:cNvSpPr/>
            <p:nvPr/>
          </p:nvSpPr>
          <p:spPr>
            <a:xfrm>
              <a:off x="0" y="5030681"/>
              <a:ext cx="8700121" cy="1116947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 rot="10800000">
              <a:off x="149602" y="5139274"/>
              <a:ext cx="3166930" cy="810003"/>
              <a:chOff x="2077999" y="5178439"/>
              <a:chExt cx="2948941" cy="683692"/>
            </a:xfrm>
            <a:solidFill>
              <a:schemeClr val="bg1"/>
            </a:solidFill>
          </p:grpSpPr>
          <p:sp>
            <p:nvSpPr>
              <p:cNvPr id="14" name="矩形 13"/>
              <p:cNvSpPr/>
              <p:nvPr/>
            </p:nvSpPr>
            <p:spPr>
              <a:xfrm>
                <a:off x="4662430" y="5178441"/>
                <a:ext cx="364510" cy="683690"/>
              </a:xfrm>
              <a:prstGeom prst="rect">
                <a:avLst/>
              </a:prstGeom>
              <a:solidFill>
                <a:srgbClr val="78AF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矩形 25"/>
              <p:cNvSpPr/>
              <p:nvPr/>
            </p:nvSpPr>
            <p:spPr>
              <a:xfrm>
                <a:off x="2077999" y="5178439"/>
                <a:ext cx="2520000" cy="683178"/>
              </a:xfrm>
              <a:custGeom>
                <a:avLst/>
                <a:gdLst/>
                <a:ahLst/>
                <a:cxnLst/>
                <a:rect l="l" t="t" r="r" b="b"/>
                <a:pathLst>
                  <a:path w="3995780" h="1199745">
                    <a:moveTo>
                      <a:pt x="3696727" y="760691"/>
                    </a:moveTo>
                    <a:lnTo>
                      <a:pt x="1033246" y="760691"/>
                    </a:lnTo>
                    <a:lnTo>
                      <a:pt x="1029703" y="940654"/>
                    </a:lnTo>
                    <a:lnTo>
                      <a:pt x="3696727" y="940654"/>
                    </a:lnTo>
                    <a:close/>
                    <a:moveTo>
                      <a:pt x="3700429" y="298400"/>
                    </a:moveTo>
                    <a:lnTo>
                      <a:pt x="1042348" y="298400"/>
                    </a:lnTo>
                    <a:lnTo>
                      <a:pt x="1038805" y="478363"/>
                    </a:lnTo>
                    <a:lnTo>
                      <a:pt x="3700429" y="478363"/>
                    </a:lnTo>
                    <a:close/>
                    <a:moveTo>
                      <a:pt x="3995780" y="2065"/>
                    </a:moveTo>
                    <a:lnTo>
                      <a:pt x="3995780" y="1198688"/>
                    </a:lnTo>
                    <a:lnTo>
                      <a:pt x="1024623" y="1198688"/>
                    </a:lnTo>
                    <a:lnTo>
                      <a:pt x="1024602" y="1199745"/>
                    </a:lnTo>
                    <a:lnTo>
                      <a:pt x="1022842" y="1198688"/>
                    </a:lnTo>
                    <a:lnTo>
                      <a:pt x="1014564" y="1198688"/>
                    </a:lnTo>
                    <a:lnTo>
                      <a:pt x="1014564" y="1193714"/>
                    </a:lnTo>
                    <a:lnTo>
                      <a:pt x="0" y="584102"/>
                    </a:lnTo>
                    <a:lnTo>
                      <a:pt x="1014564" y="18756"/>
                    </a:lnTo>
                    <a:lnTo>
                      <a:pt x="1014564" y="2065"/>
                    </a:lnTo>
                    <a:lnTo>
                      <a:pt x="1044517" y="2065"/>
                    </a:lnTo>
                    <a:lnTo>
                      <a:pt x="1048224" y="0"/>
                    </a:lnTo>
                    <a:lnTo>
                      <a:pt x="1048183" y="206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276600" y="3644900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计算机科学与技术学院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哈尔滨工业大学（深圳）</a:t>
            </a:r>
            <a:endParaRPr lang="zh-CN" altLang="en-US"/>
          </a:p>
        </p:txBody>
      </p:sp>
      <p:sp>
        <p:nvSpPr>
          <p:cNvPr id="16" name="圆角矩形 7"/>
          <p:cNvSpPr/>
          <p:nvPr/>
        </p:nvSpPr>
        <p:spPr>
          <a:xfrm>
            <a:off x="835024" y="539092"/>
            <a:ext cx="7473952" cy="1158875"/>
          </a:xfrm>
          <a:prstGeom prst="roundRect">
            <a:avLst>
              <a:gd name="adj" fmla="val 9948"/>
            </a:avLst>
          </a:prstGeom>
          <a:noFill/>
          <a:ln w="25400"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3200" b="1" dirty="0" err="1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形式语言与自动机</a:t>
            </a:r>
            <a:endParaRPr lang="en-US" altLang="zh-CN" sz="3200" b="1" dirty="0">
              <a:solidFill>
                <a:srgbClr val="F69418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200" b="1" dirty="0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Formal Languages and Automata Theory</a:t>
            </a:r>
            <a:endParaRPr lang="en-US" altLang="zh-CN" sz="3200" b="1" dirty="0">
              <a:solidFill>
                <a:srgbClr val="F69418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6646863" y="5345291"/>
            <a:ext cx="20399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sz="2400" b="1" kern="1200" cap="none" spc="60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汤步洲</a:t>
            </a:r>
            <a:r>
              <a:rPr kumimoji="0" lang="en-US" altLang="zh-CN" sz="2400" b="1" kern="1200" cap="none" spc="60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sz="2400" b="1" kern="1200" cap="none" spc="60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7534" y="152400"/>
            <a:ext cx="6507865" cy="393065"/>
          </a:xfrm>
        </p:spPr>
        <p:txBody>
          <a:bodyPr/>
          <a:lstStyle/>
          <a:p>
            <a:r>
              <a:rPr lang="zh-CN" altLang="en-US" dirty="0"/>
              <a:t>问题：</a:t>
            </a:r>
            <a:r>
              <a:rPr lang="en-US" altLang="zh-CN" dirty="0"/>
              <a:t>Regular or Nonregular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372" y="1166018"/>
            <a:ext cx="8229600" cy="4525963"/>
          </a:xfrm>
        </p:spPr>
        <p:txBody>
          <a:bodyPr/>
          <a:lstStyle/>
          <a:p>
            <a:r>
              <a:rPr lang="zh-CN" altLang="en-US" dirty="0"/>
              <a:t>如何判定一个语言是否是正则语言</a:t>
            </a:r>
            <a:r>
              <a:rPr lang="en-AU" altLang="zh-CN" dirty="0"/>
              <a:t>(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Language) </a:t>
            </a:r>
            <a:r>
              <a:rPr lang="en-AU" dirty="0"/>
              <a:t>？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800" dirty="0"/>
          </a:p>
          <a:p>
            <a:r>
              <a:rPr kumimoji="0" lang="zh-CN" altLang="en-US" b="1" dirty="0">
                <a:latin typeface="Arial" panose="020B0604020202020204" pitchFamily="34" charset="0"/>
                <a:cs typeface="宋体" panose="02010600030101010101" pitchFamily="2" charset="-122"/>
              </a:rPr>
              <a:t>一个正则语言可以有多种描述形式，能否找到最小的一个</a:t>
            </a:r>
            <a:r>
              <a:rPr kumimoji="0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kumimoji="0" lang="zh-CN" altLang="en-US" b="1" dirty="0">
                <a:latin typeface="Arial" panose="020B0604020202020204" pitchFamily="34" charset="0"/>
                <a:cs typeface="宋体" panose="02010600030101010101" pitchFamily="2" charset="-122"/>
              </a:rPr>
              <a:t>？</a:t>
            </a:r>
            <a:endParaRPr kumimoji="0" lang="en-US" altLang="zh-CN" b="1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"/>
          <a:stretch>
            <a:fillRect/>
          </a:stretch>
        </p:blipFill>
        <p:spPr>
          <a:xfrm>
            <a:off x="2252331" y="2246721"/>
            <a:ext cx="4300869" cy="2364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正则语言的泵引理</a:t>
            </a:r>
            <a:endParaRPr lang="en-AU" altLang="zh-CN" dirty="0"/>
          </a:p>
          <a:p>
            <a:r>
              <a:rPr lang="zh-CN" altLang="en-US" dirty="0"/>
              <a:t>正则语言的封闭性</a:t>
            </a:r>
            <a:endParaRPr lang="en-AU" altLang="zh-CN" dirty="0"/>
          </a:p>
          <a:p>
            <a:r>
              <a:rPr lang="zh-CN" altLang="en-US" dirty="0"/>
              <a:t>正则语言的判定性质</a:t>
            </a:r>
            <a:endParaRPr lang="en-AU" altLang="zh-CN" dirty="0"/>
          </a:p>
          <a:p>
            <a:r>
              <a:rPr lang="zh-CN" altLang="en-US" dirty="0"/>
              <a:t>自动机的最小化</a:t>
            </a:r>
            <a:endParaRPr lang="zh-CN" alt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正则语言的泵引理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正则语言的封闭性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正则语言的判定性质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自动机的最小化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7534" y="152400"/>
            <a:ext cx="6507865" cy="393065"/>
          </a:xfrm>
        </p:spPr>
        <p:txBody>
          <a:bodyPr/>
          <a:lstStyle/>
          <a:p>
            <a:r>
              <a:rPr lang="zh-CN" altLang="en-US" dirty="0"/>
              <a:t>正则语言的证明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372" y="1166018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思考：如何证明一个语言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不是正则语言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证明没有任何一个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NFA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能够接受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A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难点：实现困难，需要证明无数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DFA/NFA/RE</a:t>
            </a:r>
            <a:endParaRPr lang="en-A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解决方法：使用泵引理（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Pumping Lemma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5" name="箭头: 下 4"/>
          <p:cNvSpPr/>
          <p:nvPr/>
        </p:nvSpPr>
        <p:spPr>
          <a:xfrm>
            <a:off x="4224758" y="2362032"/>
            <a:ext cx="347241" cy="7407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下 6"/>
          <p:cNvSpPr/>
          <p:nvPr/>
        </p:nvSpPr>
        <p:spPr>
          <a:xfrm>
            <a:off x="4224388" y="3918825"/>
            <a:ext cx="347241" cy="7407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7534" y="152400"/>
            <a:ext cx="6507865" cy="393065"/>
          </a:xfrm>
        </p:spPr>
        <p:txBody>
          <a:bodyPr/>
          <a:lstStyle/>
          <a:p>
            <a:r>
              <a:rPr lang="zh-CN" altLang="en-US" dirty="0"/>
              <a:t>鸽巢原理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29400" y="6314673"/>
            <a:ext cx="2133600" cy="365125"/>
          </a:xfrm>
        </p:spPr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9" name="AutoShape 19"/>
          <p:cNvSpPr/>
          <p:nvPr/>
        </p:nvSpPr>
        <p:spPr>
          <a:xfrm>
            <a:off x="609600" y="4045833"/>
            <a:ext cx="1981200" cy="17526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10" name="Picture 23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838200" y="2377371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AutoShape 24"/>
          <p:cNvSpPr/>
          <p:nvPr/>
        </p:nvSpPr>
        <p:spPr>
          <a:xfrm>
            <a:off x="3581400" y="4045833"/>
            <a:ext cx="1981200" cy="17526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2" name="AutoShape 25"/>
          <p:cNvSpPr/>
          <p:nvPr/>
        </p:nvSpPr>
        <p:spPr>
          <a:xfrm>
            <a:off x="6553200" y="4045833"/>
            <a:ext cx="1981200" cy="17526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13" name="Picture 26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2505075" y="1650296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Picture 27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4495800" y="2388483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Picture 28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324600" y="1650296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 Box 29"/>
          <p:cNvSpPr txBox="1"/>
          <p:nvPr/>
        </p:nvSpPr>
        <p:spPr>
          <a:xfrm>
            <a:off x="2828925" y="3353186"/>
            <a:ext cx="2114550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只鸽子</a:t>
            </a:r>
            <a:endParaRPr lang="en-US" altLang="zh-CN" sz="24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Text Box 29"/>
          <p:cNvSpPr txBox="1"/>
          <p:nvPr/>
        </p:nvSpPr>
        <p:spPr>
          <a:xfrm>
            <a:off x="3752850" y="5970546"/>
            <a:ext cx="2114550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个鸽巢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609600" y="818945"/>
            <a:ext cx="8229600" cy="503964"/>
          </a:xfrm>
        </p:spPr>
        <p:txBody>
          <a:bodyPr/>
          <a:lstStyle/>
          <a:p>
            <a:r>
              <a:rPr lang="zh-CN" altLang="en-US" dirty="0"/>
              <a:t>在学习泵引理之前，我们首先学习鸽巢原理。</a:t>
            </a:r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7534" y="152400"/>
            <a:ext cx="6507865" cy="393065"/>
          </a:xfrm>
        </p:spPr>
        <p:txBody>
          <a:bodyPr/>
          <a:lstStyle/>
          <a:p>
            <a:r>
              <a:rPr lang="zh-CN" altLang="en-US" dirty="0"/>
              <a:t>鸽巢原理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488156" y="1280319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" name="AutoShape 4"/>
          <p:cNvSpPr/>
          <p:nvPr/>
        </p:nvSpPr>
        <p:spPr>
          <a:xfrm>
            <a:off x="869156" y="3947319"/>
            <a:ext cx="1981200" cy="17526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20" name="Picture 5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945356" y="4404519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AutoShape 6"/>
          <p:cNvSpPr/>
          <p:nvPr/>
        </p:nvSpPr>
        <p:spPr>
          <a:xfrm>
            <a:off x="3840956" y="3947319"/>
            <a:ext cx="1981200" cy="17526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" name="AutoShape 7"/>
          <p:cNvSpPr/>
          <p:nvPr/>
        </p:nvSpPr>
        <p:spPr>
          <a:xfrm>
            <a:off x="6812756" y="3947319"/>
            <a:ext cx="1981200" cy="1752600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23" name="Picture 8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3917156" y="4404519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" name="Picture 9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7117556" y="4633119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Picture 10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584156" y="3947319"/>
            <a:ext cx="13716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Line 12"/>
          <p:cNvSpPr/>
          <p:nvPr/>
        </p:nvSpPr>
        <p:spPr>
          <a:xfrm>
            <a:off x="6279356" y="2575719"/>
            <a:ext cx="1066800" cy="1219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628016" y="1358899"/>
            <a:ext cx="8229600" cy="1333501"/>
          </a:xfrm>
        </p:spPr>
        <p:txBody>
          <a:bodyPr/>
          <a:lstStyle/>
          <a:p>
            <a:r>
              <a:rPr lang="zh-CN" altLang="en-US" dirty="0"/>
              <a:t>如果要把每只鸽子都放到鸽巢中，那么必定有一个鸽巢中存在至少两只鸽子。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7534" y="152400"/>
            <a:ext cx="6507865" cy="393065"/>
          </a:xfrm>
        </p:spPr>
        <p:txBody>
          <a:bodyPr/>
          <a:lstStyle/>
          <a:p>
            <a:r>
              <a:rPr lang="zh-CN" altLang="en-US" dirty="0"/>
              <a:t>鸽巢原理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488156" y="1280319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457200" y="1318419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8" name="Picture 4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25475" y="4137819"/>
            <a:ext cx="914400" cy="685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Picture 5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2682875" y="4137819"/>
            <a:ext cx="914400" cy="685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Picture 6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645275" y="4290219"/>
            <a:ext cx="914400" cy="685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Picture 7" descr="pigeon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340475" y="3833019"/>
            <a:ext cx="914400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AutoShape 9"/>
          <p:cNvSpPr/>
          <p:nvPr/>
        </p:nvSpPr>
        <p:spPr>
          <a:xfrm>
            <a:off x="625475" y="3756819"/>
            <a:ext cx="1214438" cy="1214438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2" name="AutoShape 10"/>
          <p:cNvSpPr/>
          <p:nvPr/>
        </p:nvSpPr>
        <p:spPr>
          <a:xfrm>
            <a:off x="2682875" y="3756819"/>
            <a:ext cx="1214438" cy="1214438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" name="AutoShape 11"/>
          <p:cNvSpPr/>
          <p:nvPr/>
        </p:nvSpPr>
        <p:spPr>
          <a:xfrm>
            <a:off x="6492875" y="3756819"/>
            <a:ext cx="1214438" cy="1214438"/>
          </a:xfrm>
          <a:prstGeom prst="cube">
            <a:avLst>
              <a:gd name="adj" fmla="val 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endParaRPr lang="zh-CN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39" name="Object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75" y="2766219"/>
            <a:ext cx="1155700" cy="315913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40" name="Line 18"/>
          <p:cNvSpPr/>
          <p:nvPr/>
        </p:nvSpPr>
        <p:spPr>
          <a:xfrm>
            <a:off x="6340475" y="2461419"/>
            <a:ext cx="762000" cy="1066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42" name="Text Box 29"/>
          <p:cNvSpPr txBox="1"/>
          <p:nvPr/>
        </p:nvSpPr>
        <p:spPr>
          <a:xfrm>
            <a:off x="683348" y="977413"/>
            <a:ext cx="2114550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只鸽子</a:t>
            </a:r>
            <a:endParaRPr lang="en-US" altLang="zh-CN" sz="24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Text Box 29"/>
          <p:cNvSpPr txBox="1"/>
          <p:nvPr/>
        </p:nvSpPr>
        <p:spPr>
          <a:xfrm>
            <a:off x="683348" y="1483280"/>
            <a:ext cx="2114550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个鸽巢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" name="Text Box 29"/>
          <p:cNvSpPr txBox="1"/>
          <p:nvPr/>
        </p:nvSpPr>
        <p:spPr>
          <a:xfrm>
            <a:off x="4918075" y="1230475"/>
            <a:ext cx="284480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必定有一个鸽巢中存在至少两只鸽子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Text Box 12"/>
          <p:cNvSpPr txBox="1"/>
          <p:nvPr/>
        </p:nvSpPr>
        <p:spPr>
          <a:xfrm>
            <a:off x="4602956" y="4098162"/>
            <a:ext cx="1301750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...........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9" name="Text Box 29"/>
          <p:cNvSpPr txBox="1"/>
          <p:nvPr/>
        </p:nvSpPr>
        <p:spPr>
          <a:xfrm>
            <a:off x="2173715" y="5258734"/>
            <a:ext cx="479657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有限状态、无限字符串的情况下，会是什么情况呢？</a:t>
            </a:r>
            <a:endParaRPr lang="en-US" altLang="zh-CN" sz="24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正则语言的泵引理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458200" cy="4525963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泵引理</a:t>
                </a:r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pumping lemma</a:t>
                </a:r>
                <a:r>
                  <a:rPr lang="en-AU" altLang="zh-CN" dirty="0"/>
                  <a:t>): 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是正则的，那么存在正整数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只要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就可以将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分为三部分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满足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（或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）</a:t>
                </a:r>
                <a:r>
                  <a:rPr lang="en-AU" altLang="zh-CN" dirty="0"/>
                  <a:t>;</a:t>
                </a:r>
                <a:endParaRPr lang="en-AU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2">
                  <a:lnSpc>
                    <a:spcPct val="120000"/>
                  </a:lnSpc>
                </a:pPr>
                <a:r>
                  <a:rPr lang="zh-CN" altLang="en-US" dirty="0"/>
                  <a:t>中间的串不论循环几次，所得的串仍属于该正则语言。</a:t>
                </a:r>
                <a:endParaRPr lang="en-AU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458200" cy="4525963"/>
              </a:xfrm>
              <a:blipFill rotWithShape="1">
                <a:blip r:embed="rId1"/>
                <a:stretch>
                  <a:fillRect t="-11" r="-108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423" y="802748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正则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那么存在有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个状态</a:t>
                </a:r>
                <a:r>
                  <a: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r>
                      <a:rPr lang="en-AU" b="1" i="0" dirty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𝐋</m:t>
                    </m:r>
                    <m:r>
                      <a:rPr lang="en-AU" i="1" dirty="0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</m:t>
                    </m:r>
                    <m:r>
                      <a:rPr lang="en-AU" i="1" dirty="0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)=</m:t>
                    </m:r>
                    <m:r>
                      <a:rPr lang="en-AU" i="1" dirty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取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 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𝑚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acc>
                      <m:acc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AU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当输入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的前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个字符时，经过的状态分别有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AU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个状态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423" y="802748"/>
                <a:ext cx="8229600" cy="4525963"/>
              </a:xfrm>
              <a:blipFill rotWithShape="1">
                <a:blip r:embed="rId1"/>
                <a:stretch>
                  <a:fillRect l="-5" t="-2" r="5"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583" y="2869644"/>
            <a:ext cx="6138034" cy="7477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423" y="802748"/>
                <a:ext cx="8229600" cy="590285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正则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那么存在有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个状态</a:t>
                </a:r>
                <a:r>
                  <a:rPr lang="en-A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使</a:t>
                </a:r>
                <a14:m>
                  <m:oMath xmlns:m="http://schemas.openxmlformats.org/officeDocument/2006/math"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;</a:t>
                </a:r>
                <a:endParaRPr lang="en-AU" dirty="0"/>
              </a:p>
              <a:p>
                <a:r>
                  <a:rPr lang="zh-CN" altLang="en-US" dirty="0"/>
                  <a:t>取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AU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;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r>
                  <a:rPr lang="zh-CN" altLang="en-US" dirty="0"/>
                  <a:t>当输入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的前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个字符时，经过的状态分别有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:r>
                  <a:rPr lang="en-AU" altLang="zh-CN" b="0" i="1" dirty="0">
                    <a:latin typeface="Cambria Math" panose="02040503050406030204" pitchFamily="18" charset="0"/>
                  </a:rPr>
                  <a:t>N</a:t>
                </a:r>
                <a:r>
                  <a:rPr lang="en-AU" altLang="zh-CN" dirty="0"/>
                  <a:t>+1</a:t>
                </a:r>
                <a:r>
                  <a:rPr lang="zh-CN" altLang="en-US" dirty="0"/>
                  <a:t>个状态</a:t>
                </a:r>
                <a:r>
                  <a:rPr lang="en-AU" altLang="zh-CN" dirty="0"/>
                  <a:t>)</a:t>
                </a:r>
                <a:endParaRPr lang="en-AU" altLang="zh-CN" dirty="0"/>
              </a:p>
              <a:p>
                <a:r>
                  <a:rPr lang="zh-CN" altLang="en-US" dirty="0"/>
                  <a:t>因为</a:t>
                </a:r>
                <a:r>
                  <a:rPr lang="en-AU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只有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个状态，由鸽巢原理</a:t>
                </a:r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pigeonhole principle</a:t>
                </a:r>
                <a:r>
                  <a:rPr lang="en-AU" altLang="zh-CN" dirty="0"/>
                  <a:t>)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所到达的状态必有两个相同</a:t>
                </a:r>
                <a:r>
                  <a:rPr lang="en-AU" altLang="zh-CN" dirty="0"/>
                  <a:t>	</a:t>
                </a:r>
                <a:endParaRPr lang="en-AU" altLang="zh-CN" dirty="0"/>
              </a:p>
              <a:p>
                <a:pPr lvl="1"/>
                <a:r>
                  <a:rPr lang="zh-CN" altLang="en-US" sz="2400" dirty="0"/>
                  <a:t>鸽巢原理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只鸽子飞入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/>
                  <a:t>个巢，则至少有一个巢有不少于两只鸽子。</a:t>
                </a:r>
                <a:endParaRPr lang="en-AU" altLang="zh-CN" sz="2400" dirty="0"/>
              </a:p>
              <a:p>
                <a:endParaRPr lang="en-AU" altLang="zh-CN" dirty="0"/>
              </a:p>
              <a:p>
                <a:pPr marL="457200" lvl="1" indent="0">
                  <a:buNone/>
                </a:pPr>
                <a:endParaRPr lang="zh-CN" altLang="en-US" sz="2400" dirty="0"/>
              </a:p>
              <a:p>
                <a:pPr lvl="1"/>
                <a:endParaRPr lang="en-AU" altLang="zh-CN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423" y="802748"/>
                <a:ext cx="8229600" cy="5902852"/>
              </a:xfrm>
              <a:blipFill rotWithShape="1">
                <a:blip r:embed="rId1"/>
                <a:stretch>
                  <a:fillRect l="-5" t="-2" r="5" b="-179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583" y="2869644"/>
            <a:ext cx="6138034" cy="7477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9709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不妨设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AU" altLang="zh-CN" sz="2400" dirty="0"/>
              </a:p>
              <a:p>
                <a:r>
                  <a:rPr lang="zh-CN" altLang="en-US" dirty="0"/>
                  <a:t>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可以把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这个路径如图分为三段，分别是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一段从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开始，经过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然后经过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，到达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，因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，所以实际到达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最后经过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，到达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dirty="0"/>
              </a:p>
              <a:p>
                <a:pPr lvl="1"/>
                <a:endParaRPr lang="zh-CN" altLang="en-US" sz="2000" dirty="0"/>
              </a:p>
              <a:p>
                <a:pPr lvl="1"/>
                <a:endParaRPr lang="en-AU" altLang="zh-C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9709"/>
                <a:ext cx="8229600" cy="4525963"/>
              </a:xfrm>
              <a:blipFill rotWithShape="1">
                <a:blip r:embed="rId1"/>
                <a:stretch>
                  <a:fillRect t="-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cture containing text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22" y="4701682"/>
            <a:ext cx="6620742" cy="119267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泵引理的证明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6410" y="1153297"/>
                <a:ext cx="842899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2800" dirty="0"/>
                  <a:t>;</a:t>
                </a:r>
                <a:endParaRPr lang="en-US" altLang="zh-CN" sz="2800" dirty="0"/>
              </a:p>
              <a:p>
                <a:pPr lvl="1"/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处做循环</a:t>
                </a:r>
                <a:endParaRPr lang="en-AU" altLang="zh-CN" dirty="0"/>
              </a:p>
              <a:p>
                <a:r>
                  <a:rPr lang="zh-CN" altLang="en-US" sz="2800" dirty="0"/>
                  <a:t>因为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之间至少有一个字符，故</a:t>
                </a:r>
                <a14:m>
                  <m:oMath xmlns:m="http://schemas.openxmlformats.org/officeDocument/2006/math">
                    <m:r>
                      <a:rPr lang="en-AU" altLang="zh-C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l-GR" altLang="zh-CN" sz="2800" dirty="0"/>
                  <a:t>(</a:t>
                </a:r>
                <a:r>
                  <a:rPr lang="zh-CN" altLang="en-US" sz="2800" dirty="0"/>
                  <a:t>即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| &gt;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/>
                  <a:t>)</a:t>
                </a:r>
                <a:r>
                  <a:rPr lang="zh-CN" altLang="en-US" sz="2800" dirty="0"/>
                  <a:t>；</a:t>
                </a:r>
                <a:endParaRPr lang="en-AU" altLang="zh-CN" sz="2800" dirty="0"/>
              </a:p>
              <a:p>
                <a:r>
                  <a:rPr lang="zh-CN" altLang="en-US" sz="2800" dirty="0"/>
                  <a:t>因为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所以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 err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| ≤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endParaRPr lang="en-AU" altLang="zh-CN" sz="2800" dirty="0"/>
              </a:p>
              <a:p>
                <a:endParaRPr lang="en-US" altLang="zh-CN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1153297"/>
                <a:ext cx="8428990" cy="4525963"/>
              </a:xfrm>
              <a:blipFill rotWithShape="1">
                <a:blip r:embed="rId1"/>
                <a:stretch>
                  <a:fillRect t="-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cture containing text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047213"/>
            <a:ext cx="7763930" cy="139860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泵引理的解释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4522" y="1287683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泵引理的解释：</a:t>
                </a:r>
                <a:r>
                  <a:rPr lang="zh-CN" altLang="en-US" b="0" dirty="0"/>
                  <a:t>任何从开始状态到接受状态的路径</a:t>
                </a:r>
                <a:r>
                  <a:rPr lang="en-US" altLang="zh-CN" b="0" dirty="0"/>
                  <a:t>, </a:t>
                </a:r>
                <a:r>
                  <a:rPr lang="zh-CN" altLang="en-US" b="0" dirty="0"/>
                  <a:t>如果长度超过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b="0" dirty="0"/>
                  <a:t>，一定会经过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b="0" dirty="0"/>
                  <a:t>个状态，必定有一个重复状态，因此会形成一个循环 </a:t>
                </a:r>
                <a:r>
                  <a:rPr lang="en-US" altLang="zh-CN" b="0" dirty="0"/>
                  <a:t>(loop)</a:t>
                </a:r>
                <a:r>
                  <a:rPr lang="zh-CN" altLang="en-US" b="0" dirty="0"/>
                  <a:t>；那么，这个循环可以被重复多次后，沿原路径还会到达接收状态。</a:t>
                </a:r>
                <a:endParaRPr lang="en-US" altLang="zh-CN" b="0" dirty="0"/>
              </a:p>
              <a:p>
                <a:endParaRPr lang="zh-CN" altLang="en-US" sz="800" b="0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泵引理可以用来确定特定语言不是正则语言</a:t>
                </a:r>
                <a:r>
                  <a:rPr lang="zh-CN" altLang="en-US" dirty="0"/>
                  <a:t>，泵引理成立是正则语言判定的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必要条件</a:t>
                </a:r>
                <a:r>
                  <a:rPr lang="zh-CN" altLang="en-US" dirty="0"/>
                  <a:t>，但不是充分条件</a:t>
                </a:r>
                <a:endParaRPr lang="zh-CN" altLang="en-US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522" y="1287683"/>
                <a:ext cx="8229600" cy="4525963"/>
              </a:xfrm>
              <a:blipFill rotWithShape="1">
                <a:blip r:embed="rId1"/>
                <a:stretch>
                  <a:fillRect l="-4" t="-12" r="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泵引理的解释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522" y="1287683"/>
            <a:ext cx="8229600" cy="4525963"/>
          </a:xfrm>
        </p:spPr>
        <p:txBody>
          <a:bodyPr/>
          <a:lstStyle/>
          <a:p>
            <a:r>
              <a:rPr lang="zh-CN" altLang="en-US" dirty="0"/>
              <a:t>泵引理趣解：</a:t>
            </a:r>
            <a:r>
              <a:rPr lang="zh-CN" altLang="en-US" b="0" dirty="0">
                <a:latin typeface="Times New Roman" panose="02020603050405020304"/>
                <a:cs typeface="Times New Roman" panose="02020603050405020304"/>
              </a:rPr>
              <a:t>有个啰嗦的老太婆，脑袋里面只有</a:t>
            </a:r>
            <a:r>
              <a:rPr lang="en-US" altLang="zh-CN" b="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zh-CN" altLang="en-US" b="0" dirty="0">
                <a:latin typeface="Times New Roman" panose="02020603050405020304"/>
                <a:cs typeface="Times New Roman" panose="02020603050405020304"/>
              </a:rPr>
              <a:t>个论点，上台发言的时候说“下面我讲</a:t>
            </a:r>
            <a:r>
              <a:rPr lang="en-US" altLang="zh-CN" b="0" i="1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zh-CN" altLang="en-US" b="0" dirty="0">
                <a:latin typeface="Times New Roman" panose="02020603050405020304"/>
                <a:cs typeface="Times New Roman" panose="02020603050405020304"/>
              </a:rPr>
              <a:t>个意见”，当</a:t>
            </a:r>
            <a:r>
              <a:rPr lang="en-US" altLang="zh-CN" b="0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en-US" altLang="zh-CN" b="0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zh-CN" altLang="en-US" b="0" dirty="0">
                <a:latin typeface="Times New Roman" panose="02020603050405020304"/>
                <a:cs typeface="Times New Roman" panose="02020603050405020304"/>
              </a:rPr>
              <a:t>时，至少有一个地方在打圈（发言激动时尤其如此）（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言多必失</a:t>
            </a:r>
            <a:r>
              <a:rPr lang="zh-CN" altLang="en-US" b="0" dirty="0">
                <a:latin typeface="Times New Roman" panose="02020603050405020304"/>
                <a:cs typeface="Times New Roman" panose="02020603050405020304"/>
              </a:rPr>
              <a:t>）。</a:t>
            </a:r>
            <a:endParaRPr lang="en-US" altLang="zh-CN" b="0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/>
              </a:rPr>
              <a:t>正则语言就是通过打圈，来描述（有某种规律的）无限集合</a:t>
            </a:r>
            <a:endParaRPr lang="en-US" altLang="zh-CN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522" y="4653998"/>
            <a:ext cx="8100000" cy="95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5181" y="1070325"/>
                <a:ext cx="8431619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不是正则语言。</a:t>
                </a:r>
                <a:endParaRPr lang="en-AU" altLang="zh-CN" dirty="0"/>
              </a:p>
              <a:p>
                <a:r>
                  <a:rPr lang="zh-CN" altLang="en-US" dirty="0"/>
                  <a:t>证明：假设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AU" altLang="zh-CN" dirty="0"/>
                  <a:t>,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181" y="1070325"/>
                <a:ext cx="8431619" cy="4525963"/>
              </a:xfrm>
              <a:blipFill rotWithShape="1">
                <a:blip r:embed="rId1"/>
                <a:stretch>
                  <a:fillRect l="-6" t="-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0874" y="1068572"/>
                <a:ext cx="8335926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不是正则语言。</a:t>
                </a:r>
                <a:endParaRPr lang="en-AU" altLang="zh-CN" dirty="0"/>
              </a:p>
              <a:p>
                <a:r>
                  <a:rPr lang="zh-CN" altLang="en-US" dirty="0"/>
                  <a:t>证明：假设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AU" altLang="zh-CN" dirty="0"/>
                  <a:t>,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中取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，显然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874" y="1068572"/>
                <a:ext cx="8335926" cy="4525963"/>
              </a:xfrm>
              <a:blipFill rotWithShape="1">
                <a:blip r:embed="rId1"/>
                <a:stretch>
                  <a:fillRect l="-4" t="-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7712" y="1070963"/>
                <a:ext cx="8389088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不是正则语言。</a:t>
                </a:r>
                <a:endParaRPr lang="en-AU" altLang="zh-CN" dirty="0"/>
              </a:p>
              <a:p>
                <a:r>
                  <a:rPr lang="zh-CN" altLang="en-US" dirty="0"/>
                  <a:t>证明：假设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AU" altLang="zh-CN" dirty="0"/>
                  <a:t>,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中取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，显然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  <a:p>
                <a:pPr lvl="1"/>
                <a:r>
                  <a:rPr lang="zh-CN" altLang="en-US" dirty="0"/>
                  <a:t>那么</a:t>
                </a:r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可被分为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i="1" dirty="0" err="1" smtClean="0">
                        <a:latin typeface="Cambria Math" panose="02040503050406030204" pitchFamily="18" charset="0"/>
                      </a:rPr>
                      <m:t>𝑥𝑦𝑧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AU" altLang="zh-CN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AU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7712" y="1070963"/>
                <a:ext cx="8389088" cy="4525963"/>
              </a:xfrm>
              <a:blipFill rotWithShape="1">
                <a:blip r:embed="rId1"/>
                <a:stretch>
                  <a:fillRect l="-6" t="-8" r="-230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2651" y="877185"/>
                <a:ext cx="8474149" cy="5980815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不是正则语言。</a:t>
                </a:r>
                <a:endParaRPr lang="en-AU" altLang="zh-CN" dirty="0"/>
              </a:p>
              <a:p>
                <a:r>
                  <a:rPr lang="zh-CN" altLang="en-US" dirty="0"/>
                  <a:t>证明：假设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AU" altLang="zh-CN" dirty="0"/>
                  <a:t>,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中取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，显然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  <a:p>
                <a:pPr lvl="1"/>
                <a:r>
                  <a:rPr lang="zh-CN" altLang="en-US" dirty="0"/>
                  <a:t>那么</a:t>
                </a:r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可被分为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i="1" dirty="0" err="1">
                        <a:latin typeface="Cambria Math" panose="02040503050406030204" pitchFamily="18" charset="0"/>
                      </a:rPr>
                      <m:t>𝑥𝑦𝑧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altLang="zh-C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CN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AU" altLang="zh-CN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AU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en-US" altLang="zh-CN" dirty="0"/>
                  <a:t> 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因此，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只能是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。</a:t>
                </a:r>
                <a:endParaRPr lang="en-AU" dirty="0"/>
              </a:p>
              <a:p>
                <a:pPr lvl="1"/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，而由泵引理，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，矛盾。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所以假设不成立，</a:t>
                </a:r>
                <a:r>
                  <a:rPr lang="en-AU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不是正则的。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651" y="877185"/>
                <a:ext cx="8474149" cy="5980815"/>
              </a:xfrm>
              <a:blipFill rotWithShape="1">
                <a:blip r:embed="rId1"/>
                <a:stretch>
                  <a:fillRect l="-7" t="-4" r="-1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4000" dirty="0"/>
              <a:t>例</a:t>
            </a:r>
            <a:r>
              <a:rPr lang="en-US" altLang="zh-CN" sz="4000" dirty="0"/>
              <a:t>2</a:t>
            </a:r>
            <a:r>
              <a:rPr lang="en-AU" altLang="zh-CN" sz="4000" dirty="0"/>
              <a:t>:</a:t>
            </a:r>
            <a:r>
              <a:rPr lang="zh-CN" altLang="en-US" sz="4000" dirty="0"/>
              <a:t>证明</a:t>
            </a:r>
            <a:r>
              <a:rPr lang="en-US" altLang="zh-CN" sz="4000" i="1" dirty="0" err="1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lang="en-US" altLang="zh-CN" sz="4000" i="1" baseline="-25000" dirty="0" err="1">
                <a:latin typeface="Times New Roman" panose="02020603050405020304"/>
                <a:cs typeface="Times New Roman" panose="02020603050405020304"/>
                <a:sym typeface="+mn-ea"/>
              </a:rPr>
              <a:t>eq</a:t>
            </a:r>
            <a:r>
              <a:rPr lang="en-US" altLang="zh-CN" sz="4000" dirty="0">
                <a:latin typeface="Times New Roman" panose="02020603050405020304"/>
                <a:cs typeface="Times New Roman" panose="02020603050405020304"/>
                <a:sym typeface="+mn-ea"/>
              </a:rPr>
              <a:t>={</a:t>
            </a:r>
            <a:r>
              <a:rPr lang="en-US" altLang="zh-CN" sz="4000" i="1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lang="en-US" altLang="zh-CN" sz="4000" dirty="0">
                <a:latin typeface="Times New Roman" panose="02020603050405020304"/>
                <a:cs typeface="Times New Roman" panose="02020603050405020304"/>
                <a:sym typeface="+mn-ea"/>
              </a:rPr>
              <a:t>| </a:t>
            </a:r>
            <a:r>
              <a:rPr lang="en-US" altLang="zh-CN" sz="4000" i="1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lang="zh-CN" altLang="en-US" sz="4000" dirty="0">
                <a:latin typeface="Times New Roman" panose="02020603050405020304"/>
                <a:cs typeface="Times New Roman" panose="02020603050405020304"/>
                <a:sym typeface="+mn-ea"/>
              </a:rPr>
              <a:t>由数量相等的</a:t>
            </a:r>
            <a:r>
              <a:rPr lang="en-US" altLang="zh-CN" sz="4000" dirty="0">
                <a:latin typeface="Times New Roman" panose="02020603050405020304"/>
                <a:cs typeface="Times New Roman" panose="02020603050405020304"/>
                <a:sym typeface="+mn-ea"/>
              </a:rPr>
              <a:t>0</a:t>
            </a:r>
            <a:r>
              <a:rPr lang="zh-CN" altLang="en-US" sz="4000" dirty="0">
                <a:latin typeface="Times New Roman" panose="02020603050405020304"/>
                <a:cs typeface="Times New Roman" panose="02020603050405020304"/>
                <a:sym typeface="+mn-ea"/>
              </a:rPr>
              <a:t>和</a:t>
            </a:r>
            <a:r>
              <a:rPr lang="en-US" altLang="zh-CN" sz="4000" dirty="0">
                <a:latin typeface="Times New Roman" panose="02020603050405020304"/>
                <a:cs typeface="Times New Roman" panose="02020603050405020304"/>
                <a:sym typeface="+mn-ea"/>
              </a:rPr>
              <a:t>1</a:t>
            </a:r>
            <a:r>
              <a:rPr lang="zh-CN" altLang="en-US" sz="4000" dirty="0">
                <a:latin typeface="Times New Roman" panose="02020603050405020304"/>
                <a:cs typeface="Times New Roman" panose="02020603050405020304"/>
                <a:sym typeface="+mn-ea"/>
              </a:rPr>
              <a:t>构成</a:t>
            </a:r>
            <a:r>
              <a:rPr lang="en-US" altLang="zh-CN" sz="4000" dirty="0">
                <a:latin typeface="Times New Roman" panose="02020603050405020304"/>
                <a:cs typeface="Times New Roman" panose="02020603050405020304"/>
                <a:sym typeface="+mn-ea"/>
              </a:rPr>
              <a:t>}</a:t>
            </a:r>
            <a:r>
              <a:rPr lang="zh-CN" altLang="en-US" sz="4000" dirty="0">
                <a:latin typeface="Times New Roman" panose="02020603050405020304"/>
                <a:cs typeface="Times New Roman" panose="02020603050405020304"/>
                <a:sym typeface="+mn-ea"/>
              </a:rPr>
              <a:t>不是正则语言</a:t>
            </a:r>
            <a:endParaRPr lang="en-AU" altLang="zh-CN" sz="4000" dirty="0"/>
          </a:p>
        </p:txBody>
      </p:sp>
      <p:sp>
        <p:nvSpPr>
          <p:cNvPr id="8" name="矩形: 圆角 7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5181" y="1070325"/>
                <a:ext cx="8431619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2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:r>
                  <a:rPr lang="en-US" altLang="zh-CN" i="1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L</a:t>
                </a:r>
                <a:r>
                  <a:rPr lang="en-US" altLang="zh-CN" i="1" baseline="-25000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eq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={</a:t>
                </a:r>
                <a:r>
                  <a:rPr lang="en-US" altLang="zh-CN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| </a:t>
                </a:r>
                <a:r>
                  <a:rPr lang="en-US" altLang="zh-CN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由数量相等的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0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和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1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构成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}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不是正则语言</a:t>
                </a:r>
                <a:endParaRPr lang="en-AU" altLang="zh-CN" dirty="0"/>
              </a:p>
              <a:p>
                <a:r>
                  <a:rPr lang="zh-CN" altLang="en-US" dirty="0"/>
                  <a:t>证明：假设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AU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AU" altLang="zh-CN" dirty="0"/>
                  <a:t>,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181" y="1070325"/>
                <a:ext cx="8431619" cy="4525963"/>
              </a:xfrm>
              <a:blipFill rotWithShape="1">
                <a:blip r:embed="rId1"/>
                <a:stretch>
                  <a:fillRect l="-6" t="-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5181" y="1070325"/>
                <a:ext cx="8431619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2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:r>
                  <a:rPr lang="en-US" altLang="zh-CN" i="1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L</a:t>
                </a:r>
                <a:r>
                  <a:rPr lang="en-US" altLang="zh-CN" i="1" baseline="-25000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eq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={</a:t>
                </a:r>
                <a:r>
                  <a:rPr lang="en-US" altLang="zh-CN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| </a:t>
                </a:r>
                <a:r>
                  <a:rPr lang="en-US" altLang="zh-CN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由数量相等的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0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和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1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构成</a:t>
                </a:r>
                <a:r>
                  <a:rPr lang="en-US" altLang="zh-CN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}</a:t>
                </a:r>
                <a:r>
                  <a:rPr lang="zh-CN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不是正则语言</a:t>
                </a:r>
                <a:endParaRPr lang="en-AU" altLang="zh-CN" dirty="0"/>
              </a:p>
              <a:p>
                <a:r>
                  <a:rPr lang="zh-CN" altLang="en-US" dirty="0"/>
                  <a:t>证明：假设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AU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AU" altLang="zh-CN" dirty="0"/>
                  <a:t>,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zh-CN" altLang="en-US" dirty="0"/>
              </a:p>
              <a:p>
                <a:pPr lvl="1"/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取</a:t>
                </a:r>
                <a:r>
                  <a:rPr lang="pl-PL" altLang="zh-CN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pl-PL" altLang="zh-CN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=0</a:t>
                </a:r>
                <a:r>
                  <a:rPr lang="pl-PL" altLang="zh-CN" b="0" i="1" baseline="3000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:r>
                  <a:rPr lang="pl-PL" altLang="zh-CN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1</a:t>
                </a:r>
                <a:r>
                  <a:rPr lang="pl-PL" altLang="zh-CN" b="0" i="1" baseline="3000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∈</a:t>
                </a:r>
                <a:r>
                  <a:rPr lang="en-US" altLang="zh-TW" b="0" i="1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L</a:t>
                </a:r>
                <a:r>
                  <a:rPr lang="en-US" altLang="zh-TW" b="0" i="1" baseline="-25000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eq</a:t>
                </a:r>
                <a:r>
                  <a:rPr lang="zh-CN" altLang="zh-CN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，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因为</a:t>
                </a:r>
                <a:r>
                  <a:rPr lang="en-US" altLang="zh-TW" b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|</a:t>
                </a:r>
                <a:r>
                  <a:rPr lang="en-US" altLang="zh-TW" b="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en-US" altLang="zh-TW" b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|=2</a:t>
                </a:r>
                <a:r>
                  <a:rPr lang="en-US" altLang="zh-TW" b="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:r>
                  <a:rPr lang="en-US" altLang="zh-TW" b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&gt;</a:t>
                </a:r>
                <a:r>
                  <a:rPr lang="en-US" altLang="zh-TW" b="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，则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有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w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=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xyz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，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且</a:t>
                </a:r>
                <a:r>
                  <a:rPr lang="en-US" altLang="zh-TW" b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|</a:t>
                </a:r>
                <a:r>
                  <a:rPr lang="en-US" altLang="zh-TW" b="0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xy</a:t>
                </a:r>
                <a:r>
                  <a:rPr lang="en-US" altLang="zh-TW" b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|≤</a:t>
                </a:r>
                <a:r>
                  <a:rPr lang="en-US" altLang="zh-TW" b="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:r>
                  <a:rPr lang="zh-CN" altLang="en-US" b="0" dirty="0">
                    <a:solidFill>
                      <a:schemeClr val="tx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AU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；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那么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y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一定是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0</a:t>
                </a:r>
                <a:r>
                  <a:rPr lang="en-US" altLang="zh-CN" b="0" i="1" baseline="3000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m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(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m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=|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y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|&gt;0)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；</a:t>
                </a:r>
                <a:endParaRPr lang="zh-CN" altLang="en-US" b="0" dirty="0"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  <a:p>
                <a:pPr lvl="1"/>
                <a:r>
                  <a:rPr lang="zh-CN" altLang="en-US" b="0" dirty="0">
                    <a:solidFill>
                      <a:schemeClr val="tx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那么</a:t>
                </a:r>
                <a:r>
                  <a:rPr lang="en-US" altLang="zh-TW" b="0" i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xy</a:t>
                </a:r>
                <a:r>
                  <a:rPr lang="en-US" altLang="zh-TW" b="0" baseline="30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2</a:t>
                </a:r>
                <a:r>
                  <a:rPr lang="en-US" altLang="zh-TW" b="0" i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z=xy</a:t>
                </a:r>
                <a:r>
                  <a:rPr lang="en-US" altLang="zh-TW" b="0" baseline="30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2</a:t>
                </a:r>
                <a:r>
                  <a:rPr lang="en-US" altLang="zh-TW" b="0" i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z</a:t>
                </a:r>
                <a:r>
                  <a:rPr lang="en-US" altLang="zh-TW" b="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=0</a:t>
                </a:r>
                <a:r>
                  <a:rPr lang="en-US" altLang="zh-TW" b="0" i="1" baseline="30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:r>
                  <a:rPr lang="en-US" altLang="zh-TW" b="0" baseline="30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+</a:t>
                </a:r>
                <a:r>
                  <a:rPr lang="en-US" altLang="zh-TW" b="0" i="1" baseline="30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m</a:t>
                </a:r>
                <a:r>
                  <a:rPr lang="en-US" altLang="zh-TW" b="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1</a:t>
                </a:r>
                <a:r>
                  <a:rPr lang="en-US" altLang="zh-TW" b="0" i="1" baseline="30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cs typeface="Times New Roman" panose="02020603050405020304"/>
                      </a:rPr>
                      <m:t>∉</m:t>
                    </m:r>
                  </m:oMath>
                </a14:m>
                <a:r>
                  <a:rPr lang="en-US" altLang="zh-TW" i="1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L</a:t>
                </a:r>
                <a:r>
                  <a:rPr lang="en-US" altLang="zh-TW" i="1" baseline="-25000" dirty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eq</a:t>
                </a:r>
                <a:r>
                  <a:rPr lang="en-US" altLang="zh-TW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 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，</a:t>
                </a:r>
                <a:r>
                  <a:rPr lang="zh-TW" altLang="en-US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根据泵引理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xy</a:t>
                </a:r>
                <a:r>
                  <a:rPr lang="en-US" altLang="zh-TW" b="0" baseline="3000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2</a:t>
                </a:r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z</a:t>
                </a:r>
                <a14:m>
                  <m:oMath xmlns:m="http://schemas.openxmlformats.org/officeDocument/2006/math"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TW" b="0" i="1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L</a:t>
                </a:r>
                <a:r>
                  <a:rPr lang="en-US" altLang="zh-TW" b="0" i="1" baseline="-2500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eq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，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与假设矛盾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；</a:t>
                </a:r>
                <a:endParaRPr lang="en-US" altLang="zh-CN" b="0" dirty="0">
                  <a:latin typeface="Times New Roman" panose="02020603050405020304"/>
                  <a:cs typeface="Times New Roman" panose="02020603050405020304"/>
                </a:endParaRPr>
              </a:p>
              <a:p>
                <a:pPr marL="0" indent="0">
                  <a:buNone/>
                </a:pP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因此，</a:t>
                </a:r>
                <a:r>
                  <a:rPr lang="en-US" altLang="zh-TW" b="0" i="1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L</a:t>
                </a:r>
                <a:r>
                  <a:rPr lang="en-US" altLang="zh-TW" b="0" i="1" baseline="-25000" dirty="0" err="1">
                    <a:latin typeface="Times New Roman" panose="02020603050405020304"/>
                    <a:cs typeface="Times New Roman" panose="02020603050405020304"/>
                    <a:sym typeface="+mn-ea"/>
                  </a:rPr>
                  <a:t>eq</a:t>
                </a:r>
                <a:r>
                  <a:rPr lang="zh-TW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一定不是正则的</a:t>
                </a:r>
                <a:r>
                  <a:rPr lang="zh-CN" altLang="en-US" b="0" dirty="0">
                    <a:latin typeface="Times New Roman" panose="02020603050405020304"/>
                    <a:cs typeface="Times New Roman" panose="02020603050405020304"/>
                    <a:sym typeface="+mn-ea"/>
                  </a:rPr>
                  <a:t>。</a:t>
                </a:r>
                <a:endParaRPr lang="en-AU" altLang="zh-CN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181" y="1070325"/>
                <a:ext cx="8431619" cy="4525963"/>
              </a:xfrm>
              <a:blipFill rotWithShape="1">
                <a:blip r:embed="rId1"/>
                <a:stretch>
                  <a:fillRect l="-6" t="-8" r="-1009" b="-6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4000" dirty="0"/>
                  <a:t>例</a:t>
                </a:r>
                <a:r>
                  <a:rPr lang="en-US" altLang="en-AU" sz="4000" dirty="0"/>
                  <a:t>3</a:t>
                </a:r>
                <a:r>
                  <a:rPr lang="en-AU" altLang="zh-CN" sz="4000" dirty="0"/>
                  <a:t>:</a:t>
                </a:r>
                <a:r>
                  <a:rPr lang="zh-CN" altLang="en-US" sz="4000" dirty="0"/>
                  <a:t>证明</a:t>
                </a:r>
                <a14:m>
                  <m:oMath xmlns:m="http://schemas.openxmlformats.org/officeDocument/2006/math"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4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sz="4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altLang="zh-CN" sz="4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4000" dirty="0"/>
                  <a:t>不是正则的。</a:t>
                </a:r>
                <a:endParaRPr lang="en-AU" altLang="zh-CN" sz="40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4730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en-AU" dirty="0"/>
                  <a:t>3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不是正则的。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  <a:p>
                <a:pPr marL="457200" lvl="1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47307"/>
                <a:ext cx="8229600" cy="4525963"/>
              </a:xfrm>
              <a:blipFill rotWithShape="1">
                <a:blip r:embed="rId1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89838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en-AU" dirty="0"/>
                  <a:t>3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不是正则的。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中取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，显然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89838"/>
                <a:ext cx="8229600" cy="4525963"/>
              </a:xfrm>
              <a:blipFill rotWithShape="1">
                <a:blip r:embed="rId1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917"/>
                <a:ext cx="8229600" cy="544743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US" altLang="en-AU" dirty="0"/>
                  <a:t>3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不是正则的。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zh-CN" dirty="0"/>
                  <a:t>(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dirty="0"/>
                  <a:t>)</a:t>
                </a:r>
                <a:r>
                  <a:rPr lang="zh-CN" altLang="en-US" dirty="0"/>
                  <a:t>满足泵引理。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中取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dirty="0"/>
                  <a:t>，显然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  <a:p>
                <a:pPr lvl="1"/>
                <a:r>
                  <a:rPr lang="zh-CN" altLang="en-US" dirty="0"/>
                  <a:t>那么</a:t>
                </a:r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可被分为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sz="2400" i="1" dirty="0" err="1" smtClean="0">
                        <a:latin typeface="Cambria Math" panose="02040503050406030204" pitchFamily="18" charset="0"/>
                      </a:rPr>
                      <m:t>𝑥𝑦𝑧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altLang="zh-CN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| ≤</m:t>
                    </m:r>
                    <m:r>
                      <a:rPr lang="en-AU" altLang="zh-CN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AU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en-US" altLang="zh-CN" dirty="0"/>
                  <a:t> 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因此，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只能是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  <a:p>
                <a:pPr lvl="1"/>
                <a:r>
                  <a:rPr lang="zh-CN" altLang="en-US" dirty="0"/>
                  <a:t>那么</a:t>
                </a:r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AU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，因为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，而由泵引理，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，矛盾。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所以假设不成立，</a:t>
                </a:r>
                <a14:m>
                  <m:oMath xmlns:m="http://schemas.openxmlformats.org/officeDocument/2006/math">
                    <m:r>
                      <a:rPr kumimoji="0" lang="en-AU" altLang="zh-CN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𝐿</m:t>
                    </m:r>
                  </m:oMath>
                </a14:m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不是正则的。</a:t>
                </a:r>
                <a:endParaRPr lang="en-AU" altLang="zh-CN" sz="32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917"/>
                <a:ext cx="8229600" cy="5447433"/>
              </a:xfrm>
              <a:blipFill rotWithShape="1">
                <a:blip r:embed="rId1"/>
                <a:stretch>
                  <a:fillRect t="-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例</a:t>
                </a:r>
                <a:r>
                  <a:rPr lang="en-US" altLang="zh-CN" sz="2800" dirty="0"/>
                  <a:t>4: </a:t>
                </a:r>
                <a:r>
                  <a:rPr lang="zh-TW" altLang="en-US" sz="2800" dirty="0">
                    <a:latin typeface="Times New Roman" panose="02020603050405020304"/>
                    <a:cs typeface="Times New Roman" panose="02020603050405020304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𝐿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= {</m:t>
                    </m:r>
                    <m:sSup>
                      <m:sSup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sSupPr>
                      <m:e>
                        <m:r>
                          <a:rPr lang="en-AU" altLang="zh-TW" sz="28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𝑎</m:t>
                        </m:r>
                      </m:e>
                      <m:sup>
                        <m:r>
                          <a:rPr lang="en-AU" altLang="zh-TW" sz="28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𝑛</m:t>
                        </m:r>
                        <m:r>
                          <a:rPr lang="en-AU" altLang="zh-TW" sz="28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!</m:t>
                        </m:r>
                      </m:sup>
                    </m:sSup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 | 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𝑛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 &gt; 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0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}</m:t>
                    </m:r>
                  </m:oMath>
                </a14:m>
                <a:r>
                  <a:rPr lang="zh-TW" altLang="en-US" sz="2800" dirty="0">
                    <a:latin typeface="Times New Roman" panose="02020603050405020304"/>
                    <a:cs typeface="Times New Roman" panose="02020603050405020304"/>
                  </a:rPr>
                  <a:t>不是正则的</a:t>
                </a:r>
                <a:r>
                  <a:rPr lang="zh-CN" altLang="en-US" sz="2800" dirty="0">
                    <a:latin typeface="Times New Roman" panose="02020603050405020304"/>
                    <a:cs typeface="Times New Roman" panose="02020603050405020304"/>
                  </a:rPr>
                  <a:t>。</a:t>
                </a:r>
                <a:endPara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925" y="1115814"/>
                <a:ext cx="8580475" cy="4949456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US" altLang="zh-CN" sz="2400" dirty="0"/>
                  <a:t>4: </a:t>
                </a:r>
                <a:r>
                  <a:rPr lang="zh-TW" altLang="en-US" sz="2400" dirty="0">
                    <a:latin typeface="Times New Roman" panose="02020603050405020304"/>
                    <a:cs typeface="Times New Roman" panose="02020603050405020304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𝐿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= {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sSupPr>
                      <m:e>
                        <m:r>
                          <a:rPr lang="en-AU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𝑎</m:t>
                        </m:r>
                      </m:e>
                      <m:sup>
                        <m:r>
                          <a:rPr lang="en-AU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𝑛</m:t>
                        </m:r>
                        <m:r>
                          <a:rPr lang="en-AU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!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 |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 &gt;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0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}</m:t>
                    </m:r>
                  </m:oMath>
                </a14:m>
                <a:r>
                  <a:rPr lang="zh-TW" altLang="en-US" sz="2400" dirty="0">
                    <a:latin typeface="Times New Roman" panose="02020603050405020304"/>
                    <a:cs typeface="Times New Roman" panose="02020603050405020304"/>
                  </a:rPr>
                  <a:t>不是正则的</a:t>
                </a:r>
                <a:r>
                  <a:rPr lang="zh-CN" altLang="en-US" sz="2400" dirty="0">
                    <a:latin typeface="Times New Roman" panose="02020603050405020304"/>
                    <a:cs typeface="Times New Roman" panose="02020603050405020304"/>
                  </a:rPr>
                  <a:t>。</a:t>
                </a:r>
                <a:endParaRPr lang="zh-TW" altLang="en-US" sz="2400" dirty="0">
                  <a:latin typeface="Times New Roman" panose="02020603050405020304"/>
                  <a:cs typeface="Times New Roman" panose="02020603050405020304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/>
                    <a:cs typeface="Times New Roman" panose="02020603050405020304"/>
                  </a:rPr>
                  <a:t>证明：</a:t>
                </a:r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是正则的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/>
                  <a:t>对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zh-CN" sz="2400" dirty="0"/>
                  <a:t>(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sz="2400" dirty="0"/>
                  <a:t>)</a:t>
                </a:r>
                <a:r>
                  <a:rPr lang="zh-CN" altLang="en-US" sz="2400" dirty="0"/>
                  <a:t>满足泵引理。</a:t>
                </a:r>
                <a:endParaRPr lang="en-AU" sz="2400" dirty="0"/>
              </a:p>
              <a:p>
                <a:pPr marL="0" indent="0">
                  <a:buNone/>
                </a:pPr>
                <a:endParaRPr lang="zh-TW" altLang="en-US" sz="2400" dirty="0">
                  <a:latin typeface="Times New Roman" panose="02020603050405020304"/>
                  <a:cs typeface="Times New Roman" panose="02020603050405020304"/>
                </a:endParaRPr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925" y="1115814"/>
                <a:ext cx="8580475" cy="4949456"/>
              </a:xfrm>
              <a:blipFill rotWithShape="1">
                <a:blip r:embed="rId1"/>
                <a:stretch>
                  <a:fillRect l="-3" t="-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4925" y="1115814"/>
                <a:ext cx="8580475" cy="4949456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US" altLang="zh-CN" sz="2400" dirty="0"/>
                  <a:t>4: </a:t>
                </a:r>
                <a:r>
                  <a:rPr lang="zh-TW" altLang="en-US" sz="2400" dirty="0">
                    <a:latin typeface="Times New Roman" panose="02020603050405020304"/>
                    <a:cs typeface="Times New Roman" panose="02020603050405020304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𝐿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= {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sSupPr>
                      <m:e>
                        <m:r>
                          <a:rPr lang="en-AU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𝑎</m:t>
                        </m:r>
                      </m:e>
                      <m:sup>
                        <m:r>
                          <a:rPr lang="en-AU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𝑛</m:t>
                        </m:r>
                        <m:r>
                          <a:rPr lang="en-AU" altLang="zh-TW" sz="2400" b="0" i="1" dirty="0" smtClean="0"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!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 |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 &gt; 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0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/>
                      </a:rPr>
                      <m:t>}</m:t>
                    </m:r>
                  </m:oMath>
                </a14:m>
                <a:r>
                  <a:rPr lang="zh-TW" altLang="en-US" sz="2400" dirty="0">
                    <a:latin typeface="Times New Roman" panose="02020603050405020304"/>
                    <a:cs typeface="Times New Roman" panose="02020603050405020304"/>
                  </a:rPr>
                  <a:t>不是正则的</a:t>
                </a:r>
                <a:r>
                  <a:rPr lang="zh-CN" altLang="en-US" sz="2400" dirty="0">
                    <a:latin typeface="Times New Roman" panose="02020603050405020304"/>
                    <a:cs typeface="Times New Roman" panose="02020603050405020304"/>
                  </a:rPr>
                  <a:t>。</a:t>
                </a:r>
                <a:endParaRPr lang="zh-TW" altLang="en-US" sz="2400" dirty="0">
                  <a:latin typeface="Times New Roman" panose="02020603050405020304"/>
                  <a:cs typeface="Times New Roman" panose="02020603050405020304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Times New Roman" panose="02020603050405020304"/>
                    <a:cs typeface="Times New Roman" panose="02020603050405020304"/>
                  </a:rPr>
                  <a:t>证明：</a:t>
                </a:r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是正则的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那么一定存在正整数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/>
                  <a:t>对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zh-CN" sz="2400" dirty="0"/>
                  <a:t>(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sz="2400" dirty="0"/>
                  <a:t>)</a:t>
                </a:r>
                <a:r>
                  <a:rPr lang="zh-CN" altLang="en-US" sz="2400" dirty="0"/>
                  <a:t>满足泵引理。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中取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ctrlPr>
                              <a:rPr lang="en-AU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AU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</m:oMath>
                </a14:m>
                <a:r>
                  <a:rPr lang="zh-CN" altLang="en-US" sz="2400" dirty="0"/>
                  <a:t>，显然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sz="2400" dirty="0"/>
                  <a:t>, </a:t>
                </a:r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!&gt;</m:t>
                    </m:r>
                    <m:r>
                      <a:rPr lang="en-AU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zh-CN" alt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sz="2400" dirty="0"/>
              </a:p>
              <a:p>
                <a:pPr lvl="1"/>
                <a:r>
                  <a:rPr lang="zh-CN" altLang="en-US" sz="2400" dirty="0"/>
                  <a:t>那么</a:t>
                </a:r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可被分为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sz="2400" i="1" dirty="0" err="1" smtClean="0">
                        <a:latin typeface="Cambria Math" panose="02040503050406030204" pitchFamily="18" charset="0"/>
                      </a:rPr>
                      <m:t>𝑥𝑦𝑧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| ≤</m:t>
                    </m:r>
                    <m:r>
                      <a:rPr lang="en-AU" altLang="zh-CN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AU" altLang="zh-CN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>
                    <a:solidFill>
                      <a:schemeClr val="accent1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accent1"/>
                    </a:solidFill>
                  </a:rPr>
                  <a:t>。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因此，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/>
                  <a:t>只能是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sz="2400" dirty="0"/>
              </a:p>
              <a:p>
                <a:pPr lvl="1"/>
                <a:r>
                  <a:rPr lang="zh-CN" altLang="en-US" sz="2400" dirty="0"/>
                  <a:t>那么</a:t>
                </a:r>
                <a:r>
                  <a:rPr lang="en-AU" altLang="zh-CN" sz="2400" dirty="0"/>
                  <a:t>,</a:t>
                </a:r>
                <a14:m>
                  <m:oMath xmlns:m="http://schemas.openxmlformats.org/officeDocument/2006/math">
                    <m:r>
                      <a:rPr lang="en-AU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ctrlPr>
                              <a:rPr lang="en-AU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AU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AU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!+</m:t>
                        </m:r>
                        <m:r>
                          <a:rPr lang="en-AU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/>
                  <a:t>，因为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!+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!+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  <m:r>
                      <a:rPr lang="en-US" alt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zh-CN" altLang="en-US" sz="2400" dirty="0"/>
                  <a:t>，所以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不属于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>
                    <a:sym typeface="+mn-ea"/>
                  </a:rPr>
                  <a:t>，</a:t>
                </a:r>
                <a:r>
                  <a:rPr lang="zh-CN" altLang="en-US" sz="2400" dirty="0"/>
                  <a:t>而由泵引理，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，矛盾。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   所以假设不成立，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不是正则的。</a:t>
                </a:r>
                <a:endParaRPr lang="en-AU" sz="2400" dirty="0"/>
              </a:p>
              <a:p>
                <a:pPr marL="0" indent="0">
                  <a:buNone/>
                </a:pPr>
                <a:endParaRPr lang="zh-TW" altLang="en-US" sz="2400" dirty="0">
                  <a:latin typeface="Times New Roman" panose="02020603050405020304"/>
                  <a:cs typeface="Times New Roman" panose="02020603050405020304"/>
                </a:endParaRPr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925" y="1115814"/>
                <a:ext cx="8580475" cy="4949456"/>
              </a:xfrm>
              <a:blipFill rotWithShape="1">
                <a:blip r:embed="rId1"/>
                <a:stretch>
                  <a:fillRect l="-3" t="-2" b="-59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5:</a:t>
            </a:r>
            <a:r>
              <a:rPr lang="zh-CN" altLang="en-US" sz="2800" dirty="0"/>
              <a:t>有限的语言，</a:t>
            </a:r>
            <a:r>
              <a:rPr lang="zh-TW" altLang="en-US" sz="2800" b="1" dirty="0">
                <a:latin typeface="Times New Roman" panose="02020603050405020304"/>
                <a:cs typeface="Times New Roman" panose="02020603050405020304"/>
              </a:rPr>
              <a:t>比如</a:t>
            </a:r>
            <a:r>
              <a:rPr lang="en-US" altLang="zh-TW" sz="2800" b="1" i="1" dirty="0">
                <a:latin typeface="Times New Roman" panose="02020603050405020304"/>
                <a:cs typeface="Times New Roman" panose="02020603050405020304"/>
              </a:rPr>
              <a:t>∅</a:t>
            </a:r>
            <a:r>
              <a:rPr lang="zh-CN" altLang="en-US" sz="2800" b="1" dirty="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TW" sz="2800" b="1" dirty="0">
                <a:latin typeface="Times New Roman" panose="02020603050405020304"/>
                <a:cs typeface="Times New Roman" panose="02020603050405020304"/>
              </a:rPr>
              <a:t>{00, 11}</a:t>
            </a:r>
            <a:r>
              <a:rPr lang="zh-CN" altLang="en-US" sz="2800" b="1" dirty="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TW" sz="2800" b="1" dirty="0">
                <a:latin typeface="Times New Roman" panose="02020603050405020304"/>
                <a:cs typeface="Times New Roman" panose="02020603050405020304"/>
              </a:rPr>
              <a:t>{0</a:t>
            </a:r>
            <a:r>
              <a:rPr lang="en-US" altLang="zh-TW" sz="2800" b="1" i="1" baseline="30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8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TW" sz="2800" b="1" i="1" baseline="30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800" b="1" dirty="0">
                <a:latin typeface="Times New Roman" panose="02020603050405020304"/>
                <a:cs typeface="Times New Roman" panose="02020603050405020304"/>
              </a:rPr>
              <a:t> | 0≤</a:t>
            </a:r>
            <a:r>
              <a:rPr lang="en-US" altLang="zh-TW"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800" b="1" dirty="0">
                <a:latin typeface="Times New Roman" panose="02020603050405020304"/>
                <a:cs typeface="Times New Roman" panose="02020603050405020304"/>
              </a:rPr>
              <a:t>≤100} </a:t>
            </a:r>
            <a:r>
              <a:rPr lang="zh-CN" altLang="en-US" sz="2800" b="1" dirty="0">
                <a:latin typeface="Times New Roman" panose="02020603050405020304"/>
                <a:cs typeface="Times New Roman" panose="02020603050405020304"/>
              </a:rPr>
              <a:t>是否满足</a:t>
            </a:r>
            <a:r>
              <a:rPr lang="zh-TW" altLang="en-US" sz="2800" b="1" dirty="0">
                <a:latin typeface="Times New Roman" panose="02020603050405020304"/>
                <a:cs typeface="Times New Roman" panose="02020603050405020304"/>
              </a:rPr>
              <a:t>泵引理</a:t>
            </a:r>
            <a:r>
              <a:rPr lang="zh-CN" altLang="en-US" sz="2800" b="1" dirty="0">
                <a:latin typeface="Times New Roman" panose="02020603050405020304"/>
                <a:cs typeface="Times New Roman" panose="02020603050405020304"/>
              </a:rPr>
              <a:t>？</a:t>
            </a:r>
            <a:endParaRPr lang="zh-TW" altLang="en-US" sz="28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否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6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25" y="1115814"/>
            <a:ext cx="8580475" cy="4949456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5:</a:t>
            </a:r>
            <a:r>
              <a:rPr lang="zh-CN" altLang="en-US" sz="2400" dirty="0"/>
              <a:t>有限的语言，</a:t>
            </a:r>
            <a:r>
              <a:rPr lang="zh-TW" altLang="en-US" sz="2400" b="1" dirty="0">
                <a:latin typeface="Times New Roman" panose="02020603050405020304"/>
                <a:cs typeface="Times New Roman" panose="02020603050405020304"/>
              </a:rPr>
              <a:t>比如</a:t>
            </a:r>
            <a:r>
              <a:rPr lang="en-US" altLang="zh-TW" sz="2400" b="1" i="1" dirty="0">
                <a:latin typeface="Times New Roman" panose="02020603050405020304"/>
                <a:cs typeface="Times New Roman" panose="02020603050405020304"/>
              </a:rPr>
              <a:t>∅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{00, 11}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{0</a:t>
            </a:r>
            <a:r>
              <a:rPr lang="en-US" altLang="zh-TW" sz="2400" b="1" i="1" baseline="30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TW" sz="2400" b="1" i="1" baseline="30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 | 0≤</a:t>
            </a:r>
            <a:r>
              <a:rPr lang="en-US" altLang="zh-TW" sz="24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≤100} 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是否满足</a:t>
            </a:r>
            <a:r>
              <a:rPr lang="zh-TW" altLang="en-US" sz="2400" b="1" dirty="0">
                <a:latin typeface="Times New Roman" panose="02020603050405020304"/>
                <a:cs typeface="Times New Roman" panose="02020603050405020304"/>
              </a:rPr>
              <a:t>泵引理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？</a:t>
            </a: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泵引理的应用示例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25" y="1115814"/>
            <a:ext cx="8580475" cy="4949456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5:</a:t>
            </a:r>
            <a:r>
              <a:rPr lang="zh-CN" altLang="en-US" sz="2400" dirty="0"/>
              <a:t>有限的语言，</a:t>
            </a:r>
            <a:r>
              <a:rPr lang="zh-TW" altLang="en-US" sz="2400" b="1" dirty="0">
                <a:latin typeface="Times New Roman" panose="02020603050405020304"/>
                <a:cs typeface="Times New Roman" panose="02020603050405020304"/>
              </a:rPr>
              <a:t>比如</a:t>
            </a:r>
            <a:r>
              <a:rPr lang="en-US" altLang="zh-TW" sz="2400" b="1" i="1" dirty="0">
                <a:latin typeface="Times New Roman" panose="02020603050405020304"/>
                <a:cs typeface="Times New Roman" panose="02020603050405020304"/>
              </a:rPr>
              <a:t>∅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{00, 11}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{0</a:t>
            </a:r>
            <a:r>
              <a:rPr lang="en-US" altLang="zh-TW" sz="2400" b="1" i="1" baseline="30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altLang="zh-TW" sz="2400" b="1" i="1" baseline="30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 | 0≤</a:t>
            </a:r>
            <a:r>
              <a:rPr lang="en-US" altLang="zh-TW" sz="24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b="1" dirty="0">
                <a:latin typeface="Times New Roman" panose="02020603050405020304"/>
                <a:cs typeface="Times New Roman" panose="02020603050405020304"/>
              </a:rPr>
              <a:t>≤100} 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是否满足</a:t>
            </a:r>
            <a:r>
              <a:rPr lang="zh-TW" altLang="en-US" sz="2400" b="1" dirty="0">
                <a:latin typeface="Times New Roman" panose="02020603050405020304"/>
                <a:cs typeface="Times New Roman" panose="02020603050405020304"/>
              </a:rPr>
              <a:t>泵引理</a:t>
            </a:r>
            <a:r>
              <a:rPr lang="zh-CN" altLang="en-US" sz="2400" b="1" dirty="0">
                <a:latin typeface="Times New Roman" panose="02020603050405020304"/>
                <a:cs typeface="Times New Roman" panose="02020603050405020304"/>
              </a:rPr>
              <a:t>？</a:t>
            </a:r>
            <a:endParaRPr lang="zh-TW" altLang="en-US" sz="2400" b="1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AU" altLang="zh-CN" sz="2400" dirty="0"/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结论：有限的语言必定是正则语言（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why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？</a:t>
            </a: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），满足泵引理。</a:t>
            </a:r>
            <a:endParaRPr lang="en-US" altLang="zh-CN" sz="2400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/>
                <a:ea typeface="黑体" panose="02010609060101010101" charset="-122"/>
                <a:cs typeface="Times New Roman" panose="02020603050405020304"/>
              </a:rPr>
              <a:t>证明：</a:t>
            </a: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取</a:t>
            </a:r>
            <a:r>
              <a:rPr lang="en-US" altLang="zh-CN" sz="24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为有限语言最长字符串长度加</a:t>
            </a:r>
            <a:r>
              <a:rPr lang="en-US" altLang="zh-CN" sz="24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，不存在</a:t>
            </a:r>
            <a:r>
              <a:rPr lang="en-US" altLang="zh-TW" sz="2400" i="1" dirty="0" err="1">
                <a:latin typeface="Times New Roman" panose="02020603050405020304"/>
                <a:cs typeface="Times New Roman" panose="02020603050405020304"/>
              </a:rPr>
              <a:t>w</a:t>
            </a:r>
            <a:r>
              <a:rPr lang="en-US" altLang="zh-TW" sz="2400" dirty="0" err="1">
                <a:latin typeface="Times New Roman" panose="02020603050405020304"/>
                <a:cs typeface="Times New Roman" panose="02020603050405020304"/>
              </a:rPr>
              <a:t>∈</a:t>
            </a:r>
            <a:r>
              <a:rPr lang="en-US" altLang="zh-TW" sz="2400" i="1" dirty="0" err="1">
                <a:latin typeface="Times New Roman" panose="02020603050405020304"/>
                <a:cs typeface="Times New Roman" panose="02020603050405020304"/>
              </a:rPr>
              <a:t>L</a:t>
            </a:r>
            <a:r>
              <a:rPr lang="en-US" altLang="zh-TW" sz="2400" dirty="0">
                <a:latin typeface="Times New Roman" panose="02020603050405020304"/>
                <a:cs typeface="Times New Roman" panose="02020603050405020304"/>
              </a:rPr>
              <a:t>(|</a:t>
            </a:r>
            <a:r>
              <a:rPr lang="en-US" altLang="zh-TW" sz="2400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lang="en-US" altLang="zh-TW" sz="2400" dirty="0">
                <a:latin typeface="Times New Roman" panose="02020603050405020304"/>
                <a:cs typeface="Times New Roman" panose="02020603050405020304"/>
              </a:rPr>
              <a:t>|≥</a:t>
            </a:r>
            <a:r>
              <a:rPr lang="en-US" altLang="zh-TW" sz="24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TW" sz="2400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lang="zh-CN" altLang="en-US" sz="2400" dirty="0">
                <a:latin typeface="Times New Roman" panose="02020603050405020304"/>
                <a:cs typeface="Times New Roman" panose="02020603050405020304"/>
              </a:rPr>
              <a:t>。</a:t>
            </a:r>
            <a:endParaRPr lang="zh-TW" altLang="en-US" sz="2400" dirty="0">
              <a:latin typeface="Times New Roman" panose="02020603050405020304"/>
              <a:cs typeface="Times New Roman" panose="02020603050405020304"/>
            </a:endParaRPr>
          </a:p>
          <a:p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正则语言的泵引理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正则语言的封闭性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正则语言的判定性质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自动机的最小化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38697"/>
                <a:ext cx="8229600" cy="5190332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正则语言经某些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运算</a:t>
                </a:r>
                <a:r>
                  <a:rPr lang="zh-CN" altLang="en-US" dirty="0"/>
                  <a:t>后得到的新语言仍保持正则，称正则语言在这些运算下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封闭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正则语言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，在这些运算下封闭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lvl="1"/>
                <a:r>
                  <a:rPr lang="zh-CN" altLang="en-US" sz="2400" dirty="0"/>
                  <a:t>并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，连接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，闭包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sz="2400" dirty="0"/>
              </a:p>
              <a:p>
                <a:pPr lvl="1"/>
                <a:r>
                  <a:rPr lang="zh-CN" altLang="en-US" sz="2400" dirty="0"/>
                  <a:t>交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400" dirty="0"/>
                  <a:t>反转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AU" altLang="zh-CN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e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pPr lvl="1"/>
                <a:r>
                  <a:rPr lang="zh-CN" altLang="en-US" sz="2400" dirty="0"/>
                  <a:t>同态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sz="24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)|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,同态: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altLang="zh-CN" sz="2400" dirty="0"/>
              </a:p>
              <a:p>
                <a:pPr lvl="1"/>
                <a:r>
                  <a:rPr lang="zh-CN" altLang="en-US" sz="2400" dirty="0"/>
                  <a:t>逆同态</a:t>
                </a:r>
                <a:r>
                  <a:rPr lang="en-AU" altLang="zh-CN" sz="2400" dirty="0"/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,同态: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altLang="zh-CN" sz="2400" dirty="0"/>
              </a:p>
              <a:p>
                <a:pPr lvl="1"/>
                <a:r>
                  <a:rPr lang="zh-CN" altLang="en-US" sz="2400" dirty="0"/>
                  <a:t>补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endParaRPr lang="en-AU" altLang="zh-CN" sz="2400" dirty="0"/>
              </a:p>
              <a:p>
                <a:pPr lvl="1"/>
                <a:r>
                  <a:rPr lang="zh-CN" altLang="en-US" sz="2400" dirty="0"/>
                  <a:t>差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AU" altLang="zh-CN" sz="2400" b="0" dirty="0"/>
              </a:p>
              <a:p>
                <a:pPr marL="457200" lvl="1" indent="0">
                  <a:buNone/>
                </a:pPr>
                <a:endParaRPr lang="en-AU" altLang="zh-CN" sz="2400" dirty="0"/>
              </a:p>
              <a:p>
                <a:pPr marL="457200" lvl="1" indent="0">
                  <a:buNone/>
                </a:pPr>
                <a:r>
                  <a:rPr lang="zh-CN" altLang="en-US" sz="2400" dirty="0"/>
                  <a:t>  </a:t>
                </a:r>
                <a:endParaRPr lang="en-AU" altLang="zh-CN" sz="2400" dirty="0"/>
              </a:p>
              <a:p>
                <a:pPr marL="457200" lvl="1" indent="0">
                  <a:buNone/>
                </a:pP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38697"/>
                <a:ext cx="8229600" cy="5190332"/>
              </a:xfrm>
              <a:blipFill rotWithShape="1">
                <a:blip r:embed="rId1"/>
                <a:stretch>
                  <a:fillRect t="-9" r="-849" b="-19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87926"/>
                <a:ext cx="7772400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正则语言在并，连接和闭包运算下保持封闭。</a:t>
                </a:r>
                <a:endParaRPr lang="en-US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由正则表达式的定义得证。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比如说，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如果是正则语言，那么一定存在正则表达式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去表示它们，即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b="0" dirty="0"/>
                  <a:t>则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有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𝑟𝑚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87926"/>
                <a:ext cx="7772400" cy="4525963"/>
              </a:xfrm>
              <a:blipFill rotWithShape="1">
                <a:blip r:embed="rId1"/>
                <a:stretch>
                  <a:fillRect t="-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764944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b="1" dirty="0"/>
                  <a:t>定理</a:t>
                </a:r>
                <a:r>
                  <a:rPr lang="en-AU" altLang="zh-CN" sz="2800" b="1" dirty="0"/>
                  <a:t>: </a:t>
                </a:r>
                <a:r>
                  <a:rPr lang="zh-CN" altLang="en-US" sz="2800" b="1" dirty="0"/>
                  <a:t>如果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/>
                  <a:t>是 </a:t>
                </a:r>
                <a14:m>
                  <m:oMath xmlns:m="http://schemas.openxmlformats.org/officeDocument/2006/math">
                    <m:r>
                      <a:rPr lang="el-GR" altLang="zh-CN" sz="2800" b="1" i="0" dirty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l-GR" altLang="zh-CN" sz="2800" b="1" dirty="0"/>
                  <a:t> </a:t>
                </a:r>
                <a:r>
                  <a:rPr lang="zh-CN" altLang="en-US" sz="2800" b="1" dirty="0"/>
                  <a:t>上的正则语言</a:t>
                </a:r>
                <a:r>
                  <a:rPr lang="en-US" altLang="zh-CN" sz="2800" b="1" dirty="0"/>
                  <a:t>, </a:t>
                </a:r>
                <a:r>
                  <a:rPr lang="zh-CN" altLang="en-US" sz="2800" b="1" dirty="0"/>
                  <a:t>那么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acc>
                    <m:r>
                      <a:rPr lang="en-AU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p>
                        <m:r>
                          <a:rPr lang="en-AU" altLang="zh-CN" sz="28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sz="2800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sz="2800" b="1" dirty="0"/>
                  <a:t>也是正则的。</a:t>
                </a:r>
                <a:r>
                  <a:rPr lang="en-AU" altLang="zh-CN" sz="2800" b="1" dirty="0"/>
                  <a:t>(</a:t>
                </a:r>
                <a:r>
                  <a:rPr lang="zh-CN" altLang="en-US" sz="2800" b="1" dirty="0"/>
                  <a:t>求补就是把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sz="2800" b="1" dirty="0"/>
                  <a:t>对应的字符串从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p>
                        <m:r>
                          <a:rPr lang="en-AU" altLang="zh-CN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800" b="1" dirty="0"/>
                  <a:t>中去掉。）</a:t>
                </a:r>
                <a:endParaRPr lang="en-US" altLang="zh-CN" sz="2800" b="1" dirty="0"/>
              </a:p>
              <a:p>
                <a:r>
                  <a:rPr lang="zh-CN" altLang="en-US" sz="28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思考：如何证明？</a:t>
                </a:r>
                <a:endParaRPr lang="zh-CN" altLang="en-US" sz="2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764944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 t="-19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补运算封闭性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0509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定理</a:t>
                </a:r>
                <a:r>
                  <a:rPr lang="en-AU" altLang="zh-CN" sz="2400" dirty="0"/>
                  <a:t>: </a:t>
                </a:r>
                <a:r>
                  <a:rPr lang="zh-CN" altLang="en-US" sz="2400" b="0" dirty="0"/>
                  <a:t>如果</a:t>
                </a:r>
                <a14:m>
                  <m:oMath xmlns:m="http://schemas.openxmlformats.org/officeDocument/2006/math">
                    <m:r>
                      <a:rPr lang="zh-CN" alt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0" dirty="0"/>
                  <a:t>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sz="2400" b="0" dirty="0"/>
                  <a:t> </a:t>
                </a:r>
                <a:r>
                  <a:rPr lang="zh-CN" altLang="en-US" sz="2400" b="0" dirty="0"/>
                  <a:t>上的正则语言</a:t>
                </a:r>
                <a:r>
                  <a:rPr lang="en-US" altLang="zh-CN" sz="2400" b="0" dirty="0"/>
                  <a:t>, </a:t>
                </a:r>
                <a:r>
                  <a:rPr lang="zh-CN" altLang="en-US" sz="2400" b="0" dirty="0"/>
                  <a:t>那么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b="0" dirty="0"/>
                  <a:t>也是正则的。</a:t>
                </a:r>
                <a:r>
                  <a:rPr lang="en-AU" altLang="zh-CN" sz="2400" b="0" dirty="0"/>
                  <a:t>(</a:t>
                </a:r>
                <a:r>
                  <a:rPr lang="zh-CN" altLang="en-US" sz="2400" b="0" dirty="0"/>
                  <a:t>求补就是把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b="0" dirty="0"/>
                  <a:t>对应的字符串从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p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b="0" dirty="0"/>
                  <a:t>中去掉。）</a:t>
                </a:r>
                <a:endParaRPr lang="en-US" altLang="zh-CN" sz="2400" b="0" dirty="0"/>
              </a:p>
              <a:p>
                <a:r>
                  <a:rPr lang="zh-CN" altLang="en-US" sz="2400" dirty="0"/>
                  <a:t>证明</a:t>
                </a:r>
                <a:r>
                  <a:rPr lang="en-US" altLang="zh-CN" sz="2400" dirty="0"/>
                  <a:t>:</a:t>
                </a:r>
                <a:r>
                  <a:rPr lang="zh-CN" altLang="en-US" sz="2400" b="0" dirty="0"/>
                  <a:t>设接受语言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sz="2400" b="0" dirty="0"/>
                  <a:t> </a:t>
                </a:r>
                <a:r>
                  <a:rPr lang="zh-CN" altLang="en-US" sz="2400" b="0" dirty="0"/>
                  <a:t>的</a:t>
                </a:r>
                <a:r>
                  <a:rPr lang="en-A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b="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AU" sz="2400" b="0" dirty="0"/>
              </a:p>
              <a:p>
                <a:pPr marL="0" indent="0">
                  <a:buNone/>
                </a:pPr>
                <a:r>
                  <a:rPr lang="zh-CN" altLang="en-US" sz="2400" b="0" dirty="0"/>
                  <a:t>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zh-CN" altLang="en-US" sz="2400" b="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400" b="0" dirty="0"/>
                  <a:t>构造</a:t>
                </a:r>
                <a:r>
                  <a:rPr lang="en-A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b="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zh-CN" altLang="en-US" sz="2400" b="0" dirty="0"/>
                  <a:t>，即把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b="0" dirty="0"/>
                  <a:t>的所有终止符改成非终止符，非终止符改成终止符。</a:t>
                </a:r>
                <a:endParaRPr lang="en-AU" sz="2400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05092"/>
                <a:ext cx="8229600" cy="4525963"/>
              </a:xfrm>
              <a:blipFill rotWithShape="1">
                <a:blip r:embed="rId1"/>
                <a:stretch>
                  <a:fillRect t="-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84" y="2899048"/>
            <a:ext cx="6319231" cy="20369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/>
              <p:nvPr/>
            </p:nvSpPr>
            <p:spPr>
              <a:xfrm>
                <a:off x="457200" y="4993891"/>
                <a:ext cx="7922871" cy="15018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horz" lIns="91440" tIns="45720" rIns="91440" bIns="45720" anchor="t" anchorCtr="0"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b="1" kern="120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400" dirty="0"/>
                  <a:t>则有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/>
                  <a:t>,</a:t>
                </a:r>
                <a:endParaRPr lang="en-AU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zh-CN" altLang="en-US" sz="2400" dirty="0"/>
                  <a:t>因为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AU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∈</m:t>
                    </m:r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⇐⇒ </m:t>
                    </m:r>
                    <m:acc>
                      <m:acc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 ∉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⇐⇒</m:t>
                    </m:r>
                    <m:acc>
                      <m:acc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 ∈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⇐⇒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993891"/>
                <a:ext cx="7922871" cy="1501815"/>
              </a:xfrm>
              <a:prstGeom prst="rect">
                <a:avLst/>
              </a:prstGeom>
              <a:blipFill rotWithShape="1">
                <a:blip r:embed="rId3"/>
                <a:stretch>
                  <a:fillRect t="-17" r="8" b="-1262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回顾一下，字母集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{0, 1}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上两个特殊语言</a:t>
            </a:r>
            <a:r>
              <a:rPr lang="el-GR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ϕ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l-GR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ε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}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，它们的补集是：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(0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+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1)</a:t>
            </a:r>
            <a:r>
              <a:rPr lang="en-US" altLang="zh-CN" sz="26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*</a:t>
            </a:r>
            <a:r>
              <a:rPr lang="en-US" altLang="zh-CN" sz="26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和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(0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+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1)</a:t>
            </a:r>
            <a:r>
              <a:rPr lang="en-US" altLang="zh-CN" sz="26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+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，对应的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是？</a:t>
            </a:r>
            <a:endParaRPr lang="zh-CN" altLang="en-US" sz="2600" i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15" name="对象 12"/>
          <p:cNvGraphicFramePr>
            <a:graphicFrameLocks noChangeAspect="1"/>
          </p:cNvGraphicFramePr>
          <p:nvPr/>
        </p:nvGraphicFramePr>
        <p:xfrm>
          <a:off x="5108575" y="2706032"/>
          <a:ext cx="21272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3" imgW="1816100" imgH="812800" progId="Visio.Drawing.11">
                  <p:embed/>
                </p:oleObj>
              </mc:Choice>
              <mc:Fallback>
                <p:oleObj name="Visio" r:id="rId3" imgW="1816100" imgH="812800" progId="Visio.Drawing.11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2706032"/>
                        <a:ext cx="21272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23"/>
          <p:cNvGrpSpPr/>
          <p:nvPr/>
        </p:nvGrpSpPr>
        <p:grpSpPr>
          <a:xfrm>
            <a:off x="2632295" y="2974570"/>
            <a:ext cx="538210" cy="533400"/>
            <a:chOff x="2133600" y="4191000"/>
            <a:chExt cx="538210" cy="533400"/>
          </a:xfrm>
        </p:grpSpPr>
        <p:sp>
          <p:nvSpPr>
            <p:cNvPr id="17" name="Oval 24"/>
            <p:cNvSpPr/>
            <p:nvPr/>
          </p:nvSpPr>
          <p:spPr>
            <a:xfrm>
              <a:off x="2133600" y="4191000"/>
              <a:ext cx="533400" cy="533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25"/>
                <p:cNvSpPr txBox="1"/>
                <p:nvPr/>
              </p:nvSpPr>
              <p:spPr>
                <a:xfrm>
                  <a:off x="2201553" y="4200525"/>
                  <a:ext cx="4702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8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1553" y="4200525"/>
                  <a:ext cx="470257" cy="36933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31"/>
          <p:cNvCxnSpPr/>
          <p:nvPr/>
        </p:nvCxnSpPr>
        <p:spPr>
          <a:xfrm>
            <a:off x="2001742" y="3295960"/>
            <a:ext cx="630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32"/>
          <p:cNvSpPr txBox="1"/>
          <p:nvPr/>
        </p:nvSpPr>
        <p:spPr>
          <a:xfrm>
            <a:off x="1981422" y="294652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A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Connector: Curved 33"/>
          <p:cNvCxnSpPr/>
          <p:nvPr/>
        </p:nvCxnSpPr>
        <p:spPr>
          <a:xfrm flipV="1">
            <a:off x="2708497" y="2984097"/>
            <a:ext cx="238045" cy="22583"/>
          </a:xfrm>
          <a:prstGeom prst="curvedConnector4">
            <a:avLst>
              <a:gd name="adj1" fmla="val 1117"/>
              <a:gd name="adj2" fmla="val 11122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35"/>
          <p:cNvSpPr txBox="1"/>
          <p:nvPr/>
        </p:nvSpPr>
        <p:spPr>
          <a:xfrm>
            <a:off x="2827517" y="253666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41"/>
              <p:cNvSpPr txBox="1"/>
              <p:nvPr/>
            </p:nvSpPr>
            <p:spPr>
              <a:xfrm>
                <a:off x="5486400" y="3579155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579155"/>
                <a:ext cx="1371600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0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42"/>
              <p:cNvSpPr txBox="1"/>
              <p:nvPr/>
            </p:nvSpPr>
            <p:spPr>
              <a:xfrm>
                <a:off x="1218150" y="3583924"/>
                <a:ext cx="3429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无接受状态，即该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不接受任何符号串（包括空串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150" y="3583924"/>
                <a:ext cx="3429000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6" t="-96" r="6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补运算封闭性应用示例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例：证明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𝑛𝑒𝑞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由数量不相等的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构成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不是正则的。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由泵引理很难直接证明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𝑛𝑒𝑞</m:t>
                        </m:r>
                      </m:sub>
                    </m:sSub>
                  </m:oMath>
                </a14:m>
                <a:r>
                  <a:rPr lang="zh-CN" altLang="en-US" dirty="0"/>
                  <a:t>不是正则的，无论如何取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，都无法将其打断为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zh-CN" altLang="en-US" dirty="0"/>
                  <a:t>形式，并利用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产生不属于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𝑛𝑒𝑞</m:t>
                        </m:r>
                      </m:sub>
                    </m:sSub>
                  </m:oMath>
                </a14:m>
                <a:r>
                  <a:rPr lang="zh-CN" altLang="en-US" dirty="0"/>
                  <a:t>的串。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而证明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𝑛𝑒𝑞</m:t>
                            </m:r>
                          </m:sub>
                        </m:sSub>
                      </m:e>
                    </m:acc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不是正则的很容易证明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当然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前面已经证明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根据补运算的封闭性，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𝑛𝑒𝑞</m:t>
                        </m:r>
                      </m:sub>
                    </m:sSub>
                  </m:oMath>
                </a14:m>
                <a:r>
                  <a:rPr lang="zh-CN" altLang="en-US" dirty="0"/>
                  <a:t>不是正则的。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定理：如果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是正则语言，那么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也是正则语言。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1: </a:t>
                </a:r>
                <a:r>
                  <a:rPr lang="zh-CN" altLang="en-US" dirty="0"/>
                  <a:t>由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  <m:r>
                          <a:rPr lang="en-AU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AU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</m:acc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得证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zh-CN" altLang="en-US" dirty="0">
                    <a:solidFill>
                      <a:schemeClr val="accent1"/>
                    </a:solidFill>
                  </a:rPr>
                  <a:t>通过</a:t>
                </a:r>
                <a:r>
                  <a:rPr lang="en-AU" altLang="zh-C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solidFill>
                      <a:schemeClr val="accent1"/>
                    </a:solidFill>
                  </a:rPr>
                  <a:t>构造来证明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0874" y="1047307"/>
                <a:ext cx="8229600" cy="518337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定理：若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的定义如下</a:t>
                </a:r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sSub>
                        <m:sSubPr>
                          <m:ctrlP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altLang="zh-CN" sz="2400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l-GR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l-GR" sz="24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altLang="zh-CN" sz="2400" dirty="0"/>
                  <a:t>	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l-GR" sz="240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altLang="zh-CN" sz="2400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altLang="zh-CN" sz="2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altLang="zh-CN" sz="2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altLang="zh-CN" sz="2400" i="1" dirty="0" smtClean="0">
                          <a:latin typeface="Cambria Math" panose="02040503050406030204" pitchFamily="18" charset="0"/>
                        </a:rPr>
                        <m:t>, (</m:t>
                      </m:r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AU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dirty="0"/>
                  <a:t>其中</a:t>
                </a:r>
                <a:r>
                  <a:rPr lang="en-AU" altLang="zh-CN" sz="2400" dirty="0"/>
                  <a:t>,</a:t>
                </a:r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CN" sz="24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 sz="2400" dirty="0"/>
                  <a:t>，即</a:t>
                </a:r>
                <a:r>
                  <a:rPr lang="en-AU" altLang="zh-CN" sz="2400" dirty="0"/>
                  <a:t>:</a:t>
                </a:r>
                <a:endParaRPr lang="en-AU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altLang="zh-CN" sz="2400" dirty="0"/>
                  <a:t>           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dirty="0"/>
                  <a:t>则对任意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altLang="zh-CN" sz="2400" dirty="0"/>
                  <a:t>,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  <m:r>
                          <a:rPr lang="en-AU" altLang="zh-CN" sz="24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AU" altLang="zh-CN" sz="2400" b="0" i="0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AU" altLang="zh-CN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（</m:t>
                    </m:r>
                    <m:acc>
                      <m:acc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dirty="0"/>
                  <a:t>即，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  <m:r>
                          <a:rPr lang="en-AU" altLang="zh-CN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AU" altLang="zh-CN" sz="2400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r>
                  <a:rPr lang="zh-CN" altLang="en-US" sz="2400" dirty="0"/>
                  <a:t>到达的状态，和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sz="2400" dirty="0"/>
                  <a:t>组成的二元组是相等的</a:t>
                </a:r>
                <a:r>
                  <a:rPr lang="zh-CN" altLang="en-US" dirty="0"/>
                  <a:t>。</a:t>
                </a:r>
                <a:endParaRPr lang="en-AU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874" y="1047307"/>
                <a:ext cx="8229600" cy="5183372"/>
              </a:xfrm>
              <a:blipFill rotWithShape="1">
                <a:blip r:embed="rId1"/>
                <a:stretch>
                  <a:fillRect l="-4" t="-4" r="4" b="-2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1386" y="965967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证明：通过对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的归纳来证明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归纳基础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时，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acc>
                        <m:acc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zh-C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altLang="zh-CN" i="1" dirty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altLang="zh-CN" i="1" dirty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  <m:r>
                            <a:rPr lang="en-AU" altLang="zh-CN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AU" altLang="zh-C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AU" altLang="zh-CN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/>
                  <a:t>               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                     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的时候成立，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归纳递推：当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𝑥𝑎</m:t>
                    </m:r>
                  </m:oMath>
                </a14:m>
                <a:r>
                  <a:rPr lang="zh-CN" altLang="en-US" dirty="0"/>
                  <a:t>时，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trlP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zh-CN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  <m:r>
                            <a:rPr lang="en-AU" altLang="zh-CN" sz="2400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i="1" dirty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altLang="zh-CN" sz="2400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acc>
                          <m:d>
                            <m:dPr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AU" altLang="zh-CN" sz="2400" i="1" dirty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AU" altLang="zh-CN" sz="24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AU" altLang="zh-CN" sz="24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                            =</m:t>
                    </m:r>
                  </m:oMath>
                </a14:m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l-GR" altLang="zh-CN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l-GR" altLang="zh-CN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  <m:d>
                          <m:d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altLang="zh-CN" sz="2400" dirty="0"/>
                  <a:t>            </a:t>
                </a:r>
                <a14:m>
                  <m:oMath xmlns:m="http://schemas.openxmlformats.org/officeDocument/2006/math">
                    <m:r>
                      <a:rPr lang="en-AU" altLang="zh-CN" sz="2400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trlP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AU" sz="2400" b="0" i="1" dirty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AU" sz="2400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b="0" i="0" dirty="0" smtClean="0">
                        <a:latin typeface="Cambria Math" panose="02040503050406030204" pitchFamily="18" charset="0"/>
                      </a:rPr>
                      <m:t>                          =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trlP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AU" sz="2400" b="0" i="1" dirty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𝑥𝑎</m:t>
                            </m:r>
                          </m:e>
                        </m:d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AU" sz="2400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acc>
                          </m:e>
                          <m: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𝑥𝑎</m:t>
                            </m:r>
                          </m:e>
                        </m:d>
                      </m:e>
                    </m:d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386" y="965967"/>
                <a:ext cx="8229600" cy="4525963"/>
              </a:xfrm>
              <a:blipFill rotWithShape="1">
                <a:blip r:embed="rId1"/>
                <a:stretch>
                  <a:fillRect l="-3" t="-3" r="3" b="-25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731238" y="2015215"/>
                <a:ext cx="4572000" cy="938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AU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l-GR" altLang="zh-CN" sz="18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的定义</m:t>
                      </m:r>
                    </m:oMath>
                  </m:oMathPara>
                </a14:m>
                <a:endParaRPr lang="en-AU" altLang="zh-CN" dirty="0"/>
              </a:p>
              <a:p>
                <a:r>
                  <a:rPr lang="zh-CN" altLang="en-US" dirty="0"/>
                  <a:t>                                   </a:t>
                </a:r>
                <a:endParaRPr lang="en-AU" altLang="zh-CN" dirty="0"/>
              </a:p>
              <a:p>
                <a:r>
                  <a:rPr lang="en-AU" altLang="zh-CN" dirty="0"/>
                  <a:t>                                    </a:t>
                </a:r>
                <a:r>
                  <a:rPr lang="zh-CN" altLang="en-US" dirty="0"/>
                  <a:t>同理</a:t>
                </a:r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238" y="2015215"/>
                <a:ext cx="4572000" cy="938911"/>
              </a:xfrm>
              <a:prstGeom prst="rect">
                <a:avLst/>
              </a:prstGeom>
              <a:blipFill rotWithShape="1">
                <a:blip r:embed="rId2"/>
                <a:stretch>
                  <a:fillRect l="-8" t="-38" r="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503968" y="4497981"/>
            <a:ext cx="1182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归纳假设</a:t>
            </a:r>
            <a:r>
              <a:rPr lang="en-AU" altLang="zh-CN" dirty="0"/>
              <a:t>                               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540494" y="4003374"/>
                <a:ext cx="2410691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AU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dirty="0"/>
                  <a:t>的定义</a:t>
                </a:r>
                <a:endParaRPr lang="en-AU" altLang="zh-CN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494" y="4003374"/>
                <a:ext cx="2410691" cy="384914"/>
              </a:xfrm>
              <a:prstGeom prst="rect">
                <a:avLst/>
              </a:prstGeom>
              <a:blipFill rotWithShape="1">
                <a:blip r:embed="rId3"/>
                <a:stretch>
                  <a:fillRect l="-21" t="-87" r="4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563007" y="5037209"/>
                <a:ext cx="1182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的构造</a:t>
                </a:r>
                <a:endParaRPr lang="en-AU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07" y="5037209"/>
                <a:ext cx="118283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3" t="-105" r="5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563007" y="5576437"/>
                <a:ext cx="1305948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dirty="0"/>
                  <a:t>的定义</a:t>
                </a:r>
                <a:endParaRPr lang="en-AU" altLang="zh-CN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07" y="5576437"/>
                <a:ext cx="1305948" cy="384914"/>
              </a:xfrm>
              <a:prstGeom prst="rect">
                <a:avLst/>
              </a:prstGeom>
              <a:blipFill rotWithShape="1">
                <a:blip r:embed="rId5"/>
                <a:stretch>
                  <a:fillRect l="-12" t="-130" r="42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2893" y="1166018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定理：如果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是正则语言，那么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也是正则语言。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：由上一个定理构造</a:t>
                </a:r>
                <a14:m>
                  <m:oMath xmlns:m="http://schemas.openxmlformats.org/officeDocument/2006/math">
                    <m:r>
                      <a:rPr lang="en-AU" altLang="zh-CN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𝐷𝐹𝐴</m:t>
                    </m: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则对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893" y="1166018"/>
                <a:ext cx="8229600" cy="4525963"/>
              </a:xfrm>
              <a:blipFill rotWithShape="1">
                <a:blip r:embed="rId1"/>
                <a:stretch>
                  <a:fillRect l="-5" t="-3" r="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ext, letter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76" y="3428999"/>
            <a:ext cx="7247248" cy="19051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166018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示例：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{0,1}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组成的至少含有一个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的字符串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	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{0,1}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组成的至少含有一个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的字符串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Ո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lang="en-AU" altLang="zh-CN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93" y="1166018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示例：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{0,1}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组成的至少含有一个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的字符串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	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{0,1}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组成的至少含有一个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的字符串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Ո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lang="en-AU" altLang="zh-CN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6" name="矩形 5"/>
          <p:cNvSpPr/>
          <p:nvPr/>
        </p:nvSpPr>
        <p:spPr>
          <a:xfrm>
            <a:off x="685800" y="3138826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0(0+1)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CN" sz="28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460" y="2810431"/>
            <a:ext cx="5536551" cy="229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85800" y="4153793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1(0+1)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CN" sz="28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246096" y="5135959"/>
          <a:ext cx="3049278" cy="1112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469"/>
                <a:gridCol w="449632"/>
                <a:gridCol w="449632"/>
                <a:gridCol w="462981"/>
                <a:gridCol w="563932"/>
                <a:gridCol w="449632"/>
              </a:tblGrid>
              <a:tr h="3706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66" marR="91466"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/>
                        </a:rPr>
                        <a:t>0</a:t>
                      </a:r>
                      <a:endParaRPr lang="en-US" sz="1800" i="0" dirty="0">
                        <a:solidFill>
                          <a:schemeClr val="tx1"/>
                        </a:solidFill>
                      </a:endParaRPr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66" marR="91466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66" marR="91466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i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endParaRPr lang="en-US" sz="1800" dirty="0"/>
                    </a:p>
                  </a:txBody>
                  <a:tcPr marL="91466" marR="91466"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66" marR="91466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qs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ps</a:t>
                      </a:r>
                      <a:endParaRPr lang="en-US" sz="1800" b="1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66" marR="91466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681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</a:t>
                      </a:r>
                      <a:endParaRPr lang="en-US" sz="1800" i="0" dirty="0"/>
                    </a:p>
                  </a:txBody>
                  <a:tcPr marL="91466" marR="91466" marT="45700" marB="457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qs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qs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qs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qs</a:t>
                      </a:r>
                      <a:endParaRPr lang="en-US" sz="1800" i="0" dirty="0"/>
                    </a:p>
                  </a:txBody>
                  <a:tcPr marL="91466" marR="91466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118465" y="5500945"/>
            <a:ext cx="1125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Ո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lang="en-AU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例：如果已知语言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不是正则的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请用封闭性证明语言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由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数量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相等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构成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也不是正则的。</a:t>
                </a:r>
                <a:endParaRPr lang="en-US" altLang="zh-CN" dirty="0"/>
              </a:p>
              <a:p>
                <a:r>
                  <a:rPr lang="zh-CN" altLang="en-US" dirty="0"/>
                  <a:t>证明：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首先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是正则语言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∩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zh-CN" altLang="en-US" dirty="0"/>
                  <a:t>是正则的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dirty="0"/>
                  <a:t>必然也是正则的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因为已知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不是正则的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所以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zh-CN" altLang="en-US" dirty="0"/>
                  <a:t>一定不是正则的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4000" dirty="0"/>
                  <a:t>例</a:t>
                </a:r>
                <a:r>
                  <a:rPr lang="en-AU" altLang="zh-CN" sz="4000" dirty="0"/>
                  <a:t>:</a:t>
                </a:r>
                <a:r>
                  <a:rPr lang="zh-CN" altLang="en-US" sz="4000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4000" dirty="0"/>
                  <a:t> </a:t>
                </a:r>
                <a:r>
                  <a:rPr lang="zh-CN" altLang="en-US" sz="4000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4000" dirty="0"/>
                  <a:t> </a:t>
                </a:r>
                <a:r>
                  <a:rPr lang="zh-CN" altLang="en-US" sz="4000" dirty="0"/>
                  <a:t>都不是正则的</a:t>
                </a:r>
                <a:r>
                  <a:rPr lang="en-US" altLang="zh-CN" sz="4000" dirty="0"/>
                  <a:t>, </a:t>
                </a:r>
                <a:r>
                  <a:rPr lang="zh-CN" altLang="en-US" sz="40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AU" altLang="zh-CN" sz="4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4000" dirty="0"/>
                  <a:t>一定不是正则的吗</a:t>
                </a:r>
                <a:r>
                  <a:rPr lang="en-US" altLang="zh-CN" sz="4000" dirty="0"/>
                  <a:t>?</a:t>
                </a:r>
                <a:endParaRPr lang="en-US" altLang="zh-CN" sz="40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8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4000" dirty="0"/>
                  <a:t>例</a:t>
                </a:r>
                <a:r>
                  <a:rPr lang="en-AU" altLang="zh-CN" sz="4000" dirty="0"/>
                  <a:t>:</a:t>
                </a:r>
                <a:r>
                  <a:rPr lang="zh-CN" altLang="en-US" sz="4000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4000" dirty="0"/>
                  <a:t> </a:t>
                </a:r>
                <a:r>
                  <a:rPr lang="zh-CN" altLang="en-US" sz="4000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4000" dirty="0"/>
                  <a:t> </a:t>
                </a:r>
                <a:r>
                  <a:rPr lang="zh-CN" altLang="en-US" sz="4000" dirty="0"/>
                  <a:t>都不是正则的</a:t>
                </a:r>
                <a:r>
                  <a:rPr lang="en-US" altLang="zh-CN" sz="4000" dirty="0"/>
                  <a:t>, </a:t>
                </a:r>
                <a:r>
                  <a:rPr lang="zh-CN" altLang="en-US" sz="40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AU" altLang="zh-CN" sz="4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4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4000" dirty="0"/>
                  <a:t>一定不是正则的吗</a:t>
                </a:r>
                <a:r>
                  <a:rPr lang="en-US" altLang="zh-CN" sz="4000" dirty="0"/>
                  <a:t>?</a:t>
                </a:r>
                <a:endParaRPr lang="en-US" altLang="zh-CN" sz="40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9058" y="1364107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都不是正则的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一定不是正则的吗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r>
                  <a:rPr lang="zh-CN" altLang="en-US" dirty="0"/>
                  <a:t>不一定</a:t>
                </a:r>
                <a:r>
                  <a:rPr lang="en-US" altLang="zh-CN" dirty="0"/>
                  <a:t>. </a:t>
                </a:r>
                <a:r>
                  <a:rPr lang="zh-CN" altLang="en-US" dirty="0"/>
                  <a:t>因为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如果令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zh-CN" altLang="en-US" dirty="0"/>
                  <a:t>显然两者都不算正则语言，但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  是正则语言。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058" y="1364107"/>
                <a:ext cx="8229600" cy="4525963"/>
              </a:xfrm>
              <a:blipFill rotWithShape="1">
                <a:blip r:embed="rId1"/>
                <a:stretch>
                  <a:fillRect l="-1" t="-3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ext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77" y="2586482"/>
            <a:ext cx="3010161" cy="1280271"/>
          </a:xfrm>
          <a:prstGeom prst="rect">
            <a:avLst/>
          </a:prstGeom>
        </p:spPr>
      </p:pic>
      <p:pic>
        <p:nvPicPr>
          <p:cNvPr id="7" name="Picture 6" descr="Text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49" y="4448993"/>
            <a:ext cx="2156647" cy="6401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正则语言的泵引理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458200" cy="4525963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泵引理</a:t>
                </a:r>
                <a:r>
                  <a:rPr lang="en-AU" altLang="zh-CN" dirty="0"/>
                  <a:t>(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pumping lemma</a:t>
                </a:r>
                <a:r>
                  <a:rPr lang="en-AU" altLang="zh-CN" dirty="0"/>
                  <a:t>): </a:t>
                </a:r>
                <a:r>
                  <a:rPr lang="zh-CN" altLang="en-US" dirty="0"/>
                  <a:t>如果语言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是正则的，那么存在正整数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只要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就可以将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分为三部分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满足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（或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）</a:t>
                </a:r>
                <a:r>
                  <a:rPr lang="en-AU" altLang="zh-CN" dirty="0"/>
                  <a:t>;</a:t>
                </a:r>
                <a:endParaRPr lang="en-AU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2">
                  <a:lnSpc>
                    <a:spcPct val="120000"/>
                  </a:lnSpc>
                </a:pPr>
                <a:r>
                  <a:rPr lang="zh-CN" altLang="en-US" dirty="0"/>
                  <a:t>中间的串不论循环几次，所得的串仍属于该正则语言。</a:t>
                </a:r>
                <a:endParaRPr lang="en-AU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458200" cy="4525963"/>
              </a:xfrm>
              <a:blipFill rotWithShape="1">
                <a:blip r:embed="rId1"/>
                <a:stretch>
                  <a:fillRect t="-11" r="-108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差运算封闭性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都是正则语言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那么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也是正则的</a:t>
                </a:r>
                <a:r>
                  <a:rPr lang="en-US" altLang="zh-CN" dirty="0"/>
                  <a:t>.</a:t>
                </a:r>
                <a:endParaRPr lang="en-US" altLang="zh-CN" dirty="0"/>
              </a:p>
              <a:p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∩ 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反转运算的封闭性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定义：字符串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的反转，记为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，定义为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zh-CN" altLang="en-US" dirty="0"/>
                  <a:t>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的反转，记为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，定义为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反转运算的封闭性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定理：如果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是正则语言，那么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也是正则的。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：假设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是由正则表达式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描述的语言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dirty="0"/>
                  <a:t>，对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进行归纳。</a:t>
                </a:r>
                <a:endParaRPr lang="en-AU" altLang="zh-CN" dirty="0"/>
              </a:p>
              <a:p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归纳基础：如果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分别是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或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AU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AU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反转运算的封闭性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归纳递推：如果存在两个正则表达式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满足</a:t>
                </a:r>
                <a14:m>
                  <m:oMath xmlns:m="http://schemas.openxmlformats.org/officeDocument/2006/math">
                    <m:r>
                      <a:rPr lang="en-AU" altLang="zh-CN" b="1" i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是正则语言，则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US" altLang="zh-CN" b="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>
                    <a:cs typeface="Times New Roman" panose="02020603050405020304" pitchFamily="18" charset="0"/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/>
                        <a:cs typeface="Times New Roman" panose="02020603050405020304" pitchFamily="18" charset="0"/>
                      </a:rPr>
                      <m:t>⋃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是正则语言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是正则语言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𝐋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b="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b="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是正则语言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 rotWithShape="1">
                <a:blip r:embed="rId1"/>
                <a:stretch>
                  <a:fillRect t="-3" b="-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反转运算的封闭性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证明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/>
                  <a:t>：构造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由识别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), </m:t>
                    </m:r>
                  </m:oMath>
                </a14:m>
                <a:r>
                  <a:rPr lang="zh-CN" altLang="en-US" dirty="0"/>
                  <a:t>构造识别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𝑁𝐹𝐴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AU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 {</m:t>
                    </m:r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endParaRPr lang="en-AU" dirty="0"/>
              </a:p>
              <a:p>
                <a:r>
                  <a:rPr lang="en-AU" dirty="0"/>
                  <a:t>1 </a:t>
                </a:r>
                <a:r>
                  <a:rPr lang="zh-CN" altLang="en-US" dirty="0"/>
                  <a:t>将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的初始状态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改为唯一的接受状态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r>
                  <a:rPr lang="en-US" altLang="zh-CN" dirty="0"/>
                  <a:t>2 </a:t>
                </a:r>
                <a:r>
                  <a:rPr lang="zh-CN" altLang="en-US" dirty="0"/>
                  <a:t>将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的边调转方向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AU" dirty="0"/>
                  <a:t>;</a:t>
                </a:r>
                <a:endParaRPr lang="en-AU" dirty="0"/>
              </a:p>
              <a:p>
                <a:r>
                  <a:rPr lang="en-AU" dirty="0"/>
                  <a:t>3 </a:t>
                </a:r>
                <a:r>
                  <a:rPr lang="zh-CN" altLang="en-US" dirty="0"/>
                  <a:t>新增初始状态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且令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AU" dirty="0"/>
                  <a:t>;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同态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8983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</a:t>
                </a:r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是两个字母表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同态定义为函数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dirty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（即将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上的一个符号映射为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dirty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上的符号串）</a:t>
                </a:r>
                <a:endParaRPr lang="el-GR" dirty="0"/>
              </a:p>
              <a:p>
                <a:pPr marL="0" indent="0">
                  <a:buNone/>
                </a:pPr>
                <a:r>
                  <a:rPr lang="en-AU" dirty="0"/>
                  <a:t>         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∈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dirty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l-GR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l-GR" dirty="0"/>
              </a:p>
              <a:p>
                <a:r>
                  <a:rPr lang="zh-CN" altLang="en-US" dirty="0"/>
                  <a:t>扩展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的定义到字符串</a:t>
                </a:r>
                <a:r>
                  <a:rPr lang="en-US" altLang="zh-CN" dirty="0"/>
                  <a:t>,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l-GR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𝑥𝑎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r>
                  <a:rPr lang="zh-CN" altLang="en-US" dirty="0"/>
                  <a:t>再扩展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到语言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对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⊆</m:t>
                    </m:r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dirty="0"/>
                  <a:t>,</a:t>
                </a: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) |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89837"/>
                <a:ext cx="8229600" cy="4525963"/>
              </a:xfrm>
              <a:blipFill rotWithShape="1">
                <a:blip r:embed="rId1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1344451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800" dirty="0"/>
                  <a:t>例</a:t>
                </a:r>
                <a:r>
                  <a:rPr lang="en-AU" altLang="zh-CN" sz="2800" dirty="0"/>
                  <a:t>:</a:t>
                </a:r>
                <a:r>
                  <a:rPr lang="zh-CN" altLang="en-US" sz="2800" dirty="0"/>
                  <a:t>若由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dirty="0"/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sz="2800" dirty="0"/>
                  <a:t>的同态函数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sz="2800" dirty="0"/>
                  <a:t>为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sz="2800" dirty="0"/>
                  <a:t>,</a:t>
                </a:r>
                <a:r>
                  <a:rPr lang="zh-CN" altLang="en-US" sz="2800" dirty="0"/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800" dirty="0"/>
                  <a:t>上的字符串 </a:t>
                </a:r>
                <a:r>
                  <a:rPr lang="en-US" altLang="zh-CN" sz="2800" dirty="0"/>
                  <a:t>0011, </a:t>
                </a:r>
                <a:r>
                  <a:rPr lang="zh-CN" altLang="en-US" sz="2800" dirty="0"/>
                  <a:t>在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sz="2800" dirty="0"/>
                  <a:t>的作用下</a:t>
                </a:r>
                <a:endParaRPr lang="en-US" altLang="zh-CN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  <m:t>0011</m:t>
                        </m:r>
                      </m:e>
                    </m: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=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[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填空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1]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 </a:t>
                </a:r>
                <a:endParaRPr lang="en-US" altLang="zh-CN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  <a:p>
                <a:r>
                  <a:rPr lang="zh-CN" altLang="en-US" sz="2800" dirty="0"/>
                  <a:t>语言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AU" altLang="zh-CN" sz="2800" dirty="0"/>
                  <a:t>, </a:t>
                </a:r>
                <a:r>
                  <a:rPr lang="zh-CN" altLang="en-US" sz="2800" dirty="0"/>
                  <a:t>在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sz="2800" dirty="0"/>
                  <a:t>的作用下</a:t>
                </a:r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sz="2800" dirty="0"/>
                  <a:t> </a:t>
                </a:r>
                <a:r>
                  <a:rPr lang="zh-CN" altLang="en-US" sz="2800" dirty="0"/>
                  <a:t>为</a:t>
                </a:r>
                <a:r>
                  <a:rPr lang="en-US" altLang="zh-CN" sz="2800" dirty="0"/>
                  <a:t>:</a:t>
                </a:r>
                <a:endParaRPr lang="en-US" altLang="zh-CN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zh-CN" altLang="en-US" sz="2800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AU" altLang="zh-CN" sz="2800" b="1" i="1" dirty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 + </m:t>
                        </m:r>
                        <m:sSup>
                          <m:sSupPr>
                            <m:ctrlPr>
                              <a:rPr lang="en-AU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zh-CN" altLang="en-US" sz="2800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[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填空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2]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 </a:t>
                </a:r>
                <a:endParaRPr lang="zh-CN" altLang="en-US" sz="2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1344451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 t="-9963" b="-9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同态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9609" y="1166018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若由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zh-CN" altLang="en-US" dirty="0"/>
                  <a:t>的同态函数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上的字符串 </a:t>
                </a:r>
                <a:r>
                  <a:rPr lang="en-US" altLang="zh-CN" dirty="0"/>
                  <a:t>0011, </a:t>
                </a:r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的作用下</a:t>
                </a:r>
                <a:endParaRPr lang="zh-CN" altLang="en-US" dirty="0"/>
              </a:p>
              <a:p>
                <a:pPr marL="0" indent="0">
                  <a:buNone/>
                </a:pPr>
                <a:r>
                  <a:rPr lang="en-AU" dirty="0"/>
                  <a:t>        </a:t>
                </a:r>
                <a14:m>
                  <m:oMath xmlns:m="http://schemas.openxmlformats.org/officeDocument/2006/math">
                    <m:r>
                      <a:rPr lang="en-AU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0011</m:t>
                        </m:r>
                      </m:e>
                    </m:d>
                    <m:r>
                      <a:rPr lang="en-AU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dirty="0"/>
                  <a:t>			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𝑎𝑏𝑎𝑏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𝜀𝜀</m:t>
                    </m:r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dirty="0"/>
                  <a:t>                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𝑎𝑏𝑎𝑏</m:t>
                    </m:r>
                  </m:oMath>
                </a14:m>
                <a:endParaRPr lang="en-AU" dirty="0"/>
              </a:p>
              <a:p>
                <a:r>
                  <a:rPr lang="zh-CN" altLang="en-US" dirty="0"/>
                  <a:t>语言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的作用下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为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AU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) +</m:t>
                      </m:r>
                      <m:sSup>
                        <m:sSup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  <m:sup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i="1" dirty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AU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zh-CN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altLang="zh-CN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AU" b="0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l-GR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d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AU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zh-CN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dirty="0"/>
                  <a:t>               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609" y="1166018"/>
                <a:ext cx="8229600" cy="4525963"/>
              </a:xfrm>
              <a:blipFill rotWithShape="1">
                <a:blip r:embed="rId1"/>
                <a:stretch>
                  <a:fillRect l="-1" t="-3" r="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33499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是字母表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上的正则语言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l-GR" dirty="0"/>
                  <a:t>Σ</a:t>
                </a:r>
                <a:r>
                  <a:rPr lang="zh-CN" altLang="en-US" dirty="0"/>
                  <a:t>上的同态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则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也是正则的。</a:t>
                </a:r>
                <a:endParaRPr lang="en-AU" altLang="zh-CN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33499"/>
                <a:ext cx="8229600" cy="4525963"/>
              </a:xfrm>
              <a:blipFill rotWithShape="1">
                <a:blip r:embed="rId1"/>
                <a:stretch>
                  <a:fillRect t="-14" b="-45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venn 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928" y="2801483"/>
            <a:ext cx="3654525" cy="25610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的正则表达式为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即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按如下规则构造表达式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endParaRPr lang="en-AU" altLang="zh-CN" sz="2400" dirty="0"/>
              </a:p>
              <a:p>
                <a:r>
                  <a:rPr lang="zh-CN" altLang="en-US" dirty="0"/>
                  <a:t>往证 </a:t>
                </a:r>
                <a14:m>
                  <m:oMath xmlns:m="http://schemas.openxmlformats.org/officeDocument/2006/math"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 )) = 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 )), </m:t>
                    </m:r>
                  </m:oMath>
                </a14:m>
                <a:r>
                  <a:rPr lang="zh-CN" altLang="en-US" dirty="0"/>
                  <a:t>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显然也是正则表达式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正则。</a:t>
                </a:r>
                <a:r>
                  <a:rPr lang="zh-CN" altLang="en-US" sz="2400" dirty="0"/>
                  <a:t> </a:t>
                </a:r>
                <a:br>
                  <a:rPr lang="zh-CN" altLang="en-US" sz="2400" dirty="0"/>
                </a:br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picture containing text, screenshot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38" y="2857926"/>
            <a:ext cx="6963324" cy="129517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同态的封闭性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55" y="940982"/>
            <a:ext cx="8229600" cy="4525963"/>
          </a:xfrm>
        </p:spPr>
        <p:txBody>
          <a:bodyPr/>
          <a:lstStyle/>
          <a:p>
            <a:r>
              <a:rPr lang="zh-CN" altLang="en-US" dirty="0"/>
              <a:t>证明</a:t>
            </a:r>
            <a:r>
              <a:rPr lang="en-AU" altLang="zh-CN" dirty="0"/>
              <a:t>:</a:t>
            </a:r>
            <a:endParaRPr lang="en-AU" altLang="zh-CN" dirty="0"/>
          </a:p>
          <a:p>
            <a:pPr marL="0" indent="0">
              <a:buNone/>
            </a:pPr>
            <a:r>
              <a:rPr lang="zh-CN" altLang="en-US" dirty="0"/>
              <a:t>归纳基础</a:t>
            </a:r>
            <a:r>
              <a:rPr lang="en-AU" altLang="zh-CN" dirty="0"/>
              <a:t>:</a:t>
            </a:r>
            <a:endParaRPr lang="en-AU" altLang="zh-CN" dirty="0"/>
          </a:p>
          <a:p>
            <a:pPr marL="0" indent="0">
              <a:buNone/>
            </a:pPr>
            <a:endParaRPr lang="en-AU" altLang="zh-CN" dirty="0"/>
          </a:p>
          <a:p>
            <a:endParaRPr lang="en-AU" dirty="0"/>
          </a:p>
        </p:txBody>
      </p:sp>
      <p:pic>
        <p:nvPicPr>
          <p:cNvPr id="5" name="Picture 4" descr="Text&#10;&#10;Description automatically generated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09" y="2175117"/>
            <a:ext cx="7163181" cy="3687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4544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归纳递推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假设对正则表达式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分别有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4544"/>
                <a:ext cx="8229600" cy="4525963"/>
              </a:xfrm>
              <a:blipFill rotWithShape="1">
                <a:blip r:embed="rId1"/>
                <a:stretch>
                  <a:fillRect t="-1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ext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18" y="1788581"/>
            <a:ext cx="8129682" cy="3116691"/>
          </a:xfrm>
          <a:prstGeom prst="rect">
            <a:avLst/>
          </a:prstGeom>
        </p:spPr>
      </p:pic>
      <p:pic>
        <p:nvPicPr>
          <p:cNvPr id="6" name="Picture 5" descr="Text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18" y="4895105"/>
            <a:ext cx="2784021" cy="10861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逆同态定义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089837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是字母表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altLang="zh-CN" dirty="0"/>
                  <a:t> </a:t>
                </a:r>
                <a:r>
                  <a:rPr lang="zh-CN" altLang="en-US" dirty="0"/>
                  <a:t>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的同态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且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上的语言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那么使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AU" altLang="zh-CN" b="0" dirty="0"/>
                  <a:t>(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altLang="zh-CN" b="0" dirty="0"/>
                  <a:t>)</a:t>
                </a:r>
                <a:r>
                  <a:rPr lang="zh-CN" altLang="en-US" dirty="0"/>
                  <a:t>的集合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称为语言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zh-CN" altLang="en-US" dirty="0"/>
                  <a:t>逆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089837"/>
                <a:ext cx="8229600" cy="4525963"/>
              </a:xfrm>
              <a:blipFill rotWithShape="1">
                <a:blip r:embed="rId1"/>
                <a:stretch>
                  <a:fillRect l="-8" t="-4" r="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438" y="2644904"/>
            <a:ext cx="4397121" cy="457240"/>
          </a:xfrm>
          <a:prstGeom prst="rect">
            <a:avLst/>
          </a:prstGeom>
        </p:spPr>
      </p:pic>
      <p:pic>
        <p:nvPicPr>
          <p:cNvPr id="7" name="Picture 6" descr="Diagram, venn 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901" y="3466724"/>
            <a:ext cx="3612193" cy="23014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sp>
        <p:nvSpPr>
          <p:cNvPr id="8" name="矩形 7"/>
          <p:cNvSpPr/>
          <p:nvPr/>
        </p:nvSpPr>
        <p:spPr>
          <a:xfrm>
            <a:off x="2453055" y="5833130"/>
            <a:ext cx="16353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同态原像</a:t>
            </a:r>
            <a:endParaRPr lang="en-US" sz="2800" dirty="0"/>
          </a:p>
        </p:txBody>
      </p:sp>
      <p:cxnSp>
        <p:nvCxnSpPr>
          <p:cNvPr id="9" name="直接箭头连接符 8"/>
          <p:cNvCxnSpPr>
            <a:endCxn id="8" idx="0"/>
          </p:cNvCxnSpPr>
          <p:nvPr/>
        </p:nvCxnSpPr>
        <p:spPr>
          <a:xfrm flipH="1">
            <a:off x="3270739" y="4942751"/>
            <a:ext cx="386862" cy="890379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257558" y="5833130"/>
            <a:ext cx="13359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同态像</a:t>
            </a:r>
            <a:endParaRPr lang="en-US" sz="2800" dirty="0"/>
          </a:p>
        </p:txBody>
      </p:sp>
      <p:cxnSp>
        <p:nvCxnSpPr>
          <p:cNvPr id="14" name="直接箭头连接符 13"/>
          <p:cNvCxnSpPr>
            <a:endCxn id="13" idx="0"/>
          </p:cNvCxnSpPr>
          <p:nvPr/>
        </p:nvCxnSpPr>
        <p:spPr>
          <a:xfrm>
            <a:off x="5618285" y="4942751"/>
            <a:ext cx="307247" cy="890379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/>
              <a:lstStyle/>
              <a:p>
                <a:r>
                  <a:rPr kumimoji="0" lang="zh-CN" altLang="en-US" dirty="0">
                    <a:cs typeface="Times New Roman" panose="02020603050405020304" pitchFamily="18" charset="0"/>
                    <a:sym typeface="Symbol" panose="05050102010706020507"/>
                  </a:rPr>
                  <a:t>定理：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ℎ</m:t>
                    </m:r>
                  </m:oMath>
                </a14:m>
                <a:r>
                  <a:rPr lang="zh-CN" altLang="en-US" sz="2800" dirty="0">
                    <a:cs typeface="Times New Roman" panose="02020603050405020304" pitchFamily="18" charset="0"/>
                  </a:rPr>
                  <a:t>是字母表</a:t>
                </a:r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/>
                      </a:rPr>
                      <m:t></m:t>
                    </m:r>
                  </m:oMath>
                </a14:m>
                <a:r>
                  <a:rPr lang="zh-CN" altLang="en-US" sz="2800" dirty="0">
                    <a:cs typeface="Times New Roman" panose="02020603050405020304" pitchFamily="18" charset="0"/>
                  </a:rPr>
                  <a:t>到字母表</a:t>
                </a:r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/>
                      </a:rPr>
                      <m:t></m:t>
                    </m:r>
                  </m:oMath>
                </a14:m>
                <a:r>
                  <a:rPr lang="zh-CN" altLang="en-US" sz="2800" dirty="0">
                    <a:cs typeface="Times New Roman" panose="02020603050405020304" pitchFamily="18" charset="0"/>
                  </a:rPr>
                  <a:t>的同态，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en-US" sz="2800" dirty="0"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800" dirty="0">
                    <a:cs typeface="Times New Roman" panose="02020603050405020304" pitchFamily="18" charset="0"/>
                    <a:sym typeface="Symbol" panose="05050102010706020507"/>
                  </a:rPr>
                  <a:t>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上的正则语言，那么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cs typeface="Times New Roman" panose="02020603050405020304" pitchFamily="18" charset="0"/>
                  </a:rPr>
                  <a:t>也是正则语言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Diagram, venn 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569" y="2417324"/>
            <a:ext cx="4574862" cy="3116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2485" y="1068812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由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的 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构造识别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′,</m:t>
                    </m:r>
                    <m:sSub>
                      <m:sSub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)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br>
                  <a:rPr lang="el-GR" dirty="0"/>
                </a:br>
                <a:endParaRPr lang="en-A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485" y="1068812"/>
                <a:ext cx="8229600" cy="4525963"/>
              </a:xfrm>
              <a:blipFill rotWithShape="1">
                <a:blip r:embed="rId1"/>
                <a:stretch>
                  <a:fillRect l="-6" t="-2" r="6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733" y="2225776"/>
            <a:ext cx="4501733" cy="19878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04385" y="4344347"/>
                <a:ext cx="851101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将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整个放入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的控制器中，将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其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输入带看作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控制器中的一个缓冲区</a:t>
                </a:r>
                <a:r>
                  <a:rPr lang="en-AU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AU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每次读入一个字符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，在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ℎ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的作用下映射为</a:t>
                </a:r>
                <a:r>
                  <a:rPr lang="en-AU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输入带的一个字符串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AU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AU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扫描当前该字符串，进行状态转移</a:t>
                </a:r>
                <a:r>
                  <a:rPr lang="en-AU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AU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扫描完整个字符串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AU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所加载的字符串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𝑤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就是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的原像</a:t>
                </a:r>
                <a:r>
                  <a:rPr lang="en-AU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ℎ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)=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𝑤</m:t>
                    </m:r>
                  </m:oMath>
                </a14:m>
                <a:r>
                  <a:rPr lang="en-AU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AU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:r>
                  <a:rPr lang="en-AU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接受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𝑤</m:t>
                    </m:r>
                  </m:oMath>
                </a14:m>
                <a:r>
                  <a:rPr lang="en-AU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:r>
                  <a:rPr lang="en-AU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接受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。让</a:t>
                </a:r>
                <a:r>
                  <a:rPr lang="en-AU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的接受状态等于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接受状态即可。</a:t>
                </a:r>
                <a:endParaRPr lang="en-AU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85" y="4344347"/>
                <a:ext cx="8511015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6" t="-1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029313" y="2271895"/>
                <a:ext cx="13650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上字符串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13" y="2271895"/>
                <a:ext cx="136505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5" t="-135" r="-109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229600" cy="516842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由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的 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构造识别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l-G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l-GR" i="0" dirty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l-GR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AU" altLang="zh-CN" dirty="0">
                  <a:latin typeface="Times New Roman" panose="02020603050405020304" pitchFamily="18" charset="0"/>
                </a:endParaRPr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读入一个字符，相当于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读入一个字符串，因此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/>
                  <a:t>可由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zh-CN" altLang="en-US" dirty="0"/>
                  <a:t>定义：  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229600" cy="5168424"/>
              </a:xfrm>
              <a:blipFill rotWithShape="1">
                <a:blip r:embed="rId1"/>
                <a:stretch>
                  <a:fillRect t="-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264" y="2121802"/>
            <a:ext cx="4501733" cy="198786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为证明 </a:t>
                </a:r>
                <a14:m>
                  <m:oMath xmlns:m="http://schemas.openxmlformats.org/officeDocument/2006/math"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先证明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)))</m:t>
                    </m:r>
                  </m:oMath>
                </a14:m>
                <a:r>
                  <a:rPr lang="en-AU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236076" y="6027124"/>
                <a:ext cx="46718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由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的 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构造识别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′,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076" y="6027124"/>
                <a:ext cx="46718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5" t="-52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76176" y="1220226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对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 | </m:t>
                    </m:r>
                  </m:oMath>
                </a14:m>
                <a:r>
                  <a:rPr lang="zh-CN" altLang="en-US" dirty="0"/>
                  <a:t>归纳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往证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)))</m:t>
                    </m:r>
                  </m:oMath>
                </a14:m>
                <a:endParaRPr lang="en-AU" dirty="0"/>
              </a:p>
              <a:p>
                <a:r>
                  <a:rPr lang="zh-CN" altLang="en-US" dirty="0"/>
                  <a:t>归纳基础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)) =</m:t>
                    </m:r>
                    <m:acc>
                      <m:acc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acc>
                      <m:acc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AU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AU" dirty="0"/>
              </a:p>
              <a:p>
                <a:r>
                  <a:rPr lang="zh-CN" altLang="en-US" dirty="0"/>
                  <a:t>归纳递推：若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𝑥𝑎</m:t>
                    </m:r>
                  </m:oMath>
                </a14:m>
                <a:r>
                  <a:rPr lang="en-AU" dirty="0"/>
                  <a:t>,</a:t>
                </a: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br>
                  <a:rPr lang="en-AU" dirty="0"/>
                </a:br>
                <a:br>
                  <a:rPr lang="en-AU" dirty="0"/>
                </a:br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6176" y="1220226"/>
                <a:ext cx="8229600" cy="4525963"/>
              </a:xfrm>
              <a:blipFill rotWithShape="1">
                <a:blip r:embed="rId1"/>
                <a:stretch>
                  <a:fillRect l="-3" t="-9" r="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-495300" y="3771899"/>
                <a:ext cx="6581775" cy="3948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AU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AU" sz="2400" i="1" dirty="0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AU" altLang="zh-CN" sz="24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d>
                        <m:dPr>
                          <m:ctrlPr>
                            <a:rPr lang="el-GR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altLang="zh-CN" sz="240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e>
                      </m:d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AU" sz="2400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d>
                        <m:dPr>
                          <m:ctrlP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 algn="ctr">
                  <a:buNone/>
                </a:pPr>
                <a:r>
                  <a:rPr lang="en-AU" sz="2400" b="0" dirty="0"/>
                  <a:t>            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trlPr>
                              <a:rPr lang="el-GR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l-GR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acc>
                        <m:d>
                          <m:d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  <m:d>
                              <m:dPr>
                                <m:ctrlPr>
                                  <a:rPr lang="en-AU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AU" sz="2400" dirty="0"/>
              </a:p>
              <a:p>
                <a:pPr algn="ctr"/>
                <a:r>
                  <a:rPr lang="en-AU" sz="2400" b="0" dirty="0"/>
                  <a:t>                        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altLang="zh-CN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ctrlP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AU" sz="2400" dirty="0"/>
              </a:p>
              <a:p>
                <a:pPr algn="ctr"/>
                <a:r>
                  <a:rPr lang="en-AU" altLang="zh-CN" sz="2400" b="0" dirty="0"/>
                  <a:t>                    </a:t>
                </a:r>
                <a14:m>
                  <m:oMath xmlns:m="http://schemas.openxmlformats.org/officeDocument/2006/math"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AU" sz="2400" dirty="0"/>
              </a:p>
              <a:p>
                <a:pPr algn="ctr"/>
                <a:r>
                  <a:rPr lang="en-AU" altLang="zh-CN" sz="2400" dirty="0"/>
                  <a:t>               </a:t>
                </a:r>
                <a14:m>
                  <m:oMath xmlns:m="http://schemas.openxmlformats.org/officeDocument/2006/math">
                    <m:r>
                      <a:rPr lang="en-AU" altLang="zh-CN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𝑥𝑎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AU" sz="2400" dirty="0"/>
              </a:p>
              <a:p>
                <a:pPr algn="ctr"/>
                <a:endParaRPr lang="en-AU" sz="2400" dirty="0"/>
              </a:p>
              <a:p>
                <a:pPr algn="ctr"/>
                <a:endParaRPr lang="en-AU" sz="2400" dirty="0"/>
              </a:p>
              <a:p>
                <a:pPr algn="ctr"/>
                <a:endParaRPr lang="en-AU" sz="2400" dirty="0"/>
              </a:p>
              <a:p>
                <a:pPr marL="0" indent="0" algn="ctr">
                  <a:buNone/>
                </a:pPr>
                <a:endParaRPr lang="en-AU" sz="2400" dirty="0"/>
              </a:p>
              <a:p>
                <a:pPr algn="ctr"/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5300" y="3771899"/>
                <a:ext cx="6581775" cy="3948581"/>
              </a:xfrm>
              <a:prstGeom prst="rect">
                <a:avLst/>
              </a:prstGeom>
              <a:blipFill rotWithShape="1">
                <a:blip r:embed="rId2"/>
                <a:stretch>
                  <a:fillRect t="-16" b="-1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829300" y="3869054"/>
                <a:ext cx="2419350" cy="198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r>
                  <a:rPr lang="zh-CN" altLang="en-US" sz="2400" dirty="0"/>
                  <a:t>的定义</a:t>
                </a:r>
                <a:endParaRPr lang="en-AU" altLang="zh-CN" sz="2400" dirty="0"/>
              </a:p>
              <a:p>
                <a:r>
                  <a:rPr lang="zh-CN" altLang="en-US" sz="2400" dirty="0"/>
                  <a:t>归纳假设</a:t>
                </a:r>
                <a:endParaRPr lang="en-AU" altLang="zh-C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/>
                  <a:t>构造</a:t>
                </a:r>
                <a:endParaRPr lang="en-AU" altLang="zh-CN" sz="2400" dirty="0"/>
              </a:p>
              <a:p>
                <a14:m>
                  <m:oMath xmlns:m="http://schemas.openxmlformats.org/officeDocument/2006/math">
                    <m:acc>
                      <m:acc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性质</m:t>
                    </m:r>
                  </m:oMath>
                </a14:m>
                <a:r>
                  <a:rPr lang="en-AU" altLang="zh-CN" sz="2400" dirty="0"/>
                  <a:t>(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</a:t>
                </a:r>
                <a:r>
                  <a:rPr lang="en-AU" altLang="zh-CN" sz="2400" dirty="0"/>
                  <a:t>)</a:t>
                </a:r>
                <a:endParaRPr lang="en-AU" altLang="zh-CN" sz="2400" dirty="0"/>
              </a:p>
              <a:p>
                <a:r>
                  <a:rPr lang="zh-CN" altLang="en-US" sz="2400" dirty="0"/>
                  <a:t>同态作用</a:t>
                </a:r>
                <a:endParaRPr lang="en-A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00" y="3869054"/>
                <a:ext cx="2419350" cy="1980350"/>
              </a:xfrm>
              <a:prstGeom prst="rect">
                <a:avLst/>
              </a:prstGeom>
              <a:blipFill rotWithShape="1">
                <a:blip r:embed="rId3"/>
                <a:stretch>
                  <a:fillRect t="-3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236076" y="6027124"/>
                <a:ext cx="46718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由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的 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构造识别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′,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076" y="6027124"/>
                <a:ext cx="4671848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5" t="-52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逆同态的封闭性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5935" y="1600200"/>
                <a:ext cx="8633637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已证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AU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𝑥𝑎</m:t>
                        </m:r>
                      </m:e>
                    </m:d>
                  </m:oMath>
                </a14:m>
                <a:r>
                  <a:rPr lang="en-AU" altLang="zh-CN" dirty="0"/>
                  <a:t>=</a:t>
                </a:r>
                <a:r>
                  <a:rPr lang="el-GR" altLang="zh-CN" dirty="0"/>
                  <a:t>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𝑥𝑎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所以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AU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&lt;=&gt;</m:t>
                    </m:r>
                    <m:acc>
                      <m:acc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l-GR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d>
                      <m:d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被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接受当且仅当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被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接受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是识别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是正则的。</a:t>
                </a:r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935" y="1600200"/>
                <a:ext cx="8633637" cy="4525963"/>
              </a:xfrm>
              <a:blipFill rotWithShape="1">
                <a:blip r:embed="rId1"/>
                <a:stretch>
                  <a:fillRect l="-4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236076" y="6027124"/>
                <a:ext cx="467184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由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的 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构造识别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′,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076" y="6027124"/>
                <a:ext cx="46718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5" t="-52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正则语言的泵引理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正则语言的封闭性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正则语言的判定性质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自动机的最小化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正则语言的判定性质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正则语言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或任何语言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典型的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个判定问题</a:t>
                </a:r>
                <a:r>
                  <a:rPr lang="en-US" altLang="zh-CN" dirty="0"/>
                  <a:t>: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以某种形式化模型描述的语言是否为空</a:t>
                </a:r>
                <a:r>
                  <a:rPr lang="en-US" altLang="zh-CN" dirty="0"/>
                  <a:t>? </a:t>
                </a:r>
                <a:r>
                  <a:rPr lang="zh-CN" altLang="en-US" dirty="0"/>
                  <a:t>是否无穷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某个特定的串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是否属于所描述的语言</a:t>
                </a:r>
                <a:r>
                  <a:rPr lang="en-US" altLang="zh-CN" dirty="0"/>
                  <a:t>?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以两种方式描述的语言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是否是相同的</a:t>
                </a:r>
                <a:r>
                  <a:rPr lang="en-US" altLang="zh-CN" dirty="0"/>
                  <a:t>? — </a:t>
                </a:r>
                <a:r>
                  <a:rPr lang="zh-CN" altLang="en-US" dirty="0"/>
                  <a:t>语言的等价性。</a:t>
                </a:r>
                <a:endParaRPr lang="en-AU" altLang="zh-CN" dirty="0"/>
              </a:p>
              <a:p>
                <a:r>
                  <a:rPr lang="zh-CN" altLang="en-US" dirty="0"/>
                  <a:t>我们想知道的是，回答这类问题的具体算法，是否存在。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空性</a:t>
            </a:r>
            <a:r>
              <a:rPr lang="en-US" altLang="zh-CN" dirty="0"/>
              <a:t>, </a:t>
            </a:r>
            <a:r>
              <a:rPr lang="zh-CN" altLang="en-US" dirty="0"/>
              <a:t>有穷性和无穷性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具有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个状态的有穷自动机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接受的集合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zh-CN" dirty="0"/>
                  <a:t>:</a:t>
                </a:r>
                <a:endParaRPr lang="en-AU" altLang="zh-CN" dirty="0"/>
              </a:p>
              <a:p>
                <a:pPr lvl="1"/>
                <a:r>
                  <a:rPr lang="en-AU" altLang="zh-CN" dirty="0"/>
                  <a:t>S</a:t>
                </a:r>
                <a:r>
                  <a:rPr lang="zh-CN" altLang="en-US" dirty="0"/>
                  <a:t>是非空的，当且仅当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接受某个长度小于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的串</a:t>
                </a:r>
                <a:r>
                  <a:rPr lang="en-AU" altLang="zh-CN" dirty="0"/>
                  <a:t>;</a:t>
                </a:r>
                <a:endParaRPr lang="en-AU" altLang="zh-CN" dirty="0"/>
              </a:p>
              <a:p>
                <a:pPr lvl="1"/>
                <a:r>
                  <a:rPr lang="en-AU" altLang="zh-CN" dirty="0"/>
                  <a:t>S</a:t>
                </a:r>
                <a:r>
                  <a:rPr lang="zh-CN" altLang="en-US" dirty="0"/>
                  <a:t>是无穷的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当且仅当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接受某个长度为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的串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dirty="0"/>
              </a:p>
              <a:p>
                <a:r>
                  <a:rPr lang="zh-CN" altLang="en-US" dirty="0"/>
                  <a:t>所以，对于正则语言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存在算法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判断其是否为空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只需检查全部长度小于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的串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存在算法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判断其是否无穷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只需检查全部长度由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的串。</a:t>
                </a:r>
                <a:endParaRPr lang="en-AU" altLang="zh-CN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87926"/>
                <a:ext cx="8229600" cy="4525963"/>
              </a:xfrm>
              <a:blipFill rotWithShape="1">
                <a:blip r:embed="rId1"/>
                <a:stretch>
                  <a:fillRect t="-11" b="-4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空性</a:t>
            </a:r>
            <a:r>
              <a:rPr lang="en-US" altLang="zh-CN" dirty="0"/>
              <a:t>, </a:t>
            </a:r>
            <a:r>
              <a:rPr lang="zh-CN" altLang="en-US" dirty="0"/>
              <a:t>有穷性和无穷性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08814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（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）证明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必要性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显然成立。充分性：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非空，设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接受的串中长度最小者之一；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必然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| &lt;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否则由泵引理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i="1" dirty="0" err="1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接受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𝑥𝑧</m:t>
                    </m:r>
                  </m:oMath>
                </a14:m>
                <a:r>
                  <a:rPr lang="zh-CN" altLang="en-US" dirty="0"/>
                  <a:t>更短。</a:t>
                </a:r>
                <a:endParaRPr lang="en-US" altLang="zh-CN" dirty="0"/>
              </a:p>
              <a:p>
                <a:r>
                  <a:rPr lang="zh-CN" altLang="en-US" dirty="0"/>
                  <a:t>（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）证明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必要性：由泵引理，显然成立。充分性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无穷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假设没有长度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之间的串</a:t>
                </a:r>
                <a:r>
                  <a:rPr lang="en-AU" altLang="zh-CN" dirty="0"/>
                  <a:t>;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那么取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zh-CN" altLang="en-US" dirty="0"/>
                  <a:t>是长度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≥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中最小者之一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由泵引理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AU" dirty="0"/>
                  <a:t>, 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会接受更短的串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𝑥𝑧</m:t>
                    </m:r>
                  </m:oMath>
                </a14:m>
                <a:r>
                  <a:rPr lang="en-AU" dirty="0"/>
                  <a:t>;</a:t>
                </a:r>
                <a:endParaRPr lang="en-AU" dirty="0"/>
              </a:p>
              <a:p>
                <a:pPr lvl="1"/>
                <a:r>
                  <a:rPr lang="zh-CN" altLang="en-US" dirty="0"/>
                  <a:t>于是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不是长度最小的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或者长度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到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之间有被接受的串</a:t>
                </a:r>
                <a:r>
                  <a:rPr lang="en-US" altLang="zh-CN" dirty="0"/>
                  <a:t>,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因此假设不成立。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08814"/>
                <a:ext cx="8229600" cy="4525963"/>
              </a:xfrm>
              <a:blipFill rotWithShape="1">
                <a:blip r:embed="rId1"/>
                <a:stretch>
                  <a:fillRect t="-8" r="-219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正则语言的等价性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存在算法，判定两个有穷自动机是否等价（接受语言相同）。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是分别接受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的有穷自动机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∩ </m:t>
                    </m:r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∪ (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是正则的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所以可被某个有穷自动机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接受</a:t>
                </a:r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接受某个串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;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由于存在算法判断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是否为空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因此得证。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 rotWithShape="1">
                <a:blip r:embed="rId1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正则语言的泵引理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正则语言的封闭性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正则语言的判定性质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dirty="0"/>
              <a:t>自动机的最小化</a:t>
            </a:r>
            <a:endParaRPr lang="zh-CN" alt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状态的等价性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3121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定义</a:t>
                </a:r>
                <a:r>
                  <a:rPr lang="en-AU" altLang="zh-CN" dirty="0"/>
                  <a:t>: 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zh-CN" altLang="en-US" dirty="0"/>
                  <a:t>中两个状态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altLang="zh-CN" dirty="0"/>
                  <a:t> </a:t>
                </a:r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对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l-GR" altLang="zh-CN" dirty="0"/>
                  <a:t>: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acc>
                        <m:acc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AU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则称这两个状态是等价的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否则称为可区分的。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即，从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开始而被接受的串</a:t>
                </a:r>
                <a:r>
                  <a:rPr lang="en-AU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从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开始也会被接受。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等价性只要求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en-A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同时在或不在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而不必是相同状态。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3121"/>
                <a:ext cx="8229600" cy="4525963"/>
              </a:xfrm>
              <a:blipFill rotWithShape="1">
                <a:blip r:embed="rId1"/>
                <a:stretch>
                  <a:fillRect t="-1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填表算法递归寻找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中全部的可区分状态对</a:t>
                </a:r>
                <a:r>
                  <a:rPr lang="en-AU" altLang="zh-CN" dirty="0"/>
                  <a:t>: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而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是可区分的；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，如果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是可区分的，则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是可区分的。</a:t>
                </a:r>
                <a:endParaRPr lang="en-AU" altLang="zh-CN" dirty="0"/>
              </a:p>
              <a:p>
                <a:pPr lvl="1"/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718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例</a:t>
            </a:r>
            <a:r>
              <a:rPr lang="en-AU" altLang="zh-CN" sz="2400" dirty="0"/>
              <a:t>:</a:t>
            </a:r>
            <a:r>
              <a:rPr lang="zh-CN" altLang="en-US" sz="2400" dirty="0"/>
              <a:t>用填表算法找到如图</a:t>
            </a:r>
            <a:r>
              <a:rPr lang="en-AU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sz="2400" dirty="0"/>
              <a:t>中全部可区分状态对。</a:t>
            </a: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658631"/>
            <a:ext cx="4434556" cy="2094715"/>
          </a:xfrm>
          <a:prstGeom prst="rect">
            <a:avLst/>
          </a:prstGeom>
        </p:spPr>
      </p:pic>
      <p:pic>
        <p:nvPicPr>
          <p:cNvPr id="8" name="Picture 7" descr="Chart, histo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885" y="1585024"/>
            <a:ext cx="2303842" cy="216832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287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用填表算法找到如图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中全部可区分状态对。</a:t>
                </a:r>
                <a:endParaRPr lang="en-AU" altLang="zh-CN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(1)</a:t>
                </a:r>
                <a:r>
                  <a:rPr lang="zh-CN" altLang="en-US" sz="2400" dirty="0"/>
                  <a:t>直接标记终态和非终态之间的状态对</a:t>
                </a:r>
                <a:r>
                  <a:rPr lang="en-AU" altLang="zh-CN" sz="2400" dirty="0"/>
                  <a:t>: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AU" sz="2400" i="1" dirty="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2877"/>
                <a:ext cx="8229600" cy="4525963"/>
              </a:xfrm>
              <a:blipFill rotWithShape="1">
                <a:blip r:embed="rId1"/>
                <a:stretch>
                  <a:fillRect t="-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754319"/>
            <a:ext cx="4434556" cy="2094715"/>
          </a:xfrm>
          <a:prstGeom prst="rect">
            <a:avLst/>
          </a:prstGeom>
        </p:spPr>
      </p:pic>
      <p:pic>
        <p:nvPicPr>
          <p:cNvPr id="7" name="Picture 6" descr="A picture containing text, crossword puzzle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0" y="1657294"/>
            <a:ext cx="2202127" cy="21917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9715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用填表算法找到如图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中全部可区分状态对。</a:t>
                </a:r>
                <a:endParaRPr lang="en-AU" altLang="zh-CN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(2)</a:t>
                </a:r>
                <a:r>
                  <a:rPr lang="zh-CN" altLang="en-US" sz="2400" dirty="0"/>
                  <a:t> 标记所有经过字符</a:t>
                </a:r>
                <a:r>
                  <a:rPr lang="en-AU" altLang="zh-CN" sz="2400" dirty="0"/>
                  <a:t>0</a:t>
                </a:r>
                <a:r>
                  <a:rPr lang="zh-CN" altLang="en-US" sz="2400" dirty="0"/>
                  <a:t>到达终态和非终态的状态对</a:t>
                </a:r>
                <a:r>
                  <a:rPr lang="en-AU" altLang="zh-CN" sz="2400" dirty="0"/>
                  <a:t>: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AU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9715"/>
                <a:ext cx="8229600" cy="4525963"/>
              </a:xfrm>
              <a:blipFill rotWithShape="1">
                <a:blip r:embed="rId1"/>
                <a:stretch>
                  <a:fillRect t="-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701157"/>
            <a:ext cx="4434556" cy="2094715"/>
          </a:xfrm>
          <a:prstGeom prst="rect">
            <a:avLst/>
          </a:prstGeom>
        </p:spPr>
      </p:pic>
      <p:pic>
        <p:nvPicPr>
          <p:cNvPr id="7" name="Picture 6" descr="A picture containing text, crossword puzzle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530" y="1565654"/>
            <a:ext cx="2511820" cy="236571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47301"/>
                <a:ext cx="8229600" cy="605524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用填表算法找到如图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中全部可区分状态对。</a:t>
                </a:r>
                <a:endParaRPr lang="en-AU" altLang="zh-CN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(3)</a:t>
                </a:r>
                <a:r>
                  <a:rPr lang="zh-CN" altLang="en-US" sz="2400" dirty="0"/>
                  <a:t> 标记所有经过字符</a:t>
                </a:r>
                <a:r>
                  <a:rPr lang="en-AU" altLang="zh-CN" sz="2400" dirty="0"/>
                  <a:t>1</a:t>
                </a:r>
                <a:r>
                  <a:rPr lang="zh-CN" altLang="en-US" sz="2400" dirty="0"/>
                  <a:t>到达终态和非终态的状态对</a:t>
                </a:r>
                <a:r>
                  <a:rPr lang="en-AU" altLang="zh-CN" sz="2400" dirty="0"/>
                  <a:t>: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AU" sz="2400" i="1" dirty="0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47301"/>
                <a:ext cx="8229600" cy="6055248"/>
              </a:xfrm>
              <a:blipFill rotWithShape="1">
                <a:blip r:embed="rId1"/>
                <a:stretch>
                  <a:fillRect t="-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828743"/>
            <a:ext cx="4434556" cy="2094715"/>
          </a:xfrm>
          <a:prstGeom prst="rect">
            <a:avLst/>
          </a:prstGeom>
        </p:spPr>
      </p:pic>
      <p:pic>
        <p:nvPicPr>
          <p:cNvPr id="7" name="Picture 6" descr="A picture containing text, crossword puzzle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95" y="1828743"/>
            <a:ext cx="2547399" cy="2493957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8564"/>
                <a:ext cx="8229600" cy="542792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用填表算法找到如图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中全部可区分状态对。</a:t>
                </a:r>
                <a:endParaRPr lang="en-AU" altLang="zh-CN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(4)</a:t>
                </a:r>
                <a:r>
                  <a:rPr lang="zh-CN" altLang="en-US" sz="2400" dirty="0"/>
                  <a:t>此时还有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未标记，只需逐个检查。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sz="2400" dirty="0"/>
                  <a:t>	</a:t>
                </a: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8564"/>
                <a:ext cx="8229600" cy="5427929"/>
              </a:xfrm>
              <a:blipFill rotWithShape="1">
                <a:blip r:embed="rId1"/>
                <a:stretch>
                  <a:fillRect t="-9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850006"/>
            <a:ext cx="4434556" cy="2094715"/>
          </a:xfrm>
          <a:prstGeom prst="rect">
            <a:avLst/>
          </a:prstGeom>
        </p:spPr>
      </p:pic>
      <p:pic>
        <p:nvPicPr>
          <p:cNvPr id="7" name="Picture 6" descr="A picture containing text, crossword puzzle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96" y="1850007"/>
            <a:ext cx="2375220" cy="232539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457"/>
                <a:ext cx="8229600" cy="538750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用填表算法找到如图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中全部可区分状态对。</a:t>
                </a:r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(4)</a:t>
                </a:r>
                <a:r>
                  <a:rPr lang="zh-CN" altLang="en-US" sz="2400" dirty="0"/>
                  <a:t>此时还有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altLang="zh-CN" sz="240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 [</m:t>
                    </m:r>
                    <m:r>
                      <a:rPr lang="en-AU" altLang="zh-CN" sz="240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sz="240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solidFill>
                          <a:srgbClr val="00FF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未标记，只需逐个检查。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altLang="zh-CN" sz="2400" dirty="0"/>
                  <a:t> -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是可区分的，因为经串</a:t>
                </a:r>
                <a:r>
                  <a:rPr lang="en-AU" altLang="zh-CN" sz="2400" dirty="0"/>
                  <a:t>0</a:t>
                </a:r>
                <a:r>
                  <a:rPr lang="zh-CN" altLang="en-US" sz="2400" dirty="0"/>
                  <a:t>到可区分的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AU" altLang="zh-CN" sz="2400" dirty="0"/>
                  <a:t>	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altLang="zh-CN" sz="2400" dirty="0"/>
                  <a:t> -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是可区分的，因为经串</a:t>
                </a:r>
                <a:r>
                  <a:rPr lang="en-AU" altLang="zh-CN" sz="2400" dirty="0"/>
                  <a:t>0</a:t>
                </a:r>
                <a:r>
                  <a:rPr lang="zh-CN" altLang="en-US" sz="2400" dirty="0"/>
                  <a:t>到可区分的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AU" altLang="zh-CN" sz="2400" dirty="0"/>
                  <a:t>	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457"/>
                <a:ext cx="8229600" cy="5387506"/>
              </a:xfrm>
              <a:blipFill rotWithShape="1">
                <a:blip r:embed="rId1"/>
                <a:stretch>
                  <a:fillRect t="-5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796849"/>
            <a:ext cx="4434556" cy="2094715"/>
          </a:xfrm>
          <a:prstGeom prst="rect">
            <a:avLst/>
          </a:prstGeom>
        </p:spPr>
      </p:pic>
      <p:pic>
        <p:nvPicPr>
          <p:cNvPr id="8" name="Picture 7" descr="A picture containing text, crossword puzzle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753" y="1597728"/>
            <a:ext cx="2223506" cy="2293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填表算法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47305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用填表算法找到如图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中全部可区分状态对。</a:t>
                </a:r>
                <a:endParaRPr lang="en-AU" altLang="zh-CN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(5</a:t>
                </a:r>
                <a:r>
                  <a:rPr lang="zh-CN" altLang="en-US" sz="2400" dirty="0"/>
                  <a:t>）而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],[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],[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在经过很短的字符串后，都会到达相同状态，因此都是等价的。 </a:t>
                </a:r>
                <a:r>
                  <a:rPr lang="en-AU" sz="2400" dirty="0"/>
                  <a:t>	</a:t>
                </a:r>
                <a:endParaRPr lang="en-AU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47305"/>
                <a:ext cx="8229600" cy="4525963"/>
              </a:xfrm>
              <a:blipFill rotWithShape="1">
                <a:blip r:embed="rId1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6" name="Picture 5" descr="Diagram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06" y="1828747"/>
            <a:ext cx="4434556" cy="2094715"/>
          </a:xfrm>
          <a:prstGeom prst="rect">
            <a:avLst/>
          </a:prstGeom>
        </p:spPr>
      </p:pic>
      <p:pic>
        <p:nvPicPr>
          <p:cNvPr id="8" name="Picture 7" descr="A picture containing text, crossword puzzle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753" y="1629626"/>
            <a:ext cx="2223506" cy="2293836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/>
              <a:t>最小化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5717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根据填表算法取得的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 A</a:t>
                </a:r>
                <a:r>
                  <a:rPr lang="zh-CN" altLang="en-US" sz="2400" dirty="0"/>
                  <a:t>状态间等价性，将状态集进行划分，得到不同的块；利用块构造新的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的开始状态为包含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初始状态的块，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的接受状态为包含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的接受状态的块，转移函数为块之间的转移；则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的最小化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/>
                  <a:t>续上例，构造其最小化的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（注意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不能使用同样的方法最小化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AU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AU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AU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5717"/>
                <a:ext cx="8229600" cy="4525963"/>
              </a:xfrm>
              <a:blipFill rotWithShape="1">
                <a:blip r:embed="rId1"/>
                <a:stretch>
                  <a:fillRect t="-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  <p:pic>
        <p:nvPicPr>
          <p:cNvPr id="12" name="Picture 11" descr="Diagram, schematic&#10;&#10;Description automatically generated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25983"/>
            <a:ext cx="3947330" cy="2034465"/>
          </a:xfrm>
          <a:prstGeom prst="rect">
            <a:avLst/>
          </a:prstGeom>
        </p:spPr>
      </p:pic>
      <p:pic>
        <p:nvPicPr>
          <p:cNvPr id="14" name="Picture 13" descr="Diagram&#10;&#10;Description automatically generated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766" y="4184572"/>
            <a:ext cx="4095446" cy="1754443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正则语言的泵引理。</a:t>
            </a:r>
            <a:endParaRPr lang="zh-CN" altLang="en-US" dirty="0"/>
          </a:p>
          <a:p>
            <a:r>
              <a:rPr lang="zh-CN" altLang="en-US" dirty="0"/>
              <a:t>正则语言对有关运算的封闭性。</a:t>
            </a:r>
            <a:endParaRPr lang="en-US" altLang="zh-CN" dirty="0"/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在并、乘、闭包、补、交、同态映射运算下是有效封闭的。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的同态原像是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AU" altLang="zh-CN" dirty="0"/>
          </a:p>
          <a:p>
            <a:r>
              <a:rPr lang="zh-CN" altLang="en-US" dirty="0"/>
              <a:t>状态等价性和最小化</a:t>
            </a:r>
            <a:r>
              <a:rPr kumimoji="0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302BF-F5C5-4977-B83E-E7F92D1EBB70}" type="slidenum">
              <a:rPr lang="en-AU" smtClean="0"/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ShortAnswer"/>
</p:tagLst>
</file>

<file path=ppt/tags/tag3.xml><?xml version="1.0" encoding="utf-8"?>
<p:tagLst xmlns:p="http://schemas.openxmlformats.org/presentationml/2006/main">
  <p:tag name="RAINPROBLEMTYPE" val="ProblemTypeMark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" val="ProblemSetting"/>
  <p:tag name="RAINPROBLEMTYPE" val="ShortAnswer"/>
</p:tagLst>
</file>

<file path=ppt/tags/tag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0.xml><?xml version="1.0" encoding="utf-8"?>
<p:tagLst xmlns:p="http://schemas.openxmlformats.org/presentationml/2006/main">
  <p:tag name="RAINPROBLEM" val="ProblemBody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ShortAnsw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ShortAnswer"/>
</p:tagLst>
</file>

<file path=ppt/tags/tag1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Submit"/>
  <p:tag name="RAINPROBLEMTYPE" val="ShortAnsw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" val="ProblemSetting"/>
  <p:tag name="RAINPROBLEMTYPE" val="ShortAnswer"/>
</p:tagLst>
</file>

<file path=ppt/tags/tag29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30.xml><?xml version="1.0" encoding="utf-8"?>
<p:tagLst xmlns:p="http://schemas.openxmlformats.org/presentationml/2006/main">
  <p:tag name="RAINPROBLEM" val="ProblemBody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p="http://schemas.openxmlformats.org/presentationml/2006/main">
  <p:tag name="RAINPROBLEM" val="ProblemSubmit"/>
  <p:tag name="RAINPROBLEMTYPE" val="MultipleChoice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" val="ProblemSetting"/>
  <p:tag name="RAINPROBLEMTYPE" val="MultipleChoice"/>
</p:tagLst>
</file>

<file path=ppt/tags/tag42.xml><?xml version="1.0" encoding="utf-8"?>
<p:tagLst xmlns:p="http://schemas.openxmlformats.org/presentationml/2006/main">
  <p:tag name="RAINPROBLEM" val="MultipleChoice"/>
  <p:tag name="PROBLEMSCORE" val="1.0"/>
</p:tagLst>
</file>

<file path=ppt/tags/tag43.xml><?xml version="1.0" encoding="utf-8"?>
<p:tagLst xmlns:p="http://schemas.openxmlformats.org/presentationml/2006/main">
  <p:tag name="RAINPROBLEM" val="ProblemBody"/>
</p:tagLst>
</file>

<file path=ppt/tags/tag44.xml><?xml version="1.0" encoding="utf-8"?>
<p:tagLst xmlns:p="http://schemas.openxmlformats.org/presentationml/2006/main">
  <p:tag name="RAINPROBLEM" val="ProblemBody"/>
</p:tagLst>
</file>

<file path=ppt/tags/tag45.xml><?xml version="1.0" encoding="utf-8"?>
<p:tagLst xmlns:p="http://schemas.openxmlformats.org/presentationml/2006/main">
  <p:tag name="RAINPROBLEM" val="ProblemSubmit"/>
  <p:tag name="RAINPROBLEMTYPE" val="ShortAnsw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ShortAnswer"/>
</p:tagLst>
</file>

<file path=ppt/tags/tag5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Submit"/>
  <p:tag name="RAINPROBLEMTYPE" val="ShortAnsw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" val="ProblemSetting"/>
  <p:tag name="RAINPROBLEMTYPE" val="ShortAnswer"/>
</p:tagLst>
</file>

<file path=ppt/tags/tag61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62.xml><?xml version="1.0" encoding="utf-8"?>
<p:tagLst xmlns:p="http://schemas.openxmlformats.org/presentationml/2006/main">
  <p:tag name="RAINPROBLEM" val="ProblemBody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Item"/>
</p:tagLst>
</file>

<file path=ppt/tags/tag6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8.xml><?xml version="1.0" encoding="utf-8"?>
<p:tagLst xmlns:p="http://schemas.openxmlformats.org/presentationml/2006/main">
  <p:tag name="RAINPROBLEM" val="ProblemSubmit"/>
  <p:tag name="RAINPROBLEMTYPE" val="MultipleChoice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" val="ProblemSetting"/>
  <p:tag name="RAINPROBLEMTYPE" val="MultipleChoice"/>
</p:tagLst>
</file>

<file path=ppt/tags/tag75.xml><?xml version="1.0" encoding="utf-8"?>
<p:tagLst xmlns:p="http://schemas.openxmlformats.org/presentationml/2006/main">
  <p:tag name="RAINPROBLEM" val="MultipleChoice"/>
  <p:tag name="PROBLEMSCORE" val="1.0"/>
</p:tagLst>
</file>

<file path=ppt/tags/tag76.xml><?xml version="1.0" encoding="utf-8"?>
<p:tagLst xmlns:p="http://schemas.openxmlformats.org/presentationml/2006/main">
  <p:tag name="RAINPROBLEM" val="ProblemBody"/>
  <p:tag name="KSO_WM_BEAUTIFY_FLAG" val=""/>
</p:tagLst>
</file>

<file path=ppt/tags/tag77.xml><?xml version="1.0" encoding="utf-8"?>
<p:tagLst xmlns:p="http://schemas.openxmlformats.org/presentationml/2006/main">
  <p:tag name="RAINPROBLEM" val="ProblemBody"/>
  <p:tag name="KSO_WM_BEAUTIFY_FLAG" val=""/>
</p:tagLst>
</file>

<file path=ppt/tags/tag78.xml><?xml version="1.0" encoding="utf-8"?>
<p:tagLst xmlns:p="http://schemas.openxmlformats.org/presentationml/2006/main">
  <p:tag name="RAINPROBLEM" val="ProblemBody"/>
</p:tagLst>
</file>

<file path=ppt/tags/tag79.xml><?xml version="1.0" encoding="utf-8"?>
<p:tagLst xmlns:p="http://schemas.openxmlformats.org/presentationml/2006/main">
  <p:tag name="RAINPROBLEM" val="ProblemBody"/>
</p:tagLst>
</file>

<file path=ppt/tags/tag80.xml><?xml version="1.0" encoding="utf-8"?>
<p:tagLst xmlns:p="http://schemas.openxmlformats.org/presentationml/2006/main">
  <p:tag name="RAINPROBLEM" val="ProblemSubmit"/>
  <p:tag name="RAINPROBLEMTYPE" val="FillBlank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" val="ProblemSetting"/>
  <p:tag name="RAINPROBLEMTYPE" val="FillBlank"/>
</p:tagLst>
</file>

<file path=ppt/tags/tag87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𝑎𝑏𝑎𝑏&quot;],&quot;CaseSensitive&quot;:false,&quot;FuzzyMatch&quot;:false},{&quot;Num&quot;:2,&quot;Score&quot;:1.0,&quot;Answers&quot;:[&quot;(ab)*&quot;],&quot;CaseSensitive&quot;:false,&quot;FuzzyMatch&quot;:false}]"/>
</p:tagLst>
</file>

<file path=ppt/tags/tag88.xml><?xml version="1.0" encoding="utf-8"?>
<p:tagLst xmlns:p="http://schemas.openxmlformats.org/presentationml/2006/main">
  <p:tag name="KSO_WPP_MARK_KEY" val="1a376022-f34e-4edd-9497-fa834ca00fcf"/>
  <p:tag name="COMMONDATA" val="eyJoZGlkIjoiYTc2ZGZiNzZiNDVlOGViOWVmM2JhOTY0NGJkNjUyYz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12614</Words>
  <Application>WPS 演示</Application>
  <PresentationFormat>全屏显示(4:3)</PresentationFormat>
  <Paragraphs>1046</Paragraphs>
  <Slides>86</Slides>
  <Notes>37</Notes>
  <HiddenSlides>2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112" baseType="lpstr">
      <vt:lpstr>Arial</vt:lpstr>
      <vt:lpstr>宋体</vt:lpstr>
      <vt:lpstr>Wingdings</vt:lpstr>
      <vt:lpstr>黑体</vt:lpstr>
      <vt:lpstr>楷体</vt:lpstr>
      <vt:lpstr>Times New Roman</vt:lpstr>
      <vt:lpstr>微软雅黑</vt:lpstr>
      <vt:lpstr>Comic Sans MS</vt:lpstr>
      <vt:lpstr>Cambria Math</vt:lpstr>
      <vt:lpstr>MS Mincho</vt:lpstr>
      <vt:lpstr>仓耳舒圆体 W03</vt:lpstr>
      <vt:lpstr>Calibri</vt:lpstr>
      <vt:lpstr>Arial Unicode MS</vt:lpstr>
      <vt:lpstr>等线</vt:lpstr>
      <vt:lpstr>Times New Roman</vt:lpstr>
      <vt:lpstr>Cambria Math</vt:lpstr>
      <vt:lpstr>Symbol</vt:lpstr>
      <vt:lpstr>PMingLiU</vt:lpstr>
      <vt:lpstr>ksdb</vt:lpstr>
      <vt:lpstr>MS Mincho</vt:lpstr>
      <vt:lpstr>Symbol</vt:lpstr>
      <vt:lpstr>Wingdings</vt:lpstr>
      <vt:lpstr>Ms.Luce</vt:lpstr>
      <vt:lpstr>Office 主题</vt:lpstr>
      <vt:lpstr>1_Office 主题</vt:lpstr>
      <vt:lpstr>Visio.Drawing.11</vt:lpstr>
      <vt:lpstr>正则语言的性质</vt:lpstr>
      <vt:lpstr>问题：Regular or Nonregular</vt:lpstr>
      <vt:lpstr>主要内容</vt:lpstr>
      <vt:lpstr>主要内容</vt:lpstr>
      <vt:lpstr>正则语言的证明</vt:lpstr>
      <vt:lpstr>鸽巢原理</vt:lpstr>
      <vt:lpstr>鸽巢原理</vt:lpstr>
      <vt:lpstr>鸽巢原理</vt:lpstr>
      <vt:lpstr>正则语言的泵引理</vt:lpstr>
      <vt:lpstr>泵引理的证明</vt:lpstr>
      <vt:lpstr>泵引理的证明</vt:lpstr>
      <vt:lpstr>泵引理的证明</vt:lpstr>
      <vt:lpstr>泵引理的证明</vt:lpstr>
      <vt:lpstr>泵引理的解释</vt:lpstr>
      <vt:lpstr>泵引理的解释</vt:lpstr>
      <vt:lpstr>泵引理的应用示例</vt:lpstr>
      <vt:lpstr>泵引理的应用示例</vt:lpstr>
      <vt:lpstr>泵引理的应用示例</vt:lpstr>
      <vt:lpstr>泵引理的应用示例</vt:lpstr>
      <vt:lpstr>PowerPoint 演示文稿</vt:lpstr>
      <vt:lpstr>泵引理的应用示例</vt:lpstr>
      <vt:lpstr>泵引理的应用示例</vt:lpstr>
      <vt:lpstr>PowerPoint 演示文稿</vt:lpstr>
      <vt:lpstr>泵引理的应用示例</vt:lpstr>
      <vt:lpstr>泵引理的应用示例</vt:lpstr>
      <vt:lpstr>泵引理的应用示例</vt:lpstr>
      <vt:lpstr>PowerPoint 演示文稿</vt:lpstr>
      <vt:lpstr>泵引理的应用示例</vt:lpstr>
      <vt:lpstr>泵引理的应用示例</vt:lpstr>
      <vt:lpstr>PowerPoint 演示文稿</vt:lpstr>
      <vt:lpstr>泵引理的应用示例</vt:lpstr>
      <vt:lpstr>泵引理的应用示例</vt:lpstr>
      <vt:lpstr>主要内容</vt:lpstr>
      <vt:lpstr>正则语言的封闭性</vt:lpstr>
      <vt:lpstr>并/连接/闭包的封闭性</vt:lpstr>
      <vt:lpstr>PowerPoint 演示文稿</vt:lpstr>
      <vt:lpstr>补运算封闭性</vt:lpstr>
      <vt:lpstr>PowerPoint 演示文稿</vt:lpstr>
      <vt:lpstr>补运算封闭性应用示例</vt:lpstr>
      <vt:lpstr>交运算的封闭性</vt:lpstr>
      <vt:lpstr>交运算的封闭性</vt:lpstr>
      <vt:lpstr>交运算的封闭性</vt:lpstr>
      <vt:lpstr>交运算的封闭性</vt:lpstr>
      <vt:lpstr>交运算的封闭性</vt:lpstr>
      <vt:lpstr>交运算的封闭性</vt:lpstr>
      <vt:lpstr>交运算的封闭性</vt:lpstr>
      <vt:lpstr>PowerPoint 演示文稿</vt:lpstr>
      <vt:lpstr>交运算的封闭性</vt:lpstr>
      <vt:lpstr>交运算的封闭性</vt:lpstr>
      <vt:lpstr>正则语言的泵引理(回顾)</vt:lpstr>
      <vt:lpstr>差运算封闭性</vt:lpstr>
      <vt:lpstr>反转运算的封闭性</vt:lpstr>
      <vt:lpstr>反转运算的封闭性</vt:lpstr>
      <vt:lpstr>反转运算的封闭性</vt:lpstr>
      <vt:lpstr>反转运算的封闭性</vt:lpstr>
      <vt:lpstr>同态</vt:lpstr>
      <vt:lpstr>PowerPoint 演示文稿</vt:lpstr>
      <vt:lpstr>同态</vt:lpstr>
      <vt:lpstr>同态的封闭性</vt:lpstr>
      <vt:lpstr>同态的封闭性</vt:lpstr>
      <vt:lpstr>同态的封闭性</vt:lpstr>
      <vt:lpstr>同态的封闭性</vt:lpstr>
      <vt:lpstr>逆同态定义</vt:lpstr>
      <vt:lpstr>逆同态的封闭性</vt:lpstr>
      <vt:lpstr>逆同态的封闭性</vt:lpstr>
      <vt:lpstr>逆同态的封闭性</vt:lpstr>
      <vt:lpstr>逆同态的封闭性</vt:lpstr>
      <vt:lpstr>逆同态的封闭性</vt:lpstr>
      <vt:lpstr>逆同态的封闭性</vt:lpstr>
      <vt:lpstr>主要内容</vt:lpstr>
      <vt:lpstr>正则语言的判定性质</vt:lpstr>
      <vt:lpstr>空性, 有穷性和无穷性</vt:lpstr>
      <vt:lpstr>空性, 有穷性和无穷性</vt:lpstr>
      <vt:lpstr>正则语言的等价性</vt:lpstr>
      <vt:lpstr>主要内容</vt:lpstr>
      <vt:lpstr>状态的等价性</vt:lpstr>
      <vt:lpstr>填表算法</vt:lpstr>
      <vt:lpstr>填表算法</vt:lpstr>
      <vt:lpstr>填表算法</vt:lpstr>
      <vt:lpstr>填表算法</vt:lpstr>
      <vt:lpstr>填表算法</vt:lpstr>
      <vt:lpstr>填表算法</vt:lpstr>
      <vt:lpstr>填表算法</vt:lpstr>
      <vt:lpstr>填表算法</vt:lpstr>
      <vt:lpstr>DFA最小化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Yifeng</dc:creator>
  <cp:lastModifiedBy>汤步洲-哈工大（深圳）</cp:lastModifiedBy>
  <cp:revision>435</cp:revision>
  <dcterms:created xsi:type="dcterms:W3CDTF">2021-05-27T11:40:00Z</dcterms:created>
  <dcterms:modified xsi:type="dcterms:W3CDTF">2026-03-26T15:28:25Z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A5AA8C23BB5240999CB61D1686333A14</vt:lpwstr>
  </property>
  <property fmtid="{D5CDD505-2E9C-101B-9397-08002B2CF9AE}" pid="3" name="KSOProductBuildVer">
    <vt:lpwstr>2052-12.1.0.25225</vt:lpwstr>
  </property>
</Properties>
</file>