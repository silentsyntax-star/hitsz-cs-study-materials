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7"/>
    <p:restoredTop sz="94694"/>
  </p:normalViewPr>
  <p:slideViewPr>
    <p:cSldViewPr snapToGrid="0">
      <p:cViewPr varScale="1">
        <p:scale>
          <a:sx n="101" d="100"/>
          <a:sy n="101" d="100"/>
        </p:scale>
        <p:origin x="218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1.png"/><Relationship Id="rId5" Type="http://schemas.openxmlformats.org/officeDocument/2006/relationships/tags" Target="../tags/tag1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6.xml"/><Relationship Id="rId9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1.png"/><Relationship Id="rId5" Type="http://schemas.openxmlformats.org/officeDocument/2006/relationships/tags" Target="../tags/tag2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5.xml"/><Relationship Id="rId9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1.png"/><Relationship Id="rId5" Type="http://schemas.openxmlformats.org/officeDocument/2006/relationships/tags" Target="../tags/tag3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1.png"/><Relationship Id="rId5" Type="http://schemas.openxmlformats.org/officeDocument/2006/relationships/tags" Target="../tags/tag4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计算机网络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次作业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48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09769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1600" dirty="0"/>
              <a:t>1.</a:t>
            </a:r>
            <a:r>
              <a:rPr lang="zh-CN" altLang="en-US" sz="1600" dirty="0"/>
              <a:t>（</a:t>
            </a:r>
            <a:r>
              <a:rPr lang="en-US" altLang="zh-CN" sz="1600" dirty="0"/>
              <a:t>12</a:t>
            </a:r>
            <a:r>
              <a:rPr lang="zh-CN" altLang="en-US" sz="1600" dirty="0"/>
              <a:t>分） 主机甲通过</a:t>
            </a:r>
            <a:r>
              <a:rPr lang="en-US" altLang="zh-CN" sz="1600" dirty="0"/>
              <a:t>2</a:t>
            </a:r>
            <a:r>
              <a:rPr lang="zh-CN" altLang="en-US" sz="1600" dirty="0"/>
              <a:t>个路由器（存储转发方式）与主机乙互连，三段链路的数据传输速率均为</a:t>
            </a:r>
            <a:r>
              <a:rPr lang="en-US" altLang="zh-CN" sz="1600" dirty="0"/>
              <a:t>24</a:t>
            </a:r>
            <a:r>
              <a:rPr lang="en-GB" altLang="zh-CN" sz="1600" dirty="0"/>
              <a:t>Mb/s</a:t>
            </a:r>
            <a:r>
              <a:rPr lang="zh-CN" altLang="en-GB" sz="1600" dirty="0"/>
              <a:t>，</a:t>
            </a:r>
            <a:r>
              <a:rPr lang="zh-CN" altLang="en-US" sz="1600" dirty="0"/>
              <a:t>主机甲分别采用报文交换和分组大小为</a:t>
            </a:r>
            <a:r>
              <a:rPr lang="en-US" altLang="zh-CN" sz="1600" dirty="0"/>
              <a:t>12</a:t>
            </a:r>
            <a:r>
              <a:rPr lang="en-GB" altLang="zh-CN" sz="1600" dirty="0"/>
              <a:t>kb</a:t>
            </a:r>
            <a:r>
              <a:rPr lang="zh-CN" altLang="en-US" sz="1600" dirty="0"/>
              <a:t>的分组交换向主机乙发送一个大小为</a:t>
            </a:r>
            <a:r>
              <a:rPr lang="en-US" altLang="zh-CN" sz="1600" dirty="0"/>
              <a:t>9.6</a:t>
            </a:r>
            <a:r>
              <a:rPr lang="en-GB" altLang="zh-CN" sz="1600" dirty="0"/>
              <a:t>Mb</a:t>
            </a:r>
            <a:r>
              <a:rPr lang="zh-CN" altLang="en-US" sz="1600" dirty="0"/>
              <a:t>的报文。若忽略链路传播延迟、分组头开销和分组拆装时间，则两种交换方式完成该报文传输所需的总时间分别是多少？</a:t>
            </a:r>
            <a:endParaRPr lang="zh-CN" altLang="zh-CN" sz="3200" dirty="0">
              <a:effectLst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751553" y="1721593"/>
            <a:ext cx="6638979" cy="51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482491" y="1364681"/>
            <a:ext cx="4572000" cy="286301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zh-CN" altLang="en-US" sz="1600" b="1" dirty="0"/>
              <a:t>  </a:t>
            </a:r>
            <a:r>
              <a:rPr lang="en-US" altLang="zh-CN" sz="1600" b="1" dirty="0"/>
              <a:t>(</a:t>
            </a:r>
            <a:r>
              <a:rPr lang="zh-CN" altLang="en-US" sz="1600" b="1" dirty="0"/>
              <a:t>注：</a:t>
            </a:r>
            <a:r>
              <a:rPr lang="en-US" altLang="zh-CN" sz="1600" b="1" dirty="0"/>
              <a:t> 1k=10</a:t>
            </a:r>
            <a:r>
              <a:rPr lang="en-US" altLang="zh-CN" sz="1600" b="1" baseline="30000" dirty="0"/>
              <a:t>3</a:t>
            </a:r>
            <a:r>
              <a:rPr lang="en-US" altLang="zh-CN" sz="1600" b="1" dirty="0"/>
              <a:t>, 1M=10</a:t>
            </a:r>
            <a:r>
              <a:rPr lang="en-US" altLang="zh-CN" sz="1600" b="1" baseline="30000" dirty="0"/>
              <a:t>6</a:t>
            </a:r>
            <a:r>
              <a:rPr lang="en-US" altLang="zh-CN" sz="1600" b="1" dirty="0"/>
              <a:t>)</a:t>
            </a:r>
            <a:endParaRPr lang="zh-CN" altLang="en-US" sz="1600" dirty="0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364691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1600" dirty="0"/>
              <a:t>2.</a:t>
            </a:r>
            <a:r>
              <a:rPr lang="zh-CN" altLang="en-US" sz="1600" dirty="0"/>
              <a:t>（</a:t>
            </a:r>
            <a:r>
              <a:rPr lang="en-US" altLang="zh-CN" sz="1600" dirty="0"/>
              <a:t>10</a:t>
            </a:r>
            <a:r>
              <a:rPr lang="zh-CN" altLang="en-US" sz="1600" dirty="0"/>
              <a:t>分）假定地面站与一颗深空探测器之间建立一条</a:t>
            </a:r>
            <a:r>
              <a:rPr lang="en-US" altLang="zh-CN" sz="1600" dirty="0"/>
              <a:t>50</a:t>
            </a:r>
            <a:r>
              <a:rPr lang="en-GB" altLang="zh-CN" sz="1600" dirty="0"/>
              <a:t>Mb/s</a:t>
            </a:r>
            <a:r>
              <a:rPr lang="zh-CN" altLang="en-US" sz="1600" dirty="0"/>
              <a:t>的链路。探测器距离地球约为</a:t>
            </a:r>
            <a:r>
              <a:rPr lang="en-US" sz="1600" dirty="0"/>
              <a:t>2.25</a:t>
            </a:r>
            <a:r>
              <a:rPr lang="zh-CN" altLang="en-US" sz="1600" dirty="0"/>
              <a:t>×</a:t>
            </a:r>
            <a:r>
              <a:rPr lang="en-US" altLang="zh-CN" sz="1600" dirty="0"/>
              <a:t>10</a:t>
            </a:r>
            <a:r>
              <a:rPr lang="en-US" altLang="zh-CN" sz="1600" baseline="30000" dirty="0"/>
              <a:t>8</a:t>
            </a:r>
            <a:r>
              <a:rPr lang="en-US" altLang="zh-CN" sz="1600" dirty="0"/>
              <a:t>km</a:t>
            </a:r>
            <a:r>
              <a:rPr lang="zh-CN" altLang="en-US" sz="1600" dirty="0"/>
              <a:t>，信号传播速度为</a:t>
            </a:r>
            <a:r>
              <a:rPr lang="en-US" altLang="zh-CN" sz="1600" dirty="0"/>
              <a:t>3</a:t>
            </a:r>
            <a:r>
              <a:rPr lang="zh-CN" altLang="en-US" sz="1600" dirty="0"/>
              <a:t>×</a:t>
            </a:r>
            <a:r>
              <a:rPr lang="en-US" altLang="zh-CN" sz="1600" dirty="0"/>
              <a:t>10</a:t>
            </a:r>
            <a:r>
              <a:rPr lang="en-US" altLang="zh-CN" sz="1600" baseline="30000" dirty="0"/>
              <a:t>8</a:t>
            </a:r>
            <a:r>
              <a:rPr lang="en-US" altLang="zh-CN" sz="1600" dirty="0"/>
              <a:t> m/s</a:t>
            </a:r>
            <a:r>
              <a:rPr lang="zh-CN" altLang="en-US" sz="1600" dirty="0"/>
              <a:t>。请回答以下问题：</a:t>
            </a:r>
          </a:p>
          <a:p>
            <a:pPr algn="just"/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）计算该链路的最小</a:t>
            </a:r>
            <a:r>
              <a:rPr lang="en-GB" altLang="zh-CN" sz="1600" dirty="0"/>
              <a:t>RTT</a:t>
            </a:r>
            <a:r>
              <a:rPr lang="zh-CN" altLang="en-GB" sz="1600" dirty="0"/>
              <a:t>。</a:t>
            </a:r>
          </a:p>
          <a:p>
            <a:pPr algn="just"/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）以</a:t>
            </a:r>
            <a:r>
              <a:rPr lang="en-GB" altLang="zh-CN" sz="1600" dirty="0"/>
              <a:t>RTT</a:t>
            </a:r>
            <a:r>
              <a:rPr lang="zh-CN" altLang="en-US" sz="1600" dirty="0"/>
              <a:t>作为延迟，计算该链路的“延迟</a:t>
            </a:r>
            <a:r>
              <a:rPr lang="en-US" altLang="zh-CN" sz="1600" dirty="0"/>
              <a:t>×</a:t>
            </a:r>
            <a:r>
              <a:rPr lang="zh-CN" altLang="en-US" sz="1600" dirty="0"/>
              <a:t>带宽”值。</a:t>
            </a:r>
          </a:p>
          <a:p>
            <a:pPr algn="just"/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）说明（</a:t>
            </a:r>
            <a:r>
              <a:rPr lang="en-US" altLang="zh-CN" sz="1600" dirty="0"/>
              <a:t>2</a:t>
            </a:r>
            <a:r>
              <a:rPr lang="zh-CN" altLang="en-US" sz="1600" dirty="0"/>
              <a:t>）中计算的“延迟</a:t>
            </a:r>
            <a:r>
              <a:rPr lang="en-US" altLang="zh-CN" sz="1600" dirty="0"/>
              <a:t>×</a:t>
            </a:r>
            <a:r>
              <a:rPr lang="zh-CN" altLang="en-US" sz="1600" dirty="0"/>
              <a:t>带宽”值的含义。</a:t>
            </a:r>
          </a:p>
          <a:p>
            <a:pPr algn="just"/>
            <a:r>
              <a:rPr lang="zh-CN" altLang="en-US" sz="1600" dirty="0"/>
              <a:t>（</a:t>
            </a:r>
            <a:r>
              <a:rPr lang="en-US" altLang="zh-CN" sz="1600" dirty="0"/>
              <a:t>4</a:t>
            </a:r>
            <a:r>
              <a:rPr lang="zh-CN" altLang="en-US" sz="1600" dirty="0"/>
              <a:t>）假设地面站发出请求后，探测器立即返回一个大小为</a:t>
            </a:r>
            <a:r>
              <a:rPr lang="en-US" altLang="zh-CN" sz="1600" dirty="0"/>
              <a:t>500MB</a:t>
            </a:r>
            <a:r>
              <a:rPr lang="zh-CN" altLang="en-US" sz="1600" dirty="0"/>
              <a:t>的数据文件，忽略处理时延和排队时延，从发出请求到文件最后一位到达地球，最少需要多长时间？ </a:t>
            </a:r>
            <a:r>
              <a:rPr lang="zh-CN" altLang="en-US" sz="1600" b="1" dirty="0"/>
              <a:t>    </a:t>
            </a:r>
            <a:endParaRPr lang="en-US" altLang="zh-CN" sz="1600" b="1" dirty="0"/>
          </a:p>
          <a:p>
            <a:pPr algn="just"/>
            <a:r>
              <a:rPr lang="zh-CN" altLang="en-US" sz="1600" b="1" dirty="0"/>
              <a:t> </a:t>
            </a:r>
            <a:r>
              <a:rPr lang="en-US" altLang="zh-CN" sz="1600" b="1" dirty="0"/>
              <a:t>(</a:t>
            </a:r>
            <a:r>
              <a:rPr lang="zh-CN" altLang="en-US" sz="1600" b="1" dirty="0"/>
              <a:t>注：</a:t>
            </a:r>
            <a:r>
              <a:rPr lang="en-US" altLang="zh-CN" sz="1600" b="1" dirty="0"/>
              <a:t> 1k=10</a:t>
            </a:r>
            <a:r>
              <a:rPr lang="en-US" altLang="zh-CN" sz="1600" b="1" baseline="30000" dirty="0"/>
              <a:t>3</a:t>
            </a:r>
            <a:r>
              <a:rPr lang="en-US" altLang="zh-CN" sz="1600" b="1" dirty="0"/>
              <a:t>, 1M=10</a:t>
            </a:r>
            <a:r>
              <a:rPr lang="en-US" altLang="zh-CN" sz="1600" b="1" baseline="30000" dirty="0"/>
              <a:t>6</a:t>
            </a:r>
            <a:r>
              <a:rPr lang="en-US" altLang="zh-CN" sz="1600" b="1" dirty="0"/>
              <a:t>)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744220"/>
            <a:ext cx="4572000" cy="38277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1600" dirty="0"/>
              <a:t>3.</a:t>
            </a:r>
            <a:r>
              <a:rPr lang="zh-CN" altLang="en-US" sz="1600" dirty="0"/>
              <a:t>（</a:t>
            </a:r>
            <a:r>
              <a:rPr lang="en-US" altLang="zh-CN" sz="1600" dirty="0"/>
              <a:t>10</a:t>
            </a:r>
            <a:r>
              <a:rPr lang="zh-CN" altLang="en-US" sz="1600" dirty="0"/>
              <a:t>分）如下图所示，主机</a:t>
            </a:r>
            <a:r>
              <a:rPr lang="en-GB" altLang="zh-CN" sz="1600" dirty="0"/>
              <a:t>A</a:t>
            </a:r>
            <a:r>
              <a:rPr lang="zh-CN" altLang="en-US" sz="1600" dirty="0"/>
              <a:t>和</a:t>
            </a:r>
            <a:r>
              <a:rPr lang="en-GB" altLang="zh-CN" sz="1600" dirty="0"/>
              <a:t>B</a:t>
            </a:r>
            <a:r>
              <a:rPr lang="zh-CN" altLang="en-US" sz="1600" dirty="0"/>
              <a:t>都通过</a:t>
            </a:r>
            <a:r>
              <a:rPr lang="en-US" altLang="zh-CN" sz="1600" dirty="0"/>
              <a:t>20</a:t>
            </a:r>
            <a:r>
              <a:rPr lang="en-GB" altLang="zh-CN" sz="1600" dirty="0"/>
              <a:t>Mb/s</a:t>
            </a:r>
            <a:r>
              <a:rPr lang="zh-CN" altLang="en-US" sz="1600" dirty="0"/>
              <a:t>链路连接到交换机 </a:t>
            </a:r>
            <a:r>
              <a:rPr lang="en-GB" altLang="zh-CN" sz="1600" dirty="0"/>
              <a:t>S</a:t>
            </a:r>
            <a:r>
              <a:rPr lang="zh-CN" altLang="en-GB" sz="1600" dirty="0"/>
              <a:t>。</a:t>
            </a:r>
            <a:endParaRPr lang="en-US" altLang="zh-CN" sz="1600" dirty="0"/>
          </a:p>
          <a:p>
            <a:pPr algn="just"/>
            <a:endParaRPr lang="en-US" altLang="zh-CN" sz="1600" dirty="0"/>
          </a:p>
          <a:p>
            <a:pPr algn="just"/>
            <a:endParaRPr lang="en-US" altLang="zh-CN" sz="1600" dirty="0"/>
          </a:p>
          <a:p>
            <a:pPr algn="just"/>
            <a:endParaRPr lang="en-US" altLang="zh-CN" sz="1600" dirty="0"/>
          </a:p>
          <a:p>
            <a:pPr algn="just"/>
            <a:endParaRPr lang="zh-CN" altLang="en-GB" sz="1600" dirty="0"/>
          </a:p>
          <a:p>
            <a:pPr algn="just"/>
            <a:r>
              <a:rPr lang="zh-CN" altLang="en-US" sz="1600" dirty="0"/>
              <a:t>在每条链路上的传播延迟都是</a:t>
            </a:r>
            <a:r>
              <a:rPr lang="en-US" altLang="zh-CN" sz="1600" dirty="0"/>
              <a:t>15µs</a:t>
            </a:r>
            <a:r>
              <a:rPr lang="zh-CN" altLang="en-GB" sz="1600" dirty="0"/>
              <a:t>。</a:t>
            </a:r>
            <a:r>
              <a:rPr lang="en-GB" altLang="zh-CN" sz="1600" dirty="0"/>
              <a:t>S</a:t>
            </a:r>
            <a:r>
              <a:rPr lang="zh-CN" altLang="en-US" sz="1600" dirty="0"/>
              <a:t>是一个存储转发设备，在它接收完一个分组后还需要</a:t>
            </a:r>
            <a:r>
              <a:rPr lang="en-US" altLang="zh-CN" sz="1600" dirty="0"/>
              <a:t>25µs</a:t>
            </a:r>
            <a:r>
              <a:rPr lang="zh-CN" altLang="en-US" sz="1600" dirty="0"/>
              <a:t>的处理时间才能开始转发。现需要从</a:t>
            </a:r>
            <a:r>
              <a:rPr lang="en-US" altLang="zh-CN" sz="1600" dirty="0"/>
              <a:t>A</a:t>
            </a:r>
            <a:r>
              <a:rPr lang="zh-CN" altLang="en-US" sz="1600" dirty="0"/>
              <a:t>向</a:t>
            </a:r>
            <a:r>
              <a:rPr lang="en-US" altLang="zh-CN" sz="1600" dirty="0"/>
              <a:t>B</a:t>
            </a:r>
            <a:r>
              <a:rPr lang="zh-CN" altLang="en-US" sz="1600" dirty="0"/>
              <a:t>发送</a:t>
            </a:r>
            <a:r>
              <a:rPr lang="en-US" altLang="zh-CN" sz="1600" dirty="0"/>
              <a:t>12000bit</a:t>
            </a:r>
            <a:r>
              <a:rPr lang="zh-CN" altLang="en-US" sz="1600" dirty="0"/>
              <a:t>数据，请计算：</a:t>
            </a:r>
          </a:p>
          <a:p>
            <a:pPr algn="just"/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）将全部数据作为一个分组发送时，从 </a:t>
            </a:r>
            <a:r>
              <a:rPr lang="en-US" altLang="zh-CN" sz="1600" dirty="0"/>
              <a:t>A </a:t>
            </a:r>
            <a:r>
              <a:rPr lang="zh-CN" altLang="en-US" sz="1600" dirty="0"/>
              <a:t>开始发送到 </a:t>
            </a:r>
            <a:r>
              <a:rPr lang="en-US" altLang="zh-CN" sz="1600" dirty="0"/>
              <a:t>B </a:t>
            </a:r>
            <a:r>
              <a:rPr lang="zh-CN" altLang="en-US" sz="1600" dirty="0"/>
              <a:t>完整接收数据需要多长时间？</a:t>
            </a:r>
          </a:p>
          <a:p>
            <a:pPr algn="just"/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）将数据划分为 </a:t>
            </a:r>
            <a:r>
              <a:rPr lang="en-US" altLang="zh-CN" sz="1600" dirty="0"/>
              <a:t>2 </a:t>
            </a:r>
            <a:r>
              <a:rPr lang="zh-CN" altLang="en-US" sz="1600" dirty="0"/>
              <a:t>个大小均为 </a:t>
            </a:r>
            <a:r>
              <a:rPr lang="en-US" altLang="zh-CN" sz="1600" dirty="0"/>
              <a:t>6</a:t>
            </a:r>
            <a:r>
              <a:rPr lang="zh-CN" altLang="en-US" sz="1600" dirty="0"/>
              <a:t>000 </a:t>
            </a:r>
            <a:r>
              <a:rPr lang="en-US" altLang="zh-CN" sz="1600" dirty="0"/>
              <a:t>bit </a:t>
            </a:r>
            <a:r>
              <a:rPr lang="zh-CN" altLang="en-US" sz="1600" dirty="0"/>
              <a:t>的分组，并连续发送时，需要多长时间？</a:t>
            </a:r>
          </a:p>
          <a:p>
            <a:pPr algn="just"/>
            <a:r>
              <a:rPr lang="zh-CN" altLang="en-US" sz="1600" b="1" dirty="0"/>
              <a:t> </a:t>
            </a:r>
            <a:r>
              <a:rPr lang="en-US" altLang="zh-CN" sz="1600" b="1" dirty="0"/>
              <a:t>(</a:t>
            </a:r>
            <a:r>
              <a:rPr lang="zh-CN" altLang="en-US" sz="1600" b="1" dirty="0"/>
              <a:t>注：</a:t>
            </a:r>
            <a:r>
              <a:rPr lang="en-US" altLang="zh-CN" sz="1600" b="1" dirty="0"/>
              <a:t> 1k=10</a:t>
            </a:r>
            <a:r>
              <a:rPr lang="en-US" altLang="zh-CN" sz="1600" b="1" baseline="30000" dirty="0"/>
              <a:t>3</a:t>
            </a:r>
            <a:r>
              <a:rPr lang="en-US" altLang="zh-CN" sz="1600" b="1" dirty="0"/>
              <a:t>, 1M=10</a:t>
            </a:r>
            <a:r>
              <a:rPr lang="en-US" altLang="zh-CN" sz="1600" b="1" baseline="30000" dirty="0"/>
              <a:t>6</a:t>
            </a:r>
            <a:r>
              <a:rPr lang="en-US" altLang="zh-CN" sz="1600" b="1" dirty="0"/>
              <a:t>)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sp>
        <p:nvSpPr>
          <p:cNvPr id="2" name="椭圆 1"/>
          <p:cNvSpPr/>
          <p:nvPr/>
        </p:nvSpPr>
        <p:spPr>
          <a:xfrm>
            <a:off x="1133518" y="1743021"/>
            <a:ext cx="422319" cy="451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11" name="椭圆 10"/>
          <p:cNvSpPr/>
          <p:nvPr/>
        </p:nvSpPr>
        <p:spPr>
          <a:xfrm>
            <a:off x="2457745" y="1743021"/>
            <a:ext cx="422319" cy="451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</a:t>
            </a:r>
            <a:endParaRPr kumimoji="1" lang="zh-CN" altLang="en-US" dirty="0"/>
          </a:p>
        </p:txBody>
      </p:sp>
      <p:sp>
        <p:nvSpPr>
          <p:cNvPr id="12" name="椭圆 11"/>
          <p:cNvSpPr/>
          <p:nvPr/>
        </p:nvSpPr>
        <p:spPr>
          <a:xfrm>
            <a:off x="3781972" y="1743021"/>
            <a:ext cx="422319" cy="451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cxnSp>
        <p:nvCxnSpPr>
          <p:cNvPr id="14" name="直线连接符 13"/>
          <p:cNvCxnSpPr>
            <a:stCxn id="2" idx="6"/>
            <a:endCxn id="11" idx="2"/>
          </p:cNvCxnSpPr>
          <p:nvPr/>
        </p:nvCxnSpPr>
        <p:spPr>
          <a:xfrm>
            <a:off x="1555837" y="1968993"/>
            <a:ext cx="9019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>
            <a:off x="2880064" y="1968993"/>
            <a:ext cx="9019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116227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1600" dirty="0"/>
              <a:t>4.</a:t>
            </a:r>
            <a:r>
              <a:rPr lang="zh-CN" altLang="zh-CN" sz="1600" dirty="0"/>
              <a:t>（</a:t>
            </a:r>
            <a:r>
              <a:rPr lang="en-US" altLang="zh-CN" sz="1600" dirty="0"/>
              <a:t>6</a:t>
            </a:r>
            <a:r>
              <a:rPr lang="zh-CN" altLang="zh-CN" sz="1600" dirty="0"/>
              <a:t>分）</a:t>
            </a:r>
            <a:r>
              <a:rPr lang="zh-CN" altLang="en-US" sz="1600" dirty="0"/>
              <a:t>若某通信链路的数据传输速率为</a:t>
            </a:r>
            <a:r>
              <a:rPr lang="en-US" altLang="zh-CN" sz="1600" dirty="0"/>
              <a:t>9600</a:t>
            </a:r>
            <a:r>
              <a:rPr lang="en-GB" altLang="zh-CN" sz="1600" dirty="0"/>
              <a:t>b/s</a:t>
            </a:r>
            <a:r>
              <a:rPr lang="zh-CN" altLang="en-GB" sz="1600" dirty="0"/>
              <a:t>，</a:t>
            </a:r>
            <a:r>
              <a:rPr lang="zh-CN" altLang="en-US" sz="1600" dirty="0"/>
              <a:t>采用</a:t>
            </a:r>
            <a:r>
              <a:rPr lang="en-US" altLang="zh-CN" sz="1600" dirty="0"/>
              <a:t>8</a:t>
            </a:r>
            <a:r>
              <a:rPr lang="zh-CN" altLang="en-US" sz="1600"/>
              <a:t>种不同相位的</a:t>
            </a:r>
            <a:r>
              <a:rPr lang="en-US" altLang="zh-CN" sz="1600"/>
              <a:t>PSK</a:t>
            </a:r>
            <a:r>
              <a:rPr lang="zh-CN" altLang="en-US" sz="1600" dirty="0"/>
              <a:t>调制技术，则该链路的波特率是多少？</a:t>
            </a:r>
          </a:p>
          <a:p>
            <a:pPr algn="just"/>
            <a:endParaRPr lang="zh-CN" altLang="zh-CN" sz="1600" dirty="0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698500"/>
            <a:ext cx="4572000" cy="134257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1600" dirty="0"/>
              <a:t>5</a:t>
            </a:r>
            <a:r>
              <a:rPr lang="zh-CN" altLang="en-US" sz="1600" dirty="0"/>
              <a:t>.（</a:t>
            </a:r>
            <a:r>
              <a:rPr lang="en-US" altLang="zh-CN" sz="1600" dirty="0"/>
              <a:t>10</a:t>
            </a:r>
            <a:r>
              <a:rPr lang="zh-CN" altLang="en-US" sz="1600" dirty="0"/>
              <a:t>分）某通信信道的带宽为 4 kHz，信噪比为 30 dB，采用 16种不同相位的</a:t>
            </a:r>
            <a:r>
              <a:rPr lang="en-US" altLang="zh-CN" sz="1600" dirty="0"/>
              <a:t>PSK</a:t>
            </a:r>
            <a:r>
              <a:rPr lang="zh-CN" altLang="en-US" sz="1600" dirty="0"/>
              <a:t>调制技术。计算该信道的最大数据传输速率。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600" b="1" dirty="0">
                <a:sym typeface="+mn-ea"/>
              </a:rPr>
              <a:t> </a:t>
            </a:r>
            <a:r>
              <a:rPr lang="en-US" altLang="zh-CN" sz="1600" b="1" dirty="0">
                <a:sym typeface="+mn-ea"/>
              </a:rPr>
              <a:t>(</a:t>
            </a:r>
            <a:r>
              <a:rPr lang="zh-CN" altLang="en-US" sz="1600" b="1" dirty="0">
                <a:sym typeface="+mn-ea"/>
              </a:rPr>
              <a:t>注：</a:t>
            </a:r>
            <a:r>
              <a:rPr lang="en-US" altLang="zh-CN" sz="1600" b="1" dirty="0">
                <a:sym typeface="+mn-ea"/>
              </a:rPr>
              <a:t> log</a:t>
            </a:r>
            <a:r>
              <a:rPr lang="en-US" altLang="zh-CN" sz="1600" b="1" baseline="-25000" dirty="0">
                <a:sym typeface="+mn-ea"/>
              </a:rPr>
              <a:t>2</a:t>
            </a:r>
            <a:r>
              <a:rPr lang="en-US" altLang="zh-CN" sz="1600" b="1" dirty="0">
                <a:sym typeface="+mn-ea"/>
              </a:rPr>
              <a:t>(1001)≈9.97)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2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6.0"/>
  <p:tag name="PROBLEMVOICEALLOWED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545</Words>
  <Application>Microsoft Office PowerPoint</Application>
  <PresentationFormat>全屏显示(16:10)</PresentationFormat>
  <Paragraphs>41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Microsoft Yahei</vt:lpstr>
      <vt:lpstr>等线</vt:lpstr>
      <vt:lpstr>等线 Light</vt:lpstr>
      <vt:lpstr>宋体</vt:lpstr>
      <vt:lpstr>微软雅黑</vt:lpstr>
      <vt:lpstr>Arial</vt:lpstr>
      <vt:lpstr>Times New Roman</vt:lpstr>
      <vt:lpstr>Office 主题​​</vt:lpstr>
      <vt:lpstr>《计算机网络》第1次作业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《计算机网络》第1次作业</dc:title>
  <dc:creator>李全龙</dc:creator>
  <cp:lastModifiedBy>Shengxin Liu</cp:lastModifiedBy>
  <cp:revision>40</cp:revision>
  <dcterms:created xsi:type="dcterms:W3CDTF">2022-02-20T08:07:00Z</dcterms:created>
  <dcterms:modified xsi:type="dcterms:W3CDTF">2026-09-14T23:56:06Z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385E9ABA8E374B9FA1C8065A2782E8BA_12</vt:lpwstr>
  </property>
</Properties>
</file>