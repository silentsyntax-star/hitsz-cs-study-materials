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7" r:id="rId4"/>
    <p:sldId id="257" r:id="rId5"/>
    <p:sldId id="261" r:id="rId6"/>
    <p:sldId id="272" r:id="rId7"/>
    <p:sldId id="271" r:id="rId8"/>
    <p:sldId id="262" r:id="rId9"/>
    <p:sldId id="278" r:id="rId10"/>
    <p:sldId id="273" r:id="rId11"/>
    <p:sldId id="274" r:id="rId12"/>
    <p:sldId id="265" r:id="rId13"/>
    <p:sldId id="276" r:id="rId14"/>
    <p:sldId id="269" r:id="rId15"/>
    <p:sldId id="275" r:id="rId16"/>
    <p:sldId id="287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267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5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.png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tags" Target="../tags/tag23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tags" Target="../tags/tag4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82" y="3602075"/>
            <a:ext cx="6287881" cy="27492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" y="6296878"/>
            <a:ext cx="12191999" cy="561122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348740"/>
            <a:ext cx="12192000" cy="2173605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" y="672215"/>
            <a:ext cx="11174288" cy="0"/>
          </a:xfrm>
          <a:prstGeom prst="line">
            <a:avLst/>
          </a:prstGeom>
          <a:ln w="2540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495300" y="953588"/>
            <a:ext cx="11201400" cy="2069647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字符串快速匹配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482600" y="3944938"/>
            <a:ext cx="11214100" cy="680402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汇报人（按顺序）：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高呈歌，朱晓缘，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王娅蔺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副标题 2"/>
          <p:cNvSpPr txBox="1"/>
          <p:nvPr/>
        </p:nvSpPr>
        <p:spPr>
          <a:xfrm>
            <a:off x="495300" y="46334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254934"/>
            <a:ext cx="16236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语言研讨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10" y="228600"/>
            <a:ext cx="1061070" cy="46393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4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综述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48945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894715" y="892810"/>
            <a:ext cx="1873885" cy="54356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意义价值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825625"/>
            <a:ext cx="10246360" cy="39693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字符串快速匹配极具价值。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信息检索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时，可快速精准定位，提升搜索效率与结果质量。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文本处理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方面，方便编辑与内容分析。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数据挖掘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中，助力发现模式与关联规则，为众多领域的高效运作与深入探究奠定基础。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482600" y="130175"/>
            <a:ext cx="11214100" cy="621665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b="1" smtClean="0">
                <a:solidFill>
                  <a:schemeClr val="bg1"/>
                </a:solidFill>
              </a:rPr>
            </a:fld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999113" y="1497515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5"/>
            </p:custDataLst>
          </p:nvPr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RK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8"/>
            </p:custDataLst>
          </p:nvPr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6999113" y="3320130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KMP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1"/>
            </p:custDataLst>
          </p:nvPr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unday算法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10" y="1202055"/>
            <a:ext cx="4820285" cy="4820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1144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686560"/>
            <a:ext cx="9133205" cy="37846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暴力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(BruteForce)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算法，是普通的模式匹配算法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算法的思想就是将目标串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的第一个字符与模式串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的第一个字符进行匹配，若相等，则继续比较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的第二个字符和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的第二个字符；若不相等，则比较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的第二个字符和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的第一个字符，依次比较下去，直到得出最后的匹配结果。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算法思想：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算法是一种蛮力算法。普通模式匹配算法，其实现过程没有任何技巧，就是简单粗暴地拿一个串同另一个串中的字符一一比对，得到最终结果。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6161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原理原理：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</a:t>
            </a:r>
            <a:r>
              <a:rPr kumimoji="1" lang="zh-CN" altLang="en-US"/>
              <a:t>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</a:t>
            </a:r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" y="1652905"/>
            <a:ext cx="3156585" cy="3552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30" y="1652905"/>
            <a:ext cx="3188335" cy="372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790" y="1707515"/>
            <a:ext cx="3221355" cy="3815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6161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原理原理：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判断后面的字符是否相同原理：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</a:t>
            </a:r>
            <a:r>
              <a:rPr kumimoji="1" lang="zh-CN" altLang="en-US"/>
              <a:t>：</a:t>
            </a:r>
            <a:r>
              <a:rPr kumimoji="1" lang="en-US" altLang="zh-CN"/>
              <a:t>BF</a:t>
            </a:r>
            <a:r>
              <a:rPr kumimoji="1" lang="zh-CN" altLang="en-US"/>
              <a:t>算法（</a:t>
            </a:r>
            <a:r>
              <a:rPr kumimoji="1" lang="en-US" altLang="zh-CN"/>
              <a:t>Brute-Force</a:t>
            </a:r>
            <a:r>
              <a:rPr kumimoji="1" lang="zh-CN" altLang="en-US"/>
              <a:t>）也叫暴力算法，</a:t>
            </a:r>
            <a:r>
              <a:rPr kumimoji="1" lang="en-US" altLang="zh-CN"/>
              <a:t>BF</a:t>
            </a:r>
            <a:r>
              <a:rPr kumimoji="1" lang="zh-CN" altLang="en-US"/>
              <a:t>算法的查找逻辑是用两个指针分别指向主串和子串的第一个字符，如果字符相同，那么</a:t>
            </a:r>
            <a:r>
              <a:rPr kumimoji="1" lang="en-US" altLang="zh-CN"/>
              <a:t> </a:t>
            </a:r>
            <a:r>
              <a:rPr kumimoji="1" lang="zh-CN" altLang="en-US"/>
              <a:t>判断后面的字符是否相同</a:t>
            </a:r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10" y="1436370"/>
            <a:ext cx="3632200" cy="42583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15" y="1590040"/>
            <a:ext cx="3332480" cy="48094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0" y="1546225"/>
            <a:ext cx="3736340" cy="4037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实施效果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" y="1369695"/>
            <a:ext cx="4688205" cy="52089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704" r="2493" b="6112"/>
          <a:stretch>
            <a:fillRect/>
          </a:stretch>
        </p:blipFill>
        <p:spPr>
          <a:xfrm>
            <a:off x="4871085" y="1369695"/>
            <a:ext cx="7247255" cy="25457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780" y="5273040"/>
            <a:ext cx="5524500" cy="5429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32780" y="4752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输出结果：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BF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暴力算法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1144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复杂度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686560"/>
            <a:ext cx="10709275" cy="45231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空间复杂度：</a:t>
            </a:r>
            <a:b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算法空间复杂度为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(1)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。只需要有限的几个指针变量来记录当前比较的位置，而不需要额外开辟与主字符串或模式字符串长度相关的存储空间。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时间复杂度：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b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n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表示串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T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的长度，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m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为串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S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的长度。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①最理想情况：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第一次匹配就成功。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O(n)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②最不理想情况：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两个串每次匹配都必须匹配至串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A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的最末尾才能判断匹配失败还是成功。因此运行了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n *m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次，时间复杂度为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O(n *m)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1144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686560"/>
            <a:ext cx="9133205" cy="37846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算法是由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Rabin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Karp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共同提出的一个算法。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算法是对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算法的一个改进：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算法中，每一个字符都需要进行比较，并且当我们发现首字符匹配时仍然需要比较剩余的所有字符。而在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算法中，就尝试只进行一次比较来判定两者是否相等。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算法也可以进行多模式匹配，在论文查重等实际应用中一般都是使用此算法。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1144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686560"/>
            <a:ext cx="9133205" cy="34150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算法的基本思想：使用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比较。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如果两个字符串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后的值不相同，则它们肯定不相同；如果它们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后的值相同，它们不一定相同。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即将模式串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值跟主串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中的每一个长度为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|P|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的子串的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值比较。如果不同，则它们肯定不相等；如果相同，由于哈希冲突存在，也需要按照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BF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算法诸位比较。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>
            <p:custDataLst>
              <p:tags r:id="rId1"/>
            </p:custDataLst>
          </p:nvPr>
        </p:nvSpPr>
        <p:spPr>
          <a:xfrm>
            <a:off x="3548104" y="3617146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直角三角形 4"/>
          <p:cNvSpPr/>
          <p:nvPr>
            <p:custDataLst>
              <p:tags r:id="rId2"/>
            </p:custDataLst>
          </p:nvPr>
        </p:nvSpPr>
        <p:spPr>
          <a:xfrm>
            <a:off x="3548104" y="89034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2"/>
          <p:cNvSpPr/>
          <p:nvPr/>
        </p:nvSpPr>
        <p:spPr>
          <a:xfrm>
            <a:off x="482600" y="3993424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2"/>
          <p:cNvSpPr/>
          <p:nvPr/>
        </p:nvSpPr>
        <p:spPr>
          <a:xfrm>
            <a:off x="482600" y="1244600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对角圆角矩形 80"/>
          <p:cNvSpPr/>
          <p:nvPr>
            <p:custDataLst>
              <p:tags r:id="rId3"/>
            </p:custDataLst>
          </p:nvPr>
        </p:nvSpPr>
        <p:spPr>
          <a:xfrm>
            <a:off x="939800" y="890345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角圆角矩形 81"/>
          <p:cNvSpPr/>
          <p:nvPr>
            <p:custDataLst>
              <p:tags r:id="rId4"/>
            </p:custDataLst>
          </p:nvPr>
        </p:nvSpPr>
        <p:spPr>
          <a:xfrm>
            <a:off x="939800" y="3617146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965" y="1510030"/>
            <a:ext cx="11258550" cy="1753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HASH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（哈希）通常是指哈希函数（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Hash Function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）或哈希值（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Hash Value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）。哈希函数是一种将任意长度的数据映射为固定长度的值（哈希值）的函数。这个过程就像是给数据贴上一个独特的标签，这个标签（哈希值）的长度是固定的，与原始数据的长度无关。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例如，对于一个文件或者一段文本，通过哈希函数计算后，可以得到一个固定长度的哈希值。常见的哈希函数如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 MD5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可以将任意长度的数据转换为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 128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位（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16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字节）的哈希值，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SHA - 1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可以产生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 160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位（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20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字节）的哈希值。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9615" y="4348480"/>
            <a:ext cx="1085850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①确定性：对于相同的输入数据，哈希函数总是产生相同的哈希值。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②快速计算性：哈希函数能够在相对较短的时间内计算出哈希值。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③抗碰撞性：理想的哈希函数应该很难找到两个不同的输入数据，使得它们的哈希值相同。不过从理论上来说，由于哈希值的长度是固定的，而输入数据可以是无限的，所以存在碰撞的可能性（即两个不同的输入产生相同的哈希值），但好的哈希函数会使这种情况很难发生。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1654" b="51128"/>
          <a:stretch>
            <a:fillRect/>
          </a:stretch>
        </p:blipFill>
        <p:spPr>
          <a:xfrm>
            <a:off x="589915" y="786765"/>
            <a:ext cx="6775450" cy="30022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1209" t="56174" r="1757" b="1781"/>
          <a:stretch>
            <a:fillRect/>
          </a:stretch>
        </p:blipFill>
        <p:spPr>
          <a:xfrm>
            <a:off x="589915" y="3789045"/>
            <a:ext cx="6774815" cy="2755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72400" y="2907030"/>
            <a:ext cx="4064000" cy="52197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HASH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的具体计算方法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14159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BF </a:t>
            </a:r>
            <a:r>
              <a:rPr kumimoji="1" lang="zh-CN" altLang="en-US"/>
              <a:t>算法的实现过程很</a:t>
            </a:r>
            <a:r>
              <a:rPr kumimoji="1" lang="en-US" altLang="zh-CN"/>
              <a:t> “</a:t>
            </a:r>
            <a:r>
              <a:rPr kumimoji="1" lang="zh-CN" altLang="en-US"/>
              <a:t>无脑</a:t>
            </a:r>
            <a:r>
              <a:rPr kumimoji="1" lang="en-US" altLang="zh-CN"/>
              <a:t>”</a:t>
            </a:r>
            <a:r>
              <a:rPr kumimoji="1" lang="zh-CN" altLang="en-US"/>
              <a:t>，不包含任何技巧，在对数据量大的串进行模式匹配时，算法的效率很低。</a:t>
            </a:r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1577340"/>
            <a:ext cx="11167110" cy="33350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83820" y="1216025"/>
            <a:ext cx="12011660" cy="546481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BF </a:t>
            </a:r>
            <a:r>
              <a:rPr kumimoji="1" lang="zh-CN" altLang="en-US"/>
              <a:t>算法的实现过程很</a:t>
            </a:r>
            <a:r>
              <a:rPr kumimoji="1" lang="en-US" altLang="zh-CN"/>
              <a:t> “</a:t>
            </a:r>
            <a:r>
              <a:rPr kumimoji="1" lang="zh-CN" altLang="en-US"/>
              <a:t>无脑</a:t>
            </a:r>
            <a:r>
              <a:rPr kumimoji="1" lang="en-US" altLang="zh-CN"/>
              <a:t>”</a:t>
            </a:r>
            <a:r>
              <a:rPr kumimoji="1" lang="zh-CN" altLang="en-US"/>
              <a:t>，不包含任何技巧，在对数据量大的串进行模式匹配时，算法的效率很低。</a:t>
            </a:r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250" y="751840"/>
            <a:ext cx="1692275" cy="54356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实施效果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1295400"/>
            <a:ext cx="3890645" cy="2007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" y="3429635"/>
            <a:ext cx="4137660" cy="3148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45" y="1295400"/>
            <a:ext cx="3456940" cy="17640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84445" y="351790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运行结果：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445" y="4429760"/>
            <a:ext cx="45053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RK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590"/>
            <a:ext cx="11214100" cy="5211445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复杂度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686560"/>
            <a:ext cx="10709275" cy="37846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时间复杂度，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的长度，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的长度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①最好情况：时间复杂度为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m+n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），无哈希冲突且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前几次就成功匹配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②最坏情况：时间复杂度为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），哈希冲突频繁发生，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串在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串的最后位置或匹配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不成功。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空间复杂度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RK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算法的空间复杂度为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O</a:t>
            </a:r>
            <a:r>
              <a:rPr 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(1)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。计算过程中主要是通过几个变量来存储哈希值和一些中间计算结果，不需要额外的数据结构来存储大量的数据。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7086" y="-340995"/>
            <a:ext cx="12104914" cy="6596743"/>
          </a:xfrm>
        </p:spPr>
        <p:txBody>
          <a:bodyPr>
            <a:normAutofit fontScale="90000"/>
          </a:bodyPr>
          <a:lstStyle/>
          <a:p>
            <a:pPr algn="l">
              <a:spcBef>
                <a:spcPts val="600"/>
              </a:spcBef>
              <a:spcAft>
                <a:spcPts val="1800"/>
              </a:spcAft>
            </a:pPr>
            <a:r>
              <a:rPr lang="en-US" altLang="zh-CN" sz="3600" b="1" i="0" dirty="0">
                <a:solidFill>
                  <a:srgbClr val="333333"/>
                </a:solidFill>
                <a:effectLst/>
                <a:latin typeface="-apple-system"/>
              </a:rPr>
              <a:t>KMP</a:t>
            </a:r>
            <a:r>
              <a:rPr lang="zh-CN" altLang="en-US" sz="3600" b="1" i="0" dirty="0">
                <a:solidFill>
                  <a:srgbClr val="333333"/>
                </a:solidFill>
                <a:effectLst/>
                <a:latin typeface="-apple-system"/>
              </a:rPr>
              <a:t>算法：</a:t>
            </a:r>
            <a:br>
              <a:rPr lang="en-US" altLang="zh-CN" sz="3600" b="1" i="0" dirty="0">
                <a:solidFill>
                  <a:srgbClr val="333333"/>
                </a:solidFill>
                <a:effectLst/>
                <a:latin typeface="-apple-system"/>
              </a:rPr>
            </a:br>
            <a:br>
              <a:rPr lang="en-US" altLang="zh-CN" sz="3600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假设现在文本串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S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匹配到 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位置，模式串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P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匹配到 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j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位置</a:t>
            </a:r>
            <a:b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如果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j = -1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，或者当前字符匹配成功（即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S[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] == P[j]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），都令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++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j++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，继续匹配下一个字符；</a:t>
            </a:r>
            <a:b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如果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j != -1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，且当前字符匹配失败（即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S[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] != P[j]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），则令 </a:t>
            </a:r>
            <a:r>
              <a:rPr lang="en-US" altLang="zh-CN" sz="40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不变，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j = next[j]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。此举意味着失配时，模式串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P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相对于文本串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S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向右移动了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j - next [j]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位。</a:t>
            </a:r>
            <a:b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换言之，当匹配失败时，模式串向右移动的位数为：失配字符所在位置 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-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失配字符对应的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next 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值，即</a:t>
            </a:r>
            <a:r>
              <a:rPr lang="zh-CN" altLang="en-US" sz="4000" b="1" i="0" dirty="0">
                <a:solidFill>
                  <a:srgbClr val="333333"/>
                </a:solidFill>
                <a:effectLst/>
                <a:latin typeface="Comic Sans MS" panose="030F0702030302020204" pitchFamily="66" charset="0"/>
              </a:rPr>
              <a:t>移动的实际位数为：</a:t>
            </a:r>
            <a:r>
              <a:rPr lang="en-US" altLang="zh-CN" sz="4000" b="1" i="0" dirty="0">
                <a:solidFill>
                  <a:srgbClr val="333333"/>
                </a:solidFill>
                <a:effectLst/>
                <a:latin typeface="Comic Sans MS" panose="030F0702030302020204" pitchFamily="66" charset="0"/>
              </a:rPr>
              <a:t>j - next[j]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，且此值大于等于</a:t>
            </a:r>
            <a:r>
              <a:rPr lang="en-US" altLang="zh-CN" sz="4000" b="0" i="0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4000" b="0" i="0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  <a:b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</a:br>
            <a:endParaRPr lang="zh-CN" alt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70" y="-23699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找最大前后缀</a:t>
            </a:r>
            <a:endParaRPr lang="zh-CN" altLang="en-US" sz="36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0" y="1360715"/>
            <a:ext cx="12094029" cy="524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018268"/>
            <a:ext cx="12191999" cy="1325563"/>
          </a:xfrm>
        </p:spPr>
        <p:txBody>
          <a:bodyPr/>
          <a:lstStyle/>
          <a:p>
            <a:r>
              <a:rPr lang="zh-CN" altLang="en-US" dirty="0"/>
              <a:t>由一往后的</a:t>
            </a:r>
            <a:r>
              <a:rPr lang="en-US" altLang="zh-CN" dirty="0"/>
              <a:t>NEXT</a:t>
            </a:r>
            <a:r>
              <a:rPr lang="zh-CN" altLang="en-US" dirty="0"/>
              <a:t>数组实际上就是上一个字符的前后缀最大公共元素长度</a:t>
            </a:r>
            <a:endParaRPr lang="zh-CN" altLang="en-US" dirty="0"/>
          </a:p>
        </p:txBody>
      </p:sp>
      <p:pic>
        <p:nvPicPr>
          <p:cNvPr id="717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9950" y="3653631"/>
            <a:ext cx="537210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4831"/>
            <a:ext cx="12192000" cy="181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4260"/>
            <a:ext cx="12192000" cy="1814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1886" y="869838"/>
            <a:ext cx="11332029" cy="1655762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/>
              <a:t>1.S[0],S[1],S[2]</a:t>
            </a:r>
            <a:r>
              <a:rPr lang="zh-CN" altLang="en-US" sz="3600" dirty="0"/>
              <a:t>匹配失败，</a:t>
            </a:r>
            <a:r>
              <a:rPr lang="en-US" altLang="zh-CN" sz="3600" dirty="0"/>
              <a:t>S[0]</a:t>
            </a:r>
            <a:r>
              <a:rPr lang="zh-CN" altLang="en-US" sz="3600" dirty="0"/>
              <a:t>的</a:t>
            </a:r>
            <a:r>
              <a:rPr lang="en-US" altLang="zh-CN" sz="3600" dirty="0"/>
              <a:t>NEXT</a:t>
            </a:r>
            <a:r>
              <a:rPr lang="zh-CN" altLang="en-US" sz="3600" dirty="0"/>
              <a:t>的值为</a:t>
            </a:r>
            <a:r>
              <a:rPr lang="en-US" altLang="zh-CN" sz="3600" dirty="0"/>
              <a:t>-1</a:t>
            </a:r>
            <a:r>
              <a:rPr lang="zh-CN" altLang="en-US" sz="3600" dirty="0"/>
              <a:t>，所以执行“</a:t>
            </a:r>
            <a:r>
              <a:rPr lang="en-US" altLang="zh-CN" sz="36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3600" b="0" i="0" dirty="0">
                <a:solidFill>
                  <a:srgbClr val="333333"/>
                </a:solidFill>
                <a:effectLst/>
                <a:latin typeface="-apple-system"/>
              </a:rPr>
              <a:t>++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en-US" altLang="zh-CN" sz="3600" b="0" i="0" dirty="0" err="1">
                <a:solidFill>
                  <a:srgbClr val="333333"/>
                </a:solidFill>
                <a:effectLst/>
                <a:latin typeface="-apple-system"/>
              </a:rPr>
              <a:t>j++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”的指令，而</a:t>
            </a:r>
            <a:r>
              <a:rPr lang="en-US" altLang="zh-CN" sz="3600" b="0" i="0" dirty="0">
                <a:solidFill>
                  <a:srgbClr val="333333"/>
                </a:solidFill>
                <a:effectLst/>
                <a:latin typeface="-apple-system"/>
              </a:rPr>
              <a:t>S[1],S[2]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的</a:t>
            </a:r>
            <a:r>
              <a:rPr lang="en-US" altLang="zh-CN" sz="3600" b="0" i="0" dirty="0">
                <a:solidFill>
                  <a:srgbClr val="333333"/>
                </a:solidFill>
                <a:effectLst/>
                <a:latin typeface="-apple-system"/>
              </a:rPr>
              <a:t>next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值显然为</a:t>
            </a:r>
            <a:r>
              <a:rPr lang="en-US" altLang="zh-CN" sz="3600" dirty="0">
                <a:solidFill>
                  <a:srgbClr val="333333"/>
                </a:solidFill>
                <a:latin typeface="-apple-system"/>
              </a:rPr>
              <a:t>0</a:t>
            </a:r>
            <a:r>
              <a:rPr lang="zh-CN" altLang="en-US" sz="3600" dirty="0">
                <a:solidFill>
                  <a:srgbClr val="333333"/>
                </a:solidFill>
                <a:latin typeface="-apple-system"/>
              </a:rPr>
              <a:t>，故</a:t>
            </a:r>
            <a:r>
              <a:rPr lang="en-US" altLang="zh-CN" sz="3600" dirty="0">
                <a:solidFill>
                  <a:srgbClr val="333333"/>
                </a:solidFill>
                <a:latin typeface="-apple-system"/>
              </a:rPr>
              <a:t>j</a:t>
            </a:r>
            <a:r>
              <a:rPr lang="zh-CN" altLang="en-US" sz="3600" dirty="0">
                <a:solidFill>
                  <a:srgbClr val="333333"/>
                </a:solidFill>
                <a:latin typeface="-apple-system"/>
              </a:rPr>
              <a:t>重新等于</a:t>
            </a:r>
            <a:r>
              <a:rPr lang="en-US" altLang="zh-CN" sz="3600" dirty="0">
                <a:solidFill>
                  <a:srgbClr val="333333"/>
                </a:solidFill>
                <a:latin typeface="-apple-system"/>
              </a:rPr>
              <a:t>-1</a:t>
            </a:r>
            <a:r>
              <a:rPr lang="zh-CN" altLang="en-US" sz="3600" dirty="0">
                <a:solidFill>
                  <a:srgbClr val="333333"/>
                </a:solidFill>
                <a:latin typeface="-apple-system"/>
              </a:rPr>
              <a:t>，再次执行</a:t>
            </a:r>
            <a:r>
              <a:rPr lang="zh-CN" altLang="en-US" sz="3600" dirty="0"/>
              <a:t>“</a:t>
            </a:r>
            <a:r>
              <a:rPr lang="en-US" altLang="zh-CN" sz="3600" b="0" i="0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3600" b="0" i="0" dirty="0">
                <a:solidFill>
                  <a:srgbClr val="333333"/>
                </a:solidFill>
                <a:effectLst/>
                <a:latin typeface="-apple-system"/>
              </a:rPr>
              <a:t>++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en-US" altLang="zh-CN" sz="3600" b="0" i="0" dirty="0" err="1">
                <a:solidFill>
                  <a:srgbClr val="333333"/>
                </a:solidFill>
                <a:effectLst/>
                <a:latin typeface="-apple-system"/>
              </a:rPr>
              <a:t>j++</a:t>
            </a:r>
            <a:r>
              <a:rPr lang="zh-CN" altLang="en-US" sz="3600" b="0" i="0" dirty="0">
                <a:solidFill>
                  <a:srgbClr val="333333"/>
                </a:solidFill>
                <a:effectLst/>
                <a:latin typeface="-apple-system"/>
              </a:rPr>
              <a:t>”的指令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1314"/>
            <a:ext cx="121920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3" y="4390299"/>
            <a:ext cx="12192000" cy="243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0" y="1134269"/>
            <a:ext cx="12192000" cy="4351338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P[1]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S[5]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匹配成功，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P[2]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S[6]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也匹配成功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, ...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，直到当匹配到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P[6]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处的字符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时失配（即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S[10] != P[6]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），由于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P[6]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处的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对应的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next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值为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，所以下一步用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P[2]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处的字符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继续跟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S[10]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匹配，相当于向右移动：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j - next[j] = 6 - 2 =4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位。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64573"/>
            <a:ext cx="12192000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362664"/>
            <a:ext cx="12192000" cy="4351338"/>
          </a:xfrm>
        </p:spPr>
        <p:txBody>
          <a:bodyPr>
            <a:normAutofit/>
          </a:bodyPr>
          <a:lstStyle/>
          <a:p>
            <a:r>
              <a:rPr lang="en-US" altLang="zh-CN" sz="3200" b="0" i="1" dirty="0">
                <a:solidFill>
                  <a:srgbClr val="333333"/>
                </a:solidFill>
                <a:effectLst/>
                <a:latin typeface="Comic Sans MS" panose="030F0702030302020204" pitchFamily="66" charset="0"/>
              </a:rPr>
              <a:t>3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向右移动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4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位后，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P[2]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处的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C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再次失配，由于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C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对应的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next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值为</a:t>
            </a:r>
            <a:r>
              <a:rPr lang="en-US" altLang="zh-CN" sz="3200" b="1" i="0" dirty="0">
                <a:solidFill>
                  <a:srgbClr val="333333"/>
                </a:solidFill>
                <a:effectLst/>
                <a:latin typeface="-apple-system"/>
              </a:rPr>
              <a:t>0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，所以下一步用</a:t>
            </a:r>
            <a:r>
              <a:rPr lang="en-US" altLang="zh-CN" sz="3200" b="1" i="0" dirty="0">
                <a:solidFill>
                  <a:srgbClr val="333333"/>
                </a:solidFill>
                <a:effectLst/>
                <a:latin typeface="-apple-system"/>
              </a:rPr>
              <a:t>P[0]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处的字符继续跟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S[10]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匹配，相当于向右移动：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j - next[j] = 2 - 0 = 2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位</a:t>
            </a:r>
            <a:endParaRPr lang="zh-CN" altLang="en-US" sz="3200" dirty="0"/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8384"/>
            <a:ext cx="12192000" cy="212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934456"/>
            <a:ext cx="12192000" cy="2708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en-US" altLang="zh-CN" sz="3200" i="1" dirty="0">
                <a:latin typeface="Comic Sans MS" panose="030F0702030302020204" pitchFamily="66" charset="0"/>
              </a:rPr>
              <a:t>4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移动两位之后，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A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跟空格不匹配，模式串后移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位。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P[6]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处的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D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再次失配，因为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P[6]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对应的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next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值为</a:t>
            </a:r>
            <a:r>
              <a:rPr lang="en-US" altLang="zh-CN" sz="3200" b="1" i="0" dirty="0">
                <a:solidFill>
                  <a:srgbClr val="333333"/>
                </a:solidFill>
                <a:effectLst/>
                <a:latin typeface="-apple-system"/>
              </a:rPr>
              <a:t>2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，故下一步用</a:t>
            </a:r>
            <a:r>
              <a:rPr lang="en-US" altLang="zh-CN" sz="3200" b="1" i="0" dirty="0">
                <a:solidFill>
                  <a:srgbClr val="333333"/>
                </a:solidFill>
                <a:effectLst/>
                <a:latin typeface="-apple-system"/>
              </a:rPr>
              <a:t>P[2]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继续跟文本串匹配，相当于模式串向右移动 </a:t>
            </a:r>
            <a:r>
              <a:rPr lang="en-US" altLang="zh-CN" sz="3200" b="0" i="0" dirty="0">
                <a:solidFill>
                  <a:srgbClr val="333333"/>
                </a:solidFill>
                <a:effectLst/>
                <a:latin typeface="-apple-system"/>
              </a:rPr>
              <a:t>j - next[j] = 6 - 2 = 4 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-apple-system"/>
              </a:rPr>
              <a:t>位</a:t>
            </a:r>
            <a:br>
              <a:rPr lang="zh-CN" altLang="en-US" sz="800" b="0" i="0" dirty="0">
                <a:solidFill>
                  <a:srgbClr val="333333"/>
                </a:solidFill>
                <a:effectLst/>
                <a:latin typeface="-apple-system"/>
              </a:rPr>
            </a:b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" y="3222625"/>
            <a:ext cx="11991340" cy="166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" y="4834890"/>
            <a:ext cx="12145010" cy="166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7878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</a:pPr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3200" dirty="0"/>
              <a:t>5.</a:t>
            </a:r>
            <a:r>
              <a:rPr lang="zh-CN" altLang="en-US" sz="3200" dirty="0"/>
              <a:t>匹配成功</a:t>
            </a:r>
            <a:endParaRPr lang="zh-CN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47107"/>
            <a:ext cx="12192000" cy="175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如果字符没有在子串中出现</a:t>
            </a:r>
            <a:endParaRPr kumimoji="1" lang="zh-CN" altLang="en-US" dirty="0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Sunday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0122" y="1501371"/>
            <a:ext cx="74850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跳到不匹配的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字符的下一个字符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2762250"/>
            <a:ext cx="4846955" cy="7708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" y="3644900"/>
            <a:ext cx="4903470" cy="6400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" y="4476115"/>
            <a:ext cx="5120640" cy="6965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5360035"/>
            <a:ext cx="4975225" cy="7124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226810" y="2565400"/>
            <a:ext cx="4773295" cy="248348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48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空间复杂度：</a:t>
            </a:r>
            <a:endParaRPr lang="zh-CN" altLang="en-US" sz="4800" b="0" i="0">
              <a:solidFill>
                <a:srgbClr val="4D4D4D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/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</a:t>
            </a:r>
            <a:r>
              <a:rPr 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坏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情况下是</a:t>
            </a:r>
            <a:r>
              <a:rPr lang="en-US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O(mn)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，在最</a:t>
            </a:r>
            <a:r>
              <a:rPr 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好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情况下</a:t>
            </a:r>
            <a:r>
              <a:rPr 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en-US" alt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O(n)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，平均时间复杂度可以近似看作</a:t>
            </a:r>
            <a:r>
              <a:rPr lang="en-US" altLang="zh-CN" sz="240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O(n)</a:t>
            </a:r>
            <a:r>
              <a:rPr sz="240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sz="240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（这里的</a:t>
            </a:r>
            <a:r>
              <a:rPr lang="en-US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表示主串的长度， </a:t>
            </a:r>
            <a:r>
              <a:rPr lang="en-US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表示模式串的长度）</a:t>
            </a:r>
            <a:endParaRPr sz="2400" b="0" i="0">
              <a:solidFill>
                <a:srgbClr val="4D4D4D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/>
            <a:r>
              <a:rPr 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例子：</a:t>
            </a:r>
            <a:r>
              <a:rPr lang="en-US" alt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abcdef    aaaaaaaaaaaa</a:t>
            </a:r>
            <a:endParaRPr lang="en-US" altLang="zh-CN" sz="2400" b="0" i="0">
              <a:solidFill>
                <a:srgbClr val="4D4D4D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/>
            <a:r>
              <a:rPr lang="en-US" altLang="zh-CN" sz="2400" b="0" i="0">
                <a:solidFill>
                  <a:srgbClr val="4D4D4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abc        aab</a:t>
            </a:r>
            <a:endParaRPr lang="en-US" altLang="zh-CN" sz="2400" b="0" i="0">
              <a:solidFill>
                <a:srgbClr val="4D4D4D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如果字符没有在子串中出现</a:t>
            </a:r>
            <a:endParaRPr kumimoji="1" lang="zh-CN" altLang="en-US" dirty="0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Sunday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0122" y="1501371"/>
            <a:ext cx="74850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跳到不匹配的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字符的下一个字符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3370" y="2895600"/>
            <a:ext cx="5969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在实际应用中，对于大多数随机生成的主串和模式串组合，Sunday 算法并不需要对每个位置都进行最坏情况那样的全长度匹配尝试，它通过巧妙的移动规则（根据主串中当前查看位置的下一个字符来决定模式串移动的距离，可能一次移动多个字符位置）来缩短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空间复杂度。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86470" y="3060700"/>
            <a:ext cx="31242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在效率上表现较为出色，尤其是在处理长文本等场景下的字符串匹配任务时，往往能较快地得出匹配结果。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如果字符没有在子串中出现</a:t>
            </a:r>
            <a:endParaRPr kumimoji="1" lang="zh-CN" altLang="en-US" dirty="0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Sunday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0122" y="1501371"/>
            <a:ext cx="74850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跳到不匹配的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字符的下一个字符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87120" y="2654300"/>
            <a:ext cx="10058400" cy="2990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空间复杂度：O(1):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Sunday 算法在执行过程中，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不需要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额外开辟与输入字符串长度相关的大规模辅助存储空间。它主要是通过利用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有限的几个指针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（用于标记主串、模式串当前的比较位置等）以及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少量的临时变量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（例如用于记录字符出现位置等简单用途）来完成匹配操作。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也因此，这些所用到的临时存储单元数量始终保持在一个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常数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级别，并不会随着输入规模的增大而相应地大量增加。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这也体现了 Sunday 算法在空间利用方面比较高效的特点，尤其适用于对空间资源较为敏感的应用场景中进行字符串匹配操作。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53160"/>
            <a:ext cx="11214100" cy="11887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如果字符没有在子串中出现</a:t>
            </a:r>
            <a:endParaRPr kumimoji="1" lang="zh-CN" altLang="en-US" dirty="0"/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Sunday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3455" y="1424940"/>
            <a:ext cx="10824210" cy="875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如果字符没有在子串中出现，则直接移动字串长度+1；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若出现：向右移动字串中该字符到末尾的距离+1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5545"/>
            <a:ext cx="4362450" cy="24276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" y="4883150"/>
            <a:ext cx="3966210" cy="16573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t="20479" r="460" b="266"/>
          <a:stretch>
            <a:fillRect/>
          </a:stretch>
        </p:blipFill>
        <p:spPr>
          <a:xfrm>
            <a:off x="6324600" y="2366645"/>
            <a:ext cx="3651885" cy="43776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274148"/>
            <a:ext cx="11214100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比对不成功是</a:t>
            </a:r>
            <a:r>
              <a:rPr kumimoji="1" lang="en-US" altLang="zh-CN" dirty="0"/>
              <a:t>·</a:t>
            </a:r>
            <a:endParaRPr kumimoji="1" lang="zh-CN" altLang="en-US" dirty="0"/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2104566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2600" y="1577340"/>
            <a:ext cx="11599545" cy="911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比对不成功时，尽量移动更长，跳过不可能成功的位置，避免无法比较。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2578100"/>
            <a:ext cx="4785360" cy="924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30" y="3718560"/>
            <a:ext cx="4933950" cy="8750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" y="5074920"/>
            <a:ext cx="5375275" cy="11068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870" y="2755265"/>
            <a:ext cx="5553075" cy="10553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870" y="4690745"/>
            <a:ext cx="5775325" cy="10915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>
            <p:custDataLst>
              <p:tags r:id="rId1"/>
            </p:custDataLst>
          </p:nvPr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>
            <p:custDataLst>
              <p:tags r:id="rId2"/>
            </p:custDataLst>
          </p:nvPr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>
            <p:custDataLst>
              <p:tags r:id="rId3"/>
            </p:custDataLst>
          </p:nvPr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>
            <p:custDataLst>
              <p:tags r:id="rId4"/>
            </p:custDataLst>
          </p:nvPr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圆角矩形 2"/>
          <p:cNvSpPr/>
          <p:nvPr>
            <p:custDataLst>
              <p:tags r:id="rId5"/>
            </p:custDataLst>
          </p:nvPr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对角圆角矩形 80"/>
          <p:cNvSpPr/>
          <p:nvPr>
            <p:custDataLst>
              <p:tags r:id="rId6"/>
            </p:custDataLst>
          </p:nvPr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好后缀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>
            <p:custDataLst>
              <p:tags r:id="rId7"/>
            </p:custDataLst>
          </p:nvPr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坏字符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2805" y="1642110"/>
            <a:ext cx="457200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坏字符策略：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从右往左匹配（为了跳更多个）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情况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：不存在于模式中，直接跳过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匹配过程复杂度：最好情况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O(N/M)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情况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：存在于模式中，距离计算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情况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2+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：存在于模式中，出现多次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只存最右侧的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存放所有位置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06920" y="1686560"/>
            <a:ext cx="3867150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好后缀策略：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根据已匹配的后缀计算移动距离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情况1：后缀完成在模式中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情况2：已匹配的后缀的后缀是前缀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>
            <p:custDataLst>
              <p:tags r:id="rId1"/>
            </p:custDataLst>
          </p:nvPr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>
            <p:custDataLst>
              <p:tags r:id="rId2"/>
            </p:custDataLst>
          </p:nvPr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>
            <p:custDataLst>
              <p:tags r:id="rId3"/>
            </p:custDataLst>
          </p:nvPr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>
            <p:custDataLst>
              <p:tags r:id="rId4"/>
            </p:custDataLst>
          </p:nvPr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圆角矩形 2"/>
          <p:cNvSpPr/>
          <p:nvPr>
            <p:custDataLst>
              <p:tags r:id="rId5"/>
            </p:custDataLst>
          </p:nvPr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对角圆角矩形 80"/>
          <p:cNvSpPr/>
          <p:nvPr>
            <p:custDataLst>
              <p:tags r:id="rId6"/>
            </p:custDataLst>
          </p:nvPr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>
            <p:custDataLst>
              <p:tags r:id="rId7"/>
            </p:custDataLst>
          </p:nvPr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852805" y="1642110"/>
            <a:ext cx="457200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最好情况下：O(n/m)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例如，当主串为 “aaaaaaaaa”，模式串为 “aaa” 时，每次匹配失败后可以根据规则快速移动模式串，很快就能完成匹配。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最坏情况下：O(n*m)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en-US" altLang="zh-CN" sz="1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7106920" y="1686560"/>
            <a:ext cx="38671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BM 算法的空间复杂度是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m)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，因为它需要预先处理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模式串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来构建坏字符和好后缀相关的信息表，这些表的大小与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模式串的长度 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有关。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例如，需要记录坏字符在模式串中的位置信息，以及好后缀相关的匹配位置等信息，这些辅助信息的存储空间随着模式串长度的增加而线性增加。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>
            <p:custDataLst>
              <p:tags r:id="rId1"/>
            </p:custDataLst>
          </p:nvPr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>
            <p:custDataLst>
              <p:tags r:id="rId2"/>
            </p:custDataLst>
          </p:nvPr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>
            <p:custDataLst>
              <p:tags r:id="rId3"/>
            </p:custDataLst>
          </p:nvPr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>
            <p:custDataLst>
              <p:tags r:id="rId4"/>
            </p:custDataLst>
          </p:nvPr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圆角矩形 2"/>
          <p:cNvSpPr/>
          <p:nvPr>
            <p:custDataLst>
              <p:tags r:id="rId5"/>
            </p:custDataLst>
          </p:nvPr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对角圆角矩形 80"/>
          <p:cNvSpPr/>
          <p:nvPr>
            <p:custDataLst>
              <p:tags r:id="rId6"/>
            </p:custDataLst>
          </p:nvPr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>
            <p:custDataLst>
              <p:tags r:id="rId7"/>
            </p:custDataLst>
          </p:nvPr>
        </p:nvSpPr>
        <p:spPr>
          <a:xfrm>
            <a:off x="1754895" y="1006692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代码实现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1645920"/>
            <a:ext cx="3699510" cy="16567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" y="3302635"/>
            <a:ext cx="3723640" cy="17310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5470" y="1804035"/>
            <a:ext cx="387731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0" y="4064000"/>
            <a:ext cx="12192000" cy="68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汇报人：（</a:t>
            </a: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按顺序）高呈歌</a:t>
            </a:r>
            <a:r>
              <a:rPr lang="en-US" altLang="zh-CN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朱晓缘</a:t>
            </a:r>
            <a:r>
              <a:rPr lang="en-US" altLang="zh-CN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王娅蔺</a:t>
            </a:r>
            <a:endParaRPr lang="zh-CN" altLang="en-US" sz="2400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副标题 2"/>
          <p:cNvSpPr txBox="1"/>
          <p:nvPr>
            <p:custDataLst>
              <p:tags r:id="rId5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3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4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5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6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7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8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9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10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11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12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13.xml><?xml version="1.0" encoding="utf-8"?>
<p:tagLst xmlns:p="http://schemas.openxmlformats.org/presentationml/2006/main">
  <p:tag name="KSO_WM_DIAGRAM_VIRTUALLY_FRAME" val="{&quot;height&quot;:338.44842519685034,&quot;left&quot;:508.09393700787405,&quot;top&quot;:117.91456692913387,&quot;width&quot;:368.5039370078739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DIAGRAM_VIRTUALLY_FRAME" val="{&quot;height&quot;:257.5175590551181,&quot;left&quot;:74,&quot;top&quot;:70.10590551181102,&quot;width&quot;:213.6}"/>
</p:tagLst>
</file>

<file path=ppt/tags/tag16.xml><?xml version="1.0" encoding="utf-8"?>
<p:tagLst xmlns:p="http://schemas.openxmlformats.org/presentationml/2006/main">
  <p:tag name="KSO_WM_DIAGRAM_VIRTUALLY_FRAME" val="{&quot;height&quot;:257.5175590551181,&quot;left&quot;:74,&quot;top&quot;:70.10590551181102,&quot;width&quot;:213.6}"/>
</p:tagLst>
</file>

<file path=ppt/tags/tag17.xml><?xml version="1.0" encoding="utf-8"?>
<p:tagLst xmlns:p="http://schemas.openxmlformats.org/presentationml/2006/main">
  <p:tag name="KSO_WM_DIAGRAM_VIRTUALLY_FRAME" val="{&quot;height&quot;:257.5175590551181,&quot;left&quot;:74,&quot;top&quot;:70.10590551181102,&quot;width&quot;:213.6}"/>
</p:tagLst>
</file>

<file path=ppt/tags/tag18.xml><?xml version="1.0" encoding="utf-8"?>
<p:tagLst xmlns:p="http://schemas.openxmlformats.org/presentationml/2006/main">
  <p:tag name="KSO_WM_DIAGRAM_VIRTUALLY_FRAME" val="{&quot;height&quot;:257.5175590551181,&quot;left&quot;:74,&quot;top&quot;:70.10590551181102,&quot;width&quot;:213.6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25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26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27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28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29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0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3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4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5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6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7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8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1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2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3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4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5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6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7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8.xml><?xml version="1.0" encoding="utf-8"?>
<p:tagLst xmlns:p="http://schemas.openxmlformats.org/presentationml/2006/main">
  <p:tag name="KSO_WM_DIAGRAM_VIRTUALLY_FRAME" val="{&quot;height&quot;:417.36110236220463,&quot;left&quot;:38,&quot;top&quot;:78.19291338582677,&quot;width&quot;:883}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COMMONDATA" val="eyJoZGlkIjoiZmE1MGJjM2NiMjc3NzdhNjgzMjQ5NTVmZTdkODc0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4310</Words>
  <Application>WPS 演示</Application>
  <PresentationFormat>宽屏</PresentationFormat>
  <Paragraphs>314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黑体</vt:lpstr>
      <vt:lpstr>Arial Black</vt:lpstr>
      <vt:lpstr>等线</vt:lpstr>
      <vt:lpstr>Arial Unicode MS</vt:lpstr>
      <vt:lpstr>等线 Light</vt:lpstr>
      <vt:lpstr>Calibri</vt:lpstr>
      <vt:lpstr>-apple-system</vt:lpstr>
      <vt:lpstr>Segoe Print</vt:lpstr>
      <vt:lpstr>Comic Sans MS</vt:lpstr>
      <vt:lpstr>Courier New</vt:lpstr>
      <vt:lpstr>Consolas</vt:lpstr>
      <vt:lpstr>华文中宋</vt:lpstr>
      <vt:lpstr>Office 主题​​</vt:lpstr>
      <vt:lpstr>字符串快速匹配</vt:lpstr>
      <vt:lpstr>综述</vt:lpstr>
      <vt:lpstr>目录</vt:lpstr>
      <vt:lpstr>BF暴力算法</vt:lpstr>
      <vt:lpstr>BF暴力算法</vt:lpstr>
      <vt:lpstr>BF暴力算法</vt:lpstr>
      <vt:lpstr>BF暴力算法</vt:lpstr>
      <vt:lpstr>BF算法</vt:lpstr>
      <vt:lpstr>RK算法</vt:lpstr>
      <vt:lpstr>RK算法</vt:lpstr>
      <vt:lpstr>什么是HASH</vt:lpstr>
      <vt:lpstr>HASH</vt:lpstr>
      <vt:lpstr>RK算法</vt:lpstr>
      <vt:lpstr>RK算法</vt:lpstr>
      <vt:lpstr>RK算法</vt:lpstr>
      <vt:lpstr>KMP算法：  假设现在文本串S匹配到 i 位置，模式串P匹配到 j 位置 如果j = -1，或者当前字符匹配成功（即S[i] == P[j]），都令i++，j++，继续匹配下一个字符； 如果j != -1，且当前字符匹配失败（即S[i] != P[j]），则令 i 不变，j = next[j]。此举意味着失配时，模式串P相对于文本串S向右移动了j - next [j] 位。 换言之，当匹配失败时，模式串向右移动的位数为：失配字符所在位置 - 失配字符对应的next 值，即移动的实际位数为：j - next[j]，且此值大于等于1。 </vt:lpstr>
      <vt:lpstr>找最大前后缀</vt:lpstr>
      <vt:lpstr>由一往后的NEXT数组实际上就是上一个字符的前后缀最大公共元素长度</vt:lpstr>
      <vt:lpstr>PowerPoint 演示文稿</vt:lpstr>
      <vt:lpstr>PowerPoint 演示文稿</vt:lpstr>
      <vt:lpstr>PowerPoint 演示文稿</vt:lpstr>
      <vt:lpstr> </vt:lpstr>
      <vt:lpstr>PowerPoint 演示文稿</vt:lpstr>
      <vt:lpstr>Sunday算法</vt:lpstr>
      <vt:lpstr>Sunday算法</vt:lpstr>
      <vt:lpstr>Sunday算法</vt:lpstr>
      <vt:lpstr>Sunday算法</vt:lpstr>
      <vt:lpstr>BM算法</vt:lpstr>
      <vt:lpstr>BM算法</vt:lpstr>
      <vt:lpstr>BM算法</vt:lpstr>
      <vt:lpstr>BM算法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点击此处添加汇报标题</dc:title>
  <dc:creator>Administrator</dc:creator>
  <cp:lastModifiedBy>lily star</cp:lastModifiedBy>
  <cp:revision>61</cp:revision>
  <dcterms:created xsi:type="dcterms:W3CDTF">2023-12-02T07:13:00Z</dcterms:created>
  <dcterms:modified xsi:type="dcterms:W3CDTF">2024-12-04T17:06:01Z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1641D4B3E5424F488A6F86CE5C274C66_12</vt:lpwstr>
  </property>
  <property fmtid="{D5CDD505-2E9C-101B-9397-08002B2CF9AE}" pid="3" name="KSOProductBuildVer">
    <vt:lpwstr>2052-12.1.0.19302</vt:lpwstr>
  </property>
</Properties>
</file>